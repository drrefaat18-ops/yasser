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296" r:id="rId3"/>
    <p:sldId id="306" r:id="rId4"/>
    <p:sldId id="307" r:id="rId5"/>
    <p:sldId id="303" r:id="rId6"/>
    <p:sldId id="308" r:id="rId7"/>
    <p:sldId id="311" r:id="rId8"/>
    <p:sldId id="330" r:id="rId9"/>
    <p:sldId id="332" r:id="rId10"/>
    <p:sldId id="333" r:id="rId11"/>
    <p:sldId id="310" r:id="rId12"/>
    <p:sldId id="304" r:id="rId13"/>
    <p:sldId id="316" r:id="rId14"/>
    <p:sldId id="315" r:id="rId15"/>
    <p:sldId id="317" r:id="rId16"/>
    <p:sldId id="318" r:id="rId17"/>
    <p:sldId id="335" r:id="rId18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Asap Medium" panose="020B0604020202020204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CB94F7-C867-4290-B98E-87C964E5A370}">
  <a:tblStyle styleId="{D2CB94F7-C867-4290-B98E-87C964E5A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2F192F-9B2D-4797-98B5-CBB3795085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11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4823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e27ed74ae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e27ed74ae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055AE0F6-65D6-6B23-9203-FDF50C68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B115693D-61E6-9F12-039E-8AA44A972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B5296FE-25F2-0BE6-153C-8C93518FA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403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11FFF9C-8619-C5C4-6C46-4161366E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4D07BC2-AA34-0D2B-855D-2C30EA78E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1138683-CE7A-28A9-7717-87E8AD222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122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0A50CEF-AEEA-F3A9-02BC-CEE4B942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C8C39F51-D512-3E16-37C3-E0E7459A9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712D61B-636B-581B-2F88-942EB29FE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966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1955BCB-EF51-FC68-8E73-6A2B8E44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A79C14C-D7DA-70FD-8C70-7967419EF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2B09BEE-D213-78FF-0F0B-19645C2B0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98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DF70391-508A-4328-4485-BBB48B1D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06B031F-1178-F8CB-D507-1794B4074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DB712718-6BBE-89FB-9EBD-636826686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78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801F7AC9-3EC1-6F04-C869-89E01567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1179C95F-0790-6B63-68C6-F6A3D1530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2CA80CE-8B0F-9D70-1BA5-6FD415F55E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546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06FA7E6-D225-AD95-7B78-DEE6FD51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9E82BFE-6811-3466-9EC9-8093C2342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1674EE67-ABE5-C390-442D-1F0EB1A55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056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6A8E35C-35DE-CC7B-8C7F-20E49240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F690BFFD-C10E-8409-6461-4F96C53112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5440418A-11DE-5D28-65B7-69AFBC07D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377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A8BF1B4-80F8-6677-9C6F-C7510884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4FDC85E-E8F6-9C65-CAC2-E8D5BA668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FA5C4E45-ED0E-EACC-09A7-40AD11FD2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195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BBD6431F-2BC4-087B-AAC2-8FB64F73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4B0CE683-1D92-F3DD-94ED-827FD0037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769CE95-5AF2-3F75-BFE8-B360C46AC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582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683FA1C0-9542-B753-2140-CD091422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A862026E-7437-276D-D22A-8D53C2C11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59599D1A-A5BA-B40C-543F-36C72131D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555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8310A014-5754-BC1D-14B2-4221E8D9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C2A57F1C-9774-AF2F-04E6-7C054428A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6BA362B4-72AF-446A-BA4F-1BEF9EB5A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666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71C16D4C-90E7-759C-45FA-53E7ACED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760AE3C-8B56-82F9-DDE6-DFB02C045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2D2B80A2-F81A-EC9D-E94E-590236076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68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575E5F09-3A33-15A0-7027-52834A13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E32CD0C-A526-C39F-0B49-6E3C06852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3AC08F53-A079-DD1C-C633-BD975D0B3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473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754D9461-6785-2178-5686-577399CF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305450DD-E218-AC78-E74E-BF70F112B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E9B271AC-AA42-4670-5836-657204791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36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00475" y="414768"/>
            <a:ext cx="4763343" cy="4313945"/>
          </a:xfrm>
          <a:custGeom>
            <a:avLst/>
            <a:gdLst/>
            <a:ahLst/>
            <a:cxnLst/>
            <a:rect l="l" t="t" r="r" b="b"/>
            <a:pathLst>
              <a:path w="16788" h="15204" extrusionOk="0">
                <a:moveTo>
                  <a:pt x="12064" y="1"/>
                </a:moveTo>
                <a:cubicBezTo>
                  <a:pt x="11813" y="1"/>
                  <a:pt x="11559" y="33"/>
                  <a:pt x="11306" y="99"/>
                </a:cubicBezTo>
                <a:cubicBezTo>
                  <a:pt x="9718" y="518"/>
                  <a:pt x="8767" y="2151"/>
                  <a:pt x="9187" y="3737"/>
                </a:cubicBezTo>
                <a:lnTo>
                  <a:pt x="11249" y="11564"/>
                </a:lnTo>
                <a:cubicBezTo>
                  <a:pt x="11616" y="12955"/>
                  <a:pt x="10783" y="14385"/>
                  <a:pt x="9392" y="14751"/>
                </a:cubicBezTo>
                <a:cubicBezTo>
                  <a:pt x="9170" y="14810"/>
                  <a:pt x="8948" y="14838"/>
                  <a:pt x="8728" y="14838"/>
                </a:cubicBezTo>
                <a:cubicBezTo>
                  <a:pt x="7573" y="14838"/>
                  <a:pt x="6513" y="14063"/>
                  <a:pt x="6205" y="12895"/>
                </a:cubicBezTo>
                <a:lnTo>
                  <a:pt x="5643" y="10763"/>
                </a:lnTo>
                <a:lnTo>
                  <a:pt x="6491" y="10540"/>
                </a:lnTo>
                <a:cubicBezTo>
                  <a:pt x="7302" y="10326"/>
                  <a:pt x="7826" y="9565"/>
                  <a:pt x="7740" y="8731"/>
                </a:cubicBezTo>
                <a:lnTo>
                  <a:pt x="7137" y="2981"/>
                </a:lnTo>
                <a:cubicBezTo>
                  <a:pt x="7087" y="2490"/>
                  <a:pt x="6824" y="2047"/>
                  <a:pt x="6419" y="1767"/>
                </a:cubicBezTo>
                <a:cubicBezTo>
                  <a:pt x="6133" y="1569"/>
                  <a:pt x="5799" y="1467"/>
                  <a:pt x="5459" y="1467"/>
                </a:cubicBezTo>
                <a:cubicBezTo>
                  <a:pt x="5315" y="1467"/>
                  <a:pt x="5170" y="1486"/>
                  <a:pt x="5028" y="1523"/>
                </a:cubicBezTo>
                <a:lnTo>
                  <a:pt x="4826" y="1576"/>
                </a:lnTo>
                <a:cubicBezTo>
                  <a:pt x="4706" y="1383"/>
                  <a:pt x="4492" y="1264"/>
                  <a:pt x="4262" y="1264"/>
                </a:cubicBezTo>
                <a:cubicBezTo>
                  <a:pt x="4206" y="1264"/>
                  <a:pt x="4150" y="1271"/>
                  <a:pt x="4093" y="1286"/>
                </a:cubicBezTo>
                <a:cubicBezTo>
                  <a:pt x="3739" y="1379"/>
                  <a:pt x="3529" y="1741"/>
                  <a:pt x="3622" y="2095"/>
                </a:cubicBezTo>
                <a:cubicBezTo>
                  <a:pt x="3701" y="2394"/>
                  <a:pt x="3969" y="2590"/>
                  <a:pt x="4263" y="2590"/>
                </a:cubicBezTo>
                <a:cubicBezTo>
                  <a:pt x="4319" y="2590"/>
                  <a:pt x="4376" y="2583"/>
                  <a:pt x="4433" y="2568"/>
                </a:cubicBezTo>
                <a:cubicBezTo>
                  <a:pt x="4729" y="2490"/>
                  <a:pt x="4925" y="2223"/>
                  <a:pt x="4927" y="1929"/>
                </a:cubicBezTo>
                <a:lnTo>
                  <a:pt x="5123" y="1878"/>
                </a:lnTo>
                <a:cubicBezTo>
                  <a:pt x="5235" y="1848"/>
                  <a:pt x="5349" y="1834"/>
                  <a:pt x="5462" y="1834"/>
                </a:cubicBezTo>
                <a:cubicBezTo>
                  <a:pt x="5727" y="1834"/>
                  <a:pt x="5988" y="1914"/>
                  <a:pt x="6210" y="2067"/>
                </a:cubicBezTo>
                <a:cubicBezTo>
                  <a:pt x="6529" y="2287"/>
                  <a:pt x="6733" y="2633"/>
                  <a:pt x="6773" y="3017"/>
                </a:cubicBezTo>
                <a:lnTo>
                  <a:pt x="7375" y="8767"/>
                </a:lnTo>
                <a:cubicBezTo>
                  <a:pt x="7443" y="9420"/>
                  <a:pt x="7033" y="10014"/>
                  <a:pt x="6398" y="10181"/>
                </a:cubicBezTo>
                <a:lnTo>
                  <a:pt x="4391" y="10711"/>
                </a:lnTo>
                <a:cubicBezTo>
                  <a:pt x="4276" y="10741"/>
                  <a:pt x="4162" y="10755"/>
                  <a:pt x="4048" y="10755"/>
                </a:cubicBezTo>
                <a:cubicBezTo>
                  <a:pt x="3535" y="10755"/>
                  <a:pt x="3059" y="10455"/>
                  <a:pt x="2844" y="9962"/>
                </a:cubicBezTo>
                <a:lnTo>
                  <a:pt x="534" y="4662"/>
                </a:lnTo>
                <a:cubicBezTo>
                  <a:pt x="380" y="4308"/>
                  <a:pt x="387" y="3907"/>
                  <a:pt x="555" y="3559"/>
                </a:cubicBezTo>
                <a:cubicBezTo>
                  <a:pt x="723" y="3212"/>
                  <a:pt x="1033" y="2956"/>
                  <a:pt x="1407" y="2858"/>
                </a:cubicBezTo>
                <a:lnTo>
                  <a:pt x="1603" y="2805"/>
                </a:lnTo>
                <a:cubicBezTo>
                  <a:pt x="1721" y="3011"/>
                  <a:pt x="1941" y="3139"/>
                  <a:pt x="2178" y="3139"/>
                </a:cubicBezTo>
                <a:cubicBezTo>
                  <a:pt x="2234" y="3139"/>
                  <a:pt x="2291" y="3132"/>
                  <a:pt x="2348" y="3117"/>
                </a:cubicBezTo>
                <a:cubicBezTo>
                  <a:pt x="2702" y="3024"/>
                  <a:pt x="2914" y="2661"/>
                  <a:pt x="2820" y="2307"/>
                </a:cubicBezTo>
                <a:cubicBezTo>
                  <a:pt x="2741" y="2010"/>
                  <a:pt x="2474" y="1813"/>
                  <a:pt x="2180" y="1813"/>
                </a:cubicBezTo>
                <a:cubicBezTo>
                  <a:pt x="2124" y="1813"/>
                  <a:pt x="2067" y="1820"/>
                  <a:pt x="2010" y="1835"/>
                </a:cubicBezTo>
                <a:cubicBezTo>
                  <a:pt x="1721" y="1911"/>
                  <a:pt x="1526" y="2165"/>
                  <a:pt x="1516" y="2448"/>
                </a:cubicBezTo>
                <a:lnTo>
                  <a:pt x="1315" y="2502"/>
                </a:lnTo>
                <a:cubicBezTo>
                  <a:pt x="837" y="2628"/>
                  <a:pt x="440" y="2955"/>
                  <a:pt x="225" y="3399"/>
                </a:cubicBezTo>
                <a:cubicBezTo>
                  <a:pt x="10" y="3843"/>
                  <a:pt x="0" y="4357"/>
                  <a:pt x="197" y="4810"/>
                </a:cubicBezTo>
                <a:lnTo>
                  <a:pt x="2507" y="10110"/>
                </a:lnTo>
                <a:cubicBezTo>
                  <a:pt x="2782" y="10740"/>
                  <a:pt x="3390" y="11124"/>
                  <a:pt x="4048" y="11124"/>
                </a:cubicBezTo>
                <a:cubicBezTo>
                  <a:pt x="4193" y="11124"/>
                  <a:pt x="4340" y="11105"/>
                  <a:pt x="4486" y="11067"/>
                </a:cubicBezTo>
                <a:lnTo>
                  <a:pt x="5290" y="10854"/>
                </a:lnTo>
                <a:lnTo>
                  <a:pt x="5852" y="12986"/>
                </a:lnTo>
                <a:cubicBezTo>
                  <a:pt x="6203" y="14319"/>
                  <a:pt x="7413" y="15203"/>
                  <a:pt x="8732" y="15203"/>
                </a:cubicBezTo>
                <a:cubicBezTo>
                  <a:pt x="8982" y="15203"/>
                  <a:pt x="9236" y="15171"/>
                  <a:pt x="9489" y="15104"/>
                </a:cubicBezTo>
                <a:cubicBezTo>
                  <a:pt x="11077" y="14686"/>
                  <a:pt x="12028" y="13053"/>
                  <a:pt x="11609" y="11467"/>
                </a:cubicBezTo>
                <a:lnTo>
                  <a:pt x="9546" y="3640"/>
                </a:lnTo>
                <a:cubicBezTo>
                  <a:pt x="9179" y="2249"/>
                  <a:pt x="10012" y="819"/>
                  <a:pt x="11403" y="452"/>
                </a:cubicBezTo>
                <a:cubicBezTo>
                  <a:pt x="11625" y="394"/>
                  <a:pt x="11847" y="366"/>
                  <a:pt x="12067" y="366"/>
                </a:cubicBezTo>
                <a:cubicBezTo>
                  <a:pt x="13223" y="366"/>
                  <a:pt x="14283" y="1140"/>
                  <a:pt x="14590" y="2309"/>
                </a:cubicBezTo>
                <a:lnTo>
                  <a:pt x="15172" y="4512"/>
                </a:lnTo>
                <a:cubicBezTo>
                  <a:pt x="14700" y="4721"/>
                  <a:pt x="14436" y="5247"/>
                  <a:pt x="14572" y="5763"/>
                </a:cubicBezTo>
                <a:cubicBezTo>
                  <a:pt x="14699" y="6242"/>
                  <a:pt x="15130" y="6559"/>
                  <a:pt x="15603" y="6559"/>
                </a:cubicBezTo>
                <a:cubicBezTo>
                  <a:pt x="15694" y="6559"/>
                  <a:pt x="15786" y="6548"/>
                  <a:pt x="15878" y="6523"/>
                </a:cubicBezTo>
                <a:cubicBezTo>
                  <a:pt x="16446" y="6377"/>
                  <a:pt x="16787" y="5791"/>
                  <a:pt x="16636" y="5221"/>
                </a:cubicBezTo>
                <a:cubicBezTo>
                  <a:pt x="16510" y="4741"/>
                  <a:pt x="16077" y="4424"/>
                  <a:pt x="15605" y="4424"/>
                </a:cubicBezTo>
                <a:cubicBezTo>
                  <a:pt x="15579" y="4424"/>
                  <a:pt x="15552" y="4425"/>
                  <a:pt x="15526" y="4427"/>
                </a:cubicBezTo>
                <a:lnTo>
                  <a:pt x="14943" y="2218"/>
                </a:lnTo>
                <a:cubicBezTo>
                  <a:pt x="14592" y="885"/>
                  <a:pt x="13383" y="1"/>
                  <a:pt x="12064" y="1"/>
                </a:cubicBezTo>
                <a:close/>
              </a:path>
            </a:pathLst>
          </a:custGeom>
          <a:solidFill>
            <a:srgbClr val="A49FE9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99675" y="-1105274"/>
            <a:ext cx="2529362" cy="2529362"/>
          </a:xfrm>
          <a:custGeom>
            <a:avLst/>
            <a:gdLst/>
            <a:ahLst/>
            <a:cxnLst/>
            <a:rect l="l" t="t" r="r" b="b"/>
            <a:pathLst>
              <a:path w="16018" h="16018" extrusionOk="0">
                <a:moveTo>
                  <a:pt x="8008" y="1"/>
                </a:moveTo>
                <a:cubicBezTo>
                  <a:pt x="5884" y="1"/>
                  <a:pt x="3848" y="845"/>
                  <a:pt x="2346" y="2346"/>
                </a:cubicBezTo>
                <a:cubicBezTo>
                  <a:pt x="844" y="3848"/>
                  <a:pt x="0" y="5886"/>
                  <a:pt x="0" y="8010"/>
                </a:cubicBezTo>
                <a:cubicBezTo>
                  <a:pt x="0" y="10134"/>
                  <a:pt x="844" y="12170"/>
                  <a:pt x="2346" y="13672"/>
                </a:cubicBezTo>
                <a:cubicBezTo>
                  <a:pt x="3848" y="15174"/>
                  <a:pt x="5884" y="16018"/>
                  <a:pt x="8008" y="16018"/>
                </a:cubicBezTo>
                <a:cubicBezTo>
                  <a:pt x="10132" y="16018"/>
                  <a:pt x="12170" y="15174"/>
                  <a:pt x="13672" y="13672"/>
                </a:cubicBezTo>
                <a:cubicBezTo>
                  <a:pt x="15173" y="12170"/>
                  <a:pt x="16017" y="10134"/>
                  <a:pt x="16017" y="8010"/>
                </a:cubicBezTo>
                <a:cubicBezTo>
                  <a:pt x="16017" y="5886"/>
                  <a:pt x="15173" y="3848"/>
                  <a:pt x="13672" y="2346"/>
                </a:cubicBezTo>
                <a:cubicBezTo>
                  <a:pt x="12170" y="845"/>
                  <a:pt x="10132" y="1"/>
                  <a:pt x="8008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578774" y="3857850"/>
            <a:ext cx="2609335" cy="2609335"/>
          </a:xfrm>
          <a:custGeom>
            <a:avLst/>
            <a:gdLst/>
            <a:ahLst/>
            <a:cxnLst/>
            <a:rect l="l" t="t" r="r" b="b"/>
            <a:pathLst>
              <a:path w="17330" h="17330" extrusionOk="0">
                <a:moveTo>
                  <a:pt x="8665" y="0"/>
                </a:moveTo>
                <a:cubicBezTo>
                  <a:pt x="6367" y="0"/>
                  <a:pt x="4163" y="914"/>
                  <a:pt x="2538" y="2538"/>
                </a:cubicBezTo>
                <a:cubicBezTo>
                  <a:pt x="914" y="4163"/>
                  <a:pt x="0" y="6367"/>
                  <a:pt x="0" y="8665"/>
                </a:cubicBezTo>
                <a:cubicBezTo>
                  <a:pt x="0" y="10963"/>
                  <a:pt x="914" y="13167"/>
                  <a:pt x="2538" y="14792"/>
                </a:cubicBezTo>
                <a:cubicBezTo>
                  <a:pt x="4163" y="16417"/>
                  <a:pt x="6367" y="17329"/>
                  <a:pt x="8665" y="17329"/>
                </a:cubicBezTo>
                <a:cubicBezTo>
                  <a:pt x="10963" y="17329"/>
                  <a:pt x="13167" y="16417"/>
                  <a:pt x="14792" y="14792"/>
                </a:cubicBezTo>
                <a:cubicBezTo>
                  <a:pt x="16417" y="13167"/>
                  <a:pt x="17329" y="10963"/>
                  <a:pt x="17329" y="8665"/>
                </a:cubicBezTo>
                <a:cubicBezTo>
                  <a:pt x="17329" y="6367"/>
                  <a:pt x="16417" y="4163"/>
                  <a:pt x="14792" y="2538"/>
                </a:cubicBezTo>
                <a:cubicBezTo>
                  <a:pt x="13167" y="914"/>
                  <a:pt x="10963" y="0"/>
                  <a:pt x="8665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683364" y="271271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578764" y="110705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709850" y="1555625"/>
            <a:ext cx="203602" cy="1018158"/>
            <a:chOff x="8751738" y="3407237"/>
            <a:chExt cx="203602" cy="1018158"/>
          </a:xfrm>
        </p:grpSpPr>
        <p:sp>
          <p:nvSpPr>
            <p:cNvPr id="16" name="Google Shape;16;p2"/>
            <p:cNvSpPr/>
            <p:nvPr/>
          </p:nvSpPr>
          <p:spPr>
            <a:xfrm>
              <a:off x="8900243" y="4370298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900243" y="4156220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2"/>
                    <a:pt x="192" y="382"/>
                  </a:cubicBezTo>
                  <a:cubicBezTo>
                    <a:pt x="298" y="382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00243" y="3942287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900243" y="3728496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1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00243" y="3514563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51738" y="4262829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751738" y="4048895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51738" y="3835105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1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51738" y="3621171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51738" y="340723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280122" y="2615246"/>
            <a:ext cx="203746" cy="1017728"/>
            <a:chOff x="226122" y="728258"/>
            <a:chExt cx="203746" cy="1017728"/>
          </a:xfrm>
        </p:grpSpPr>
        <p:sp>
          <p:nvSpPr>
            <p:cNvPr id="27" name="Google Shape;27;p2"/>
            <p:cNvSpPr/>
            <p:nvPr/>
          </p:nvSpPr>
          <p:spPr>
            <a:xfrm>
              <a:off x="374914" y="1690888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914" y="1477098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74914" y="1263164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914" y="1049230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5" y="383"/>
                    <a:pt x="189" y="383"/>
                  </a:cubicBezTo>
                  <a:cubicBezTo>
                    <a:pt x="190" y="383"/>
                    <a:pt x="190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4914" y="83529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26122" y="1583850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6122" y="1369916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6122" y="1155982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2"/>
                    <a:pt x="191" y="382"/>
                  </a:cubicBezTo>
                  <a:cubicBezTo>
                    <a:pt x="296" y="382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26122" y="942048"/>
              <a:ext cx="54810" cy="55097"/>
            </a:xfrm>
            <a:custGeom>
              <a:avLst/>
              <a:gdLst/>
              <a:ahLst/>
              <a:cxnLst/>
              <a:rect l="l" t="t" r="r" b="b"/>
              <a:pathLst>
                <a:path w="382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6" y="383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26122" y="728258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8709851" y="3156859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177076" y="4773496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5400700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204" name="Google Shape;204;p7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7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7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216" name="Google Shape;216;p7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7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230" name="Google Shape;230;p7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235" name="Google Shape;235;p7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7"/>
          <p:cNvSpPr txBox="1">
            <a:spLocks noGrp="1"/>
          </p:cNvSpPr>
          <p:nvPr>
            <p:ph type="title"/>
          </p:nvPr>
        </p:nvSpPr>
        <p:spPr>
          <a:xfrm>
            <a:off x="996013" y="1250150"/>
            <a:ext cx="358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7"/>
          <p:cNvSpPr txBox="1">
            <a:spLocks noGrp="1"/>
          </p:cNvSpPr>
          <p:nvPr>
            <p:ph type="body" idx="1"/>
          </p:nvPr>
        </p:nvSpPr>
        <p:spPr>
          <a:xfrm>
            <a:off x="996013" y="1887350"/>
            <a:ext cx="35853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7"/>
          <p:cNvSpPr>
            <a:spLocks noGrp="1"/>
          </p:cNvSpPr>
          <p:nvPr>
            <p:ph type="pic" idx="2"/>
          </p:nvPr>
        </p:nvSpPr>
        <p:spPr>
          <a:xfrm>
            <a:off x="5024375" y="760350"/>
            <a:ext cx="3272400" cy="3622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9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301" name="Google Shape;301;p9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9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313" name="Google Shape;313;p9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9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9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327" name="Google Shape;327;p9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9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332" name="Google Shape;332;p9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9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Drug information</a:t>
            </a:r>
            <a:endParaRPr sz="5400" dirty="0"/>
          </a:p>
        </p:txBody>
      </p:sp>
      <p:sp>
        <p:nvSpPr>
          <p:cNvPr id="954" name="Google Shape;954;p29"/>
          <p:cNvSpPr/>
          <p:nvPr/>
        </p:nvSpPr>
        <p:spPr>
          <a:xfrm>
            <a:off x="-1793975" y="3979879"/>
            <a:ext cx="3833709" cy="3833709"/>
          </a:xfrm>
          <a:custGeom>
            <a:avLst/>
            <a:gdLst/>
            <a:ahLst/>
            <a:cxnLst/>
            <a:rect l="l" t="t" r="r" b="b"/>
            <a:pathLst>
              <a:path w="26719" h="26719" extrusionOk="0">
                <a:moveTo>
                  <a:pt x="13359" y="1"/>
                </a:moveTo>
                <a:cubicBezTo>
                  <a:pt x="9817" y="1"/>
                  <a:pt x="6419" y="1408"/>
                  <a:pt x="3913" y="3913"/>
                </a:cubicBezTo>
                <a:cubicBezTo>
                  <a:pt x="1408" y="6419"/>
                  <a:pt x="0" y="9817"/>
                  <a:pt x="0" y="13360"/>
                </a:cubicBezTo>
                <a:cubicBezTo>
                  <a:pt x="0" y="16903"/>
                  <a:pt x="1408" y="20301"/>
                  <a:pt x="3913" y="22806"/>
                </a:cubicBezTo>
                <a:cubicBezTo>
                  <a:pt x="6419" y="25311"/>
                  <a:pt x="9817" y="26719"/>
                  <a:pt x="13359" y="26719"/>
                </a:cubicBezTo>
                <a:cubicBezTo>
                  <a:pt x="16903" y="26719"/>
                  <a:pt x="20301" y="25311"/>
                  <a:pt x="22806" y="22806"/>
                </a:cubicBezTo>
                <a:cubicBezTo>
                  <a:pt x="25311" y="20301"/>
                  <a:pt x="26718" y="16903"/>
                  <a:pt x="26718" y="13360"/>
                </a:cubicBezTo>
                <a:cubicBezTo>
                  <a:pt x="26718" y="9817"/>
                  <a:pt x="25311" y="6419"/>
                  <a:pt x="22806" y="3913"/>
                </a:cubicBezTo>
                <a:cubicBezTo>
                  <a:pt x="20301" y="1408"/>
                  <a:pt x="16903" y="1"/>
                  <a:pt x="133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9"/>
          <p:cNvSpPr/>
          <p:nvPr/>
        </p:nvSpPr>
        <p:spPr>
          <a:xfrm>
            <a:off x="7971621" y="-1400175"/>
            <a:ext cx="2239188" cy="2239188"/>
          </a:xfrm>
          <a:custGeom>
            <a:avLst/>
            <a:gdLst/>
            <a:ahLst/>
            <a:cxnLst/>
            <a:rect l="l" t="t" r="r" b="b"/>
            <a:pathLst>
              <a:path w="15606" h="15606" extrusionOk="0">
                <a:moveTo>
                  <a:pt x="7803" y="0"/>
                </a:moveTo>
                <a:cubicBezTo>
                  <a:pt x="5734" y="0"/>
                  <a:pt x="3749" y="822"/>
                  <a:pt x="2286" y="2285"/>
                </a:cubicBezTo>
                <a:cubicBezTo>
                  <a:pt x="823" y="3748"/>
                  <a:pt x="1" y="5733"/>
                  <a:pt x="1" y="7803"/>
                </a:cubicBezTo>
                <a:cubicBezTo>
                  <a:pt x="1" y="9873"/>
                  <a:pt x="823" y="11857"/>
                  <a:pt x="2286" y="13320"/>
                </a:cubicBezTo>
                <a:cubicBezTo>
                  <a:pt x="3749" y="14783"/>
                  <a:pt x="5734" y="15606"/>
                  <a:pt x="7803" y="15606"/>
                </a:cubicBezTo>
                <a:cubicBezTo>
                  <a:pt x="9873" y="15606"/>
                  <a:pt x="11857" y="14783"/>
                  <a:pt x="13320" y="13320"/>
                </a:cubicBezTo>
                <a:cubicBezTo>
                  <a:pt x="14783" y="11857"/>
                  <a:pt x="15606" y="9873"/>
                  <a:pt x="15606" y="7803"/>
                </a:cubicBezTo>
                <a:cubicBezTo>
                  <a:pt x="15606" y="5733"/>
                  <a:pt x="14783" y="3748"/>
                  <a:pt x="13320" y="2285"/>
                </a:cubicBezTo>
                <a:cubicBezTo>
                  <a:pt x="11857" y="822"/>
                  <a:pt x="9873" y="0"/>
                  <a:pt x="7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6" name="Google Shape;956;p29"/>
          <p:cNvGrpSpPr/>
          <p:nvPr/>
        </p:nvGrpSpPr>
        <p:grpSpPr>
          <a:xfrm>
            <a:off x="314702" y="367949"/>
            <a:ext cx="800803" cy="1017729"/>
            <a:chOff x="5770300" y="1624450"/>
            <a:chExt cx="115800" cy="145600"/>
          </a:xfrm>
        </p:grpSpPr>
        <p:sp>
          <p:nvSpPr>
            <p:cNvPr id="957" name="Google Shape;957;p29"/>
            <p:cNvSpPr/>
            <p:nvPr/>
          </p:nvSpPr>
          <p:spPr>
            <a:xfrm>
              <a:off x="5772950" y="1636375"/>
              <a:ext cx="113150" cy="133675"/>
            </a:xfrm>
            <a:custGeom>
              <a:avLst/>
              <a:gdLst/>
              <a:ahLst/>
              <a:cxnLst/>
              <a:rect l="l" t="t" r="r" b="b"/>
              <a:pathLst>
                <a:path w="4526" h="5347" extrusionOk="0">
                  <a:moveTo>
                    <a:pt x="2188" y="0"/>
                  </a:moveTo>
                  <a:lnTo>
                    <a:pt x="257" y="749"/>
                  </a:lnTo>
                  <a:lnTo>
                    <a:pt x="465" y="1284"/>
                  </a:lnTo>
                  <a:lnTo>
                    <a:pt x="513" y="1266"/>
                  </a:lnTo>
                  <a:lnTo>
                    <a:pt x="513" y="1266"/>
                  </a:lnTo>
                  <a:cubicBezTo>
                    <a:pt x="146" y="1584"/>
                    <a:pt x="1" y="2109"/>
                    <a:pt x="186" y="2586"/>
                  </a:cubicBezTo>
                  <a:lnTo>
                    <a:pt x="1161" y="5103"/>
                  </a:lnTo>
                  <a:cubicBezTo>
                    <a:pt x="1219" y="5254"/>
                    <a:pt x="1364" y="5347"/>
                    <a:pt x="1516" y="5347"/>
                  </a:cubicBezTo>
                  <a:cubicBezTo>
                    <a:pt x="1562" y="5347"/>
                    <a:pt x="1609" y="5338"/>
                    <a:pt x="1654" y="5320"/>
                  </a:cubicBezTo>
                  <a:lnTo>
                    <a:pt x="4232" y="4320"/>
                  </a:lnTo>
                  <a:cubicBezTo>
                    <a:pt x="4429" y="4245"/>
                    <a:pt x="4526" y="4025"/>
                    <a:pt x="4450" y="3828"/>
                  </a:cubicBezTo>
                  <a:lnTo>
                    <a:pt x="3475" y="1313"/>
                  </a:lnTo>
                  <a:cubicBezTo>
                    <a:pt x="3292" y="844"/>
                    <a:pt x="2847" y="557"/>
                    <a:pt x="2373" y="557"/>
                  </a:cubicBezTo>
                  <a:cubicBezTo>
                    <a:pt x="2363" y="557"/>
                    <a:pt x="2352" y="557"/>
                    <a:pt x="2342" y="557"/>
                  </a:cubicBezTo>
                  <a:lnTo>
                    <a:pt x="2395" y="535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5779125" y="1673225"/>
              <a:ext cx="96400" cy="68425"/>
            </a:xfrm>
            <a:custGeom>
              <a:avLst/>
              <a:gdLst/>
              <a:ahLst/>
              <a:cxnLst/>
              <a:rect l="l" t="t" r="r" b="b"/>
              <a:pathLst>
                <a:path w="3856" h="2737" extrusionOk="0">
                  <a:moveTo>
                    <a:pt x="567" y="2736"/>
                  </a:moveTo>
                  <a:lnTo>
                    <a:pt x="3855" y="1460"/>
                  </a:lnTo>
                  <a:lnTo>
                    <a:pt x="3290" y="0"/>
                  </a:lnTo>
                  <a:lnTo>
                    <a:pt x="1" y="127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5770300" y="1624450"/>
              <a:ext cx="65075" cy="37975"/>
            </a:xfrm>
            <a:custGeom>
              <a:avLst/>
              <a:gdLst/>
              <a:ahLst/>
              <a:cxnLst/>
              <a:rect l="l" t="t" r="r" b="b"/>
              <a:pathLst>
                <a:path w="2603" h="1519" extrusionOk="0">
                  <a:moveTo>
                    <a:pt x="234" y="1519"/>
                  </a:moveTo>
                  <a:lnTo>
                    <a:pt x="2603" y="601"/>
                  </a:lnTo>
                  <a:lnTo>
                    <a:pt x="2370" y="0"/>
                  </a:lnTo>
                  <a:lnTo>
                    <a:pt x="1" y="919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29"/>
          <p:cNvGrpSpPr/>
          <p:nvPr/>
        </p:nvGrpSpPr>
        <p:grpSpPr>
          <a:xfrm flipH="1">
            <a:off x="280113" y="3936177"/>
            <a:ext cx="933120" cy="837438"/>
            <a:chOff x="-361087" y="3312839"/>
            <a:chExt cx="933120" cy="837438"/>
          </a:xfrm>
        </p:grpSpPr>
        <p:sp>
          <p:nvSpPr>
            <p:cNvPr id="961" name="Google Shape;961;p29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" name="Google Shape;963;p29"/>
          <p:cNvGrpSpPr/>
          <p:nvPr/>
        </p:nvGrpSpPr>
        <p:grpSpPr>
          <a:xfrm flipH="1">
            <a:off x="8134067" y="3774449"/>
            <a:ext cx="733694" cy="1051070"/>
            <a:chOff x="8681908" y="880369"/>
            <a:chExt cx="703109" cy="1007254"/>
          </a:xfrm>
        </p:grpSpPr>
        <p:sp>
          <p:nvSpPr>
            <p:cNvPr id="964" name="Google Shape;964;p29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" name="Google Shape;968;p29"/>
          <p:cNvSpPr/>
          <p:nvPr/>
        </p:nvSpPr>
        <p:spPr>
          <a:xfrm>
            <a:off x="2261964" y="4476780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29"/>
          <p:cNvGrpSpPr/>
          <p:nvPr/>
        </p:nvGrpSpPr>
        <p:grpSpPr>
          <a:xfrm flipH="1">
            <a:off x="8078398" y="385762"/>
            <a:ext cx="845031" cy="1018146"/>
            <a:chOff x="1713650" y="2716650"/>
            <a:chExt cx="139375" cy="167925"/>
          </a:xfrm>
        </p:grpSpPr>
        <p:sp>
          <p:nvSpPr>
            <p:cNvPr id="970" name="Google Shape;970;p29"/>
            <p:cNvSpPr/>
            <p:nvPr/>
          </p:nvSpPr>
          <p:spPr>
            <a:xfrm>
              <a:off x="1713650" y="2716650"/>
              <a:ext cx="139375" cy="167925"/>
            </a:xfrm>
            <a:custGeom>
              <a:avLst/>
              <a:gdLst/>
              <a:ahLst/>
              <a:cxnLst/>
              <a:rect l="l" t="t" r="r" b="b"/>
              <a:pathLst>
                <a:path w="5575" h="6717" extrusionOk="0">
                  <a:moveTo>
                    <a:pt x="5522" y="5489"/>
                  </a:moveTo>
                  <a:lnTo>
                    <a:pt x="1883" y="6704"/>
                  </a:lnTo>
                  <a:cubicBezTo>
                    <a:pt x="1848" y="6717"/>
                    <a:pt x="1810" y="6698"/>
                    <a:pt x="1800" y="6663"/>
                  </a:cubicBezTo>
                  <a:lnTo>
                    <a:pt x="13" y="1311"/>
                  </a:lnTo>
                  <a:cubicBezTo>
                    <a:pt x="1" y="1276"/>
                    <a:pt x="19" y="1239"/>
                    <a:pt x="54" y="1228"/>
                  </a:cubicBezTo>
                  <a:lnTo>
                    <a:pt x="3693" y="13"/>
                  </a:lnTo>
                  <a:cubicBezTo>
                    <a:pt x="3728" y="1"/>
                    <a:pt x="3766" y="19"/>
                    <a:pt x="3776" y="54"/>
                  </a:cubicBezTo>
                  <a:lnTo>
                    <a:pt x="5564" y="5407"/>
                  </a:lnTo>
                  <a:cubicBezTo>
                    <a:pt x="5574" y="5441"/>
                    <a:pt x="5556" y="5478"/>
                    <a:pt x="5522" y="548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1723625" y="2725750"/>
              <a:ext cx="117950" cy="144775"/>
            </a:xfrm>
            <a:custGeom>
              <a:avLst/>
              <a:gdLst/>
              <a:ahLst/>
              <a:cxnLst/>
              <a:rect l="l" t="t" r="r" b="b"/>
              <a:pathLst>
                <a:path w="4718" h="5791" extrusionOk="0">
                  <a:moveTo>
                    <a:pt x="3133" y="1"/>
                  </a:moveTo>
                  <a:lnTo>
                    <a:pt x="1" y="1048"/>
                  </a:lnTo>
                  <a:lnTo>
                    <a:pt x="1585" y="5790"/>
                  </a:lnTo>
                  <a:lnTo>
                    <a:pt x="4718" y="474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1737875" y="2719725"/>
              <a:ext cx="48250" cy="30950"/>
            </a:xfrm>
            <a:custGeom>
              <a:avLst/>
              <a:gdLst/>
              <a:ahLst/>
              <a:cxnLst/>
              <a:rect l="l" t="t" r="r" b="b"/>
              <a:pathLst>
                <a:path w="1930" h="1238" extrusionOk="0">
                  <a:moveTo>
                    <a:pt x="971" y="61"/>
                  </a:moveTo>
                  <a:cubicBezTo>
                    <a:pt x="976" y="61"/>
                    <a:pt x="979" y="63"/>
                    <a:pt x="981" y="65"/>
                  </a:cubicBezTo>
                  <a:cubicBezTo>
                    <a:pt x="984" y="66"/>
                    <a:pt x="989" y="71"/>
                    <a:pt x="989" y="80"/>
                  </a:cubicBezTo>
                  <a:cubicBezTo>
                    <a:pt x="991" y="122"/>
                    <a:pt x="1012" y="157"/>
                    <a:pt x="1047" y="181"/>
                  </a:cubicBezTo>
                  <a:cubicBezTo>
                    <a:pt x="1069" y="195"/>
                    <a:pt x="1095" y="203"/>
                    <a:pt x="1121" y="203"/>
                  </a:cubicBezTo>
                  <a:cubicBezTo>
                    <a:pt x="1134" y="203"/>
                    <a:pt x="1148" y="201"/>
                    <a:pt x="1161" y="197"/>
                  </a:cubicBezTo>
                  <a:lnTo>
                    <a:pt x="1331" y="140"/>
                  </a:lnTo>
                  <a:cubicBezTo>
                    <a:pt x="1349" y="134"/>
                    <a:pt x="1366" y="131"/>
                    <a:pt x="1384" y="131"/>
                  </a:cubicBezTo>
                  <a:cubicBezTo>
                    <a:pt x="1434" y="131"/>
                    <a:pt x="1483" y="154"/>
                    <a:pt x="1515" y="195"/>
                  </a:cubicBezTo>
                  <a:lnTo>
                    <a:pt x="1537" y="221"/>
                  </a:lnTo>
                  <a:lnTo>
                    <a:pt x="234" y="658"/>
                  </a:lnTo>
                  <a:lnTo>
                    <a:pt x="232" y="621"/>
                  </a:lnTo>
                  <a:cubicBezTo>
                    <a:pt x="235" y="552"/>
                    <a:pt x="280" y="489"/>
                    <a:pt x="347" y="467"/>
                  </a:cubicBezTo>
                  <a:lnTo>
                    <a:pt x="517" y="412"/>
                  </a:lnTo>
                  <a:cubicBezTo>
                    <a:pt x="556" y="398"/>
                    <a:pt x="585" y="369"/>
                    <a:pt x="599" y="329"/>
                  </a:cubicBezTo>
                  <a:cubicBezTo>
                    <a:pt x="612" y="291"/>
                    <a:pt x="606" y="249"/>
                    <a:pt x="584" y="215"/>
                  </a:cubicBezTo>
                  <a:cubicBezTo>
                    <a:pt x="579" y="208"/>
                    <a:pt x="582" y="201"/>
                    <a:pt x="582" y="199"/>
                  </a:cubicBezTo>
                  <a:cubicBezTo>
                    <a:pt x="583" y="196"/>
                    <a:pt x="585" y="189"/>
                    <a:pt x="593" y="187"/>
                  </a:cubicBezTo>
                  <a:lnTo>
                    <a:pt x="964" y="62"/>
                  </a:lnTo>
                  <a:cubicBezTo>
                    <a:pt x="967" y="61"/>
                    <a:pt x="969" y="61"/>
                    <a:pt x="971" y="61"/>
                  </a:cubicBezTo>
                  <a:close/>
                  <a:moveTo>
                    <a:pt x="969" y="1"/>
                  </a:moveTo>
                  <a:cubicBezTo>
                    <a:pt x="960" y="1"/>
                    <a:pt x="952" y="2"/>
                    <a:pt x="943" y="5"/>
                  </a:cubicBezTo>
                  <a:lnTo>
                    <a:pt x="572" y="129"/>
                  </a:lnTo>
                  <a:cubicBezTo>
                    <a:pt x="547" y="138"/>
                    <a:pt x="530" y="155"/>
                    <a:pt x="522" y="178"/>
                  </a:cubicBezTo>
                  <a:cubicBezTo>
                    <a:pt x="514" y="203"/>
                    <a:pt x="517" y="229"/>
                    <a:pt x="531" y="248"/>
                  </a:cubicBezTo>
                  <a:cubicBezTo>
                    <a:pt x="543" y="267"/>
                    <a:pt x="546" y="289"/>
                    <a:pt x="540" y="310"/>
                  </a:cubicBezTo>
                  <a:cubicBezTo>
                    <a:pt x="532" y="330"/>
                    <a:pt x="517" y="346"/>
                    <a:pt x="495" y="353"/>
                  </a:cubicBezTo>
                  <a:lnTo>
                    <a:pt x="326" y="408"/>
                  </a:lnTo>
                  <a:cubicBezTo>
                    <a:pt x="235" y="439"/>
                    <a:pt x="172" y="524"/>
                    <a:pt x="170" y="619"/>
                  </a:cubicBezTo>
                  <a:lnTo>
                    <a:pt x="168" y="675"/>
                  </a:lnTo>
                  <a:lnTo>
                    <a:pt x="1" y="731"/>
                  </a:lnTo>
                  <a:lnTo>
                    <a:pt x="170" y="1237"/>
                  </a:lnTo>
                  <a:lnTo>
                    <a:pt x="1929" y="649"/>
                  </a:lnTo>
                  <a:lnTo>
                    <a:pt x="1763" y="143"/>
                  </a:lnTo>
                  <a:lnTo>
                    <a:pt x="1596" y="199"/>
                  </a:lnTo>
                  <a:lnTo>
                    <a:pt x="1561" y="155"/>
                  </a:lnTo>
                  <a:cubicBezTo>
                    <a:pt x="1517" y="100"/>
                    <a:pt x="1451" y="69"/>
                    <a:pt x="1383" y="69"/>
                  </a:cubicBezTo>
                  <a:cubicBezTo>
                    <a:pt x="1359" y="69"/>
                    <a:pt x="1334" y="73"/>
                    <a:pt x="1310" y="81"/>
                  </a:cubicBezTo>
                  <a:lnTo>
                    <a:pt x="1140" y="138"/>
                  </a:lnTo>
                  <a:cubicBezTo>
                    <a:pt x="1133" y="140"/>
                    <a:pt x="1125" y="141"/>
                    <a:pt x="1118" y="141"/>
                  </a:cubicBezTo>
                  <a:cubicBezTo>
                    <a:pt x="1104" y="141"/>
                    <a:pt x="1091" y="137"/>
                    <a:pt x="1079" y="129"/>
                  </a:cubicBezTo>
                  <a:cubicBezTo>
                    <a:pt x="1060" y="117"/>
                    <a:pt x="1049" y="97"/>
                    <a:pt x="1048" y="76"/>
                  </a:cubicBezTo>
                  <a:cubicBezTo>
                    <a:pt x="1046" y="50"/>
                    <a:pt x="1033" y="29"/>
                    <a:pt x="1013" y="15"/>
                  </a:cubicBezTo>
                  <a:cubicBezTo>
                    <a:pt x="999" y="6"/>
                    <a:pt x="98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745625" y="2764700"/>
              <a:ext cx="58350" cy="24275"/>
            </a:xfrm>
            <a:custGeom>
              <a:avLst/>
              <a:gdLst/>
              <a:ahLst/>
              <a:cxnLst/>
              <a:rect l="l" t="t" r="r" b="b"/>
              <a:pathLst>
                <a:path w="2334" h="971" extrusionOk="0">
                  <a:moveTo>
                    <a:pt x="2165" y="0"/>
                  </a:moveTo>
                  <a:cubicBezTo>
                    <a:pt x="2149" y="0"/>
                    <a:pt x="2133" y="3"/>
                    <a:pt x="2117" y="8"/>
                  </a:cubicBezTo>
                  <a:lnTo>
                    <a:pt x="124" y="674"/>
                  </a:lnTo>
                  <a:cubicBezTo>
                    <a:pt x="44" y="700"/>
                    <a:pt x="1" y="786"/>
                    <a:pt x="28" y="866"/>
                  </a:cubicBezTo>
                  <a:cubicBezTo>
                    <a:pt x="49" y="930"/>
                    <a:pt x="108" y="970"/>
                    <a:pt x="172" y="970"/>
                  </a:cubicBezTo>
                  <a:cubicBezTo>
                    <a:pt x="188" y="970"/>
                    <a:pt x="204" y="968"/>
                    <a:pt x="220" y="962"/>
                  </a:cubicBezTo>
                  <a:lnTo>
                    <a:pt x="2213" y="297"/>
                  </a:lnTo>
                  <a:cubicBezTo>
                    <a:pt x="2291" y="270"/>
                    <a:pt x="2334" y="183"/>
                    <a:pt x="2309" y="105"/>
                  </a:cubicBezTo>
                  <a:cubicBezTo>
                    <a:pt x="2288" y="41"/>
                    <a:pt x="2229" y="0"/>
                    <a:pt x="2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1759900" y="2785000"/>
              <a:ext cx="38950" cy="17750"/>
            </a:xfrm>
            <a:custGeom>
              <a:avLst/>
              <a:gdLst/>
              <a:ahLst/>
              <a:cxnLst/>
              <a:rect l="l" t="t" r="r" b="b"/>
              <a:pathLst>
                <a:path w="1558" h="710" extrusionOk="0">
                  <a:moveTo>
                    <a:pt x="1387" y="0"/>
                  </a:moveTo>
                  <a:cubicBezTo>
                    <a:pt x="1371" y="0"/>
                    <a:pt x="1354" y="3"/>
                    <a:pt x="1338" y="8"/>
                  </a:cubicBezTo>
                  <a:lnTo>
                    <a:pt x="123" y="413"/>
                  </a:lnTo>
                  <a:cubicBezTo>
                    <a:pt x="43" y="439"/>
                    <a:pt x="0" y="525"/>
                    <a:pt x="27" y="605"/>
                  </a:cubicBezTo>
                  <a:cubicBezTo>
                    <a:pt x="48" y="669"/>
                    <a:pt x="107" y="709"/>
                    <a:pt x="171" y="709"/>
                  </a:cubicBezTo>
                  <a:cubicBezTo>
                    <a:pt x="187" y="709"/>
                    <a:pt x="203" y="707"/>
                    <a:pt x="219" y="701"/>
                  </a:cubicBezTo>
                  <a:lnTo>
                    <a:pt x="1434" y="297"/>
                  </a:lnTo>
                  <a:cubicBezTo>
                    <a:pt x="1513" y="270"/>
                    <a:pt x="1557" y="185"/>
                    <a:pt x="1531" y="104"/>
                  </a:cubicBezTo>
                  <a:cubicBezTo>
                    <a:pt x="1509" y="40"/>
                    <a:pt x="1450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1766250" y="2804050"/>
              <a:ext cx="38925" cy="17775"/>
            </a:xfrm>
            <a:custGeom>
              <a:avLst/>
              <a:gdLst/>
              <a:ahLst/>
              <a:cxnLst/>
              <a:rect l="l" t="t" r="r" b="b"/>
              <a:pathLst>
                <a:path w="1557" h="711" extrusionOk="0">
                  <a:moveTo>
                    <a:pt x="1388" y="1"/>
                  </a:moveTo>
                  <a:cubicBezTo>
                    <a:pt x="1372" y="1"/>
                    <a:pt x="1356" y="3"/>
                    <a:pt x="1340" y="9"/>
                  </a:cubicBezTo>
                  <a:lnTo>
                    <a:pt x="124" y="414"/>
                  </a:lnTo>
                  <a:cubicBezTo>
                    <a:pt x="43" y="441"/>
                    <a:pt x="1" y="527"/>
                    <a:pt x="27" y="607"/>
                  </a:cubicBezTo>
                  <a:cubicBezTo>
                    <a:pt x="49" y="671"/>
                    <a:pt x="108" y="711"/>
                    <a:pt x="171" y="711"/>
                  </a:cubicBezTo>
                  <a:cubicBezTo>
                    <a:pt x="187" y="711"/>
                    <a:pt x="204" y="708"/>
                    <a:pt x="220" y="703"/>
                  </a:cubicBezTo>
                  <a:lnTo>
                    <a:pt x="1436" y="298"/>
                  </a:lnTo>
                  <a:cubicBezTo>
                    <a:pt x="1514" y="271"/>
                    <a:pt x="1557" y="185"/>
                    <a:pt x="1532" y="105"/>
                  </a:cubicBezTo>
                  <a:cubicBezTo>
                    <a:pt x="1511" y="41"/>
                    <a:pt x="1452" y="1"/>
                    <a:pt x="1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29"/>
          <p:cNvSpPr txBox="1">
            <a:spLocks noGrp="1"/>
          </p:cNvSpPr>
          <p:nvPr>
            <p:ph type="subTitle" idx="4294967295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Dr. Riffat Ibrahim Riffat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/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EB5B4-C9A3-8EE6-5A4D-B3D183EF7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361950"/>
            <a:ext cx="6855293" cy="4267200"/>
          </a:xfrm>
        </p:spPr>
        <p:txBody>
          <a:bodyPr/>
          <a:lstStyle/>
          <a:p>
            <a:pPr marL="0" indent="169329" algn="ctr">
              <a:lnSpc>
                <a:spcPct val="100000"/>
              </a:lnSpc>
            </a:pP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Classifying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</a:t>
            </a:r>
            <a:r>
              <a:rPr lang="en-US" altLang="zh-CN" sz="2000" b="1" spc="-10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ADR</a:t>
            </a:r>
          </a:p>
          <a:p>
            <a:pPr marL="0" algn="ctr" hangingPunct="0">
              <a:lnSpc>
                <a:spcPct val="94999"/>
              </a:lnSpc>
            </a:pPr>
            <a:r>
              <a:rPr lang="en-US" altLang="zh-CN" sz="2000" spc="215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*</a:t>
            </a:r>
            <a:r>
              <a:rPr lang="en-US" altLang="zh-CN" sz="2000" b="1" u="sng" spc="175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Definite</a:t>
            </a:r>
            <a:r>
              <a:rPr lang="en-US" altLang="zh-CN" sz="2000" spc="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7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</a:t>
            </a:r>
            <a:r>
              <a:rPr lang="en-US" altLang="zh-CN" sz="2000" spc="27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—when</a:t>
            </a:r>
            <a:r>
              <a:rPr lang="en-US" altLang="zh-CN" sz="2000" spc="10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2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spc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clinical</a:t>
            </a:r>
            <a:r>
              <a:rPr lang="en-US" altLang="zh-CN" sz="2000" spc="10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event</a:t>
            </a:r>
            <a:r>
              <a:rPr lang="en-US" altLang="zh-CN" sz="2000" spc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(including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6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laboratory</a:t>
            </a:r>
            <a:r>
              <a:rPr lang="en-US" altLang="zh-CN" sz="2000" spc="4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test</a:t>
            </a:r>
            <a:r>
              <a:rPr lang="en-US" altLang="zh-CN" sz="2000" spc="4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)</a:t>
            </a:r>
            <a:r>
              <a:rPr lang="en-US" altLang="zh-CN" sz="2000" spc="4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occurs</a:t>
            </a:r>
            <a:r>
              <a:rPr lang="en-US" altLang="zh-CN" sz="2000" spc="4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6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in</a:t>
            </a:r>
            <a:r>
              <a:rPr lang="en-US" altLang="zh-CN" sz="2000" spc="4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8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u="sng" spc="4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6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plausible</a:t>
            </a:r>
            <a:r>
              <a:rPr lang="en-US" altLang="zh-CN" sz="2000" u="sng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8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time</a:t>
            </a:r>
            <a:r>
              <a:rPr lang="en-US" altLang="zh-CN" sz="2000" u="sng" spc="4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6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relationship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000" spc="2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</a:t>
            </a:r>
            <a:r>
              <a:rPr lang="en-US" altLang="zh-CN" sz="2000" spc="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administration</a:t>
            </a:r>
            <a:r>
              <a:rPr lang="en-US" altLang="zh-CN" sz="2000" spc="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6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and</a:t>
            </a:r>
            <a:r>
              <a:rPr lang="en-US" altLang="zh-CN" sz="2000" spc="2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cannot</a:t>
            </a:r>
            <a:r>
              <a:rPr lang="en-US" altLang="zh-CN" sz="2000" u="sng" spc="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6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be</a:t>
            </a:r>
            <a:r>
              <a:rPr lang="en-US" altLang="zh-CN" sz="2000" u="sng" spc="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explained</a:t>
            </a:r>
            <a:r>
              <a:rPr lang="en-US" altLang="zh-CN" sz="2000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6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by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concurrent</a:t>
            </a:r>
            <a:r>
              <a:rPr lang="en-US" altLang="zh-CN" sz="2000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disease</a:t>
            </a:r>
            <a:r>
              <a:rPr lang="en-US" altLang="zh-CN" sz="2000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000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other</a:t>
            </a:r>
            <a:r>
              <a:rPr lang="en-US" altLang="zh-CN" sz="2000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medicines</a:t>
            </a:r>
            <a:r>
              <a:rPr lang="en-US" altLang="zh-CN" sz="2000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000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chemicals</a:t>
            </a:r>
            <a:r>
              <a:rPr lang="en-US" altLang="zh-CN" sz="2000" spc="6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;</a:t>
            </a:r>
            <a:r>
              <a:rPr lang="en-US" altLang="zh-CN" sz="2000" spc="2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re-</a:t>
            </a:r>
            <a:r>
              <a:rPr lang="en-US" altLang="zh-CN" sz="20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administration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the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causes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similar</a:t>
            </a:r>
            <a:r>
              <a:rPr lang="en-US" altLang="zh-CN" sz="2000" spc="-2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reaction</a:t>
            </a:r>
          </a:p>
          <a:p>
            <a:pPr marL="0" algn="ctr" hangingPunct="0">
              <a:lnSpc>
                <a:spcPct val="95416"/>
              </a:lnSpc>
            </a:pPr>
            <a:r>
              <a:rPr lang="en-US" altLang="zh-CN" sz="2000" u="sng" spc="189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*</a:t>
            </a:r>
            <a:r>
              <a:rPr lang="en-US" altLang="zh-CN" sz="2000" u="sng" spc="175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Probable</a:t>
            </a:r>
            <a:r>
              <a:rPr lang="en-US" altLang="zh-CN" sz="2000" u="sng" spc="89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6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(or</a:t>
            </a:r>
            <a:r>
              <a:rPr lang="en-US" altLang="zh-CN" sz="2000" spc="89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29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likely)</a:t>
            </a:r>
            <a:r>
              <a:rPr lang="en-US" altLang="zh-CN" sz="2000" spc="89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54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</a:t>
            </a:r>
            <a:r>
              <a:rPr lang="en-US" altLang="zh-CN" sz="2000" spc="2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—when</a:t>
            </a:r>
            <a:r>
              <a:rPr lang="en-US" altLang="zh-CN" sz="2000" spc="8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8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spc="8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2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clinical</a:t>
            </a:r>
            <a:r>
              <a:rPr lang="en-US" altLang="zh-CN" sz="2000" spc="8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8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event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3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occurs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with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5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u="sng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reasonable</a:t>
            </a:r>
            <a:r>
              <a:rPr lang="en-US" altLang="zh-CN" sz="2000" u="sng" spc="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time</a:t>
            </a:r>
            <a:r>
              <a:rPr lang="en-US" altLang="zh-CN" sz="2000" u="sng" spc="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6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sequence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3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36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administration</a:t>
            </a:r>
            <a:r>
              <a:rPr lang="en-US" altLang="zh-CN" sz="2000" spc="19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3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and</a:t>
            </a:r>
            <a:r>
              <a:rPr lang="en-US" altLang="zh-CN" sz="2000" spc="19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6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is</a:t>
            </a:r>
            <a:r>
              <a:rPr lang="en-US" altLang="zh-CN" sz="2000" u="sng" spc="19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3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unlikely</a:t>
            </a:r>
            <a:r>
              <a:rPr lang="en-US" altLang="zh-CN" sz="2000" u="sng" spc="19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37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000" spc="19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be</a:t>
            </a:r>
            <a:r>
              <a:rPr lang="en-US" altLang="zh-CN" sz="2000" spc="19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due</a:t>
            </a:r>
            <a:r>
              <a:rPr lang="en-US" altLang="zh-CN" sz="2000" spc="19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37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000" spc="19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any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concurrent</a:t>
            </a:r>
            <a:r>
              <a:rPr lang="en-US" altLang="zh-CN" sz="2000" spc="-6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disease</a:t>
            </a:r>
            <a:r>
              <a:rPr lang="en-US" altLang="zh-CN" sz="2000" spc="-6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000" spc="-6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other</a:t>
            </a:r>
            <a:r>
              <a:rPr lang="en-US" altLang="zh-CN" sz="2000" spc="-6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</a:t>
            </a:r>
            <a:r>
              <a:rPr lang="en-US" altLang="zh-CN" sz="2000" spc="-6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administration</a:t>
            </a:r>
          </a:p>
          <a:p>
            <a:pPr algn="ctr"/>
            <a:endParaRPr lang="ar-K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17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7D8086A3-3DF9-8AB3-7F41-39D2F13B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B3FCAA02-8604-C1DD-44B5-F61B98C4E26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4E2E6-FEF4-249D-9224-B8AA98D81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38150"/>
            <a:ext cx="6858000" cy="4813125"/>
          </a:xfrm>
        </p:spPr>
        <p:txBody>
          <a:bodyPr/>
          <a:lstStyle/>
          <a:p>
            <a:pPr marL="0" algn="ctr">
              <a:lnSpc>
                <a:spcPct val="100000"/>
              </a:lnSpc>
            </a:pP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Classifying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</a:t>
            </a:r>
            <a:r>
              <a:rPr lang="en-US" altLang="zh-CN" sz="2000" b="1" spc="-10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ADR</a:t>
            </a:r>
          </a:p>
          <a:p>
            <a:pPr algn="ctr">
              <a:lnSpc>
                <a:spcPts val="1544"/>
              </a:lnSpc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ctr" hangingPunct="0">
              <a:lnSpc>
                <a:spcPct val="95833"/>
              </a:lnSpc>
            </a:pPr>
            <a:r>
              <a:rPr lang="en-US" altLang="zh-CN" sz="2000" spc="220" dirty="0">
                <a:solidFill>
                  <a:srgbClr val="FE0000"/>
                </a:solidFill>
                <a:latin typeface="Calibri" panose="020F0502020204030204" pitchFamily="34" charset="0"/>
                <a:ea typeface="Wingdings"/>
                <a:cs typeface="Calibri" panose="020F0502020204030204" pitchFamily="34" charset="0"/>
              </a:rPr>
              <a:t>§</a:t>
            </a:r>
            <a:r>
              <a:rPr lang="en-US" altLang="zh-CN" sz="2000" b="1" spc="200" dirty="0">
                <a:solidFill>
                  <a:srgbClr val="FE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Possible</a:t>
            </a:r>
            <a:r>
              <a:rPr lang="en-US" altLang="zh-CN" sz="2000" b="1" spc="110" dirty="0">
                <a:solidFill>
                  <a:srgbClr val="FE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spc="189" dirty="0">
                <a:solidFill>
                  <a:srgbClr val="FE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</a:t>
            </a:r>
            <a:r>
              <a:rPr lang="en-US" altLang="zh-CN" sz="2000" spc="30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—when</a:t>
            </a:r>
            <a:r>
              <a:rPr lang="en-US" altLang="zh-CN" sz="2000" spc="1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4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spc="1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6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clinical</a:t>
            </a:r>
            <a:r>
              <a:rPr lang="en-US" altLang="zh-CN" sz="2000" spc="1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2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event</a:t>
            </a:r>
            <a:r>
              <a:rPr lang="en-US" altLang="zh-CN" sz="2000" spc="1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1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occurs</a:t>
            </a:r>
            <a:r>
              <a:rPr lang="en-US" altLang="zh-CN" sz="2000" spc="1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2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with</a:t>
            </a:r>
            <a:r>
              <a:rPr lang="en-US" altLang="zh-CN" sz="2000" spc="1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24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9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temporally</a:t>
            </a:r>
            <a:r>
              <a:rPr lang="en-US" altLang="zh-CN" sz="2000" u="sng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1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time</a:t>
            </a:r>
            <a:r>
              <a:rPr lang="en-US" altLang="zh-CN" sz="2000" u="sng" spc="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1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sequence</a:t>
            </a:r>
            <a:r>
              <a:rPr lang="en-US" altLang="zh-CN" sz="2000" u="sng" spc="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9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000" spc="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0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</a:t>
            </a:r>
            <a:r>
              <a:rPr lang="en-US" altLang="zh-CN" sz="2000" spc="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9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administration</a:t>
            </a:r>
            <a:r>
              <a:rPr lang="en-US" altLang="zh-CN" sz="2000" spc="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2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and</a:t>
            </a:r>
            <a:r>
              <a:rPr lang="en-US" altLang="zh-CN" sz="20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could</a:t>
            </a:r>
            <a:r>
              <a:rPr lang="en-US" altLang="zh-CN" sz="2000" u="sng" spc="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6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be</a:t>
            </a:r>
            <a:r>
              <a:rPr lang="en-US" altLang="zh-CN" sz="2000" u="sng" spc="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5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explained</a:t>
            </a:r>
            <a:r>
              <a:rPr lang="en-US" altLang="zh-CN" sz="2000" u="sng" spc="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by</a:t>
            </a:r>
            <a:r>
              <a:rPr lang="en-US" altLang="zh-CN" sz="2000" spc="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concurrent</a:t>
            </a:r>
            <a:r>
              <a:rPr lang="en-US" altLang="zh-CN" sz="2000" spc="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disease</a:t>
            </a:r>
            <a:r>
              <a:rPr lang="en-US" altLang="zh-CN" sz="2000" spc="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000" spc="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other</a:t>
            </a:r>
            <a:r>
              <a:rPr lang="en-US" altLang="zh-CN" sz="2000" spc="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admin</a:t>
            </a:r>
            <a:r>
              <a:rPr lang="en-US" altLang="zh-CN" sz="2000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istration.</a:t>
            </a:r>
          </a:p>
          <a:p>
            <a:pPr algn="ctr">
              <a:lnSpc>
                <a:spcPts val="1000"/>
              </a:lnSpc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1369"/>
              </a:lnSpc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ctr" hangingPunct="0">
              <a:lnSpc>
                <a:spcPct val="95416"/>
              </a:lnSpc>
            </a:pPr>
            <a:r>
              <a:rPr lang="en-US" altLang="zh-CN" sz="2000" spc="40" dirty="0">
                <a:solidFill>
                  <a:srgbClr val="FE0000"/>
                </a:solidFill>
                <a:latin typeface="Calibri" panose="020F0502020204030204" pitchFamily="34" charset="0"/>
                <a:ea typeface="Wingdings"/>
                <a:cs typeface="Calibri" panose="020F0502020204030204" pitchFamily="34" charset="0"/>
              </a:rPr>
              <a:t>§</a:t>
            </a:r>
            <a:r>
              <a:rPr lang="en-US" altLang="zh-CN" sz="2000" b="1" spc="40" dirty="0">
                <a:solidFill>
                  <a:srgbClr val="FE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Doubtful</a:t>
            </a:r>
            <a:r>
              <a:rPr lang="en-US" altLang="zh-CN" sz="2000" b="1" spc="20" dirty="0">
                <a:solidFill>
                  <a:srgbClr val="FE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spc="44" dirty="0">
                <a:solidFill>
                  <a:srgbClr val="FE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000" b="1" spc="25" dirty="0">
                <a:solidFill>
                  <a:srgbClr val="FE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spc="34" dirty="0">
                <a:solidFill>
                  <a:srgbClr val="FE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Unlikely</a:t>
            </a:r>
            <a:r>
              <a:rPr lang="en-US" altLang="zh-CN" sz="2000" b="1" spc="20" dirty="0">
                <a:solidFill>
                  <a:srgbClr val="FE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spc="34" dirty="0">
                <a:solidFill>
                  <a:srgbClr val="FE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causality:</a:t>
            </a:r>
            <a:r>
              <a:rPr lang="en-US" altLang="zh-CN" sz="2000" b="1" spc="6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—</a:t>
            </a:r>
            <a:r>
              <a:rPr lang="en-US" altLang="zh-CN" sz="2000" spc="6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when</a:t>
            </a:r>
            <a:r>
              <a:rPr lang="en-US" altLang="zh-CN" sz="2000" spc="2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6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spc="2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3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clinical</a:t>
            </a:r>
            <a:r>
              <a:rPr lang="en-US" altLang="zh-CN" sz="2000" spc="2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event</a:t>
            </a:r>
            <a:r>
              <a:rPr lang="en-US" altLang="zh-CN" sz="2000" spc="2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4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occurs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2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in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5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temporal</a:t>
            </a:r>
            <a:r>
              <a:rPr lang="en-US" altLang="zh-CN" sz="2000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3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relationship</a:t>
            </a:r>
            <a:r>
              <a:rPr lang="en-US" altLang="zh-CN" sz="2000" u="sng" spc="8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4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000" spc="8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5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</a:t>
            </a:r>
            <a:r>
              <a:rPr lang="en-US" altLang="zh-CN" sz="2000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spc="14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administration</a:t>
            </a:r>
            <a:r>
              <a:rPr lang="en-US" altLang="zh-CN" sz="2000" spc="8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4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that</a:t>
            </a:r>
            <a:r>
              <a:rPr lang="en-US" altLang="zh-CN" sz="20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6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makes</a:t>
            </a:r>
            <a:r>
              <a:rPr lang="en-US" altLang="zh-CN" sz="2000" u="sng" spc="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7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000" u="sng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3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</a:t>
            </a:r>
            <a:r>
              <a:rPr lang="en-US" altLang="zh-CN" sz="2000" u="sng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29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relationship</a:t>
            </a:r>
            <a:r>
              <a:rPr lang="en-US" altLang="zh-CN" sz="2000" u="sng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45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improbable,</a:t>
            </a:r>
            <a:r>
              <a:rPr lang="en-US" altLang="zh-CN" sz="2000" u="sng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64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and</a:t>
            </a:r>
            <a:r>
              <a:rPr lang="en-US" altLang="zh-CN" sz="2000" u="sng" spc="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7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when</a:t>
            </a:r>
            <a:r>
              <a:rPr lang="en-US" altLang="zh-CN" sz="2000" u="sng" spc="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1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other</a:t>
            </a:r>
            <a:r>
              <a:rPr lang="en-US" altLang="zh-CN" sz="20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medicines,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chemicals,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underlying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disease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provide</a:t>
            </a:r>
            <a:r>
              <a:rPr lang="en-US" altLang="zh-CN" sz="2000" u="sng" spc="-12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plausible</a:t>
            </a:r>
            <a:r>
              <a:rPr lang="en-US" altLang="zh-CN" sz="20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explanat</a:t>
            </a:r>
            <a:r>
              <a:rPr lang="en-US" altLang="zh-CN" sz="20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ions.</a:t>
            </a:r>
          </a:p>
          <a:p>
            <a:pPr algn="ctr"/>
            <a:endParaRPr lang="ar-K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6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75B7CE5-0A82-E486-DEA7-14C56399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3300F8C-8890-6353-D3F1-3569F3BC52A0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486191-234A-0F10-D04B-6C2529032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42950"/>
            <a:ext cx="6189889" cy="518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82710-D828-32AD-C6AB-42114BEB75EB}"/>
              </a:ext>
            </a:extLst>
          </p:cNvPr>
          <p:cNvSpPr txBox="1"/>
          <p:nvPr/>
        </p:nvSpPr>
        <p:spPr>
          <a:xfrm>
            <a:off x="436833" y="1844884"/>
            <a:ext cx="8516621" cy="194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-Strength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association</a:t>
            </a:r>
            <a:r>
              <a:rPr lang="en-US" altLang="zh-CN" sz="3200" spc="-1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.</a:t>
            </a:r>
          </a:p>
          <a:p>
            <a:pPr marL="0" hangingPunct="0">
              <a:lnSpc>
                <a:spcPct val="95416"/>
              </a:lnSpc>
              <a:spcBef>
                <a:spcPts val="229"/>
              </a:spcBef>
            </a:pP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-Observed</a:t>
            </a:r>
            <a:r>
              <a:rPr lang="en-US" altLang="zh-CN" sz="32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evidences</a:t>
            </a:r>
            <a:r>
              <a:rPr lang="en-US" altLang="zh-CN" sz="32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(</a:t>
            </a:r>
            <a:r>
              <a:rPr lang="en-US" altLang="zh-CN" sz="32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Lab</a:t>
            </a:r>
            <a:r>
              <a:rPr lang="en-US" altLang="zh-CN" sz="32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tests</a:t>
            </a:r>
            <a:r>
              <a:rPr lang="en-US" altLang="zh-CN" sz="32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&amp;</a:t>
            </a:r>
            <a:r>
              <a:rPr lang="en-US" altLang="zh-CN" sz="32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medical</a:t>
            </a:r>
            <a:r>
              <a:rPr lang="en-US" altLang="zh-CN" sz="32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reports</a:t>
            </a:r>
            <a:r>
              <a:rPr lang="en-US" altLang="zh-CN" sz="32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).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endParaRPr lang="en-US" altLang="zh-CN" sz="3200" dirty="0">
              <a:latin typeface="Calibri"/>
              <a:cs typeface="Calibri"/>
            </a:endParaRPr>
          </a:p>
          <a:p>
            <a:pPr marL="0" hangingPunct="0">
              <a:lnSpc>
                <a:spcPct val="95416"/>
              </a:lnSpc>
              <a:spcBef>
                <a:spcPts val="229"/>
              </a:spcBef>
            </a:pP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Dose-response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relationship</a:t>
            </a:r>
            <a:r>
              <a:rPr lang="en-US" altLang="zh-CN" sz="3200" spc="-1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Calibri"/>
                <a:ea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79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F7D7115-4D0C-FE34-060C-7882F747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62FBD1C5-B82B-A92B-E662-1BB3B92C529F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4F23894-4C13-9D91-40CC-FC384E825284}"/>
              </a:ext>
            </a:extLst>
          </p:cNvPr>
          <p:cNvSpPr txBox="1"/>
          <p:nvPr/>
        </p:nvSpPr>
        <p:spPr>
          <a:xfrm>
            <a:off x="838200" y="848842"/>
            <a:ext cx="8025270" cy="3589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Methods</a:t>
            </a: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for</a:t>
            </a: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assessing</a:t>
            </a: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ADRs</a:t>
            </a:r>
            <a:r>
              <a:rPr lang="en-US" altLang="zh-CN" sz="2500" b="1" u="sng" spc="-170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</a:t>
            </a:r>
          </a:p>
          <a:p>
            <a:pPr marL="0">
              <a:lnSpc>
                <a:spcPct val="100000"/>
              </a:lnSpc>
            </a:pPr>
            <a:r>
              <a:rPr lang="en-US" altLang="zh-CN" sz="2500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altLang="zh-CN" sz="2500" spc="-170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dirty="0">
                <a:solidFill>
                  <a:srgbClr val="001E5E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1.</a:t>
            </a:r>
            <a:r>
              <a:rPr lang="en-US" altLang="zh-CN" sz="2500" b="1" spc="-145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dirty="0">
                <a:solidFill>
                  <a:srgbClr val="001E5E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Expert</a:t>
            </a:r>
            <a:r>
              <a:rPr lang="en-US" altLang="zh-CN" sz="2500" b="1" spc="-139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dirty="0">
                <a:solidFill>
                  <a:srgbClr val="001E5E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judgment/Global</a:t>
            </a:r>
            <a:r>
              <a:rPr lang="en-US" altLang="zh-CN" sz="2500" b="1" spc="-144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dirty="0">
                <a:solidFill>
                  <a:srgbClr val="001E5E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introspection:</a:t>
            </a:r>
          </a:p>
          <a:p>
            <a:pPr marL="228739" indent="-228599" hangingPunct="0">
              <a:lnSpc>
                <a:spcPct val="86666"/>
              </a:lnSpc>
            </a:pP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altLang="zh-CN" sz="250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This</a:t>
            </a:r>
            <a:r>
              <a:rPr lang="en-US" altLang="zh-CN" sz="2500" spc="-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method</a:t>
            </a:r>
            <a:r>
              <a:rPr lang="en-US" altLang="zh-CN" sz="25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involves</a:t>
            </a:r>
            <a:r>
              <a:rPr lang="en-US" altLang="zh-CN" sz="25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the</a:t>
            </a:r>
            <a:r>
              <a:rPr lang="en-US" altLang="zh-CN" sz="25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individual</a:t>
            </a:r>
            <a:r>
              <a:rPr lang="en-US" altLang="zh-CN" sz="25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assessment</a:t>
            </a:r>
            <a:r>
              <a:rPr lang="en-US" altLang="zh-CN" sz="25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of</a:t>
            </a:r>
            <a:r>
              <a:rPr lang="en-US" altLang="zh-CN" sz="25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the</a:t>
            </a:r>
            <a:r>
              <a:rPr lang="en-US" altLang="zh-CN" sz="250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event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by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a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health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care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practitioner,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based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on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his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or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her</a:t>
            </a:r>
            <a:r>
              <a:rPr lang="en-US" altLang="zh-CN" sz="2500" spc="-1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clinical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knowledge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and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experience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without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using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any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form</a:t>
            </a:r>
            <a:r>
              <a:rPr lang="en-US" altLang="zh-CN" sz="2500" spc="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of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standardized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tool.</a:t>
            </a:r>
          </a:p>
          <a:p>
            <a:pPr marL="0">
              <a:lnSpc>
                <a:spcPct val="100000"/>
              </a:lnSpc>
            </a:pPr>
            <a:r>
              <a:rPr lang="en-US" altLang="zh-CN" sz="2500" spc="-34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altLang="zh-CN" sz="2500" spc="-25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spc="-40" dirty="0">
                <a:solidFill>
                  <a:srgbClr val="001E5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2.</a:t>
            </a:r>
            <a:r>
              <a:rPr lang="en-US" altLang="zh-CN" sz="2500" b="1" spc="-30" dirty="0">
                <a:solidFill>
                  <a:srgbClr val="001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spc="-50" dirty="0">
                <a:solidFill>
                  <a:srgbClr val="001E5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Algorithm:</a:t>
            </a:r>
          </a:p>
          <a:p>
            <a:pPr marL="228739" indent="-228599" hangingPunct="0">
              <a:lnSpc>
                <a:spcPct val="95416"/>
              </a:lnSpc>
            </a:pP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altLang="zh-CN" sz="2500" spc="-8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This</a:t>
            </a:r>
            <a:r>
              <a:rPr lang="en-US" altLang="zh-CN" sz="2500" spc="-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method</a:t>
            </a:r>
            <a:r>
              <a:rPr lang="en-US" altLang="zh-CN" sz="25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uses</a:t>
            </a:r>
            <a:r>
              <a:rPr lang="en-US" altLang="zh-CN" sz="2500" spc="-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specific</a:t>
            </a:r>
            <a:r>
              <a:rPr lang="en-US" altLang="zh-CN" sz="2500" u="sng" spc="-6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questions</a:t>
            </a:r>
            <a:r>
              <a:rPr lang="en-US" altLang="zh-CN" sz="2500" spc="-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5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assign</a:t>
            </a:r>
            <a:r>
              <a:rPr lang="en-US" altLang="zh-CN" sz="25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500" spc="-8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weighted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score</a:t>
            </a:r>
            <a:r>
              <a:rPr lang="en-US" altLang="zh-CN" sz="2500" spc="-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that</a:t>
            </a:r>
            <a:r>
              <a:rPr lang="en-US" altLang="zh-CN" sz="2500" spc="-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helps</a:t>
            </a:r>
            <a:r>
              <a:rPr lang="en-US" altLang="zh-CN" sz="2500" spc="-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determine</a:t>
            </a:r>
            <a:r>
              <a:rPr lang="en-US" altLang="zh-CN" sz="2500" spc="-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the</a:t>
            </a:r>
            <a:r>
              <a:rPr lang="en-US" altLang="zh-CN" sz="2500" spc="-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probability</a:t>
            </a:r>
            <a:r>
              <a:rPr lang="en-US" altLang="zh-CN" sz="2500" spc="-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500" spc="-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causality</a:t>
            </a:r>
            <a:r>
              <a:rPr lang="en-US" altLang="zh-CN" sz="2500" spc="-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in</a:t>
            </a:r>
            <a:r>
              <a:rPr lang="en-US" altLang="zh-CN" sz="2500" spc="-4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given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reaction</a:t>
            </a:r>
            <a:r>
              <a:rPr lang="en-US" altLang="zh-CN" sz="2500" spc="-11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2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90F1F17-7888-0181-5C17-5E6750EA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4B752DF-C234-4F76-8DBB-DD3AAC8C5164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B62A01E7-D61A-0688-9787-C6EEFAF8972A}"/>
              </a:ext>
            </a:extLst>
          </p:cNvPr>
          <p:cNvSpPr txBox="1"/>
          <p:nvPr/>
        </p:nvSpPr>
        <p:spPr>
          <a:xfrm>
            <a:off x="1295400" y="361950"/>
            <a:ext cx="6878577" cy="609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dirty="0">
                <a:solidFill>
                  <a:srgbClr val="001E5E"/>
                </a:solidFill>
                <a:latin typeface="Calibri"/>
                <a:ea typeface="Calibri"/>
              </a:rPr>
              <a:t>3.</a:t>
            </a:r>
            <a:r>
              <a:rPr lang="en-US" altLang="zh-CN" sz="4000" b="1" spc="-1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4000" b="1" dirty="0">
                <a:solidFill>
                  <a:srgbClr val="001E5E"/>
                </a:solidFill>
                <a:latin typeface="Calibri"/>
                <a:ea typeface="Calibri"/>
              </a:rPr>
              <a:t>advanced</a:t>
            </a:r>
            <a:r>
              <a:rPr lang="en-US" altLang="zh-CN" sz="4000" b="1" spc="-10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4000" b="1" dirty="0">
                <a:solidFill>
                  <a:srgbClr val="001E5E"/>
                </a:solidFill>
                <a:latin typeface="Calibri"/>
                <a:ea typeface="Calibri"/>
              </a:rPr>
              <a:t>statistical</a:t>
            </a:r>
            <a:r>
              <a:rPr lang="en-US" altLang="zh-CN" sz="4000" b="1" spc="-10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4000" b="1" dirty="0">
                <a:solidFill>
                  <a:srgbClr val="001E5E"/>
                </a:solidFill>
                <a:latin typeface="Calibri"/>
                <a:ea typeface="Calibri"/>
              </a:rPr>
              <a:t>methods.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ED9DE521-7BA5-BE72-9410-1B102626A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43" y="1043620"/>
            <a:ext cx="7782689" cy="384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5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0B8415EE-0B61-186F-0367-7F65201D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A0AA76B4-0D52-A32A-18ED-4DDA8D70F6F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19E6C8F9-07B9-8F58-914A-647A7EEE1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76349"/>
            <a:ext cx="7848600" cy="44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8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5D4A61EB-119A-A4C1-4AA9-42E42F16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E5D52F66-BA1D-4FC1-4AF3-39A26F14FC1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15F53-788F-6F61-D106-5CCCE62F4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8150"/>
            <a:ext cx="7957770" cy="384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5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8C8E9DCD-3AD5-2673-9044-D09E879E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F8FE77D-B807-43E5-8EA0-86E83602882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18">
            <a:extLst>
              <a:ext uri="{FF2B5EF4-FFF2-40B4-BE49-F238E27FC236}">
                <a16:creationId xmlns:a16="http://schemas.microsoft.com/office/drawing/2014/main" id="{E29FD038-E755-E0F7-108C-3B2E0BD73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8790"/>
            <a:ext cx="7459133" cy="41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89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FEBF5E3C-B71B-6B65-060E-77731A4F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6683D17-2124-4895-C2AB-E1A819428DD5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BFA99DD4-58BF-90AF-4141-8FD89CF470B7}"/>
              </a:ext>
            </a:extLst>
          </p:cNvPr>
          <p:cNvSpPr txBox="1"/>
          <p:nvPr/>
        </p:nvSpPr>
        <p:spPr>
          <a:xfrm>
            <a:off x="1066800" y="590550"/>
            <a:ext cx="7726680" cy="21257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600" b="1" spc="-10" dirty="0">
                <a:solidFill>
                  <a:schemeClr val="tx1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Defin</a:t>
            </a:r>
            <a:r>
              <a:rPr lang="en-US" altLang="zh-CN" sz="2600" b="1" dirty="0">
                <a:solidFill>
                  <a:schemeClr val="tx1"/>
                </a:solidFill>
                <a:uFill>
                  <a:solidFill>
                    <a:srgbClr val="FE0000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ition:</a:t>
            </a:r>
          </a:p>
          <a:p>
            <a:pPr>
              <a:lnSpc>
                <a:spcPts val="1604"/>
              </a:lnSpc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4703" hangingPunct="0">
              <a:lnSpc>
                <a:spcPct val="95416"/>
              </a:lnSpc>
            </a:pP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Any</a:t>
            </a:r>
            <a:r>
              <a:rPr lang="en-US" altLang="zh-CN" sz="26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preventable</a:t>
            </a:r>
            <a:r>
              <a:rPr lang="en-US" altLang="zh-CN" sz="26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event</a:t>
            </a:r>
            <a:r>
              <a:rPr lang="en-US" altLang="zh-CN" sz="2600" spc="-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that</a:t>
            </a:r>
            <a:r>
              <a:rPr lang="en-US" altLang="zh-CN" sz="26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may</a:t>
            </a:r>
            <a:r>
              <a:rPr lang="en-US" altLang="zh-CN" sz="26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cause</a:t>
            </a:r>
            <a:r>
              <a:rPr lang="en-US" altLang="zh-CN" sz="2600" spc="-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600" spc="-6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lead</a:t>
            </a:r>
            <a:r>
              <a:rPr lang="en-US" altLang="zh-CN" sz="2600" spc="-7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inappropriate</a:t>
            </a:r>
            <a:r>
              <a:rPr lang="en-US" altLang="zh-CN" sz="2600" spc="-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medication</a:t>
            </a:r>
            <a:r>
              <a:rPr lang="en-US" altLang="zh-CN" sz="2600" spc="-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use</a:t>
            </a:r>
            <a:r>
              <a:rPr lang="en-US" altLang="zh-CN" sz="2600" spc="-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6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patient</a:t>
            </a:r>
            <a:r>
              <a:rPr lang="en-US" altLang="zh-CN" sz="2600" spc="-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harm</a:t>
            </a:r>
            <a:r>
              <a:rPr lang="en-US" altLang="zh-CN" sz="2600" spc="-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while</a:t>
            </a:r>
            <a:r>
              <a:rPr lang="en-US" altLang="zh-CN" sz="26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the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medication</a:t>
            </a:r>
            <a:r>
              <a:rPr lang="en-US" altLang="zh-CN" sz="26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is</a:t>
            </a:r>
            <a:r>
              <a:rPr lang="en-US" altLang="zh-CN" sz="26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in</a:t>
            </a:r>
            <a:r>
              <a:rPr lang="en-US" altLang="zh-CN" sz="260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control</a:t>
            </a:r>
            <a:r>
              <a:rPr lang="en-US" altLang="zh-CN" sz="26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60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the</a:t>
            </a:r>
            <a:r>
              <a:rPr lang="en-US" altLang="zh-CN" sz="2600" spc="-5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health</a:t>
            </a:r>
            <a:r>
              <a:rPr lang="en-US" altLang="zh-CN" sz="260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care</a:t>
            </a:r>
            <a:r>
              <a:rPr lang="en-US" altLang="zh-CN" sz="260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professional,</a:t>
            </a:r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spc="-1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or</a:t>
            </a:r>
            <a:r>
              <a:rPr lang="en-US" altLang="zh-CN" sz="2600" spc="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spc="-1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patient.</a:t>
            </a:r>
          </a:p>
        </p:txBody>
      </p:sp>
      <p:pic>
        <p:nvPicPr>
          <p:cNvPr id="7" name="Picture 19">
            <a:extLst>
              <a:ext uri="{FF2B5EF4-FFF2-40B4-BE49-F238E27FC236}">
                <a16:creationId xmlns:a16="http://schemas.microsoft.com/office/drawing/2014/main" id="{03115597-A1B6-637E-6EC6-6FEEA0608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503" y="2799015"/>
            <a:ext cx="2142993" cy="19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3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B45379B-77F7-B8BC-4B65-A9C2964D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24540C00-8767-EFF1-9FDE-2B602D6458DC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7C7CC9E2-B70B-78AF-D6F7-CFED593F029F}"/>
              </a:ext>
            </a:extLst>
          </p:cNvPr>
          <p:cNvSpPr txBox="1"/>
          <p:nvPr/>
        </p:nvSpPr>
        <p:spPr>
          <a:xfrm>
            <a:off x="533400" y="742950"/>
            <a:ext cx="7692683" cy="25519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5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*RISK</a:t>
            </a:r>
            <a:r>
              <a:rPr lang="en-US" altLang="zh-CN" sz="2500" b="1" u="sng" spc="-215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FACTORS</a:t>
            </a:r>
            <a:r>
              <a:rPr lang="en-US" altLang="zh-CN" sz="2500" b="1" u="sng" spc="-220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FOR</a:t>
            </a:r>
            <a:r>
              <a:rPr lang="en-US" altLang="zh-CN" sz="2500" b="1" u="sng" spc="-225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ERRORS</a:t>
            </a:r>
          </a:p>
          <a:p>
            <a:pPr>
              <a:lnSpc>
                <a:spcPts val="1000"/>
              </a:lnSpc>
            </a:pPr>
            <a:endParaRPr 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280"/>
              </a:lnSpc>
            </a:pPr>
            <a:endParaRPr 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>
              <a:lnSpc>
                <a:spcPct val="100000"/>
              </a:lnSpc>
            </a:pPr>
            <a:r>
              <a:rPr lang="en-US" altLang="zh-CN" sz="2500" dirty="0">
                <a:solidFill>
                  <a:srgbClr val="BF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-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Lack</a:t>
            </a:r>
            <a:r>
              <a:rPr lang="en-US" altLang="zh-CN" sz="2500" spc="-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500" spc="-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knowledge</a:t>
            </a:r>
            <a:r>
              <a:rPr lang="en-US" altLang="zh-CN" sz="2500" spc="-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(</a:t>
            </a:r>
            <a:r>
              <a:rPr lang="en-US" altLang="zh-CN" sz="2500" spc="-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Physician</a:t>
            </a:r>
            <a:r>
              <a:rPr lang="en-US" altLang="zh-CN" sz="2500" spc="-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</a:t>
            </a:r>
            <a:r>
              <a:rPr lang="en-US" altLang="zh-CN" sz="2500" spc="-3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pharmacist</a:t>
            </a:r>
            <a:r>
              <a:rPr lang="en-US" altLang="zh-CN" sz="2500" spc="-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and</a:t>
            </a:r>
            <a:r>
              <a:rPr lang="en-US" altLang="zh-CN" sz="2500" spc="-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nurse</a:t>
            </a:r>
            <a:r>
              <a:rPr lang="en-US" altLang="zh-CN" sz="2500" spc="-3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)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-Unclear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labeling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500" spc="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drug.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-Misidentification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of</a:t>
            </a:r>
            <a:r>
              <a:rPr lang="en-US" altLang="zh-CN" sz="2500" spc="-27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patient.</a:t>
            </a:r>
          </a:p>
          <a:p>
            <a:pPr marL="0" hangingPunct="0">
              <a:lnSpc>
                <a:spcPct val="95416"/>
              </a:lnSpc>
              <a:spcBef>
                <a:spcPts val="245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-Mental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lapses</a:t>
            </a:r>
            <a:r>
              <a:rPr lang="en-US" altLang="zh-CN" sz="2500" spc="-10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-Verification</a:t>
            </a:r>
            <a:r>
              <a:rPr lang="en-US" altLang="zh-CN" sz="2500" spc="-234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errors</a:t>
            </a:r>
            <a:r>
              <a:rPr lang="en-US" altLang="zh-CN" sz="2500" spc="-239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" name="Picture 9" descr="A group of people looking at a computer screen&#10;&#10;Description automatically generated">
            <a:extLst>
              <a:ext uri="{FF2B5EF4-FFF2-40B4-BE49-F238E27FC236}">
                <a16:creationId xmlns:a16="http://schemas.microsoft.com/office/drawing/2014/main" id="{AF3C437B-FA5D-E8E4-651F-E52376BA8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533613"/>
            <a:ext cx="2758493" cy="2350716"/>
          </a:xfrm>
          <a:prstGeom prst="rect">
            <a:avLst/>
          </a:prstGeom>
        </p:spPr>
      </p:pic>
      <p:pic>
        <p:nvPicPr>
          <p:cNvPr id="12" name="Picture 11" descr="A drawing of a brain&#10;&#10;Description automatically generated">
            <a:extLst>
              <a:ext uri="{FF2B5EF4-FFF2-40B4-BE49-F238E27FC236}">
                <a16:creationId xmlns:a16="http://schemas.microsoft.com/office/drawing/2014/main" id="{47CAA94E-7008-9628-80ED-0659F08EE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90750"/>
            <a:ext cx="1905000" cy="137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95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45C00849-A6C7-C7CD-6E1F-DA4529E3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1FC1D1F3-A19C-7AFF-3D5C-449FC56BF33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DD2825E9-7105-9697-7394-8D7BAA599CB2}"/>
              </a:ext>
            </a:extLst>
          </p:cNvPr>
          <p:cNvSpPr txBox="1"/>
          <p:nvPr/>
        </p:nvSpPr>
        <p:spPr>
          <a:xfrm>
            <a:off x="762000" y="353119"/>
            <a:ext cx="8001000" cy="3539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6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/>
                <a:ea typeface="Calibri"/>
              </a:rPr>
              <a:t>Causes</a:t>
            </a:r>
            <a:r>
              <a:rPr lang="en-US" altLang="zh-CN" sz="26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6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/>
                <a:ea typeface="Calibri"/>
              </a:rPr>
              <a:t>of</a:t>
            </a:r>
            <a:r>
              <a:rPr lang="en-US" altLang="zh-CN" sz="2600" b="1" u="sng" spc="-129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600" b="1" u="sng" dirty="0">
                <a:solidFill>
                  <a:srgbClr val="001E5E"/>
                </a:solidFill>
                <a:uFill>
                  <a:solidFill>
                    <a:srgbClr val="001E5E"/>
                  </a:solidFill>
                </a:uFill>
                <a:latin typeface="Calibri"/>
                <a:ea typeface="Calibri"/>
              </a:rPr>
              <a:t>errors:</a:t>
            </a:r>
          </a:p>
          <a:p>
            <a:pPr>
              <a:lnSpc>
                <a:spcPts val="1000"/>
              </a:lnSpc>
            </a:pPr>
            <a:endParaRPr lang="en-US" sz="2600" dirty="0"/>
          </a:p>
          <a:p>
            <a:pPr>
              <a:lnSpc>
                <a:spcPts val="1489"/>
              </a:lnSpc>
            </a:pPr>
            <a:endParaRPr lang="en-US" sz="2600" dirty="0"/>
          </a:p>
          <a:p>
            <a:pPr marL="0">
              <a:lnSpc>
                <a:spcPct val="100000"/>
              </a:lnSpc>
            </a:pPr>
            <a:r>
              <a:rPr lang="en-US" altLang="zh-CN" sz="26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/>
                <a:ea typeface="Calibri"/>
              </a:rPr>
              <a:t>1-Errors</a:t>
            </a:r>
            <a:r>
              <a:rPr lang="en-US" altLang="zh-CN" sz="26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6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/>
                <a:ea typeface="Calibri"/>
              </a:rPr>
              <a:t>of</a:t>
            </a:r>
            <a:r>
              <a:rPr lang="en-US" altLang="zh-CN" sz="2600" b="1" u="sng" spc="-135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600" b="1" u="sng" dirty="0">
                <a:solidFill>
                  <a:srgbClr val="FE0000"/>
                </a:solidFill>
                <a:uFill>
                  <a:solidFill>
                    <a:srgbClr val="FE0000"/>
                  </a:solidFill>
                </a:uFill>
                <a:latin typeface="Calibri"/>
                <a:ea typeface="Calibri"/>
              </a:rPr>
              <a:t>Omission</a:t>
            </a:r>
            <a:r>
              <a:rPr lang="en-US" altLang="zh-CN" sz="2600" b="1" dirty="0">
                <a:solidFill>
                  <a:srgbClr val="FE0000"/>
                </a:solidFill>
                <a:latin typeface="Calibri"/>
                <a:ea typeface="Calibri"/>
              </a:rPr>
              <a:t>:</a:t>
            </a:r>
          </a:p>
          <a:p>
            <a:pPr marL="0">
              <a:lnSpc>
                <a:spcPct val="100000"/>
              </a:lnSpc>
              <a:spcBef>
                <a:spcPts val="240"/>
              </a:spcBef>
            </a:pP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600" spc="-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26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mistake</a:t>
            </a:r>
            <a:r>
              <a:rPr lang="en-US" altLang="zh-CN" sz="26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26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consists</a:t>
            </a:r>
            <a:r>
              <a:rPr lang="en-US" altLang="zh-CN" sz="26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26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not</a:t>
            </a:r>
            <a:r>
              <a:rPr lang="en-US" altLang="zh-CN" sz="26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doing</a:t>
            </a:r>
            <a:r>
              <a:rPr lang="en-US" altLang="zh-CN" sz="26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something</a:t>
            </a:r>
            <a:r>
              <a:rPr lang="en-US" altLang="zh-CN" sz="26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260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should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have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done</a:t>
            </a:r>
            <a:r>
              <a:rPr lang="en-US" altLang="zh-CN" sz="260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.</a:t>
            </a:r>
          </a:p>
          <a:p>
            <a:pPr marL="0">
              <a:lnSpc>
                <a:spcPct val="100000"/>
              </a:lnSpc>
              <a:spcBef>
                <a:spcPts val="125"/>
              </a:spcBef>
            </a:pP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Errors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related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prescription,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drug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dispensing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by</a:t>
            </a:r>
            <a:r>
              <a:rPr lang="en-US" altLang="zh-CN" sz="260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pharmacist,</a:t>
            </a:r>
          </a:p>
          <a:p>
            <a:pPr marL="0" indent="228600">
              <a:lnSpc>
                <a:spcPct val="94583"/>
              </a:lnSpc>
            </a:pP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drug</a:t>
            </a:r>
            <a:r>
              <a:rPr lang="en-US" altLang="zh-CN" sz="2600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administration</a:t>
            </a:r>
            <a:r>
              <a:rPr lang="en-US" altLang="zh-CN" sz="26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by</a:t>
            </a:r>
            <a:r>
              <a:rPr lang="en-US" altLang="zh-CN" sz="26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medical</a:t>
            </a:r>
            <a:r>
              <a:rPr lang="en-US" altLang="zh-CN" sz="26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personnel</a:t>
            </a:r>
            <a:r>
              <a:rPr lang="en-US" altLang="zh-CN" sz="2600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like</a:t>
            </a:r>
            <a:r>
              <a:rPr lang="en-US" altLang="zh-CN" sz="26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nurses</a:t>
            </a:r>
            <a:r>
              <a:rPr lang="en-US" altLang="zh-CN" sz="26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Calibri"/>
                <a:ea typeface="Calibri"/>
              </a:rPr>
              <a:t>&amp;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2600" spc="-5" dirty="0">
                <a:solidFill>
                  <a:srgbClr val="000000"/>
                </a:solidFill>
                <a:latin typeface="Calibri"/>
                <a:ea typeface="Calibri"/>
              </a:rPr>
              <a:t>patient</a:t>
            </a:r>
            <a:r>
              <a:rPr lang="en-US" altLang="zh-CN" sz="26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600" spc="-10" dirty="0">
                <a:solidFill>
                  <a:srgbClr val="000000"/>
                </a:solidFill>
                <a:latin typeface="Calibri"/>
                <a:ea typeface="Calibri"/>
              </a:rPr>
              <a:t>themselves</a:t>
            </a:r>
            <a:r>
              <a:rPr lang="en-US" altLang="zh-CN" sz="2600" spc="-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pic>
        <p:nvPicPr>
          <p:cNvPr id="7" name="Picture 26">
            <a:extLst>
              <a:ext uri="{FF2B5EF4-FFF2-40B4-BE49-F238E27FC236}">
                <a16:creationId xmlns:a16="http://schemas.microsoft.com/office/drawing/2014/main" id="{981CA6D0-9E6A-AA72-B374-A66FC968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731" y="3932642"/>
            <a:ext cx="3398521" cy="99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91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B088489-0AAA-53C3-5F5B-C837797EB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B6B8ABA-12AD-8AF4-5AF2-A3B5BEB8EE8E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29">
            <a:extLst>
              <a:ext uri="{FF2B5EF4-FFF2-40B4-BE49-F238E27FC236}">
                <a16:creationId xmlns:a16="http://schemas.microsoft.com/office/drawing/2014/main" id="{C391E42C-86E9-C7D0-2C61-562DD1105D64}"/>
              </a:ext>
            </a:extLst>
          </p:cNvPr>
          <p:cNvSpPr txBox="1"/>
          <p:nvPr/>
        </p:nvSpPr>
        <p:spPr>
          <a:xfrm>
            <a:off x="762000" y="514350"/>
            <a:ext cx="8025613" cy="12249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b="1" dirty="0">
                <a:solidFill>
                  <a:srgbClr val="FE0000"/>
                </a:solidFill>
                <a:uFill>
                  <a:solidFill>
                    <a:srgbClr val="402A13"/>
                  </a:solidFill>
                </a:uFill>
                <a:latin typeface="Calibri"/>
                <a:ea typeface="Calibri"/>
              </a:rPr>
              <a:t>2-Errors</a:t>
            </a:r>
            <a:r>
              <a:rPr lang="en-US" altLang="zh-CN" sz="2400" b="1" dirty="0">
                <a:solidFill>
                  <a:srgbClr val="FE0000"/>
                </a:solidFill>
                <a:uFill>
                  <a:solidFill>
                    <a:srgbClr val="402A13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E0000"/>
                </a:solidFill>
                <a:uFill>
                  <a:solidFill>
                    <a:srgbClr val="402A13"/>
                  </a:solidFill>
                </a:uFill>
                <a:latin typeface="Calibri"/>
                <a:ea typeface="Calibri"/>
              </a:rPr>
              <a:t>of</a:t>
            </a:r>
            <a:r>
              <a:rPr lang="en-US" altLang="zh-CN" sz="2400" b="1" spc="-129" dirty="0">
                <a:solidFill>
                  <a:srgbClr val="FE0000"/>
                </a:solidFill>
                <a:uFill>
                  <a:solidFill>
                    <a:srgbClr val="402A13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E0000"/>
                </a:solidFill>
                <a:uFill>
                  <a:solidFill>
                    <a:srgbClr val="402A13"/>
                  </a:solidFill>
                </a:uFill>
                <a:latin typeface="Calibri"/>
                <a:ea typeface="Calibri"/>
              </a:rPr>
              <a:t>Commission:</a:t>
            </a:r>
          </a:p>
          <a:p>
            <a:pPr>
              <a:lnSpc>
                <a:spcPts val="1200"/>
              </a:lnSpc>
            </a:pPr>
            <a:endParaRPr lang="en-US" sz="2400" dirty="0"/>
          </a:p>
          <a:p>
            <a:pPr marL="0" hangingPunct="0">
              <a:lnSpc>
                <a:spcPct val="95416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mistake</a:t>
            </a:r>
            <a:r>
              <a:rPr lang="en-US" altLang="zh-CN"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consists</a:t>
            </a:r>
            <a:r>
              <a:rPr lang="en-US" altLang="zh-CN"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doing</a:t>
            </a:r>
            <a:r>
              <a:rPr lang="en-US" altLang="zh-CN"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something</a:t>
            </a:r>
            <a:r>
              <a:rPr lang="en-US" altLang="zh-CN"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wrong</a:t>
            </a:r>
            <a:r>
              <a:rPr lang="en-US" altLang="zh-CN"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due</a:t>
            </a:r>
            <a:r>
              <a:rPr lang="en-US" altLang="zh-CN"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Lack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knowledge</a:t>
            </a:r>
            <a:r>
              <a:rPr lang="en-US" altLang="zh-CN" sz="24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.</a:t>
            </a:r>
          </a:p>
        </p:txBody>
      </p:sp>
      <p:sp>
        <p:nvSpPr>
          <p:cNvPr id="8" name="TextBox 31">
            <a:extLst>
              <a:ext uri="{FF2B5EF4-FFF2-40B4-BE49-F238E27FC236}">
                <a16:creationId xmlns:a16="http://schemas.microsoft.com/office/drawing/2014/main" id="{39D84884-18EA-0F28-7A7D-A9E3452E5FBB}"/>
              </a:ext>
            </a:extLst>
          </p:cNvPr>
          <p:cNvSpPr txBox="1"/>
          <p:nvPr/>
        </p:nvSpPr>
        <p:spPr>
          <a:xfrm>
            <a:off x="752856" y="2232949"/>
            <a:ext cx="5188143" cy="2342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b="1" u="sng" dirty="0">
                <a:solidFill>
                  <a:schemeClr val="tx1"/>
                </a:solidFill>
                <a:uFill>
                  <a:solidFill>
                    <a:srgbClr val="001E5E"/>
                  </a:solidFill>
                </a:uFill>
                <a:latin typeface="Calibri"/>
                <a:ea typeface="Calibri"/>
              </a:rPr>
              <a:t>Types</a:t>
            </a:r>
            <a:r>
              <a:rPr lang="en-US" altLang="zh-CN" sz="2400" b="1" u="sng" dirty="0">
                <a:solidFill>
                  <a:schemeClr val="tx1"/>
                </a:solidFill>
                <a:uFill>
                  <a:solidFill>
                    <a:srgbClr val="001E5E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400" b="1" u="sng" dirty="0">
                <a:solidFill>
                  <a:schemeClr val="tx1"/>
                </a:solidFill>
                <a:uFill>
                  <a:solidFill>
                    <a:srgbClr val="001E5E"/>
                  </a:solidFill>
                </a:uFill>
                <a:latin typeface="Calibri"/>
                <a:ea typeface="Calibri"/>
              </a:rPr>
              <a:t>of</a:t>
            </a:r>
            <a:r>
              <a:rPr lang="en-US" altLang="zh-CN" sz="2400" b="1" u="sng" spc="-265" dirty="0">
                <a:solidFill>
                  <a:schemeClr val="tx1"/>
                </a:solidFill>
                <a:uFill>
                  <a:solidFill>
                    <a:srgbClr val="001E5E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400" b="1" u="sng" dirty="0">
                <a:solidFill>
                  <a:schemeClr val="tx1"/>
                </a:solidFill>
                <a:uFill>
                  <a:solidFill>
                    <a:srgbClr val="001E5E"/>
                  </a:solidFill>
                </a:uFill>
                <a:latin typeface="Calibri"/>
                <a:ea typeface="Calibri"/>
              </a:rPr>
              <a:t>errors:</a:t>
            </a:r>
          </a:p>
          <a:p>
            <a:pPr>
              <a:lnSpc>
                <a:spcPts val="1000"/>
              </a:lnSpc>
            </a:pPr>
            <a:endParaRPr lang="en-US" sz="2400" dirty="0"/>
          </a:p>
          <a:p>
            <a:pPr marL="0">
              <a:lnSpc>
                <a:spcPct val="100000"/>
              </a:lnSpc>
            </a:pPr>
            <a:r>
              <a:rPr lang="en-US" altLang="zh-CN" sz="2400" b="1" spc="-10" dirty="0">
                <a:solidFill>
                  <a:srgbClr val="000000"/>
                </a:solidFill>
                <a:latin typeface="Calibri"/>
                <a:ea typeface="Calibri"/>
              </a:rPr>
              <a:t>1-Prescribing</a:t>
            </a:r>
            <a:r>
              <a:rPr lang="en-US" altLang="zh-CN" sz="2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spc="-5" dirty="0">
                <a:solidFill>
                  <a:srgbClr val="000000"/>
                </a:solidFill>
                <a:latin typeface="Calibri"/>
                <a:ea typeface="Calibri"/>
              </a:rPr>
              <a:t>errors.</a:t>
            </a:r>
            <a:endParaRPr lang="en-US" sz="2400" dirty="0"/>
          </a:p>
          <a:p>
            <a:pPr>
              <a:lnSpc>
                <a:spcPts val="1664"/>
              </a:lnSpc>
            </a:pPr>
            <a:endParaRPr lang="en-US" sz="2400" dirty="0"/>
          </a:p>
          <a:p>
            <a:pPr marL="0" hangingPunct="0">
              <a:lnSpc>
                <a:spcPct val="182083"/>
              </a:lnSpc>
            </a:pPr>
            <a:r>
              <a:rPr lang="en-US" altLang="zh-CN" sz="2400" b="1" spc="30" dirty="0">
                <a:solidFill>
                  <a:srgbClr val="000000"/>
                </a:solidFill>
                <a:latin typeface="Calibri"/>
                <a:ea typeface="Calibri"/>
              </a:rPr>
              <a:t>2-</a:t>
            </a:r>
            <a:r>
              <a:rPr lang="en-US" altLang="zh-CN" sz="2400" b="1" spc="34" dirty="0">
                <a:solidFill>
                  <a:srgbClr val="000000"/>
                </a:solidFill>
                <a:latin typeface="Calibri"/>
                <a:ea typeface="Calibri"/>
              </a:rPr>
              <a:t>Dispensing</a:t>
            </a:r>
            <a:r>
              <a:rPr lang="en-US" altLang="zh-CN" sz="2400" b="1" spc="-4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spc="40" dirty="0">
                <a:solidFill>
                  <a:srgbClr val="000000"/>
                </a:solidFill>
                <a:latin typeface="Calibri"/>
                <a:ea typeface="Calibri"/>
              </a:rPr>
              <a:t>errors.</a:t>
            </a:r>
            <a:r>
              <a:rPr lang="en-US" altLang="zh-CN" sz="2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</a:p>
          <a:p>
            <a:pPr marL="0" hangingPunct="0">
              <a:lnSpc>
                <a:spcPct val="182083"/>
              </a:lnSpc>
            </a:pPr>
            <a:r>
              <a:rPr lang="en-US" altLang="zh-CN" sz="2400" b="1" spc="-15" dirty="0">
                <a:solidFill>
                  <a:srgbClr val="000000"/>
                </a:solidFill>
                <a:latin typeface="Calibri"/>
                <a:ea typeface="Calibri"/>
              </a:rPr>
              <a:t>3-Administration</a:t>
            </a:r>
            <a:r>
              <a:rPr lang="en-US" altLang="zh-CN" sz="24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spc="-10" dirty="0">
                <a:solidFill>
                  <a:srgbClr val="000000"/>
                </a:solidFill>
                <a:latin typeface="Calibri"/>
                <a:ea typeface="Calibri"/>
              </a:rPr>
              <a:t>errors.</a:t>
            </a:r>
          </a:p>
        </p:txBody>
      </p:sp>
    </p:spTree>
    <p:extLst>
      <p:ext uri="{BB962C8B-B14F-4D97-AF65-F5344CB8AC3E}">
        <p14:creationId xmlns:p14="http://schemas.microsoft.com/office/powerpoint/2010/main" val="332272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7D91485-06E1-818E-A8B9-25036F5C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85AE008-B5ED-2254-F594-A96E7C894B5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34">
            <a:extLst>
              <a:ext uri="{FF2B5EF4-FFF2-40B4-BE49-F238E27FC236}">
                <a16:creationId xmlns:a16="http://schemas.microsoft.com/office/drawing/2014/main" id="{D2EFD90F-C067-144D-71E7-867348D5AFFE}"/>
              </a:ext>
            </a:extLst>
          </p:cNvPr>
          <p:cNvSpPr txBox="1"/>
          <p:nvPr/>
        </p:nvSpPr>
        <p:spPr>
          <a:xfrm>
            <a:off x="685800" y="361950"/>
            <a:ext cx="5863196" cy="675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7499"/>
              </a:lnSpc>
            </a:pPr>
            <a:r>
              <a:rPr lang="en-US" altLang="zh-CN" sz="4000" spc="25" dirty="0">
                <a:solidFill>
                  <a:srgbClr val="006EBF"/>
                </a:solidFill>
                <a:latin typeface="Arial Black"/>
                <a:ea typeface="Arial Black"/>
              </a:rPr>
              <a:t>Prescribing</a:t>
            </a:r>
            <a:r>
              <a:rPr lang="en-US" altLang="zh-CN" sz="4000" spc="10" dirty="0">
                <a:solidFill>
                  <a:srgbClr val="006EBF"/>
                </a:solidFill>
                <a:latin typeface="Arial Black"/>
                <a:cs typeface="Arial Black"/>
              </a:rPr>
              <a:t> </a:t>
            </a:r>
            <a:r>
              <a:rPr lang="en-US" altLang="zh-CN" sz="4000" spc="20" dirty="0">
                <a:solidFill>
                  <a:srgbClr val="006EBF"/>
                </a:solidFill>
                <a:latin typeface="Arial Black"/>
                <a:ea typeface="Arial Black"/>
              </a:rPr>
              <a:t>errors:</a:t>
            </a:r>
          </a:p>
        </p:txBody>
      </p:sp>
      <p:pic>
        <p:nvPicPr>
          <p:cNvPr id="7" name="Picture 33">
            <a:extLst>
              <a:ext uri="{FF2B5EF4-FFF2-40B4-BE49-F238E27FC236}">
                <a16:creationId xmlns:a16="http://schemas.microsoft.com/office/drawing/2014/main" id="{66879A19-9C0F-7CC0-6E4A-D60A10065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38972"/>
            <a:ext cx="7726680" cy="364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06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88267E8D-A921-BC60-30DC-298BAE9F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E0ECD06-5D08-B6F4-722A-2A212DB83DCA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36">
            <a:extLst>
              <a:ext uri="{FF2B5EF4-FFF2-40B4-BE49-F238E27FC236}">
                <a16:creationId xmlns:a16="http://schemas.microsoft.com/office/drawing/2014/main" id="{93DB2C5B-8BDC-910A-4548-EC2BE1B94EC5}"/>
              </a:ext>
            </a:extLst>
          </p:cNvPr>
          <p:cNvSpPr txBox="1"/>
          <p:nvPr/>
        </p:nvSpPr>
        <p:spPr>
          <a:xfrm>
            <a:off x="488617" y="666750"/>
            <a:ext cx="8166765" cy="34322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400" b="1" dirty="0">
                <a:solidFill>
                  <a:schemeClr val="tx1"/>
                </a:solidFill>
                <a:latin typeface="Calibri"/>
                <a:ea typeface="Calibri"/>
              </a:rPr>
              <a:t>*Risk</a:t>
            </a:r>
            <a:r>
              <a:rPr lang="en-US" altLang="zh-CN" sz="4400" b="1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zh-CN" sz="4400" b="1" dirty="0">
                <a:solidFill>
                  <a:schemeClr val="tx1"/>
                </a:solidFill>
                <a:latin typeface="Calibri"/>
                <a:ea typeface="Calibri"/>
              </a:rPr>
              <a:t>Factors</a:t>
            </a:r>
            <a:r>
              <a:rPr lang="en-US" altLang="zh-CN" sz="4400" b="1" spc="-1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zh-CN" sz="4400" b="1" dirty="0">
                <a:solidFill>
                  <a:schemeClr val="tx1"/>
                </a:solidFill>
                <a:latin typeface="Calibri"/>
                <a:ea typeface="Calibri"/>
              </a:rPr>
              <a:t>for</a:t>
            </a:r>
            <a:r>
              <a:rPr lang="en-US" altLang="zh-CN" sz="4400" b="1" spc="-1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zh-CN" sz="4400" b="1" dirty="0">
                <a:solidFill>
                  <a:schemeClr val="tx1"/>
                </a:solidFill>
                <a:latin typeface="Calibri"/>
                <a:ea typeface="Calibri"/>
              </a:rPr>
              <a:t>prescribing</a:t>
            </a:r>
            <a:r>
              <a:rPr lang="en-US" altLang="zh-CN" sz="4400" b="1" spc="-1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zh-CN" sz="4400" b="1" dirty="0">
                <a:solidFill>
                  <a:schemeClr val="tx1"/>
                </a:solidFill>
                <a:latin typeface="Calibri"/>
                <a:ea typeface="Calibri"/>
              </a:rPr>
              <a:t>errors:</a:t>
            </a:r>
          </a:p>
          <a:p>
            <a:pPr marL="110489" hangingPunct="0">
              <a:lnSpc>
                <a:spcPct val="110833"/>
              </a:lnSpc>
              <a:spcBef>
                <a:spcPts val="350"/>
              </a:spcBef>
            </a:pPr>
            <a:r>
              <a:rPr lang="en-US" altLang="zh-CN" sz="4000" spc="30" dirty="0">
                <a:solidFill>
                  <a:srgbClr val="000000"/>
                </a:solidFill>
                <a:latin typeface="Calibri"/>
                <a:ea typeface="Calibri"/>
              </a:rPr>
              <a:t>1-Inadequate</a:t>
            </a:r>
            <a:r>
              <a:rPr lang="en-US" altLang="zh-CN" sz="4000" spc="-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spc="34" dirty="0">
                <a:solidFill>
                  <a:srgbClr val="000000"/>
                </a:solidFill>
                <a:latin typeface="Calibri"/>
                <a:ea typeface="Calibri"/>
              </a:rPr>
              <a:t>training.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dirty="0"/>
            </a:b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2-lack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40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knowledge.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dirty="0"/>
            </a:b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3-load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40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work.</a:t>
            </a:r>
          </a:p>
          <a:p>
            <a:pPr marL="0" indent="110489">
              <a:lnSpc>
                <a:spcPct val="100000"/>
              </a:lnSpc>
              <a:spcBef>
                <a:spcPts val="254"/>
              </a:spcBef>
            </a:pP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4-Miscommunication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4000" spc="-1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Calibri"/>
                <a:ea typeface="Calibri"/>
              </a:rPr>
              <a:t>team.</a:t>
            </a:r>
          </a:p>
        </p:txBody>
      </p:sp>
    </p:spTree>
    <p:extLst>
      <p:ext uri="{BB962C8B-B14F-4D97-AF65-F5344CB8AC3E}">
        <p14:creationId xmlns:p14="http://schemas.microsoft.com/office/powerpoint/2010/main" val="8070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244A748-1AB5-87B4-79BE-538EBF46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8">
            <a:extLst>
              <a:ext uri="{FF2B5EF4-FFF2-40B4-BE49-F238E27FC236}">
                <a16:creationId xmlns:a16="http://schemas.microsoft.com/office/drawing/2014/main" id="{82706D15-5BD2-75D0-908A-4E3755A39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49" y="590550"/>
            <a:ext cx="7832501" cy="441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01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F288503-841F-57F6-C084-77D73413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473E9D0-5111-CFB5-8701-6960003D2997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42">
            <a:extLst>
              <a:ext uri="{FF2B5EF4-FFF2-40B4-BE49-F238E27FC236}">
                <a16:creationId xmlns:a16="http://schemas.microsoft.com/office/drawing/2014/main" id="{E2CF66D1-2FE9-2048-60CD-6C68824988CF}"/>
              </a:ext>
            </a:extLst>
          </p:cNvPr>
          <p:cNvSpPr txBox="1"/>
          <p:nvPr/>
        </p:nvSpPr>
        <p:spPr>
          <a:xfrm>
            <a:off x="533400" y="438150"/>
            <a:ext cx="7639760" cy="22893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alibri"/>
                <a:ea typeface="Calibri"/>
              </a:rPr>
              <a:t>Reducing</a:t>
            </a:r>
            <a:r>
              <a:rPr lang="en-US" altLang="zh-CN" sz="24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alibri"/>
                <a:ea typeface="Calibri"/>
              </a:rPr>
              <a:t>dispensing</a:t>
            </a:r>
            <a:r>
              <a:rPr lang="en-US" altLang="zh-CN" sz="24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alibri"/>
                <a:ea typeface="Calibri"/>
              </a:rPr>
              <a:t>errors</a:t>
            </a:r>
            <a:r>
              <a:rPr lang="en-US" altLang="zh-CN" sz="2400" b="1" spc="-20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alibri"/>
                <a:ea typeface="Calibri"/>
              </a:rPr>
              <a:t>:</a:t>
            </a:r>
          </a:p>
          <a:p>
            <a:pPr>
              <a:lnSpc>
                <a:spcPts val="1319"/>
              </a:lnSpc>
            </a:pPr>
            <a:endParaRPr lang="en-US" sz="2400" dirty="0"/>
          </a:p>
          <a:p>
            <a:pPr marL="0" hangingPunct="0">
              <a:lnSpc>
                <a:spcPct val="119583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1-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Electronic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prescribing</a:t>
            </a:r>
            <a:r>
              <a:rPr lang="en-US" altLang="zh-CN" sz="24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sz="2400" dirty="0"/>
            </a:b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2-Unit</a:t>
            </a:r>
            <a:r>
              <a:rPr lang="en-US" altLang="zh-CN" sz="2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spc="-5" dirty="0">
                <a:solidFill>
                  <a:srgbClr val="000000"/>
                </a:solidFill>
                <a:latin typeface="Calibri"/>
                <a:ea typeface="Calibri"/>
              </a:rPr>
              <a:t>dose.</a:t>
            </a:r>
          </a:p>
          <a:p>
            <a:pPr marL="0">
              <a:lnSpc>
                <a:spcPct val="100000"/>
              </a:lnSpc>
              <a:spcBef>
                <a:spcPts val="329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3-</a:t>
            </a:r>
            <a:r>
              <a:rPr lang="en-US" altLang="zh-CN" sz="24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spc="-5" dirty="0">
                <a:solidFill>
                  <a:srgbClr val="000000"/>
                </a:solidFill>
                <a:latin typeface="Calibri"/>
                <a:ea typeface="Calibri"/>
              </a:rPr>
              <a:t>Computerizing.</a:t>
            </a:r>
          </a:p>
          <a:p>
            <a:pPr>
              <a:lnSpc>
                <a:spcPts val="659"/>
              </a:lnSpc>
            </a:pPr>
            <a:endParaRPr lang="en-US" sz="2400" dirty="0"/>
          </a:p>
          <a:p>
            <a:pPr marL="0">
              <a:lnSpc>
                <a:spcPct val="1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4-Separating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drugs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similar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name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2400" spc="-1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</a:rPr>
              <a:t>appearance.</a:t>
            </a:r>
          </a:p>
        </p:txBody>
      </p:sp>
      <p:pic>
        <p:nvPicPr>
          <p:cNvPr id="7" name="Picture 41">
            <a:extLst>
              <a:ext uri="{FF2B5EF4-FFF2-40B4-BE49-F238E27FC236}">
                <a16:creationId xmlns:a16="http://schemas.microsoft.com/office/drawing/2014/main" id="{431976B1-CD72-0203-D4EE-67BA60114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733330"/>
            <a:ext cx="3859997" cy="228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0899"/>
      </p:ext>
    </p:extLst>
  </p:cSld>
  <p:clrMapOvr>
    <a:masterClrMapping/>
  </p:clrMapOvr>
</p:sld>
</file>

<file path=ppt/theme/theme1.xml><?xml version="1.0" encoding="utf-8"?>
<a:theme xmlns:a="http://schemas.openxmlformats.org/drawingml/2006/main" name="Treatment of Hypoglycemia Breakthrough by Slidesgo">
  <a:themeElements>
    <a:clrScheme name="Simple Light">
      <a:dk1>
        <a:srgbClr val="1F6375"/>
      </a:dk1>
      <a:lt1>
        <a:srgbClr val="F3F5FF"/>
      </a:lt1>
      <a:dk2>
        <a:srgbClr val="C4CBF7"/>
      </a:dk2>
      <a:lt2>
        <a:srgbClr val="A49FE9"/>
      </a:lt2>
      <a:accent1>
        <a:srgbClr val="184452"/>
      </a:accent1>
      <a:accent2>
        <a:srgbClr val="4DB49C"/>
      </a:accent2>
      <a:accent3>
        <a:srgbClr val="DF1A50"/>
      </a:accent3>
      <a:accent4>
        <a:srgbClr val="FF6354"/>
      </a:accent4>
      <a:accent5>
        <a:srgbClr val="FDBF42"/>
      </a:accent5>
      <a:accent6>
        <a:srgbClr val="FFFFFF"/>
      </a:accent6>
      <a:hlink>
        <a:srgbClr val="1F63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466</Words>
  <Application>Microsoft Office PowerPoint</Application>
  <PresentationFormat>On-screen Show (16:9)</PresentationFormat>
  <Paragraphs>58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Arial Black</vt:lpstr>
      <vt:lpstr>Arial</vt:lpstr>
      <vt:lpstr>Asap Medium</vt:lpstr>
      <vt:lpstr>Montserrat</vt:lpstr>
      <vt:lpstr>Times New Roman</vt:lpstr>
      <vt:lpstr>Treatment of Hypoglycemia Breakthrough by Slidesgo</vt:lpstr>
      <vt:lpstr>Drug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information</dc:title>
  <dc:creator>hp</dc:creator>
  <cp:lastModifiedBy>اسامه وليد محمد عبد الهادى صبح</cp:lastModifiedBy>
  <cp:revision>16</cp:revision>
  <dcterms:modified xsi:type="dcterms:W3CDTF">2026-03-16T21:51:24Z</dcterms:modified>
</cp:coreProperties>
</file>