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chapter was added to this edition; the original Section 3 was not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study either watches or acts. Knowing the design tells you how much to trust the result, which is the first step in answering any evidence question. A quick test: did the researcher choose who got the drug? If yes, it is experimental.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Confounding means a third factor explains the link. For example, coffee drinkers get more lung cancer because more of them smoke. Randomisation (Chapter 4) is the best protection against confounding.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value of 1 for OR or RR means no difference. Values below 1 mean lower risk with the exposure. 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Stronger designs control bias better. From weakest to strongest: Bias is a systematic error that pushes results away from the truth. Three types appear again and again: When you read a study, ask which bias could explain the result. If one could, trust the result less. The pyramid is a guide, not a law. A large, well-run cohort study can be more useful than a small, poor RCT. Quality matters as much as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with the class: what would you ask, check and say?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B: It starts from the outcome (liver failure) and looks back at exposure. A goes forward, C randomises, D measures one time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C: The researcher assigns the treatment. A, B and D only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Pooled good RCTs give the strongest evidence. B, C and D are lower.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D: ARR = 10% − 5% = 5% = 0.05; NNT = 1 ÷ 0.05 = 20. A, B and C are miscalculations.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A: Case-control studies suit rare outcomes. B would need huge numbers, C shows prevalence, D cannot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answer: (a) An RCT against metformin: randomisation removes confounding. (b) A case-control study (or reports to pharmacovigilance first): pancreatitis is rare. (c) A cohort study or a long outcome trial: it follows patients forward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0" y="1097280"/>
            <a:ext cx="475488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8000" i="0" b="1">
                <a:solidFill>
                  <a:srgbClr val="8B3C25"/>
                </a:solidFill>
                <a:latin typeface="Cambria"/>
              </a:rPr>
              <a:t>03</a:t>
            </a:r>
          </a:p>
        </p:txBody>
      </p:sp>
      <p:pic>
        <p:nvPicPr>
          <p:cNvPr id="3" name="Picture 2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pic>
        <p:nvPicPr>
          <p:cNvPr id="4" name="Picture 3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502920"/>
            <a:ext cx="960120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71800" y="658368"/>
            <a:ext cx="64008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i="0" b="1">
                <a:solidFill>
                  <a:srgbClr val="FFFFFF"/>
                </a:solidFill>
                <a:latin typeface="Cambria"/>
              </a:rPr>
              <a:t>Faculty of Pharmacy</a:t>
            </a:r>
          </a:p>
          <a:p>
            <a:r>
              <a:rPr sz="1200" i="0" b="1" spc="200">
                <a:solidFill>
                  <a:srgbClr val="F2E5E1"/>
                </a:solidFill>
                <a:latin typeface="Calibri"/>
              </a:rPr>
              <a:t>PORT SAID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766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i="0" b="1" spc="200">
                <a:solidFill>
                  <a:srgbClr val="F2E5E1"/>
                </a:solidFill>
                <a:latin typeface="Calibri"/>
              </a:rPr>
              <a:t>DRUG INFORMATION  ·  SECTION 3</a:t>
            </a:r>
          </a:p>
          <a:p>
            <a:pPr>
              <a:spcBef>
                <a:spcPts val="1400"/>
              </a:spcBef>
            </a:pPr>
            <a:r>
              <a:rPr sz="3600" i="0" b="1">
                <a:solidFill>
                  <a:srgbClr val="FFFFFF"/>
                </a:solidFill>
                <a:latin typeface="Cambria"/>
              </a:rPr>
              <a:t>Study Designs and Levels of Evidence</a:t>
            </a:r>
          </a:p>
          <a:p>
            <a:pPr>
              <a:spcBef>
                <a:spcPts val="1600"/>
              </a:spcBef>
            </a:pPr>
            <a:r>
              <a:rPr sz="2000" i="1" b="0">
                <a:solidFill>
                  <a:srgbClr val="F2E5E1"/>
                </a:solidFill>
                <a:latin typeface="Cambria"/>
              </a:rPr>
              <a:t>A Practical Section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0">
                <a:solidFill>
                  <a:srgbClr val="F2E5E1"/>
                </a:solidFill>
                <a:latin typeface="Calibri"/>
              </a:rPr>
              <a:t>45 minutes  ·  5 questions  ·  1 practice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48640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91056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Tell observational studies from experimental studies.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76072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79014"/>
            <a:ext cx="6629400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Describe the main study designs and what each can show.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94868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66971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Rank study designs by strength of evidence.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80326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1555"/>
            <a:ext cx="6629400" cy="8088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Choose the right design for a research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600200"/>
            <a:ext cx="3273552" cy="4526280"/>
          </a:xfrm>
          <a:prstGeom prst="roundRect">
            <a:avLst>
              <a:gd name="adj" fmla="val 5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1874519"/>
            <a:ext cx="27432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45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MINUTES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5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QUESTIONS</a:t>
            </a:r>
          </a:p>
          <a:p>
            <a:pPr>
              <a:spcBef>
                <a:spcPts val="1600"/>
              </a:spcBef>
            </a:pPr>
            <a:r>
              <a:rPr sz="5400" i="0" b="1">
                <a:solidFill>
                  <a:srgbClr val="A4472B"/>
                </a:solidFill>
                <a:latin typeface="Cambria"/>
              </a:rPr>
              <a:t>1</a:t>
            </a:r>
          </a:p>
          <a:p>
            <a:r>
              <a:rPr sz="1200" i="0" b="1" spc="150">
                <a:solidFill>
                  <a:srgbClr val="6E625B"/>
                </a:solidFill>
                <a:latin typeface="Calibri"/>
              </a:rPr>
              <a:t>PRACTICE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Two Big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3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20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Every study either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watches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or </a:t>
            </a:r>
            <a:r>
              <a:rPr sz="1800" i="0" b="1">
                <a:solidFill>
                  <a:srgbClr val="2B211C"/>
                </a:solidFill>
                <a:latin typeface="Calibri"/>
              </a:rPr>
              <a:t>acts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. Knowing the design tells you how much to trust the result, which is the first step in answering any evidence question.</a:t>
            </a:r>
          </a:p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A quick test: did the researcher choose who got the drug? If yes, it is experimental.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808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6372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Observational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watches what happens. They do not give the treatment.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46041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164329"/>
            <a:ext cx="10500055" cy="1142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Experimental studies: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researcher gives the treatment, usually at random. This is the clinical trial.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1">
                <a:solidFill>
                  <a:srgbClr val="2B211C"/>
                </a:solidFill>
                <a:latin typeface="Calibri"/>
              </a:rPr>
              <a:t>Confounding</a:t>
            </a:r>
            <a:r>
              <a:rPr sz="1800" i="0" b="0">
                <a:solidFill>
                  <a:srgbClr val="2B211C"/>
                </a:solidFill>
                <a:latin typeface="Calibri"/>
              </a:rPr>
              <a:t> means a third factor explains the link. For example, coffee drinkers get more lung cancer because more of them smoke. Randomisation (Chapter 4) is the best protection against confounding.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830068"/>
          <a:ext cx="11094413" cy="334212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62868"/>
                <a:gridCol w="2815000"/>
                <a:gridCol w="1697279"/>
                <a:gridCol w="2359633"/>
                <a:gridCol w="2359633"/>
              </a:tblGrid>
              <a:tr h="477447"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Good for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Main weakness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i="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Case report / case series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Describes one or a few patients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First signal of a new ADR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No comparison group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A patient develops a rash on a new drug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Measures exposure and outcome at one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How common something 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Cannot show cause and effect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Survey of antibiotic use in pharmacies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Starts with people who have the outcome and compares their past exposure with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Rare outcomes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Recall bias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Past aspirin use in children with Reye's syndrome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Follows exposed and unexposed people forward in time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Common outcomes; several outcomes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Long and costly; confounding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Smokers vs non-smokers followed for lung cancer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Randomised controlled trial (RCT)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Randomly assigns patients to treatment or 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Proving that a treatment works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Costly; strict patients may not reflect real life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New drug vs placebo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7447">
                <a:tc>
                  <a:txBody>
                    <a:bodyPr/>
                    <a:lstStyle/>
                    <a:p>
                      <a:r>
                        <a:rPr sz="1100" i="0" b="1">
                          <a:solidFill>
                            <a:srgbClr val="2B211C"/>
                          </a:solidFill>
                          <a:latin typeface="Calibri"/>
                        </a:rPr>
                        <a:t>Systematic review / meta-analysis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Combines all good studies on one question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The strongest summary of evidence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Only as good as the studies included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i="0" b="0">
                          <a:solidFill>
                            <a:srgbClr val="2B211C"/>
                          </a:solidFill>
                          <a:latin typeface="Calibri"/>
                        </a:rPr>
                        <a:t>Pooled trials of statins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Main Designs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645919" y="2103120"/>
            <a:ext cx="8899855" cy="2377440"/>
          </a:xfrm>
          <a:prstGeom prst="roundRect">
            <a:avLst>
              <a:gd name="adj" fmla="val 6000"/>
            </a:avLst>
          </a:prstGeom>
          <a:solidFill>
            <a:srgbClr val="F6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39" y="2331720"/>
            <a:ext cx="996695" cy="310896"/>
          </a:xfrm>
          <a:prstGeom prst="roundRect">
            <a:avLst>
              <a:gd name="adj" fmla="val 50000"/>
            </a:avLst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i="0" b="1">
                <a:solidFill>
                  <a:srgbClr val="FFFFFF"/>
                </a:solidFill>
                <a:latin typeface="Calibri"/>
              </a:rPr>
              <a:t>EXAM TIP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39" y="2788920"/>
            <a:ext cx="8351215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i="0" b="0">
                <a:solidFill>
                  <a:srgbClr val="2B211C"/>
                </a:solidFill>
                <a:latin typeface="Calibri"/>
              </a:rPr>
              <a:t>Case-control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backwards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outcome to exposure. Cohort goes </a:t>
            </a:r>
            <a:r>
              <a:rPr sz="2600" i="0" b="1">
                <a:solidFill>
                  <a:srgbClr val="2B211C"/>
                </a:solidFill>
                <a:latin typeface="Calibri"/>
              </a:rPr>
              <a:t>forwards</a:t>
            </a:r>
            <a:r>
              <a:rPr sz="2600" i="0" b="0">
                <a:solidFill>
                  <a:srgbClr val="2B211C"/>
                </a:solidFill>
                <a:latin typeface="Calibri"/>
              </a:rPr>
              <a:t> from exposure to outcome.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A value of 1 for OR or RR means </a:t>
            </a:r>
            <a:r>
              <a:rPr sz="2100" i="0" b="1">
                <a:solidFill>
                  <a:srgbClr val="2B211C"/>
                </a:solidFill>
                <a:latin typeface="Calibri"/>
              </a:rPr>
              <a:t>no difference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. Values below 1 mean lower risk with the exposure.</a:t>
            </a:r>
          </a:p>
          <a:p>
            <a:pPr>
              <a:spcAft>
                <a:spcPts val="800"/>
              </a:spcAft>
            </a:pPr>
            <a:r>
              <a:rPr sz="2100" i="0" b="0">
                <a:solidFill>
                  <a:srgbClr val="2B211C"/>
                </a:solidFill>
                <a:latin typeface="Calibri"/>
              </a:rPr>
              <a:t>Relative numbers can sound impressive when absolute numbers are small. A drug that cuts risk from 2% to 1% halves the risk (RR 0.5), but the ARR is only 1% and the NNT is 100. Always ask for the absolute numbers before you judge a benefit, and explain them to patients in the same plain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Measures You Will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3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731757"/>
                <a:gridCol w="2017166"/>
                <a:gridCol w="5345490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Used in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Odds ratio (OR)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Odds of exposure in cases vs controls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Relative risk (RR)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Cohort, 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treated ÷ risk in 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Absolute risk reduction (ARR)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Risk in control − risk in treated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Number needed to treat (NNT)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1 ÷ ARR; patients to treat for one to benefit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pic>
        <p:nvPicPr>
          <p:cNvPr id="8" name="Picture 7" descr="evidence-pyra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112" y="1554480"/>
            <a:ext cx="9465470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52159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i="1" b="0">
                <a:solidFill>
                  <a:srgbClr val="6E625B"/>
                </a:solidFill>
                <a:latin typeface="Calibri"/>
              </a:rPr>
              <a:t>The evidence pyramid: stronger designs control bias better.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The Levels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4983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i="0" b="0">
                <a:solidFill>
                  <a:srgbClr val="2B211C"/>
                </a:solidFill>
                <a:latin typeface="Calibri"/>
              </a:rPr>
              <a:t>Stronger designs control bias better. From weakest to strongest: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5399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7228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Expert opinion and case reports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10077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28365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 series and cross-sectional studies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56616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84448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Case-control studies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222242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40530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Cohort studies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878324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96612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Randomised controlled trials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534406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552694"/>
            <a:ext cx="10500055" cy="61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2B211C"/>
                </a:solidFill>
                <a:latin typeface="Calibri"/>
              </a:rPr>
              <a:t>Systematic reviews and meta-analyses of good RCTs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Bias in one line 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4480560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i="0" b="1">
                <a:solidFill>
                  <a:srgbClr val="2B211C"/>
                </a:solidFill>
                <a:latin typeface="Calibri"/>
              </a:rPr>
              <a:t>Bias</a:t>
            </a:r>
            <a:r>
              <a:rPr sz="1700" i="0" b="0">
                <a:solidFill>
                  <a:srgbClr val="2B211C"/>
                </a:solidFill>
                <a:latin typeface="Calibri"/>
              </a:rPr>
              <a:t> is a systematic error that pushes results away from the truth. Three types appear again and again: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When you read a study, ask which bias could explain the result. If one could, trust the result less.</a:t>
            </a:r>
          </a:p>
          <a:p>
            <a:pPr>
              <a:spcAft>
                <a:spcPts val="800"/>
              </a:spcAft>
            </a:pPr>
            <a:r>
              <a:rPr sz="1700" i="0" b="0">
                <a:solidFill>
                  <a:srgbClr val="2B211C"/>
                </a:solidFill>
                <a:latin typeface="Calibri"/>
              </a:rPr>
              <a:t>The pyramid is a guide, not a law. A large, well-run cohort study can be more useful than a small, poor RCT. Quality matters as much as design.</a:t>
            </a:r>
          </a:p>
        </p:txBody>
      </p:sp>
      <p:sp>
        <p:nvSpPr>
          <p:cNvPr id="9" name="Oval 8"/>
          <p:cNvSpPr/>
          <p:nvPr/>
        </p:nvSpPr>
        <p:spPr>
          <a:xfrm>
            <a:off x="5394959" y="1572768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591056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Selection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the groups differ before the study starts. Randomisation prevents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94959" y="3094100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112388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Recall bias: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people with a disease remember past exposures better than healthy people. It affects case-control studies.</a:t>
            </a:r>
          </a:p>
        </p:txBody>
      </p:sp>
      <p:sp>
        <p:nvSpPr>
          <p:cNvPr id="13" name="Oval 12"/>
          <p:cNvSpPr/>
          <p:nvPr/>
        </p:nvSpPr>
        <p:spPr>
          <a:xfrm>
            <a:off x="5394959" y="4615433"/>
            <a:ext cx="402336" cy="402336"/>
          </a:xfrm>
          <a:prstGeom prst="ellipse">
            <a:avLst/>
          </a:prstGeom>
          <a:solidFill>
            <a:srgbClr val="E6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2F6F7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3722"/>
            <a:ext cx="5653735" cy="1475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1">
                <a:solidFill>
                  <a:srgbClr val="2B211C"/>
                </a:solidFill>
                <a:latin typeface="Calibri"/>
              </a:rPr>
              <a:t>Confounding:</a:t>
            </a:r>
            <a:r>
              <a:rPr sz="2100" i="0" b="0">
                <a:solidFill>
                  <a:srgbClr val="2B211C"/>
                </a:solidFill>
                <a:latin typeface="Calibri"/>
              </a:rPr>
              <a:t> a third factor explains the result. Matching, adjustment and randomisation reduce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Choosing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94414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44149"/>
                <a:gridCol w="3150265"/>
              </a:tblGrid>
              <a:tr h="640080"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i="0" b="1">
                          <a:solidFill>
                            <a:srgbClr val="FFFFFF"/>
                          </a:solidFill>
                          <a:latin typeface="Calibri"/>
                        </a:rPr>
                        <a:t>Best design</a:t>
                      </a:r>
                    </a:p>
                  </a:txBody>
                  <a:tcPr marL="109728" marR="109728" marT="45720" marB="45720" anchor="ctr">
                    <a:solidFill>
                      <a:srgbClr val="A447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work better than placebo?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RCT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Does drug X cause a rare birth defect?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Case-control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What happens over ten years to patients on drug X?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How many patients use drug X today?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Cross-sectional</a:t>
                      </a:r>
                    </a:p>
                  </a:txBody>
                  <a:tcPr marL="109728" marR="109728" marT="45720" marB="45720" anchor="ctr">
                    <a:solidFill>
                      <a:srgbClr val="FAF4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i="0" b="1">
                          <a:solidFill>
                            <a:srgbClr val="2B211C"/>
                          </a:solidFill>
                          <a:latin typeface="Calibri"/>
                        </a:rPr>
                        <a:t>Has anyone seen this strange reaction before?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i="0" b="0">
                          <a:solidFill>
                            <a:srgbClr val="2B211C"/>
                          </a:solidFill>
                          <a:latin typeface="Calibri"/>
                        </a:rPr>
                        <a:t>Case report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E6EEEF"/>
                </a:solidFill>
                <a:latin typeface="Cambria"/>
              </a:rPr>
              <a:t>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At the Pharmacy</a:t>
            </a:r>
          </a:p>
          <a:p>
            <a:r>
              <a:rPr sz="1400" i="0" b="1" spc="150">
                <a:solidFill>
                  <a:srgbClr val="E6EEE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patient reads online that a blood-pressure tablet "causes cancer". The claim comes from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one case report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. You explain that a single case cannot prove cause. You check for </a:t>
            </a:r>
            <a:r>
              <a:rPr sz="2200" i="0" b="1">
                <a:solidFill>
                  <a:srgbClr val="2B211C"/>
                </a:solidFill>
                <a:latin typeface="Calibri"/>
              </a:rPr>
              <a:t>cohort studies or meta-analyses</a:t>
            </a:r>
            <a:r>
              <a:rPr sz="2200" i="0" b="0">
                <a:solidFill>
                  <a:srgbClr val="2B211C"/>
                </a:solidFill>
                <a:latin typeface="Calibri"/>
              </a:rPr>
              <a:t> on the drug before advising, and you tell the patient not to stop the tablet without seeing the doctor.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study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1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Researchers compare past drug use in 200 patients with liver failure and 400 without. What design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It starts from the outcome (liver failure) and looks back at exposure. A goes forward, C randomises, D measures one time point.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A survey of antibiotic use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2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study is experimental?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cohort study of smokers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case report of a rash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A trial that randomly assigns patients to a new drug or placebo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A survey of antibiotic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The researcher assigns the treatment. A, B and D only observe.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Cohort study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3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sits at the top of the evidence pyramid?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Systematic review and meta-analysis of good RCTs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Expert opinion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series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Cohort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Pooled good RCTs give the strongest evidence. B, C and D are lower.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19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4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In a trial, 10% of placebo patients and 5% of treated patients have a stroke. What is the NNT?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ARR = 10% − 5% = 5% = 0.05; NNT = 1 ÷ 0.05 = 20. A, B and C are miscalculations.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807208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65576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575304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65576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233672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343400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33672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01768"/>
            <a:ext cx="11094415" cy="640080"/>
          </a:xfrm>
          <a:prstGeom prst="roundRect">
            <a:avLst>
              <a:gd name="adj" fmla="val 18000"/>
            </a:avLst>
          </a:prstGeom>
          <a:solidFill>
            <a:srgbClr val="F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5111496"/>
            <a:ext cx="420624" cy="420624"/>
          </a:xfrm>
          <a:prstGeom prst="ellipse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01768"/>
            <a:ext cx="100885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2B211C"/>
                </a:solidFill>
                <a:latin typeface="Calibri"/>
              </a:rPr>
              <a:t>Case report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75488"/>
            <a:ext cx="658368" cy="658368"/>
          </a:xfrm>
          <a:prstGeom prst="ellipse">
            <a:avLst/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i="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19" y="438912"/>
            <a:ext cx="101800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0" b="1" spc="150">
                <a:solidFill>
                  <a:srgbClr val="2F6F7A"/>
                </a:solidFill>
                <a:latin typeface="Calibri"/>
              </a:rPr>
              <a:t>SECTION 3  ·  QUESTION 5 OF 5  · 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19" y="676656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i="0" b="1">
                <a:solidFill>
                  <a:srgbClr val="2B211C"/>
                </a:solidFill>
                <a:latin typeface="Cambria"/>
              </a:rPr>
              <a:t>Check your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Section 3  ·  Study Designs and Levels of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22</a:t>
            </a:r>
          </a:p>
        </p:txBody>
      </p:sp>
      <p:pic>
        <p:nvPicPr>
          <p:cNvPr id="7" name="Picture 6" descr="faculty-of-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554480"/>
            <a:ext cx="110944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i="0" b="1">
                <a:solidFill>
                  <a:srgbClr val="2B211C"/>
                </a:solidFill>
                <a:latin typeface="Calibri"/>
              </a:rPr>
              <a:t>Which design is best to study a very rare birth defect?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2F6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2F6F7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1">
                <a:solidFill>
                  <a:srgbClr val="FFFFFF"/>
                </a:solidFill>
                <a:latin typeface="Calibri"/>
              </a:rPr>
              <a:t>Case-control study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82696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3346703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82696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Randomised controlled trial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59352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23360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59352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Cross-sectional survey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36008"/>
            <a:ext cx="11094415" cy="548640"/>
          </a:xfrm>
          <a:prstGeom prst="roundRect">
            <a:avLst>
              <a:gd name="adj" fmla="val 18000"/>
            </a:avLst>
          </a:prstGeom>
          <a:solidFill>
            <a:srgbClr val="F5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700016"/>
            <a:ext cx="420624" cy="420624"/>
          </a:xfrm>
          <a:prstGeom prst="ellipse">
            <a:avLst/>
          </a:prstGeom>
          <a:solidFill>
            <a:srgbClr val="E2E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i="0" b="1">
                <a:solidFill>
                  <a:srgbClr val="6E625B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636008"/>
            <a:ext cx="100885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i="0" b="0">
                <a:solidFill>
                  <a:srgbClr val="6E625B"/>
                </a:solidFill>
                <a:latin typeface="Calibri"/>
              </a:rPr>
              <a:t>Case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58384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i="0" b="1">
                <a:solidFill>
                  <a:srgbClr val="2F6F7A"/>
                </a:solidFill>
                <a:latin typeface="Calibri"/>
              </a:rPr>
              <a:t>Why:  </a:t>
            </a:r>
            <a:r>
              <a:rPr sz="1500" i="0" b="0">
                <a:solidFill>
                  <a:srgbClr val="2B211C"/>
                </a:solidFill>
                <a:latin typeface="Calibri"/>
              </a:rPr>
              <a:t>Case-control studies suit rare outcomes. B would need huge numbers, C shows prevalence, D cannot compare.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A44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i="0" b="1">
                <a:solidFill>
                  <a:srgbClr val="F1E3DF"/>
                </a:solidFill>
                <a:latin typeface="Cambria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i="0" b="1">
                <a:solidFill>
                  <a:srgbClr val="FFFFFF"/>
                </a:solidFill>
                <a:latin typeface="Cambria"/>
              </a:rPr>
              <a:t>Practice Case</a:t>
            </a:r>
          </a:p>
          <a:p>
            <a:r>
              <a:rPr sz="1400" i="0" b="1" spc="150">
                <a:solidFill>
                  <a:srgbClr val="F1E3DF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822960"/>
            <a:ext cx="7132320" cy="5120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i="0" b="0">
                <a:solidFill>
                  <a:srgbClr val="2B211C"/>
                </a:solidFill>
                <a:latin typeface="Calibri"/>
              </a:rPr>
              <a:t>A new antidiabetic drug is launched. Three questions arise: (a) Does it lower HbA1c more than metformin? (b) Does it cause a rare pancreatitis? (c) What happens to heart outcomes over five years? Choose a design for each and give one reason.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i="0" b="0">
                <a:solidFill>
                  <a:srgbClr val="6E625B"/>
                </a:solidFill>
                <a:latin typeface="Calibri"/>
              </a:rPr>
              <a:t>Drug Information  ·  Study Designs and Levels of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i="0" b="1">
                <a:solidFill>
                  <a:srgbClr val="6E625B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6309360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447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i="0" b="1" spc="200">
                <a:solidFill>
                  <a:srgbClr val="F2E5E1"/>
                </a:solidFill>
                <a:latin typeface="Calibri"/>
              </a:rPr>
              <a:t>SECTION 3  · 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i="0" b="1">
                <a:solidFill>
                  <a:srgbClr val="FFFFFF"/>
                </a:solidFill>
                <a:latin typeface="Cambria"/>
              </a:rP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865376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Observational studies watch; experimental studies act.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88336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06624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Case-control looks backwards; cohort looks forwards; RCTs randomise.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29584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Systematic reviews of good RCTs are the top of the pyramid.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370831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NNT = 1 ÷ ARR tells you how many patients must be treated for one to benefit.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79"/>
            <a:ext cx="402336" cy="402336"/>
          </a:xfrm>
          <a:prstGeom prst="ellipse">
            <a:avLst/>
          </a:prstGeom>
          <a:solidFill>
            <a:srgbClr val="F2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i="0" b="1">
                <a:solidFill>
                  <a:srgbClr val="A4472B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230368"/>
            <a:ext cx="10500055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100" i="0" b="0">
                <a:solidFill>
                  <a:srgbClr val="FFFFFF"/>
                </a:solidFill>
                <a:latin typeface="Calibri"/>
              </a:rPr>
              <a:t>Choose the design that fits the question.</a:t>
            </a:r>
          </a:p>
        </p:txBody>
      </p:sp>
      <p:pic>
        <p:nvPicPr>
          <p:cNvPr id="14" name="Picture 13" descr="port-said-univer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548640" cy="548640"/>
          </a:xfrm>
          <a:prstGeom prst="rect">
            <a:avLst/>
          </a:prstGeom>
        </p:spPr>
      </p:pic>
      <p:pic>
        <p:nvPicPr>
          <p:cNvPr id="15" name="Picture 14" descr="faculty-of-pharm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6808" y="614476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