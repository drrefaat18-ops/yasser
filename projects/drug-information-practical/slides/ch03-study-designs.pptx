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chapter was added to this edition; the original Section 3 was not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study either watches or acts. Knowing the design tells you how much to trust the result, which is the first step in answering any evidence question. A quick test: did the researcher choose who got the drug? If yes, it is experimental.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value of 1 for OR or RR means no difference. Values below 1 mean lower risk with the exposure. 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with the class: what would you ask, check and say?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B: It starts from the outcome (liver failure) and looks back at exposure. A goes forward, C randomises, D measures one time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C: The researcher assigns the treatment. A, B and D only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Pooled good RCTs give the strongest evidence. B, C and D are lower.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D: ARR = 10% − 5% = 5% = 0.05; NNT = 1 ÷ 0.05 = 20. A, B and C are miscalculations.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Case-control studies suit rare outcomes. B would need huge numbers, C shows prevalence, D cannot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answer: (a) An RCT against metformin: randomisation removes confounding. (b) A case-control study (or reports to pharmacovigilance first): pancreatitis is rare. (c) A cohort study or a long outcome trial: it follows patients forward in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1097280"/>
            <a:ext cx="475488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8000" i="0" b="1">
                <a:solidFill>
                  <a:srgbClr val="8C3A22"/>
                </a:solidFill>
                <a:latin typeface="Cambria"/>
              </a:rPr>
              <a:t>03</a:t>
            </a:r>
          </a:p>
        </p:txBody>
      </p:sp>
      <p:pic>
        <p:nvPicPr>
          <p:cNvPr id="3" name="Picture 2" descr="port-said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pic>
        <p:nvPicPr>
          <p:cNvPr id="4" name="Picture 3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502920"/>
            <a:ext cx="960120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71800" y="65836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i="0" b="1">
                <a:solidFill>
                  <a:srgbClr val="FFFFFF"/>
                </a:solidFill>
                <a:latin typeface="Cambria"/>
              </a:rPr>
              <a:t>Faculty of Pharmacy</a:t>
            </a:r>
          </a:p>
          <a:p>
            <a:r>
              <a:rPr sz="1200" i="0" b="1" spc="200">
                <a:solidFill>
                  <a:srgbClr val="F3E6D8"/>
                </a:solidFill>
                <a:latin typeface="Calibri"/>
              </a:rPr>
              <a:t>PORT SAID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766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i="0" b="1" spc="200">
                <a:solidFill>
                  <a:srgbClr val="F3E6D8"/>
                </a:solidFill>
                <a:latin typeface="Calibri"/>
              </a:rPr>
              <a:t>DRUG INFORMATION  ·  SECTION 3</a:t>
            </a:r>
          </a:p>
          <a:p>
            <a:pPr>
              <a:spcBef>
                <a:spcPts val="1400"/>
              </a:spcBef>
            </a:pPr>
            <a:r>
              <a:rPr sz="3600" i="0" b="1">
                <a:solidFill>
                  <a:srgbClr val="FFFFFF"/>
                </a:solidFill>
                <a:latin typeface="Cambria"/>
              </a:rPr>
              <a:t>Study Designs and Levels of Evidence</a:t>
            </a:r>
          </a:p>
          <a:p>
            <a:pPr>
              <a:spcBef>
                <a:spcPts val="1600"/>
              </a:spcBef>
            </a:pPr>
            <a:r>
              <a:rPr sz="2000" i="1" b="0">
                <a:solidFill>
                  <a:srgbClr val="F3E6D8"/>
                </a:solidFill>
                <a:latin typeface="Cambria"/>
              </a:rPr>
              <a:t>A Practical Section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0">
                <a:solidFill>
                  <a:srgbClr val="F3E6D8"/>
                </a:solidFill>
                <a:latin typeface="Calibri"/>
              </a:rPr>
              <a:t>45-minute practical section  ·  5 questions  ·  1 practice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2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618488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36776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Tell observational studies from experimental studies.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06445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4733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Describe the main study designs and what each can show.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994403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2691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Rank study designs by strength of evidence.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848986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67274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Choose the right design for a research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600200"/>
            <a:ext cx="3273552" cy="4526280"/>
          </a:xfrm>
          <a:prstGeom prst="roundRect">
            <a:avLst>
              <a:gd name="adj" fmla="val 5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1874519"/>
            <a:ext cx="27432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45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MINUTES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QUESTIONS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1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PRACTICE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Two Big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3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618488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36776"/>
            <a:ext cx="10500055" cy="1237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Observational studies:</a:t>
            </a:r>
            <a:r>
              <a:rPr sz="2400" i="0" b="0">
                <a:solidFill>
                  <a:srgbClr val="2B211C"/>
                </a:solidFill>
                <a:latin typeface="Calibri"/>
              </a:rPr>
              <a:t> the researcher watches what happens. They do not give the treatment.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01696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19984"/>
            <a:ext cx="10500055" cy="1237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Experimental studies:</a:t>
            </a:r>
            <a:r>
              <a:rPr sz="2400" i="0" b="0">
                <a:solidFill>
                  <a:srgbClr val="2B211C"/>
                </a:solidFill>
                <a:latin typeface="Calibri"/>
              </a:rPr>
              <a:t> the researcher gives the treatment, usually at random. This is the clinical trial.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Main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4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94413" cy="45262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62868"/>
                <a:gridCol w="2815000"/>
                <a:gridCol w="1697279"/>
                <a:gridCol w="2359633"/>
                <a:gridCol w="2359633"/>
              </a:tblGrid>
              <a:tr h="646611"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FFFFFF"/>
                          </a:solidFill>
                          <a:latin typeface="Calibri"/>
                        </a:rPr>
                        <a:t>Good for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FFFFFF"/>
                          </a:solidFill>
                          <a:latin typeface="Calibri"/>
                        </a:rPr>
                        <a:t>Main weakness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400" i="0" b="1">
                          <a:solidFill>
                            <a:srgbClr val="2B211C"/>
                          </a:solidFill>
                          <a:latin typeface="Calibri"/>
                        </a:rPr>
                        <a:t>Case report / case series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Describes one or a few patients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First signal of a new ADR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No comparison group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A patient develops a rash on a new drug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400" i="0" b="1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Measures exposure and outcome at one time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How common something is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Cannot show cause and effect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Survey of antibiotic use in pharmacies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400" i="0" b="1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Starts with people who have the outcome and compares their past exposure with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Rare outcomes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Recall bias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Past aspirin use in children with Reye's syndrome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400" i="0" b="1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Follows exposed and unexposed people forward in time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Common outcomes; several outcomes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Long and costly; confounding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Smokers vs non-smokers followed for lung cancer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400" i="0" b="1">
                          <a:solidFill>
                            <a:srgbClr val="2B211C"/>
                          </a:solidFill>
                          <a:latin typeface="Calibri"/>
                        </a:rPr>
                        <a:t>Randomised controlled trial (RCT)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Randomly assigns patients to treatment or 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Proving that a treatment works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Costly; strict patients may not reflect real life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New drug vs placebo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r>
                        <a:rPr sz="1400" i="0" b="1">
                          <a:solidFill>
                            <a:srgbClr val="2B211C"/>
                          </a:solidFill>
                          <a:latin typeface="Calibri"/>
                        </a:rPr>
                        <a:t>Systematic review / meta-analysis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Combines all good studies on one question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The strongest summary of evidence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Only as good as the studies included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i="0" b="0">
                          <a:solidFill>
                            <a:srgbClr val="2B211C"/>
                          </a:solidFill>
                          <a:latin typeface="Calibri"/>
                        </a:rPr>
                        <a:t>Pooled trials of statins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Main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645919" y="2103120"/>
            <a:ext cx="8899855" cy="2377440"/>
          </a:xfrm>
          <a:prstGeom prst="roundRect">
            <a:avLst>
              <a:gd name="adj" fmla="val 6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20239" y="2331720"/>
            <a:ext cx="996695" cy="310896"/>
          </a:xfrm>
          <a:prstGeom prst="roundRect">
            <a:avLst>
              <a:gd name="adj" fmla="val 50000"/>
            </a:avLst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i="0" b="1" spc="100">
                <a:solidFill>
                  <a:srgbClr val="FFFFFF"/>
                </a:solidFill>
                <a:latin typeface="Calibri"/>
              </a:rPr>
              <a:t>EXAM TIP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39" y="2788920"/>
            <a:ext cx="8351215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i="0" b="0">
                <a:solidFill>
                  <a:srgbClr val="2B211C"/>
                </a:solidFill>
                <a:latin typeface="Calibri"/>
              </a:rPr>
              <a:t>Case-control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backwards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outcome to exposure. Cohort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forwards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exposure to outcome.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Measures You Will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94413" cy="3886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31757"/>
                <a:gridCol w="2017166"/>
                <a:gridCol w="5345490"/>
              </a:tblGrid>
              <a:tr h="77724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Used in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Odds ratio (OR)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Odds of exposure in cases vs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Relative risk (RR)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Cohort, RCT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treated ÷ risk in control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Absolute risk reduction (ARR)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control − risk in treated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Number needed to treat (NNT)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1 ÷ ARR; patients to treat for one to benefit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Levels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pic>
        <p:nvPicPr>
          <p:cNvPr id="8" name="Picture 7" descr="evidence-pyra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4555" y="1554480"/>
            <a:ext cx="9362585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i="1" b="0">
                <a:solidFill>
                  <a:srgbClr val="6E625B"/>
                </a:solidFill>
                <a:latin typeface="Calibri"/>
              </a:rPr>
              <a:t>The evidence pyramid: stronger designs control bias better.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Levels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618488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36776"/>
            <a:ext cx="10500055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Expert opinion and case reports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72868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91156"/>
            <a:ext cx="10500055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 series and cross-sectional studies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27248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45536"/>
            <a:ext cx="10500055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Case-control studies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881628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99916"/>
            <a:ext cx="10500055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Cohort studies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636008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654296"/>
            <a:ext cx="10500055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Randomised controlled trials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90388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408676"/>
            <a:ext cx="10500055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Systematic reviews and meta-analyses of good RCTs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Bias in one line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618488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36776"/>
            <a:ext cx="10500055" cy="1237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Selection bias:</a:t>
            </a:r>
            <a:r>
              <a:rPr sz="2400" i="0" b="0">
                <a:solidFill>
                  <a:srgbClr val="2B211C"/>
                </a:solidFill>
                <a:latin typeface="Calibri"/>
              </a:rPr>
              <a:t> the groups differ before the study starts. Randomisation prevents it.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01696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19984"/>
            <a:ext cx="10500055" cy="1237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Recall bias:</a:t>
            </a:r>
            <a:r>
              <a:rPr sz="2400" i="0" b="0">
                <a:solidFill>
                  <a:srgbClr val="2B211C"/>
                </a:solidFill>
                <a:latin typeface="Calibri"/>
              </a:rPr>
              <a:t> people with a disease remember past exposures better than healthy people. It affects case-control studies.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184903"/>
            <a:ext cx="402336" cy="402336"/>
          </a:xfrm>
          <a:prstGeom prst="ellipse">
            <a:avLst/>
          </a:prstGeom>
          <a:solidFill>
            <a:srgbClr val="E0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03192"/>
            <a:ext cx="10500055" cy="1237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Confounding:</a:t>
            </a:r>
            <a:r>
              <a:rPr sz="2400" i="0" b="0">
                <a:solidFill>
                  <a:srgbClr val="2B211C"/>
                </a:solidFill>
                <a:latin typeface="Calibri"/>
              </a:rPr>
              <a:t> a third factor explains the result. Matching, adjustment and randomisation reduce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Choosing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944149"/>
                <a:gridCol w="3150265"/>
              </a:tblGrid>
              <a:tr h="75438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Best 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work better than placebo?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cause a rare birth defect?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What happens over ten years to patients on drug X?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How many patients use drug X today?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BF3E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Has anyone seen this strange reaction before?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 report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i="0" b="1">
                <a:solidFill>
                  <a:srgbClr val="E0EEF0"/>
                </a:solidFill>
                <a:latin typeface="Cambria"/>
              </a:rPr>
              <a:t>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At the Pharmacy</a:t>
            </a:r>
          </a:p>
          <a:p>
            <a:r>
              <a:rPr sz="1400" i="0" b="1" spc="150">
                <a:solidFill>
                  <a:srgbClr val="E0EEF0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A patient reads online that a blood-pressure tablet "causes cancer". The claim comes from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one case report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. You explain that a single case cannot prove cause. You check for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cohort studies or meta-analyses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 on the drug before advising, and you tell the patient not to stop the tablet without seeing the doctor.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study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1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Cohort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Cross-sectional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It starts from the outcome (liver failure) and looks back at exposure. A goes forward, C randomises, D measures one time point.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case report of a rash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survey of antibiotic use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2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15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case report of a rash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survey of antibiotic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The researcher assigns the treatment. A, B and D only observe.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16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Expert opinion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series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3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17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Expert opinion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Case series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Cohort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Pooled good RCTs give the strongest evidence. B, C and D are lower.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18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4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19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ARR = 10% − 5% = 5% = 0.05; NNT = 1 ÷ 0.05 = 20. A, B and C are miscalculations.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20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survey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B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report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SELF-ASSESSMENT  ·  QUESTION 5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21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Cross-sectional survey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6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Case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Case-control studies suit rare outcomes. B would need huge numbers, C shows prevalence, D cannot compare.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i="0" b="1">
                <a:solidFill>
                  <a:srgbClr val="F6E5DE"/>
                </a:solidFill>
                <a:latin typeface="Cambria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Practice Case</a:t>
            </a:r>
          </a:p>
          <a:p>
            <a:r>
              <a:rPr sz="1400" i="0" b="1" spc="150">
                <a:solidFill>
                  <a:srgbClr val="F6E5DE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A new antidiabetic drug is launched. Three questions arise: (a) Does it lower HbA1c more than metformin? (b) Does it cause a rare pancreatitis? (c) What happens to heart outcomes over five years? Choose a design for each and give one reason.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1" spc="200">
                <a:solidFill>
                  <a:srgbClr val="F3E6D8"/>
                </a:solidFill>
                <a:latin typeface="Calibri"/>
              </a:rPr>
              <a:t>SECTION 3  · 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i="0" b="1">
                <a:solidFill>
                  <a:srgbClr val="FFFFFF"/>
                </a:solidFill>
                <a:latin typeface="Cambria"/>
              </a:rP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47088"/>
            <a:ext cx="402336" cy="402336"/>
          </a:xfrm>
          <a:prstGeom prst="ellipse">
            <a:avLst/>
          </a:prstGeom>
          <a:solidFill>
            <a:srgbClr val="F3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65376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Observational studies watch; experimental studies act.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88336"/>
            <a:ext cx="402336" cy="402336"/>
          </a:xfrm>
          <a:prstGeom prst="ellipse">
            <a:avLst/>
          </a:prstGeom>
          <a:solidFill>
            <a:srgbClr val="F3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06624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Case-control looks backwards; cohort looks forwards; RCTs randomise.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529584"/>
            <a:ext cx="402336" cy="402336"/>
          </a:xfrm>
          <a:prstGeom prst="ellipse">
            <a:avLst/>
          </a:prstGeom>
          <a:solidFill>
            <a:srgbClr val="F3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Systematic reviews of good RCTs are the top of the pyramid.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370831"/>
            <a:ext cx="402336" cy="402336"/>
          </a:xfrm>
          <a:prstGeom prst="ellipse">
            <a:avLst/>
          </a:prstGeom>
          <a:solidFill>
            <a:srgbClr val="F3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389120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NNT = 1 ÷ ARR tells you how many patients must be treated for one to benefit.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12079"/>
            <a:ext cx="402336" cy="402336"/>
          </a:xfrm>
          <a:prstGeom prst="ellipse">
            <a:avLst/>
          </a:prstGeom>
          <a:solidFill>
            <a:srgbClr val="F3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30368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Choose the design that fits the question.</a:t>
            </a:r>
          </a:p>
        </p:txBody>
      </p:sp>
      <p:pic>
        <p:nvPicPr>
          <p:cNvPr id="14" name="Picture 13" descr="port-said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548640" cy="548640"/>
          </a:xfrm>
          <a:prstGeom prst="rect">
            <a:avLst/>
          </a:prstGeom>
        </p:spPr>
      </p:pic>
      <p:pic>
        <p:nvPicPr>
          <p:cNvPr id="15" name="Picture 14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6808" y="614476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