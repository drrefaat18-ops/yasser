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chapter was added to this edition; the original Section 3 was not available.</a:t>
            </a:r>
          </a:p>
          <a:p/>
          <a:p>
            <a:r>
              <a:t>About 30 s.  Next: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will cover, in order.</a:t>
            </a:r>
          </a:p>
          <a:p/>
          <a:p>
            <a:r>
              <a:t>About 30 s.  Next: Two Big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study either watches or acts. Knowing the design tells you how much to trust the result, which is the first step in answering any evidence question. A quick test: did the researcher choose who got the drug? If yes, it is experimental.</a:t>
            </a:r>
          </a:p>
          <a:p/>
          <a:p>
            <a:r>
              <a:t>About 60 s.  Next: The Main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Confounding means a third factor explains the link. For example, coffee drinkers get more lung cancer because more of them smoke. Randomisation (Chapter 4) is the best protection against confounding.</a:t>
            </a:r>
          </a:p>
          <a:p/>
          <a:p>
            <a:r>
              <a:t>About 30 s.  Next: The Main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Confounding means a third factor explains the link. For example, coffee drinkers get more lung cancer because more of them smoke. Randomisation (Chapter 4) is the best protection against confounding.</a:t>
            </a:r>
          </a:p>
          <a:p/>
          <a:p>
            <a:r>
              <a:t>About 30 s.  Next: Measures You Will Meet.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value of 1 for OR or RR means no difference. Values below 1 mean lower risk with the exposure. Relative numbers can sound impressive when absolute numbers are small. A drug that cuts risk from 2% to 1% halves the risk (RR 0.5), but the ARR is only 1% and the NNT is 100. Always ask for the absolute numbers before you judge a benefit, and explain them to patients in the same plain way.</a:t>
            </a:r>
          </a:p>
          <a:p/>
          <a:p>
            <a:r>
              <a:t>About 60 s.  Next: Measures You Will Meet.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value of 1 for OR or RR means no difference. Values below 1 mean lower risk with the exposure. Relative numbers can sound impressive when absolute numbers are small. A drug that cuts risk from 2% to 1% halves the risk (RR 0.5), but the ARR is only 1% and the NNT is 100. Always ask for the absolute numbers before you judge a benefit, and explain them to patients in the same plain way.</a:t>
            </a:r>
          </a:p>
          <a:p/>
          <a:p>
            <a:r>
              <a:t>About 30 s.  Next: The Levels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Stronger designs control bias better. From weakest to strongest: Bias is a systematic error that pushes results away from the truth. Three types appear again and again: When you read a study, ask which bias could explain the result. If one could, trust the result less. The pyramid is a guide, not a law. A large, well-run cohort study can be more useful than a small, poor RCT. Quality matters as much as design.</a:t>
            </a:r>
          </a:p>
          <a:p/>
          <a:p>
            <a:r>
              <a:t>About 30 s.  Next: The Levels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Stronger designs control bias better. From weakest to strongest: Bias is a systematic error that pushes results away from the truth. Three types appear again and again: When you read a study, ask which bias could explain the result. If one could, trust the result less. The pyramid is a guide, not a law. A large, well-run cohort study can be more useful than a small, poor RCT. Quality matters as much as design.</a:t>
            </a:r>
          </a:p>
          <a:p/>
          <a:p>
            <a:r>
              <a:t>About 60 s.  Next: Bias in one line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Stronger designs control bias better. From weakest to strongest: Bias is a systematic error that pushes results away from the truth. Three types appear again and again: When you read a study, ask which bias could explain the result. If one could, trust the result less. The pyramid is a guide, not a law. A large, well-run cohort study can be more useful than a small, poor RCT. Quality matters as much as design.</a:t>
            </a:r>
          </a:p>
          <a:p/>
          <a:p>
            <a:r>
              <a:t>About 90 s.  Next: Choosing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with the class: what would you ask, check and say?</a:t>
            </a:r>
          </a:p>
          <a:p/>
          <a:p>
            <a:r>
              <a:t>About 30 s.  Next: Your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B: It starts from the outcome (liver failure) and looks back at exposure. A goes forward, C randomises, D measures one time point.</a:t>
            </a:r>
          </a:p>
          <a:p/>
          <a:p>
            <a:r>
              <a:t>About 30 s.  Next: Check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C: The researcher assigns the treatment. A, B and D only observe.</a:t>
            </a:r>
          </a:p>
          <a:p/>
          <a:p>
            <a:r>
              <a:t>About 30 s.  Next: Check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A: Pooled good RCTs give the strongest evidence. B, C and D are lower.</a:t>
            </a:r>
          </a:p>
          <a:p/>
          <a:p>
            <a:r>
              <a:t>About 30 s.  Next: Check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D: ARR = 10% − 5% = 5% = 0.05; NNT = 1 ÷ 0.05 = 20. A, B and C are miscalculations.</a:t>
            </a:r>
          </a:p>
          <a:p/>
          <a:p>
            <a:r>
              <a:t>About 30 s.  Next: Check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A: Case-control studies suit rare outcomes. B would need huge numbers, C shows prevalence, D cannot compare.</a:t>
            </a:r>
          </a:p>
          <a:p/>
          <a:p>
            <a:r>
              <a:t>About 30 s.  Next: Check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answer: (a) An RCT against metformin: randomisation removes confounding. (b) A case-control study (or reports to pharmacovigilance first): pancreatitis is rare. (c) A cohort study or a long outcome trial: it follows patients forward in time.</a:t>
            </a:r>
          </a:p>
          <a:p/>
          <a:p>
            <a:r>
              <a:t>About 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s.  Next: In This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s.  Next: Your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s.  Next: Your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s.  Next: Your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s.  Next: Your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s.  Next: Your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44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1097280"/>
            <a:ext cx="475488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8000" i="0" b="1">
                <a:solidFill>
                  <a:srgbClr val="8B3C25"/>
                </a:solidFill>
                <a:latin typeface="Cambria"/>
              </a:rPr>
              <a:t>03</a:t>
            </a:r>
          </a:p>
        </p:txBody>
      </p:sp>
      <p:pic>
        <p:nvPicPr>
          <p:cNvPr id="3" name="Picture 2" descr="port-said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60120" cy="960120"/>
          </a:xfrm>
          <a:prstGeom prst="rect">
            <a:avLst/>
          </a:prstGeom>
        </p:spPr>
      </p:pic>
      <p:pic>
        <p:nvPicPr>
          <p:cNvPr id="4" name="Picture 3" descr="faculty-of-pharm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502920"/>
            <a:ext cx="96012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71800" y="658368"/>
            <a:ext cx="6400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i="0" b="1">
                <a:solidFill>
                  <a:srgbClr val="FFFFFF"/>
                </a:solidFill>
                <a:latin typeface="Cambria"/>
              </a:rPr>
              <a:t>Faculty of Pharmacy</a:t>
            </a:r>
          </a:p>
          <a:p>
            <a:r>
              <a:rPr sz="1200" i="0" b="1" spc="200">
                <a:solidFill>
                  <a:srgbClr val="F2E5E1"/>
                </a:solidFill>
                <a:latin typeface="Calibri"/>
              </a:rPr>
              <a:t>PORT SAID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67665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i="0" b="1" spc="200">
                <a:solidFill>
                  <a:srgbClr val="F2E5E1"/>
                </a:solidFill>
                <a:latin typeface="Calibri"/>
              </a:rPr>
              <a:t>DRUG INFORMATION  ·  SECTION 3</a:t>
            </a:r>
          </a:p>
          <a:p>
            <a:pPr>
              <a:spcBef>
                <a:spcPts val="1400"/>
              </a:spcBef>
            </a:pPr>
            <a:r>
              <a:rPr sz="3600" i="0" b="1">
                <a:solidFill>
                  <a:srgbClr val="FFFFFF"/>
                </a:solidFill>
                <a:latin typeface="Cambria"/>
              </a:rPr>
              <a:t>Study Designs and Levels of Evidence</a:t>
            </a:r>
          </a:p>
          <a:p>
            <a:pPr>
              <a:spcBef>
                <a:spcPts val="1600"/>
              </a:spcBef>
            </a:pPr>
            <a:r>
              <a:rPr sz="2000" i="1" b="0">
                <a:solidFill>
                  <a:srgbClr val="F2E5E1"/>
                </a:solidFill>
                <a:latin typeface="Cambria"/>
              </a:rPr>
              <a:t>A Practical Section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i="0" b="0">
                <a:solidFill>
                  <a:srgbClr val="F2E5E1"/>
                </a:solidFill>
                <a:latin typeface="Calibri"/>
              </a:rPr>
              <a:t>45 minutes  ·  5 questions  ·  1 practice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02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1572768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91056"/>
            <a:ext cx="6629400" cy="11422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Tell observational studies from experimental studies.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60726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79014"/>
            <a:ext cx="6629400" cy="11422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Describe the main study designs and what each can show.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48683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66971"/>
            <a:ext cx="6629400" cy="808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Rank study designs by strength of evidence.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803266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821555"/>
            <a:ext cx="6629400" cy="8088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Choose the right design for a research question.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600200"/>
            <a:ext cx="3273552" cy="4526280"/>
          </a:xfrm>
          <a:prstGeom prst="roundRect">
            <a:avLst>
              <a:gd name="adj" fmla="val 5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874519"/>
            <a:ext cx="2743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5400" i="0" b="1">
                <a:solidFill>
                  <a:srgbClr val="A4472B"/>
                </a:solidFill>
                <a:latin typeface="Cambria"/>
              </a:rPr>
              <a:t>45</a:t>
            </a:r>
          </a:p>
          <a:p>
            <a:r>
              <a:rPr sz="1200" i="0" b="1" spc="150">
                <a:solidFill>
                  <a:srgbClr val="6E625B"/>
                </a:solidFill>
                <a:latin typeface="Calibri"/>
              </a:rPr>
              <a:t>MINUTES</a:t>
            </a:r>
          </a:p>
          <a:p>
            <a:pPr>
              <a:spcBef>
                <a:spcPts val="1600"/>
              </a:spcBef>
            </a:pPr>
            <a:r>
              <a:rPr sz="5400" i="0" b="1">
                <a:solidFill>
                  <a:srgbClr val="A4472B"/>
                </a:solidFill>
                <a:latin typeface="Cambria"/>
              </a:rPr>
              <a:t>5</a:t>
            </a:r>
          </a:p>
          <a:p>
            <a:r>
              <a:rPr sz="1200" i="0" b="1" spc="150">
                <a:solidFill>
                  <a:srgbClr val="6E625B"/>
                </a:solidFill>
                <a:latin typeface="Calibri"/>
              </a:rPr>
              <a:t>QUESTIONS</a:t>
            </a:r>
          </a:p>
          <a:p>
            <a:pPr>
              <a:spcBef>
                <a:spcPts val="1600"/>
              </a:spcBef>
            </a:pPr>
            <a:r>
              <a:rPr sz="5400" i="0" b="1">
                <a:solidFill>
                  <a:srgbClr val="A4472B"/>
                </a:solidFill>
                <a:latin typeface="Cambria"/>
              </a:rPr>
              <a:t>1</a:t>
            </a:r>
          </a:p>
          <a:p>
            <a:r>
              <a:rPr sz="1200" i="0" b="1" spc="150">
                <a:solidFill>
                  <a:srgbClr val="6E625B"/>
                </a:solidFill>
                <a:latin typeface="Calibri"/>
              </a:rPr>
              <a:t>PRACTICE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03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1572768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91056"/>
            <a:ext cx="4678527" cy="824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i="0" b="0">
                <a:solidFill>
                  <a:srgbClr val="2B211C"/>
                </a:solidFill>
                <a:latin typeface="Calibri"/>
              </a:rPr>
              <a:t>Two Big Families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43226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61514"/>
            <a:ext cx="4678527" cy="824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i="0" b="0">
                <a:solidFill>
                  <a:srgbClr val="2B211C"/>
                </a:solidFill>
                <a:latin typeface="Calibri"/>
              </a:rPr>
              <a:t>The Main Designs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13684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31972"/>
            <a:ext cx="4678527" cy="824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i="0" b="0">
                <a:solidFill>
                  <a:srgbClr val="2B211C"/>
                </a:solidFill>
                <a:latin typeface="Calibri"/>
              </a:rPr>
              <a:t>Measures You Will Meet</a:t>
            </a:r>
          </a:p>
        </p:txBody>
      </p:sp>
      <p:sp>
        <p:nvSpPr>
          <p:cNvPr id="14" name="Oval 13"/>
          <p:cNvSpPr/>
          <p:nvPr/>
        </p:nvSpPr>
        <p:spPr>
          <a:xfrm>
            <a:off x="6370167" y="1572768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527" y="1591056"/>
            <a:ext cx="4678527" cy="824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i="0" b="0">
                <a:solidFill>
                  <a:srgbClr val="2B211C"/>
                </a:solidFill>
                <a:latin typeface="Calibri"/>
              </a:rPr>
              <a:t>The Levels of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6370167" y="2443226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527" y="2461514"/>
            <a:ext cx="4678527" cy="8247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i="0" b="0">
                <a:solidFill>
                  <a:srgbClr val="2B211C"/>
                </a:solidFill>
                <a:latin typeface="Calibri"/>
              </a:rPr>
              <a:t>Choosing the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Two Big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04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202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i="0" b="0">
                <a:solidFill>
                  <a:srgbClr val="2B211C"/>
                </a:solidFill>
                <a:latin typeface="Calibri"/>
              </a:rPr>
              <a:t>Every study either </a:t>
            </a:r>
            <a:r>
              <a:rPr sz="1800" i="0" b="1">
                <a:solidFill>
                  <a:srgbClr val="2B211C"/>
                </a:solidFill>
                <a:latin typeface="Calibri"/>
              </a:rPr>
              <a:t>watches</a:t>
            </a:r>
            <a:r>
              <a:rPr sz="1800" i="0" b="0">
                <a:solidFill>
                  <a:srgbClr val="2B211C"/>
                </a:solidFill>
                <a:latin typeface="Calibri"/>
              </a:rPr>
              <a:t> or </a:t>
            </a:r>
            <a:r>
              <a:rPr sz="1800" i="0" b="1">
                <a:solidFill>
                  <a:srgbClr val="2B211C"/>
                </a:solidFill>
                <a:latin typeface="Calibri"/>
              </a:rPr>
              <a:t>acts</a:t>
            </a:r>
            <a:r>
              <a:rPr sz="1800" i="0" b="0">
                <a:solidFill>
                  <a:srgbClr val="2B211C"/>
                </a:solidFill>
                <a:latin typeface="Calibri"/>
              </a:rPr>
              <a:t>. Knowing the design tells you how much to trust the result, which is the first step in answering any evidence question.</a:t>
            </a:r>
          </a:p>
          <a:p>
            <a:pPr>
              <a:spcAft>
                <a:spcPts val="800"/>
              </a:spcAft>
            </a:pPr>
            <a:r>
              <a:rPr sz="1800" i="0" b="0">
                <a:solidFill>
                  <a:srgbClr val="2B211C"/>
                </a:solidFill>
                <a:latin typeface="Calibri"/>
              </a:rPr>
              <a:t>A quick test: did the researcher choose who got the drug? If yes, it is experimental.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8084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76372"/>
            <a:ext cx="10500055" cy="11422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1">
                <a:solidFill>
                  <a:srgbClr val="2B211C"/>
                </a:solidFill>
                <a:latin typeface="Calibri"/>
              </a:rPr>
              <a:t>Observational studies:</a:t>
            </a:r>
            <a:r>
              <a:rPr sz="2100" i="0" b="0">
                <a:solidFill>
                  <a:srgbClr val="2B211C"/>
                </a:solidFill>
                <a:latin typeface="Calibri"/>
              </a:rPr>
              <a:t> the researcher watches what happens. They do not give the treatment.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46041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64329"/>
            <a:ext cx="10500055" cy="11422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1">
                <a:solidFill>
                  <a:srgbClr val="2B211C"/>
                </a:solidFill>
                <a:latin typeface="Calibri"/>
              </a:rPr>
              <a:t>Experimental studies:</a:t>
            </a:r>
            <a:r>
              <a:rPr sz="2100" i="0" b="0">
                <a:solidFill>
                  <a:srgbClr val="2B211C"/>
                </a:solidFill>
                <a:latin typeface="Calibri"/>
              </a:rPr>
              <a:t> the researcher gives the treatment, usually at random. This is the clinical trial.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The Main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05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i="0" b="1">
                <a:solidFill>
                  <a:srgbClr val="2B211C"/>
                </a:solidFill>
                <a:latin typeface="Calibri"/>
              </a:rPr>
              <a:t>Confounding</a:t>
            </a:r>
            <a:r>
              <a:rPr sz="1800" i="0" b="0">
                <a:solidFill>
                  <a:srgbClr val="2B211C"/>
                </a:solidFill>
                <a:latin typeface="Calibri"/>
              </a:rPr>
              <a:t> means a third factor explains the link. For example, coffee drinkers get more lung cancer because more of them smoke. Randomisation (Chapter 4) is the best protection against confounding.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830068"/>
          <a:ext cx="11094413" cy="334212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2868"/>
                <a:gridCol w="2815000"/>
                <a:gridCol w="1697279"/>
                <a:gridCol w="2359633"/>
                <a:gridCol w="2359633"/>
              </a:tblGrid>
              <a:tr h="477447">
                <a:tc>
                  <a:txBody>
                    <a:bodyPr/>
                    <a:lstStyle/>
                    <a:p>
                      <a:r>
                        <a:rPr sz="1100" i="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 b="1">
                          <a:solidFill>
                            <a:srgbClr val="FFFFFF"/>
                          </a:solidFill>
                          <a:latin typeface="Calibri"/>
                        </a:rPr>
                        <a:t>Good for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 b="1">
                          <a:solidFill>
                            <a:srgbClr val="FFFFFF"/>
                          </a:solidFill>
                          <a:latin typeface="Calibri"/>
                        </a:rPr>
                        <a:t>Main weakness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</a:tr>
              <a:tr h="477447">
                <a:tc>
                  <a:txBody>
                    <a:bodyPr/>
                    <a:lstStyle/>
                    <a:p>
                      <a:r>
                        <a:rPr sz="1200" i="0" b="1">
                          <a:solidFill>
                            <a:srgbClr val="2B211C"/>
                          </a:solidFill>
                          <a:latin typeface="Calibri"/>
                        </a:rPr>
                        <a:t>Case report / case series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Describes one or a few patients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First signal of a new ADR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No comparison group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A patient develops a rash on a new drug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7447">
                <a:tc>
                  <a:txBody>
                    <a:bodyPr/>
                    <a:lstStyle/>
                    <a:p>
                      <a:r>
                        <a:rPr sz="1200" i="0" b="1">
                          <a:solidFill>
                            <a:srgbClr val="2B211C"/>
                          </a:solidFill>
                          <a:latin typeface="Calibri"/>
                        </a:rPr>
                        <a:t>Cross-sectional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Measures exposure and outcome at one time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How common something is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Cannot show cause and effect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Survey of antibiotic use in pharmacies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</a:tr>
              <a:tr h="477447">
                <a:tc>
                  <a:txBody>
                    <a:bodyPr/>
                    <a:lstStyle/>
                    <a:p>
                      <a:r>
                        <a:rPr sz="1200" i="0" b="1">
                          <a:solidFill>
                            <a:srgbClr val="2B211C"/>
                          </a:solidFill>
                          <a:latin typeface="Calibri"/>
                        </a:rPr>
                        <a:t>Case-control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Starts with people who have the outcome and compares their past exposure with controls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Rare outcomes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Recall bias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Past aspirin use in children with Reye's syndrome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7447">
                <a:tc>
                  <a:txBody>
                    <a:bodyPr/>
                    <a:lstStyle/>
                    <a:p>
                      <a:r>
                        <a:rPr sz="1200" i="0" b="1">
                          <a:solidFill>
                            <a:srgbClr val="2B211C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Follows exposed and unexposed people forward in time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Common outcomes; several outcomes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Long and costly; confounding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Smokers vs non-smokers followed for lung cancer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</a:tr>
              <a:tr h="477447">
                <a:tc>
                  <a:txBody>
                    <a:bodyPr/>
                    <a:lstStyle/>
                    <a:p>
                      <a:r>
                        <a:rPr sz="1200" i="0" b="1">
                          <a:solidFill>
                            <a:srgbClr val="2B211C"/>
                          </a:solidFill>
                          <a:latin typeface="Calibri"/>
                        </a:rPr>
                        <a:t>Randomised controlled trial (RCT)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Randomly assigns patients to treatment or control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Proving that a treatment works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Costly; strict patients may not reflect real life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New drug vs placebo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77447">
                <a:tc>
                  <a:txBody>
                    <a:bodyPr/>
                    <a:lstStyle/>
                    <a:p>
                      <a:r>
                        <a:rPr sz="1200" i="0" b="1">
                          <a:solidFill>
                            <a:srgbClr val="2B211C"/>
                          </a:solidFill>
                          <a:latin typeface="Calibri"/>
                        </a:rPr>
                        <a:t>Systematic review / meta-analysis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Combines all good studies on one question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The strongest summary of evidence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Only as good as the studies included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i="0" b="0">
                          <a:solidFill>
                            <a:srgbClr val="2B211C"/>
                          </a:solidFill>
                          <a:latin typeface="Calibri"/>
                        </a:rPr>
                        <a:t>Pooled trials of statins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The Main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06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645919" y="2103120"/>
            <a:ext cx="8899855" cy="2377440"/>
          </a:xfrm>
          <a:prstGeom prst="roundRect">
            <a:avLst>
              <a:gd name="adj" fmla="val 6000"/>
            </a:avLst>
          </a:prstGeom>
          <a:solidFill>
            <a:srgbClr val="F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39" y="23317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i="0" b="1">
                <a:solidFill>
                  <a:srgbClr val="FFFFFF"/>
                </a:solidFill>
                <a:latin typeface="Calibri"/>
              </a:rPr>
              <a:t>EXAM TIP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2788920"/>
            <a:ext cx="8351215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i="0" b="0">
                <a:solidFill>
                  <a:srgbClr val="2B211C"/>
                </a:solidFill>
                <a:latin typeface="Calibri"/>
              </a:rPr>
              <a:t>Case-control goes </a:t>
            </a:r>
            <a:r>
              <a:rPr sz="2600" i="0" b="1">
                <a:solidFill>
                  <a:srgbClr val="2B211C"/>
                </a:solidFill>
                <a:latin typeface="Calibri"/>
              </a:rPr>
              <a:t>backwards</a:t>
            </a:r>
            <a:r>
              <a:rPr sz="2600" i="0" b="0">
                <a:solidFill>
                  <a:srgbClr val="2B211C"/>
                </a:solidFill>
                <a:latin typeface="Calibri"/>
              </a:rPr>
              <a:t> from outcome to exposure. Cohort goes </a:t>
            </a:r>
            <a:r>
              <a:rPr sz="2600" i="0" b="1">
                <a:solidFill>
                  <a:srgbClr val="2B211C"/>
                </a:solidFill>
                <a:latin typeface="Calibri"/>
              </a:rPr>
              <a:t>forwards</a:t>
            </a:r>
            <a:r>
              <a:rPr sz="2600" i="0" b="0">
                <a:solidFill>
                  <a:srgbClr val="2B211C"/>
                </a:solidFill>
                <a:latin typeface="Calibri"/>
              </a:rPr>
              <a:t> from exposure to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Measures You Will Meet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07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100" i="0" b="0">
                <a:solidFill>
                  <a:srgbClr val="2B211C"/>
                </a:solidFill>
                <a:latin typeface="Calibri"/>
              </a:rPr>
              <a:t>A value of 1 for OR or RR means </a:t>
            </a:r>
            <a:r>
              <a:rPr sz="2100" i="0" b="1">
                <a:solidFill>
                  <a:srgbClr val="2B211C"/>
                </a:solidFill>
                <a:latin typeface="Calibri"/>
              </a:rPr>
              <a:t>no difference</a:t>
            </a:r>
            <a:r>
              <a:rPr sz="2100" i="0" b="0">
                <a:solidFill>
                  <a:srgbClr val="2B211C"/>
                </a:solidFill>
                <a:latin typeface="Calibri"/>
              </a:rPr>
              <a:t>. Values below 1 mean lower risk with the exposure.</a:t>
            </a:r>
          </a:p>
          <a:p>
            <a:pPr>
              <a:spcAft>
                <a:spcPts val="800"/>
              </a:spcAft>
            </a:pPr>
            <a:r>
              <a:rPr sz="2100" i="0" b="0">
                <a:solidFill>
                  <a:srgbClr val="2B211C"/>
                </a:solidFill>
                <a:latin typeface="Calibri"/>
              </a:rPr>
              <a:t>Relative numbers can sound impressive when absolute numbers are small. A drug that cuts risk from 2% to 1% halves the risk (RR 0.5), but the ARR is only 1% and the NNT is 100. Always ask for the absolute numbers before you judge a benefit, and explain them to patients in the same plain 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Measures You Will Meet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08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94413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31757"/>
                <a:gridCol w="2017166"/>
                <a:gridCol w="5345490"/>
              </a:tblGrid>
              <a:tr h="640080">
                <a:tc>
                  <a:txBody>
                    <a:bodyPr/>
                    <a:lstStyle/>
                    <a:p>
                      <a:r>
                        <a:rPr sz="1900" i="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i="0" b="1">
                          <a:solidFill>
                            <a:srgbClr val="FFFFFF"/>
                          </a:solidFill>
                          <a:latin typeface="Calibri"/>
                        </a:rPr>
                        <a:t>Used in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i="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i="0" b="1">
                          <a:solidFill>
                            <a:srgbClr val="2B211C"/>
                          </a:solidFill>
                          <a:latin typeface="Calibri"/>
                        </a:rPr>
                        <a:t>Odds ratio (OR)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Case-control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Odds of exposure in cases vs controls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i="0" b="1">
                          <a:solidFill>
                            <a:srgbClr val="2B211C"/>
                          </a:solidFill>
                          <a:latin typeface="Calibri"/>
                        </a:rPr>
                        <a:t>Relative risk (RR)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Cohort, RCT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Risk in treated ÷ risk in control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i="0" b="1">
                          <a:solidFill>
                            <a:srgbClr val="2B211C"/>
                          </a:solidFill>
                          <a:latin typeface="Calibri"/>
                        </a:rPr>
                        <a:t>Absolute risk reduction (ARR)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RCT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Risk in control − risk in treated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i="0" b="1">
                          <a:solidFill>
                            <a:srgbClr val="2B211C"/>
                          </a:solidFill>
                          <a:latin typeface="Calibri"/>
                        </a:rPr>
                        <a:t>Number needed to treat (NNT)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RCT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1 ÷ ARR; patients to treat for one to benefit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The Levels of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09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pic>
        <p:nvPicPr>
          <p:cNvPr id="8" name="Picture 7" descr="A six-level pyramid. From the base upward: case reports and expert opinion; case series and cross-sectional studies; case-control studies; cohort studies; randomised controlled trials; systematic reviews and meta-analyses at the top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112" y="1554480"/>
            <a:ext cx="946547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52159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i="1" b="0">
                <a:solidFill>
                  <a:srgbClr val="6E625B"/>
                </a:solidFill>
                <a:latin typeface="Calibri"/>
              </a:rPr>
              <a:t>The evidence pyramid: stronger designs control bias better.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The Levels of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10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i="0" b="0">
                <a:solidFill>
                  <a:srgbClr val="2B211C"/>
                </a:solidFill>
                <a:latin typeface="Calibri"/>
              </a:rPr>
              <a:t>Stronger designs control bias better. From weakest to strongest: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53996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72284"/>
            <a:ext cx="10500055" cy="610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Expert opinion and case reports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10077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28365"/>
            <a:ext cx="10500055" cy="610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Case series and cross-sectional studies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66160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84448"/>
            <a:ext cx="10500055" cy="610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Case-control studies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222242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40530"/>
            <a:ext cx="10500055" cy="610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Cohort studies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78324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96612"/>
            <a:ext cx="10500055" cy="610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Randomised controlled trials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534406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552694"/>
            <a:ext cx="10500055" cy="610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2B211C"/>
                </a:solidFill>
                <a:latin typeface="Calibri"/>
              </a:rPr>
              <a:t>Systematic reviews and meta-analyses of good RCTs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Bias in one line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11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4480560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i="0" b="1">
                <a:solidFill>
                  <a:srgbClr val="2B211C"/>
                </a:solidFill>
                <a:latin typeface="Calibri"/>
              </a:rPr>
              <a:t>Bias</a:t>
            </a:r>
            <a:r>
              <a:rPr sz="1700" i="0" b="0">
                <a:solidFill>
                  <a:srgbClr val="2B211C"/>
                </a:solidFill>
                <a:latin typeface="Calibri"/>
              </a:rPr>
              <a:t> is a systematic error that pushes results away from the truth. Three types appear again and again:</a:t>
            </a:r>
          </a:p>
          <a:p>
            <a:pPr>
              <a:spcAft>
                <a:spcPts val="800"/>
              </a:spcAft>
            </a:pPr>
            <a:r>
              <a:rPr sz="1700" i="0" b="0">
                <a:solidFill>
                  <a:srgbClr val="2B211C"/>
                </a:solidFill>
                <a:latin typeface="Calibri"/>
              </a:rPr>
              <a:t>When you read a study, ask which bias could explain the result. If one could, trust the result less.</a:t>
            </a:r>
          </a:p>
          <a:p>
            <a:pPr>
              <a:spcAft>
                <a:spcPts val="800"/>
              </a:spcAft>
            </a:pPr>
            <a:r>
              <a:rPr sz="1700" i="0" b="0">
                <a:solidFill>
                  <a:srgbClr val="2B211C"/>
                </a:solidFill>
                <a:latin typeface="Calibri"/>
              </a:rPr>
              <a:t>The pyramid is a guide, not a law. A large, well-run cohort study can be more useful than a small, poor RCT. Quality matters as much as design.</a:t>
            </a:r>
          </a:p>
        </p:txBody>
      </p:sp>
      <p:sp>
        <p:nvSpPr>
          <p:cNvPr id="9" name="Oval 8"/>
          <p:cNvSpPr/>
          <p:nvPr/>
        </p:nvSpPr>
        <p:spPr>
          <a:xfrm>
            <a:off x="5394959" y="1572768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591056"/>
            <a:ext cx="5653735" cy="14756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1">
                <a:solidFill>
                  <a:srgbClr val="2B211C"/>
                </a:solidFill>
                <a:latin typeface="Calibri"/>
              </a:rPr>
              <a:t>Selection bias:</a:t>
            </a:r>
            <a:r>
              <a:rPr sz="2100" i="0" b="0">
                <a:solidFill>
                  <a:srgbClr val="2B211C"/>
                </a:solidFill>
                <a:latin typeface="Calibri"/>
              </a:rPr>
              <a:t> the groups differ before the study starts. Randomisation prevents it.</a:t>
            </a:r>
          </a:p>
        </p:txBody>
      </p:sp>
      <p:sp>
        <p:nvSpPr>
          <p:cNvPr id="11" name="Oval 10"/>
          <p:cNvSpPr/>
          <p:nvPr/>
        </p:nvSpPr>
        <p:spPr>
          <a:xfrm>
            <a:off x="5394959" y="3094100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112388"/>
            <a:ext cx="5653735" cy="14756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1">
                <a:solidFill>
                  <a:srgbClr val="2B211C"/>
                </a:solidFill>
                <a:latin typeface="Calibri"/>
              </a:rPr>
              <a:t>Recall bias:</a:t>
            </a:r>
            <a:r>
              <a:rPr sz="2100" i="0" b="0">
                <a:solidFill>
                  <a:srgbClr val="2B211C"/>
                </a:solidFill>
                <a:latin typeface="Calibri"/>
              </a:rPr>
              <a:t> people with a disease remember past exposures better than healthy people. It affects case-control studies.</a:t>
            </a:r>
          </a:p>
        </p:txBody>
      </p:sp>
      <p:sp>
        <p:nvSpPr>
          <p:cNvPr id="13" name="Oval 12"/>
          <p:cNvSpPr/>
          <p:nvPr/>
        </p:nvSpPr>
        <p:spPr>
          <a:xfrm>
            <a:off x="5394959" y="4615433"/>
            <a:ext cx="402336" cy="402336"/>
          </a:xfrm>
          <a:prstGeom prst="ellipse">
            <a:avLst/>
          </a:prstGeom>
          <a:solidFill>
            <a:srgbClr val="E6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2F6F7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633722"/>
            <a:ext cx="5653735" cy="14756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1">
                <a:solidFill>
                  <a:srgbClr val="2B211C"/>
                </a:solidFill>
                <a:latin typeface="Calibri"/>
              </a:rPr>
              <a:t>Confounding:</a:t>
            </a:r>
            <a:r>
              <a:rPr sz="2100" i="0" b="0">
                <a:solidFill>
                  <a:srgbClr val="2B211C"/>
                </a:solidFill>
                <a:latin typeface="Calibri"/>
              </a:rPr>
              <a:t> a third factor explains the result. Matching, adjustment and randomisation reduce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Choosing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12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94414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944149"/>
                <a:gridCol w="3150265"/>
              </a:tblGrid>
              <a:tr h="640080">
                <a:tc>
                  <a:txBody>
                    <a:bodyPr/>
                    <a:lstStyle/>
                    <a:p>
                      <a:r>
                        <a:rPr sz="1900" i="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i="0" b="1">
                          <a:solidFill>
                            <a:srgbClr val="FFFFFF"/>
                          </a:solidFill>
                          <a:latin typeface="Calibri"/>
                        </a:rPr>
                        <a:t>Best design</a:t>
                      </a:r>
                    </a:p>
                  </a:txBody>
                  <a:tcPr marL="109728" marR="109728" marT="45720" marB="45720" anchor="ctr">
                    <a:solidFill>
                      <a:srgbClr val="A447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i="0" b="1">
                          <a:solidFill>
                            <a:srgbClr val="2B211C"/>
                          </a:solidFill>
                          <a:latin typeface="Calibri"/>
                        </a:rPr>
                        <a:t>Does drug X work better than placebo?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RCT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i="0" b="1">
                          <a:solidFill>
                            <a:srgbClr val="2B211C"/>
                          </a:solidFill>
                          <a:latin typeface="Calibri"/>
                        </a:rPr>
                        <a:t>Does drug X cause a rare birth defect?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Case-control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i="0" b="1">
                          <a:solidFill>
                            <a:srgbClr val="2B211C"/>
                          </a:solidFill>
                          <a:latin typeface="Calibri"/>
                        </a:rPr>
                        <a:t>What happens over ten years to patients on drug X?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i="0" b="1">
                          <a:solidFill>
                            <a:srgbClr val="2B211C"/>
                          </a:solidFill>
                          <a:latin typeface="Calibri"/>
                        </a:rPr>
                        <a:t>How many patients use drug X today?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Cross-sectional</a:t>
                      </a:r>
                    </a:p>
                  </a:txBody>
                  <a:tcPr marL="109728" marR="109728" marT="45720" marB="45720" anchor="ctr">
                    <a:solidFill>
                      <a:srgbClr val="FAF4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i="0" b="1">
                          <a:solidFill>
                            <a:srgbClr val="2B211C"/>
                          </a:solidFill>
                          <a:latin typeface="Calibri"/>
                        </a:rPr>
                        <a:t>Has anyone seen this strange reaction before?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i="0" b="0">
                          <a:solidFill>
                            <a:srgbClr val="2B211C"/>
                          </a:solidFill>
                          <a:latin typeface="Calibri"/>
                        </a:rPr>
                        <a:t>Case report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2926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i="0" b="1">
                <a:solidFill>
                  <a:srgbClr val="E6EEEF"/>
                </a:solidFill>
                <a:latin typeface="Cambria"/>
              </a:rPr>
              <a:t>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776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i="0" b="1">
                <a:solidFill>
                  <a:srgbClr val="FFFFFF"/>
                </a:solidFill>
                <a:latin typeface="Cambria"/>
              </a:rPr>
              <a:t>At the Pharmacy</a:t>
            </a:r>
          </a:p>
          <a:p>
            <a:r>
              <a:rPr sz="1400" i="0" b="1" spc="150">
                <a:solidFill>
                  <a:srgbClr val="E6EEEF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822960"/>
            <a:ext cx="713232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i="0" b="0">
                <a:solidFill>
                  <a:srgbClr val="2B211C"/>
                </a:solidFill>
                <a:latin typeface="Calibri"/>
              </a:rPr>
              <a:t>A patient reads online that a blood-pressure tablet "causes cancer". The claim comes from </a:t>
            </a:r>
            <a:r>
              <a:rPr sz="2200" i="0" b="1">
                <a:solidFill>
                  <a:srgbClr val="2B211C"/>
                </a:solidFill>
                <a:latin typeface="Calibri"/>
              </a:rPr>
              <a:t>one case report</a:t>
            </a:r>
            <a:r>
              <a:rPr sz="2200" i="0" b="0">
                <a:solidFill>
                  <a:srgbClr val="2B211C"/>
                </a:solidFill>
                <a:latin typeface="Calibri"/>
              </a:rPr>
              <a:t>. You explain that a single case cannot prove cause. You check for </a:t>
            </a:r>
            <a:r>
              <a:rPr sz="2200" i="0" b="1">
                <a:solidFill>
                  <a:srgbClr val="2B211C"/>
                </a:solidFill>
                <a:latin typeface="Calibri"/>
              </a:rPr>
              <a:t>cohort studies or meta-analyses</a:t>
            </a:r>
            <a:r>
              <a:rPr sz="2200" i="0" b="0">
                <a:solidFill>
                  <a:srgbClr val="2B211C"/>
                </a:solidFill>
                <a:latin typeface="Calibri"/>
              </a:rPr>
              <a:t> on the drug before advising, and you tell the patient not to stop the tablet without seeing the doctor.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Study Designs and Levels of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13 / 25</a:t>
            </a:r>
          </a:p>
        </p:txBody>
      </p:sp>
      <p:pic>
        <p:nvPicPr>
          <p:cNvPr id="8" name="Picture 7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14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Researchers compare past drug use in 200 patients with liver failure and 400 without. What design is this?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807208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Cohort study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65576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575304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65576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Case-control study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33672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343400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33672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Randomised controlled trial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01768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111496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01768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Cross-sectional study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1 OF 5  · 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Check your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15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Researchers compare past drug use in 200 patients with liver failure and 400 without. What design is this?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670048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Cohort study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82696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346703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2F6F7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82696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1">
                <a:solidFill>
                  <a:srgbClr val="FFFFFF"/>
                </a:solidFill>
                <a:latin typeface="Calibri"/>
              </a:rPr>
              <a:t>Case-control study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023360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59352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Randomised controlled trial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36008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700016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36008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Cross-sectional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5838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i="0" b="1">
                <a:solidFill>
                  <a:srgbClr val="2F6F7A"/>
                </a:solidFill>
                <a:latin typeface="Calibri"/>
              </a:rPr>
              <a:t>Why:  </a:t>
            </a:r>
            <a:r>
              <a:rPr sz="1500" i="0" b="0">
                <a:solidFill>
                  <a:srgbClr val="2B211C"/>
                </a:solidFill>
                <a:latin typeface="Calibri"/>
              </a:rPr>
              <a:t>It starts from the outcome (liver failure) and looks back at exposure. A goes forward, C randomises, D measures one time point.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16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Which study is experimental?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807208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A cohort study of smokers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65576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575304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65576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A case report of a rash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33672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343400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33672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A trial that randomly assigns patients to a new drug or placebo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01768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111496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01768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A survey of antibiotic use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2 OF 5  · 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Check your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17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Which study is experimental?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670048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A cohort study of smokers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82696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346703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82696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A case report of a rash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023360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2F6F7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59352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1">
                <a:solidFill>
                  <a:srgbClr val="FFFFFF"/>
                </a:solidFill>
                <a:latin typeface="Calibri"/>
              </a:rPr>
              <a:t>A trial that randomly assigns patients to a new drug or placebo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36008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700016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36008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A survey of antibiotic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5838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i="0" b="1">
                <a:solidFill>
                  <a:srgbClr val="2F6F7A"/>
                </a:solidFill>
                <a:latin typeface="Calibri"/>
              </a:rPr>
              <a:t>Why:  </a:t>
            </a:r>
            <a:r>
              <a:rPr sz="1500" i="0" b="0">
                <a:solidFill>
                  <a:srgbClr val="2B211C"/>
                </a:solidFill>
                <a:latin typeface="Calibri"/>
              </a:rPr>
              <a:t>The researcher assigns the treatment. A, B and D only observe.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18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Which sits at the top of the evidence pyramid?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807208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Systematic review and meta-analysis of good RCTs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65576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575304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65576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Expert opinion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33672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343400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33672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Case series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01768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111496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01768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Cohort study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3 OF 5  · 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Check your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19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Which sits at the top of the evidence pyramid?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67004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2F6F7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1">
                <a:solidFill>
                  <a:srgbClr val="FFFFFF"/>
                </a:solidFill>
                <a:latin typeface="Calibri"/>
              </a:rPr>
              <a:t>Systematic review and meta-analysis of good RCTs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82696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346703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82696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Expert opinion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023360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59352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Case series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36008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700016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36008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Cohort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5838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i="0" b="1">
                <a:solidFill>
                  <a:srgbClr val="2F6F7A"/>
                </a:solidFill>
                <a:latin typeface="Calibri"/>
              </a:rPr>
              <a:t>Why:  </a:t>
            </a:r>
            <a:r>
              <a:rPr sz="1500" i="0" b="0">
                <a:solidFill>
                  <a:srgbClr val="2B211C"/>
                </a:solidFill>
                <a:latin typeface="Calibri"/>
              </a:rPr>
              <a:t>Pooled good RCTs give the strongest evidence. B, C and D are lower.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20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In a trial, 10% of placebo patients and 5% of treated patients have a stroke. What is the NNT?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807208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65576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575304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65576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33672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343400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33672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01768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111496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01768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4 OF 5  · 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Check your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21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In a trial, 10% of placebo patients and 5% of treated patients have a stroke. What is the NNT?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670048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82696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346703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82696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023360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59352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36008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700016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2F6F7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36008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5838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i="0" b="1">
                <a:solidFill>
                  <a:srgbClr val="2F6F7A"/>
                </a:solidFill>
                <a:latin typeface="Calibri"/>
              </a:rPr>
              <a:t>Why:  </a:t>
            </a:r>
            <a:r>
              <a:rPr sz="1500" i="0" b="0">
                <a:solidFill>
                  <a:srgbClr val="2B211C"/>
                </a:solidFill>
                <a:latin typeface="Calibri"/>
              </a:rPr>
              <a:t>ARR = 10% − 5% = 5% = 0.05; NNT = 1 ÷ 0.05 = 20. A, B and C are miscalculations.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22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Which design is best to study a very rare birth defect?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807208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Case-control study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65576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575304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65576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Randomised controlled trial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33672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343400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33672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Cross-sectional survey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01768"/>
            <a:ext cx="11094415" cy="640080"/>
          </a:xfrm>
          <a:prstGeom prst="roundRect">
            <a:avLst>
              <a:gd name="adj" fmla="val 18000"/>
            </a:avLst>
          </a:prstGeom>
          <a:solidFill>
            <a:srgbClr val="F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111496"/>
            <a:ext cx="420624" cy="420624"/>
          </a:xfrm>
          <a:prstGeom prst="ellipse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01768"/>
            <a:ext cx="1008857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2B211C"/>
                </a:solidFill>
                <a:latin typeface="Calibri"/>
              </a:rPr>
              <a:t>Case report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i="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19" y="438912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1" spc="150">
                <a:solidFill>
                  <a:srgbClr val="2F6F7A"/>
                </a:solidFill>
                <a:latin typeface="Calibri"/>
              </a:rPr>
              <a:t>SECTION 3  ·  QUESTION 5 OF 5  · 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676656"/>
            <a:ext cx="10180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i="0" b="1">
                <a:solidFill>
                  <a:srgbClr val="2B211C"/>
                </a:solidFill>
                <a:latin typeface="Cambria"/>
              </a:rPr>
              <a:t>Check your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Section 3  ·  Study Designs and Levels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23 / 25</a:t>
            </a:r>
          </a:p>
        </p:txBody>
      </p:sp>
      <p:pic>
        <p:nvPicPr>
          <p:cNvPr id="7" name="Picture 6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554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i="0" b="1">
                <a:solidFill>
                  <a:srgbClr val="2B211C"/>
                </a:solidFill>
                <a:latin typeface="Calibri"/>
              </a:rPr>
              <a:t>Which design is best to study a very rare birth defect?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2F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67004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2F6F7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1">
                <a:solidFill>
                  <a:srgbClr val="FFFFFF"/>
                </a:solidFill>
                <a:latin typeface="Calibri"/>
              </a:rPr>
              <a:t>Case-control study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82696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346703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82696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Randomised controlled trial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023360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59352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Cross-sectional survey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36008"/>
            <a:ext cx="11094415" cy="548640"/>
          </a:xfrm>
          <a:prstGeom prst="roundRect">
            <a:avLst>
              <a:gd name="adj" fmla="val 18000"/>
            </a:avLst>
          </a:prstGeom>
          <a:solidFill>
            <a:srgbClr val="F5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700016"/>
            <a:ext cx="420624" cy="420624"/>
          </a:xfrm>
          <a:prstGeom prst="ellipse">
            <a:avLst/>
          </a:prstGeom>
          <a:solidFill>
            <a:srgbClr val="E2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i="0" b="1">
                <a:solidFill>
                  <a:srgbClr val="6E625B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36008"/>
            <a:ext cx="100885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900" i="0" b="0">
                <a:solidFill>
                  <a:srgbClr val="6E625B"/>
                </a:solidFill>
                <a:latin typeface="Calibri"/>
              </a:rPr>
              <a:t>Case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5838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i="0" b="1">
                <a:solidFill>
                  <a:srgbClr val="2F6F7A"/>
                </a:solidFill>
                <a:latin typeface="Calibri"/>
              </a:rPr>
              <a:t>Why:  </a:t>
            </a:r>
            <a:r>
              <a:rPr sz="1500" i="0" b="0">
                <a:solidFill>
                  <a:srgbClr val="2B211C"/>
                </a:solidFill>
                <a:latin typeface="Calibri"/>
              </a:rPr>
              <a:t>Case-control studies suit rare outcomes. B would need huge numbers, C shows prevalence, D cannot compare.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A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2926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i="0" b="1">
                <a:solidFill>
                  <a:srgbClr val="F1E3DF"/>
                </a:solidFill>
                <a:latin typeface="Cambria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776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i="0" b="1">
                <a:solidFill>
                  <a:srgbClr val="FFFFFF"/>
                </a:solidFill>
                <a:latin typeface="Cambria"/>
              </a:rPr>
              <a:t>Practice Case</a:t>
            </a:r>
          </a:p>
          <a:p>
            <a:r>
              <a:rPr sz="1400" i="0" b="1" spc="150">
                <a:solidFill>
                  <a:srgbClr val="F1E3DF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822960"/>
            <a:ext cx="713232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i="0" b="0">
                <a:solidFill>
                  <a:srgbClr val="2B211C"/>
                </a:solidFill>
                <a:latin typeface="Calibri"/>
              </a:rPr>
              <a:t>A new antidiabetic drug is launched. Three questions arise: (a) Does it lower HbA1c more than metformin? (b) Does it cause a rare pancreatitis? (c) What happens to heart outcomes over five years? Choose a design for each and give one reason.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i="0" b="0">
                <a:solidFill>
                  <a:srgbClr val="6E625B"/>
                </a:solidFill>
                <a:latin typeface="Calibri"/>
              </a:rPr>
              <a:t>Drug Information  ·  Study Designs and Levels of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6E625B"/>
                </a:solidFill>
                <a:latin typeface="Calibri"/>
              </a:rPr>
              <a:t>24 / 25</a:t>
            </a:r>
          </a:p>
        </p:txBody>
      </p:sp>
      <p:pic>
        <p:nvPicPr>
          <p:cNvPr id="8" name="Picture 7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0936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44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i="0" b="1" spc="200">
                <a:solidFill>
                  <a:srgbClr val="F2E5E1"/>
                </a:solidFill>
                <a:latin typeface="Calibri"/>
              </a:rPr>
              <a:t>SECTION 3  ·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i="0" b="1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47088"/>
            <a:ext cx="402336" cy="402336"/>
          </a:xfrm>
          <a:prstGeom prst="ellipse">
            <a:avLst/>
          </a:prstGeom>
          <a:solidFill>
            <a:srgbClr val="F2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A4472B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65376"/>
            <a:ext cx="10500055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FFFFFF"/>
                </a:solidFill>
                <a:latin typeface="Calibri"/>
              </a:rPr>
              <a:t>Observational studies watch; experimental studies act.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88336"/>
            <a:ext cx="402336" cy="402336"/>
          </a:xfrm>
          <a:prstGeom prst="ellipse">
            <a:avLst/>
          </a:prstGeom>
          <a:solidFill>
            <a:srgbClr val="F2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A4472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06624"/>
            <a:ext cx="10500055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FFFFFF"/>
                </a:solidFill>
                <a:latin typeface="Calibri"/>
              </a:rPr>
              <a:t>Case-control looks backwards; cohort looks forwards; RCTs randomise.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29584"/>
            <a:ext cx="402336" cy="402336"/>
          </a:xfrm>
          <a:prstGeom prst="ellipse">
            <a:avLst/>
          </a:prstGeom>
          <a:solidFill>
            <a:srgbClr val="F2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A4472B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47872"/>
            <a:ext cx="10500055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FFFFFF"/>
                </a:solidFill>
                <a:latin typeface="Calibri"/>
              </a:rPr>
              <a:t>Systematic reviews of good RCTs are the top of the pyramid.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370831"/>
            <a:ext cx="402336" cy="402336"/>
          </a:xfrm>
          <a:prstGeom prst="ellipse">
            <a:avLst/>
          </a:prstGeom>
          <a:solidFill>
            <a:srgbClr val="F2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A4472B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389120"/>
            <a:ext cx="10500055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FFFFFF"/>
                </a:solidFill>
                <a:latin typeface="Calibri"/>
              </a:rPr>
              <a:t>NNT = 1 ÷ ARR tells you how many patients must be treated for one to benefit.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12079"/>
            <a:ext cx="402336" cy="402336"/>
          </a:xfrm>
          <a:prstGeom prst="ellipse">
            <a:avLst/>
          </a:prstGeom>
          <a:solidFill>
            <a:srgbClr val="F2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i="0" b="1">
                <a:solidFill>
                  <a:srgbClr val="A4472B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30368"/>
            <a:ext cx="10500055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i="0" b="0">
                <a:solidFill>
                  <a:srgbClr val="FFFFFF"/>
                </a:solidFill>
                <a:latin typeface="Calibri"/>
              </a:rPr>
              <a:t>Choose the design that fits the question.</a:t>
            </a:r>
          </a:p>
        </p:txBody>
      </p:sp>
      <p:pic>
        <p:nvPicPr>
          <p:cNvPr id="14" name="Picture 13" descr="port-said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144768"/>
            <a:ext cx="548640" cy="548640"/>
          </a:xfrm>
          <a:prstGeom prst="rect">
            <a:avLst/>
          </a:prstGeom>
        </p:spPr>
      </p:pic>
      <p:pic>
        <p:nvPicPr>
          <p:cNvPr id="15" name="Picture 14" descr="faculty-of-pharm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6144768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