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protocol is the written plan of a trial. It is written and approved before the first patient joins. Everyone follows it, and the principal investigator makes sure it is followed for every participant. The protocol protects the trial from changing its question after seeing the data. It is also registered in a public trial registry before the trial starts. The SPIRIT 2025 checklist lists what a good protocol should contain.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trial tests a hypothesis: The trial never proves H0. It collects data and asks: are these results likely if H0 were true? If they are very unlikely, we reject H0. If not, we fail to reject H0. Failing to reject H0 is not proof that the drugs are equal. The trial may simply have been too small.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values are choices made in the protocol, not fixed facts. A trial with more patients has more power.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values are choices made in the protocol, not fixed facts. A trial with more patients has more power.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significant result is not always an important one. A drug may lower blood pressure by 1 mmHg with p &lt; 0.001 in a huge trial. That is statistically significant but clinically useless. Always look at the size of the effect.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Institutional Review Board (IRB), or research ethics committee, is an independent committee of doctors, pharmacists, scientists and lay members. It reviews and approves the protocol and the consent form before the trial starts. It then monitors the trial to protect the rights, safety and well-being of participants. Informed consent is a person's voluntary, documented agreement to take part. It is given after the person has been told everything they need to decide. Participants must meet the protocol's eligibility criteria and give valid consent. If a person cannot consent, for example a child or an unconscious adult, a legal representative may consent, with extra safeguards.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clinical outcome is an event caused by the disease or the treatment, such as pain relief, cure of infection or death. Some participants leave early: drop-outs or lost to follow-up. Reasons include loss of interest, moving away, side effects, protocol violations and death. Some participants stay but do not take the treatment as directed (poor compliance). Many drop-outs weaken a trial, especially if they differ between groups. Positive trials, which favour the new drug, are published more often than negative ones. This is publication bias. A well-designed negative trial is still valuable. Trial registration helps to make sure negative results are not hidden.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non-significant result means we fail to reject H0. A and B claim proof; 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The outcome and sample size are set in advance so the question cannot change after the data are seen. B, C and D are not protocol items.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Power is the chance of finding a real difference. A, B and C misread the term.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Consent must never promise benefit. A, B and D are required elements.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Secondary outcomes are pre-specified but less important. A is exploratory, C is primary, D is a safety outcome.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Failing to reject H0 does not prove the drugs are equal. (b) With only 40 patients the trial probably had low power (high risk of type II error). (c) Calculate the sample size in advance for enough power (80-90%); an equivalence or non-inferiority design would be needed to show that the drugs are equal.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C3A22"/>
                </a:solidFill>
                <a:latin typeface="Cambria"/>
              </a:rPr>
              <a:t>05</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3E6D8"/>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3E6D8"/>
                </a:solidFill>
                <a:latin typeface="Calibri"/>
              </a:rPr>
              <a:t>DRUG INFORMATION  ·  SECTION 5</a:t>
            </a:r>
          </a:p>
          <a:p>
            <a:pPr>
              <a:spcBef>
                <a:spcPts val="1400"/>
              </a:spcBef>
            </a:pPr>
            <a:r>
              <a:rPr sz="3600" i="0" b="1">
                <a:solidFill>
                  <a:srgbClr val="FFFFFF"/>
                </a:solidFill>
                <a:latin typeface="Cambria"/>
              </a:rPr>
              <a:t>The Research Protocol, Hypothesis Testing and Ethics</a:t>
            </a:r>
          </a:p>
          <a:p>
            <a:pPr>
              <a:spcBef>
                <a:spcPts val="1600"/>
              </a:spcBef>
            </a:pPr>
            <a:r>
              <a:rPr sz="2000" i="1" b="0">
                <a:solidFill>
                  <a:srgbClr val="F3E6D8"/>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3E6D8"/>
                </a:solidFill>
                <a:latin typeface="Calibri"/>
              </a:rPr>
              <a:t>45-minute practical section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GOALS</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6629400" cy="659511"/>
          </a:xfrm>
          <a:prstGeom prst="rect">
            <a:avLst/>
          </a:prstGeom>
          <a:noFill/>
        </p:spPr>
        <p:txBody>
          <a:bodyPr wrap="square" anchor="t" lIns="0" rIns="0" tIns="0" bIns="0">
            <a:spAutoFit/>
          </a:bodyPr>
          <a:lstStyle/>
          <a:p>
            <a:r>
              <a:rPr sz="2100" i="0" b="0">
                <a:solidFill>
                  <a:srgbClr val="2B211C"/>
                </a:solidFill>
                <a:latin typeface="Calibri"/>
              </a:rPr>
              <a:t>List the main contents of a trial protocol.</a:t>
            </a:r>
          </a:p>
        </p:txBody>
      </p:sp>
      <p:sp>
        <p:nvSpPr>
          <p:cNvPr id="10" name="Oval 9"/>
          <p:cNvSpPr/>
          <p:nvPr/>
        </p:nvSpPr>
        <p:spPr>
          <a:xfrm>
            <a:off x="548640" y="2323719"/>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342007"/>
            <a:ext cx="6629400" cy="992885"/>
          </a:xfrm>
          <a:prstGeom prst="rect">
            <a:avLst/>
          </a:prstGeom>
          <a:noFill/>
        </p:spPr>
        <p:txBody>
          <a:bodyPr wrap="square" anchor="t" lIns="0" rIns="0" tIns="0" bIns="0">
            <a:spAutoFit/>
          </a:bodyPr>
          <a:lstStyle/>
          <a:p>
            <a:r>
              <a:rPr sz="2100" i="0" b="0">
                <a:solidFill>
                  <a:srgbClr val="2B211C"/>
                </a:solidFill>
                <a:latin typeface="Calibri"/>
              </a:rPr>
              <a:t>State the null hypothesis and explain type I and type II errors.</a:t>
            </a:r>
          </a:p>
        </p:txBody>
      </p:sp>
      <p:sp>
        <p:nvSpPr>
          <p:cNvPr id="12" name="Oval 11"/>
          <p:cNvSpPr/>
          <p:nvPr/>
        </p:nvSpPr>
        <p:spPr>
          <a:xfrm>
            <a:off x="548640" y="3362325"/>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3</a:t>
            </a:r>
          </a:p>
        </p:txBody>
      </p:sp>
      <p:sp>
        <p:nvSpPr>
          <p:cNvPr id="13" name="TextBox 12"/>
          <p:cNvSpPr txBox="1"/>
          <p:nvPr/>
        </p:nvSpPr>
        <p:spPr>
          <a:xfrm>
            <a:off x="1143000" y="3380613"/>
            <a:ext cx="6629400" cy="992885"/>
          </a:xfrm>
          <a:prstGeom prst="rect">
            <a:avLst/>
          </a:prstGeom>
          <a:noFill/>
        </p:spPr>
        <p:txBody>
          <a:bodyPr wrap="square" anchor="t" lIns="0" rIns="0" tIns="0" bIns="0">
            <a:spAutoFit/>
          </a:bodyPr>
          <a:lstStyle/>
          <a:p>
            <a:r>
              <a:rPr sz="2100" i="0" b="0">
                <a:solidFill>
                  <a:srgbClr val="2B211C"/>
                </a:solidFill>
                <a:latin typeface="Calibri"/>
              </a:rPr>
              <a:t>Explain alpha, power, the p-value and the 95% confidence interval in plain words.</a:t>
            </a:r>
          </a:p>
        </p:txBody>
      </p:sp>
      <p:sp>
        <p:nvSpPr>
          <p:cNvPr id="14" name="Oval 13"/>
          <p:cNvSpPr/>
          <p:nvPr/>
        </p:nvSpPr>
        <p:spPr>
          <a:xfrm>
            <a:off x="548640" y="4400931"/>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4</a:t>
            </a:r>
          </a:p>
        </p:txBody>
      </p:sp>
      <p:sp>
        <p:nvSpPr>
          <p:cNvPr id="15" name="TextBox 14"/>
          <p:cNvSpPr txBox="1"/>
          <p:nvPr/>
        </p:nvSpPr>
        <p:spPr>
          <a:xfrm>
            <a:off x="1143000" y="4419219"/>
            <a:ext cx="6629400" cy="992885"/>
          </a:xfrm>
          <a:prstGeom prst="rect">
            <a:avLst/>
          </a:prstGeom>
          <a:noFill/>
        </p:spPr>
        <p:txBody>
          <a:bodyPr wrap="square" anchor="t" lIns="0" rIns="0" tIns="0" bIns="0">
            <a:spAutoFit/>
          </a:bodyPr>
          <a:lstStyle/>
          <a:p>
            <a:r>
              <a:rPr sz="2100" i="0" b="0">
                <a:solidFill>
                  <a:srgbClr val="2B211C"/>
                </a:solidFill>
                <a:latin typeface="Calibri"/>
              </a:rPr>
              <a:t>Describe the role of the ethics committee and the elements of informed consent.</a:t>
            </a:r>
          </a:p>
        </p:txBody>
      </p:sp>
      <p:sp>
        <p:nvSpPr>
          <p:cNvPr id="16" name="Oval 15"/>
          <p:cNvSpPr/>
          <p:nvPr/>
        </p:nvSpPr>
        <p:spPr>
          <a:xfrm>
            <a:off x="548640" y="5439537"/>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5</a:t>
            </a:r>
          </a:p>
        </p:txBody>
      </p:sp>
      <p:sp>
        <p:nvSpPr>
          <p:cNvPr id="17" name="TextBox 16"/>
          <p:cNvSpPr txBox="1"/>
          <p:nvPr/>
        </p:nvSpPr>
        <p:spPr>
          <a:xfrm>
            <a:off x="1143000" y="5457825"/>
            <a:ext cx="6629400" cy="659511"/>
          </a:xfrm>
          <a:prstGeom prst="rect">
            <a:avLst/>
          </a:prstGeom>
          <a:noFill/>
        </p:spPr>
        <p:txBody>
          <a:bodyPr wrap="square" anchor="t" lIns="0" rIns="0" tIns="0" bIns="0">
            <a:spAutoFit/>
          </a:bodyPr>
          <a:lstStyle/>
          <a:p>
            <a:r>
              <a:rPr sz="2100" i="0" b="0">
                <a:solidFill>
                  <a:srgbClr val="2B211C"/>
                </a:solidFill>
                <a:latin typeface="Calibri"/>
              </a:rPr>
              <a:t>Distinguish primary from secondary outcomes.</a:t>
            </a:r>
          </a:p>
        </p:txBody>
      </p:sp>
      <p:sp>
        <p:nvSpPr>
          <p:cNvPr id="18" name="Rounded Rectangle 17"/>
          <p:cNvSpPr/>
          <p:nvPr/>
        </p:nvSpPr>
        <p:spPr>
          <a:xfrm>
            <a:off x="8366760" y="1600200"/>
            <a:ext cx="3273552" cy="4526280"/>
          </a:xfrm>
          <a:prstGeom prst="roundRect">
            <a:avLst>
              <a:gd name="adj" fmla="val 5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Protocol</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4" cy="4526280"/>
        </p:xfrm>
        <a:graphic>
          <a:graphicData uri="http://schemas.openxmlformats.org/drawingml/2006/table">
            <a:tbl>
              <a:tblPr firstRow="0" bandRow="0">
                <a:tableStyleId>{5C22544A-7EE6-4342-B048-85BDC9FD1C3A}</a:tableStyleId>
              </a:tblPr>
              <a:tblGrid>
                <a:gridCol w="3235871"/>
                <a:gridCol w="7858543"/>
              </a:tblGrid>
              <a:tr h="452628">
                <a:tc>
                  <a:txBody>
                    <a:bodyPr/>
                    <a:lstStyle/>
                    <a:p>
                      <a:r>
                        <a:rPr sz="1700" i="0" b="1">
                          <a:solidFill>
                            <a:srgbClr val="FFFFFF"/>
                          </a:solidFill>
                          <a:latin typeface="Calibri"/>
                        </a:rPr>
                        <a:t>Part of the protocol</a:t>
                      </a:r>
                    </a:p>
                  </a:txBody>
                  <a:tcPr marL="109728" marR="109728" marT="45720" marB="45720" anchor="ctr">
                    <a:solidFill>
                      <a:srgbClr val="A4472B"/>
                    </a:solidFill>
                  </a:tcPr>
                </a:tc>
                <a:tc>
                  <a:txBody>
                    <a:bodyPr/>
                    <a:lstStyle/>
                    <a:p>
                      <a:r>
                        <a:rPr sz="1700" i="0" b="1">
                          <a:solidFill>
                            <a:srgbClr val="FFFFFF"/>
                          </a:solidFill>
                          <a:latin typeface="Calibri"/>
                        </a:rPr>
                        <a:t>What it states</a:t>
                      </a:r>
                    </a:p>
                  </a:txBody>
                  <a:tcPr marL="109728" marR="109728" marT="45720" marB="45720" anchor="ctr">
                    <a:solidFill>
                      <a:srgbClr val="A4472B"/>
                    </a:solidFill>
                  </a:tcPr>
                </a:tc>
              </a:tr>
              <a:tr h="452628">
                <a:tc>
                  <a:txBody>
                    <a:bodyPr/>
                    <a:lstStyle/>
                    <a:p>
                      <a:r>
                        <a:rPr sz="1800" i="0" b="1">
                          <a:solidFill>
                            <a:srgbClr val="2B211C"/>
                          </a:solidFill>
                          <a:latin typeface="Calibri"/>
                        </a:rPr>
                        <a:t>Background and aim</a:t>
                      </a:r>
                    </a:p>
                  </a:txBody>
                  <a:tcPr marL="109728" marR="109728" marT="45720" marB="45720" anchor="ctr">
                    <a:solidFill>
                      <a:srgbClr val="FFFFFF"/>
                    </a:solidFill>
                  </a:tcPr>
                </a:tc>
                <a:tc>
                  <a:txBody>
                    <a:bodyPr/>
                    <a:lstStyle/>
                    <a:p>
                      <a:r>
                        <a:rPr sz="1800" i="0" b="0">
                          <a:solidFill>
                            <a:srgbClr val="2B211C"/>
                          </a:solidFill>
                          <a:latin typeface="Calibri"/>
                        </a:rPr>
                        <a:t>Why the trial is needed; the question</a:t>
                      </a:r>
                    </a:p>
                  </a:txBody>
                  <a:tcPr marL="109728" marR="109728" marT="45720" marB="45720" anchor="ctr">
                    <a:solidFill>
                      <a:srgbClr val="FFFFFF"/>
                    </a:solidFill>
                  </a:tcPr>
                </a:tc>
              </a:tr>
              <a:tr h="452628">
                <a:tc>
                  <a:txBody>
                    <a:bodyPr/>
                    <a:lstStyle/>
                    <a:p>
                      <a:r>
                        <a:rPr sz="1800" i="0" b="1">
                          <a:solidFill>
                            <a:srgbClr val="2B211C"/>
                          </a:solidFill>
                          <a:latin typeface="Calibri"/>
                        </a:rPr>
                        <a:t>Design</a:t>
                      </a:r>
                    </a:p>
                  </a:txBody>
                  <a:tcPr marL="109728" marR="109728" marT="45720" marB="45720" anchor="ctr">
                    <a:solidFill>
                      <a:srgbClr val="FBF3EE"/>
                    </a:solidFill>
                  </a:tcPr>
                </a:tc>
                <a:tc>
                  <a:txBody>
                    <a:bodyPr/>
                    <a:lstStyle/>
                    <a:p>
                      <a:r>
                        <a:rPr sz="1800" i="0" b="0">
                          <a:solidFill>
                            <a:srgbClr val="2B211C"/>
                          </a:solidFill>
                          <a:latin typeface="Calibri"/>
                        </a:rPr>
                        <a:t>For example a randomised, double-blind, placebo-controlled trial</a:t>
                      </a:r>
                    </a:p>
                  </a:txBody>
                  <a:tcPr marL="109728" marR="109728" marT="45720" marB="45720" anchor="ctr">
                    <a:solidFill>
                      <a:srgbClr val="FBF3EE"/>
                    </a:solidFill>
                  </a:tcPr>
                </a:tc>
              </a:tr>
              <a:tr h="452628">
                <a:tc>
                  <a:txBody>
                    <a:bodyPr/>
                    <a:lstStyle/>
                    <a:p>
                      <a:r>
                        <a:rPr sz="1800" i="0" b="1">
                          <a:solidFill>
                            <a:srgbClr val="2B211C"/>
                          </a:solidFill>
                          <a:latin typeface="Calibri"/>
                        </a:rPr>
                        <a:t>Participants</a:t>
                      </a:r>
                    </a:p>
                  </a:txBody>
                  <a:tcPr marL="109728" marR="109728" marT="45720" marB="45720" anchor="ctr">
                    <a:solidFill>
                      <a:srgbClr val="FFFFFF"/>
                    </a:solidFill>
                  </a:tcPr>
                </a:tc>
                <a:tc>
                  <a:txBody>
                    <a:bodyPr/>
                    <a:lstStyle/>
                    <a:p>
                      <a:r>
                        <a:rPr sz="1800" i="0" b="0">
                          <a:solidFill>
                            <a:srgbClr val="2B211C"/>
                          </a:solidFill>
                          <a:latin typeface="Calibri"/>
                        </a:rPr>
                        <a:t>Inclusion and exclusion criteria</a:t>
                      </a:r>
                    </a:p>
                  </a:txBody>
                  <a:tcPr marL="109728" marR="109728" marT="45720" marB="45720" anchor="ctr">
                    <a:solidFill>
                      <a:srgbClr val="FFFFFF"/>
                    </a:solidFill>
                  </a:tcPr>
                </a:tc>
              </a:tr>
              <a:tr h="452628">
                <a:tc>
                  <a:txBody>
                    <a:bodyPr/>
                    <a:lstStyle/>
                    <a:p>
                      <a:r>
                        <a:rPr sz="1800" i="0" b="1">
                          <a:solidFill>
                            <a:srgbClr val="2B211C"/>
                          </a:solidFill>
                          <a:latin typeface="Calibri"/>
                        </a:rPr>
                        <a:t>Treatments</a:t>
                      </a:r>
                    </a:p>
                  </a:txBody>
                  <a:tcPr marL="109728" marR="109728" marT="45720" marB="45720" anchor="ctr">
                    <a:solidFill>
                      <a:srgbClr val="FBF3EE"/>
                    </a:solidFill>
                  </a:tcPr>
                </a:tc>
                <a:tc>
                  <a:txBody>
                    <a:bodyPr/>
                    <a:lstStyle/>
                    <a:p>
                      <a:r>
                        <a:rPr sz="1800" i="0" b="0">
                          <a:solidFill>
                            <a:srgbClr val="2B211C"/>
                          </a:solidFill>
                          <a:latin typeface="Calibri"/>
                        </a:rPr>
                        <a:t>Drugs, doses, routes, duration</a:t>
                      </a:r>
                    </a:p>
                  </a:txBody>
                  <a:tcPr marL="109728" marR="109728" marT="45720" marB="45720" anchor="ctr">
                    <a:solidFill>
                      <a:srgbClr val="FBF3EE"/>
                    </a:solidFill>
                  </a:tcPr>
                </a:tc>
              </a:tr>
              <a:tr h="452628">
                <a:tc>
                  <a:txBody>
                    <a:bodyPr/>
                    <a:lstStyle/>
                    <a:p>
                      <a:r>
                        <a:rPr sz="1800" i="0" b="1">
                          <a:solidFill>
                            <a:srgbClr val="2B211C"/>
                          </a:solidFill>
                          <a:latin typeface="Calibri"/>
                        </a:rPr>
                        <a:t>Outcomes</a:t>
                      </a:r>
                    </a:p>
                  </a:txBody>
                  <a:tcPr marL="109728" marR="109728" marT="45720" marB="45720" anchor="ctr">
                    <a:solidFill>
                      <a:srgbClr val="FFFFFF"/>
                    </a:solidFill>
                  </a:tcPr>
                </a:tc>
                <a:tc>
                  <a:txBody>
                    <a:bodyPr/>
                    <a:lstStyle/>
                    <a:p>
                      <a:r>
                        <a:rPr sz="1800" i="0" b="0">
                          <a:solidFill>
                            <a:srgbClr val="2B211C"/>
                          </a:solidFill>
                          <a:latin typeface="Calibri"/>
                        </a:rPr>
                        <a:t>Primary and secondary outcomes, and how they are measured</a:t>
                      </a:r>
                    </a:p>
                  </a:txBody>
                  <a:tcPr marL="109728" marR="109728" marT="45720" marB="45720" anchor="ctr">
                    <a:solidFill>
                      <a:srgbClr val="FFFFFF"/>
                    </a:solidFill>
                  </a:tcPr>
                </a:tc>
              </a:tr>
              <a:tr h="452628">
                <a:tc>
                  <a:txBody>
                    <a:bodyPr/>
                    <a:lstStyle/>
                    <a:p>
                      <a:r>
                        <a:rPr sz="1800" i="0" b="1">
                          <a:solidFill>
                            <a:srgbClr val="2B211C"/>
                          </a:solidFill>
                          <a:latin typeface="Calibri"/>
                        </a:rPr>
                        <a:t>Sample size</a:t>
                      </a:r>
                    </a:p>
                  </a:txBody>
                  <a:tcPr marL="109728" marR="109728" marT="45720" marB="45720" anchor="ctr">
                    <a:solidFill>
                      <a:srgbClr val="FBF3EE"/>
                    </a:solidFill>
                  </a:tcPr>
                </a:tc>
                <a:tc>
                  <a:txBody>
                    <a:bodyPr/>
                    <a:lstStyle/>
                    <a:p>
                      <a:r>
                        <a:rPr sz="1800" i="0" b="0">
                          <a:solidFill>
                            <a:srgbClr val="2B211C"/>
                          </a:solidFill>
                          <a:latin typeface="Calibri"/>
                        </a:rPr>
                        <a:t>How many patients, and why</a:t>
                      </a:r>
                    </a:p>
                  </a:txBody>
                  <a:tcPr marL="109728" marR="109728" marT="45720" marB="45720" anchor="ctr">
                    <a:solidFill>
                      <a:srgbClr val="FBF3EE"/>
                    </a:solidFill>
                  </a:tcPr>
                </a:tc>
              </a:tr>
              <a:tr h="452628">
                <a:tc>
                  <a:txBody>
                    <a:bodyPr/>
                    <a:lstStyle/>
                    <a:p>
                      <a:r>
                        <a:rPr sz="1800" i="0" b="1">
                          <a:solidFill>
                            <a:srgbClr val="2B211C"/>
                          </a:solidFill>
                          <a:latin typeface="Calibri"/>
                        </a:rPr>
                        <a:t>Schedule</a:t>
                      </a:r>
                    </a:p>
                  </a:txBody>
                  <a:tcPr marL="109728" marR="109728" marT="45720" marB="45720" anchor="ctr">
                    <a:solidFill>
                      <a:srgbClr val="FFFFFF"/>
                    </a:solidFill>
                  </a:tcPr>
                </a:tc>
                <a:tc>
                  <a:txBody>
                    <a:bodyPr/>
                    <a:lstStyle/>
                    <a:p>
                      <a:r>
                        <a:rPr sz="1800" i="0" b="0">
                          <a:solidFill>
                            <a:srgbClr val="2B211C"/>
                          </a:solidFill>
                          <a:latin typeface="Calibri"/>
                        </a:rPr>
                        <a:t>Visits, tests and procedures</a:t>
                      </a:r>
                    </a:p>
                  </a:txBody>
                  <a:tcPr marL="109728" marR="109728" marT="45720" marB="45720" anchor="ctr">
                    <a:solidFill>
                      <a:srgbClr val="FFFFFF"/>
                    </a:solidFill>
                  </a:tcPr>
                </a:tc>
              </a:tr>
              <a:tr h="452628">
                <a:tc>
                  <a:txBody>
                    <a:bodyPr/>
                    <a:lstStyle/>
                    <a:p>
                      <a:r>
                        <a:rPr sz="1800" i="0" b="1">
                          <a:solidFill>
                            <a:srgbClr val="2B211C"/>
                          </a:solidFill>
                          <a:latin typeface="Calibri"/>
                        </a:rPr>
                        <a:t>Statistics</a:t>
                      </a:r>
                    </a:p>
                  </a:txBody>
                  <a:tcPr marL="109728" marR="109728" marT="45720" marB="45720" anchor="ctr">
                    <a:solidFill>
                      <a:srgbClr val="FBF3EE"/>
                    </a:solidFill>
                  </a:tcPr>
                </a:tc>
                <a:tc>
                  <a:txBody>
                    <a:bodyPr/>
                    <a:lstStyle/>
                    <a:p>
                      <a:r>
                        <a:rPr sz="1800" i="0" b="0">
                          <a:solidFill>
                            <a:srgbClr val="2B211C"/>
                          </a:solidFill>
                          <a:latin typeface="Calibri"/>
                        </a:rPr>
                        <a:t>How the data will be analysed</a:t>
                      </a:r>
                    </a:p>
                  </a:txBody>
                  <a:tcPr marL="109728" marR="109728" marT="45720" marB="45720" anchor="ctr">
                    <a:solidFill>
                      <a:srgbClr val="FBF3EE"/>
                    </a:solidFill>
                  </a:tcPr>
                </a:tc>
              </a:tr>
              <a:tr h="452628">
                <a:tc>
                  <a:txBody>
                    <a:bodyPr/>
                    <a:lstStyle/>
                    <a:p>
                      <a:r>
                        <a:rPr sz="1800" i="0" b="1">
                          <a:solidFill>
                            <a:srgbClr val="2B211C"/>
                          </a:solidFill>
                          <a:latin typeface="Calibri"/>
                        </a:rPr>
                        <a:t>Ethics and safety</a:t>
                      </a:r>
                    </a:p>
                  </a:txBody>
                  <a:tcPr marL="109728" marR="109728" marT="45720" marB="45720" anchor="ctr">
                    <a:solidFill>
                      <a:srgbClr val="FFFFFF"/>
                    </a:solidFill>
                  </a:tcPr>
                </a:tc>
                <a:tc>
                  <a:txBody>
                    <a:bodyPr/>
                    <a:lstStyle/>
                    <a:p>
                      <a:r>
                        <a:rPr sz="1800" i="0" b="0">
                          <a:solidFill>
                            <a:srgbClr val="2B211C"/>
                          </a:solidFill>
                          <a:latin typeface="Calibri"/>
                        </a:rPr>
                        <a:t>Consent, ADR reporting, stopping rules</a:t>
                      </a:r>
                    </a:p>
                  </a:txBody>
                  <a:tcPr marL="109728" marR="109728" marT="45720" marB="45720"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Null Hypothesis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10500055" cy="856488"/>
          </a:xfrm>
          <a:prstGeom prst="rect">
            <a:avLst/>
          </a:prstGeom>
          <a:noFill/>
        </p:spPr>
        <p:txBody>
          <a:bodyPr wrap="square" anchor="t" lIns="0" rIns="0" tIns="0" bIns="0">
            <a:spAutoFit/>
          </a:bodyPr>
          <a:lstStyle/>
          <a:p>
            <a:r>
              <a:rPr sz="2400" i="0" b="1">
                <a:solidFill>
                  <a:srgbClr val="2B211C"/>
                </a:solidFill>
                <a:latin typeface="Calibri"/>
              </a:rPr>
              <a:t>Null hypothesis (H0):</a:t>
            </a:r>
            <a:r>
              <a:rPr sz="2400" i="0" b="0">
                <a:solidFill>
                  <a:srgbClr val="2B211C"/>
                </a:solidFill>
                <a:latin typeface="Calibri"/>
              </a:rPr>
              <a:t> there is </a:t>
            </a:r>
            <a:r>
              <a:rPr sz="2400" i="0" b="1">
                <a:solidFill>
                  <a:srgbClr val="2B211C"/>
                </a:solidFill>
                <a:latin typeface="Calibri"/>
              </a:rPr>
              <a:t>no difference</a:t>
            </a:r>
            <a:r>
              <a:rPr sz="2400" i="0" b="0">
                <a:solidFill>
                  <a:srgbClr val="2B211C"/>
                </a:solidFill>
                <a:latin typeface="Calibri"/>
              </a:rPr>
              <a:t> between the treatments.</a:t>
            </a:r>
          </a:p>
        </p:txBody>
      </p:sp>
      <p:sp>
        <p:nvSpPr>
          <p:cNvPr id="10" name="Oval 9"/>
          <p:cNvSpPr/>
          <p:nvPr/>
        </p:nvSpPr>
        <p:spPr>
          <a:xfrm>
            <a:off x="548640" y="2520696"/>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538984"/>
            <a:ext cx="10500055" cy="856488"/>
          </a:xfrm>
          <a:prstGeom prst="rect">
            <a:avLst/>
          </a:prstGeom>
          <a:noFill/>
        </p:spPr>
        <p:txBody>
          <a:bodyPr wrap="square" anchor="t" lIns="0" rIns="0" tIns="0" bIns="0">
            <a:spAutoFit/>
          </a:bodyPr>
          <a:lstStyle/>
          <a:p>
            <a:r>
              <a:rPr sz="2400" i="0" b="1">
                <a:solidFill>
                  <a:srgbClr val="2B211C"/>
                </a:solidFill>
                <a:latin typeface="Calibri"/>
              </a:rPr>
              <a:t>Alternative hypothesis (H1):</a:t>
            </a:r>
            <a:r>
              <a:rPr sz="2400" i="0" b="0">
                <a:solidFill>
                  <a:srgbClr val="2B211C"/>
                </a:solidFill>
                <a:latin typeface="Calibri"/>
              </a:rPr>
              <a:t> there </a:t>
            </a:r>
            <a:r>
              <a:rPr sz="2400" i="0" b="1">
                <a:solidFill>
                  <a:srgbClr val="2B211C"/>
                </a:solidFill>
                <a:latin typeface="Calibri"/>
              </a:rPr>
              <a:t>is</a:t>
            </a:r>
            <a:r>
              <a:rPr sz="2400" i="0" b="0">
                <a:solidFill>
                  <a:srgbClr val="2B211C"/>
                </a:solidFill>
                <a:latin typeface="Calibri"/>
              </a:rPr>
              <a:t> a difference.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Two Kinds of Error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4" cy="2331720"/>
        </p:xfrm>
        <a:graphic>
          <a:graphicData uri="http://schemas.openxmlformats.org/drawingml/2006/table">
            <a:tbl>
              <a:tblPr firstRow="0" bandRow="0">
                <a:tableStyleId>{5C22544A-7EE6-4342-B048-85BDC9FD1C3A}</a:tableStyleId>
              </a:tblPr>
              <a:tblGrid>
                <a:gridCol w="3012390"/>
                <a:gridCol w="4041012"/>
                <a:gridCol w="4041012"/>
              </a:tblGrid>
              <a:tr h="777240">
                <a:tc>
                  <a:txBody>
                    <a:bodyPr/>
                    <a:lstStyle/>
                    <a:p/>
                  </a:txBody>
                  <a:tcPr marL="109728" marR="109728" marT="45720" marB="45720" anchor="ctr">
                    <a:solidFill>
                      <a:srgbClr val="A4472B"/>
                    </a:solidFill>
                  </a:tcPr>
                </a:tc>
                <a:tc>
                  <a:txBody>
                    <a:bodyPr/>
                    <a:lstStyle/>
                    <a:p>
                      <a:r>
                        <a:rPr sz="1900" i="0" b="1">
                          <a:solidFill>
                            <a:srgbClr val="FFFFFF"/>
                          </a:solidFill>
                          <a:latin typeface="Calibri"/>
                        </a:rPr>
                        <a:t>Truth: no difference (H0 true)</a:t>
                      </a:r>
                    </a:p>
                  </a:txBody>
                  <a:tcPr marL="109728" marR="109728" marT="45720" marB="45720" anchor="ctr">
                    <a:solidFill>
                      <a:srgbClr val="A4472B"/>
                    </a:solidFill>
                  </a:tcPr>
                </a:tc>
                <a:tc>
                  <a:txBody>
                    <a:bodyPr/>
                    <a:lstStyle/>
                    <a:p>
                      <a:r>
                        <a:rPr sz="1900" i="0" b="1">
                          <a:solidFill>
                            <a:srgbClr val="FFFFFF"/>
                          </a:solidFill>
                          <a:latin typeface="Calibri"/>
                        </a:rPr>
                        <a:t>Truth: real difference (H0 false)</a:t>
                      </a:r>
                    </a:p>
                  </a:txBody>
                  <a:tcPr marL="109728" marR="109728" marT="45720" marB="45720" anchor="ctr">
                    <a:solidFill>
                      <a:srgbClr val="A4472B"/>
                    </a:solidFill>
                  </a:tcPr>
                </a:tc>
              </a:tr>
              <a:tr h="777240">
                <a:tc>
                  <a:txBody>
                    <a:bodyPr/>
                    <a:lstStyle/>
                    <a:p>
                      <a:r>
                        <a:rPr sz="2000" i="0" b="1">
                          <a:solidFill>
                            <a:srgbClr val="2B211C"/>
                          </a:solidFill>
                          <a:latin typeface="Calibri"/>
                        </a:rPr>
                        <a:t>Decision: difference found</a:t>
                      </a:r>
                    </a:p>
                  </a:txBody>
                  <a:tcPr marL="109728" marR="109728" marT="45720" marB="45720" anchor="ctr">
                    <a:solidFill>
                      <a:srgbClr val="FFFFFF"/>
                    </a:solidFill>
                  </a:tcPr>
                </a:tc>
                <a:tc>
                  <a:txBody>
                    <a:bodyPr/>
                    <a:lstStyle/>
                    <a:p>
                      <a:r>
                        <a:rPr sz="2000" i="0" b="1">
                          <a:solidFill>
                            <a:srgbClr val="2B211C"/>
                          </a:solidFill>
                          <a:latin typeface="Calibri"/>
                        </a:rPr>
                        <a:t>Type I error</a:t>
                      </a:r>
                      <a:r>
                        <a:rPr sz="2000" i="0" b="0">
                          <a:solidFill>
                            <a:srgbClr val="2B211C"/>
                          </a:solidFill>
                          <a:latin typeface="Calibri"/>
                        </a:rPr>
                        <a:t> (false positive), risk = alpha</a:t>
                      </a:r>
                    </a:p>
                  </a:txBody>
                  <a:tcPr marL="109728" marR="109728" marT="45720" marB="45720" anchor="ctr">
                    <a:solidFill>
                      <a:srgbClr val="FFFFFF"/>
                    </a:solidFill>
                  </a:tcPr>
                </a:tc>
                <a:tc>
                  <a:txBody>
                    <a:bodyPr/>
                    <a:lstStyle/>
                    <a:p>
                      <a:r>
                        <a:rPr sz="2000" i="0" b="0">
                          <a:solidFill>
                            <a:srgbClr val="2B211C"/>
                          </a:solidFill>
                          <a:latin typeface="Calibri"/>
                        </a:rPr>
                        <a:t>Correct (power = 1 − beta)</a:t>
                      </a:r>
                    </a:p>
                  </a:txBody>
                  <a:tcPr marL="109728" marR="109728" marT="45720" marB="45720" anchor="ctr">
                    <a:solidFill>
                      <a:srgbClr val="FFFFFF"/>
                    </a:solidFill>
                  </a:tcPr>
                </a:tc>
              </a:tr>
              <a:tr h="777240">
                <a:tc>
                  <a:txBody>
                    <a:bodyPr/>
                    <a:lstStyle/>
                    <a:p>
                      <a:r>
                        <a:rPr sz="2000" i="0" b="1">
                          <a:solidFill>
                            <a:srgbClr val="2B211C"/>
                          </a:solidFill>
                          <a:latin typeface="Calibri"/>
                        </a:rPr>
                        <a:t>Decision: no difference found</a:t>
                      </a:r>
                    </a:p>
                  </a:txBody>
                  <a:tcPr marL="109728" marR="109728" marT="45720" marB="45720" anchor="ctr">
                    <a:solidFill>
                      <a:srgbClr val="FBF3EE"/>
                    </a:solidFill>
                  </a:tcPr>
                </a:tc>
                <a:tc>
                  <a:txBody>
                    <a:bodyPr/>
                    <a:lstStyle/>
                    <a:p>
                      <a:r>
                        <a:rPr sz="2000" i="0" b="0">
                          <a:solidFill>
                            <a:srgbClr val="2B211C"/>
                          </a:solidFill>
                          <a:latin typeface="Calibri"/>
                        </a:rPr>
                        <a:t>Correct</a:t>
                      </a:r>
                    </a:p>
                  </a:txBody>
                  <a:tcPr marL="109728" marR="109728" marT="45720" marB="45720" anchor="ctr">
                    <a:solidFill>
                      <a:srgbClr val="FBF3EE"/>
                    </a:solidFill>
                  </a:tcPr>
                </a:tc>
                <a:tc>
                  <a:txBody>
                    <a:bodyPr/>
                    <a:lstStyle/>
                    <a:p>
                      <a:r>
                        <a:rPr sz="2000" i="0" b="1">
                          <a:solidFill>
                            <a:srgbClr val="2B211C"/>
                          </a:solidFill>
                          <a:latin typeface="Calibri"/>
                        </a:rPr>
                        <a:t>Type II error</a:t>
                      </a:r>
                      <a:r>
                        <a:rPr sz="2000" i="0" b="0">
                          <a:solidFill>
                            <a:srgbClr val="2B211C"/>
                          </a:solidFill>
                          <a:latin typeface="Calibri"/>
                        </a:rPr>
                        <a:t> (false negative), risk = beta</a:t>
                      </a:r>
                    </a:p>
                  </a:txBody>
                  <a:tcPr marL="109728" marR="109728" marT="45720" marB="45720" anchor="ctr">
                    <a:solidFill>
                      <a:srgbClr val="FBF3EE"/>
                    </a:solidFill>
                  </a:tcPr>
                </a:tc>
              </a:tr>
            </a:tbl>
          </a:graphicData>
        </a:graphic>
      </p:graphicFrame>
      <p:sp>
        <p:nvSpPr>
          <p:cNvPr id="9" name="Rounded Rectangle 8"/>
          <p:cNvSpPr/>
          <p:nvPr/>
        </p:nvSpPr>
        <p:spPr>
          <a:xfrm>
            <a:off x="548640" y="4983480"/>
            <a:ext cx="11094415" cy="1234440"/>
          </a:xfrm>
          <a:prstGeom prst="roundRect">
            <a:avLst>
              <a:gd name="adj" fmla="val 6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59" y="5212080"/>
            <a:ext cx="996695" cy="310896"/>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spc="100">
                <a:solidFill>
                  <a:srgbClr val="FFFFFF"/>
                </a:solidFill>
                <a:latin typeface="Calibri"/>
              </a:rPr>
              <a:t>EXAM TIP</a:t>
            </a:r>
          </a:p>
        </p:txBody>
      </p:sp>
      <p:sp>
        <p:nvSpPr>
          <p:cNvPr id="11" name="TextBox 10"/>
          <p:cNvSpPr txBox="1"/>
          <p:nvPr/>
        </p:nvSpPr>
        <p:spPr>
          <a:xfrm>
            <a:off x="822959" y="5669280"/>
            <a:ext cx="10545775" cy="365760"/>
          </a:xfrm>
          <a:prstGeom prst="rect">
            <a:avLst/>
          </a:prstGeom>
          <a:noFill/>
        </p:spPr>
        <p:txBody>
          <a:bodyPr wrap="square" anchor="t" lIns="0" rIns="0" tIns="0" bIns="0">
            <a:spAutoFit/>
          </a:bodyPr>
          <a:lstStyle/>
          <a:p>
            <a:r>
              <a:rPr sz="1500" i="0" b="0">
                <a:solidFill>
                  <a:srgbClr val="2B211C"/>
                </a:solidFill>
                <a:latin typeface="Calibri"/>
              </a:rPr>
              <a:t>Type I = "I saw something that is not there" (false positive). Type II = "I missed something that is there" (false negative).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Two Kinds of Error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10500055" cy="1618487"/>
          </a:xfrm>
          <a:prstGeom prst="rect">
            <a:avLst/>
          </a:prstGeom>
          <a:noFill/>
        </p:spPr>
        <p:txBody>
          <a:bodyPr wrap="square" anchor="t" lIns="0" rIns="0" tIns="0" bIns="0">
            <a:spAutoFit/>
          </a:bodyPr>
          <a:lstStyle/>
          <a:p>
            <a:r>
              <a:rPr sz="2400" i="0" b="1">
                <a:solidFill>
                  <a:srgbClr val="2B211C"/>
                </a:solidFill>
                <a:latin typeface="Calibri"/>
              </a:rPr>
              <a:t>Alpha (α)</a:t>
            </a:r>
            <a:r>
              <a:rPr sz="2400" i="0" b="0">
                <a:solidFill>
                  <a:srgbClr val="2B211C"/>
                </a:solidFill>
                <a:latin typeface="Calibri"/>
              </a:rPr>
              <a:t> is the risk of a false positive that the investigators accept. It is usually set at </a:t>
            </a:r>
            <a:r>
              <a:rPr sz="2400" i="0" b="1">
                <a:solidFill>
                  <a:srgbClr val="2B211C"/>
                </a:solidFill>
                <a:latin typeface="Calibri"/>
              </a:rPr>
              <a:t>0.05 (5%)</a:t>
            </a:r>
            <a:r>
              <a:rPr sz="2400" i="0" b="0">
                <a:solidFill>
                  <a:srgbClr val="2B211C"/>
                </a:solidFill>
                <a:latin typeface="Calibri"/>
              </a:rPr>
              <a:t>. It is also called the significance level.</a:t>
            </a:r>
          </a:p>
        </p:txBody>
      </p:sp>
      <p:sp>
        <p:nvSpPr>
          <p:cNvPr id="10" name="Oval 9"/>
          <p:cNvSpPr/>
          <p:nvPr/>
        </p:nvSpPr>
        <p:spPr>
          <a:xfrm>
            <a:off x="548640" y="3282696"/>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3300984"/>
            <a:ext cx="10500055" cy="1237488"/>
          </a:xfrm>
          <a:prstGeom prst="rect">
            <a:avLst/>
          </a:prstGeom>
          <a:noFill/>
        </p:spPr>
        <p:txBody>
          <a:bodyPr wrap="square" anchor="t" lIns="0" rIns="0" tIns="0" bIns="0">
            <a:spAutoFit/>
          </a:bodyPr>
          <a:lstStyle/>
          <a:p>
            <a:r>
              <a:rPr sz="2400" i="0" b="1">
                <a:solidFill>
                  <a:srgbClr val="2B211C"/>
                </a:solidFill>
                <a:latin typeface="Calibri"/>
              </a:rPr>
              <a:t>Beta (β)</a:t>
            </a:r>
            <a:r>
              <a:rPr sz="2400" i="0" b="0">
                <a:solidFill>
                  <a:srgbClr val="2B211C"/>
                </a:solidFill>
                <a:latin typeface="Calibri"/>
              </a:rPr>
              <a:t> is the risk of a false negative. It is usually set at </a:t>
            </a:r>
            <a:r>
              <a:rPr sz="2400" i="0" b="1">
                <a:solidFill>
                  <a:srgbClr val="2B211C"/>
                </a:solidFill>
                <a:latin typeface="Calibri"/>
              </a:rPr>
              <a:t>0.10-0.20</a:t>
            </a:r>
            <a:r>
              <a:rPr sz="2400" i="0" b="0">
                <a:solidFill>
                  <a:srgbClr val="2B211C"/>
                </a:solidFill>
                <a:latin typeface="Calibri"/>
              </a:rPr>
              <a:t>.</a:t>
            </a:r>
          </a:p>
        </p:txBody>
      </p:sp>
      <p:sp>
        <p:nvSpPr>
          <p:cNvPr id="12" name="Oval 11"/>
          <p:cNvSpPr/>
          <p:nvPr/>
        </p:nvSpPr>
        <p:spPr>
          <a:xfrm>
            <a:off x="548640" y="4565903"/>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3</a:t>
            </a:r>
          </a:p>
        </p:txBody>
      </p:sp>
      <p:sp>
        <p:nvSpPr>
          <p:cNvPr id="13" name="TextBox 12"/>
          <p:cNvSpPr txBox="1"/>
          <p:nvPr/>
        </p:nvSpPr>
        <p:spPr>
          <a:xfrm>
            <a:off x="1143000" y="4584191"/>
            <a:ext cx="10500055" cy="1237488"/>
          </a:xfrm>
          <a:prstGeom prst="rect">
            <a:avLst/>
          </a:prstGeom>
          <a:noFill/>
        </p:spPr>
        <p:txBody>
          <a:bodyPr wrap="square" anchor="t" lIns="0" rIns="0" tIns="0" bIns="0">
            <a:spAutoFit/>
          </a:bodyPr>
          <a:lstStyle/>
          <a:p>
            <a:r>
              <a:rPr sz="2400" i="0" b="1">
                <a:solidFill>
                  <a:srgbClr val="2B211C"/>
                </a:solidFill>
                <a:latin typeface="Calibri"/>
              </a:rPr>
              <a:t>Power</a:t>
            </a:r>
            <a:r>
              <a:rPr sz="2400" i="0" b="0">
                <a:solidFill>
                  <a:srgbClr val="2B211C"/>
                </a:solidFill>
                <a:latin typeface="Calibri"/>
              </a:rPr>
              <a:t> = 1 − β, usually </a:t>
            </a:r>
            <a:r>
              <a:rPr sz="2400" i="0" b="1">
                <a:solidFill>
                  <a:srgbClr val="2B211C"/>
                </a:solidFill>
                <a:latin typeface="Calibri"/>
              </a:rPr>
              <a:t>80-90%</a:t>
            </a:r>
            <a:r>
              <a:rPr sz="2400" i="0" b="0">
                <a:solidFill>
                  <a:srgbClr val="2B211C"/>
                </a:solidFill>
                <a:latin typeface="Calibri"/>
              </a:rPr>
              <a:t>. It is the chance of finding a real difference if one exists.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p-value and Confidence Interval</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10500055" cy="1618487"/>
          </a:xfrm>
          <a:prstGeom prst="rect">
            <a:avLst/>
          </a:prstGeom>
          <a:noFill/>
        </p:spPr>
        <p:txBody>
          <a:bodyPr wrap="square" anchor="t" lIns="0" rIns="0" tIns="0" bIns="0">
            <a:spAutoFit/>
          </a:bodyPr>
          <a:lstStyle/>
          <a:p>
            <a:r>
              <a:rPr sz="2400" i="0" b="0">
                <a:solidFill>
                  <a:srgbClr val="2B211C"/>
                </a:solidFill>
                <a:latin typeface="Calibri"/>
              </a:rPr>
              <a:t>The </a:t>
            </a:r>
            <a:r>
              <a:rPr sz="2400" i="0" b="1">
                <a:solidFill>
                  <a:srgbClr val="2B211C"/>
                </a:solidFill>
                <a:latin typeface="Calibri"/>
              </a:rPr>
              <a:t>p-value</a:t>
            </a:r>
            <a:r>
              <a:rPr sz="2400" i="0" b="0">
                <a:solidFill>
                  <a:srgbClr val="2B211C"/>
                </a:solidFill>
                <a:latin typeface="Calibri"/>
              </a:rPr>
              <a:t> is the probability of results at least this extreme if H0 were true. If p &lt; alpha (usually 0.05), we call the result </a:t>
            </a:r>
            <a:r>
              <a:rPr sz="2400" i="0" b="1">
                <a:solidFill>
                  <a:srgbClr val="2B211C"/>
                </a:solidFill>
                <a:latin typeface="Calibri"/>
              </a:rPr>
              <a:t>statistically significant</a:t>
            </a:r>
            <a:r>
              <a:rPr sz="2400" i="0" b="0">
                <a:solidFill>
                  <a:srgbClr val="2B211C"/>
                </a:solidFill>
                <a:latin typeface="Calibri"/>
              </a:rPr>
              <a:t>.</a:t>
            </a:r>
          </a:p>
        </p:txBody>
      </p:sp>
      <p:sp>
        <p:nvSpPr>
          <p:cNvPr id="10" name="Oval 9"/>
          <p:cNvSpPr/>
          <p:nvPr/>
        </p:nvSpPr>
        <p:spPr>
          <a:xfrm>
            <a:off x="548640" y="3282696"/>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3300984"/>
            <a:ext cx="10500055" cy="1999488"/>
          </a:xfrm>
          <a:prstGeom prst="rect">
            <a:avLst/>
          </a:prstGeom>
          <a:noFill/>
        </p:spPr>
        <p:txBody>
          <a:bodyPr wrap="square" anchor="t" lIns="0" rIns="0" tIns="0" bIns="0">
            <a:spAutoFit/>
          </a:bodyPr>
          <a:lstStyle/>
          <a:p>
            <a:r>
              <a:rPr sz="2400" i="0" b="0">
                <a:solidFill>
                  <a:srgbClr val="2B211C"/>
                </a:solidFill>
                <a:latin typeface="Calibri"/>
              </a:rPr>
              <a:t>The </a:t>
            </a:r>
            <a:r>
              <a:rPr sz="2400" i="0" b="1">
                <a:solidFill>
                  <a:srgbClr val="2B211C"/>
                </a:solidFill>
                <a:latin typeface="Calibri"/>
              </a:rPr>
              <a:t>95% confidence interval (CI)</a:t>
            </a:r>
            <a:r>
              <a:rPr sz="2400" i="0" b="0">
                <a:solidFill>
                  <a:srgbClr val="2B211C"/>
                </a:solidFill>
                <a:latin typeface="Calibri"/>
              </a:rPr>
              <a:t> is the range that probably contains the true effect. A narrow CI means a precise result. If the CI for a difference crosses 0 (or crosses 1 for a ratio), the result is not significant.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Ethics: The IRB and Informed Consent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8</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4" cy="4526280"/>
        </p:xfrm>
        <a:graphic>
          <a:graphicData uri="http://schemas.openxmlformats.org/drawingml/2006/table">
            <a:tbl>
              <a:tblPr firstRow="0" bandRow="0">
                <a:tableStyleId>{5C22544A-7EE6-4342-B048-85BDC9FD1C3A}</a:tableStyleId>
              </a:tblPr>
              <a:tblGrid>
                <a:gridCol w="3241065"/>
                <a:gridCol w="7853349"/>
              </a:tblGrid>
              <a:tr h="502920">
                <a:tc>
                  <a:txBody>
                    <a:bodyPr/>
                    <a:lstStyle/>
                    <a:p>
                      <a:r>
                        <a:rPr sz="1700" i="0" b="1">
                          <a:solidFill>
                            <a:srgbClr val="FFFFFF"/>
                          </a:solidFill>
                          <a:latin typeface="Calibri"/>
                        </a:rPr>
                        <a:t>Element of consent</a:t>
                      </a:r>
                    </a:p>
                  </a:txBody>
                  <a:tcPr marL="109728" marR="109728" marT="45720" marB="45720" anchor="ctr">
                    <a:solidFill>
                      <a:srgbClr val="A4472B"/>
                    </a:solidFill>
                  </a:tcPr>
                </a:tc>
                <a:tc>
                  <a:txBody>
                    <a:bodyPr/>
                    <a:lstStyle/>
                    <a:p>
                      <a:r>
                        <a:rPr sz="1700" i="0" b="1">
                          <a:solidFill>
                            <a:srgbClr val="FFFFFF"/>
                          </a:solidFill>
                          <a:latin typeface="Calibri"/>
                        </a:rPr>
                        <a:t>The participant is told</a:t>
                      </a:r>
                    </a:p>
                  </a:txBody>
                  <a:tcPr marL="109728" marR="109728" marT="45720" marB="45720" anchor="ctr">
                    <a:solidFill>
                      <a:srgbClr val="A4472B"/>
                    </a:solidFill>
                  </a:tcPr>
                </a:tc>
              </a:tr>
              <a:tr h="502920">
                <a:tc>
                  <a:txBody>
                    <a:bodyPr/>
                    <a:lstStyle/>
                    <a:p>
                      <a:r>
                        <a:rPr sz="1800" i="0" b="1">
                          <a:solidFill>
                            <a:srgbClr val="2B211C"/>
                          </a:solidFill>
                          <a:latin typeface="Calibri"/>
                        </a:rPr>
                        <a:t>Description</a:t>
                      </a:r>
                    </a:p>
                  </a:txBody>
                  <a:tcPr marL="109728" marR="109728" marT="45720" marB="45720" anchor="ctr">
                    <a:solidFill>
                      <a:srgbClr val="FFFFFF"/>
                    </a:solidFill>
                  </a:tcPr>
                </a:tc>
                <a:tc>
                  <a:txBody>
                    <a:bodyPr/>
                    <a:lstStyle/>
                    <a:p>
                      <a:r>
                        <a:rPr sz="1800" i="0" b="0">
                          <a:solidFill>
                            <a:srgbClr val="2B211C"/>
                          </a:solidFill>
                          <a:latin typeface="Calibri"/>
                        </a:rPr>
                        <a:t>The purpose of the research and what will happen</a:t>
                      </a:r>
                    </a:p>
                  </a:txBody>
                  <a:tcPr marL="109728" marR="109728" marT="45720" marB="45720" anchor="ctr">
                    <a:solidFill>
                      <a:srgbClr val="FFFFFF"/>
                    </a:solidFill>
                  </a:tcPr>
                </a:tc>
              </a:tr>
              <a:tr h="502920">
                <a:tc>
                  <a:txBody>
                    <a:bodyPr/>
                    <a:lstStyle/>
                    <a:p>
                      <a:r>
                        <a:rPr sz="1800" i="0" b="1">
                          <a:solidFill>
                            <a:srgbClr val="2B211C"/>
                          </a:solidFill>
                          <a:latin typeface="Calibri"/>
                        </a:rPr>
                        <a:t>Procedures</a:t>
                      </a:r>
                    </a:p>
                  </a:txBody>
                  <a:tcPr marL="109728" marR="109728" marT="45720" marB="45720" anchor="ctr">
                    <a:solidFill>
                      <a:srgbClr val="FBF3EE"/>
                    </a:solidFill>
                  </a:tcPr>
                </a:tc>
                <a:tc>
                  <a:txBody>
                    <a:bodyPr/>
                    <a:lstStyle/>
                    <a:p>
                      <a:r>
                        <a:rPr sz="1800" i="0" b="0">
                          <a:solidFill>
                            <a:srgbClr val="2B211C"/>
                          </a:solidFill>
                          <a:latin typeface="Calibri"/>
                        </a:rPr>
                        <a:t>Tests, visits and how long it lasts</a:t>
                      </a:r>
                    </a:p>
                  </a:txBody>
                  <a:tcPr marL="109728" marR="109728" marT="45720" marB="45720" anchor="ctr">
                    <a:solidFill>
                      <a:srgbClr val="FBF3EE"/>
                    </a:solidFill>
                  </a:tcPr>
                </a:tc>
              </a:tr>
              <a:tr h="502920">
                <a:tc>
                  <a:txBody>
                    <a:bodyPr/>
                    <a:lstStyle/>
                    <a:p>
                      <a:r>
                        <a:rPr sz="1800" i="0" b="1">
                          <a:solidFill>
                            <a:srgbClr val="2B211C"/>
                          </a:solidFill>
                          <a:latin typeface="Calibri"/>
                        </a:rPr>
                        <a:t>Risks</a:t>
                      </a:r>
                    </a:p>
                  </a:txBody>
                  <a:tcPr marL="109728" marR="109728" marT="45720" marB="45720" anchor="ctr">
                    <a:solidFill>
                      <a:srgbClr val="FFFFFF"/>
                    </a:solidFill>
                  </a:tcPr>
                </a:tc>
                <a:tc>
                  <a:txBody>
                    <a:bodyPr/>
                    <a:lstStyle/>
                    <a:p>
                      <a:r>
                        <a:rPr sz="1800" i="0" b="0">
                          <a:solidFill>
                            <a:srgbClr val="2B211C"/>
                          </a:solidFill>
                          <a:latin typeface="Calibri"/>
                        </a:rPr>
                        <a:t>Possible harms and discomforts</a:t>
                      </a:r>
                    </a:p>
                  </a:txBody>
                  <a:tcPr marL="109728" marR="109728" marT="45720" marB="45720" anchor="ctr">
                    <a:solidFill>
                      <a:srgbClr val="FFFFFF"/>
                    </a:solidFill>
                  </a:tcPr>
                </a:tc>
              </a:tr>
              <a:tr h="502920">
                <a:tc>
                  <a:txBody>
                    <a:bodyPr/>
                    <a:lstStyle/>
                    <a:p>
                      <a:r>
                        <a:rPr sz="1800" i="0" b="1">
                          <a:solidFill>
                            <a:srgbClr val="2B211C"/>
                          </a:solidFill>
                          <a:latin typeface="Calibri"/>
                        </a:rPr>
                        <a:t>Benefits</a:t>
                      </a:r>
                    </a:p>
                  </a:txBody>
                  <a:tcPr marL="109728" marR="109728" marT="45720" marB="45720" anchor="ctr">
                    <a:solidFill>
                      <a:srgbClr val="FBF3EE"/>
                    </a:solidFill>
                  </a:tcPr>
                </a:tc>
                <a:tc>
                  <a:txBody>
                    <a:bodyPr/>
                    <a:lstStyle/>
                    <a:p>
                      <a:r>
                        <a:rPr sz="1800" i="0" b="0">
                          <a:solidFill>
                            <a:srgbClr val="2B211C"/>
                          </a:solidFill>
                          <a:latin typeface="Calibri"/>
                        </a:rPr>
                        <a:t>Possible benefits to them or to others</a:t>
                      </a:r>
                    </a:p>
                  </a:txBody>
                  <a:tcPr marL="109728" marR="109728" marT="45720" marB="45720" anchor="ctr">
                    <a:solidFill>
                      <a:srgbClr val="FBF3EE"/>
                    </a:solidFill>
                  </a:tcPr>
                </a:tc>
              </a:tr>
              <a:tr h="502920">
                <a:tc>
                  <a:txBody>
                    <a:bodyPr/>
                    <a:lstStyle/>
                    <a:p>
                      <a:r>
                        <a:rPr sz="1800" i="0" b="1">
                          <a:solidFill>
                            <a:srgbClr val="2B211C"/>
                          </a:solidFill>
                          <a:latin typeface="Calibri"/>
                        </a:rPr>
                        <a:t>Alternatives</a:t>
                      </a:r>
                    </a:p>
                  </a:txBody>
                  <a:tcPr marL="109728" marR="109728" marT="45720" marB="45720" anchor="ctr">
                    <a:solidFill>
                      <a:srgbClr val="FFFFFF"/>
                    </a:solidFill>
                  </a:tcPr>
                </a:tc>
                <a:tc>
                  <a:txBody>
                    <a:bodyPr/>
                    <a:lstStyle/>
                    <a:p>
                      <a:r>
                        <a:rPr sz="1800" i="0" b="0">
                          <a:solidFill>
                            <a:srgbClr val="2B211C"/>
                          </a:solidFill>
                          <a:latin typeface="Calibri"/>
                        </a:rPr>
                        <a:t>Other treatments available</a:t>
                      </a:r>
                    </a:p>
                  </a:txBody>
                  <a:tcPr marL="109728" marR="109728" marT="45720" marB="45720" anchor="ctr">
                    <a:solidFill>
                      <a:srgbClr val="FFFFFF"/>
                    </a:solidFill>
                  </a:tcPr>
                </a:tc>
              </a:tr>
              <a:tr h="502920">
                <a:tc>
                  <a:txBody>
                    <a:bodyPr/>
                    <a:lstStyle/>
                    <a:p>
                      <a:r>
                        <a:rPr sz="1800" i="0" b="1">
                          <a:solidFill>
                            <a:srgbClr val="2B211C"/>
                          </a:solidFill>
                          <a:latin typeface="Calibri"/>
                        </a:rPr>
                        <a:t>Confidentiality</a:t>
                      </a:r>
                    </a:p>
                  </a:txBody>
                  <a:tcPr marL="109728" marR="109728" marT="45720" marB="45720" anchor="ctr">
                    <a:solidFill>
                      <a:srgbClr val="FBF3EE"/>
                    </a:solidFill>
                  </a:tcPr>
                </a:tc>
                <a:tc>
                  <a:txBody>
                    <a:bodyPr/>
                    <a:lstStyle/>
                    <a:p>
                      <a:r>
                        <a:rPr sz="1800" i="0" b="0">
                          <a:solidFill>
                            <a:srgbClr val="2B211C"/>
                          </a:solidFill>
                          <a:latin typeface="Calibri"/>
                        </a:rPr>
                        <a:t>How their data are protected</a:t>
                      </a:r>
                    </a:p>
                  </a:txBody>
                  <a:tcPr marL="109728" marR="109728" marT="45720" marB="45720" anchor="ctr">
                    <a:solidFill>
                      <a:srgbClr val="FBF3EE"/>
                    </a:solidFill>
                  </a:tcPr>
                </a:tc>
              </a:tr>
              <a:tr h="502920">
                <a:tc>
                  <a:txBody>
                    <a:bodyPr/>
                    <a:lstStyle/>
                    <a:p>
                      <a:r>
                        <a:rPr sz="1800" i="0" b="1">
                          <a:solidFill>
                            <a:srgbClr val="2B211C"/>
                          </a:solidFill>
                          <a:latin typeface="Calibri"/>
                        </a:rPr>
                        <a:t>Contacts</a:t>
                      </a:r>
                    </a:p>
                  </a:txBody>
                  <a:tcPr marL="109728" marR="109728" marT="45720" marB="45720" anchor="ctr">
                    <a:solidFill>
                      <a:srgbClr val="FFFFFF"/>
                    </a:solidFill>
                  </a:tcPr>
                </a:tc>
                <a:tc>
                  <a:txBody>
                    <a:bodyPr/>
                    <a:lstStyle/>
                    <a:p>
                      <a:r>
                        <a:rPr sz="1800" i="0" b="0">
                          <a:solidFill>
                            <a:srgbClr val="2B211C"/>
                          </a:solidFill>
                          <a:latin typeface="Calibri"/>
                        </a:rPr>
                        <a:t>Whom to call with questions or problems</a:t>
                      </a:r>
                    </a:p>
                  </a:txBody>
                  <a:tcPr marL="109728" marR="109728" marT="45720" marB="45720" anchor="ctr">
                    <a:solidFill>
                      <a:srgbClr val="FFFFFF"/>
                    </a:solidFill>
                  </a:tcPr>
                </a:tc>
              </a:tr>
              <a:tr h="502920">
                <a:tc>
                  <a:txBody>
                    <a:bodyPr/>
                    <a:lstStyle/>
                    <a:p>
                      <a:r>
                        <a:rPr sz="1800" i="0" b="1">
                          <a:solidFill>
                            <a:srgbClr val="2B211C"/>
                          </a:solidFill>
                          <a:latin typeface="Calibri"/>
                        </a:rPr>
                        <a:t>Voluntary</a:t>
                      </a:r>
                    </a:p>
                  </a:txBody>
                  <a:tcPr marL="109728" marR="109728" marT="45720" marB="45720" anchor="ctr">
                    <a:solidFill>
                      <a:srgbClr val="FBF3EE"/>
                    </a:solidFill>
                  </a:tcPr>
                </a:tc>
                <a:tc>
                  <a:txBody>
                    <a:bodyPr/>
                    <a:lstStyle/>
                    <a:p>
                      <a:r>
                        <a:rPr sz="1800" i="0" b="0">
                          <a:solidFill>
                            <a:srgbClr val="2B211C"/>
                          </a:solidFill>
                          <a:latin typeface="Calibri"/>
                        </a:rPr>
                        <a:t>They can refuse or withdraw at any time without penalty</a:t>
                      </a:r>
                    </a:p>
                  </a:txBody>
                  <a:tcPr marL="109728" marR="109728" marT="45720" marB="45720" anchor="ctr">
                    <a:solidFill>
                      <a:srgbClr val="FB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Outcomes and Drop-outs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9</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10500055" cy="1237488"/>
          </a:xfrm>
          <a:prstGeom prst="rect">
            <a:avLst/>
          </a:prstGeom>
          <a:noFill/>
        </p:spPr>
        <p:txBody>
          <a:bodyPr wrap="square" anchor="t" lIns="0" rIns="0" tIns="0" bIns="0">
            <a:spAutoFit/>
          </a:bodyPr>
          <a:lstStyle/>
          <a:p>
            <a:r>
              <a:rPr sz="2400" i="0" b="0">
                <a:solidFill>
                  <a:srgbClr val="2B211C"/>
                </a:solidFill>
                <a:latin typeface="Calibri"/>
              </a:rPr>
              <a:t>The </a:t>
            </a:r>
            <a:r>
              <a:rPr sz="2400" i="0" b="1">
                <a:solidFill>
                  <a:srgbClr val="2B211C"/>
                </a:solidFill>
                <a:latin typeface="Calibri"/>
              </a:rPr>
              <a:t>primary outcome</a:t>
            </a:r>
            <a:r>
              <a:rPr sz="2400" i="0" b="0">
                <a:solidFill>
                  <a:srgbClr val="2B211C"/>
                </a:solidFill>
                <a:latin typeface="Calibri"/>
              </a:rPr>
              <a:t> is the main outcome, chosen before the trial starts. The sample size is based on it.</a:t>
            </a:r>
          </a:p>
        </p:txBody>
      </p:sp>
      <p:sp>
        <p:nvSpPr>
          <p:cNvPr id="10" name="Oval 9"/>
          <p:cNvSpPr/>
          <p:nvPr/>
        </p:nvSpPr>
        <p:spPr>
          <a:xfrm>
            <a:off x="548640" y="2901696"/>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919984"/>
            <a:ext cx="10500055" cy="1237488"/>
          </a:xfrm>
          <a:prstGeom prst="rect">
            <a:avLst/>
          </a:prstGeom>
          <a:noFill/>
        </p:spPr>
        <p:txBody>
          <a:bodyPr wrap="square" anchor="t" lIns="0" rIns="0" tIns="0" bIns="0">
            <a:spAutoFit/>
          </a:bodyPr>
          <a:lstStyle/>
          <a:p>
            <a:r>
              <a:rPr sz="2400" i="0" b="1">
                <a:solidFill>
                  <a:srgbClr val="2B211C"/>
                </a:solidFill>
                <a:latin typeface="Calibri"/>
              </a:rPr>
              <a:t>Secondary outcomes</a:t>
            </a:r>
            <a:r>
              <a:rPr sz="2400" i="0" b="0">
                <a:solidFill>
                  <a:srgbClr val="2B211C"/>
                </a:solidFill>
                <a:latin typeface="Calibri"/>
              </a:rPr>
              <a:t> are also chosen in advance but are less important.</a:t>
            </a:r>
          </a:p>
        </p:txBody>
      </p:sp>
      <p:sp>
        <p:nvSpPr>
          <p:cNvPr id="12" name="Oval 11"/>
          <p:cNvSpPr/>
          <p:nvPr/>
        </p:nvSpPr>
        <p:spPr>
          <a:xfrm>
            <a:off x="548640" y="4184903"/>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3</a:t>
            </a:r>
          </a:p>
        </p:txBody>
      </p:sp>
      <p:sp>
        <p:nvSpPr>
          <p:cNvPr id="13" name="TextBox 12"/>
          <p:cNvSpPr txBox="1"/>
          <p:nvPr/>
        </p:nvSpPr>
        <p:spPr>
          <a:xfrm>
            <a:off x="1143000" y="4203192"/>
            <a:ext cx="10500055" cy="1237488"/>
          </a:xfrm>
          <a:prstGeom prst="rect">
            <a:avLst/>
          </a:prstGeom>
          <a:noFill/>
        </p:spPr>
        <p:txBody>
          <a:bodyPr wrap="square" anchor="t" lIns="0" rIns="0" tIns="0" bIns="0">
            <a:spAutoFit/>
          </a:bodyPr>
          <a:lstStyle/>
          <a:p>
            <a:r>
              <a:rPr sz="2400" i="0" b="0">
                <a:solidFill>
                  <a:srgbClr val="2B211C"/>
                </a:solidFill>
                <a:latin typeface="Calibri"/>
              </a:rPr>
              <a:t>Outcomes chosen only after seeing the data are </a:t>
            </a:r>
            <a:r>
              <a:rPr sz="2400" i="0" b="1">
                <a:solidFill>
                  <a:srgbClr val="2B211C"/>
                </a:solidFill>
                <a:latin typeface="Calibri"/>
              </a:rPr>
              <a:t>exploratory</a:t>
            </a:r>
            <a:r>
              <a:rPr sz="2400" i="0" b="0">
                <a:solidFill>
                  <a:srgbClr val="2B211C"/>
                </a:solidFill>
                <a:latin typeface="Calibri"/>
              </a:rPr>
              <a:t>; treat them with caution.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pPr algn="l"/>
            <a:r>
              <a:rPr sz="13000" i="0" b="1">
                <a:solidFill>
                  <a:srgbClr val="E0EEF0"/>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0EEF0"/>
                </a:solidFill>
                <a:latin typeface="Calibri"/>
              </a:rPr>
              <a:t>Section 5</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patient in a hospital trial tells the ward pharmacist she wants to stop because the tablets upset her stomach. The pharmacist explains that she may withdraw at any time, reports the side effect to the trial team, and makes sure her usual treatment continues.</a:t>
            </a:r>
          </a:p>
        </p:txBody>
      </p:sp>
      <p:sp>
        <p:nvSpPr>
          <p:cNvPr id="6" name="TextBox 5"/>
          <p:cNvSpPr txBox="1"/>
          <p:nvPr/>
        </p:nvSpPr>
        <p:spPr>
          <a:xfrm>
            <a:off x="4526280" y="6419088"/>
            <a:ext cx="5486400" cy="274320"/>
          </a:xfrm>
          <a:prstGeom prst="rect">
            <a:avLst/>
          </a:prstGeom>
          <a:noFill/>
        </p:spPr>
        <p:txBody>
          <a:bodyPr wrap="square" anchor="t" lIns="0" rIns="0" tIns="0" bIns="0">
            <a:spAutoFit/>
          </a:bodyPr>
          <a:lstStyle/>
          <a:p>
            <a:r>
              <a:rPr sz="1000" i="0" b="0">
                <a:solidFill>
                  <a:srgbClr val="6E625B"/>
                </a:solidFill>
                <a:latin typeface="Calibri"/>
              </a:rPr>
              <a:t>Drug Information  ·  The Research Protocol, Hypothesis Testing and Ethics</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10</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11</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finds no significant difference between two drugs (p = 0.30). What is the correct conclusion?</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drugs are proven equal</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null hypothesis is proven</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We fail to reject the null hypothesis</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new drug is worse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12</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finds no significant difference between two drugs (p = 0.30). What is the correct conclusion?</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drugs are proven equal</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null hypothesis is proven</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We fail to reject the null hypothesis</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The new drug is worse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non-significant result means we fail to reject H0. A and B claim proof; D is not shown.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must be fixed in the protocol before the first patient joins?</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primary outcome and the sample size</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results of the trial</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journal that will publish it</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names of the patients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14</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must be fixed in the protocol before the first patient joins?</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The primary outcome and the sample size</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results of the trial</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journal that will publish it</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The names of the patients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outcome and sample size are set in advance so the question cannot change after the data are seen. B, C and D are not protocol items.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has 80% power. What does this mean?</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80% of patients benefit</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p-value is 0.80</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drug is 80% effective</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There is an 80% chance of detecting a real difference if it exists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16</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has 80% power. What does this mean?</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80% of patients benefit</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p-value is 0.80</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drug is 80% effective</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There is an 80% chance of detecting a real difference if it exists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Power is the chance of finding a real difference. A, B and C misread the term.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an essential element of informed consent?</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risks of taking part</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right to withdraw at any time</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promise that the new drug will work</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Whom to contact with questions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18</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an essential element of informed consent?</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risks of taking part</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right to withdraw at any time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 promise that the new drug will work</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Whom to contact with questions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Consent must never promise benefit. A, B and D are required elements.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19</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secondary outcome is:</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Any finding noticed after the trial ends</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less important outcome chosen before the trial starts</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outcome used to calculate sample size</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An adverse effect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20</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secondary outcome is:</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Any finding noticed after the trial ends</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 less important outcome chosen before the trial starts</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outcome used to calculate sample size</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An adverse effect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Secondary outcomes are pre-specified but less important. A is exploratory, C is primary, D is a safety outcome.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pPr algn="l"/>
            <a:r>
              <a:rPr sz="13000" i="0" b="1">
                <a:solidFill>
                  <a:srgbClr val="F6E5DE"/>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6E5DE"/>
                </a:solidFill>
                <a:latin typeface="Calibri"/>
              </a:rPr>
              <a:t>Section 5</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trial compares a new antihypertensive with amlodipine in 40 patients. It finds p = 0.20 and concludes: "The drugs are equally effective." (a) What is wrong with this conclusion? (b) What is the likely problem with the trial? (c) What should the investigators have done in the protocol?</a:t>
            </a:r>
          </a:p>
        </p:txBody>
      </p:sp>
      <p:sp>
        <p:nvSpPr>
          <p:cNvPr id="6" name="TextBox 5"/>
          <p:cNvSpPr txBox="1"/>
          <p:nvPr/>
        </p:nvSpPr>
        <p:spPr>
          <a:xfrm>
            <a:off x="4526280" y="6419088"/>
            <a:ext cx="5486400" cy="274320"/>
          </a:xfrm>
          <a:prstGeom prst="rect">
            <a:avLst/>
          </a:prstGeom>
          <a:noFill/>
        </p:spPr>
        <p:txBody>
          <a:bodyPr wrap="square" anchor="t" lIns="0" rIns="0" tIns="0" bIns="0">
            <a:spAutoFit/>
          </a:bodyPr>
          <a:lstStyle/>
          <a:p>
            <a:r>
              <a:rPr sz="1000" i="0" b="0">
                <a:solidFill>
                  <a:srgbClr val="6E625B"/>
                </a:solidFill>
                <a:latin typeface="Calibri"/>
              </a:rPr>
              <a:t>Drug Information  ·  The Research Protocol, Hypothesis Testing and Ethics</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21</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3E6D8"/>
                </a:solidFill>
                <a:latin typeface="Calibri"/>
              </a:rPr>
              <a:t>SECTION 5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1</a:t>
            </a:r>
          </a:p>
        </p:txBody>
      </p:sp>
      <p:sp>
        <p:nvSpPr>
          <p:cNvPr id="5" name="TextBox 4"/>
          <p:cNvSpPr txBox="1"/>
          <p:nvPr/>
        </p:nvSpPr>
        <p:spPr>
          <a:xfrm>
            <a:off x="1143000" y="1865376"/>
            <a:ext cx="10500055" cy="928877"/>
          </a:xfrm>
          <a:prstGeom prst="rect">
            <a:avLst/>
          </a:prstGeom>
          <a:noFill/>
        </p:spPr>
        <p:txBody>
          <a:bodyPr wrap="square" anchor="t" lIns="0" rIns="0" tIns="0" bIns="0">
            <a:spAutoFit/>
          </a:bodyPr>
          <a:lstStyle/>
          <a:p>
            <a:r>
              <a:rPr sz="2100" i="0" b="0">
                <a:solidFill>
                  <a:srgbClr val="FFFFFF"/>
                </a:solidFill>
                <a:latin typeface="Calibri"/>
              </a:rPr>
              <a:t>The protocol is the approved plan; the principal investigator makes sure it is followed.</a:t>
            </a:r>
          </a:p>
        </p:txBody>
      </p:sp>
      <p:sp>
        <p:nvSpPr>
          <p:cNvPr id="6" name="Oval 5"/>
          <p:cNvSpPr/>
          <p:nvPr/>
        </p:nvSpPr>
        <p:spPr>
          <a:xfrm>
            <a:off x="548640" y="2821685"/>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2</a:t>
            </a:r>
          </a:p>
        </p:txBody>
      </p:sp>
      <p:sp>
        <p:nvSpPr>
          <p:cNvPr id="7" name="TextBox 6"/>
          <p:cNvSpPr txBox="1"/>
          <p:nvPr/>
        </p:nvSpPr>
        <p:spPr>
          <a:xfrm>
            <a:off x="1143000" y="2839973"/>
            <a:ext cx="10500055" cy="595502"/>
          </a:xfrm>
          <a:prstGeom prst="rect">
            <a:avLst/>
          </a:prstGeom>
          <a:noFill/>
        </p:spPr>
        <p:txBody>
          <a:bodyPr wrap="square" anchor="t" lIns="0" rIns="0" tIns="0" bIns="0">
            <a:spAutoFit/>
          </a:bodyPr>
          <a:lstStyle/>
          <a:p>
            <a:r>
              <a:rPr sz="2100" i="0" b="0">
                <a:solidFill>
                  <a:srgbClr val="FFFFFF"/>
                </a:solidFill>
                <a:latin typeface="Calibri"/>
              </a:rPr>
              <a:t>A trial tests H0; it rejects it or fails to reject it, never proves it.</a:t>
            </a:r>
          </a:p>
        </p:txBody>
      </p:sp>
      <p:sp>
        <p:nvSpPr>
          <p:cNvPr id="8" name="Oval 7"/>
          <p:cNvSpPr/>
          <p:nvPr/>
        </p:nvSpPr>
        <p:spPr>
          <a:xfrm>
            <a:off x="548640" y="3462908"/>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3</a:t>
            </a:r>
          </a:p>
        </p:txBody>
      </p:sp>
      <p:sp>
        <p:nvSpPr>
          <p:cNvPr id="9" name="TextBox 8"/>
          <p:cNvSpPr txBox="1"/>
          <p:nvPr/>
        </p:nvSpPr>
        <p:spPr>
          <a:xfrm>
            <a:off x="1143000" y="3481196"/>
            <a:ext cx="10500055" cy="928877"/>
          </a:xfrm>
          <a:prstGeom prst="rect">
            <a:avLst/>
          </a:prstGeom>
          <a:noFill/>
        </p:spPr>
        <p:txBody>
          <a:bodyPr wrap="square" anchor="t" lIns="0" rIns="0" tIns="0" bIns="0">
            <a:spAutoFit/>
          </a:bodyPr>
          <a:lstStyle/>
          <a:p>
            <a:r>
              <a:rPr sz="2100" i="0" b="0">
                <a:solidFill>
                  <a:srgbClr val="FFFFFF"/>
                </a:solidFill>
                <a:latin typeface="Calibri"/>
              </a:rPr>
              <a:t>Type I = false positive (alpha, usually 5%); type II = false negative (beta); power = 1 − beta.</a:t>
            </a:r>
          </a:p>
        </p:txBody>
      </p:sp>
      <p:sp>
        <p:nvSpPr>
          <p:cNvPr id="10" name="Oval 9"/>
          <p:cNvSpPr/>
          <p:nvPr/>
        </p:nvSpPr>
        <p:spPr>
          <a:xfrm>
            <a:off x="548640" y="4437506"/>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4</a:t>
            </a:r>
          </a:p>
        </p:txBody>
      </p:sp>
      <p:sp>
        <p:nvSpPr>
          <p:cNvPr id="11" name="TextBox 10"/>
          <p:cNvSpPr txBox="1"/>
          <p:nvPr/>
        </p:nvSpPr>
        <p:spPr>
          <a:xfrm>
            <a:off x="1143000" y="4455794"/>
            <a:ext cx="10500055" cy="928877"/>
          </a:xfrm>
          <a:prstGeom prst="rect">
            <a:avLst/>
          </a:prstGeom>
          <a:noFill/>
        </p:spPr>
        <p:txBody>
          <a:bodyPr wrap="square" anchor="t" lIns="0" rIns="0" tIns="0" bIns="0">
            <a:spAutoFit/>
          </a:bodyPr>
          <a:lstStyle/>
          <a:p>
            <a:r>
              <a:rPr sz="2100" i="0" b="0">
                <a:solidFill>
                  <a:srgbClr val="FFFFFF"/>
                </a:solidFill>
                <a:latin typeface="Calibri"/>
              </a:rPr>
              <a:t>The IRB protects participants; consent must be informed, voluntary and documented.</a:t>
            </a:r>
          </a:p>
        </p:txBody>
      </p:sp>
      <p:sp>
        <p:nvSpPr>
          <p:cNvPr id="12" name="Oval 11"/>
          <p:cNvSpPr/>
          <p:nvPr/>
        </p:nvSpPr>
        <p:spPr>
          <a:xfrm>
            <a:off x="548640" y="5412104"/>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5</a:t>
            </a:r>
          </a:p>
        </p:txBody>
      </p:sp>
      <p:sp>
        <p:nvSpPr>
          <p:cNvPr id="13" name="TextBox 12"/>
          <p:cNvSpPr txBox="1"/>
          <p:nvPr/>
        </p:nvSpPr>
        <p:spPr>
          <a:xfrm>
            <a:off x="1143000" y="5430392"/>
            <a:ext cx="10500055" cy="595502"/>
          </a:xfrm>
          <a:prstGeom prst="rect">
            <a:avLst/>
          </a:prstGeom>
          <a:noFill/>
        </p:spPr>
        <p:txBody>
          <a:bodyPr wrap="square" anchor="t" lIns="0" rIns="0" tIns="0" bIns="0">
            <a:spAutoFit/>
          </a:bodyPr>
          <a:lstStyle/>
          <a:p>
            <a:r>
              <a:rPr sz="2100" i="0" b="0">
                <a:solidFill>
                  <a:srgbClr val="FFFFFF"/>
                </a:solidFill>
                <a:latin typeface="Calibri"/>
              </a:rPr>
              <a:t>The primary outcome is set before the trial and drives the sample size.</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