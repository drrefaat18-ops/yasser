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this chapter was added to this edition; it completes the trial-evaluation slides of Section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trial report is a claim, not a fact. Critical appraisal means reading it carefully to decide whether it is true, important and useful for your patient. Pharmacists do this when they answer drug information questions from primary sources (Chapter 2) and when they prepare evidence for the Drug and Therapeutics Committee. The CONSORT 2025 statement lists what a trial report should contain. Use it as your checklist.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neutral and names the design. A announces the result, B is a question, D is promotional.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Staff can predict the group and choose which patients to enrol. A, C and D are not the main problem.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ITT analyses every patient as randomised. B, C and D lose that protection.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ARR = 20% − 15% = 5%; NNT = 1 ÷ 0.05 = 20. A, B and C are miscalculations.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HbA1c is a surrogate outcome; heart attacks need their own evidence. A, B and C are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Open label with a subjective outcome; per-protocol analysis; the primary outcome was changed. Company funding is a further concern. (b) Open label lets expectations raise reported relief; per-protocol drops patients who stopped because of side effects; changing the outcome lets authors pick the best-looking result. (c) No; the evidence is weak. Look for blinded, ITT trials with a pre-set outcome.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C3A22"/>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3E6D8"/>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3E6D8"/>
                </a:solidFill>
                <a:latin typeface="Calibri"/>
              </a:rPr>
              <a:t>DRUG INFORMATION  ·  SECTION 6</a:t>
            </a:r>
          </a:p>
          <a:p>
            <a:pPr>
              <a:spcBef>
                <a:spcPts val="1400"/>
              </a:spcBef>
            </a:pPr>
            <a:r>
              <a:rPr sz="3600" i="0" b="1">
                <a:solidFill>
                  <a:srgbClr val="FFFFFF"/>
                </a:solidFill>
                <a:latin typeface="Cambria"/>
              </a:rPr>
              <a:t>Critical Appraisal of a Clinical Trial</a:t>
            </a:r>
          </a:p>
          <a:p>
            <a:pPr>
              <a:spcBef>
                <a:spcPts val="1600"/>
              </a:spcBef>
            </a:pPr>
            <a:r>
              <a:rPr sz="2000" i="1" b="0">
                <a:solidFill>
                  <a:srgbClr val="F3E6D8"/>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3E6D8"/>
                </a:solidFill>
                <a:latin typeface="Calibri"/>
              </a:rPr>
              <a:t>45-minute practical section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GOALS</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629400" cy="1142237"/>
          </a:xfrm>
          <a:prstGeom prst="rect">
            <a:avLst/>
          </a:prstGeom>
          <a:noFill/>
        </p:spPr>
        <p:txBody>
          <a:bodyPr wrap="square" anchor="t" lIns="0" rIns="0" tIns="0" bIns="0">
            <a:spAutoFit/>
          </a:bodyPr>
          <a:lstStyle/>
          <a:p>
            <a:r>
              <a:rPr sz="2100" i="0" b="0">
                <a:solidFill>
                  <a:srgbClr val="2B211C"/>
                </a:solidFill>
                <a:latin typeface="Calibri"/>
              </a:rPr>
              <a:t>Judge the title, abstract and introduction of a trial report.</a:t>
            </a:r>
          </a:p>
        </p:txBody>
      </p:sp>
      <p:sp>
        <p:nvSpPr>
          <p:cNvPr id="10" name="Oval 9"/>
          <p:cNvSpPr/>
          <p:nvPr/>
        </p:nvSpPr>
        <p:spPr>
          <a:xfrm>
            <a:off x="548640" y="2806445"/>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824733"/>
            <a:ext cx="6629400" cy="808863"/>
          </a:xfrm>
          <a:prstGeom prst="rect">
            <a:avLst/>
          </a:prstGeom>
          <a:noFill/>
        </p:spPr>
        <p:txBody>
          <a:bodyPr wrap="square" anchor="t" lIns="0" rIns="0" tIns="0" bIns="0">
            <a:spAutoFit/>
          </a:bodyPr>
          <a:lstStyle/>
          <a:p>
            <a:r>
              <a:rPr sz="2100" i="0" b="0">
                <a:solidFill>
                  <a:srgbClr val="2B211C"/>
                </a:solidFill>
                <a:latin typeface="Calibri"/>
              </a:rPr>
              <a:t>Check the methods of a trial for bias.</a:t>
            </a:r>
          </a:p>
        </p:txBody>
      </p:sp>
      <p:sp>
        <p:nvSpPr>
          <p:cNvPr id="12" name="Oval 11"/>
          <p:cNvSpPr/>
          <p:nvPr/>
        </p:nvSpPr>
        <p:spPr>
          <a:xfrm>
            <a:off x="548640" y="366102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679316"/>
            <a:ext cx="6629400" cy="1142237"/>
          </a:xfrm>
          <a:prstGeom prst="rect">
            <a:avLst/>
          </a:prstGeom>
          <a:noFill/>
        </p:spPr>
        <p:txBody>
          <a:bodyPr wrap="square" anchor="t" lIns="0" rIns="0" tIns="0" bIns="0">
            <a:spAutoFit/>
          </a:bodyPr>
          <a:lstStyle/>
          <a:p>
            <a:r>
              <a:rPr sz="2100" i="0" b="0">
                <a:solidFill>
                  <a:srgbClr val="2B211C"/>
                </a:solidFill>
                <a:latin typeface="Calibri"/>
              </a:rPr>
              <a:t>Read the results using intention-to-treat, effect size and NNT.</a:t>
            </a:r>
          </a:p>
        </p:txBody>
      </p:sp>
      <p:sp>
        <p:nvSpPr>
          <p:cNvPr id="14" name="Oval 13"/>
          <p:cNvSpPr/>
          <p:nvPr/>
        </p:nvSpPr>
        <p:spPr>
          <a:xfrm>
            <a:off x="548640" y="484898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867274"/>
            <a:ext cx="6629400" cy="1142237"/>
          </a:xfrm>
          <a:prstGeom prst="rect">
            <a:avLst/>
          </a:prstGeom>
          <a:noFill/>
        </p:spPr>
        <p:txBody>
          <a:bodyPr wrap="square" anchor="t" lIns="0" rIns="0" tIns="0" bIns="0">
            <a:spAutoFit/>
          </a:bodyPr>
          <a:lstStyle/>
          <a:p>
            <a:r>
              <a:rPr sz="2100" i="0" b="0">
                <a:solidFill>
                  <a:srgbClr val="2B211C"/>
                </a:solidFill>
                <a:latin typeface="Calibri"/>
              </a:rPr>
              <a:t>Decide whether a trial's conclusion applies to your patient.</a:t>
            </a:r>
          </a:p>
        </p:txBody>
      </p:sp>
      <p:sp>
        <p:nvSpPr>
          <p:cNvPr id="16" name="Rounded Rectangle 15"/>
          <p:cNvSpPr/>
          <p:nvPr/>
        </p:nvSpPr>
        <p:spPr>
          <a:xfrm>
            <a:off x="8366760" y="1600200"/>
            <a:ext cx="3273552" cy="4526280"/>
          </a:xfrm>
          <a:prstGeom prst="roundRect">
            <a:avLst>
              <a:gd name="adj" fmla="val 5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Appraise?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856488"/>
          </a:xfrm>
          <a:prstGeom prst="rect">
            <a:avLst/>
          </a:prstGeom>
          <a:noFill/>
        </p:spPr>
        <p:txBody>
          <a:bodyPr wrap="square" anchor="t" lIns="0" rIns="0" tIns="0" bIns="0">
            <a:spAutoFit/>
          </a:bodyPr>
          <a:lstStyle/>
          <a:p>
            <a:r>
              <a:rPr sz="2400" i="0" b="0">
                <a:solidFill>
                  <a:srgbClr val="2B211C"/>
                </a:solidFill>
                <a:latin typeface="Calibri"/>
              </a:rPr>
              <a:t>A trial report is a claim, not a fact.</a:t>
            </a:r>
          </a:p>
        </p:txBody>
      </p:sp>
      <p:sp>
        <p:nvSpPr>
          <p:cNvPr id="10" name="Oval 9"/>
          <p:cNvSpPr/>
          <p:nvPr/>
        </p:nvSpPr>
        <p:spPr>
          <a:xfrm>
            <a:off x="548640" y="2520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538984"/>
            <a:ext cx="10500055" cy="856488"/>
          </a:xfrm>
          <a:prstGeom prst="rect">
            <a:avLst/>
          </a:prstGeom>
          <a:noFill/>
        </p:spPr>
        <p:txBody>
          <a:bodyPr wrap="square" anchor="t" lIns="0" rIns="0" tIns="0" bIns="0">
            <a:spAutoFit/>
          </a:bodyPr>
          <a:lstStyle/>
          <a:p>
            <a:r>
              <a:rPr sz="2400" i="0" b="0">
                <a:solidFill>
                  <a:srgbClr val="2B211C"/>
                </a:solidFill>
                <a:latin typeface="Calibri"/>
              </a:rPr>
              <a:t>The </a:t>
            </a:r>
            <a:r>
              <a:rPr sz="2400" i="0" b="1">
                <a:solidFill>
                  <a:srgbClr val="2B211C"/>
                </a:solidFill>
                <a:latin typeface="Calibri"/>
              </a:rPr>
              <a:t>CONSORT 2025</a:t>
            </a:r>
            <a:r>
              <a:rPr sz="2400" i="0" b="0">
                <a:solidFill>
                  <a:srgbClr val="2B211C"/>
                </a:solidFill>
                <a:latin typeface="Calibri"/>
              </a:rPr>
              <a:t> statement lists what a trial report should contain.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4526280"/>
        </p:xfrm>
        <a:graphic>
          <a:graphicData uri="http://schemas.openxmlformats.org/drawingml/2006/table">
            <a:tbl>
              <a:tblPr firstRow="0" bandRow="0">
                <a:tableStyleId>{5C22544A-7EE6-4342-B048-85BDC9FD1C3A}</a:tableStyleId>
              </a:tblPr>
              <a:tblGrid>
                <a:gridCol w="2550440"/>
                <a:gridCol w="4335748"/>
                <a:gridCol w="4208226"/>
              </a:tblGrid>
              <a:tr h="411480">
                <a:tc>
                  <a:txBody>
                    <a:bodyPr/>
                    <a:lstStyle/>
                    <a:p>
                      <a:r>
                        <a:rPr sz="1300" i="0" b="1">
                          <a:solidFill>
                            <a:srgbClr val="FFFFFF"/>
                          </a:solidFill>
                          <a:latin typeface="Calibri"/>
                        </a:rPr>
                        <a:t>Part</a:t>
                      </a:r>
                    </a:p>
                  </a:txBody>
                  <a:tcPr marL="109728" marR="109728" marT="45720" marB="45720" anchor="ctr">
                    <a:solidFill>
                      <a:srgbClr val="A4472B"/>
                    </a:solidFill>
                  </a:tcPr>
                </a:tc>
                <a:tc>
                  <a:txBody>
                    <a:bodyPr/>
                    <a:lstStyle/>
                    <a:p>
                      <a:r>
                        <a:rPr sz="1300" i="0" b="1">
                          <a:solidFill>
                            <a:srgbClr val="FFFFFF"/>
                          </a:solidFill>
                          <a:latin typeface="Calibri"/>
                        </a:rPr>
                        <a:t>Question to ask</a:t>
                      </a:r>
                    </a:p>
                  </a:txBody>
                  <a:tcPr marL="109728" marR="109728" marT="45720" marB="45720" anchor="ctr">
                    <a:solidFill>
                      <a:srgbClr val="A4472B"/>
                    </a:solidFill>
                  </a:tcPr>
                </a:tc>
                <a:tc>
                  <a:txBody>
                    <a:bodyPr/>
                    <a:lstStyle/>
                    <a:p>
                      <a:r>
                        <a:rPr sz="1300" i="0" b="1">
                          <a:solidFill>
                            <a:srgbClr val="FFFFFF"/>
                          </a:solidFill>
                          <a:latin typeface="Calibri"/>
                        </a:rPr>
                        <a:t>Warning sign</a:t>
                      </a:r>
                    </a:p>
                  </a:txBody>
                  <a:tcPr marL="109728" marR="109728" marT="45720" marB="45720" anchor="ctr">
                    <a:solidFill>
                      <a:srgbClr val="A4472B"/>
                    </a:solidFill>
                  </a:tcPr>
                </a:tc>
              </a:tr>
              <a:tr h="411480">
                <a:tc>
                  <a:txBody>
                    <a:bodyPr/>
                    <a:lstStyle/>
                    <a:p>
                      <a:r>
                        <a:rPr sz="1400" i="0" b="1">
                          <a:solidFill>
                            <a:srgbClr val="2B211C"/>
                          </a:solidFill>
                          <a:latin typeface="Calibri"/>
                        </a:rPr>
                        <a:t>1. Title</a:t>
                      </a:r>
                    </a:p>
                  </a:txBody>
                  <a:tcPr marL="109728" marR="109728" marT="45720" marB="45720" anchor="ctr">
                    <a:solidFill>
                      <a:srgbClr val="FFFFFF"/>
                    </a:solidFill>
                  </a:tcPr>
                </a:tc>
                <a:tc>
                  <a:txBody>
                    <a:bodyPr/>
                    <a:lstStyle/>
                    <a:p>
                      <a:r>
                        <a:rPr sz="1400" i="0" b="0">
                          <a:solidFill>
                            <a:srgbClr val="2B211C"/>
                          </a:solidFill>
                          <a:latin typeface="Calibri"/>
                        </a:rPr>
                        <a:t>Is it specific, neutral and does it say "randomised trial"?</a:t>
                      </a:r>
                    </a:p>
                  </a:txBody>
                  <a:tcPr marL="109728" marR="109728" marT="45720" marB="45720" anchor="ctr">
                    <a:solidFill>
                      <a:srgbClr val="FFFFFF"/>
                    </a:solidFill>
                  </a:tcPr>
                </a:tc>
                <a:tc>
                  <a:txBody>
                    <a:bodyPr/>
                    <a:lstStyle/>
                    <a:p>
                      <a:r>
                        <a:rPr sz="1400" i="0" b="0">
                          <a:solidFill>
                            <a:srgbClr val="2B211C"/>
                          </a:solidFill>
                          <a:latin typeface="Calibri"/>
                        </a:rPr>
                        <a:t>A title that announces the result</a:t>
                      </a:r>
                    </a:p>
                  </a:txBody>
                  <a:tcPr marL="109728" marR="109728" marT="45720" marB="45720" anchor="ctr">
                    <a:solidFill>
                      <a:srgbClr val="FFFFFF"/>
                    </a:solidFill>
                  </a:tcPr>
                </a:tc>
              </a:tr>
              <a:tr h="411480">
                <a:tc>
                  <a:txBody>
                    <a:bodyPr/>
                    <a:lstStyle/>
                    <a:p>
                      <a:r>
                        <a:rPr sz="1400" i="0" b="1">
                          <a:solidFill>
                            <a:srgbClr val="2B211C"/>
                          </a:solidFill>
                          <a:latin typeface="Calibri"/>
                        </a:rPr>
                        <a:t>2. Abstract</a:t>
                      </a:r>
                    </a:p>
                  </a:txBody>
                  <a:tcPr marL="109728" marR="109728" marT="45720" marB="45720" anchor="ctr">
                    <a:solidFill>
                      <a:srgbClr val="FBF3EE"/>
                    </a:solidFill>
                  </a:tcPr>
                </a:tc>
                <a:tc>
                  <a:txBody>
                    <a:bodyPr/>
                    <a:lstStyle/>
                    <a:p>
                      <a:r>
                        <a:rPr sz="1400" i="0" b="0">
                          <a:solidFill>
                            <a:srgbClr val="2B211C"/>
                          </a:solidFill>
                          <a:latin typeface="Calibri"/>
                        </a:rPr>
                        <a:t>Is it structured (objective, methods, results, conclusions) and within the journal's word limit?</a:t>
                      </a:r>
                    </a:p>
                  </a:txBody>
                  <a:tcPr marL="109728" marR="109728" marT="45720" marB="45720" anchor="ctr">
                    <a:solidFill>
                      <a:srgbClr val="FBF3EE"/>
                    </a:solidFill>
                  </a:tcPr>
                </a:tc>
                <a:tc>
                  <a:txBody>
                    <a:bodyPr/>
                    <a:lstStyle/>
                    <a:p>
                      <a:r>
                        <a:rPr sz="1400" i="0" b="0">
                          <a:solidFill>
                            <a:srgbClr val="2B211C"/>
                          </a:solidFill>
                          <a:latin typeface="Calibri"/>
                        </a:rPr>
                        <a:t>Conclusions not supported by the results</a:t>
                      </a:r>
                    </a:p>
                  </a:txBody>
                  <a:tcPr marL="109728" marR="109728" marT="45720" marB="45720" anchor="ctr">
                    <a:solidFill>
                      <a:srgbClr val="FBF3EE"/>
                    </a:solidFill>
                  </a:tcPr>
                </a:tc>
              </a:tr>
              <a:tr h="411480">
                <a:tc>
                  <a:txBody>
                    <a:bodyPr/>
                    <a:lstStyle/>
                    <a:p>
                      <a:r>
                        <a:rPr sz="1400" i="0" b="1">
                          <a:solidFill>
                            <a:srgbClr val="2B211C"/>
                          </a:solidFill>
                          <a:latin typeface="Calibri"/>
                        </a:rPr>
                        <a:t>3. Introduction</a:t>
                      </a:r>
                    </a:p>
                  </a:txBody>
                  <a:tcPr marL="109728" marR="109728" marT="45720" marB="45720" anchor="ctr">
                    <a:solidFill>
                      <a:srgbClr val="FFFFFF"/>
                    </a:solidFill>
                  </a:tcPr>
                </a:tc>
                <a:tc>
                  <a:txBody>
                    <a:bodyPr/>
                    <a:lstStyle/>
                    <a:p>
                      <a:r>
                        <a:rPr sz="1400" i="0" b="0">
                          <a:solidFill>
                            <a:srgbClr val="2B211C"/>
                          </a:solidFill>
                          <a:latin typeface="Calibri"/>
                        </a:rPr>
                        <a:t>Does it explain why the trial is needed and state the aim?</a:t>
                      </a:r>
                    </a:p>
                  </a:txBody>
                  <a:tcPr marL="109728" marR="109728" marT="45720" marB="45720" anchor="ctr">
                    <a:solidFill>
                      <a:srgbClr val="FFFFFF"/>
                    </a:solidFill>
                  </a:tcPr>
                </a:tc>
                <a:tc>
                  <a:txBody>
                    <a:bodyPr/>
                    <a:lstStyle/>
                    <a:p>
                      <a:r>
                        <a:rPr sz="1400" i="0" b="0">
                          <a:solidFill>
                            <a:srgbClr val="2B211C"/>
                          </a:solidFill>
                          <a:latin typeface="Calibri"/>
                        </a:rPr>
                        <a:t>No clear question</a:t>
                      </a:r>
                    </a:p>
                  </a:txBody>
                  <a:tcPr marL="109728" marR="109728" marT="45720" marB="45720" anchor="ctr">
                    <a:solidFill>
                      <a:srgbClr val="FFFFFF"/>
                    </a:solidFill>
                  </a:tcPr>
                </a:tc>
              </a:tr>
              <a:tr h="411480">
                <a:tc>
                  <a:txBody>
                    <a:bodyPr/>
                    <a:lstStyle/>
                    <a:p>
                      <a:r>
                        <a:rPr sz="1400" i="0" b="1">
                          <a:solidFill>
                            <a:srgbClr val="2B211C"/>
                          </a:solidFill>
                          <a:latin typeface="Calibri"/>
                        </a:rPr>
                        <a:t>4. Patients</a:t>
                      </a:r>
                    </a:p>
                  </a:txBody>
                  <a:tcPr marL="109728" marR="109728" marT="45720" marB="45720" anchor="ctr">
                    <a:solidFill>
                      <a:srgbClr val="FBF3EE"/>
                    </a:solidFill>
                  </a:tcPr>
                </a:tc>
                <a:tc>
                  <a:txBody>
                    <a:bodyPr/>
                    <a:lstStyle/>
                    <a:p>
                      <a:r>
                        <a:rPr sz="1400" i="0" b="0">
                          <a:solidFill>
                            <a:srgbClr val="2B211C"/>
                          </a:solidFill>
                          <a:latin typeface="Calibri"/>
                        </a:rPr>
                        <a:t>Who was included and excluded?</a:t>
                      </a:r>
                    </a:p>
                  </a:txBody>
                  <a:tcPr marL="109728" marR="109728" marT="45720" marB="45720" anchor="ctr">
                    <a:solidFill>
                      <a:srgbClr val="FBF3EE"/>
                    </a:solidFill>
                  </a:tcPr>
                </a:tc>
                <a:tc>
                  <a:txBody>
                    <a:bodyPr/>
                    <a:lstStyle/>
                    <a:p>
                      <a:r>
                        <a:rPr sz="1400" i="0" b="0">
                          <a:solidFill>
                            <a:srgbClr val="2B211C"/>
                          </a:solidFill>
                          <a:latin typeface="Calibri"/>
                        </a:rPr>
                        <a:t>Patients very unlike yours</a:t>
                      </a:r>
                    </a:p>
                  </a:txBody>
                  <a:tcPr marL="109728" marR="109728" marT="45720" marB="45720" anchor="ctr">
                    <a:solidFill>
                      <a:srgbClr val="FBF3EE"/>
                    </a:solidFill>
                  </a:tcPr>
                </a:tc>
              </a:tr>
              <a:tr h="411480">
                <a:tc>
                  <a:txBody>
                    <a:bodyPr/>
                    <a:lstStyle/>
                    <a:p>
                      <a:r>
                        <a:rPr sz="1400" i="0" b="1">
                          <a:solidFill>
                            <a:srgbClr val="2B211C"/>
                          </a:solidFill>
                          <a:latin typeface="Calibri"/>
                        </a:rPr>
                        <a:t>5. Randomisation and concealment</a:t>
                      </a:r>
                    </a:p>
                  </a:txBody>
                  <a:tcPr marL="109728" marR="109728" marT="45720" marB="45720" anchor="ctr">
                    <a:solidFill>
                      <a:srgbClr val="FFFFFF"/>
                    </a:solidFill>
                  </a:tcPr>
                </a:tc>
                <a:tc>
                  <a:txBody>
                    <a:bodyPr/>
                    <a:lstStyle/>
                    <a:p>
                      <a:r>
                        <a:rPr sz="1400" i="0" b="0">
                          <a:solidFill>
                            <a:srgbClr val="2B211C"/>
                          </a:solidFill>
                          <a:latin typeface="Calibri"/>
                        </a:rPr>
                        <a:t>How was the sequence made and hidden?</a:t>
                      </a:r>
                    </a:p>
                  </a:txBody>
                  <a:tcPr marL="109728" marR="109728" marT="45720" marB="45720" anchor="ctr">
                    <a:solidFill>
                      <a:srgbClr val="FFFFFF"/>
                    </a:solidFill>
                  </a:tcPr>
                </a:tc>
                <a:tc>
                  <a:txBody>
                    <a:bodyPr/>
                    <a:lstStyle/>
                    <a:p>
                      <a:r>
                        <a:rPr sz="1400" i="0" b="0">
                          <a:solidFill>
                            <a:srgbClr val="2B211C"/>
                          </a:solidFill>
                          <a:latin typeface="Calibri"/>
                        </a:rPr>
                        <a:t>Alternate days, open lists</a:t>
                      </a:r>
                    </a:p>
                  </a:txBody>
                  <a:tcPr marL="109728" marR="109728" marT="45720" marB="45720" anchor="ctr">
                    <a:solidFill>
                      <a:srgbClr val="FFFFFF"/>
                    </a:solidFill>
                  </a:tcPr>
                </a:tc>
              </a:tr>
              <a:tr h="411480">
                <a:tc>
                  <a:txBody>
                    <a:bodyPr/>
                    <a:lstStyle/>
                    <a:p>
                      <a:r>
                        <a:rPr sz="1400" i="0" b="1">
                          <a:solidFill>
                            <a:srgbClr val="2B211C"/>
                          </a:solidFill>
                          <a:latin typeface="Calibri"/>
                        </a:rPr>
                        <a:t>6. Blinding</a:t>
                      </a:r>
                    </a:p>
                  </a:txBody>
                  <a:tcPr marL="109728" marR="109728" marT="45720" marB="45720" anchor="ctr">
                    <a:solidFill>
                      <a:srgbClr val="FBF3EE"/>
                    </a:solidFill>
                  </a:tcPr>
                </a:tc>
                <a:tc>
                  <a:txBody>
                    <a:bodyPr/>
                    <a:lstStyle/>
                    <a:p>
                      <a:r>
                        <a:rPr sz="1400" i="0" b="0">
                          <a:solidFill>
                            <a:srgbClr val="2B211C"/>
                          </a:solidFill>
                          <a:latin typeface="Calibri"/>
                        </a:rPr>
                        <a:t>Who was blinded?</a:t>
                      </a:r>
                    </a:p>
                  </a:txBody>
                  <a:tcPr marL="109728" marR="109728" marT="45720" marB="45720" anchor="ctr">
                    <a:solidFill>
                      <a:srgbClr val="FBF3EE"/>
                    </a:solidFill>
                  </a:tcPr>
                </a:tc>
                <a:tc>
                  <a:txBody>
                    <a:bodyPr/>
                    <a:lstStyle/>
                    <a:p>
                      <a:r>
                        <a:rPr sz="1400" i="0" b="0">
                          <a:solidFill>
                            <a:srgbClr val="2B211C"/>
                          </a:solidFill>
                          <a:latin typeface="Calibri"/>
                        </a:rPr>
                        <a:t>Open label with a subjective outcome</a:t>
                      </a:r>
                    </a:p>
                  </a:txBody>
                  <a:tcPr marL="109728" marR="109728" marT="45720" marB="45720" anchor="ctr">
                    <a:solidFill>
                      <a:srgbClr val="FBF3EE"/>
                    </a:solidFill>
                  </a:tcPr>
                </a:tc>
              </a:tr>
              <a:tr h="411480">
                <a:tc>
                  <a:txBody>
                    <a:bodyPr/>
                    <a:lstStyle/>
                    <a:p>
                      <a:r>
                        <a:rPr sz="1400" i="0" b="1">
                          <a:solidFill>
                            <a:srgbClr val="2B211C"/>
                          </a:solidFill>
                          <a:latin typeface="Calibri"/>
                        </a:rPr>
                        <a:t>7. Comparator and outcomes</a:t>
                      </a:r>
                    </a:p>
                  </a:txBody>
                  <a:tcPr marL="109728" marR="109728" marT="45720" marB="45720" anchor="ctr">
                    <a:solidFill>
                      <a:srgbClr val="FFFFFF"/>
                    </a:solidFill>
                  </a:tcPr>
                </a:tc>
                <a:tc>
                  <a:txBody>
                    <a:bodyPr/>
                    <a:lstStyle/>
                    <a:p>
                      <a:r>
                        <a:rPr sz="1400" i="0" b="0">
                          <a:solidFill>
                            <a:srgbClr val="2B211C"/>
                          </a:solidFill>
                          <a:latin typeface="Calibri"/>
                        </a:rPr>
                        <a:t>Was the comparator fair? Was the primary outcome set in advance?</a:t>
                      </a:r>
                    </a:p>
                  </a:txBody>
                  <a:tcPr marL="109728" marR="109728" marT="45720" marB="45720" anchor="ctr">
                    <a:solidFill>
                      <a:srgbClr val="FFFFFF"/>
                    </a:solidFill>
                  </a:tcPr>
                </a:tc>
                <a:tc>
                  <a:txBody>
                    <a:bodyPr/>
                    <a:lstStyle/>
                    <a:p>
                      <a:r>
                        <a:rPr sz="1400" i="0" b="0">
                          <a:solidFill>
                            <a:srgbClr val="2B211C"/>
                          </a:solidFill>
                          <a:latin typeface="Calibri"/>
                        </a:rPr>
                        <a:t>Placebo when a standard drug exists; outcome changed later</a:t>
                      </a:r>
                    </a:p>
                  </a:txBody>
                  <a:tcPr marL="109728" marR="109728" marT="45720" marB="45720" anchor="ctr">
                    <a:solidFill>
                      <a:srgbClr val="FFFFFF"/>
                    </a:solidFill>
                  </a:tcPr>
                </a:tc>
              </a:tr>
              <a:tr h="411480">
                <a:tc>
                  <a:txBody>
                    <a:bodyPr/>
                    <a:lstStyle/>
                    <a:p>
                      <a:r>
                        <a:rPr sz="1400" i="0" b="1">
                          <a:solidFill>
                            <a:srgbClr val="2B211C"/>
                          </a:solidFill>
                          <a:latin typeface="Calibri"/>
                        </a:rPr>
                        <a:t>8. Results</a:t>
                      </a:r>
                    </a:p>
                  </a:txBody>
                  <a:tcPr marL="109728" marR="109728" marT="45720" marB="45720" anchor="ctr">
                    <a:solidFill>
                      <a:srgbClr val="FBF3EE"/>
                    </a:solidFill>
                  </a:tcPr>
                </a:tc>
                <a:tc>
                  <a:txBody>
                    <a:bodyPr/>
                    <a:lstStyle/>
                    <a:p>
                      <a:r>
                        <a:rPr sz="1400" i="0" b="0">
                          <a:solidFill>
                            <a:srgbClr val="2B211C"/>
                          </a:solidFill>
                          <a:latin typeface="Calibri"/>
                        </a:rPr>
                        <a:t>Were all patients analysed in their groups (intention-to-treat)? How big was the effect?</a:t>
                      </a:r>
                    </a:p>
                  </a:txBody>
                  <a:tcPr marL="109728" marR="109728" marT="45720" marB="45720" anchor="ctr">
                    <a:solidFill>
                      <a:srgbClr val="FBF3EE"/>
                    </a:solidFill>
                  </a:tcPr>
                </a:tc>
                <a:tc>
                  <a:txBody>
                    <a:bodyPr/>
                    <a:lstStyle/>
                    <a:p>
                      <a:r>
                        <a:rPr sz="1400" i="0" b="0">
                          <a:solidFill>
                            <a:srgbClr val="2B211C"/>
                          </a:solidFill>
                          <a:latin typeface="Calibri"/>
                        </a:rPr>
                        <a:t>Many drop-outs; only relative numbers</a:t>
                      </a:r>
                    </a:p>
                  </a:txBody>
                  <a:tcPr marL="109728" marR="109728" marT="45720" marB="45720" anchor="ctr">
                    <a:solidFill>
                      <a:srgbClr val="FBF3EE"/>
                    </a:solidFill>
                  </a:tcPr>
                </a:tc>
              </a:tr>
              <a:tr h="411480">
                <a:tc>
                  <a:txBody>
                    <a:bodyPr/>
                    <a:lstStyle/>
                    <a:p>
                      <a:r>
                        <a:rPr sz="1400" i="0" b="1">
                          <a:solidFill>
                            <a:srgbClr val="2B211C"/>
                          </a:solidFill>
                          <a:latin typeface="Calibri"/>
                        </a:rPr>
                        <a:t>9. Discussion</a:t>
                      </a:r>
                    </a:p>
                  </a:txBody>
                  <a:tcPr marL="109728" marR="109728" marT="45720" marB="45720" anchor="ctr">
                    <a:solidFill>
                      <a:srgbClr val="FFFFFF"/>
                    </a:solidFill>
                  </a:tcPr>
                </a:tc>
                <a:tc>
                  <a:txBody>
                    <a:bodyPr/>
                    <a:lstStyle/>
                    <a:p>
                      <a:r>
                        <a:rPr sz="1400" i="0" b="0">
                          <a:solidFill>
                            <a:srgbClr val="2B211C"/>
                          </a:solidFill>
                          <a:latin typeface="Calibri"/>
                        </a:rPr>
                        <a:t>Do the authors discuss limitations?</a:t>
                      </a:r>
                    </a:p>
                  </a:txBody>
                  <a:tcPr marL="109728" marR="109728" marT="45720" marB="45720" anchor="ctr">
                    <a:solidFill>
                      <a:srgbClr val="FFFFFF"/>
                    </a:solidFill>
                  </a:tcPr>
                </a:tc>
                <a:tc>
                  <a:txBody>
                    <a:bodyPr/>
                    <a:lstStyle/>
                    <a:p>
                      <a:r>
                        <a:rPr sz="1400" i="0" b="0">
                          <a:solidFill>
                            <a:srgbClr val="2B211C"/>
                          </a:solidFill>
                          <a:latin typeface="Calibri"/>
                        </a:rPr>
                        <a:t>Conclusions go beyond the data</a:t>
                      </a:r>
                    </a:p>
                  </a:txBody>
                  <a:tcPr marL="109728" marR="109728" marT="45720" marB="45720" anchor="ctr">
                    <a:solidFill>
                      <a:srgbClr val="FFFFFF"/>
                    </a:solidFill>
                  </a:tcPr>
                </a:tc>
              </a:tr>
              <a:tr h="411480">
                <a:tc>
                  <a:txBody>
                    <a:bodyPr/>
                    <a:lstStyle/>
                    <a:p>
                      <a:r>
                        <a:rPr sz="1400" i="0" b="1">
                          <a:solidFill>
                            <a:srgbClr val="2B211C"/>
                          </a:solidFill>
                          <a:latin typeface="Calibri"/>
                        </a:rPr>
                        <a:t>10. Funding and conflicts</a:t>
                      </a:r>
                    </a:p>
                  </a:txBody>
                  <a:tcPr marL="109728" marR="109728" marT="45720" marB="45720" anchor="ctr">
                    <a:solidFill>
                      <a:srgbClr val="FBF3EE"/>
                    </a:solidFill>
                  </a:tcPr>
                </a:tc>
                <a:tc>
                  <a:txBody>
                    <a:bodyPr/>
                    <a:lstStyle/>
                    <a:p>
                      <a:r>
                        <a:rPr sz="1400" i="0" b="0">
                          <a:solidFill>
                            <a:srgbClr val="2B211C"/>
                          </a:solidFill>
                          <a:latin typeface="Calibri"/>
                        </a:rPr>
                        <a:t>Who paid? Do the authors have links to the company?</a:t>
                      </a:r>
                    </a:p>
                  </a:txBody>
                  <a:tcPr marL="109728" marR="109728" marT="45720" marB="45720" anchor="ctr">
                    <a:solidFill>
                      <a:srgbClr val="FBF3EE"/>
                    </a:solidFill>
                  </a:tcPr>
                </a:tc>
                <a:tc>
                  <a:txBody>
                    <a:bodyPr/>
                    <a:lstStyle/>
                    <a:p>
                      <a:r>
                        <a:rPr sz="1400" i="0" b="0">
                          <a:solidFill>
                            <a:srgbClr val="2B211C"/>
                          </a:solidFill>
                          <a:latin typeface="Calibri"/>
                        </a:rPr>
                        <a:t>Hidden funding</a:t>
                      </a:r>
                    </a:p>
                  </a:txBody>
                  <a:tcPr marL="109728" marR="109728" marT="45720" marB="45720" anchor="ctr">
                    <a:solidFill>
                      <a:srgbClr val="FBF3EE"/>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10500055" cy="1237488"/>
          </a:xfrm>
          <a:prstGeom prst="rect">
            <a:avLst/>
          </a:prstGeom>
          <a:noFill/>
        </p:spPr>
        <p:txBody>
          <a:bodyPr wrap="square" anchor="t" lIns="0" rIns="0" tIns="0" bIns="0">
            <a:spAutoFit/>
          </a:bodyPr>
          <a:lstStyle/>
          <a:p>
            <a:r>
              <a:rPr sz="2400" i="0" b="1">
                <a:solidFill>
                  <a:srgbClr val="2B211C"/>
                </a:solidFill>
                <a:latin typeface="Calibri"/>
              </a:rPr>
              <a:t>Biased:</a:t>
            </a:r>
            <a:r>
              <a:rPr sz="2400" i="0" b="0">
                <a:solidFill>
                  <a:srgbClr val="2B211C"/>
                </a:solidFill>
                <a:latin typeface="Calibri"/>
              </a:rPr>
              <a:t> "Improved bronchodilation with levalbuterol compared with racemic albuterol in patients with asthma."</a:t>
            </a:r>
          </a:p>
        </p:txBody>
      </p:sp>
      <p:sp>
        <p:nvSpPr>
          <p:cNvPr id="10" name="Oval 9"/>
          <p:cNvSpPr/>
          <p:nvPr/>
        </p:nvSpPr>
        <p:spPr>
          <a:xfrm>
            <a:off x="548640" y="2901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919984"/>
            <a:ext cx="10500055" cy="1237488"/>
          </a:xfrm>
          <a:prstGeom prst="rect">
            <a:avLst/>
          </a:prstGeom>
          <a:noFill/>
        </p:spPr>
        <p:txBody>
          <a:bodyPr wrap="square" anchor="t" lIns="0" rIns="0" tIns="0" bIns="0">
            <a:spAutoFit/>
          </a:bodyPr>
          <a:lstStyle/>
          <a:p>
            <a:r>
              <a:rPr sz="2400" i="0" b="1">
                <a:solidFill>
                  <a:srgbClr val="2B211C"/>
                </a:solidFill>
                <a:latin typeface="Calibri"/>
              </a:rPr>
              <a:t>Neutral:</a:t>
            </a:r>
            <a:r>
              <a:rPr sz="2400" i="0" b="0">
                <a:solidFill>
                  <a:srgbClr val="2B211C"/>
                </a:solidFill>
                <a:latin typeface="Calibri"/>
              </a:rPr>
              <a:t> "Comparison of levalbuterol and racemic albuterol bronchodilation in patients with asthma: a randomised clinical trial."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Reading the Results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600200"/>
          <a:ext cx="11094414" cy="3200400"/>
        </p:xfrm>
        <a:graphic>
          <a:graphicData uri="http://schemas.openxmlformats.org/drawingml/2006/table">
            <a:tbl>
              <a:tblPr firstRow="0" bandRow="0">
                <a:tableStyleId>{5C22544A-7EE6-4342-B048-85BDC9FD1C3A}</a:tableStyleId>
              </a:tblPr>
              <a:tblGrid>
                <a:gridCol w="4561037"/>
                <a:gridCol w="6533377"/>
              </a:tblGrid>
              <a:tr h="640080">
                <a:tc>
                  <a:txBody>
                    <a:bodyPr/>
                    <a:lstStyle/>
                    <a:p>
                      <a:r>
                        <a:rPr sz="1900" i="0" b="1">
                          <a:solidFill>
                            <a:srgbClr val="FFFFFF"/>
                          </a:solidFill>
                          <a:latin typeface="Calibri"/>
                        </a:rPr>
                        <a:t>Measure</a:t>
                      </a:r>
                    </a:p>
                  </a:txBody>
                  <a:tcPr marL="109728" marR="109728" marT="45720" marB="45720" anchor="ctr">
                    <a:solidFill>
                      <a:srgbClr val="A4472B"/>
                    </a:solidFill>
                  </a:tcPr>
                </a:tc>
                <a:tc>
                  <a:txBody>
                    <a:bodyPr/>
                    <a:lstStyle/>
                    <a:p>
                      <a:r>
                        <a:rPr sz="1900" i="0" b="1">
                          <a:solidFill>
                            <a:srgbClr val="FFFFFF"/>
                          </a:solidFill>
                          <a:latin typeface="Calibri"/>
                        </a:rPr>
                        <a:t>Example: stroke in 10% on placebo, 7% on drug</a:t>
                      </a:r>
                    </a:p>
                  </a:txBody>
                  <a:tcPr marL="109728" marR="109728" marT="45720" marB="45720" anchor="ctr">
                    <a:solidFill>
                      <a:srgbClr val="A4472B"/>
                    </a:solidFill>
                  </a:tcPr>
                </a:tc>
              </a:tr>
              <a:tr h="640080">
                <a:tc>
                  <a:txBody>
                    <a:bodyPr/>
                    <a:lstStyle/>
                    <a:p>
                      <a:r>
                        <a:rPr sz="2000" i="0" b="1">
                          <a:solidFill>
                            <a:srgbClr val="2B211C"/>
                          </a:solidFill>
                          <a:latin typeface="Calibri"/>
                        </a:rPr>
                        <a:t>Relative risk (RR)</a:t>
                      </a:r>
                    </a:p>
                  </a:txBody>
                  <a:tcPr marL="109728" marR="109728" marT="45720" marB="45720" anchor="ctr">
                    <a:solidFill>
                      <a:srgbClr val="FFFFFF"/>
                    </a:solidFill>
                  </a:tcPr>
                </a:tc>
                <a:tc>
                  <a:txBody>
                    <a:bodyPr/>
                    <a:lstStyle/>
                    <a:p>
                      <a:r>
                        <a:rPr sz="2000" i="0" b="0">
                          <a:solidFill>
                            <a:srgbClr val="2B211C"/>
                          </a:solidFill>
                          <a:latin typeface="Calibri"/>
                        </a:rPr>
                        <a:t>7 ÷ 10 = 0.7</a:t>
                      </a:r>
                    </a:p>
                  </a:txBody>
                  <a:tcPr marL="109728" marR="109728" marT="45720" marB="45720" anchor="ctr">
                    <a:solidFill>
                      <a:srgbClr val="FFFFFF"/>
                    </a:solidFill>
                  </a:tcPr>
                </a:tc>
              </a:tr>
              <a:tr h="640080">
                <a:tc>
                  <a:txBody>
                    <a:bodyPr/>
                    <a:lstStyle/>
                    <a:p>
                      <a:r>
                        <a:rPr sz="2000" i="0" b="1">
                          <a:solidFill>
                            <a:srgbClr val="2B211C"/>
                          </a:solidFill>
                          <a:latin typeface="Calibri"/>
                        </a:rPr>
                        <a:t>Relative risk reduction (RRR)</a:t>
                      </a:r>
                    </a:p>
                  </a:txBody>
                  <a:tcPr marL="109728" marR="109728" marT="45720" marB="45720" anchor="ctr">
                    <a:solidFill>
                      <a:srgbClr val="FBF3EE"/>
                    </a:solidFill>
                  </a:tcPr>
                </a:tc>
                <a:tc>
                  <a:txBody>
                    <a:bodyPr/>
                    <a:lstStyle/>
                    <a:p>
                      <a:r>
                        <a:rPr sz="2000" i="0" b="0">
                          <a:solidFill>
                            <a:srgbClr val="2B211C"/>
                          </a:solidFill>
                          <a:latin typeface="Calibri"/>
                        </a:rPr>
                        <a:t>30%</a:t>
                      </a:r>
                    </a:p>
                  </a:txBody>
                  <a:tcPr marL="109728" marR="109728" marT="45720" marB="45720" anchor="ctr">
                    <a:solidFill>
                      <a:srgbClr val="FBF3EE"/>
                    </a:solidFill>
                  </a:tcPr>
                </a:tc>
              </a:tr>
              <a:tr h="640080">
                <a:tc>
                  <a:txBody>
                    <a:bodyPr/>
                    <a:lstStyle/>
                    <a:p>
                      <a:r>
                        <a:rPr sz="2000" i="0" b="1">
                          <a:solidFill>
                            <a:srgbClr val="2B211C"/>
                          </a:solidFill>
                          <a:latin typeface="Calibri"/>
                        </a:rPr>
                        <a:t>Absolute risk reduction (ARR)</a:t>
                      </a:r>
                    </a:p>
                  </a:txBody>
                  <a:tcPr marL="109728" marR="109728" marT="45720" marB="45720" anchor="ctr">
                    <a:solidFill>
                      <a:srgbClr val="FFFFFF"/>
                    </a:solidFill>
                  </a:tcPr>
                </a:tc>
                <a:tc>
                  <a:txBody>
                    <a:bodyPr/>
                    <a:lstStyle/>
                    <a:p>
                      <a:r>
                        <a:rPr sz="2000" i="0" b="0">
                          <a:solidFill>
                            <a:srgbClr val="2B211C"/>
                          </a:solidFill>
                          <a:latin typeface="Calibri"/>
                        </a:rPr>
                        <a:t>10% − 7% = 3%</a:t>
                      </a:r>
                    </a:p>
                  </a:txBody>
                  <a:tcPr marL="109728" marR="109728" marT="45720" marB="45720" anchor="ctr">
                    <a:solidFill>
                      <a:srgbClr val="FFFFFF"/>
                    </a:solidFill>
                  </a:tcPr>
                </a:tc>
              </a:tr>
              <a:tr h="640080">
                <a:tc>
                  <a:txBody>
                    <a:bodyPr/>
                    <a:lstStyle/>
                    <a:p>
                      <a:r>
                        <a:rPr sz="2000" i="0" b="1">
                          <a:solidFill>
                            <a:srgbClr val="2B211C"/>
                          </a:solidFill>
                          <a:latin typeface="Calibri"/>
                        </a:rPr>
                        <a:t>Number needed to treat (NNT)</a:t>
                      </a:r>
                    </a:p>
                  </a:txBody>
                  <a:tcPr marL="109728" marR="109728" marT="45720" marB="45720" anchor="ctr">
                    <a:solidFill>
                      <a:srgbClr val="FBF3EE"/>
                    </a:solidFill>
                  </a:tcPr>
                </a:tc>
                <a:tc>
                  <a:txBody>
                    <a:bodyPr/>
                    <a:lstStyle/>
                    <a:p>
                      <a:r>
                        <a:rPr sz="2000" i="0" b="0">
                          <a:solidFill>
                            <a:srgbClr val="2B211C"/>
                          </a:solidFill>
                          <a:latin typeface="Calibri"/>
                        </a:rPr>
                        <a:t>1 ÷ 0.03 ≈ 33</a:t>
                      </a:r>
                    </a:p>
                  </a:txBody>
                  <a:tcPr marL="109728" marR="109728" marT="45720" marB="45720" anchor="ctr">
                    <a:solidFill>
                      <a:srgbClr val="FBF3EE"/>
                    </a:solidFill>
                  </a:tcPr>
                </a:tc>
              </a:tr>
            </a:tbl>
          </a:graphicData>
        </a:graphic>
      </p:graphicFrame>
      <p:sp>
        <p:nvSpPr>
          <p:cNvPr id="9" name="Rounded Rectangle 8"/>
          <p:cNvSpPr/>
          <p:nvPr/>
        </p:nvSpPr>
        <p:spPr>
          <a:xfrm>
            <a:off x="548640" y="4983480"/>
            <a:ext cx="11094415" cy="1234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59" y="521208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CAUTION</a:t>
            </a:r>
          </a:p>
        </p:txBody>
      </p:sp>
      <p:sp>
        <p:nvSpPr>
          <p:cNvPr id="11" name="TextBox 10"/>
          <p:cNvSpPr txBox="1"/>
          <p:nvPr/>
        </p:nvSpPr>
        <p:spPr>
          <a:xfrm>
            <a:off x="822959" y="5669280"/>
            <a:ext cx="10545775" cy="365760"/>
          </a:xfrm>
          <a:prstGeom prst="rect">
            <a:avLst/>
          </a:prstGeom>
          <a:noFill/>
        </p:spPr>
        <p:txBody>
          <a:bodyPr wrap="square" anchor="t" lIns="0" rIns="0" tIns="0" bIns="0">
            <a:spAutoFit/>
          </a:bodyPr>
          <a:lstStyle/>
          <a:p>
            <a:r>
              <a:rPr sz="1500" i="0" b="0">
                <a:solidFill>
                  <a:srgbClr val="2B211C"/>
                </a:solidFill>
                <a:latin typeface="Calibri"/>
              </a:rPr>
              <a:t>A statistically significant result is not always clinically important. Check the effect size, the confidence interval and the adverse effects before you recommend a drug.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618488"/>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1</a:t>
            </a:r>
          </a:p>
        </p:txBody>
      </p:sp>
      <p:sp>
        <p:nvSpPr>
          <p:cNvPr id="9" name="TextBox 8"/>
          <p:cNvSpPr txBox="1"/>
          <p:nvPr/>
        </p:nvSpPr>
        <p:spPr>
          <a:xfrm>
            <a:off x="1143000" y="1636776"/>
            <a:ext cx="6355079" cy="1110488"/>
          </a:xfrm>
          <a:prstGeom prst="rect">
            <a:avLst/>
          </a:prstGeom>
          <a:noFill/>
        </p:spPr>
        <p:txBody>
          <a:bodyPr wrap="square" anchor="t" lIns="0" rIns="0" tIns="0" bIns="0">
            <a:spAutoFit/>
          </a:bodyPr>
          <a:lstStyle/>
          <a:p>
            <a:r>
              <a:rPr sz="2000" i="0" b="0">
                <a:solidFill>
                  <a:srgbClr val="2B211C"/>
                </a:solidFill>
                <a:latin typeface="Calibri"/>
              </a:rPr>
              <a:t>Is my patient like the trial patients (age, kidney function, other illnesses)?</a:t>
            </a:r>
          </a:p>
        </p:txBody>
      </p:sp>
      <p:sp>
        <p:nvSpPr>
          <p:cNvPr id="10" name="Oval 9"/>
          <p:cNvSpPr/>
          <p:nvPr/>
        </p:nvSpPr>
        <p:spPr>
          <a:xfrm>
            <a:off x="548640" y="2774696"/>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2</a:t>
            </a:r>
          </a:p>
        </p:txBody>
      </p:sp>
      <p:sp>
        <p:nvSpPr>
          <p:cNvPr id="11" name="TextBox 10"/>
          <p:cNvSpPr txBox="1"/>
          <p:nvPr/>
        </p:nvSpPr>
        <p:spPr>
          <a:xfrm>
            <a:off x="1143000" y="2792984"/>
            <a:ext cx="6355079" cy="1110488"/>
          </a:xfrm>
          <a:prstGeom prst="rect">
            <a:avLst/>
          </a:prstGeom>
          <a:noFill/>
        </p:spPr>
        <p:txBody>
          <a:bodyPr wrap="square" anchor="t" lIns="0" rIns="0" tIns="0" bIns="0">
            <a:spAutoFit/>
          </a:bodyPr>
          <a:lstStyle/>
          <a:p>
            <a:r>
              <a:rPr sz="2000" i="0" b="0">
                <a:solidFill>
                  <a:srgbClr val="2B211C"/>
                </a:solidFill>
                <a:latin typeface="Calibri"/>
              </a:rPr>
              <a:t>Were the outcomes important to patients (death, stroke, quality of life), or only laboratory values?</a:t>
            </a:r>
          </a:p>
        </p:txBody>
      </p:sp>
      <p:sp>
        <p:nvSpPr>
          <p:cNvPr id="12" name="Oval 11"/>
          <p:cNvSpPr/>
          <p:nvPr/>
        </p:nvSpPr>
        <p:spPr>
          <a:xfrm>
            <a:off x="548640" y="3930903"/>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3</a:t>
            </a:r>
          </a:p>
        </p:txBody>
      </p:sp>
      <p:sp>
        <p:nvSpPr>
          <p:cNvPr id="13" name="TextBox 12"/>
          <p:cNvSpPr txBox="1"/>
          <p:nvPr/>
        </p:nvSpPr>
        <p:spPr>
          <a:xfrm>
            <a:off x="1143000" y="3949192"/>
            <a:ext cx="6355079" cy="792987"/>
          </a:xfrm>
          <a:prstGeom prst="rect">
            <a:avLst/>
          </a:prstGeom>
          <a:noFill/>
        </p:spPr>
        <p:txBody>
          <a:bodyPr wrap="square" anchor="t" lIns="0" rIns="0" tIns="0" bIns="0">
            <a:spAutoFit/>
          </a:bodyPr>
          <a:lstStyle/>
          <a:p>
            <a:r>
              <a:rPr sz="2000" i="0" b="0">
                <a:solidFill>
                  <a:srgbClr val="2B211C"/>
                </a:solidFill>
                <a:latin typeface="Calibri"/>
              </a:rPr>
              <a:t>Do the benefits outweigh the harms and the cost?</a:t>
            </a:r>
          </a:p>
        </p:txBody>
      </p:sp>
      <p:sp>
        <p:nvSpPr>
          <p:cNvPr id="14" name="Oval 13"/>
          <p:cNvSpPr/>
          <p:nvPr/>
        </p:nvSpPr>
        <p:spPr>
          <a:xfrm>
            <a:off x="548640" y="4769612"/>
            <a:ext cx="402336" cy="402336"/>
          </a:xfrm>
          <a:prstGeom prst="ellipse">
            <a:avLst/>
          </a:prstGeom>
          <a:solidFill>
            <a:srgbClr val="E0EE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2F6F7A"/>
                </a:solidFill>
                <a:latin typeface="Calibri"/>
              </a:rPr>
              <a:t>4</a:t>
            </a:r>
          </a:p>
        </p:txBody>
      </p:sp>
      <p:sp>
        <p:nvSpPr>
          <p:cNvPr id="15" name="TextBox 14"/>
          <p:cNvSpPr txBox="1"/>
          <p:nvPr/>
        </p:nvSpPr>
        <p:spPr>
          <a:xfrm>
            <a:off x="1143000" y="4787900"/>
            <a:ext cx="6355079" cy="792987"/>
          </a:xfrm>
          <a:prstGeom prst="rect">
            <a:avLst/>
          </a:prstGeom>
          <a:noFill/>
        </p:spPr>
        <p:txBody>
          <a:bodyPr wrap="square" anchor="t" lIns="0" rIns="0" tIns="0" bIns="0">
            <a:spAutoFit/>
          </a:bodyPr>
          <a:lstStyle/>
          <a:p>
            <a:r>
              <a:rPr sz="2000" i="0" b="0">
                <a:solidFill>
                  <a:srgbClr val="2B211C"/>
                </a:solidFill>
                <a:latin typeface="Calibri"/>
              </a:rPr>
              <a:t>Is the drug available and affordable in Egypt?</a:t>
            </a:r>
          </a:p>
        </p:txBody>
      </p:sp>
      <p:sp>
        <p:nvSpPr>
          <p:cNvPr id="16" name="Rounded Rectangle 15"/>
          <p:cNvSpPr/>
          <p:nvPr/>
        </p:nvSpPr>
        <p:spPr>
          <a:xfrm>
            <a:off x="8001000" y="1600200"/>
            <a:ext cx="3639312" cy="4526280"/>
          </a:xfrm>
          <a:prstGeom prst="roundRect">
            <a:avLst>
              <a:gd name="adj" fmla="val 6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182880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spc="100">
                <a:solidFill>
                  <a:srgbClr val="FFFFFF"/>
                </a:solidFill>
                <a:latin typeface="Calibri"/>
              </a:rPr>
              <a:t>EXAM TIP</a:t>
            </a:r>
          </a:p>
        </p:txBody>
      </p:sp>
      <p:sp>
        <p:nvSpPr>
          <p:cNvPr id="18" name="TextBox 17"/>
          <p:cNvSpPr txBox="1"/>
          <p:nvPr/>
        </p:nvSpPr>
        <p:spPr>
          <a:xfrm>
            <a:off x="8275320" y="2286000"/>
            <a:ext cx="3090672" cy="3657600"/>
          </a:xfrm>
          <a:prstGeom prst="rect">
            <a:avLst/>
          </a:prstGeom>
          <a:noFill/>
        </p:spPr>
        <p:txBody>
          <a:bodyPr wrap="square" anchor="t" lIns="0" rIns="0" tIns="0" bIns="0">
            <a:spAutoFit/>
          </a:bodyPr>
          <a:lstStyle/>
          <a:p>
            <a:r>
              <a:rPr sz="1600" i="0" b="0">
                <a:solidFill>
                  <a:srgbClr val="2B211C"/>
                </a:solidFill>
                <a:latin typeface="Calibri"/>
              </a:rPr>
              <a:t>ITT keeps randomisation; per-protocol can exaggerate benefit.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E0EEF0"/>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0EEF0"/>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company representative gives you a leaflet: "New drug cuts heart attacks by 50%!" You find the trial. Heart attacks fell from 2% to 1% over three years. The ARR is 1% and the NNT is 100. The trial excluded patients over 75. You explain to the prescriber that the benefit is real but small, and uncertain for the older patients on your ward.</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Critical Appraisal of a Clinical Trial</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"Drug X is superior to drug Y in hypertension"</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"Does drug X work?"</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"Drug X versus drug Y in hypertension: a randomised controlled trial"</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new hope for patients with high blood pressure"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"Drug X is superior to drug Y in hypertension"</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"Does drug X work?"</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"Drug X versus drug Y in hypertension: a randomised controlled trial"</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new hope for patients with high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 is neutral and names the design. A announces the result, B is a question, D is promotional.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groups will be too large</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allocation can be predicted, so selection bias is possible</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trial cannot be blinded</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outcome is subjective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groups will be too large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 allocation can be predicted, so selection bias is possible</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trial cannot be blinded</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outcome is subjective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Staff can predict the group and choose which patients to enrol. A, C and D are not the main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Intention-to-treat</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Per-protocol</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Subgroup analysis</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Analysis of completers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Intention-to-treat</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Per-protocol</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Subgroup analysis</a:t>
            </a:r>
          </a:p>
        </p:txBody>
      </p:sp>
      <p:sp>
        <p:nvSpPr>
          <p:cNvPr id="18" name="Rounded Rectangle 17"/>
          <p:cNvSpPr/>
          <p:nvPr/>
        </p:nvSpPr>
        <p:spPr>
          <a:xfrm>
            <a:off x="548640" y="4636008"/>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Analysis of completers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ITT analyses every patient as randomised. B, C and D lose that protection.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5</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25</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15</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5</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25</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15</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ARR = 20% − 15% = 5%; NNT = 1 ÷ 0.05 = 20. A, B and C are miscalculations.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97480"/>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Yes, lower HbA1c always means fewer heart attacks</a:t>
            </a:r>
          </a:p>
        </p:txBody>
      </p:sp>
      <p:sp>
        <p:nvSpPr>
          <p:cNvPr id="12" name="Rounded Rectangle 11"/>
          <p:cNvSpPr/>
          <p:nvPr/>
        </p:nvSpPr>
        <p:spPr>
          <a:xfrm>
            <a:off x="548640" y="3465576"/>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trial proves it</a:t>
            </a:r>
          </a:p>
        </p:txBody>
      </p:sp>
      <p:sp>
        <p:nvSpPr>
          <p:cNvPr id="15" name="Rounded Rectangle 14"/>
          <p:cNvSpPr/>
          <p:nvPr/>
        </p:nvSpPr>
        <p:spPr>
          <a:xfrm>
            <a:off x="548640" y="4233672"/>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Heart attacks are not important</a:t>
            </a:r>
          </a:p>
        </p:txBody>
      </p:sp>
      <p:sp>
        <p:nvSpPr>
          <p:cNvPr id="18" name="Rounded Rectangle 17"/>
          <p:cNvSpPr/>
          <p:nvPr/>
        </p:nvSpPr>
        <p:spPr>
          <a:xfrm>
            <a:off x="548640" y="5001768"/>
            <a:ext cx="11094415" cy="640080"/>
          </a:xfrm>
          <a:prstGeom prst="roundRect">
            <a:avLst>
              <a:gd name="adj" fmla="val 18000"/>
            </a:avLst>
          </a:prstGeom>
          <a:solidFill>
            <a:srgbClr val="FB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HbA1c is a surrogate outcome; we need trials that measure heart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SELF-ASSESSMENT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06040"/>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Yes, lower HbA1c always means fewer heart attacks</a:t>
            </a:r>
          </a:p>
        </p:txBody>
      </p:sp>
      <p:sp>
        <p:nvSpPr>
          <p:cNvPr id="12" name="Rounded Rectangle 11"/>
          <p:cNvSpPr/>
          <p:nvPr/>
        </p:nvSpPr>
        <p:spPr>
          <a:xfrm>
            <a:off x="548640" y="3282696"/>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trial proves it</a:t>
            </a:r>
          </a:p>
        </p:txBody>
      </p:sp>
      <p:sp>
        <p:nvSpPr>
          <p:cNvPr id="15" name="Rounded Rectangle 14"/>
          <p:cNvSpPr/>
          <p:nvPr/>
        </p:nvSpPr>
        <p:spPr>
          <a:xfrm>
            <a:off x="548640" y="3959352"/>
            <a:ext cx="11094415" cy="548640"/>
          </a:xfrm>
          <a:prstGeom prst="roundRect">
            <a:avLst>
              <a:gd name="adj" fmla="val 18000"/>
            </a:avLst>
          </a:prstGeom>
          <a:solidFill>
            <a:srgbClr val="F7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6DFD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Heart attacks are not important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HbA1c is a surrogate outcome; we need trials that measure heart attacks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HbA1c is a surrogate outcome; heart attacks need their own evidence. A, B and C are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pPr algn="l"/>
            <a:r>
              <a:rPr sz="13000" i="0" b="1">
                <a:solidFill>
                  <a:srgbClr val="F6E5DE"/>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6E5DE"/>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of a new painkiller reports: "Randomised, open-label, 120 patients, per-protocol analysis, primary outcome changed from pain at 12 weeks to pain at 4 weeks. Funded by the manufacturer." (a) List three weaknesses. (b) How does each one bias the result? (c) Would you recommend the drug on this evidence?</a:t>
            </a:r>
          </a:p>
        </p:txBody>
      </p:sp>
      <p:sp>
        <p:nvSpPr>
          <p:cNvPr id="6" name="TextBox 5"/>
          <p:cNvSpPr txBox="1"/>
          <p:nvPr/>
        </p:nvSpPr>
        <p:spPr>
          <a:xfrm>
            <a:off x="4526280" y="6419088"/>
            <a:ext cx="5486400" cy="274320"/>
          </a:xfrm>
          <a:prstGeom prst="rect">
            <a:avLst/>
          </a:prstGeom>
          <a:noFill/>
        </p:spPr>
        <p:txBody>
          <a:bodyPr wrap="square" anchor="t" lIns="0" rIns="0" tIns="0" bIns="0">
            <a:spAutoFit/>
          </a:bodyPr>
          <a:lstStyle/>
          <a:p>
            <a:r>
              <a:rPr sz="1000" i="0" b="0">
                <a:solidFill>
                  <a:srgbClr val="6E625B"/>
                </a:solidFill>
                <a:latin typeface="Calibri"/>
              </a:rPr>
              <a:t>Drug Information  ·  Critical Appraisal of a Clinical Trial</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3E6D8"/>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Appraise every trial before you use it; CONSORT 2025 is the checklist.</a:t>
            </a:r>
          </a:p>
        </p:txBody>
      </p:sp>
      <p:sp>
        <p:nvSpPr>
          <p:cNvPr id="6" name="Oval 5"/>
          <p:cNvSpPr/>
          <p:nvPr/>
        </p:nvSpPr>
        <p:spPr>
          <a:xfrm>
            <a:off x="548640" y="2488311"/>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A neutral title, a structured abstract and a clear question are good first signs.</a:t>
            </a:r>
          </a:p>
        </p:txBody>
      </p:sp>
      <p:sp>
        <p:nvSpPr>
          <p:cNvPr id="8" name="Oval 7"/>
          <p:cNvSpPr/>
          <p:nvPr/>
        </p:nvSpPr>
        <p:spPr>
          <a:xfrm>
            <a:off x="548640" y="3462908"/>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Check randomisation, concealment, blinding, the comparator and pre-set outcomes.</a:t>
            </a:r>
          </a:p>
        </p:txBody>
      </p:sp>
      <p:sp>
        <p:nvSpPr>
          <p:cNvPr id="10" name="Oval 9"/>
          <p:cNvSpPr/>
          <p:nvPr/>
        </p:nvSpPr>
        <p:spPr>
          <a:xfrm>
            <a:off x="548640" y="4437506"/>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4</a:t>
            </a:r>
          </a:p>
        </p:txBody>
      </p:sp>
      <p:sp>
        <p:nvSpPr>
          <p:cNvPr id="11" name="TextBox 10"/>
          <p:cNvSpPr txBox="1"/>
          <p:nvPr/>
        </p:nvSpPr>
        <p:spPr>
          <a:xfrm>
            <a:off x="1143000" y="4455794"/>
            <a:ext cx="10500055" cy="595502"/>
          </a:xfrm>
          <a:prstGeom prst="rect">
            <a:avLst/>
          </a:prstGeom>
          <a:noFill/>
        </p:spPr>
        <p:txBody>
          <a:bodyPr wrap="square" anchor="t" lIns="0" rIns="0" tIns="0" bIns="0">
            <a:spAutoFit/>
          </a:bodyPr>
          <a:lstStyle/>
          <a:p>
            <a:r>
              <a:rPr sz="2100" i="0" b="0">
                <a:solidFill>
                  <a:srgbClr val="FFFFFF"/>
                </a:solidFill>
                <a:latin typeface="Calibri"/>
              </a:rPr>
              <a:t>Prefer ITT results, absolute numbers (ARR, NNT) and confidence intervals.</a:t>
            </a:r>
          </a:p>
        </p:txBody>
      </p:sp>
      <p:sp>
        <p:nvSpPr>
          <p:cNvPr id="12" name="Oval 11"/>
          <p:cNvSpPr/>
          <p:nvPr/>
        </p:nvSpPr>
        <p:spPr>
          <a:xfrm>
            <a:off x="548640" y="5078729"/>
            <a:ext cx="402336" cy="402336"/>
          </a:xfrm>
          <a:prstGeom prst="ellipse">
            <a:avLst/>
          </a:prstGeom>
          <a:solidFill>
            <a:srgbClr val="F3E6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Decide whether the result applies to your patient, including cost and availability.</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