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this chapter was added to this edition; it completes the trial-evaluation slides of Section 5.</a:t>
            </a:r>
          </a:p>
          <a:p/>
          <a:p>
            <a:r>
              <a:t>About 30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Why Appraise?.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trial report is a claim, not a fact. Critical appraisal means reading it carefully to decide whether it is true, important and useful for your patient. Pharmacists do this when they answer drug information questions from primary sources (Chapter 2) and when they prepare evidence for the Drug and Therapeutics Committee. The CONSORT 2025 statement lists what a trial report should contain. Use it as your checklist.</a:t>
            </a:r>
          </a:p>
          <a:p/>
          <a:p>
            <a:r>
              <a:t>About 60 s.  Next: The Ten-Question Checklist (1/2).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title should reflect the work, be specific and unbiased, and identify the study as a randomised trial. It should not be phrased as a question, and it is usually short (about ten words or fewer). The first title tells you the answer before you read the data. Most journals use a structured abstract with headings. It is more informative, easier to read and preferred by readers. The word limit is set by each journal, often 250-300 words. An abstract is only a summary. Never answer a question from the abstract alone; read the full paper. The investigators should be trained and experienced in the area. The site must have the resources to carry out the methods. Everyone involved must protect the patients enrolled (Chapter 5).</a:t>
            </a:r>
          </a:p>
          <a:p/>
          <a:p>
            <a:r>
              <a:t>About 60 s.  Next: The Ten-Question Checklist (2/2).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title should reflect the work, be specific and unbiased, and identify the study as a randomised trial. It should not be phrased as a question, and it is usually short (about ten words or fewer). The first title tells you the answer before you read the data. Most journals use a structured abstract with headings. It is more informative, easier to read and preferred by readers. The word limit is set by each journal, often 250-300 words. An abstract is only a summary. Never answer a question from the abstract alone; read the full paper. The investigators should be trained and experienced in the area. The site must have the resources to carry out the methods. Everyone involved must protect the patients enrolled (Chapter 5).</a:t>
            </a:r>
          </a:p>
          <a:p/>
          <a:p>
            <a:r>
              <a:t>About 60 s.  Next: The title.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title should reflect the work, be specific and unbiased, and identify the study as a randomised trial. It should not be phrased as a question, and it is usually short (about ten words or fewer). The first title tells you the answer before you read the data. Most journals use a structured abstract with headings. It is more informative, easier to read and preferred by readers. The word limit is set by each journal, often 250-300 words. An abstract is only a summary. Never answer a question from the abstract alone; read the full paper. The investigators should be trained and experienced in the area. The site must have the resources to carry out the methods. Everyone involved must protect the patients enrolled (Chapter 5).</a:t>
            </a:r>
          </a:p>
          <a:p/>
          <a:p>
            <a:r>
              <a:t>About 120 s.  Next: The title.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title should reflect the work, be specific and unbiased, and identify the study as a randomised trial. It should not be phrased as a question, and it is usually short (about ten words or fewer). The first title tells you the answer before you read the data. Most journals use a structured abstract with headings. It is more informative, easier to read and preferred by readers. The word limit is set by each journal, often 250-300 words. An abstract is only a summary. Never answer a question from the abstract alone; read the full paper. The investigators should be trained and experienced in the area. The site must have the resources to carry out the methods. Everyone involved must protect the patients enrolled (Chapter 5).</a:t>
            </a:r>
          </a:p>
          <a:p/>
          <a:p>
            <a:r>
              <a:t>About 90 s.  Next: The size of the effect.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intention-to-treat (ITT) analysis, every randomised patient is analysed in the group they were assigned to, even if they stopped the drug. ITT keeps the benefit of randomisation. A per-protocol analysis includes only patients who completed the treatment. It can make a drug look better than it really is, because patients who stopped due to side effects are left out. Companies often quote the RRR ("30% fewer strokes") because it sounds larger. The ARR and NNT tell you the real benefit for patients. Also look at the 95% confidence interval: a wide interval means the result is uncertain.</a:t>
            </a:r>
          </a:p>
          <a:p/>
          <a:p>
            <a:r>
              <a:t>About 90 s.  Next: The size of the effect.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intention-to-treat (ITT) analysis, every randomised patient is analysed in the group they were assigned to, even if they stopped the drug. ITT keeps the benefit of randomisation. A per-protocol analysis includes only patients who completed the treatment. It can make a drug look better than it really is, because patients who stopped due to side effects are left out. Companies often quote the RRR ("30% fewer strokes") because it sounds larger. The ARR and NNT tell you the real benefit for patients. Also look at the 95% confidence interval: a wide interval means the result is uncertain.</a:t>
            </a:r>
          </a:p>
          <a:p/>
          <a:p>
            <a:r>
              <a:t>About 60 s.  Next: Reading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intention-to-treat (ITT) analysis, every randomised patient is analysed in the group they were assigned to, even if they stopped the drug. ITT keeps the benefit of randomisation. A per-protocol analysis includes only patients who completed the treatment. It can make a drug look better than it really is, because patients who stopped due to side effects are left out. Companies often quote the RRR ("30% fewer strokes") because it sounds larger. The ARR and NNT tell you the real benefit for patients. Also look at the 95% confidence interval: a wide interval means the result is uncertain.</a:t>
            </a:r>
          </a:p>
          <a:p/>
          <a:p>
            <a:r>
              <a:t>About 60 s.  Next: Does It Apply to My Patient?.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judging validity and results, ask: Surrogate outcomes, such as a lower cholesterol or HbA1c, are useful but do not always mean fewer heart attacks or deaths. Prefer trials with hard, patient-important outcomes.</a:t>
            </a:r>
          </a:p>
          <a:p/>
          <a:p>
            <a:r>
              <a:t>About 60 s.  Next: Does It Apply to My Patient?.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judging validity and results, ask: Surrogate outcomes, such as a lower cholesterol or HbA1c, are useful but do not always mean fewer heart attacks or deaths. Prefer trials with hard, patient-important outcomes.</a:t>
            </a:r>
          </a:p>
          <a:p/>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It is neutral and names the design. A announces the result, B is a question, D is promotional.</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Staff can predict the group and choose which patients to enrol. A, C and D are not the main problem.</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ITT analyses every patient as randomised. B, C and D lose that protection.</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ARR = 20% − 15% = 5%; NNT = 1 ÷ 0.05 = 20. A, B and C are miscalculations.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HbA1c is a surrogate outcome; heart attacks need their own evidence. A, B and C are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answer: (a) Open label with a subjective outcome; per-protocol analysis; the primary outcome was changed. Company funding is a further concern. (b) Open label lets expectations raise reported relief; per-protocol drops patients who stopped because of side effects; changing the outcome lets authors pick the best-looking result. (c) No; the evidence is weak. Look for blinded, ITT trials with a pre-set outcome.</a:t>
            </a:r>
          </a:p>
          <a:p/>
          <a:p>
            <a:r>
              <a:t>About 60 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8B3C25"/>
                </a:solidFill>
                <a:latin typeface="Cambria"/>
              </a:rPr>
              <a:t>06</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F2E5E1"/>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F2E5E1"/>
                </a:solidFill>
                <a:latin typeface="Calibri"/>
              </a:rPr>
              <a:t>DRUG INFORMATION  ·  SECTION 6</a:t>
            </a:r>
          </a:p>
          <a:p>
            <a:pPr>
              <a:spcBef>
                <a:spcPts val="1400"/>
              </a:spcBef>
            </a:pPr>
            <a:r>
              <a:rPr sz="3600" i="0" b="1">
                <a:solidFill>
                  <a:srgbClr val="FFFFFF"/>
                </a:solidFill>
                <a:latin typeface="Cambria"/>
              </a:rPr>
              <a:t>Critical Appraisal of a Clinical Trial</a:t>
            </a:r>
          </a:p>
          <a:p>
            <a:pPr>
              <a:spcBef>
                <a:spcPts val="1600"/>
              </a:spcBef>
            </a:pPr>
            <a:r>
              <a:rPr sz="2000" i="1" b="0">
                <a:solidFill>
                  <a:srgbClr val="F2E5E1"/>
                </a:solidFill>
                <a:latin typeface="Cambria"/>
              </a:rPr>
              <a:t>A Practical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F2E5E1"/>
                </a:solidFill>
                <a:latin typeface="Calibri"/>
              </a:rPr>
              <a:t>45 minutes  ·  5 questions  ·  1 practice case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In This Section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02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6629400" cy="1142237"/>
          </a:xfrm>
          <a:prstGeom prst="rect">
            <a:avLst/>
          </a:prstGeom>
          <a:noFill/>
        </p:spPr>
        <p:txBody>
          <a:bodyPr wrap="square" anchor="t" lIns="0" rIns="0" tIns="0" bIns="0">
            <a:spAutoFit/>
          </a:bodyPr>
          <a:lstStyle/>
          <a:p>
            <a:r>
              <a:rPr sz="2100" i="0" b="0">
                <a:solidFill>
                  <a:srgbClr val="2B211C"/>
                </a:solidFill>
                <a:latin typeface="Calibri"/>
              </a:rPr>
              <a:t>Judge the title, abstract and introduction of a trial report.</a:t>
            </a:r>
          </a:p>
        </p:txBody>
      </p:sp>
      <p:sp>
        <p:nvSpPr>
          <p:cNvPr id="10" name="Oval 9"/>
          <p:cNvSpPr/>
          <p:nvPr/>
        </p:nvSpPr>
        <p:spPr>
          <a:xfrm>
            <a:off x="548640" y="27607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779014"/>
            <a:ext cx="6629400" cy="808863"/>
          </a:xfrm>
          <a:prstGeom prst="rect">
            <a:avLst/>
          </a:prstGeom>
          <a:noFill/>
        </p:spPr>
        <p:txBody>
          <a:bodyPr wrap="square" anchor="t" lIns="0" rIns="0" tIns="0" bIns="0">
            <a:spAutoFit/>
          </a:bodyPr>
          <a:lstStyle/>
          <a:p>
            <a:r>
              <a:rPr sz="2100" i="0" b="0">
                <a:solidFill>
                  <a:srgbClr val="2B211C"/>
                </a:solidFill>
                <a:latin typeface="Calibri"/>
              </a:rPr>
              <a:t>Check the methods of a trial for bias.</a:t>
            </a:r>
          </a:p>
        </p:txBody>
      </p:sp>
      <p:sp>
        <p:nvSpPr>
          <p:cNvPr id="12" name="Oval 11"/>
          <p:cNvSpPr/>
          <p:nvPr/>
        </p:nvSpPr>
        <p:spPr>
          <a:xfrm>
            <a:off x="548640" y="3615309"/>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633597"/>
            <a:ext cx="6629400" cy="1142237"/>
          </a:xfrm>
          <a:prstGeom prst="rect">
            <a:avLst/>
          </a:prstGeom>
          <a:noFill/>
        </p:spPr>
        <p:txBody>
          <a:bodyPr wrap="square" anchor="t" lIns="0" rIns="0" tIns="0" bIns="0">
            <a:spAutoFit/>
          </a:bodyPr>
          <a:lstStyle/>
          <a:p>
            <a:r>
              <a:rPr sz="2100" i="0" b="0">
                <a:solidFill>
                  <a:srgbClr val="2B211C"/>
                </a:solidFill>
                <a:latin typeface="Calibri"/>
              </a:rPr>
              <a:t>Read the results using intention-to-treat, effect size and NNT.</a:t>
            </a:r>
          </a:p>
        </p:txBody>
      </p:sp>
      <p:sp>
        <p:nvSpPr>
          <p:cNvPr id="14" name="Oval 13"/>
          <p:cNvSpPr/>
          <p:nvPr/>
        </p:nvSpPr>
        <p:spPr>
          <a:xfrm>
            <a:off x="548640" y="480326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4821555"/>
            <a:ext cx="6629400" cy="1142237"/>
          </a:xfrm>
          <a:prstGeom prst="rect">
            <a:avLst/>
          </a:prstGeom>
          <a:noFill/>
        </p:spPr>
        <p:txBody>
          <a:bodyPr wrap="square" anchor="t" lIns="0" rIns="0" tIns="0" bIns="0">
            <a:spAutoFit/>
          </a:bodyPr>
          <a:lstStyle/>
          <a:p>
            <a:r>
              <a:rPr sz="2100" i="0" b="0">
                <a:solidFill>
                  <a:srgbClr val="2B211C"/>
                </a:solidFill>
                <a:latin typeface="Calibri"/>
              </a:rPr>
              <a:t>Decide whether a trial's conclusion applies to your patient.</a:t>
            </a:r>
          </a:p>
        </p:txBody>
      </p:sp>
      <p:sp>
        <p:nvSpPr>
          <p:cNvPr id="16" name="Rounded Rectangle 15"/>
          <p:cNvSpPr/>
          <p:nvPr/>
        </p:nvSpPr>
        <p:spPr>
          <a:xfrm>
            <a:off x="8366760" y="1600200"/>
            <a:ext cx="3273552" cy="4526280"/>
          </a:xfrm>
          <a:prstGeom prst="roundRect">
            <a:avLst>
              <a:gd name="adj" fmla="val 5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A4472B"/>
                </a:solidFill>
                <a:latin typeface="Cambria"/>
              </a:rPr>
              <a:t>45</a:t>
            </a:r>
          </a:p>
          <a:p>
            <a:r>
              <a:rPr sz="1200" i="0" b="1" spc="150">
                <a:solidFill>
                  <a:srgbClr val="6E625B"/>
                </a:solidFill>
                <a:latin typeface="Calibri"/>
              </a:rPr>
              <a:t>MINUTES</a:t>
            </a:r>
          </a:p>
          <a:p>
            <a:pPr>
              <a:spcBef>
                <a:spcPts val="1600"/>
              </a:spcBef>
            </a:pPr>
            <a:r>
              <a:rPr sz="5400" i="0" b="1">
                <a:solidFill>
                  <a:srgbClr val="A4472B"/>
                </a:solidFill>
                <a:latin typeface="Cambria"/>
              </a:rPr>
              <a:t>5</a:t>
            </a:r>
          </a:p>
          <a:p>
            <a:r>
              <a:rPr sz="1200" i="0" b="1" spc="150">
                <a:solidFill>
                  <a:srgbClr val="6E625B"/>
                </a:solidFill>
                <a:latin typeface="Calibri"/>
              </a:rPr>
              <a:t>QUESTIONS</a:t>
            </a:r>
          </a:p>
          <a:p>
            <a:pPr>
              <a:spcBef>
                <a:spcPts val="1600"/>
              </a:spcBef>
            </a:pPr>
            <a:r>
              <a:rPr sz="5400" i="0" b="1">
                <a:solidFill>
                  <a:srgbClr val="A4472B"/>
                </a:solidFill>
                <a:latin typeface="Cambria"/>
              </a:rPr>
              <a:t>1</a:t>
            </a:r>
          </a:p>
          <a:p>
            <a:r>
              <a:rPr sz="1200" i="0" b="1" spc="150">
                <a:solidFill>
                  <a:srgbClr val="6E625B"/>
                </a:solidFill>
                <a:latin typeface="Calibri"/>
              </a:rPr>
              <a:t>PRACTICE CASE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03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824737"/>
          </a:xfrm>
          <a:prstGeom prst="rect">
            <a:avLst/>
          </a:prstGeom>
          <a:noFill/>
        </p:spPr>
        <p:txBody>
          <a:bodyPr wrap="square" anchor="t" lIns="0" rIns="0" tIns="0" bIns="0">
            <a:spAutoFit/>
          </a:bodyPr>
          <a:lstStyle/>
          <a:p>
            <a:r>
              <a:rPr sz="2200" i="0" b="0">
                <a:solidFill>
                  <a:srgbClr val="2B211C"/>
                </a:solidFill>
                <a:latin typeface="Calibri"/>
              </a:rPr>
              <a:t>Why Appraise?</a:t>
            </a:r>
          </a:p>
        </p:txBody>
      </p:sp>
      <p:sp>
        <p:nvSpPr>
          <p:cNvPr id="10" name="Oval 9"/>
          <p:cNvSpPr/>
          <p:nvPr/>
        </p:nvSpPr>
        <p:spPr>
          <a:xfrm>
            <a:off x="548640" y="24432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461514"/>
            <a:ext cx="10500055" cy="824737"/>
          </a:xfrm>
          <a:prstGeom prst="rect">
            <a:avLst/>
          </a:prstGeom>
          <a:noFill/>
        </p:spPr>
        <p:txBody>
          <a:bodyPr wrap="square" anchor="t" lIns="0" rIns="0" tIns="0" bIns="0">
            <a:spAutoFit/>
          </a:bodyPr>
          <a:lstStyle/>
          <a:p>
            <a:r>
              <a:rPr sz="2200" i="0" b="0">
                <a:solidFill>
                  <a:srgbClr val="2B211C"/>
                </a:solidFill>
                <a:latin typeface="Calibri"/>
              </a:rPr>
              <a:t>The Ten-Question Checklist</a:t>
            </a:r>
          </a:p>
        </p:txBody>
      </p:sp>
      <p:sp>
        <p:nvSpPr>
          <p:cNvPr id="12" name="Oval 11"/>
          <p:cNvSpPr/>
          <p:nvPr/>
        </p:nvSpPr>
        <p:spPr>
          <a:xfrm>
            <a:off x="548640" y="331368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3" name="TextBox 12"/>
          <p:cNvSpPr txBox="1"/>
          <p:nvPr/>
        </p:nvSpPr>
        <p:spPr>
          <a:xfrm>
            <a:off x="1143000" y="3331972"/>
            <a:ext cx="10500055" cy="824737"/>
          </a:xfrm>
          <a:prstGeom prst="rect">
            <a:avLst/>
          </a:prstGeom>
          <a:noFill/>
        </p:spPr>
        <p:txBody>
          <a:bodyPr wrap="square" anchor="t" lIns="0" rIns="0" tIns="0" bIns="0">
            <a:spAutoFit/>
          </a:bodyPr>
          <a:lstStyle/>
          <a:p>
            <a:r>
              <a:rPr sz="2200" i="0" b="0">
                <a:solidFill>
                  <a:srgbClr val="2B211C"/>
                </a:solidFill>
                <a:latin typeface="Calibri"/>
              </a:rPr>
              <a:t>Reading the Results</a:t>
            </a:r>
          </a:p>
        </p:txBody>
      </p:sp>
      <p:sp>
        <p:nvSpPr>
          <p:cNvPr id="14" name="Oval 13"/>
          <p:cNvSpPr/>
          <p:nvPr/>
        </p:nvSpPr>
        <p:spPr>
          <a:xfrm>
            <a:off x="548640" y="418414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5" name="TextBox 14"/>
          <p:cNvSpPr txBox="1"/>
          <p:nvPr/>
        </p:nvSpPr>
        <p:spPr>
          <a:xfrm>
            <a:off x="1143000" y="4202430"/>
            <a:ext cx="10500055" cy="824737"/>
          </a:xfrm>
          <a:prstGeom prst="rect">
            <a:avLst/>
          </a:prstGeom>
          <a:noFill/>
        </p:spPr>
        <p:txBody>
          <a:bodyPr wrap="square" anchor="t" lIns="0" rIns="0" tIns="0" bIns="0">
            <a:spAutoFit/>
          </a:bodyPr>
          <a:lstStyle/>
          <a:p>
            <a:r>
              <a:rPr sz="2200" i="0" b="0">
                <a:solidFill>
                  <a:srgbClr val="2B211C"/>
                </a:solidFill>
                <a:latin typeface="Calibri"/>
              </a:rPr>
              <a:t>Does It Apply to My Patient?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Why Appraise?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04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2142363"/>
          </a:xfrm>
          <a:prstGeom prst="rect">
            <a:avLst/>
          </a:prstGeom>
          <a:noFill/>
        </p:spPr>
        <p:txBody>
          <a:bodyPr wrap="square" anchor="t" lIns="0" rIns="0" tIns="0" bIns="0">
            <a:spAutoFit/>
          </a:bodyPr>
          <a:lstStyle/>
          <a:p>
            <a:r>
              <a:rPr sz="2100" i="0" b="0">
                <a:solidFill>
                  <a:srgbClr val="2B211C"/>
                </a:solidFill>
                <a:latin typeface="Calibri"/>
              </a:rPr>
              <a:t>A trial report is a claim, not a fact. </a:t>
            </a:r>
            <a:r>
              <a:rPr sz="2100" i="0" b="1">
                <a:solidFill>
                  <a:srgbClr val="2B211C"/>
                </a:solidFill>
                <a:latin typeface="Calibri"/>
              </a:rPr>
              <a:t>Critical appraisal</a:t>
            </a:r>
            <a:r>
              <a:rPr sz="2100" i="0" b="0">
                <a:solidFill>
                  <a:srgbClr val="2B211C"/>
                </a:solidFill>
                <a:latin typeface="Calibri"/>
              </a:rPr>
              <a:t> means reading it carefully to decide whether it is true, important and useful for your patient. Pharmacists do this when they answer drug information questions from primary sources (Chapter 2) and when they prepare evidence for the Drug and Therapeutics Committee.</a:t>
            </a:r>
          </a:p>
        </p:txBody>
      </p:sp>
      <p:sp>
        <p:nvSpPr>
          <p:cNvPr id="10" name="Oval 9"/>
          <p:cNvSpPr/>
          <p:nvPr/>
        </p:nvSpPr>
        <p:spPr>
          <a:xfrm>
            <a:off x="548640" y="3760850"/>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3779139"/>
            <a:ext cx="10500055" cy="1142237"/>
          </a:xfrm>
          <a:prstGeom prst="rect">
            <a:avLst/>
          </a:prstGeom>
          <a:noFill/>
        </p:spPr>
        <p:txBody>
          <a:bodyPr wrap="square" anchor="t" lIns="0" rIns="0" tIns="0" bIns="0">
            <a:spAutoFit/>
          </a:bodyPr>
          <a:lstStyle/>
          <a:p>
            <a:r>
              <a:rPr sz="2100" i="0" b="0">
                <a:solidFill>
                  <a:srgbClr val="2B211C"/>
                </a:solidFill>
                <a:latin typeface="Calibri"/>
              </a:rPr>
              <a:t>The </a:t>
            </a:r>
            <a:r>
              <a:rPr sz="2100" i="0" b="1">
                <a:solidFill>
                  <a:srgbClr val="2B211C"/>
                </a:solidFill>
                <a:latin typeface="Calibri"/>
              </a:rPr>
              <a:t>CONSORT 2025</a:t>
            </a:r>
            <a:r>
              <a:rPr sz="2100" i="0" b="0">
                <a:solidFill>
                  <a:srgbClr val="2B211C"/>
                </a:solidFill>
                <a:latin typeface="Calibri"/>
              </a:rPr>
              <a:t> statement lists what a trial report should contain. Use it as your checklist.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Ten-Question Checklist (1/2)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05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617720"/>
        </p:xfrm>
        <a:graphic>
          <a:graphicData uri="http://schemas.openxmlformats.org/drawingml/2006/table">
            <a:tbl>
              <a:tblPr firstRow="0" bandRow="0">
                <a:tableStyleId>{5C22544A-7EE6-4342-B048-85BDC9FD1C3A}</a:tableStyleId>
              </a:tblPr>
              <a:tblGrid>
                <a:gridCol w="2550440"/>
                <a:gridCol w="4335748"/>
                <a:gridCol w="4208226"/>
              </a:tblGrid>
              <a:tr h="577215">
                <a:tc>
                  <a:txBody>
                    <a:bodyPr/>
                    <a:lstStyle/>
                    <a:p>
                      <a:r>
                        <a:rPr sz="1400" i="0" b="1">
                          <a:solidFill>
                            <a:srgbClr val="FFFFFF"/>
                          </a:solidFill>
                          <a:latin typeface="Calibri"/>
                        </a:rPr>
                        <a:t>Part</a:t>
                      </a:r>
                    </a:p>
                  </a:txBody>
                  <a:tcPr marL="109728" marR="109728" marT="45720" marB="45720" anchor="ctr">
                    <a:solidFill>
                      <a:srgbClr val="A4472B"/>
                    </a:solidFill>
                  </a:tcPr>
                </a:tc>
                <a:tc>
                  <a:txBody>
                    <a:bodyPr/>
                    <a:lstStyle/>
                    <a:p>
                      <a:r>
                        <a:rPr sz="1400" i="0" b="1">
                          <a:solidFill>
                            <a:srgbClr val="FFFFFF"/>
                          </a:solidFill>
                          <a:latin typeface="Calibri"/>
                        </a:rPr>
                        <a:t>Question to ask</a:t>
                      </a:r>
                    </a:p>
                  </a:txBody>
                  <a:tcPr marL="109728" marR="109728" marT="45720" marB="45720" anchor="ctr">
                    <a:solidFill>
                      <a:srgbClr val="A4472B"/>
                    </a:solidFill>
                  </a:tcPr>
                </a:tc>
                <a:tc>
                  <a:txBody>
                    <a:bodyPr/>
                    <a:lstStyle/>
                    <a:p>
                      <a:r>
                        <a:rPr sz="1400" i="0" b="1">
                          <a:solidFill>
                            <a:srgbClr val="FFFFFF"/>
                          </a:solidFill>
                          <a:latin typeface="Calibri"/>
                        </a:rPr>
                        <a:t>Warning sign</a:t>
                      </a:r>
                    </a:p>
                  </a:txBody>
                  <a:tcPr marL="109728" marR="109728" marT="45720" marB="45720" anchor="ctr">
                    <a:solidFill>
                      <a:srgbClr val="A4472B"/>
                    </a:solidFill>
                  </a:tcPr>
                </a:tc>
              </a:tr>
              <a:tr h="577215">
                <a:tc>
                  <a:txBody>
                    <a:bodyPr/>
                    <a:lstStyle/>
                    <a:p>
                      <a:r>
                        <a:rPr sz="1500" i="0" b="1">
                          <a:solidFill>
                            <a:srgbClr val="2B211C"/>
                          </a:solidFill>
                          <a:latin typeface="Calibri"/>
                        </a:rPr>
                        <a:t>1. Title</a:t>
                      </a:r>
                    </a:p>
                  </a:txBody>
                  <a:tcPr marL="109728" marR="109728" marT="45720" marB="45720" anchor="ctr">
                    <a:solidFill>
                      <a:srgbClr val="FFFFFF"/>
                    </a:solidFill>
                  </a:tcPr>
                </a:tc>
                <a:tc>
                  <a:txBody>
                    <a:bodyPr/>
                    <a:lstStyle/>
                    <a:p>
                      <a:r>
                        <a:rPr sz="1500" i="0" b="0">
                          <a:solidFill>
                            <a:srgbClr val="2B211C"/>
                          </a:solidFill>
                          <a:latin typeface="Calibri"/>
                        </a:rPr>
                        <a:t>Is it specific, neutral and does it say "randomised trial"?</a:t>
                      </a:r>
                    </a:p>
                  </a:txBody>
                  <a:tcPr marL="109728" marR="109728" marT="45720" marB="45720" anchor="ctr">
                    <a:solidFill>
                      <a:srgbClr val="FFFFFF"/>
                    </a:solidFill>
                  </a:tcPr>
                </a:tc>
                <a:tc>
                  <a:txBody>
                    <a:bodyPr/>
                    <a:lstStyle/>
                    <a:p>
                      <a:r>
                        <a:rPr sz="1500" i="0" b="0">
                          <a:solidFill>
                            <a:srgbClr val="2B211C"/>
                          </a:solidFill>
                          <a:latin typeface="Calibri"/>
                        </a:rPr>
                        <a:t>A title that announces the result</a:t>
                      </a:r>
                    </a:p>
                  </a:txBody>
                  <a:tcPr marL="109728" marR="109728" marT="45720" marB="45720" anchor="ctr">
                    <a:solidFill>
                      <a:srgbClr val="FFFFFF"/>
                    </a:solidFill>
                  </a:tcPr>
                </a:tc>
              </a:tr>
              <a:tr h="577215">
                <a:tc>
                  <a:txBody>
                    <a:bodyPr/>
                    <a:lstStyle/>
                    <a:p>
                      <a:r>
                        <a:rPr sz="1500" i="0" b="1">
                          <a:solidFill>
                            <a:srgbClr val="2B211C"/>
                          </a:solidFill>
                          <a:latin typeface="Calibri"/>
                        </a:rPr>
                        <a:t>2. Abstract</a:t>
                      </a:r>
                    </a:p>
                  </a:txBody>
                  <a:tcPr marL="109728" marR="109728" marT="45720" marB="45720" anchor="ctr">
                    <a:solidFill>
                      <a:srgbClr val="FAF4F2"/>
                    </a:solidFill>
                  </a:tcPr>
                </a:tc>
                <a:tc>
                  <a:txBody>
                    <a:bodyPr/>
                    <a:lstStyle/>
                    <a:p>
                      <a:r>
                        <a:rPr sz="1500" i="0" b="0">
                          <a:solidFill>
                            <a:srgbClr val="2B211C"/>
                          </a:solidFill>
                          <a:latin typeface="Calibri"/>
                        </a:rPr>
                        <a:t>Is it structured (objective, methods, results, conclusions) and within the journal's word limit?</a:t>
                      </a:r>
                    </a:p>
                  </a:txBody>
                  <a:tcPr marL="109728" marR="109728" marT="45720" marB="45720" anchor="ctr">
                    <a:solidFill>
                      <a:srgbClr val="FAF4F2"/>
                    </a:solidFill>
                  </a:tcPr>
                </a:tc>
                <a:tc>
                  <a:txBody>
                    <a:bodyPr/>
                    <a:lstStyle/>
                    <a:p>
                      <a:r>
                        <a:rPr sz="1500" i="0" b="0">
                          <a:solidFill>
                            <a:srgbClr val="2B211C"/>
                          </a:solidFill>
                          <a:latin typeface="Calibri"/>
                        </a:rPr>
                        <a:t>Conclusions not supported by the results</a:t>
                      </a:r>
                    </a:p>
                  </a:txBody>
                  <a:tcPr marL="109728" marR="109728" marT="45720" marB="45720" anchor="ctr">
                    <a:solidFill>
                      <a:srgbClr val="FAF4F2"/>
                    </a:solidFill>
                  </a:tcPr>
                </a:tc>
              </a:tr>
              <a:tr h="577215">
                <a:tc>
                  <a:txBody>
                    <a:bodyPr/>
                    <a:lstStyle/>
                    <a:p>
                      <a:r>
                        <a:rPr sz="1500" i="0" b="1">
                          <a:solidFill>
                            <a:srgbClr val="2B211C"/>
                          </a:solidFill>
                          <a:latin typeface="Calibri"/>
                        </a:rPr>
                        <a:t>3. Introduction</a:t>
                      </a:r>
                    </a:p>
                  </a:txBody>
                  <a:tcPr marL="109728" marR="109728" marT="45720" marB="45720" anchor="ctr">
                    <a:solidFill>
                      <a:srgbClr val="FFFFFF"/>
                    </a:solidFill>
                  </a:tcPr>
                </a:tc>
                <a:tc>
                  <a:txBody>
                    <a:bodyPr/>
                    <a:lstStyle/>
                    <a:p>
                      <a:r>
                        <a:rPr sz="1500" i="0" b="0">
                          <a:solidFill>
                            <a:srgbClr val="2B211C"/>
                          </a:solidFill>
                          <a:latin typeface="Calibri"/>
                        </a:rPr>
                        <a:t>Does it explain why the trial is needed and state the aim?</a:t>
                      </a:r>
                    </a:p>
                  </a:txBody>
                  <a:tcPr marL="109728" marR="109728" marT="45720" marB="45720" anchor="ctr">
                    <a:solidFill>
                      <a:srgbClr val="FFFFFF"/>
                    </a:solidFill>
                  </a:tcPr>
                </a:tc>
                <a:tc>
                  <a:txBody>
                    <a:bodyPr/>
                    <a:lstStyle/>
                    <a:p>
                      <a:r>
                        <a:rPr sz="1500" i="0" b="0">
                          <a:solidFill>
                            <a:srgbClr val="2B211C"/>
                          </a:solidFill>
                          <a:latin typeface="Calibri"/>
                        </a:rPr>
                        <a:t>No clear question</a:t>
                      </a:r>
                    </a:p>
                  </a:txBody>
                  <a:tcPr marL="109728" marR="109728" marT="45720" marB="45720" anchor="ctr">
                    <a:solidFill>
                      <a:srgbClr val="FFFFFF"/>
                    </a:solidFill>
                  </a:tcPr>
                </a:tc>
              </a:tr>
              <a:tr h="577215">
                <a:tc>
                  <a:txBody>
                    <a:bodyPr/>
                    <a:lstStyle/>
                    <a:p>
                      <a:r>
                        <a:rPr sz="1500" i="0" b="1">
                          <a:solidFill>
                            <a:srgbClr val="2B211C"/>
                          </a:solidFill>
                          <a:latin typeface="Calibri"/>
                        </a:rPr>
                        <a:t>4. Patients</a:t>
                      </a:r>
                    </a:p>
                  </a:txBody>
                  <a:tcPr marL="109728" marR="109728" marT="45720" marB="45720" anchor="ctr">
                    <a:solidFill>
                      <a:srgbClr val="FAF4F2"/>
                    </a:solidFill>
                  </a:tcPr>
                </a:tc>
                <a:tc>
                  <a:txBody>
                    <a:bodyPr/>
                    <a:lstStyle/>
                    <a:p>
                      <a:r>
                        <a:rPr sz="1500" i="0" b="0">
                          <a:solidFill>
                            <a:srgbClr val="2B211C"/>
                          </a:solidFill>
                          <a:latin typeface="Calibri"/>
                        </a:rPr>
                        <a:t>Who was included and excluded?</a:t>
                      </a:r>
                    </a:p>
                  </a:txBody>
                  <a:tcPr marL="109728" marR="109728" marT="45720" marB="45720" anchor="ctr">
                    <a:solidFill>
                      <a:srgbClr val="FAF4F2"/>
                    </a:solidFill>
                  </a:tcPr>
                </a:tc>
                <a:tc>
                  <a:txBody>
                    <a:bodyPr/>
                    <a:lstStyle/>
                    <a:p>
                      <a:r>
                        <a:rPr sz="1500" i="0" b="0">
                          <a:solidFill>
                            <a:srgbClr val="2B211C"/>
                          </a:solidFill>
                          <a:latin typeface="Calibri"/>
                        </a:rPr>
                        <a:t>Patients very unlike yours</a:t>
                      </a:r>
                    </a:p>
                  </a:txBody>
                  <a:tcPr marL="109728" marR="109728" marT="45720" marB="45720" anchor="ctr">
                    <a:solidFill>
                      <a:srgbClr val="FAF4F2"/>
                    </a:solidFill>
                  </a:tcPr>
                </a:tc>
              </a:tr>
              <a:tr h="577215">
                <a:tc>
                  <a:txBody>
                    <a:bodyPr/>
                    <a:lstStyle/>
                    <a:p>
                      <a:r>
                        <a:rPr sz="1500" i="0" b="1">
                          <a:solidFill>
                            <a:srgbClr val="2B211C"/>
                          </a:solidFill>
                          <a:latin typeface="Calibri"/>
                        </a:rPr>
                        <a:t>5. Randomisation and concealment</a:t>
                      </a:r>
                    </a:p>
                  </a:txBody>
                  <a:tcPr marL="109728" marR="109728" marT="45720" marB="45720" anchor="ctr">
                    <a:solidFill>
                      <a:srgbClr val="FFFFFF"/>
                    </a:solidFill>
                  </a:tcPr>
                </a:tc>
                <a:tc>
                  <a:txBody>
                    <a:bodyPr/>
                    <a:lstStyle/>
                    <a:p>
                      <a:r>
                        <a:rPr sz="1500" i="0" b="0">
                          <a:solidFill>
                            <a:srgbClr val="2B211C"/>
                          </a:solidFill>
                          <a:latin typeface="Calibri"/>
                        </a:rPr>
                        <a:t>How was the sequence made and hidden?</a:t>
                      </a:r>
                    </a:p>
                  </a:txBody>
                  <a:tcPr marL="109728" marR="109728" marT="45720" marB="45720" anchor="ctr">
                    <a:solidFill>
                      <a:srgbClr val="FFFFFF"/>
                    </a:solidFill>
                  </a:tcPr>
                </a:tc>
                <a:tc>
                  <a:txBody>
                    <a:bodyPr/>
                    <a:lstStyle/>
                    <a:p>
                      <a:r>
                        <a:rPr sz="1500" i="0" b="0">
                          <a:solidFill>
                            <a:srgbClr val="2B211C"/>
                          </a:solidFill>
                          <a:latin typeface="Calibri"/>
                        </a:rPr>
                        <a:t>Alternate days, open lists</a:t>
                      </a:r>
                    </a:p>
                  </a:txBody>
                  <a:tcPr marL="109728" marR="109728" marT="45720" marB="45720" anchor="ctr">
                    <a:solidFill>
                      <a:srgbClr val="FFFFFF"/>
                    </a:solidFill>
                  </a:tcPr>
                </a:tc>
              </a:tr>
              <a:tr h="577215">
                <a:tc>
                  <a:txBody>
                    <a:bodyPr/>
                    <a:lstStyle/>
                    <a:p>
                      <a:r>
                        <a:rPr sz="1500" i="0" b="1">
                          <a:solidFill>
                            <a:srgbClr val="2B211C"/>
                          </a:solidFill>
                          <a:latin typeface="Calibri"/>
                        </a:rPr>
                        <a:t>6. Blinding</a:t>
                      </a:r>
                    </a:p>
                  </a:txBody>
                  <a:tcPr marL="109728" marR="109728" marT="45720" marB="45720" anchor="ctr">
                    <a:solidFill>
                      <a:srgbClr val="FAF4F2"/>
                    </a:solidFill>
                  </a:tcPr>
                </a:tc>
                <a:tc>
                  <a:txBody>
                    <a:bodyPr/>
                    <a:lstStyle/>
                    <a:p>
                      <a:r>
                        <a:rPr sz="1500" i="0" b="0">
                          <a:solidFill>
                            <a:srgbClr val="2B211C"/>
                          </a:solidFill>
                          <a:latin typeface="Calibri"/>
                        </a:rPr>
                        <a:t>Who was blinded?</a:t>
                      </a:r>
                    </a:p>
                  </a:txBody>
                  <a:tcPr marL="109728" marR="109728" marT="45720" marB="45720" anchor="ctr">
                    <a:solidFill>
                      <a:srgbClr val="FAF4F2"/>
                    </a:solidFill>
                  </a:tcPr>
                </a:tc>
                <a:tc>
                  <a:txBody>
                    <a:bodyPr/>
                    <a:lstStyle/>
                    <a:p>
                      <a:r>
                        <a:rPr sz="1500" i="0" b="0">
                          <a:solidFill>
                            <a:srgbClr val="2B211C"/>
                          </a:solidFill>
                          <a:latin typeface="Calibri"/>
                        </a:rPr>
                        <a:t>Open label with a subjective outcome</a:t>
                      </a:r>
                    </a:p>
                  </a:txBody>
                  <a:tcPr marL="109728" marR="109728" marT="45720" marB="45720" anchor="ctr">
                    <a:solidFill>
                      <a:srgbClr val="FAF4F2"/>
                    </a:solidFill>
                  </a:tcPr>
                </a:tc>
              </a:tr>
              <a:tr h="577215">
                <a:tc>
                  <a:txBody>
                    <a:bodyPr/>
                    <a:lstStyle/>
                    <a:p>
                      <a:r>
                        <a:rPr sz="1500" i="0" b="1">
                          <a:solidFill>
                            <a:srgbClr val="2B211C"/>
                          </a:solidFill>
                          <a:latin typeface="Calibri"/>
                        </a:rPr>
                        <a:t>7. Comparator and outcomes</a:t>
                      </a:r>
                    </a:p>
                  </a:txBody>
                  <a:tcPr marL="109728" marR="109728" marT="45720" marB="45720" anchor="ctr">
                    <a:solidFill>
                      <a:srgbClr val="FFFFFF"/>
                    </a:solidFill>
                  </a:tcPr>
                </a:tc>
                <a:tc>
                  <a:txBody>
                    <a:bodyPr/>
                    <a:lstStyle/>
                    <a:p>
                      <a:r>
                        <a:rPr sz="1500" i="0" b="0">
                          <a:solidFill>
                            <a:srgbClr val="2B211C"/>
                          </a:solidFill>
                          <a:latin typeface="Calibri"/>
                        </a:rPr>
                        <a:t>Was the comparator fair? Was the primary outcome set in advance?</a:t>
                      </a:r>
                    </a:p>
                  </a:txBody>
                  <a:tcPr marL="109728" marR="109728" marT="45720" marB="45720" anchor="ctr">
                    <a:solidFill>
                      <a:srgbClr val="FFFFFF"/>
                    </a:solidFill>
                  </a:tcPr>
                </a:tc>
                <a:tc>
                  <a:txBody>
                    <a:bodyPr/>
                    <a:lstStyle/>
                    <a:p>
                      <a:r>
                        <a:rPr sz="1500" i="0" b="0">
                          <a:solidFill>
                            <a:srgbClr val="2B211C"/>
                          </a:solidFill>
                          <a:latin typeface="Calibri"/>
                        </a:rPr>
                        <a:t>Placebo when a standard drug exists; outcome changed later</a:t>
                      </a:r>
                    </a:p>
                  </a:txBody>
                  <a:tcPr marL="109728" marR="109728" marT="45720" marB="4572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Ten-Question Checklist (2/2)</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06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2560320"/>
        </p:xfrm>
        <a:graphic>
          <a:graphicData uri="http://schemas.openxmlformats.org/drawingml/2006/table">
            <a:tbl>
              <a:tblPr firstRow="0" bandRow="0">
                <a:tableStyleId>{5C22544A-7EE6-4342-B048-85BDC9FD1C3A}</a:tableStyleId>
              </a:tblPr>
              <a:tblGrid>
                <a:gridCol w="2507641"/>
                <a:gridCol w="5167261"/>
                <a:gridCol w="3419511"/>
              </a:tblGrid>
              <a:tr h="640080">
                <a:tc>
                  <a:txBody>
                    <a:bodyPr/>
                    <a:lstStyle/>
                    <a:p>
                      <a:r>
                        <a:rPr sz="1700" i="0" b="1">
                          <a:solidFill>
                            <a:srgbClr val="FFFFFF"/>
                          </a:solidFill>
                          <a:latin typeface="Calibri"/>
                        </a:rPr>
                        <a:t>Part</a:t>
                      </a:r>
                    </a:p>
                  </a:txBody>
                  <a:tcPr marL="109728" marR="109728" marT="45720" marB="45720" anchor="ctr">
                    <a:solidFill>
                      <a:srgbClr val="A4472B"/>
                    </a:solidFill>
                  </a:tcPr>
                </a:tc>
                <a:tc>
                  <a:txBody>
                    <a:bodyPr/>
                    <a:lstStyle/>
                    <a:p>
                      <a:r>
                        <a:rPr sz="1700" i="0" b="1">
                          <a:solidFill>
                            <a:srgbClr val="FFFFFF"/>
                          </a:solidFill>
                          <a:latin typeface="Calibri"/>
                        </a:rPr>
                        <a:t>Question to ask</a:t>
                      </a:r>
                    </a:p>
                  </a:txBody>
                  <a:tcPr marL="109728" marR="109728" marT="45720" marB="45720" anchor="ctr">
                    <a:solidFill>
                      <a:srgbClr val="A4472B"/>
                    </a:solidFill>
                  </a:tcPr>
                </a:tc>
                <a:tc>
                  <a:txBody>
                    <a:bodyPr/>
                    <a:lstStyle/>
                    <a:p>
                      <a:r>
                        <a:rPr sz="1700" i="0" b="1">
                          <a:solidFill>
                            <a:srgbClr val="FFFFFF"/>
                          </a:solidFill>
                          <a:latin typeface="Calibri"/>
                        </a:rPr>
                        <a:t>Warning sign</a:t>
                      </a:r>
                    </a:p>
                  </a:txBody>
                  <a:tcPr marL="109728" marR="109728" marT="45720" marB="45720" anchor="ctr">
                    <a:solidFill>
                      <a:srgbClr val="A4472B"/>
                    </a:solidFill>
                  </a:tcPr>
                </a:tc>
              </a:tr>
              <a:tr h="640080">
                <a:tc>
                  <a:txBody>
                    <a:bodyPr/>
                    <a:lstStyle/>
                    <a:p>
                      <a:r>
                        <a:rPr sz="1800" i="0" b="1">
                          <a:solidFill>
                            <a:srgbClr val="2B211C"/>
                          </a:solidFill>
                          <a:latin typeface="Calibri"/>
                        </a:rPr>
                        <a:t>8. Results</a:t>
                      </a:r>
                    </a:p>
                  </a:txBody>
                  <a:tcPr marL="109728" marR="109728" marT="45720" marB="45720" anchor="ctr">
                    <a:solidFill>
                      <a:srgbClr val="FFFFFF"/>
                    </a:solidFill>
                  </a:tcPr>
                </a:tc>
                <a:tc>
                  <a:txBody>
                    <a:bodyPr/>
                    <a:lstStyle/>
                    <a:p>
                      <a:r>
                        <a:rPr sz="1800" i="0" b="0">
                          <a:solidFill>
                            <a:srgbClr val="2B211C"/>
                          </a:solidFill>
                          <a:latin typeface="Calibri"/>
                        </a:rPr>
                        <a:t>Were all patients analysed in their groups (intention-to-treat)? How big was the effect?</a:t>
                      </a:r>
                    </a:p>
                  </a:txBody>
                  <a:tcPr marL="109728" marR="109728" marT="45720" marB="45720" anchor="ctr">
                    <a:solidFill>
                      <a:srgbClr val="FFFFFF"/>
                    </a:solidFill>
                  </a:tcPr>
                </a:tc>
                <a:tc>
                  <a:txBody>
                    <a:bodyPr/>
                    <a:lstStyle/>
                    <a:p>
                      <a:r>
                        <a:rPr sz="1800" i="0" b="0">
                          <a:solidFill>
                            <a:srgbClr val="2B211C"/>
                          </a:solidFill>
                          <a:latin typeface="Calibri"/>
                        </a:rPr>
                        <a:t>Many drop-outs; only relative numbers</a:t>
                      </a:r>
                    </a:p>
                  </a:txBody>
                  <a:tcPr marL="109728" marR="109728" marT="45720" marB="45720" anchor="ctr">
                    <a:solidFill>
                      <a:srgbClr val="FFFFFF"/>
                    </a:solidFill>
                  </a:tcPr>
                </a:tc>
              </a:tr>
              <a:tr h="640080">
                <a:tc>
                  <a:txBody>
                    <a:bodyPr/>
                    <a:lstStyle/>
                    <a:p>
                      <a:r>
                        <a:rPr sz="1800" i="0" b="1">
                          <a:solidFill>
                            <a:srgbClr val="2B211C"/>
                          </a:solidFill>
                          <a:latin typeface="Calibri"/>
                        </a:rPr>
                        <a:t>9. Discussion</a:t>
                      </a:r>
                    </a:p>
                  </a:txBody>
                  <a:tcPr marL="109728" marR="109728" marT="45720" marB="45720" anchor="ctr">
                    <a:solidFill>
                      <a:srgbClr val="FAF4F2"/>
                    </a:solidFill>
                  </a:tcPr>
                </a:tc>
                <a:tc>
                  <a:txBody>
                    <a:bodyPr/>
                    <a:lstStyle/>
                    <a:p>
                      <a:r>
                        <a:rPr sz="1800" i="0" b="0">
                          <a:solidFill>
                            <a:srgbClr val="2B211C"/>
                          </a:solidFill>
                          <a:latin typeface="Calibri"/>
                        </a:rPr>
                        <a:t>Do the authors discuss limitations?</a:t>
                      </a:r>
                    </a:p>
                  </a:txBody>
                  <a:tcPr marL="109728" marR="109728" marT="45720" marB="45720" anchor="ctr">
                    <a:solidFill>
                      <a:srgbClr val="FAF4F2"/>
                    </a:solidFill>
                  </a:tcPr>
                </a:tc>
                <a:tc>
                  <a:txBody>
                    <a:bodyPr/>
                    <a:lstStyle/>
                    <a:p>
                      <a:r>
                        <a:rPr sz="1800" i="0" b="0">
                          <a:solidFill>
                            <a:srgbClr val="2B211C"/>
                          </a:solidFill>
                          <a:latin typeface="Calibri"/>
                        </a:rPr>
                        <a:t>Conclusions go beyond the data</a:t>
                      </a:r>
                    </a:p>
                  </a:txBody>
                  <a:tcPr marL="109728" marR="109728" marT="45720" marB="45720" anchor="ctr">
                    <a:solidFill>
                      <a:srgbClr val="FAF4F2"/>
                    </a:solidFill>
                  </a:tcPr>
                </a:tc>
              </a:tr>
              <a:tr h="640080">
                <a:tc>
                  <a:txBody>
                    <a:bodyPr/>
                    <a:lstStyle/>
                    <a:p>
                      <a:r>
                        <a:rPr sz="1800" i="0" b="1">
                          <a:solidFill>
                            <a:srgbClr val="2B211C"/>
                          </a:solidFill>
                          <a:latin typeface="Calibri"/>
                        </a:rPr>
                        <a:t>10. Funding and conflicts</a:t>
                      </a:r>
                    </a:p>
                  </a:txBody>
                  <a:tcPr marL="109728" marR="109728" marT="45720" marB="45720" anchor="ctr">
                    <a:solidFill>
                      <a:srgbClr val="FFFFFF"/>
                    </a:solidFill>
                  </a:tcPr>
                </a:tc>
                <a:tc>
                  <a:txBody>
                    <a:bodyPr/>
                    <a:lstStyle/>
                    <a:p>
                      <a:r>
                        <a:rPr sz="1800" i="0" b="0">
                          <a:solidFill>
                            <a:srgbClr val="2B211C"/>
                          </a:solidFill>
                          <a:latin typeface="Calibri"/>
                        </a:rPr>
                        <a:t>Who paid? Do the authors have links to the company?</a:t>
                      </a:r>
                    </a:p>
                  </a:txBody>
                  <a:tcPr marL="109728" marR="109728" marT="45720" marB="45720" anchor="ctr">
                    <a:solidFill>
                      <a:srgbClr val="FFFFFF"/>
                    </a:solidFill>
                  </a:tcPr>
                </a:tc>
                <a:tc>
                  <a:txBody>
                    <a:bodyPr/>
                    <a:lstStyle/>
                    <a:p>
                      <a:r>
                        <a:rPr sz="1800" i="0" b="0">
                          <a:solidFill>
                            <a:srgbClr val="2B211C"/>
                          </a:solidFill>
                          <a:latin typeface="Calibri"/>
                        </a:rPr>
                        <a:t>Hidden funding</a:t>
                      </a:r>
                    </a:p>
                  </a:txBody>
                  <a:tcPr marL="109728" marR="109728" marT="45720" marB="45720"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title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07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2B211C"/>
                </a:solidFill>
                <a:latin typeface="Calibri"/>
              </a:rPr>
              <a:t>A title should reflect the work, be specific and unbiased, and identify the study as a randomised trial. It should not be phrased as a question, and it is usually short (about ten words or fewer).</a:t>
            </a:r>
          </a:p>
          <a:p>
            <a:pPr>
              <a:spcAft>
                <a:spcPts val="800"/>
              </a:spcAft>
            </a:pPr>
            <a:r>
              <a:rPr sz="2100" i="0" b="0">
                <a:solidFill>
                  <a:srgbClr val="2B211C"/>
                </a:solidFill>
                <a:latin typeface="Calibri"/>
              </a:rPr>
              <a:t>The first title tells you the answer before you read the data.</a:t>
            </a:r>
          </a:p>
          <a:p>
            <a:pPr>
              <a:spcAft>
                <a:spcPts val="800"/>
              </a:spcAft>
            </a:pPr>
            <a:r>
              <a:rPr sz="2100" i="0" b="0">
                <a:solidFill>
                  <a:srgbClr val="2B211C"/>
                </a:solidFill>
                <a:latin typeface="Calibri"/>
              </a:rPr>
              <a:t>Most journals use a </a:t>
            </a:r>
            <a:r>
              <a:rPr sz="2100" i="0" b="1">
                <a:solidFill>
                  <a:srgbClr val="2B211C"/>
                </a:solidFill>
                <a:latin typeface="Calibri"/>
              </a:rPr>
              <a:t>structured abstract</a:t>
            </a:r>
            <a:r>
              <a:rPr sz="2100" i="0" b="0">
                <a:solidFill>
                  <a:srgbClr val="2B211C"/>
                </a:solidFill>
                <a:latin typeface="Calibri"/>
              </a:rPr>
              <a:t> with headings. It is more informative, easier to read and preferred by readers. The word limit is set by each journal, often 250-300 words. An abstract is only a summary. Never answer a question from the abstract alone; read the full paper.</a:t>
            </a:r>
          </a:p>
          <a:p>
            <a:pPr>
              <a:spcAft>
                <a:spcPts val="800"/>
              </a:spcAft>
            </a:pPr>
            <a:r>
              <a:rPr sz="2100" i="0" b="0">
                <a:solidFill>
                  <a:srgbClr val="2B211C"/>
                </a:solidFill>
                <a:latin typeface="Calibri"/>
              </a:rPr>
              <a:t>The investigators should be trained and experienced in the area. The site must have the resources to carry out the methods. Everyone involved must protect the patients enrolled (Chapter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title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08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1">
                <a:solidFill>
                  <a:srgbClr val="2B211C"/>
                </a:solidFill>
                <a:latin typeface="Calibri"/>
              </a:rPr>
              <a:t>Biased:</a:t>
            </a:r>
            <a:r>
              <a:rPr sz="2100" i="0" b="0">
                <a:solidFill>
                  <a:srgbClr val="2B211C"/>
                </a:solidFill>
                <a:latin typeface="Calibri"/>
              </a:rPr>
              <a:t> "Improved bronchodilation with levalbuterol compared with racemic albuterol in patients with asthma."</a:t>
            </a:r>
          </a:p>
        </p:txBody>
      </p:sp>
      <p:sp>
        <p:nvSpPr>
          <p:cNvPr id="10" name="Oval 9"/>
          <p:cNvSpPr/>
          <p:nvPr/>
        </p:nvSpPr>
        <p:spPr>
          <a:xfrm>
            <a:off x="548640" y="2760726"/>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1" name="TextBox 10"/>
          <p:cNvSpPr txBox="1"/>
          <p:nvPr/>
        </p:nvSpPr>
        <p:spPr>
          <a:xfrm>
            <a:off x="1143000" y="2779014"/>
            <a:ext cx="10500055" cy="1142237"/>
          </a:xfrm>
          <a:prstGeom prst="rect">
            <a:avLst/>
          </a:prstGeom>
          <a:noFill/>
        </p:spPr>
        <p:txBody>
          <a:bodyPr wrap="square" anchor="t" lIns="0" rIns="0" tIns="0" bIns="0">
            <a:spAutoFit/>
          </a:bodyPr>
          <a:lstStyle/>
          <a:p>
            <a:r>
              <a:rPr sz="2100" i="0" b="1">
                <a:solidFill>
                  <a:srgbClr val="2B211C"/>
                </a:solidFill>
                <a:latin typeface="Calibri"/>
              </a:rPr>
              <a:t>Neutral:</a:t>
            </a:r>
            <a:r>
              <a:rPr sz="2100" i="0" b="0">
                <a:solidFill>
                  <a:srgbClr val="2B211C"/>
                </a:solidFill>
                <a:latin typeface="Calibri"/>
              </a:rPr>
              <a:t> "Comparison of levalbuterol and racemic albuterol bronchodilation in patients with asthma: a randomised clinical trial."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size of the effect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09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2B211C"/>
                </a:solidFill>
                <a:latin typeface="Calibri"/>
              </a:rPr>
              <a:t>In an </a:t>
            </a:r>
            <a:r>
              <a:rPr sz="2100" i="0" b="1">
                <a:solidFill>
                  <a:srgbClr val="2B211C"/>
                </a:solidFill>
                <a:latin typeface="Calibri"/>
              </a:rPr>
              <a:t>intention-to-treat (ITT)</a:t>
            </a:r>
            <a:r>
              <a:rPr sz="2100" i="0" b="0">
                <a:solidFill>
                  <a:srgbClr val="2B211C"/>
                </a:solidFill>
                <a:latin typeface="Calibri"/>
              </a:rPr>
              <a:t> analysis, every randomised patient is analysed in the group they were assigned to, even if they stopped the drug. ITT keeps the benefit of randomisation. A </a:t>
            </a:r>
            <a:r>
              <a:rPr sz="2100" i="0" b="1">
                <a:solidFill>
                  <a:srgbClr val="2B211C"/>
                </a:solidFill>
                <a:latin typeface="Calibri"/>
              </a:rPr>
              <a:t>per-protocol</a:t>
            </a:r>
            <a:r>
              <a:rPr sz="2100" i="0" b="0">
                <a:solidFill>
                  <a:srgbClr val="2B211C"/>
                </a:solidFill>
                <a:latin typeface="Calibri"/>
              </a:rPr>
              <a:t> analysis includes only patients who completed the treatment. It can make a drug look better than it really is, because patients who stopped due to side effects are left out.</a:t>
            </a:r>
          </a:p>
          <a:p>
            <a:pPr>
              <a:spcAft>
                <a:spcPts val="800"/>
              </a:spcAft>
            </a:pPr>
            <a:r>
              <a:rPr sz="2100" i="0" b="0">
                <a:solidFill>
                  <a:srgbClr val="2B211C"/>
                </a:solidFill>
                <a:latin typeface="Calibri"/>
              </a:rPr>
              <a:t>Companies often quote the RRR ("30% fewer strokes") because it sounds larger. The ARR and NNT tell you the real benefit for patients. Also look at the 95% confidence interval: a wide interval means the result is uncertain.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The size of the effect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10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200400"/>
        </p:xfrm>
        <a:graphic>
          <a:graphicData uri="http://schemas.openxmlformats.org/drawingml/2006/table">
            <a:tbl>
              <a:tblPr firstRow="0" bandRow="0">
                <a:tableStyleId>{5C22544A-7EE6-4342-B048-85BDC9FD1C3A}</a:tableStyleId>
              </a:tblPr>
              <a:tblGrid>
                <a:gridCol w="4561037"/>
                <a:gridCol w="6533377"/>
              </a:tblGrid>
              <a:tr h="640080">
                <a:tc>
                  <a:txBody>
                    <a:bodyPr/>
                    <a:lstStyle/>
                    <a:p>
                      <a:r>
                        <a:rPr sz="1900" i="0" b="1">
                          <a:solidFill>
                            <a:srgbClr val="FFFFFF"/>
                          </a:solidFill>
                          <a:latin typeface="Calibri"/>
                        </a:rPr>
                        <a:t>Measure</a:t>
                      </a:r>
                    </a:p>
                  </a:txBody>
                  <a:tcPr marL="109728" marR="109728" marT="45720" marB="45720" anchor="ctr">
                    <a:solidFill>
                      <a:srgbClr val="A4472B"/>
                    </a:solidFill>
                  </a:tcPr>
                </a:tc>
                <a:tc>
                  <a:txBody>
                    <a:bodyPr/>
                    <a:lstStyle/>
                    <a:p>
                      <a:r>
                        <a:rPr sz="1900" i="0" b="1">
                          <a:solidFill>
                            <a:srgbClr val="FFFFFF"/>
                          </a:solidFill>
                          <a:latin typeface="Calibri"/>
                        </a:rPr>
                        <a:t>Example: stroke in 10% on placebo, 7% on drug</a:t>
                      </a:r>
                    </a:p>
                  </a:txBody>
                  <a:tcPr marL="109728" marR="109728" marT="45720" marB="45720" anchor="ctr">
                    <a:solidFill>
                      <a:srgbClr val="A4472B"/>
                    </a:solidFill>
                  </a:tcPr>
                </a:tc>
              </a:tr>
              <a:tr h="640080">
                <a:tc>
                  <a:txBody>
                    <a:bodyPr/>
                    <a:lstStyle/>
                    <a:p>
                      <a:r>
                        <a:rPr sz="2000" i="0" b="1">
                          <a:solidFill>
                            <a:srgbClr val="2B211C"/>
                          </a:solidFill>
                          <a:latin typeface="Calibri"/>
                        </a:rPr>
                        <a:t>Relative risk (RR)</a:t>
                      </a:r>
                    </a:p>
                  </a:txBody>
                  <a:tcPr marL="109728" marR="109728" marT="45720" marB="45720" anchor="ctr">
                    <a:solidFill>
                      <a:srgbClr val="FFFFFF"/>
                    </a:solidFill>
                  </a:tcPr>
                </a:tc>
                <a:tc>
                  <a:txBody>
                    <a:bodyPr/>
                    <a:lstStyle/>
                    <a:p>
                      <a:r>
                        <a:rPr sz="2000" i="0" b="0">
                          <a:solidFill>
                            <a:srgbClr val="2B211C"/>
                          </a:solidFill>
                          <a:latin typeface="Calibri"/>
                        </a:rPr>
                        <a:t>7 ÷ 10 = 0.7</a:t>
                      </a:r>
                    </a:p>
                  </a:txBody>
                  <a:tcPr marL="109728" marR="109728" marT="45720" marB="45720" anchor="ctr">
                    <a:solidFill>
                      <a:srgbClr val="FFFFFF"/>
                    </a:solidFill>
                  </a:tcPr>
                </a:tc>
              </a:tr>
              <a:tr h="640080">
                <a:tc>
                  <a:txBody>
                    <a:bodyPr/>
                    <a:lstStyle/>
                    <a:p>
                      <a:r>
                        <a:rPr sz="2000" i="0" b="1">
                          <a:solidFill>
                            <a:srgbClr val="2B211C"/>
                          </a:solidFill>
                          <a:latin typeface="Calibri"/>
                        </a:rPr>
                        <a:t>Relative risk reduction (RRR)</a:t>
                      </a:r>
                    </a:p>
                  </a:txBody>
                  <a:tcPr marL="109728" marR="109728" marT="45720" marB="45720" anchor="ctr">
                    <a:solidFill>
                      <a:srgbClr val="FAF4F2"/>
                    </a:solidFill>
                  </a:tcPr>
                </a:tc>
                <a:tc>
                  <a:txBody>
                    <a:bodyPr/>
                    <a:lstStyle/>
                    <a:p>
                      <a:r>
                        <a:rPr sz="2000" i="0" b="0">
                          <a:solidFill>
                            <a:srgbClr val="2B211C"/>
                          </a:solidFill>
                          <a:latin typeface="Calibri"/>
                        </a:rPr>
                        <a:t>30%</a:t>
                      </a:r>
                    </a:p>
                  </a:txBody>
                  <a:tcPr marL="109728" marR="109728" marT="45720" marB="45720" anchor="ctr">
                    <a:solidFill>
                      <a:srgbClr val="FAF4F2"/>
                    </a:solidFill>
                  </a:tcPr>
                </a:tc>
              </a:tr>
              <a:tr h="640080">
                <a:tc>
                  <a:txBody>
                    <a:bodyPr/>
                    <a:lstStyle/>
                    <a:p>
                      <a:r>
                        <a:rPr sz="2000" i="0" b="1">
                          <a:solidFill>
                            <a:srgbClr val="2B211C"/>
                          </a:solidFill>
                          <a:latin typeface="Calibri"/>
                        </a:rPr>
                        <a:t>Absolute risk reduction (ARR)</a:t>
                      </a:r>
                    </a:p>
                  </a:txBody>
                  <a:tcPr marL="109728" marR="109728" marT="45720" marB="45720" anchor="ctr">
                    <a:solidFill>
                      <a:srgbClr val="FFFFFF"/>
                    </a:solidFill>
                  </a:tcPr>
                </a:tc>
                <a:tc>
                  <a:txBody>
                    <a:bodyPr/>
                    <a:lstStyle/>
                    <a:p>
                      <a:r>
                        <a:rPr sz="2000" i="0" b="0">
                          <a:solidFill>
                            <a:srgbClr val="2B211C"/>
                          </a:solidFill>
                          <a:latin typeface="Calibri"/>
                        </a:rPr>
                        <a:t>10% − 7% = 3%</a:t>
                      </a:r>
                    </a:p>
                  </a:txBody>
                  <a:tcPr marL="109728" marR="109728" marT="45720" marB="45720" anchor="ctr">
                    <a:solidFill>
                      <a:srgbClr val="FFFFFF"/>
                    </a:solidFill>
                  </a:tcPr>
                </a:tc>
              </a:tr>
              <a:tr h="640080">
                <a:tc>
                  <a:txBody>
                    <a:bodyPr/>
                    <a:lstStyle/>
                    <a:p>
                      <a:r>
                        <a:rPr sz="2000" i="0" b="1">
                          <a:solidFill>
                            <a:srgbClr val="2B211C"/>
                          </a:solidFill>
                          <a:latin typeface="Calibri"/>
                        </a:rPr>
                        <a:t>Number needed to treat (NNT)</a:t>
                      </a:r>
                    </a:p>
                  </a:txBody>
                  <a:tcPr marL="109728" marR="109728" marT="45720" marB="45720" anchor="ctr">
                    <a:solidFill>
                      <a:srgbClr val="FAF4F2"/>
                    </a:solidFill>
                  </a:tcPr>
                </a:tc>
                <a:tc>
                  <a:txBody>
                    <a:bodyPr/>
                    <a:lstStyle/>
                    <a:p>
                      <a:r>
                        <a:rPr sz="2000" i="0" b="0">
                          <a:solidFill>
                            <a:srgbClr val="2B211C"/>
                          </a:solidFill>
                          <a:latin typeface="Calibri"/>
                        </a:rPr>
                        <a:t>1 ÷ 0.03 ≈ 33</a:t>
                      </a:r>
                    </a:p>
                  </a:txBody>
                  <a:tcPr marL="109728" marR="109728" marT="45720" marB="45720" anchor="ctr">
                    <a:solidFill>
                      <a:srgbClr val="FAF4F2"/>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Reading the Results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11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A statistically significant result is not always clinically important. Check the effect size, the confidence interval and the adverse effects before you recommend a drug.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Does It Apply to My Patient?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12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202436"/>
          </a:xfrm>
          <a:prstGeom prst="rect">
            <a:avLst/>
          </a:prstGeom>
          <a:noFill/>
        </p:spPr>
        <p:txBody>
          <a:bodyPr wrap="square" anchor="t" lIns="0" rIns="0" tIns="0" bIns="0">
            <a:spAutoFit/>
          </a:bodyPr>
          <a:lstStyle/>
          <a:p>
            <a:pPr>
              <a:spcAft>
                <a:spcPts val="800"/>
              </a:spcAft>
            </a:pPr>
            <a:r>
              <a:rPr sz="1800" i="0" b="0">
                <a:solidFill>
                  <a:srgbClr val="2B211C"/>
                </a:solidFill>
                <a:latin typeface="Calibri"/>
              </a:rPr>
              <a:t>After judging validity and results, ask:</a:t>
            </a:r>
          </a:p>
          <a:p>
            <a:pPr>
              <a:spcAft>
                <a:spcPts val="800"/>
              </a:spcAft>
            </a:pPr>
            <a:r>
              <a:rPr sz="1800" i="0" b="1">
                <a:solidFill>
                  <a:srgbClr val="2B211C"/>
                </a:solidFill>
                <a:latin typeface="Calibri"/>
              </a:rPr>
              <a:t>Surrogate outcomes</a:t>
            </a:r>
            <a:r>
              <a:rPr sz="1800" i="0" b="0">
                <a:solidFill>
                  <a:srgbClr val="2B211C"/>
                </a:solidFill>
                <a:latin typeface="Calibri"/>
              </a:rPr>
              <a:t>, such as a lower cholesterol or HbA1c, are useful but do not always mean fewer heart attacks or deaths. Prefer trials with hard, patient-important outcomes.</a:t>
            </a:r>
          </a:p>
        </p:txBody>
      </p:sp>
      <p:sp>
        <p:nvSpPr>
          <p:cNvPr id="9" name="Oval 8"/>
          <p:cNvSpPr/>
          <p:nvPr/>
        </p:nvSpPr>
        <p:spPr>
          <a:xfrm>
            <a:off x="548640" y="2958084"/>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1</a:t>
            </a:r>
          </a:p>
        </p:txBody>
      </p:sp>
      <p:sp>
        <p:nvSpPr>
          <p:cNvPr id="10" name="TextBox 9"/>
          <p:cNvSpPr txBox="1"/>
          <p:nvPr/>
        </p:nvSpPr>
        <p:spPr>
          <a:xfrm>
            <a:off x="1143000" y="2976372"/>
            <a:ext cx="10500055" cy="679037"/>
          </a:xfrm>
          <a:prstGeom prst="rect">
            <a:avLst/>
          </a:prstGeom>
          <a:noFill/>
        </p:spPr>
        <p:txBody>
          <a:bodyPr wrap="square" anchor="t" lIns="0" rIns="0" tIns="0" bIns="0">
            <a:spAutoFit/>
          </a:bodyPr>
          <a:lstStyle/>
          <a:p>
            <a:r>
              <a:rPr sz="2100" i="0" b="0">
                <a:solidFill>
                  <a:srgbClr val="2B211C"/>
                </a:solidFill>
                <a:latin typeface="Calibri"/>
              </a:rPr>
              <a:t>Is my patient like the trial patients (age, kidney function, other illnesses)?</a:t>
            </a:r>
          </a:p>
        </p:txBody>
      </p:sp>
      <p:sp>
        <p:nvSpPr>
          <p:cNvPr id="11" name="Oval 10"/>
          <p:cNvSpPr/>
          <p:nvPr/>
        </p:nvSpPr>
        <p:spPr>
          <a:xfrm>
            <a:off x="548640" y="3682841"/>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2</a:t>
            </a:r>
          </a:p>
        </p:txBody>
      </p:sp>
      <p:sp>
        <p:nvSpPr>
          <p:cNvPr id="12" name="TextBox 11"/>
          <p:cNvSpPr txBox="1"/>
          <p:nvPr/>
        </p:nvSpPr>
        <p:spPr>
          <a:xfrm>
            <a:off x="1143000" y="3701129"/>
            <a:ext cx="10500055" cy="1012412"/>
          </a:xfrm>
          <a:prstGeom prst="rect">
            <a:avLst/>
          </a:prstGeom>
          <a:noFill/>
        </p:spPr>
        <p:txBody>
          <a:bodyPr wrap="square" anchor="t" lIns="0" rIns="0" tIns="0" bIns="0">
            <a:spAutoFit/>
          </a:bodyPr>
          <a:lstStyle/>
          <a:p>
            <a:r>
              <a:rPr sz="2100" i="0" b="0">
                <a:solidFill>
                  <a:srgbClr val="2B211C"/>
                </a:solidFill>
                <a:latin typeface="Calibri"/>
              </a:rPr>
              <a:t>Were the outcomes important to patients (death, stroke, quality of life), or only laboratory values?</a:t>
            </a:r>
          </a:p>
        </p:txBody>
      </p:sp>
      <p:sp>
        <p:nvSpPr>
          <p:cNvPr id="13" name="Oval 12"/>
          <p:cNvSpPr/>
          <p:nvPr/>
        </p:nvSpPr>
        <p:spPr>
          <a:xfrm>
            <a:off x="548640" y="4740973"/>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3</a:t>
            </a:r>
          </a:p>
        </p:txBody>
      </p:sp>
      <p:sp>
        <p:nvSpPr>
          <p:cNvPr id="14" name="TextBox 13"/>
          <p:cNvSpPr txBox="1"/>
          <p:nvPr/>
        </p:nvSpPr>
        <p:spPr>
          <a:xfrm>
            <a:off x="1143000" y="4759261"/>
            <a:ext cx="10500055" cy="679037"/>
          </a:xfrm>
          <a:prstGeom prst="rect">
            <a:avLst/>
          </a:prstGeom>
          <a:noFill/>
        </p:spPr>
        <p:txBody>
          <a:bodyPr wrap="square" anchor="t" lIns="0" rIns="0" tIns="0" bIns="0">
            <a:spAutoFit/>
          </a:bodyPr>
          <a:lstStyle/>
          <a:p>
            <a:r>
              <a:rPr sz="2100" i="0" b="0">
                <a:solidFill>
                  <a:srgbClr val="2B211C"/>
                </a:solidFill>
                <a:latin typeface="Calibri"/>
              </a:rPr>
              <a:t>Do the benefits outweigh the harms and the cost?</a:t>
            </a:r>
          </a:p>
        </p:txBody>
      </p:sp>
      <p:sp>
        <p:nvSpPr>
          <p:cNvPr id="15" name="Oval 14"/>
          <p:cNvSpPr/>
          <p:nvPr/>
        </p:nvSpPr>
        <p:spPr>
          <a:xfrm>
            <a:off x="548640" y="5465730"/>
            <a:ext cx="402336" cy="402336"/>
          </a:xfrm>
          <a:prstGeom prst="ellipse">
            <a:avLst/>
          </a:prstGeom>
          <a:solidFill>
            <a:srgbClr val="E6EE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2F6F7A"/>
                </a:solidFill>
                <a:latin typeface="Calibri"/>
              </a:rPr>
              <a:t>4</a:t>
            </a:r>
          </a:p>
        </p:txBody>
      </p:sp>
      <p:sp>
        <p:nvSpPr>
          <p:cNvPr id="16" name="TextBox 15"/>
          <p:cNvSpPr txBox="1"/>
          <p:nvPr/>
        </p:nvSpPr>
        <p:spPr>
          <a:xfrm>
            <a:off x="1143000" y="5484018"/>
            <a:ext cx="10500055" cy="679037"/>
          </a:xfrm>
          <a:prstGeom prst="rect">
            <a:avLst/>
          </a:prstGeom>
          <a:noFill/>
        </p:spPr>
        <p:txBody>
          <a:bodyPr wrap="square" anchor="t" lIns="0" rIns="0" tIns="0" bIns="0">
            <a:spAutoFit/>
          </a:bodyPr>
          <a:lstStyle/>
          <a:p>
            <a:r>
              <a:rPr sz="2100" i="0" b="0">
                <a:solidFill>
                  <a:srgbClr val="2B211C"/>
                </a:solidFill>
                <a:latin typeface="Calibri"/>
              </a:rPr>
              <a:t>Is the drug available and affordable in Egypt?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Does It Apply to My Patient?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13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2B211C"/>
                </a:solidFill>
                <a:latin typeface="Calibri"/>
              </a:rPr>
              <a:t>ITT keeps randomisation; per-protocol can exaggerate benefit.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E6EEE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At the Pharmacy</a:t>
            </a:r>
          </a:p>
          <a:p>
            <a:r>
              <a:rPr sz="1400" i="0" b="1" spc="150">
                <a:solidFill>
                  <a:srgbClr val="E6EEEF"/>
                </a:solidFill>
                <a:latin typeface="Calibri"/>
              </a:rPr>
              <a:t>Section 6</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company representative gives you a leaflet: "New drug cuts heart attacks by 50%!" You find the trial. Heart attacks fell from 2% to 1% over three years. The ARR is 1% and the NNT is 100. The trial excluded patients over 75. You explain to the prescriber that the benefit is real but small, and uncertain for the older patients on your ward.</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Critical Appraisal of a Clinical Trial</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14 / 26</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1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15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trial title is best?</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"Drug X is superior to drug Y in hypertension"</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"Does drug X work?"</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"Drug X versus drug Y in hypertension: a randomised controlled trial"</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 new hope for patients with high blood pressure"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1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16 / 26</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trial title is best?</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"Drug X is superior to drug Y in hypertension"</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"Does drug X work?"</a:t>
            </a:r>
          </a:p>
        </p:txBody>
      </p:sp>
      <p:sp>
        <p:nvSpPr>
          <p:cNvPr id="15" name="Rounded Rectangle 14"/>
          <p:cNvSpPr/>
          <p:nvPr/>
        </p:nvSpPr>
        <p:spPr>
          <a:xfrm>
            <a:off x="548640" y="3959352"/>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"Drug X versus drug Y in hypertension: a randomised controlled trial"</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 new hope for patients with high blood pressure"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It is neutral and names the design. A announces the result, B is a question, D is promotional.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2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17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assigned patients by day of admission (odd days drug, even days placebo). What is the problem?</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The groups will be too large</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allocation can be predicted, so selection bias is possible</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The trial cannot be blinded</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The outcome is subjective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2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18 / 26</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assigned patients by day of admission (odd days drug, even days placebo). What is the problem?</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The groups will be too large</a:t>
            </a:r>
          </a:p>
        </p:txBody>
      </p:sp>
      <p:sp>
        <p:nvSpPr>
          <p:cNvPr id="12" name="Rounded Rectangle 11"/>
          <p:cNvSpPr/>
          <p:nvPr/>
        </p:nvSpPr>
        <p:spPr>
          <a:xfrm>
            <a:off x="548640" y="3282696"/>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The allocation can be predicted, so selection bias is possible</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The trial cannot be blinded</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The outcome is subjective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Staff can predict the group and choose which patients to enrol. A, C and D are not the main problem.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3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19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analysis keeps the benefit of randomisation?</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Intention-to-treat</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Per-protocol</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Subgroup analysis</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Analysis of completers only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3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20 / 26</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Which analysis keeps the benefit of randomisation?</a:t>
            </a:r>
          </a:p>
        </p:txBody>
      </p:sp>
      <p:sp>
        <p:nvSpPr>
          <p:cNvPr id="9" name="Rounded Rectangle 8"/>
          <p:cNvSpPr/>
          <p:nvPr/>
        </p:nvSpPr>
        <p:spPr>
          <a:xfrm>
            <a:off x="548640" y="2606040"/>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Intention-to-treat</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Per-protocol</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Subgroup analysis</a:t>
            </a:r>
          </a:p>
        </p:txBody>
      </p:sp>
      <p:sp>
        <p:nvSpPr>
          <p:cNvPr id="18" name="Rounded Rectangle 17"/>
          <p:cNvSpPr/>
          <p:nvPr/>
        </p:nvSpPr>
        <p:spPr>
          <a:xfrm>
            <a:off x="548640" y="4636008"/>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6E625B"/>
                </a:solidFill>
                <a:latin typeface="Calibri"/>
              </a:rPr>
              <a:t>Analysis of completers only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ITT analyses every patient as randomised. B, C and D lose that protection.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4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21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Deaths fell from 20% on placebo to 15% on a new drug. What is the NNT?</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5</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25</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15</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4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22 / 26</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Deaths fell from 20% on placebo to 15% on a new drug. What is the NNT?</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5</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25</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15</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20</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ARR = 20% − 15% = 5%; NNT = 1 ÷ 0.05 = 20. A, B and C are miscalculations.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5 OF 5</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23 / 26</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shows a new drug lowers HbA1c. Your patient asks if it prevents heart attacks. What is the best reply?</a:t>
            </a:r>
          </a:p>
        </p:txBody>
      </p:sp>
      <p:sp>
        <p:nvSpPr>
          <p:cNvPr id="9" name="Rounded Rectangle 8"/>
          <p:cNvSpPr/>
          <p:nvPr/>
        </p:nvSpPr>
        <p:spPr>
          <a:xfrm>
            <a:off x="548640" y="2697480"/>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2B211C"/>
                </a:solidFill>
                <a:latin typeface="Calibri"/>
              </a:rPr>
              <a:t>Yes, lower HbA1c always means fewer heart attacks</a:t>
            </a:r>
          </a:p>
        </p:txBody>
      </p:sp>
      <p:sp>
        <p:nvSpPr>
          <p:cNvPr id="12" name="Rounded Rectangle 11"/>
          <p:cNvSpPr/>
          <p:nvPr/>
        </p:nvSpPr>
        <p:spPr>
          <a:xfrm>
            <a:off x="548640" y="3465576"/>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2B211C"/>
                </a:solidFill>
                <a:latin typeface="Calibri"/>
              </a:rPr>
              <a:t>The trial proves it</a:t>
            </a:r>
          </a:p>
        </p:txBody>
      </p:sp>
      <p:sp>
        <p:nvSpPr>
          <p:cNvPr id="15" name="Rounded Rectangle 14"/>
          <p:cNvSpPr/>
          <p:nvPr/>
        </p:nvSpPr>
        <p:spPr>
          <a:xfrm>
            <a:off x="548640" y="4233672"/>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2B211C"/>
                </a:solidFill>
                <a:latin typeface="Calibri"/>
              </a:rPr>
              <a:t>Heart attacks are not important</a:t>
            </a:r>
          </a:p>
        </p:txBody>
      </p:sp>
      <p:sp>
        <p:nvSpPr>
          <p:cNvPr id="18" name="Rounded Rectangle 17"/>
          <p:cNvSpPr/>
          <p:nvPr/>
        </p:nvSpPr>
        <p:spPr>
          <a:xfrm>
            <a:off x="548640" y="5001768"/>
            <a:ext cx="11094415" cy="640080"/>
          </a:xfrm>
          <a:prstGeom prst="roundRect">
            <a:avLst>
              <a:gd name="adj" fmla="val 18000"/>
            </a:avLst>
          </a:prstGeom>
          <a:solidFill>
            <a:srgbClr val="FA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2B211C"/>
                </a:solidFill>
                <a:latin typeface="Calibri"/>
              </a:rPr>
              <a:t>HbA1c is a surrogate outcome; we need trials that measure heart attacks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06</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2F6F7A"/>
                </a:solidFill>
                <a:latin typeface="Calibri"/>
              </a:rPr>
              <a:t>SECTION 6  ·  QUESTION 5 OF 5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2B211C"/>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Section 6  ·  Critical Appraisal of a Clinical Trial</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24 / 26</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2B211C"/>
                </a:solidFill>
                <a:latin typeface="Calibri"/>
              </a:rPr>
              <a:t>A trial shows a new drug lowers HbA1c. Your patient asks if it prevents heart attacks. What is the best reply?</a:t>
            </a:r>
          </a:p>
        </p:txBody>
      </p:sp>
      <p:sp>
        <p:nvSpPr>
          <p:cNvPr id="9" name="Rounded Rectangle 8"/>
          <p:cNvSpPr/>
          <p:nvPr/>
        </p:nvSpPr>
        <p:spPr>
          <a:xfrm>
            <a:off x="548640" y="2606040"/>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6E625B"/>
                </a:solidFill>
                <a:latin typeface="Calibri"/>
              </a:rPr>
              <a:t>Yes, lower HbA1c always means fewer heart attacks</a:t>
            </a:r>
          </a:p>
        </p:txBody>
      </p:sp>
      <p:sp>
        <p:nvSpPr>
          <p:cNvPr id="12" name="Rounded Rectangle 11"/>
          <p:cNvSpPr/>
          <p:nvPr/>
        </p:nvSpPr>
        <p:spPr>
          <a:xfrm>
            <a:off x="548640" y="3282696"/>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6E625B"/>
                </a:solidFill>
                <a:latin typeface="Calibri"/>
              </a:rPr>
              <a:t>The trial proves it</a:t>
            </a:r>
          </a:p>
        </p:txBody>
      </p:sp>
      <p:sp>
        <p:nvSpPr>
          <p:cNvPr id="15" name="Rounded Rectangle 14"/>
          <p:cNvSpPr/>
          <p:nvPr/>
        </p:nvSpPr>
        <p:spPr>
          <a:xfrm>
            <a:off x="548640" y="3959352"/>
            <a:ext cx="11094415" cy="548640"/>
          </a:xfrm>
          <a:prstGeom prst="roundRect">
            <a:avLst>
              <a:gd name="adj" fmla="val 18000"/>
            </a:avLst>
          </a:prstGeom>
          <a:solidFill>
            <a:srgbClr val="F5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6E625B"/>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6E625B"/>
                </a:solidFill>
                <a:latin typeface="Calibri"/>
              </a:rPr>
              <a:t>Heart attacks are not important</a:t>
            </a:r>
          </a:p>
        </p:txBody>
      </p:sp>
      <p:sp>
        <p:nvSpPr>
          <p:cNvPr id="18" name="Rounded Rectangle 17"/>
          <p:cNvSpPr/>
          <p:nvPr/>
        </p:nvSpPr>
        <p:spPr>
          <a:xfrm>
            <a:off x="548640" y="4636008"/>
            <a:ext cx="11094415" cy="548640"/>
          </a:xfrm>
          <a:prstGeom prst="roundRect">
            <a:avLst>
              <a:gd name="adj" fmla="val 18000"/>
            </a:avLst>
          </a:prstGeom>
          <a:solidFill>
            <a:srgbClr val="2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2F6F7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HbA1c is a surrogate outcome; we need trials that measure heart attacks</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2F6F7A"/>
                </a:solidFill>
                <a:latin typeface="Calibri"/>
              </a:rPr>
              <a:t>Why:  </a:t>
            </a:r>
            <a:r>
              <a:rPr sz="1500" i="0" b="0">
                <a:solidFill>
                  <a:srgbClr val="2B211C"/>
                </a:solidFill>
                <a:latin typeface="Calibri"/>
              </a:rPr>
              <a:t>HbA1c is a surrogate outcome; heart attacks need their own evidence. A, B and C are wrong.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EDE3"/>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A447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3DF"/>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Practice Case</a:t>
            </a:r>
          </a:p>
          <a:p>
            <a:r>
              <a:rPr sz="1400" i="0" b="1" spc="150">
                <a:solidFill>
                  <a:srgbClr val="F1E3DF"/>
                </a:solidFill>
                <a:latin typeface="Calibri"/>
              </a:rPr>
              <a:t>Section 6</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2B211C"/>
                </a:solidFill>
                <a:latin typeface="Calibri"/>
              </a:rPr>
              <a:t>A trial of a new painkiller reports: "Randomised, open-label, 120 patients, per-protocol analysis, primary outcome changed from pain at 12 weeks to pain at 4 weeks. Funded by the manufacturer." (a) List three weaknesses. (b) How does each one bias the result? (c) Would you recommend the drug on this evidence?</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6E625B"/>
                </a:solidFill>
                <a:latin typeface="Calibri"/>
              </a:rPr>
              <a:t>Drug Information  ·  Critical Appraisal of a Clinical Trial</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6E625B"/>
                </a:solidFill>
                <a:latin typeface="Calibri"/>
              </a:rPr>
              <a:t>25 / 26</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A4472B"/>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F2E5E1"/>
                </a:solidFill>
                <a:latin typeface="Calibri"/>
              </a:rPr>
              <a:t>SECTION 6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1</a:t>
            </a:r>
          </a:p>
        </p:txBody>
      </p:sp>
      <p:sp>
        <p:nvSpPr>
          <p:cNvPr id="5" name="TextBox 4"/>
          <p:cNvSpPr txBox="1"/>
          <p:nvPr/>
        </p:nvSpPr>
        <p:spPr>
          <a:xfrm>
            <a:off x="1143000" y="1865376"/>
            <a:ext cx="10500055" cy="595502"/>
          </a:xfrm>
          <a:prstGeom prst="rect">
            <a:avLst/>
          </a:prstGeom>
          <a:noFill/>
        </p:spPr>
        <p:txBody>
          <a:bodyPr wrap="square" anchor="t" lIns="0" rIns="0" tIns="0" bIns="0">
            <a:spAutoFit/>
          </a:bodyPr>
          <a:lstStyle/>
          <a:p>
            <a:r>
              <a:rPr sz="2100" i="0" b="0">
                <a:solidFill>
                  <a:srgbClr val="FFFFFF"/>
                </a:solidFill>
                <a:latin typeface="Calibri"/>
              </a:rPr>
              <a:t>Appraise every trial before you use it; CONSORT 2025 is the checklist.</a:t>
            </a:r>
          </a:p>
        </p:txBody>
      </p:sp>
      <p:sp>
        <p:nvSpPr>
          <p:cNvPr id="6" name="Oval 5"/>
          <p:cNvSpPr/>
          <p:nvPr/>
        </p:nvSpPr>
        <p:spPr>
          <a:xfrm>
            <a:off x="548640" y="2488311"/>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2</a:t>
            </a:r>
          </a:p>
        </p:txBody>
      </p:sp>
      <p:sp>
        <p:nvSpPr>
          <p:cNvPr id="7" name="TextBox 6"/>
          <p:cNvSpPr txBox="1"/>
          <p:nvPr/>
        </p:nvSpPr>
        <p:spPr>
          <a:xfrm>
            <a:off x="1143000" y="2506599"/>
            <a:ext cx="10500055" cy="928877"/>
          </a:xfrm>
          <a:prstGeom prst="rect">
            <a:avLst/>
          </a:prstGeom>
          <a:noFill/>
        </p:spPr>
        <p:txBody>
          <a:bodyPr wrap="square" anchor="t" lIns="0" rIns="0" tIns="0" bIns="0">
            <a:spAutoFit/>
          </a:bodyPr>
          <a:lstStyle/>
          <a:p>
            <a:r>
              <a:rPr sz="2100" i="0" b="0">
                <a:solidFill>
                  <a:srgbClr val="FFFFFF"/>
                </a:solidFill>
                <a:latin typeface="Calibri"/>
              </a:rPr>
              <a:t>A neutral title, a structured abstract and a clear question are good first signs.</a:t>
            </a:r>
          </a:p>
        </p:txBody>
      </p:sp>
      <p:sp>
        <p:nvSpPr>
          <p:cNvPr id="8" name="Oval 7"/>
          <p:cNvSpPr/>
          <p:nvPr/>
        </p:nvSpPr>
        <p:spPr>
          <a:xfrm>
            <a:off x="548640" y="3462908"/>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3</a:t>
            </a:r>
          </a:p>
        </p:txBody>
      </p:sp>
      <p:sp>
        <p:nvSpPr>
          <p:cNvPr id="9" name="TextBox 8"/>
          <p:cNvSpPr txBox="1"/>
          <p:nvPr/>
        </p:nvSpPr>
        <p:spPr>
          <a:xfrm>
            <a:off x="1143000" y="3481196"/>
            <a:ext cx="10500055" cy="928877"/>
          </a:xfrm>
          <a:prstGeom prst="rect">
            <a:avLst/>
          </a:prstGeom>
          <a:noFill/>
        </p:spPr>
        <p:txBody>
          <a:bodyPr wrap="square" anchor="t" lIns="0" rIns="0" tIns="0" bIns="0">
            <a:spAutoFit/>
          </a:bodyPr>
          <a:lstStyle/>
          <a:p>
            <a:r>
              <a:rPr sz="2100" i="0" b="0">
                <a:solidFill>
                  <a:srgbClr val="FFFFFF"/>
                </a:solidFill>
                <a:latin typeface="Calibri"/>
              </a:rPr>
              <a:t>Check randomisation, concealment, blinding, the comparator and pre-set outcomes.</a:t>
            </a:r>
          </a:p>
        </p:txBody>
      </p:sp>
      <p:sp>
        <p:nvSpPr>
          <p:cNvPr id="10" name="Oval 9"/>
          <p:cNvSpPr/>
          <p:nvPr/>
        </p:nvSpPr>
        <p:spPr>
          <a:xfrm>
            <a:off x="548640" y="4437506"/>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4</a:t>
            </a:r>
          </a:p>
        </p:txBody>
      </p:sp>
      <p:sp>
        <p:nvSpPr>
          <p:cNvPr id="11" name="TextBox 10"/>
          <p:cNvSpPr txBox="1"/>
          <p:nvPr/>
        </p:nvSpPr>
        <p:spPr>
          <a:xfrm>
            <a:off x="1143000" y="4455794"/>
            <a:ext cx="10500055" cy="595502"/>
          </a:xfrm>
          <a:prstGeom prst="rect">
            <a:avLst/>
          </a:prstGeom>
          <a:noFill/>
        </p:spPr>
        <p:txBody>
          <a:bodyPr wrap="square" anchor="t" lIns="0" rIns="0" tIns="0" bIns="0">
            <a:spAutoFit/>
          </a:bodyPr>
          <a:lstStyle/>
          <a:p>
            <a:r>
              <a:rPr sz="2100" i="0" b="0">
                <a:solidFill>
                  <a:srgbClr val="FFFFFF"/>
                </a:solidFill>
                <a:latin typeface="Calibri"/>
              </a:rPr>
              <a:t>Prefer ITT results, absolute numbers (ARR, NNT) and confidence intervals.</a:t>
            </a:r>
          </a:p>
        </p:txBody>
      </p:sp>
      <p:sp>
        <p:nvSpPr>
          <p:cNvPr id="12" name="Oval 11"/>
          <p:cNvSpPr/>
          <p:nvPr/>
        </p:nvSpPr>
        <p:spPr>
          <a:xfrm>
            <a:off x="548640" y="5078729"/>
            <a:ext cx="402336" cy="402336"/>
          </a:xfrm>
          <a:prstGeom prst="ellipse">
            <a:avLst/>
          </a:prstGeom>
          <a:solidFill>
            <a:srgbClr val="F2E5E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A4472B"/>
                </a:solidFill>
                <a:latin typeface="Calibri"/>
              </a:rPr>
              <a:t>5</a:t>
            </a:r>
          </a:p>
        </p:txBody>
      </p:sp>
      <p:sp>
        <p:nvSpPr>
          <p:cNvPr id="13" name="TextBox 12"/>
          <p:cNvSpPr txBox="1"/>
          <p:nvPr/>
        </p:nvSpPr>
        <p:spPr>
          <a:xfrm>
            <a:off x="1143000" y="5097017"/>
            <a:ext cx="10500055" cy="928877"/>
          </a:xfrm>
          <a:prstGeom prst="rect">
            <a:avLst/>
          </a:prstGeom>
          <a:noFill/>
        </p:spPr>
        <p:txBody>
          <a:bodyPr wrap="square" anchor="t" lIns="0" rIns="0" tIns="0" bIns="0">
            <a:spAutoFit/>
          </a:bodyPr>
          <a:lstStyle/>
          <a:p>
            <a:r>
              <a:rPr sz="2100" i="0" b="0">
                <a:solidFill>
                  <a:srgbClr val="FFFFFF"/>
                </a:solidFill>
                <a:latin typeface="Calibri"/>
              </a:rPr>
              <a:t>Decide whether the result applies to your patient, including cost and availability.</a:t>
            </a:r>
          </a:p>
        </p:txBody>
      </p:sp>
      <p:pic>
        <p:nvPicPr>
          <p:cNvPr id="14" name="Picture 13"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5" name="Picture 14"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