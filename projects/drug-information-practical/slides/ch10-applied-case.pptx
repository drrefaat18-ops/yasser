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rebuilds the Section 8 case as a drug information exercise. It uses every earlier chapter.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Mr Ahmed, a 59-year-old mechanic, has adhesive capsulitis (frozen shoulder), stage 2 (the stiff, fibrotic phase). There was no injury. His shoulder has become stiffer over 4-12 months. Pain is now mild (3/10) and pulling at the end of movement, but he cannot reach overhead, dress easily, drive or use his tools. Arthroscopy showed a thick, fibrotic capsule with no tear or active inflammation. His physiotherapy plan includes stretching, joint mobilisation, scapular exercises and heat. The plan says "NSAIDs only if pain interferes with rehab". If conservative treatment fails, options include hydrodilatation, manipulation under anaesthesia or surgical release. For this exercise, add these facts: he has hypertension treated with lisinopril 10 mg daily, he had dyspepsia last year, and he drinks no alcohol.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physiotherapist phones the hospital pharmacy: "His pain stops him doing his exercises. Which painkiller can he take? Would a steroid injection help?" The real question matters. The physiotherapist does not need a list of every painkiller. She needs a safe plan that lets exercise continue.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Tertiary (Chapter 2). The BNF and Lexicomp give doses, cautions and interactions. Paracetamol is the first choice for mild pain. NSAIDs can raise blood pressure, reduce the effect of ACE inhibitors, harm the kidneys and cause stomach ulcers. Naproxen or ibuprofen at the lowest effective dose for the shortest time carries a lower cardiovascular risk than some other NSAIDs. A proton-pump inhibitor is advised for patients with a history of dyspepsia who need an NSAID. Secondary. A PubMed search for frozen shoulder AND corticosteroid injection, filtered to systematic reviews, finds a recent meta-analysis. Primary / review evidence (Chapters 3 and 6). The review pooled randomised trials. Intra-articular corticosteroid injection gave better pain and movement in the early months than no injection. The benefit became smaller over time. Combining injection with home exercise did better than exercise alone in the short term.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pharmacist writes back to the physiotherapist and the doctor: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with the class: what would you ask, check and say?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Mr Ahmed returns. His ankles are swollen, his blood pressure is 158/96 mmHg (usually 130/80) and his creatinine has risen from 90 to 140 µmol/L. He has taken naproxen for eight days. Stop naproxen. Contact the doctor the same day. Recheck kidney function and potassium in a few days. Continue paracetamol. The reaction is Type A (predictable from pharmacology; worse with an ACE inhibitor). It is moderate in severity (treatment had to change) and not serious (no admission). Report the reaction to the EPVC, with the naproxen batch number, lisinopril as a concomitant drug, and the outcome. Record "NSAIDs: fluid retention and raised creatinine with ACE inhibitor" in his notes. Suggest that the doctor considers a corticosteroid injection instead of another NSAID.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Mr Ahmed returns. His ankles are swollen, his blood pressure is 158/96 mmHg (usually 130/80) and his creatinine has risen from 90 to 140 µmol/L. He has taken naproxen for eight days. Stop naproxen. Contact the doctor the same day. Recheck kidney function and potassium in a few days. Continue paracetamol. The reaction is Type A (predictable from pharmacology; worse with an ACE inhibitor). It is moderate in severity (treatment had to change) and not serious (no admission). Report the reaction to the EPVC, with the naproxen batch number, lisinopril as a concomitant drug, and the outcome. Record "NSAIDs: fluid retention and raised creatinine with ACE inhibitor" in his notes. Suggest that the doctor considers a corticosteroid injection instead of another NSAID.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 The need was pain control that allows exercise. A, C and D miss the point.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C: A systematic review of RCTs is the best evidence for a treatment effect. A, B and D do not compare treatments.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D: The benefit is real but short-term. A and B overstate the result; C is wrong.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 Predictable pharmacology (Type A), treatment changed (moderate), no admission (not serious). B, C and D do not fit.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C: Patient care comes first. A and B follow; D is harmful.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answer: (a) Kidney function, blood pressure, other drugs (including any diuretic), stomach history, and the cause of the knee pain. (b) Avoid self-selected NSAIDs; start paracetamol, suggest topical ibuprofen or diclofenac gel, and refer to the doctor. (c) The BNF (or Lexicomp) for NSAID cautions with ACE inhibitors and diabetes; it gives a fast, reliable answer.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A4472B"/>
        </a:solidFill>
        <a:effectLst/>
      </p:bgPr>
    </p:bg>
    <p:spTree>
      <p:nvGrpSpPr>
        <p:cNvPr id="1" name=""/>
        <p:cNvGrpSpPr/>
        <p:nvPr/>
      </p:nvGrpSpPr>
      <p:grpSpPr/>
      <p:sp>
        <p:nvSpPr>
          <p:cNvPr id="2" name="TextBox 1"/>
          <p:cNvSpPr txBox="1"/>
          <p:nvPr/>
        </p:nvSpPr>
        <p:spPr>
          <a:xfrm>
            <a:off x="7589520" y="1097280"/>
            <a:ext cx="4754880" cy="5120640"/>
          </a:xfrm>
          <a:prstGeom prst="rect">
            <a:avLst/>
          </a:prstGeom>
          <a:noFill/>
        </p:spPr>
        <p:txBody>
          <a:bodyPr wrap="square" anchor="ctr" lIns="0" rIns="0" tIns="0" bIns="0">
            <a:spAutoFit/>
          </a:bodyPr>
          <a:lstStyle/>
          <a:p>
            <a:pPr algn="r"/>
            <a:r>
              <a:rPr sz="28000" i="0" b="1">
                <a:solidFill>
                  <a:srgbClr val="8C3A22"/>
                </a:solidFill>
                <a:latin typeface="Cambria"/>
              </a:rPr>
              <a:t>10</a:t>
            </a:r>
          </a:p>
        </p:txBody>
      </p:sp>
      <p:pic>
        <p:nvPicPr>
          <p:cNvPr id="3" name="Picture 2" descr="port-said-university.png"/>
          <p:cNvPicPr>
            <a:picLocks noChangeAspect="1"/>
          </p:cNvPicPr>
          <p:nvPr/>
        </p:nvPicPr>
        <p:blipFill>
          <a:blip r:embed="rId2"/>
          <a:stretch>
            <a:fillRect/>
          </a:stretch>
        </p:blipFill>
        <p:spPr>
          <a:xfrm>
            <a:off x="548640" y="502920"/>
            <a:ext cx="960120" cy="960120"/>
          </a:xfrm>
          <a:prstGeom prst="rect">
            <a:avLst/>
          </a:prstGeom>
        </p:spPr>
      </p:pic>
      <p:pic>
        <p:nvPicPr>
          <p:cNvPr id="4" name="Picture 3" descr="faculty-of-pharmacy.png"/>
          <p:cNvPicPr>
            <a:picLocks noChangeAspect="1"/>
          </p:cNvPicPr>
          <p:nvPr/>
        </p:nvPicPr>
        <p:blipFill>
          <a:blip r:embed="rId3"/>
          <a:stretch>
            <a:fillRect/>
          </a:stretch>
        </p:blipFill>
        <p:spPr>
          <a:xfrm>
            <a:off x="1691640" y="502920"/>
            <a:ext cx="960120" cy="960120"/>
          </a:xfrm>
          <a:prstGeom prst="rect">
            <a:avLst/>
          </a:prstGeom>
        </p:spPr>
      </p:pic>
      <p:sp>
        <p:nvSpPr>
          <p:cNvPr id="5" name="TextBox 4"/>
          <p:cNvSpPr txBox="1"/>
          <p:nvPr/>
        </p:nvSpPr>
        <p:spPr>
          <a:xfrm>
            <a:off x="2971800" y="658368"/>
            <a:ext cx="6400800" cy="731520"/>
          </a:xfrm>
          <a:prstGeom prst="rect">
            <a:avLst/>
          </a:prstGeom>
          <a:noFill/>
        </p:spPr>
        <p:txBody>
          <a:bodyPr wrap="square" anchor="ctr" lIns="0" rIns="0" tIns="0" bIns="0">
            <a:spAutoFit/>
          </a:bodyPr>
          <a:lstStyle/>
          <a:p>
            <a:r>
              <a:rPr sz="1800" i="0" b="1">
                <a:solidFill>
                  <a:srgbClr val="FFFFFF"/>
                </a:solidFill>
                <a:latin typeface="Cambria"/>
              </a:rPr>
              <a:t>Faculty of Pharmacy</a:t>
            </a:r>
          </a:p>
          <a:p>
            <a:r>
              <a:rPr sz="1200" i="0" b="1" spc="200">
                <a:solidFill>
                  <a:srgbClr val="F3E6D8"/>
                </a:solidFill>
                <a:latin typeface="Calibri"/>
              </a:rPr>
              <a:t>PORT SAID UNIVERSITY</a:t>
            </a:r>
          </a:p>
        </p:txBody>
      </p:sp>
      <p:sp>
        <p:nvSpPr>
          <p:cNvPr id="6" name="TextBox 5"/>
          <p:cNvSpPr txBox="1"/>
          <p:nvPr/>
        </p:nvSpPr>
        <p:spPr>
          <a:xfrm>
            <a:off x="548640" y="2514600"/>
            <a:ext cx="6766560" cy="3108960"/>
          </a:xfrm>
          <a:prstGeom prst="rect">
            <a:avLst/>
          </a:prstGeom>
          <a:noFill/>
        </p:spPr>
        <p:txBody>
          <a:bodyPr wrap="square" anchor="t" lIns="0" rIns="0" tIns="0" bIns="0">
            <a:spAutoFit/>
          </a:bodyPr>
          <a:lstStyle/>
          <a:p>
            <a:r>
              <a:rPr sz="1400" i="0" b="1" spc="200">
                <a:solidFill>
                  <a:srgbClr val="F3E6D8"/>
                </a:solidFill>
                <a:latin typeface="Calibri"/>
              </a:rPr>
              <a:t>DRUG INFORMATION  ·  SECTION 10</a:t>
            </a:r>
          </a:p>
          <a:p>
            <a:pPr>
              <a:spcBef>
                <a:spcPts val="1400"/>
              </a:spcBef>
            </a:pPr>
            <a:r>
              <a:rPr sz="3600" i="0" b="1">
                <a:solidFill>
                  <a:srgbClr val="FFFFFF"/>
                </a:solidFill>
                <a:latin typeface="Cambria"/>
              </a:rPr>
              <a:t>Applied Case: Answering a Real Drug Question</a:t>
            </a:r>
          </a:p>
          <a:p>
            <a:pPr>
              <a:spcBef>
                <a:spcPts val="1600"/>
              </a:spcBef>
            </a:pPr>
            <a:r>
              <a:rPr sz="2000" i="1" b="0">
                <a:solidFill>
                  <a:srgbClr val="F3E6D8"/>
                </a:solidFill>
                <a:latin typeface="Cambria"/>
              </a:rPr>
              <a:t>A Practical Section Guide</a:t>
            </a:r>
          </a:p>
        </p:txBody>
      </p:sp>
      <p:sp>
        <p:nvSpPr>
          <p:cNvPr id="7" name="TextBox 6"/>
          <p:cNvSpPr txBox="1"/>
          <p:nvPr/>
        </p:nvSpPr>
        <p:spPr>
          <a:xfrm>
            <a:off x="548640" y="5989320"/>
            <a:ext cx="8229600" cy="457200"/>
          </a:xfrm>
          <a:prstGeom prst="rect">
            <a:avLst/>
          </a:prstGeom>
          <a:noFill/>
        </p:spPr>
        <p:txBody>
          <a:bodyPr wrap="square" anchor="t" lIns="0" rIns="0" tIns="0" bIns="0">
            <a:spAutoFit/>
          </a:bodyPr>
          <a:lstStyle/>
          <a:p>
            <a:r>
              <a:rPr sz="1300" i="0" b="0">
                <a:solidFill>
                  <a:srgbClr val="F3E6D8"/>
                </a:solidFill>
                <a:latin typeface="Calibri"/>
              </a:rPr>
              <a:t>45-minute practical section  ·  5 questions  ·  1 practice case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10</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GOALS</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In This Section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10  ·  Applied Case: Answering a Real Drug Question</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2</a:t>
            </a:r>
          </a:p>
        </p:txBody>
      </p:sp>
      <p:pic>
        <p:nvPicPr>
          <p:cNvPr id="7" name="Picture 6" descr="faculty-of-pharmacy.png"/>
          <p:cNvPicPr>
            <a:picLocks noChangeAspect="1"/>
          </p:cNvPicPr>
          <p:nvPr/>
        </p:nvPicPr>
        <p:blipFill>
          <a:blip r:embed="rId3"/>
          <a:stretch>
            <a:fillRect/>
          </a:stretch>
        </p:blipFill>
        <p:spPr>
          <a:xfrm>
            <a:off x="11247120" y="6309360"/>
            <a:ext cx="384048" cy="384048"/>
          </a:xfrm>
          <a:prstGeom prst="rect">
            <a:avLst/>
          </a:prstGeom>
        </p:spPr>
      </p:pic>
      <p:sp>
        <p:nvSpPr>
          <p:cNvPr id="8" name="Oval 7"/>
          <p:cNvSpPr/>
          <p:nvPr/>
        </p:nvSpPr>
        <p:spPr>
          <a:xfrm>
            <a:off x="548640" y="1618488"/>
            <a:ext cx="402336" cy="402336"/>
          </a:xfrm>
          <a:prstGeom prst="ellipse">
            <a:avLst/>
          </a:prstGeom>
          <a:solidFill>
            <a:srgbClr val="E0EE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2F6F7A"/>
                </a:solidFill>
                <a:latin typeface="Calibri"/>
              </a:rPr>
              <a:t>1</a:t>
            </a:r>
          </a:p>
        </p:txBody>
      </p:sp>
      <p:sp>
        <p:nvSpPr>
          <p:cNvPr id="9" name="TextBox 8"/>
          <p:cNvSpPr txBox="1"/>
          <p:nvPr/>
        </p:nvSpPr>
        <p:spPr>
          <a:xfrm>
            <a:off x="1143000" y="1636776"/>
            <a:ext cx="6629400" cy="1142237"/>
          </a:xfrm>
          <a:prstGeom prst="rect">
            <a:avLst/>
          </a:prstGeom>
          <a:noFill/>
        </p:spPr>
        <p:txBody>
          <a:bodyPr wrap="square" anchor="t" lIns="0" rIns="0" tIns="0" bIns="0">
            <a:spAutoFit/>
          </a:bodyPr>
          <a:lstStyle/>
          <a:p>
            <a:r>
              <a:rPr sz="2100" i="0" b="0">
                <a:solidFill>
                  <a:srgbClr val="2B211C"/>
                </a:solidFill>
                <a:latin typeface="Calibri"/>
              </a:rPr>
              <a:t>Handle a real request with the seven-step approach.</a:t>
            </a:r>
          </a:p>
        </p:txBody>
      </p:sp>
      <p:sp>
        <p:nvSpPr>
          <p:cNvPr id="10" name="Oval 9"/>
          <p:cNvSpPr/>
          <p:nvPr/>
        </p:nvSpPr>
        <p:spPr>
          <a:xfrm>
            <a:off x="548640" y="2806445"/>
            <a:ext cx="402336" cy="402336"/>
          </a:xfrm>
          <a:prstGeom prst="ellipse">
            <a:avLst/>
          </a:prstGeom>
          <a:solidFill>
            <a:srgbClr val="E0EE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2F6F7A"/>
                </a:solidFill>
                <a:latin typeface="Calibri"/>
              </a:rPr>
              <a:t>2</a:t>
            </a:r>
          </a:p>
        </p:txBody>
      </p:sp>
      <p:sp>
        <p:nvSpPr>
          <p:cNvPr id="11" name="TextBox 10"/>
          <p:cNvSpPr txBox="1"/>
          <p:nvPr/>
        </p:nvSpPr>
        <p:spPr>
          <a:xfrm>
            <a:off x="1143000" y="2824733"/>
            <a:ext cx="6629400" cy="1142237"/>
          </a:xfrm>
          <a:prstGeom prst="rect">
            <a:avLst/>
          </a:prstGeom>
          <a:noFill/>
        </p:spPr>
        <p:txBody>
          <a:bodyPr wrap="square" anchor="t" lIns="0" rIns="0" tIns="0" bIns="0">
            <a:spAutoFit/>
          </a:bodyPr>
          <a:lstStyle/>
          <a:p>
            <a:r>
              <a:rPr sz="2100" i="0" b="0">
                <a:solidFill>
                  <a:srgbClr val="2B211C"/>
                </a:solidFill>
                <a:latin typeface="Calibri"/>
              </a:rPr>
              <a:t>Choose and use tertiary, secondary and primary sources for one question.</a:t>
            </a:r>
          </a:p>
        </p:txBody>
      </p:sp>
      <p:sp>
        <p:nvSpPr>
          <p:cNvPr id="12" name="Oval 11"/>
          <p:cNvSpPr/>
          <p:nvPr/>
        </p:nvSpPr>
        <p:spPr>
          <a:xfrm>
            <a:off x="548640" y="3994403"/>
            <a:ext cx="402336" cy="402336"/>
          </a:xfrm>
          <a:prstGeom prst="ellipse">
            <a:avLst/>
          </a:prstGeom>
          <a:solidFill>
            <a:srgbClr val="E0EE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2F6F7A"/>
                </a:solidFill>
                <a:latin typeface="Calibri"/>
              </a:rPr>
              <a:t>3</a:t>
            </a:r>
          </a:p>
        </p:txBody>
      </p:sp>
      <p:sp>
        <p:nvSpPr>
          <p:cNvPr id="13" name="TextBox 12"/>
          <p:cNvSpPr txBox="1"/>
          <p:nvPr/>
        </p:nvSpPr>
        <p:spPr>
          <a:xfrm>
            <a:off x="1143000" y="4012691"/>
            <a:ext cx="6629400" cy="808863"/>
          </a:xfrm>
          <a:prstGeom prst="rect">
            <a:avLst/>
          </a:prstGeom>
          <a:noFill/>
        </p:spPr>
        <p:txBody>
          <a:bodyPr wrap="square" anchor="t" lIns="0" rIns="0" tIns="0" bIns="0">
            <a:spAutoFit/>
          </a:bodyPr>
          <a:lstStyle/>
          <a:p>
            <a:r>
              <a:rPr sz="2100" i="0" b="0">
                <a:solidFill>
                  <a:srgbClr val="2B211C"/>
                </a:solidFill>
                <a:latin typeface="Calibri"/>
              </a:rPr>
              <a:t>Appraise the evidence for a treatment option.</a:t>
            </a:r>
          </a:p>
        </p:txBody>
      </p:sp>
      <p:sp>
        <p:nvSpPr>
          <p:cNvPr id="14" name="Oval 13"/>
          <p:cNvSpPr/>
          <p:nvPr/>
        </p:nvSpPr>
        <p:spPr>
          <a:xfrm>
            <a:off x="548640" y="4848986"/>
            <a:ext cx="402336" cy="402336"/>
          </a:xfrm>
          <a:prstGeom prst="ellipse">
            <a:avLst/>
          </a:prstGeom>
          <a:solidFill>
            <a:srgbClr val="E0EE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2F6F7A"/>
                </a:solidFill>
                <a:latin typeface="Calibri"/>
              </a:rPr>
              <a:t>4</a:t>
            </a:r>
          </a:p>
        </p:txBody>
      </p:sp>
      <p:sp>
        <p:nvSpPr>
          <p:cNvPr id="15" name="TextBox 14"/>
          <p:cNvSpPr txBox="1"/>
          <p:nvPr/>
        </p:nvSpPr>
        <p:spPr>
          <a:xfrm>
            <a:off x="1143000" y="4867274"/>
            <a:ext cx="6629400" cy="1142237"/>
          </a:xfrm>
          <a:prstGeom prst="rect">
            <a:avLst/>
          </a:prstGeom>
          <a:noFill/>
        </p:spPr>
        <p:txBody>
          <a:bodyPr wrap="square" anchor="t" lIns="0" rIns="0" tIns="0" bIns="0">
            <a:spAutoFit/>
          </a:bodyPr>
          <a:lstStyle/>
          <a:p>
            <a:r>
              <a:rPr sz="2100" i="0" b="0">
                <a:solidFill>
                  <a:srgbClr val="2B211C"/>
                </a:solidFill>
                <a:latin typeface="Calibri"/>
              </a:rPr>
              <a:t>Assess, manage and report a suspected ADR that follows your advice.</a:t>
            </a:r>
          </a:p>
        </p:txBody>
      </p:sp>
      <p:sp>
        <p:nvSpPr>
          <p:cNvPr id="16" name="Rounded Rectangle 15"/>
          <p:cNvSpPr/>
          <p:nvPr/>
        </p:nvSpPr>
        <p:spPr>
          <a:xfrm>
            <a:off x="8366760" y="1600200"/>
            <a:ext cx="3273552" cy="4526280"/>
          </a:xfrm>
          <a:prstGeom prst="roundRect">
            <a:avLst>
              <a:gd name="adj" fmla="val 5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41080" y="1874519"/>
            <a:ext cx="2743200" cy="4023360"/>
          </a:xfrm>
          <a:prstGeom prst="rect">
            <a:avLst/>
          </a:prstGeom>
          <a:noFill/>
        </p:spPr>
        <p:txBody>
          <a:bodyPr wrap="square" anchor="t" lIns="0" rIns="0" tIns="0" bIns="0">
            <a:spAutoFit/>
          </a:bodyPr>
          <a:lstStyle/>
          <a:p>
            <a:pPr>
              <a:spcBef>
                <a:spcPts val="0"/>
              </a:spcBef>
            </a:pPr>
            <a:r>
              <a:rPr sz="5400" i="0" b="1">
                <a:solidFill>
                  <a:srgbClr val="A4472B"/>
                </a:solidFill>
                <a:latin typeface="Cambria"/>
              </a:rPr>
              <a:t>45</a:t>
            </a:r>
          </a:p>
          <a:p>
            <a:r>
              <a:rPr sz="1200" i="0" b="1" spc="150">
                <a:solidFill>
                  <a:srgbClr val="6E625B"/>
                </a:solidFill>
                <a:latin typeface="Calibri"/>
              </a:rPr>
              <a:t>MINUTES</a:t>
            </a:r>
          </a:p>
          <a:p>
            <a:pPr>
              <a:spcBef>
                <a:spcPts val="1600"/>
              </a:spcBef>
            </a:pPr>
            <a:r>
              <a:rPr sz="5400" i="0" b="1">
                <a:solidFill>
                  <a:srgbClr val="A4472B"/>
                </a:solidFill>
                <a:latin typeface="Cambria"/>
              </a:rPr>
              <a:t>5</a:t>
            </a:r>
          </a:p>
          <a:p>
            <a:r>
              <a:rPr sz="1200" i="0" b="1" spc="150">
                <a:solidFill>
                  <a:srgbClr val="6E625B"/>
                </a:solidFill>
                <a:latin typeface="Calibri"/>
              </a:rPr>
              <a:t>QUESTIONS</a:t>
            </a:r>
          </a:p>
          <a:p>
            <a:pPr>
              <a:spcBef>
                <a:spcPts val="1600"/>
              </a:spcBef>
            </a:pPr>
            <a:r>
              <a:rPr sz="5400" i="0" b="1">
                <a:solidFill>
                  <a:srgbClr val="A4472B"/>
                </a:solidFill>
                <a:latin typeface="Cambria"/>
              </a:rPr>
              <a:t>1</a:t>
            </a:r>
          </a:p>
          <a:p>
            <a:r>
              <a:rPr sz="1200" i="0" b="1" spc="150">
                <a:solidFill>
                  <a:srgbClr val="6E625B"/>
                </a:solidFill>
                <a:latin typeface="Calibri"/>
              </a:rPr>
              <a:t>PRACTICE CASE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10</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The Patient</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10  ·  Applied Case: Answering a Real Drug Question</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3</a:t>
            </a:r>
          </a:p>
        </p:txBody>
      </p:sp>
      <p:pic>
        <p:nvPicPr>
          <p:cNvPr id="7" name="Picture 6" descr="faculty-of-pharmacy.png"/>
          <p:cNvPicPr>
            <a:picLocks noChangeAspect="1"/>
          </p:cNvPicPr>
          <p:nvPr/>
        </p:nvPicPr>
        <p:blipFill>
          <a:blip r:embed="rId3"/>
          <a:stretch>
            <a:fillRect/>
          </a:stretch>
        </p:blipFill>
        <p:spPr>
          <a:xfrm>
            <a:off x="11247120" y="6309360"/>
            <a:ext cx="384048" cy="384048"/>
          </a:xfrm>
          <a:prstGeom prst="rect">
            <a:avLst/>
          </a:prstGeom>
        </p:spPr>
      </p:pic>
      <p:sp>
        <p:nvSpPr>
          <p:cNvPr id="8" name="Oval 7"/>
          <p:cNvSpPr/>
          <p:nvPr/>
        </p:nvSpPr>
        <p:spPr>
          <a:xfrm>
            <a:off x="548640" y="1618488"/>
            <a:ext cx="402336" cy="402336"/>
          </a:xfrm>
          <a:prstGeom prst="ellipse">
            <a:avLst/>
          </a:prstGeom>
          <a:solidFill>
            <a:srgbClr val="E0EE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2F6F7A"/>
                </a:solidFill>
                <a:latin typeface="Calibri"/>
              </a:rPr>
              <a:t>1</a:t>
            </a:r>
          </a:p>
        </p:txBody>
      </p:sp>
      <p:sp>
        <p:nvSpPr>
          <p:cNvPr id="9" name="TextBox 8"/>
          <p:cNvSpPr txBox="1"/>
          <p:nvPr/>
        </p:nvSpPr>
        <p:spPr>
          <a:xfrm>
            <a:off x="1143000" y="1636776"/>
            <a:ext cx="10500055" cy="1237488"/>
          </a:xfrm>
          <a:prstGeom prst="rect">
            <a:avLst/>
          </a:prstGeom>
          <a:noFill/>
        </p:spPr>
        <p:txBody>
          <a:bodyPr wrap="square" anchor="t" lIns="0" rIns="0" tIns="0" bIns="0">
            <a:spAutoFit/>
          </a:bodyPr>
          <a:lstStyle/>
          <a:p>
            <a:r>
              <a:rPr sz="2400" i="0" b="1">
                <a:solidFill>
                  <a:srgbClr val="2B211C"/>
                </a:solidFill>
                <a:latin typeface="Calibri"/>
              </a:rPr>
              <a:t>Mr Ahmed</a:t>
            </a:r>
            <a:r>
              <a:rPr sz="2400" i="0" b="0">
                <a:solidFill>
                  <a:srgbClr val="2B211C"/>
                </a:solidFill>
                <a:latin typeface="Calibri"/>
              </a:rPr>
              <a:t>, a 59-year-old mechanic, has </a:t>
            </a:r>
            <a:r>
              <a:rPr sz="2400" i="0" b="1">
                <a:solidFill>
                  <a:srgbClr val="2B211C"/>
                </a:solidFill>
                <a:latin typeface="Calibri"/>
              </a:rPr>
              <a:t>adhesive capsulitis (frozen shoulder)</a:t>
            </a:r>
            <a:r>
              <a:rPr sz="2400" i="0" b="0">
                <a:solidFill>
                  <a:srgbClr val="2B211C"/>
                </a:solidFill>
                <a:latin typeface="Calibri"/>
              </a:rPr>
              <a:t>, stage 2 (the stiff, fibrotic phase).</a:t>
            </a:r>
          </a:p>
        </p:txBody>
      </p:sp>
      <p:sp>
        <p:nvSpPr>
          <p:cNvPr id="10" name="Oval 9"/>
          <p:cNvSpPr/>
          <p:nvPr/>
        </p:nvSpPr>
        <p:spPr>
          <a:xfrm>
            <a:off x="548640" y="2901696"/>
            <a:ext cx="402336" cy="402336"/>
          </a:xfrm>
          <a:prstGeom prst="ellipse">
            <a:avLst/>
          </a:prstGeom>
          <a:solidFill>
            <a:srgbClr val="E0EE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2F6F7A"/>
                </a:solidFill>
                <a:latin typeface="Calibri"/>
              </a:rPr>
              <a:t>2</a:t>
            </a:r>
          </a:p>
        </p:txBody>
      </p:sp>
      <p:sp>
        <p:nvSpPr>
          <p:cNvPr id="11" name="TextBox 10"/>
          <p:cNvSpPr txBox="1"/>
          <p:nvPr/>
        </p:nvSpPr>
        <p:spPr>
          <a:xfrm>
            <a:off x="1143000" y="2919984"/>
            <a:ext cx="10500055" cy="1237488"/>
          </a:xfrm>
          <a:prstGeom prst="rect">
            <a:avLst/>
          </a:prstGeom>
          <a:noFill/>
        </p:spPr>
        <p:txBody>
          <a:bodyPr wrap="square" anchor="t" lIns="0" rIns="0" tIns="0" bIns="0">
            <a:spAutoFit/>
          </a:bodyPr>
          <a:lstStyle/>
          <a:p>
            <a:r>
              <a:rPr sz="2400" i="0" b="0">
                <a:solidFill>
                  <a:srgbClr val="2B211C"/>
                </a:solidFill>
                <a:latin typeface="Calibri"/>
              </a:rPr>
              <a:t>His physiotherapy plan includes stretching, joint mobilisation, scapular exercises and heat.</a:t>
            </a:r>
          </a:p>
        </p:txBody>
      </p:sp>
      <p:sp>
        <p:nvSpPr>
          <p:cNvPr id="12" name="Oval 11"/>
          <p:cNvSpPr/>
          <p:nvPr/>
        </p:nvSpPr>
        <p:spPr>
          <a:xfrm>
            <a:off x="548640" y="4184903"/>
            <a:ext cx="402336" cy="402336"/>
          </a:xfrm>
          <a:prstGeom prst="ellipse">
            <a:avLst/>
          </a:prstGeom>
          <a:solidFill>
            <a:srgbClr val="E0EE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2F6F7A"/>
                </a:solidFill>
                <a:latin typeface="Calibri"/>
              </a:rPr>
              <a:t>3</a:t>
            </a:r>
          </a:p>
        </p:txBody>
      </p:sp>
      <p:sp>
        <p:nvSpPr>
          <p:cNvPr id="13" name="TextBox 12"/>
          <p:cNvSpPr txBox="1"/>
          <p:nvPr/>
        </p:nvSpPr>
        <p:spPr>
          <a:xfrm>
            <a:off x="1143000" y="4203192"/>
            <a:ext cx="10500055" cy="1618487"/>
          </a:xfrm>
          <a:prstGeom prst="rect">
            <a:avLst/>
          </a:prstGeom>
          <a:noFill/>
        </p:spPr>
        <p:txBody>
          <a:bodyPr wrap="square" anchor="t" lIns="0" rIns="0" tIns="0" bIns="0">
            <a:spAutoFit/>
          </a:bodyPr>
          <a:lstStyle/>
          <a:p>
            <a:r>
              <a:rPr sz="2400" i="0" b="0">
                <a:solidFill>
                  <a:srgbClr val="2B211C"/>
                </a:solidFill>
                <a:latin typeface="Calibri"/>
              </a:rPr>
              <a:t>For this exercise, add these facts: he has </a:t>
            </a:r>
            <a:r>
              <a:rPr sz="2400" i="0" b="1">
                <a:solidFill>
                  <a:srgbClr val="2B211C"/>
                </a:solidFill>
                <a:latin typeface="Calibri"/>
              </a:rPr>
              <a:t>hypertension</a:t>
            </a:r>
            <a:r>
              <a:rPr sz="2400" i="0" b="0">
                <a:solidFill>
                  <a:srgbClr val="2B211C"/>
                </a:solidFill>
                <a:latin typeface="Calibri"/>
              </a:rPr>
              <a:t> treated with </a:t>
            </a:r>
            <a:r>
              <a:rPr sz="2400" i="0" b="1">
                <a:solidFill>
                  <a:srgbClr val="2B211C"/>
                </a:solidFill>
                <a:latin typeface="Calibri"/>
              </a:rPr>
              <a:t>lisinopril 10 mg daily</a:t>
            </a:r>
            <a:r>
              <a:rPr sz="2400" i="0" b="0">
                <a:solidFill>
                  <a:srgbClr val="2B211C"/>
                </a:solidFill>
                <a:latin typeface="Calibri"/>
              </a:rPr>
              <a:t>, he had </a:t>
            </a:r>
            <a:r>
              <a:rPr sz="2400" i="0" b="1">
                <a:solidFill>
                  <a:srgbClr val="2B211C"/>
                </a:solidFill>
                <a:latin typeface="Calibri"/>
              </a:rPr>
              <a:t>dyspepsia</a:t>
            </a:r>
            <a:r>
              <a:rPr sz="2400" i="0" b="0">
                <a:solidFill>
                  <a:srgbClr val="2B211C"/>
                </a:solidFill>
                <a:latin typeface="Calibri"/>
              </a:rPr>
              <a:t> last year, and he drinks no alcohol.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10</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Step by Step: The Request</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10  ·  Applied Case: Answering a Real Drug Question</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4</a:t>
            </a:r>
          </a:p>
        </p:txBody>
      </p:sp>
      <p:pic>
        <p:nvPicPr>
          <p:cNvPr id="7" name="Picture 6" descr="faculty-of-pharmacy.png"/>
          <p:cNvPicPr>
            <a:picLocks noChangeAspect="1"/>
          </p:cNvPicPr>
          <p:nvPr/>
        </p:nvPicPr>
        <p:blipFill>
          <a:blip r:embed="rId3"/>
          <a:stretch>
            <a:fillRect/>
          </a:stretch>
        </p:blipFill>
        <p:spPr>
          <a:xfrm>
            <a:off x="11247120" y="6309360"/>
            <a:ext cx="384048" cy="384048"/>
          </a:xfrm>
          <a:prstGeom prst="rect">
            <a:avLst/>
          </a:prstGeom>
        </p:spPr>
      </p:pic>
      <p:graphicFrame>
        <p:nvGraphicFramePr>
          <p:cNvPr id="8" name="Table 7"/>
          <p:cNvGraphicFramePr>
            <a:graphicFrameLocks noGrp="1"/>
          </p:cNvGraphicFramePr>
          <p:nvPr/>
        </p:nvGraphicFramePr>
        <p:xfrm>
          <a:off x="548640" y="1600200"/>
          <a:ext cx="11094414" cy="4526280"/>
        </p:xfrm>
        <a:graphic>
          <a:graphicData uri="http://schemas.openxmlformats.org/drawingml/2006/table">
            <a:tbl>
              <a:tblPr firstRow="0" bandRow="0">
                <a:tableStyleId>{5C22544A-7EE6-4342-B048-85BDC9FD1C3A}</a:tableStyleId>
              </a:tblPr>
              <a:tblGrid>
                <a:gridCol w="2894195"/>
                <a:gridCol w="8200219"/>
              </a:tblGrid>
              <a:tr h="565785">
                <a:tc>
                  <a:txBody>
                    <a:bodyPr/>
                    <a:lstStyle/>
                    <a:p>
                      <a:r>
                        <a:rPr sz="1500" i="0" b="1">
                          <a:solidFill>
                            <a:srgbClr val="FFFFFF"/>
                          </a:solidFill>
                          <a:latin typeface="Calibri"/>
                        </a:rPr>
                        <a:t>Step (Chapter 1)</a:t>
                      </a:r>
                    </a:p>
                  </a:txBody>
                  <a:tcPr marL="109728" marR="109728" marT="45720" marB="45720" anchor="ctr">
                    <a:solidFill>
                      <a:srgbClr val="A4472B"/>
                    </a:solidFill>
                  </a:tcPr>
                </a:tc>
                <a:tc>
                  <a:txBody>
                    <a:bodyPr/>
                    <a:lstStyle/>
                    <a:p>
                      <a:r>
                        <a:rPr sz="1500" i="0" b="1">
                          <a:solidFill>
                            <a:srgbClr val="FFFFFF"/>
                          </a:solidFill>
                          <a:latin typeface="Calibri"/>
                        </a:rPr>
                        <a:t>Applied to Mr Ahmed</a:t>
                      </a:r>
                    </a:p>
                  </a:txBody>
                  <a:tcPr marL="109728" marR="109728" marT="45720" marB="45720" anchor="ctr">
                    <a:solidFill>
                      <a:srgbClr val="A4472B"/>
                    </a:solidFill>
                  </a:tcPr>
                </a:tc>
              </a:tr>
              <a:tr h="565785">
                <a:tc>
                  <a:txBody>
                    <a:bodyPr/>
                    <a:lstStyle/>
                    <a:p>
                      <a:r>
                        <a:rPr sz="1600" i="0" b="1">
                          <a:solidFill>
                            <a:srgbClr val="2B211C"/>
                          </a:solidFill>
                          <a:latin typeface="Calibri"/>
                        </a:rPr>
                        <a:t>1. Requester</a:t>
                      </a:r>
                    </a:p>
                  </a:txBody>
                  <a:tcPr marL="109728" marR="109728" marT="45720" marB="45720" anchor="ctr">
                    <a:solidFill>
                      <a:srgbClr val="FFFFFF"/>
                    </a:solidFill>
                  </a:tcPr>
                </a:tc>
                <a:tc>
                  <a:txBody>
                    <a:bodyPr/>
                    <a:lstStyle/>
                    <a:p>
                      <a:r>
                        <a:rPr sz="1600" i="0" b="0">
                          <a:solidFill>
                            <a:srgbClr val="2B211C"/>
                          </a:solidFill>
                          <a:latin typeface="Calibri"/>
                        </a:rPr>
                        <a:t>Physiotherapist; answer needed today, before the next session</a:t>
                      </a:r>
                    </a:p>
                  </a:txBody>
                  <a:tcPr marL="109728" marR="109728" marT="45720" marB="45720" anchor="ctr">
                    <a:solidFill>
                      <a:srgbClr val="FFFFFF"/>
                    </a:solidFill>
                  </a:tcPr>
                </a:tc>
              </a:tr>
              <a:tr h="565785">
                <a:tc>
                  <a:txBody>
                    <a:bodyPr/>
                    <a:lstStyle/>
                    <a:p>
                      <a:r>
                        <a:rPr sz="1600" i="0" b="1">
                          <a:solidFill>
                            <a:srgbClr val="2B211C"/>
                          </a:solidFill>
                          <a:latin typeface="Calibri"/>
                        </a:rPr>
                        <a:t>2. Background</a:t>
                      </a:r>
                    </a:p>
                  </a:txBody>
                  <a:tcPr marL="109728" marR="109728" marT="45720" marB="45720" anchor="ctr">
                    <a:solidFill>
                      <a:srgbClr val="FBF3EE"/>
                    </a:solidFill>
                  </a:tcPr>
                </a:tc>
                <a:tc>
                  <a:txBody>
                    <a:bodyPr/>
                    <a:lstStyle/>
                    <a:p>
                      <a:r>
                        <a:rPr sz="1600" i="0" b="0">
                          <a:solidFill>
                            <a:srgbClr val="2B211C"/>
                          </a:solidFill>
                          <a:latin typeface="Calibri"/>
                        </a:rPr>
                        <a:t>59 years; hypertension on lisinopril; past dyspepsia; normal kidney function last month; no allergies</a:t>
                      </a:r>
                    </a:p>
                  </a:txBody>
                  <a:tcPr marL="109728" marR="109728" marT="45720" marB="45720" anchor="ctr">
                    <a:solidFill>
                      <a:srgbClr val="FBF3EE"/>
                    </a:solidFill>
                  </a:tcPr>
                </a:tc>
              </a:tr>
              <a:tr h="565785">
                <a:tc>
                  <a:txBody>
                    <a:bodyPr/>
                    <a:lstStyle/>
                    <a:p>
                      <a:r>
                        <a:rPr sz="1600" i="0" b="1">
                          <a:solidFill>
                            <a:srgbClr val="2B211C"/>
                          </a:solidFill>
                          <a:latin typeface="Calibri"/>
                        </a:rPr>
                        <a:t>3. Real question</a:t>
                      </a:r>
                    </a:p>
                  </a:txBody>
                  <a:tcPr marL="109728" marR="109728" marT="45720" marB="45720" anchor="ctr">
                    <a:solidFill>
                      <a:srgbClr val="FFFFFF"/>
                    </a:solidFill>
                  </a:tcPr>
                </a:tc>
                <a:tc>
                  <a:txBody>
                    <a:bodyPr/>
                    <a:lstStyle/>
                    <a:p>
                      <a:r>
                        <a:rPr sz="1600" i="0" b="0">
                          <a:solidFill>
                            <a:srgbClr val="2B211C"/>
                          </a:solidFill>
                          <a:latin typeface="Calibri"/>
                        </a:rPr>
                        <a:t>Safe pain control that lets him exercise; and whether an injection would speed recovery</a:t>
                      </a:r>
                    </a:p>
                  </a:txBody>
                  <a:tcPr marL="109728" marR="109728" marT="45720" marB="45720" anchor="ctr">
                    <a:solidFill>
                      <a:srgbClr val="FFFFFF"/>
                    </a:solidFill>
                  </a:tcPr>
                </a:tc>
              </a:tr>
              <a:tr h="565785">
                <a:tc>
                  <a:txBody>
                    <a:bodyPr/>
                    <a:lstStyle/>
                    <a:p>
                      <a:r>
                        <a:rPr sz="1600" i="0" b="1">
                          <a:solidFill>
                            <a:srgbClr val="2B211C"/>
                          </a:solidFill>
                          <a:latin typeface="Calibri"/>
                        </a:rPr>
                        <a:t>4. Classify</a:t>
                      </a:r>
                    </a:p>
                  </a:txBody>
                  <a:tcPr marL="109728" marR="109728" marT="45720" marB="45720" anchor="ctr">
                    <a:solidFill>
                      <a:srgbClr val="FBF3EE"/>
                    </a:solidFill>
                  </a:tcPr>
                </a:tc>
                <a:tc>
                  <a:txBody>
                    <a:bodyPr/>
                    <a:lstStyle/>
                    <a:p>
                      <a:r>
                        <a:rPr sz="1600" i="0" b="0">
                          <a:solidFill>
                            <a:srgbClr val="2B211C"/>
                          </a:solidFill>
                          <a:latin typeface="Calibri"/>
                        </a:rPr>
                        <a:t>Therapy choice plus adverse-effect and interaction questions</a:t>
                      </a:r>
                    </a:p>
                  </a:txBody>
                  <a:tcPr marL="109728" marR="109728" marT="45720" marB="45720" anchor="ctr">
                    <a:solidFill>
                      <a:srgbClr val="FBF3EE"/>
                    </a:solidFill>
                  </a:tcPr>
                </a:tc>
              </a:tr>
              <a:tr h="565785">
                <a:tc>
                  <a:txBody>
                    <a:bodyPr/>
                    <a:lstStyle/>
                    <a:p>
                      <a:r>
                        <a:rPr sz="1600" i="0" b="1">
                          <a:solidFill>
                            <a:srgbClr val="2B211C"/>
                          </a:solidFill>
                          <a:latin typeface="Calibri"/>
                        </a:rPr>
                        <a:t>5. Search</a:t>
                      </a:r>
                    </a:p>
                  </a:txBody>
                  <a:tcPr marL="109728" marR="109728" marT="45720" marB="45720" anchor="ctr">
                    <a:solidFill>
                      <a:srgbClr val="FFFFFF"/>
                    </a:solidFill>
                  </a:tcPr>
                </a:tc>
                <a:tc>
                  <a:txBody>
                    <a:bodyPr/>
                    <a:lstStyle/>
                    <a:p>
                      <a:r>
                        <a:rPr sz="1600" i="0" b="0">
                          <a:solidFill>
                            <a:srgbClr val="2B211C"/>
                          </a:solidFill>
                          <a:latin typeface="Calibri"/>
                        </a:rPr>
                        <a:t>Tertiary, then secondary and primary sources (10.3)</a:t>
                      </a:r>
                    </a:p>
                  </a:txBody>
                  <a:tcPr marL="109728" marR="109728" marT="45720" marB="45720" anchor="ctr">
                    <a:solidFill>
                      <a:srgbClr val="FFFFFF"/>
                    </a:solidFill>
                  </a:tcPr>
                </a:tc>
              </a:tr>
              <a:tr h="565785">
                <a:tc>
                  <a:txBody>
                    <a:bodyPr/>
                    <a:lstStyle/>
                    <a:p>
                      <a:r>
                        <a:rPr sz="1600" i="0" b="1">
                          <a:solidFill>
                            <a:srgbClr val="2B211C"/>
                          </a:solidFill>
                          <a:latin typeface="Calibri"/>
                        </a:rPr>
                        <a:t>6. Answer</a:t>
                      </a:r>
                    </a:p>
                  </a:txBody>
                  <a:tcPr marL="109728" marR="109728" marT="45720" marB="45720" anchor="ctr">
                    <a:solidFill>
                      <a:srgbClr val="FBF3EE"/>
                    </a:solidFill>
                  </a:tcPr>
                </a:tc>
                <a:tc>
                  <a:txBody>
                    <a:bodyPr/>
                    <a:lstStyle/>
                    <a:p>
                      <a:r>
                        <a:rPr sz="1600" i="0" b="0">
                          <a:solidFill>
                            <a:srgbClr val="2B211C"/>
                          </a:solidFill>
                          <a:latin typeface="Calibri"/>
                        </a:rPr>
                        <a:t>Clear written plan with references (10.4)</a:t>
                      </a:r>
                    </a:p>
                  </a:txBody>
                  <a:tcPr marL="109728" marR="109728" marT="45720" marB="45720" anchor="ctr">
                    <a:solidFill>
                      <a:srgbClr val="FBF3EE"/>
                    </a:solidFill>
                  </a:tcPr>
                </a:tc>
              </a:tr>
              <a:tr h="565785">
                <a:tc>
                  <a:txBody>
                    <a:bodyPr/>
                    <a:lstStyle/>
                    <a:p>
                      <a:r>
                        <a:rPr sz="1600" i="0" b="1">
                          <a:solidFill>
                            <a:srgbClr val="2B211C"/>
                          </a:solidFill>
                          <a:latin typeface="Calibri"/>
                        </a:rPr>
                        <a:t>7. Follow up</a:t>
                      </a:r>
                    </a:p>
                  </a:txBody>
                  <a:tcPr marL="109728" marR="109728" marT="45720" marB="45720" anchor="ctr">
                    <a:solidFill>
                      <a:srgbClr val="FFFFFF"/>
                    </a:solidFill>
                  </a:tcPr>
                </a:tc>
                <a:tc>
                  <a:txBody>
                    <a:bodyPr/>
                    <a:lstStyle/>
                    <a:p>
                      <a:r>
                        <a:rPr sz="1600" i="0" b="0">
                          <a:solidFill>
                            <a:srgbClr val="2B211C"/>
                          </a:solidFill>
                          <a:latin typeface="Calibri"/>
                        </a:rPr>
                        <a:t>Review in one week; document the request</a:t>
                      </a:r>
                    </a:p>
                  </a:txBody>
                  <a:tcPr marL="109728" marR="109728" marT="45720" marB="45720" anchor="ct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10</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Finding the Evidence</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10  ·  Applied Case: Answering a Real Drug Question</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5</a:t>
            </a:r>
          </a:p>
        </p:txBody>
      </p:sp>
      <p:pic>
        <p:nvPicPr>
          <p:cNvPr id="7" name="Picture 6" descr="faculty-of-pharmacy.png"/>
          <p:cNvPicPr>
            <a:picLocks noChangeAspect="1"/>
          </p:cNvPicPr>
          <p:nvPr/>
        </p:nvPicPr>
        <p:blipFill>
          <a:blip r:embed="rId3"/>
          <a:stretch>
            <a:fillRect/>
          </a:stretch>
        </p:blipFill>
        <p:spPr>
          <a:xfrm>
            <a:off x="11247120" y="6309360"/>
            <a:ext cx="384048" cy="384048"/>
          </a:xfrm>
          <a:prstGeom prst="rect">
            <a:avLst/>
          </a:prstGeom>
        </p:spPr>
      </p:pic>
      <p:graphicFrame>
        <p:nvGraphicFramePr>
          <p:cNvPr id="8" name="Table 7"/>
          <p:cNvGraphicFramePr>
            <a:graphicFrameLocks noGrp="1"/>
          </p:cNvGraphicFramePr>
          <p:nvPr/>
        </p:nvGraphicFramePr>
        <p:xfrm>
          <a:off x="548640" y="1600200"/>
          <a:ext cx="11094414" cy="4526280"/>
        </p:xfrm>
        <a:graphic>
          <a:graphicData uri="http://schemas.openxmlformats.org/drawingml/2006/table">
            <a:tbl>
              <a:tblPr firstRow="0" bandRow="0">
                <a:tableStyleId>{5C22544A-7EE6-4342-B048-85BDC9FD1C3A}</a:tableStyleId>
              </a:tblPr>
              <a:tblGrid>
                <a:gridCol w="3769946"/>
                <a:gridCol w="7324468"/>
              </a:tblGrid>
              <a:tr h="754380">
                <a:tc>
                  <a:txBody>
                    <a:bodyPr/>
                    <a:lstStyle/>
                    <a:p>
                      <a:r>
                        <a:rPr sz="1700" i="0" b="1">
                          <a:solidFill>
                            <a:srgbClr val="FFFFFF"/>
                          </a:solidFill>
                          <a:latin typeface="Calibri"/>
                        </a:rPr>
                        <a:t>Checklist point (Chapter 6)</a:t>
                      </a:r>
                    </a:p>
                  </a:txBody>
                  <a:tcPr marL="109728" marR="109728" marT="45720" marB="45720" anchor="ctr">
                    <a:solidFill>
                      <a:srgbClr val="A4472B"/>
                    </a:solidFill>
                  </a:tcPr>
                </a:tc>
                <a:tc>
                  <a:txBody>
                    <a:bodyPr/>
                    <a:lstStyle/>
                    <a:p>
                      <a:r>
                        <a:rPr sz="1700" i="0" b="1">
                          <a:solidFill>
                            <a:srgbClr val="FFFFFF"/>
                          </a:solidFill>
                          <a:latin typeface="Calibri"/>
                        </a:rPr>
                        <a:t>Finding</a:t>
                      </a:r>
                    </a:p>
                  </a:txBody>
                  <a:tcPr marL="109728" marR="109728" marT="45720" marB="45720" anchor="ctr">
                    <a:solidFill>
                      <a:srgbClr val="A4472B"/>
                    </a:solidFill>
                  </a:tcPr>
                </a:tc>
              </a:tr>
              <a:tr h="754380">
                <a:tc>
                  <a:txBody>
                    <a:bodyPr/>
                    <a:lstStyle/>
                    <a:p>
                      <a:r>
                        <a:rPr sz="1800" i="0" b="1">
                          <a:solidFill>
                            <a:srgbClr val="2B211C"/>
                          </a:solidFill>
                          <a:latin typeface="Calibri"/>
                        </a:rPr>
                        <a:t>Design</a:t>
                      </a:r>
                    </a:p>
                  </a:txBody>
                  <a:tcPr marL="109728" marR="109728" marT="45720" marB="45720" anchor="ctr">
                    <a:solidFill>
                      <a:srgbClr val="FFFFFF"/>
                    </a:solidFill>
                  </a:tcPr>
                </a:tc>
                <a:tc>
                  <a:txBody>
                    <a:bodyPr/>
                    <a:lstStyle/>
                    <a:p>
                      <a:r>
                        <a:rPr sz="1800" i="0" b="0">
                          <a:solidFill>
                            <a:srgbClr val="2B211C"/>
                          </a:solidFill>
                          <a:latin typeface="Calibri"/>
                        </a:rPr>
                        <a:t>Systematic review and meta-analysis of RCTs: top of the pyramid</a:t>
                      </a:r>
                    </a:p>
                  </a:txBody>
                  <a:tcPr marL="109728" marR="109728" marT="45720" marB="45720" anchor="ctr">
                    <a:solidFill>
                      <a:srgbClr val="FFFFFF"/>
                    </a:solidFill>
                  </a:tcPr>
                </a:tc>
              </a:tr>
              <a:tr h="754380">
                <a:tc>
                  <a:txBody>
                    <a:bodyPr/>
                    <a:lstStyle/>
                    <a:p>
                      <a:r>
                        <a:rPr sz="1800" i="0" b="1">
                          <a:solidFill>
                            <a:srgbClr val="2B211C"/>
                          </a:solidFill>
                          <a:latin typeface="Calibri"/>
                        </a:rPr>
                        <a:t>Patients</a:t>
                      </a:r>
                    </a:p>
                  </a:txBody>
                  <a:tcPr marL="109728" marR="109728" marT="45720" marB="45720" anchor="ctr">
                    <a:solidFill>
                      <a:srgbClr val="FBF3EE"/>
                    </a:solidFill>
                  </a:tcPr>
                </a:tc>
                <a:tc>
                  <a:txBody>
                    <a:bodyPr/>
                    <a:lstStyle/>
                    <a:p>
                      <a:r>
                        <a:rPr sz="1800" i="0" b="0">
                          <a:solidFill>
                            <a:srgbClr val="2B211C"/>
                          </a:solidFill>
                          <a:latin typeface="Calibri"/>
                        </a:rPr>
                        <a:t>Adults with frozen shoulder, similar to Mr Ahmed</a:t>
                      </a:r>
                    </a:p>
                  </a:txBody>
                  <a:tcPr marL="109728" marR="109728" marT="45720" marB="45720" anchor="ctr">
                    <a:solidFill>
                      <a:srgbClr val="FBF3EE"/>
                    </a:solidFill>
                  </a:tcPr>
                </a:tc>
              </a:tr>
              <a:tr h="754380">
                <a:tc>
                  <a:txBody>
                    <a:bodyPr/>
                    <a:lstStyle/>
                    <a:p>
                      <a:r>
                        <a:rPr sz="1800" i="0" b="1">
                          <a:solidFill>
                            <a:srgbClr val="2B211C"/>
                          </a:solidFill>
                          <a:latin typeface="Calibri"/>
                        </a:rPr>
                        <a:t>Outcomes</a:t>
                      </a:r>
                    </a:p>
                  </a:txBody>
                  <a:tcPr marL="109728" marR="109728" marT="45720" marB="45720" anchor="ctr">
                    <a:solidFill>
                      <a:srgbClr val="FFFFFF"/>
                    </a:solidFill>
                  </a:tcPr>
                </a:tc>
                <a:tc>
                  <a:txBody>
                    <a:bodyPr/>
                    <a:lstStyle/>
                    <a:p>
                      <a:r>
                        <a:rPr sz="1800" i="0" b="0">
                          <a:solidFill>
                            <a:srgbClr val="2B211C"/>
                          </a:solidFill>
                          <a:latin typeface="Calibri"/>
                        </a:rPr>
                        <a:t>Pain and range of movement: important to him</a:t>
                      </a:r>
                    </a:p>
                  </a:txBody>
                  <a:tcPr marL="109728" marR="109728" marT="45720" marB="45720" anchor="ctr">
                    <a:solidFill>
                      <a:srgbClr val="FFFFFF"/>
                    </a:solidFill>
                  </a:tcPr>
                </a:tc>
              </a:tr>
              <a:tr h="754380">
                <a:tc>
                  <a:txBody>
                    <a:bodyPr/>
                    <a:lstStyle/>
                    <a:p>
                      <a:r>
                        <a:rPr sz="1800" i="0" b="1">
                          <a:solidFill>
                            <a:srgbClr val="2B211C"/>
                          </a:solidFill>
                          <a:latin typeface="Calibri"/>
                        </a:rPr>
                        <a:t>Size of effect</a:t>
                      </a:r>
                    </a:p>
                  </a:txBody>
                  <a:tcPr marL="109728" marR="109728" marT="45720" marB="45720" anchor="ctr">
                    <a:solidFill>
                      <a:srgbClr val="FBF3EE"/>
                    </a:solidFill>
                  </a:tcPr>
                </a:tc>
                <a:tc>
                  <a:txBody>
                    <a:bodyPr/>
                    <a:lstStyle/>
                    <a:p>
                      <a:r>
                        <a:rPr sz="1800" i="0" b="0">
                          <a:solidFill>
                            <a:srgbClr val="2B211C"/>
                          </a:solidFill>
                          <a:latin typeface="Calibri"/>
                        </a:rPr>
                        <a:t>Clear short-term benefit; small long-term benefit</a:t>
                      </a:r>
                    </a:p>
                  </a:txBody>
                  <a:tcPr marL="109728" marR="109728" marT="45720" marB="45720" anchor="ctr">
                    <a:solidFill>
                      <a:srgbClr val="FBF3EE"/>
                    </a:solidFill>
                  </a:tcPr>
                </a:tc>
              </a:tr>
              <a:tr h="754380">
                <a:tc>
                  <a:txBody>
                    <a:bodyPr/>
                    <a:lstStyle/>
                    <a:p>
                      <a:r>
                        <a:rPr sz="1800" i="0" b="1">
                          <a:solidFill>
                            <a:srgbClr val="2B211C"/>
                          </a:solidFill>
                          <a:latin typeface="Calibri"/>
                        </a:rPr>
                        <a:t>Limits</a:t>
                      </a:r>
                    </a:p>
                  </a:txBody>
                  <a:tcPr marL="109728" marR="109728" marT="45720" marB="45720" anchor="ctr">
                    <a:solidFill>
                      <a:srgbClr val="FFFFFF"/>
                    </a:solidFill>
                  </a:tcPr>
                </a:tc>
                <a:tc>
                  <a:txBody>
                    <a:bodyPr/>
                    <a:lstStyle/>
                    <a:p>
                      <a:r>
                        <a:rPr sz="1800" i="0" b="0">
                          <a:solidFill>
                            <a:srgbClr val="2B211C"/>
                          </a:solidFill>
                          <a:latin typeface="Calibri"/>
                        </a:rPr>
                        <a:t>Trials varied in dose and timing; many were small and not blinded</a:t>
                      </a:r>
                    </a:p>
                  </a:txBody>
                  <a:tcPr marL="109728" marR="109728" marT="45720" marB="45720" anchor="ct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10</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The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10  ·  Applied Case: Answering a Real Drug Question</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6</a:t>
            </a:r>
          </a:p>
        </p:txBody>
      </p:sp>
      <p:pic>
        <p:nvPicPr>
          <p:cNvPr id="7" name="Picture 6" descr="faculty-of-pharmacy.png"/>
          <p:cNvPicPr>
            <a:picLocks noChangeAspect="1"/>
          </p:cNvPicPr>
          <p:nvPr/>
        </p:nvPicPr>
        <p:blipFill>
          <a:blip r:embed="rId3"/>
          <a:stretch>
            <a:fillRect/>
          </a:stretch>
        </p:blipFill>
        <p:spPr>
          <a:xfrm>
            <a:off x="11247120" y="6309360"/>
            <a:ext cx="384048" cy="384048"/>
          </a:xfrm>
          <a:prstGeom prst="rect">
            <a:avLst/>
          </a:prstGeom>
        </p:spPr>
      </p:pic>
      <p:sp>
        <p:nvSpPr>
          <p:cNvPr id="8" name="Oval 7"/>
          <p:cNvSpPr/>
          <p:nvPr/>
        </p:nvSpPr>
        <p:spPr>
          <a:xfrm>
            <a:off x="548640" y="1618488"/>
            <a:ext cx="402336" cy="402336"/>
          </a:xfrm>
          <a:prstGeom prst="ellipse">
            <a:avLst/>
          </a:prstGeom>
          <a:solidFill>
            <a:srgbClr val="E0EE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2F6F7A"/>
                </a:solidFill>
                <a:latin typeface="Calibri"/>
              </a:rPr>
              <a:t>1</a:t>
            </a:r>
          </a:p>
        </p:txBody>
      </p:sp>
      <p:sp>
        <p:nvSpPr>
          <p:cNvPr id="9" name="TextBox 8"/>
          <p:cNvSpPr txBox="1"/>
          <p:nvPr/>
        </p:nvSpPr>
        <p:spPr>
          <a:xfrm>
            <a:off x="1143000" y="1636776"/>
            <a:ext cx="10500055" cy="926211"/>
          </a:xfrm>
          <a:prstGeom prst="rect">
            <a:avLst/>
          </a:prstGeom>
          <a:noFill/>
        </p:spPr>
        <p:txBody>
          <a:bodyPr wrap="square" anchor="t" lIns="0" rIns="0" tIns="0" bIns="0">
            <a:spAutoFit/>
          </a:bodyPr>
          <a:lstStyle/>
          <a:p>
            <a:r>
              <a:rPr sz="2100" i="0" b="1">
                <a:solidFill>
                  <a:srgbClr val="2B211C"/>
                </a:solidFill>
                <a:latin typeface="Calibri"/>
              </a:rPr>
              <a:t>Paracetamol</a:t>
            </a:r>
            <a:r>
              <a:rPr sz="2100" i="0" b="0">
                <a:solidFill>
                  <a:srgbClr val="2B211C"/>
                </a:solidFill>
                <a:latin typeface="Calibri"/>
              </a:rPr>
              <a:t> 1 g up to four times a day (maximum 4 g a day) before exercise sessions.</a:t>
            </a:r>
          </a:p>
        </p:txBody>
      </p:sp>
      <p:sp>
        <p:nvSpPr>
          <p:cNvPr id="10" name="Oval 9"/>
          <p:cNvSpPr/>
          <p:nvPr/>
        </p:nvSpPr>
        <p:spPr>
          <a:xfrm>
            <a:off x="548640" y="2590419"/>
            <a:ext cx="402336" cy="402336"/>
          </a:xfrm>
          <a:prstGeom prst="ellipse">
            <a:avLst/>
          </a:prstGeom>
          <a:solidFill>
            <a:srgbClr val="E0EE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2F6F7A"/>
                </a:solidFill>
                <a:latin typeface="Calibri"/>
              </a:rPr>
              <a:t>2</a:t>
            </a:r>
          </a:p>
        </p:txBody>
      </p:sp>
      <p:sp>
        <p:nvSpPr>
          <p:cNvPr id="11" name="TextBox 10"/>
          <p:cNvSpPr txBox="1"/>
          <p:nvPr/>
        </p:nvSpPr>
        <p:spPr>
          <a:xfrm>
            <a:off x="1143000" y="2608707"/>
            <a:ext cx="10500055" cy="926211"/>
          </a:xfrm>
          <a:prstGeom prst="rect">
            <a:avLst/>
          </a:prstGeom>
          <a:noFill/>
        </p:spPr>
        <p:txBody>
          <a:bodyPr wrap="square" anchor="t" lIns="0" rIns="0" tIns="0" bIns="0">
            <a:spAutoFit/>
          </a:bodyPr>
          <a:lstStyle/>
          <a:p>
            <a:r>
              <a:rPr sz="2100" i="0" b="0">
                <a:solidFill>
                  <a:srgbClr val="2B211C"/>
                </a:solidFill>
                <a:latin typeface="Calibri"/>
              </a:rPr>
              <a:t>If this is not enough, </a:t>
            </a:r>
            <a:r>
              <a:rPr sz="2100" i="0" b="1">
                <a:solidFill>
                  <a:srgbClr val="2B211C"/>
                </a:solidFill>
                <a:latin typeface="Calibri"/>
              </a:rPr>
              <a:t>naproxen</a:t>
            </a:r>
            <a:r>
              <a:rPr sz="2100" i="0" b="0">
                <a:solidFill>
                  <a:srgbClr val="2B211C"/>
                </a:solidFill>
                <a:latin typeface="Calibri"/>
              </a:rPr>
              <a:t> 250-500 mg twice daily with food, for up to two weeks, </a:t>
            </a:r>
            <a:r>
              <a:rPr sz="2100" i="0" b="1">
                <a:solidFill>
                  <a:srgbClr val="2B211C"/>
                </a:solidFill>
                <a:latin typeface="Calibri"/>
              </a:rPr>
              <a:t>with omeprazole</a:t>
            </a:r>
            <a:r>
              <a:rPr sz="2100" i="0" b="0">
                <a:solidFill>
                  <a:srgbClr val="2B211C"/>
                </a:solidFill>
                <a:latin typeface="Calibri"/>
              </a:rPr>
              <a:t> 20 mg daily for stomach protection.</a:t>
            </a:r>
          </a:p>
        </p:txBody>
      </p:sp>
      <p:sp>
        <p:nvSpPr>
          <p:cNvPr id="12" name="Oval 11"/>
          <p:cNvSpPr/>
          <p:nvPr/>
        </p:nvSpPr>
        <p:spPr>
          <a:xfrm>
            <a:off x="548640" y="3562350"/>
            <a:ext cx="402336" cy="402336"/>
          </a:xfrm>
          <a:prstGeom prst="ellipse">
            <a:avLst/>
          </a:prstGeom>
          <a:solidFill>
            <a:srgbClr val="E0EE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2F6F7A"/>
                </a:solidFill>
                <a:latin typeface="Calibri"/>
              </a:rPr>
              <a:t>3</a:t>
            </a:r>
          </a:p>
        </p:txBody>
      </p:sp>
      <p:sp>
        <p:nvSpPr>
          <p:cNvPr id="13" name="TextBox 12"/>
          <p:cNvSpPr txBox="1"/>
          <p:nvPr/>
        </p:nvSpPr>
        <p:spPr>
          <a:xfrm>
            <a:off x="1143000" y="3580638"/>
            <a:ext cx="10500055" cy="926211"/>
          </a:xfrm>
          <a:prstGeom prst="rect">
            <a:avLst/>
          </a:prstGeom>
          <a:noFill/>
        </p:spPr>
        <p:txBody>
          <a:bodyPr wrap="square" anchor="t" lIns="0" rIns="0" tIns="0" bIns="0">
            <a:spAutoFit/>
          </a:bodyPr>
          <a:lstStyle/>
          <a:p>
            <a:r>
              <a:rPr sz="2100" i="0" b="0">
                <a:solidFill>
                  <a:srgbClr val="2B211C"/>
                </a:solidFill>
                <a:latin typeface="Calibri"/>
              </a:rPr>
              <a:t>Because of lisinopril, check </a:t>
            </a:r>
            <a:r>
              <a:rPr sz="2100" i="0" b="1">
                <a:solidFill>
                  <a:srgbClr val="2B211C"/>
                </a:solidFill>
                <a:latin typeface="Calibri"/>
              </a:rPr>
              <a:t>blood pressure</a:t>
            </a:r>
            <a:r>
              <a:rPr sz="2100" i="0" b="0">
                <a:solidFill>
                  <a:srgbClr val="2B211C"/>
                </a:solidFill>
                <a:latin typeface="Calibri"/>
              </a:rPr>
              <a:t> and </a:t>
            </a:r>
            <a:r>
              <a:rPr sz="2100" i="0" b="1">
                <a:solidFill>
                  <a:srgbClr val="2B211C"/>
                </a:solidFill>
                <a:latin typeface="Calibri"/>
              </a:rPr>
              <a:t>kidney function</a:t>
            </a:r>
            <a:r>
              <a:rPr sz="2100" i="0" b="0">
                <a:solidFill>
                  <a:srgbClr val="2B211C"/>
                </a:solidFill>
                <a:latin typeface="Calibri"/>
              </a:rPr>
              <a:t> within one to two weeks of starting naproxen.</a:t>
            </a:r>
          </a:p>
        </p:txBody>
      </p:sp>
      <p:sp>
        <p:nvSpPr>
          <p:cNvPr id="14" name="Oval 13"/>
          <p:cNvSpPr/>
          <p:nvPr/>
        </p:nvSpPr>
        <p:spPr>
          <a:xfrm>
            <a:off x="548640" y="4534281"/>
            <a:ext cx="402336" cy="402336"/>
          </a:xfrm>
          <a:prstGeom prst="ellipse">
            <a:avLst/>
          </a:prstGeom>
          <a:solidFill>
            <a:srgbClr val="E0EE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2F6F7A"/>
                </a:solidFill>
                <a:latin typeface="Calibri"/>
              </a:rPr>
              <a:t>4</a:t>
            </a:r>
          </a:p>
        </p:txBody>
      </p:sp>
      <p:sp>
        <p:nvSpPr>
          <p:cNvPr id="15" name="TextBox 14"/>
          <p:cNvSpPr txBox="1"/>
          <p:nvPr/>
        </p:nvSpPr>
        <p:spPr>
          <a:xfrm>
            <a:off x="1143000" y="4552569"/>
            <a:ext cx="10500055" cy="926211"/>
          </a:xfrm>
          <a:prstGeom prst="rect">
            <a:avLst/>
          </a:prstGeom>
          <a:noFill/>
        </p:spPr>
        <p:txBody>
          <a:bodyPr wrap="square" anchor="t" lIns="0" rIns="0" tIns="0" bIns="0">
            <a:spAutoFit/>
          </a:bodyPr>
          <a:lstStyle/>
          <a:p>
            <a:r>
              <a:rPr sz="2100" i="0" b="0">
                <a:solidFill>
                  <a:srgbClr val="2B211C"/>
                </a:solidFill>
                <a:latin typeface="Calibri"/>
              </a:rPr>
              <a:t>A </a:t>
            </a:r>
            <a:r>
              <a:rPr sz="2100" i="0" b="1">
                <a:solidFill>
                  <a:srgbClr val="2B211C"/>
                </a:solidFill>
                <a:latin typeface="Calibri"/>
              </a:rPr>
              <a:t>corticosteroid injection</a:t>
            </a:r>
            <a:r>
              <a:rPr sz="2100" i="0" b="0">
                <a:solidFill>
                  <a:srgbClr val="2B211C"/>
                </a:solidFill>
                <a:latin typeface="Calibri"/>
              </a:rPr>
              <a:t> can be considered by the doctor for short-term relief to help him exercise; evidence supports early benefit.</a:t>
            </a:r>
          </a:p>
        </p:txBody>
      </p:sp>
      <p:sp>
        <p:nvSpPr>
          <p:cNvPr id="16" name="Oval 15"/>
          <p:cNvSpPr/>
          <p:nvPr/>
        </p:nvSpPr>
        <p:spPr>
          <a:xfrm>
            <a:off x="548640" y="5506212"/>
            <a:ext cx="402336" cy="402336"/>
          </a:xfrm>
          <a:prstGeom prst="ellipse">
            <a:avLst/>
          </a:prstGeom>
          <a:solidFill>
            <a:srgbClr val="E0EE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2F6F7A"/>
                </a:solidFill>
                <a:latin typeface="Calibri"/>
              </a:rPr>
              <a:t>5</a:t>
            </a:r>
          </a:p>
        </p:txBody>
      </p:sp>
      <p:sp>
        <p:nvSpPr>
          <p:cNvPr id="17" name="TextBox 16"/>
          <p:cNvSpPr txBox="1"/>
          <p:nvPr/>
        </p:nvSpPr>
        <p:spPr>
          <a:xfrm>
            <a:off x="1143000" y="5524500"/>
            <a:ext cx="10500055" cy="592836"/>
          </a:xfrm>
          <a:prstGeom prst="rect">
            <a:avLst/>
          </a:prstGeom>
          <a:noFill/>
        </p:spPr>
        <p:txBody>
          <a:bodyPr wrap="square" anchor="t" lIns="0" rIns="0" tIns="0" bIns="0">
            <a:spAutoFit/>
          </a:bodyPr>
          <a:lstStyle/>
          <a:p>
            <a:r>
              <a:rPr sz="2100" i="0" b="0">
                <a:solidFill>
                  <a:srgbClr val="2B211C"/>
                </a:solidFill>
                <a:latin typeface="Calibri"/>
              </a:rPr>
              <a:t>Heat before exercise and the home programme remain the core of treatment.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931920" cy="6858000"/>
          </a:xfrm>
          <a:prstGeom prst="rect">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188720"/>
            <a:ext cx="2926080" cy="2377440"/>
          </a:xfrm>
          <a:prstGeom prst="rect">
            <a:avLst/>
          </a:prstGeom>
          <a:noFill/>
        </p:spPr>
        <p:txBody>
          <a:bodyPr wrap="square" anchor="t" lIns="0" rIns="0" tIns="0" bIns="0">
            <a:spAutoFit/>
          </a:bodyPr>
          <a:lstStyle/>
          <a:p>
            <a:pPr algn="l"/>
            <a:r>
              <a:rPr sz="13000" i="0" b="1">
                <a:solidFill>
                  <a:srgbClr val="E0EEF0"/>
                </a:solidFill>
                <a:latin typeface="Cambria"/>
              </a:rPr>
              <a:t>℞</a:t>
            </a:r>
          </a:p>
        </p:txBody>
      </p:sp>
      <p:sp>
        <p:nvSpPr>
          <p:cNvPr id="4" name="TextBox 3"/>
          <p:cNvSpPr txBox="1"/>
          <p:nvPr/>
        </p:nvSpPr>
        <p:spPr>
          <a:xfrm>
            <a:off x="548640" y="3977639"/>
            <a:ext cx="3017520" cy="1280160"/>
          </a:xfrm>
          <a:prstGeom prst="rect">
            <a:avLst/>
          </a:prstGeom>
          <a:noFill/>
        </p:spPr>
        <p:txBody>
          <a:bodyPr wrap="square" anchor="t" lIns="0" rIns="0" tIns="0" bIns="0">
            <a:spAutoFit/>
          </a:bodyPr>
          <a:lstStyle/>
          <a:p>
            <a:r>
              <a:rPr sz="3000" i="0" b="1">
                <a:solidFill>
                  <a:srgbClr val="FFFFFF"/>
                </a:solidFill>
                <a:latin typeface="Cambria"/>
              </a:rPr>
              <a:t>At the Pharmacy</a:t>
            </a:r>
          </a:p>
          <a:p>
            <a:r>
              <a:rPr sz="1400" i="0" b="1" spc="150">
                <a:solidFill>
                  <a:srgbClr val="E0EEF0"/>
                </a:solidFill>
                <a:latin typeface="Calibri"/>
              </a:rPr>
              <a:t>Section 10</a:t>
            </a:r>
          </a:p>
        </p:txBody>
      </p:sp>
      <p:sp>
        <p:nvSpPr>
          <p:cNvPr id="5" name="TextBox 4"/>
          <p:cNvSpPr txBox="1"/>
          <p:nvPr/>
        </p:nvSpPr>
        <p:spPr>
          <a:xfrm>
            <a:off x="4526280" y="822960"/>
            <a:ext cx="7132320" cy="5120640"/>
          </a:xfrm>
          <a:prstGeom prst="rect">
            <a:avLst/>
          </a:prstGeom>
          <a:noFill/>
        </p:spPr>
        <p:txBody>
          <a:bodyPr wrap="square" anchor="ctr" lIns="0" rIns="0" tIns="0" bIns="0">
            <a:spAutoFit/>
          </a:bodyPr>
          <a:lstStyle/>
          <a:p>
            <a:r>
              <a:rPr sz="2200" i="0" b="0">
                <a:solidFill>
                  <a:srgbClr val="2B211C"/>
                </a:solidFill>
                <a:latin typeface="Calibri"/>
              </a:rPr>
              <a:t>Mr Ahmed comes in with his prescription. You explain how to take naproxen with food and omeprazole. You also tell him to stop naproxen and call if he notices black stools, ankle swelling or much less urine. You record the counselling in the pharmacy notes.</a:t>
            </a:r>
          </a:p>
        </p:txBody>
      </p:sp>
      <p:sp>
        <p:nvSpPr>
          <p:cNvPr id="6" name="TextBox 5"/>
          <p:cNvSpPr txBox="1"/>
          <p:nvPr/>
        </p:nvSpPr>
        <p:spPr>
          <a:xfrm>
            <a:off x="4526280" y="6419088"/>
            <a:ext cx="5486400" cy="274320"/>
          </a:xfrm>
          <a:prstGeom prst="rect">
            <a:avLst/>
          </a:prstGeom>
          <a:noFill/>
        </p:spPr>
        <p:txBody>
          <a:bodyPr wrap="square" anchor="t" lIns="0" rIns="0" tIns="0" bIns="0">
            <a:spAutoFit/>
          </a:bodyPr>
          <a:lstStyle/>
          <a:p>
            <a:r>
              <a:rPr sz="1000" i="0" b="0">
                <a:solidFill>
                  <a:srgbClr val="6E625B"/>
                </a:solidFill>
                <a:latin typeface="Calibri"/>
              </a:rPr>
              <a:t>Drug Information  ·  Applied Case: Answering a Real Drug Question</a:t>
            </a:r>
          </a:p>
        </p:txBody>
      </p:sp>
      <p:sp>
        <p:nvSpPr>
          <p:cNvPr id="7" name="TextBox 6"/>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7</a:t>
            </a:r>
          </a:p>
        </p:txBody>
      </p:sp>
      <p:pic>
        <p:nvPicPr>
          <p:cNvPr id="8" name="Picture 7" descr="faculty-of-pharmacy.png"/>
          <p:cNvPicPr>
            <a:picLocks noChangeAspect="1"/>
          </p:cNvPicPr>
          <p:nvPr/>
        </p:nvPicPr>
        <p:blipFill>
          <a:blip r:embed="rId3"/>
          <a:stretch>
            <a:fillRect/>
          </a:stretch>
        </p:blipFill>
        <p:spPr>
          <a:xfrm>
            <a:off x="11247120" y="6309360"/>
            <a:ext cx="384048" cy="38404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10</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Ten Days Later: A Suspected ADR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10  ·  Applied Case: Answering a Real Drug Question</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8</a:t>
            </a:r>
          </a:p>
        </p:txBody>
      </p:sp>
      <p:pic>
        <p:nvPicPr>
          <p:cNvPr id="7" name="Picture 6" descr="faculty-of-pharmacy.png"/>
          <p:cNvPicPr>
            <a:picLocks noChangeAspect="1"/>
          </p:cNvPicPr>
          <p:nvPr/>
        </p:nvPicPr>
        <p:blipFill>
          <a:blip r:embed="rId3"/>
          <a:stretch>
            <a:fillRect/>
          </a:stretch>
        </p:blipFill>
        <p:spPr>
          <a:xfrm>
            <a:off x="11247120" y="6309360"/>
            <a:ext cx="384048" cy="384048"/>
          </a:xfrm>
          <a:prstGeom prst="rect">
            <a:avLst/>
          </a:prstGeom>
        </p:spPr>
      </p:pic>
      <p:graphicFrame>
        <p:nvGraphicFramePr>
          <p:cNvPr id="8" name="Table 7"/>
          <p:cNvGraphicFramePr>
            <a:graphicFrameLocks noGrp="1"/>
          </p:cNvGraphicFramePr>
          <p:nvPr/>
        </p:nvGraphicFramePr>
        <p:xfrm>
          <a:off x="548640" y="1600200"/>
          <a:ext cx="11094413" cy="4526280"/>
        </p:xfrm>
        <a:graphic>
          <a:graphicData uri="http://schemas.openxmlformats.org/drawingml/2006/table">
            <a:tbl>
              <a:tblPr firstRow="0" bandRow="0">
                <a:tableStyleId>{5C22544A-7EE6-4342-B048-85BDC9FD1C3A}</a:tableStyleId>
              </a:tblPr>
              <a:tblGrid>
                <a:gridCol w="3302917"/>
                <a:gridCol w="5758932"/>
                <a:gridCol w="2032564"/>
              </a:tblGrid>
              <a:tr h="565785">
                <a:tc>
                  <a:txBody>
                    <a:bodyPr/>
                    <a:lstStyle/>
                    <a:p>
                      <a:r>
                        <a:rPr sz="1700" i="0" b="1">
                          <a:solidFill>
                            <a:srgbClr val="FFFFFF"/>
                          </a:solidFill>
                          <a:latin typeface="Calibri"/>
                        </a:rPr>
                        <a:t>Naranjo question</a:t>
                      </a:r>
                    </a:p>
                  </a:txBody>
                  <a:tcPr marL="109728" marR="109728" marT="45720" marB="45720" anchor="ctr">
                    <a:solidFill>
                      <a:srgbClr val="A4472B"/>
                    </a:solidFill>
                  </a:tcPr>
                </a:tc>
                <a:tc>
                  <a:txBody>
                    <a:bodyPr/>
                    <a:lstStyle/>
                    <a:p>
                      <a:r>
                        <a:rPr sz="1700" i="0" b="1">
                          <a:solidFill>
                            <a:srgbClr val="FFFFFF"/>
                          </a:solidFill>
                          <a:latin typeface="Calibri"/>
                        </a:rPr>
                        <a:t>Answer</a:t>
                      </a:r>
                    </a:p>
                  </a:txBody>
                  <a:tcPr marL="109728" marR="109728" marT="45720" marB="45720" anchor="ctr">
                    <a:solidFill>
                      <a:srgbClr val="A4472B"/>
                    </a:solidFill>
                  </a:tcPr>
                </a:tc>
                <a:tc>
                  <a:txBody>
                    <a:bodyPr/>
                    <a:lstStyle/>
                    <a:p>
                      <a:r>
                        <a:rPr sz="1700" i="0" b="1">
                          <a:solidFill>
                            <a:srgbClr val="FFFFFF"/>
                          </a:solidFill>
                          <a:latin typeface="Calibri"/>
                        </a:rPr>
                        <a:t>Score</a:t>
                      </a:r>
                    </a:p>
                  </a:txBody>
                  <a:tcPr marL="109728" marR="109728" marT="45720" marB="45720" anchor="ctr">
                    <a:solidFill>
                      <a:srgbClr val="A4472B"/>
                    </a:solidFill>
                  </a:tcPr>
                </a:tc>
              </a:tr>
              <a:tr h="565785">
                <a:tc>
                  <a:txBody>
                    <a:bodyPr/>
                    <a:lstStyle/>
                    <a:p>
                      <a:r>
                        <a:rPr sz="1800" i="0" b="1">
                          <a:solidFill>
                            <a:srgbClr val="2B211C"/>
                          </a:solidFill>
                          <a:latin typeface="Calibri"/>
                        </a:rPr>
                        <a:t>1. Previous conclusive reports?</a:t>
                      </a:r>
                    </a:p>
                  </a:txBody>
                  <a:tcPr marL="109728" marR="109728" marT="45720" marB="45720" anchor="ctr">
                    <a:solidFill>
                      <a:srgbClr val="FFFFFF"/>
                    </a:solidFill>
                  </a:tcPr>
                </a:tc>
                <a:tc>
                  <a:txBody>
                    <a:bodyPr/>
                    <a:lstStyle/>
                    <a:p>
                      <a:r>
                        <a:rPr sz="1800" i="0" b="0">
                          <a:solidFill>
                            <a:srgbClr val="2B211C"/>
                          </a:solidFill>
                          <a:latin typeface="Calibri"/>
                        </a:rPr>
                        <a:t>Yes: NSAIDs cause fluid retention, raised BP and kidney injury</a:t>
                      </a:r>
                    </a:p>
                  </a:txBody>
                  <a:tcPr marL="109728" marR="109728" marT="45720" marB="45720" anchor="ctr">
                    <a:solidFill>
                      <a:srgbClr val="FFFFFF"/>
                    </a:solidFill>
                  </a:tcPr>
                </a:tc>
                <a:tc>
                  <a:txBody>
                    <a:bodyPr/>
                    <a:lstStyle/>
                    <a:p>
                      <a:r>
                        <a:rPr sz="1800" i="0" b="0">
                          <a:solidFill>
                            <a:srgbClr val="2B211C"/>
                          </a:solidFill>
                          <a:latin typeface="Calibri"/>
                        </a:rPr>
                        <a:t>+1</a:t>
                      </a:r>
                    </a:p>
                  </a:txBody>
                  <a:tcPr marL="109728" marR="109728" marT="45720" marB="45720" anchor="ctr">
                    <a:solidFill>
                      <a:srgbClr val="FFFFFF"/>
                    </a:solidFill>
                  </a:tcPr>
                </a:tc>
              </a:tr>
              <a:tr h="565785">
                <a:tc>
                  <a:txBody>
                    <a:bodyPr/>
                    <a:lstStyle/>
                    <a:p>
                      <a:r>
                        <a:rPr sz="1800" i="0" b="1">
                          <a:solidFill>
                            <a:srgbClr val="2B211C"/>
                          </a:solidFill>
                          <a:latin typeface="Calibri"/>
                        </a:rPr>
                        <a:t>2. Appeared after the drug?</a:t>
                      </a:r>
                    </a:p>
                  </a:txBody>
                  <a:tcPr marL="109728" marR="109728" marT="45720" marB="45720" anchor="ctr">
                    <a:solidFill>
                      <a:srgbClr val="FBF3EE"/>
                    </a:solidFill>
                  </a:tcPr>
                </a:tc>
                <a:tc>
                  <a:txBody>
                    <a:bodyPr/>
                    <a:lstStyle/>
                    <a:p>
                      <a:r>
                        <a:rPr sz="1800" i="0" b="0">
                          <a:solidFill>
                            <a:srgbClr val="2B211C"/>
                          </a:solidFill>
                          <a:latin typeface="Calibri"/>
                        </a:rPr>
                        <a:t>Yes</a:t>
                      </a:r>
                    </a:p>
                  </a:txBody>
                  <a:tcPr marL="109728" marR="109728" marT="45720" marB="45720" anchor="ctr">
                    <a:solidFill>
                      <a:srgbClr val="FBF3EE"/>
                    </a:solidFill>
                  </a:tcPr>
                </a:tc>
                <a:tc>
                  <a:txBody>
                    <a:bodyPr/>
                    <a:lstStyle/>
                    <a:p>
                      <a:r>
                        <a:rPr sz="1800" i="0" b="0">
                          <a:solidFill>
                            <a:srgbClr val="2B211C"/>
                          </a:solidFill>
                          <a:latin typeface="Calibri"/>
                        </a:rPr>
                        <a:t>+2</a:t>
                      </a:r>
                    </a:p>
                  </a:txBody>
                  <a:tcPr marL="109728" marR="109728" marT="45720" marB="45720" anchor="ctr">
                    <a:solidFill>
                      <a:srgbClr val="FBF3EE"/>
                    </a:solidFill>
                  </a:tcPr>
                </a:tc>
              </a:tr>
              <a:tr h="565785">
                <a:tc>
                  <a:txBody>
                    <a:bodyPr/>
                    <a:lstStyle/>
                    <a:p>
                      <a:r>
                        <a:rPr sz="1800" i="0" b="1">
                          <a:solidFill>
                            <a:srgbClr val="2B211C"/>
                          </a:solidFill>
                          <a:latin typeface="Calibri"/>
                        </a:rPr>
                        <a:t>3. Improved on stopping?</a:t>
                      </a:r>
                    </a:p>
                  </a:txBody>
                  <a:tcPr marL="109728" marR="109728" marT="45720" marB="45720" anchor="ctr">
                    <a:solidFill>
                      <a:srgbClr val="FFFFFF"/>
                    </a:solidFill>
                  </a:tcPr>
                </a:tc>
                <a:tc>
                  <a:txBody>
                    <a:bodyPr/>
                    <a:lstStyle/>
                    <a:p>
                      <a:r>
                        <a:rPr sz="1800" i="0" b="0">
                          <a:solidFill>
                            <a:srgbClr val="2B211C"/>
                          </a:solidFill>
                          <a:latin typeface="Calibri"/>
                        </a:rPr>
                        <a:t>Yes, after one week</a:t>
                      </a:r>
                    </a:p>
                  </a:txBody>
                  <a:tcPr marL="109728" marR="109728" marT="45720" marB="45720" anchor="ctr">
                    <a:solidFill>
                      <a:srgbClr val="FFFFFF"/>
                    </a:solidFill>
                  </a:tcPr>
                </a:tc>
                <a:tc>
                  <a:txBody>
                    <a:bodyPr/>
                    <a:lstStyle/>
                    <a:p>
                      <a:r>
                        <a:rPr sz="1800" i="0" b="0">
                          <a:solidFill>
                            <a:srgbClr val="2B211C"/>
                          </a:solidFill>
                          <a:latin typeface="Calibri"/>
                        </a:rPr>
                        <a:t>+1</a:t>
                      </a:r>
                    </a:p>
                  </a:txBody>
                  <a:tcPr marL="109728" marR="109728" marT="45720" marB="45720" anchor="ctr">
                    <a:solidFill>
                      <a:srgbClr val="FFFFFF"/>
                    </a:solidFill>
                  </a:tcPr>
                </a:tc>
              </a:tr>
              <a:tr h="565785">
                <a:tc>
                  <a:txBody>
                    <a:bodyPr/>
                    <a:lstStyle/>
                    <a:p>
                      <a:r>
                        <a:rPr sz="1800" i="0" b="1">
                          <a:solidFill>
                            <a:srgbClr val="2B211C"/>
                          </a:solidFill>
                          <a:latin typeface="Calibri"/>
                        </a:rPr>
                        <a:t>5. Other causes?</a:t>
                      </a:r>
                    </a:p>
                  </a:txBody>
                  <a:tcPr marL="109728" marR="109728" marT="45720" marB="45720" anchor="ctr">
                    <a:solidFill>
                      <a:srgbClr val="FBF3EE"/>
                    </a:solidFill>
                  </a:tcPr>
                </a:tc>
                <a:tc>
                  <a:txBody>
                    <a:bodyPr/>
                    <a:lstStyle/>
                    <a:p>
                      <a:r>
                        <a:rPr sz="1800" i="0" b="0">
                          <a:solidFill>
                            <a:srgbClr val="2B211C"/>
                          </a:solidFill>
                          <a:latin typeface="Calibri"/>
                        </a:rPr>
                        <a:t>No</a:t>
                      </a:r>
                    </a:p>
                  </a:txBody>
                  <a:tcPr marL="109728" marR="109728" marT="45720" marB="45720" anchor="ctr">
                    <a:solidFill>
                      <a:srgbClr val="FBF3EE"/>
                    </a:solidFill>
                  </a:tcPr>
                </a:tc>
                <a:tc>
                  <a:txBody>
                    <a:bodyPr/>
                    <a:lstStyle/>
                    <a:p>
                      <a:r>
                        <a:rPr sz="1800" i="0" b="0">
                          <a:solidFill>
                            <a:srgbClr val="2B211C"/>
                          </a:solidFill>
                          <a:latin typeface="Calibri"/>
                        </a:rPr>
                        <a:t>+2</a:t>
                      </a:r>
                    </a:p>
                  </a:txBody>
                  <a:tcPr marL="109728" marR="109728" marT="45720" marB="45720" anchor="ctr">
                    <a:solidFill>
                      <a:srgbClr val="FBF3EE"/>
                    </a:solidFill>
                  </a:tcPr>
                </a:tc>
              </a:tr>
              <a:tr h="565785">
                <a:tc>
                  <a:txBody>
                    <a:bodyPr/>
                    <a:lstStyle/>
                    <a:p>
                      <a:r>
                        <a:rPr sz="1800" i="0" b="1">
                          <a:solidFill>
                            <a:srgbClr val="2B211C"/>
                          </a:solidFill>
                          <a:latin typeface="Calibri"/>
                        </a:rPr>
                        <a:t>10. Objective evidence?</a:t>
                      </a:r>
                    </a:p>
                  </a:txBody>
                  <a:tcPr marL="109728" marR="109728" marT="45720" marB="45720" anchor="ctr">
                    <a:solidFill>
                      <a:srgbClr val="FFFFFF"/>
                    </a:solidFill>
                  </a:tcPr>
                </a:tc>
                <a:tc>
                  <a:txBody>
                    <a:bodyPr/>
                    <a:lstStyle/>
                    <a:p>
                      <a:r>
                        <a:rPr sz="1800" i="0" b="0">
                          <a:solidFill>
                            <a:srgbClr val="2B211C"/>
                          </a:solidFill>
                          <a:latin typeface="Calibri"/>
                        </a:rPr>
                        <a:t>Yes: creatinine and BP</a:t>
                      </a:r>
                    </a:p>
                  </a:txBody>
                  <a:tcPr marL="109728" marR="109728" marT="45720" marB="45720" anchor="ctr">
                    <a:solidFill>
                      <a:srgbClr val="FFFFFF"/>
                    </a:solidFill>
                  </a:tcPr>
                </a:tc>
                <a:tc>
                  <a:txBody>
                    <a:bodyPr/>
                    <a:lstStyle/>
                    <a:p>
                      <a:r>
                        <a:rPr sz="1800" i="0" b="0">
                          <a:solidFill>
                            <a:srgbClr val="2B211C"/>
                          </a:solidFill>
                          <a:latin typeface="Calibri"/>
                        </a:rPr>
                        <a:t>+1</a:t>
                      </a:r>
                    </a:p>
                  </a:txBody>
                  <a:tcPr marL="109728" marR="109728" marT="45720" marB="45720" anchor="ctr">
                    <a:solidFill>
                      <a:srgbClr val="FFFFFF"/>
                    </a:solidFill>
                  </a:tcPr>
                </a:tc>
              </a:tr>
              <a:tr h="565785">
                <a:tc>
                  <a:txBody>
                    <a:bodyPr/>
                    <a:lstStyle/>
                    <a:p>
                      <a:r>
                        <a:rPr sz="1800" i="0" b="1">
                          <a:solidFill>
                            <a:srgbClr val="2B211C"/>
                          </a:solidFill>
                          <a:latin typeface="Calibri"/>
                        </a:rPr>
                        <a:t>Other questions</a:t>
                      </a:r>
                    </a:p>
                  </a:txBody>
                  <a:tcPr marL="109728" marR="109728" marT="45720" marB="45720" anchor="ctr">
                    <a:solidFill>
                      <a:srgbClr val="FBF3EE"/>
                    </a:solidFill>
                  </a:tcPr>
                </a:tc>
                <a:tc>
                  <a:txBody>
                    <a:bodyPr/>
                    <a:lstStyle/>
                    <a:p>
                      <a:r>
                        <a:rPr sz="1800" i="0" b="0">
                          <a:solidFill>
                            <a:srgbClr val="2B211C"/>
                          </a:solidFill>
                          <a:latin typeface="Calibri"/>
                        </a:rPr>
                        <a:t>Not done / not known</a:t>
                      </a:r>
                    </a:p>
                  </a:txBody>
                  <a:tcPr marL="109728" marR="109728" marT="45720" marB="45720" anchor="ctr">
                    <a:solidFill>
                      <a:srgbClr val="FBF3EE"/>
                    </a:solidFill>
                  </a:tcPr>
                </a:tc>
                <a:tc>
                  <a:txBody>
                    <a:bodyPr/>
                    <a:lstStyle/>
                    <a:p>
                      <a:r>
                        <a:rPr sz="1800" i="0" b="0">
                          <a:solidFill>
                            <a:srgbClr val="2B211C"/>
                          </a:solidFill>
                          <a:latin typeface="Calibri"/>
                        </a:rPr>
                        <a:t>0</a:t>
                      </a:r>
                    </a:p>
                  </a:txBody>
                  <a:tcPr marL="109728" marR="109728" marT="45720" marB="45720" anchor="ctr">
                    <a:solidFill>
                      <a:srgbClr val="FBF3EE"/>
                    </a:solidFill>
                  </a:tcPr>
                </a:tc>
              </a:tr>
              <a:tr h="565785">
                <a:tc>
                  <a:txBody>
                    <a:bodyPr/>
                    <a:lstStyle/>
                    <a:p>
                      <a:r>
                        <a:rPr sz="1800" i="0" b="1">
                          <a:solidFill>
                            <a:srgbClr val="2B211C"/>
                          </a:solidFill>
                          <a:latin typeface="Calibri"/>
                        </a:rPr>
                        <a:t>Total</a:t>
                      </a:r>
                    </a:p>
                  </a:txBody>
                  <a:tcPr marL="109728" marR="109728" marT="45720" marB="45720" anchor="ctr">
                    <a:solidFill>
                      <a:srgbClr val="FFFFFF"/>
                    </a:solidFill>
                  </a:tcPr>
                </a:tc>
                <a:tc>
                  <a:txBody>
                    <a:bodyPr/>
                    <a:lstStyle/>
                    <a:p/>
                  </a:txBody>
                  <a:tcPr marL="109728" marR="109728" marT="45720" marB="45720" anchor="ctr">
                    <a:solidFill>
                      <a:srgbClr val="FFFFFF"/>
                    </a:solidFill>
                  </a:tcPr>
                </a:tc>
                <a:tc>
                  <a:txBody>
                    <a:bodyPr/>
                    <a:lstStyle/>
                    <a:p>
                      <a:r>
                        <a:rPr sz="1800" i="0" b="1">
                          <a:solidFill>
                            <a:srgbClr val="2B211C"/>
                          </a:solidFill>
                          <a:latin typeface="Calibri"/>
                        </a:rPr>
                        <a:t>7 = probable</a:t>
                      </a:r>
                    </a:p>
                  </a:txBody>
                  <a:tcPr marL="109728" marR="109728" marT="45720" marB="45720" anchor="ct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10</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Ten Days Later: A Suspected ADR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10  ·  Applied Case: Answering a Real Drug Question</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9</a:t>
            </a:r>
          </a:p>
        </p:txBody>
      </p:sp>
      <p:pic>
        <p:nvPicPr>
          <p:cNvPr id="7" name="Picture 6" descr="faculty-of-pharmacy.png"/>
          <p:cNvPicPr>
            <a:picLocks noChangeAspect="1"/>
          </p:cNvPicPr>
          <p:nvPr/>
        </p:nvPicPr>
        <p:blipFill>
          <a:blip r:embed="rId3"/>
          <a:stretch>
            <a:fillRect/>
          </a:stretch>
        </p:blipFill>
        <p:spPr>
          <a:xfrm>
            <a:off x="11247120" y="6309360"/>
            <a:ext cx="384048" cy="384048"/>
          </a:xfrm>
          <a:prstGeom prst="rect">
            <a:avLst/>
          </a:prstGeom>
        </p:spPr>
      </p:pic>
      <p:sp>
        <p:nvSpPr>
          <p:cNvPr id="8" name="Rounded Rectangle 7"/>
          <p:cNvSpPr/>
          <p:nvPr/>
        </p:nvSpPr>
        <p:spPr>
          <a:xfrm>
            <a:off x="1645919" y="2103120"/>
            <a:ext cx="8899855" cy="2377440"/>
          </a:xfrm>
          <a:prstGeom prst="roundRect">
            <a:avLst>
              <a:gd name="adj" fmla="val 6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920239" y="2331720"/>
            <a:ext cx="900684" cy="310896"/>
          </a:xfrm>
          <a:prstGeom prst="roundRect">
            <a:avLst>
              <a:gd name="adj" fmla="val 50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i="0" b="1" spc="100">
                <a:solidFill>
                  <a:srgbClr val="FFFFFF"/>
                </a:solidFill>
                <a:latin typeface="Calibri"/>
              </a:rPr>
              <a:t>CAUTION</a:t>
            </a:r>
          </a:p>
        </p:txBody>
      </p:sp>
      <p:sp>
        <p:nvSpPr>
          <p:cNvPr id="10" name="TextBox 9"/>
          <p:cNvSpPr txBox="1"/>
          <p:nvPr/>
        </p:nvSpPr>
        <p:spPr>
          <a:xfrm>
            <a:off x="1920239" y="2788920"/>
            <a:ext cx="8351215" cy="1508760"/>
          </a:xfrm>
          <a:prstGeom prst="rect">
            <a:avLst/>
          </a:prstGeom>
          <a:noFill/>
        </p:spPr>
        <p:txBody>
          <a:bodyPr wrap="square" anchor="t" lIns="0" rIns="0" tIns="0" bIns="0">
            <a:spAutoFit/>
          </a:bodyPr>
          <a:lstStyle/>
          <a:p>
            <a:r>
              <a:rPr sz="2600" i="0" b="0">
                <a:solidFill>
                  <a:srgbClr val="2B211C"/>
                </a:solidFill>
                <a:latin typeface="Calibri"/>
              </a:rPr>
              <a:t>The combination of an NSAID, an ACE inhibitor or ARB, and a diuretic is especially risky for the kidneys ("triple whammy"). Avoid it, or monitor closely.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10</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SELF-ASSESSMENT  ·  QUESTION 1 OF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10  ·  Applied Case: Answering a Real Drug Question</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10</a:t>
            </a:r>
          </a:p>
        </p:txBody>
      </p:sp>
      <p:pic>
        <p:nvPicPr>
          <p:cNvPr id="7" name="Picture 6" descr="faculty-of-pharmacy.png"/>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What was the real question behind the physiotherapist's call?</a:t>
            </a:r>
          </a:p>
        </p:txBody>
      </p:sp>
      <p:sp>
        <p:nvSpPr>
          <p:cNvPr id="9" name="Rounded Rectangle 8"/>
          <p:cNvSpPr/>
          <p:nvPr/>
        </p:nvSpPr>
        <p:spPr>
          <a:xfrm>
            <a:off x="548640" y="2697480"/>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2B211C"/>
                </a:solidFill>
                <a:latin typeface="Calibri"/>
              </a:rPr>
              <a:t>A list of every painkiller</a:t>
            </a:r>
          </a:p>
        </p:txBody>
      </p:sp>
      <p:sp>
        <p:nvSpPr>
          <p:cNvPr id="12" name="Rounded Rectangle 11"/>
          <p:cNvSpPr/>
          <p:nvPr/>
        </p:nvSpPr>
        <p:spPr>
          <a:xfrm>
            <a:off x="548640" y="3465576"/>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2B211C"/>
                </a:solidFill>
                <a:latin typeface="Calibri"/>
              </a:rPr>
              <a:t>Safe pain control so the patient can exercise</a:t>
            </a:r>
          </a:p>
        </p:txBody>
      </p:sp>
      <p:sp>
        <p:nvSpPr>
          <p:cNvPr id="15" name="Rounded Rectangle 14"/>
          <p:cNvSpPr/>
          <p:nvPr/>
        </p:nvSpPr>
        <p:spPr>
          <a:xfrm>
            <a:off x="548640" y="4233672"/>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2B211C"/>
                </a:solidFill>
                <a:latin typeface="Calibri"/>
              </a:rPr>
              <a:t>The price of naproxen</a:t>
            </a:r>
          </a:p>
        </p:txBody>
      </p:sp>
      <p:sp>
        <p:nvSpPr>
          <p:cNvPr id="18" name="Rounded Rectangle 17"/>
          <p:cNvSpPr/>
          <p:nvPr/>
        </p:nvSpPr>
        <p:spPr>
          <a:xfrm>
            <a:off x="548640" y="5001768"/>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2B211C"/>
                </a:solidFill>
                <a:latin typeface="Calibri"/>
              </a:rPr>
              <a:t>Whether surgery is needed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10</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SELF-ASSESSMENT  ·  QUESTION 1 OF 5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10  ·  Applied Case: Answering a Real Drug Question</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11</a:t>
            </a:r>
          </a:p>
        </p:txBody>
      </p:sp>
      <p:pic>
        <p:nvPicPr>
          <p:cNvPr id="7" name="Picture 6" descr="faculty-of-pharmacy.png"/>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What was the real question behind the physiotherapist's call?</a:t>
            </a:r>
          </a:p>
        </p:txBody>
      </p:sp>
      <p:sp>
        <p:nvSpPr>
          <p:cNvPr id="9" name="Rounded Rectangle 8"/>
          <p:cNvSpPr/>
          <p:nvPr/>
        </p:nvSpPr>
        <p:spPr>
          <a:xfrm>
            <a:off x="548640" y="2606040"/>
            <a:ext cx="11094415" cy="548640"/>
          </a:xfrm>
          <a:prstGeom prst="roundRect">
            <a:avLst>
              <a:gd name="adj" fmla="val 18000"/>
            </a:avLst>
          </a:prstGeom>
          <a:solidFill>
            <a:srgbClr val="F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E6D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6E625B"/>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6E625B"/>
                </a:solidFill>
                <a:latin typeface="Calibri"/>
              </a:rPr>
              <a:t>A list of every painkiller</a:t>
            </a:r>
          </a:p>
        </p:txBody>
      </p:sp>
      <p:sp>
        <p:nvSpPr>
          <p:cNvPr id="12" name="Rounded Rectangle 11"/>
          <p:cNvSpPr/>
          <p:nvPr/>
        </p:nvSpPr>
        <p:spPr>
          <a:xfrm>
            <a:off x="548640" y="3282696"/>
            <a:ext cx="11094415" cy="548640"/>
          </a:xfrm>
          <a:prstGeom prst="roundRect">
            <a:avLst>
              <a:gd name="adj" fmla="val 18000"/>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2F6F7A"/>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1">
                <a:solidFill>
                  <a:srgbClr val="FFFFFF"/>
                </a:solidFill>
                <a:latin typeface="Calibri"/>
              </a:rPr>
              <a:t>Safe pain control so the patient can exercise</a:t>
            </a:r>
          </a:p>
        </p:txBody>
      </p:sp>
      <p:sp>
        <p:nvSpPr>
          <p:cNvPr id="15" name="Rounded Rectangle 14"/>
          <p:cNvSpPr/>
          <p:nvPr/>
        </p:nvSpPr>
        <p:spPr>
          <a:xfrm>
            <a:off x="548640" y="3959352"/>
            <a:ext cx="11094415" cy="548640"/>
          </a:xfrm>
          <a:prstGeom prst="roundRect">
            <a:avLst>
              <a:gd name="adj" fmla="val 18000"/>
            </a:avLst>
          </a:prstGeom>
          <a:solidFill>
            <a:srgbClr val="F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E6D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6E625B"/>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6E625B"/>
                </a:solidFill>
                <a:latin typeface="Calibri"/>
              </a:rPr>
              <a:t>The price of naproxen</a:t>
            </a:r>
          </a:p>
        </p:txBody>
      </p:sp>
      <p:sp>
        <p:nvSpPr>
          <p:cNvPr id="18" name="Rounded Rectangle 17"/>
          <p:cNvSpPr/>
          <p:nvPr/>
        </p:nvSpPr>
        <p:spPr>
          <a:xfrm>
            <a:off x="548640" y="4636008"/>
            <a:ext cx="11094415" cy="548640"/>
          </a:xfrm>
          <a:prstGeom prst="roundRect">
            <a:avLst>
              <a:gd name="adj" fmla="val 18000"/>
            </a:avLst>
          </a:prstGeom>
          <a:solidFill>
            <a:srgbClr val="F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E6D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6E625B"/>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6E625B"/>
                </a:solidFill>
                <a:latin typeface="Calibri"/>
              </a:rPr>
              <a:t>Whether surgery is needed</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2F6F7A"/>
                </a:solidFill>
                <a:latin typeface="Calibri"/>
              </a:rPr>
              <a:t>Why:  </a:t>
            </a:r>
            <a:r>
              <a:rPr sz="1500" i="0" b="0">
                <a:solidFill>
                  <a:srgbClr val="2B211C"/>
                </a:solidFill>
                <a:latin typeface="Calibri"/>
              </a:rPr>
              <a:t>The need was pain control that allows exercise. A, C and D miss the point.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10</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SELF-ASSESSMENT  ·  QUESTION 2 OF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10  ·  Applied Case: Answering a Real Drug Question</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12</a:t>
            </a:r>
          </a:p>
        </p:txBody>
      </p:sp>
      <p:pic>
        <p:nvPicPr>
          <p:cNvPr id="7" name="Picture 6" descr="faculty-of-pharmacy.png"/>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Which source type answered the question about corticosteroid injection best?</a:t>
            </a:r>
          </a:p>
        </p:txBody>
      </p:sp>
      <p:sp>
        <p:nvSpPr>
          <p:cNvPr id="9" name="Rounded Rectangle 8"/>
          <p:cNvSpPr/>
          <p:nvPr/>
        </p:nvSpPr>
        <p:spPr>
          <a:xfrm>
            <a:off x="548640" y="2697480"/>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2B211C"/>
                </a:solidFill>
                <a:latin typeface="Calibri"/>
              </a:rPr>
              <a:t>A drug label</a:t>
            </a:r>
          </a:p>
        </p:txBody>
      </p:sp>
      <p:sp>
        <p:nvSpPr>
          <p:cNvPr id="12" name="Rounded Rectangle 11"/>
          <p:cNvSpPr/>
          <p:nvPr/>
        </p:nvSpPr>
        <p:spPr>
          <a:xfrm>
            <a:off x="548640" y="3465576"/>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2B211C"/>
                </a:solidFill>
                <a:latin typeface="Calibri"/>
              </a:rPr>
              <a:t>A textbook dose table</a:t>
            </a:r>
          </a:p>
        </p:txBody>
      </p:sp>
      <p:sp>
        <p:nvSpPr>
          <p:cNvPr id="15" name="Rounded Rectangle 14"/>
          <p:cNvSpPr/>
          <p:nvPr/>
        </p:nvSpPr>
        <p:spPr>
          <a:xfrm>
            <a:off x="548640" y="4233672"/>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2B211C"/>
                </a:solidFill>
                <a:latin typeface="Calibri"/>
              </a:rPr>
              <a:t>A systematic review found through PubMed</a:t>
            </a:r>
          </a:p>
        </p:txBody>
      </p:sp>
      <p:sp>
        <p:nvSpPr>
          <p:cNvPr id="18" name="Rounded Rectangle 17"/>
          <p:cNvSpPr/>
          <p:nvPr/>
        </p:nvSpPr>
        <p:spPr>
          <a:xfrm>
            <a:off x="548640" y="5001768"/>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2B211C"/>
                </a:solidFill>
                <a:latin typeface="Calibri"/>
              </a:rPr>
              <a:t>A company leaflet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10</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SELF-ASSESSMENT  ·  QUESTION 2 OF 5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10  ·  Applied Case: Answering a Real Drug Question</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13</a:t>
            </a:r>
          </a:p>
        </p:txBody>
      </p:sp>
      <p:pic>
        <p:nvPicPr>
          <p:cNvPr id="7" name="Picture 6" descr="faculty-of-pharmacy.png"/>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Which source type answered the question about corticosteroid injection best?</a:t>
            </a:r>
          </a:p>
        </p:txBody>
      </p:sp>
      <p:sp>
        <p:nvSpPr>
          <p:cNvPr id="9" name="Rounded Rectangle 8"/>
          <p:cNvSpPr/>
          <p:nvPr/>
        </p:nvSpPr>
        <p:spPr>
          <a:xfrm>
            <a:off x="548640" y="2606040"/>
            <a:ext cx="11094415" cy="548640"/>
          </a:xfrm>
          <a:prstGeom prst="roundRect">
            <a:avLst>
              <a:gd name="adj" fmla="val 18000"/>
            </a:avLst>
          </a:prstGeom>
          <a:solidFill>
            <a:srgbClr val="F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E6D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6E625B"/>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6E625B"/>
                </a:solidFill>
                <a:latin typeface="Calibri"/>
              </a:rPr>
              <a:t>A drug label</a:t>
            </a:r>
          </a:p>
        </p:txBody>
      </p:sp>
      <p:sp>
        <p:nvSpPr>
          <p:cNvPr id="12" name="Rounded Rectangle 11"/>
          <p:cNvSpPr/>
          <p:nvPr/>
        </p:nvSpPr>
        <p:spPr>
          <a:xfrm>
            <a:off x="548640" y="3282696"/>
            <a:ext cx="11094415" cy="548640"/>
          </a:xfrm>
          <a:prstGeom prst="roundRect">
            <a:avLst>
              <a:gd name="adj" fmla="val 18000"/>
            </a:avLst>
          </a:prstGeom>
          <a:solidFill>
            <a:srgbClr val="F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E6D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6E625B"/>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6E625B"/>
                </a:solidFill>
                <a:latin typeface="Calibri"/>
              </a:rPr>
              <a:t>A textbook dose table</a:t>
            </a:r>
          </a:p>
        </p:txBody>
      </p:sp>
      <p:sp>
        <p:nvSpPr>
          <p:cNvPr id="15" name="Rounded Rectangle 14"/>
          <p:cNvSpPr/>
          <p:nvPr/>
        </p:nvSpPr>
        <p:spPr>
          <a:xfrm>
            <a:off x="548640" y="3959352"/>
            <a:ext cx="11094415" cy="548640"/>
          </a:xfrm>
          <a:prstGeom prst="roundRect">
            <a:avLst>
              <a:gd name="adj" fmla="val 18000"/>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2F6F7A"/>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1">
                <a:solidFill>
                  <a:srgbClr val="FFFFFF"/>
                </a:solidFill>
                <a:latin typeface="Calibri"/>
              </a:rPr>
              <a:t>A systematic review found through PubMed</a:t>
            </a:r>
          </a:p>
        </p:txBody>
      </p:sp>
      <p:sp>
        <p:nvSpPr>
          <p:cNvPr id="18" name="Rounded Rectangle 17"/>
          <p:cNvSpPr/>
          <p:nvPr/>
        </p:nvSpPr>
        <p:spPr>
          <a:xfrm>
            <a:off x="548640" y="4636008"/>
            <a:ext cx="11094415" cy="548640"/>
          </a:xfrm>
          <a:prstGeom prst="roundRect">
            <a:avLst>
              <a:gd name="adj" fmla="val 18000"/>
            </a:avLst>
          </a:prstGeom>
          <a:solidFill>
            <a:srgbClr val="F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E6D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6E625B"/>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6E625B"/>
                </a:solidFill>
                <a:latin typeface="Calibri"/>
              </a:rPr>
              <a:t>A company leaflet</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2F6F7A"/>
                </a:solidFill>
                <a:latin typeface="Calibri"/>
              </a:rPr>
              <a:t>Why:  </a:t>
            </a:r>
            <a:r>
              <a:rPr sz="1500" i="0" b="0">
                <a:solidFill>
                  <a:srgbClr val="2B211C"/>
                </a:solidFill>
                <a:latin typeface="Calibri"/>
              </a:rPr>
              <a:t>A systematic review of RCTs is the best evidence for a treatment effect. A, B and D do not compare treatments.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10</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SELF-ASSESSMENT  ·  QUESTION 3 OF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10  ·  Applied Case: Answering a Real Drug Question</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14</a:t>
            </a:r>
          </a:p>
        </p:txBody>
      </p:sp>
      <p:pic>
        <p:nvPicPr>
          <p:cNvPr id="7" name="Picture 6" descr="faculty-of-pharmacy.png"/>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The review showed a clear benefit at six weeks but little at one year. What should you tell the doctor?</a:t>
            </a:r>
          </a:p>
        </p:txBody>
      </p:sp>
      <p:sp>
        <p:nvSpPr>
          <p:cNvPr id="9" name="Rounded Rectangle 8"/>
          <p:cNvSpPr/>
          <p:nvPr/>
        </p:nvSpPr>
        <p:spPr>
          <a:xfrm>
            <a:off x="548640" y="2697480"/>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2B211C"/>
                </a:solidFill>
                <a:latin typeface="Calibri"/>
              </a:rPr>
              <a:t>The injection has no value</a:t>
            </a:r>
          </a:p>
        </p:txBody>
      </p:sp>
      <p:sp>
        <p:nvSpPr>
          <p:cNvPr id="12" name="Rounded Rectangle 11"/>
          <p:cNvSpPr/>
          <p:nvPr/>
        </p:nvSpPr>
        <p:spPr>
          <a:xfrm>
            <a:off x="548640" y="3465576"/>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2B211C"/>
                </a:solidFill>
                <a:latin typeface="Calibri"/>
              </a:rPr>
              <a:t>The injection cures frozen shoulder</a:t>
            </a:r>
          </a:p>
        </p:txBody>
      </p:sp>
      <p:sp>
        <p:nvSpPr>
          <p:cNvPr id="15" name="Rounded Rectangle 14"/>
          <p:cNvSpPr/>
          <p:nvPr/>
        </p:nvSpPr>
        <p:spPr>
          <a:xfrm>
            <a:off x="548640" y="4233672"/>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2B211C"/>
                </a:solidFill>
                <a:latin typeface="Calibri"/>
              </a:rPr>
              <a:t>The review is not relevant</a:t>
            </a:r>
          </a:p>
        </p:txBody>
      </p:sp>
      <p:sp>
        <p:nvSpPr>
          <p:cNvPr id="18" name="Rounded Rectangle 17"/>
          <p:cNvSpPr/>
          <p:nvPr/>
        </p:nvSpPr>
        <p:spPr>
          <a:xfrm>
            <a:off x="548640" y="5001768"/>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2B211C"/>
                </a:solidFill>
                <a:latin typeface="Calibri"/>
              </a:rPr>
              <a:t>The injection helps in the short term, mainly to support exercise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10</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SELF-ASSESSMENT  ·  QUESTION 3 OF 5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10  ·  Applied Case: Answering a Real Drug Question</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15</a:t>
            </a:r>
          </a:p>
        </p:txBody>
      </p:sp>
      <p:pic>
        <p:nvPicPr>
          <p:cNvPr id="7" name="Picture 6" descr="faculty-of-pharmacy.png"/>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The review showed a clear benefit at six weeks but little at one year. What should you tell the doctor?</a:t>
            </a:r>
          </a:p>
        </p:txBody>
      </p:sp>
      <p:sp>
        <p:nvSpPr>
          <p:cNvPr id="9" name="Rounded Rectangle 8"/>
          <p:cNvSpPr/>
          <p:nvPr/>
        </p:nvSpPr>
        <p:spPr>
          <a:xfrm>
            <a:off x="548640" y="2606040"/>
            <a:ext cx="11094415" cy="548640"/>
          </a:xfrm>
          <a:prstGeom prst="roundRect">
            <a:avLst>
              <a:gd name="adj" fmla="val 18000"/>
            </a:avLst>
          </a:prstGeom>
          <a:solidFill>
            <a:srgbClr val="F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E6D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6E625B"/>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6E625B"/>
                </a:solidFill>
                <a:latin typeface="Calibri"/>
              </a:rPr>
              <a:t>The injection has no value</a:t>
            </a:r>
          </a:p>
        </p:txBody>
      </p:sp>
      <p:sp>
        <p:nvSpPr>
          <p:cNvPr id="12" name="Rounded Rectangle 11"/>
          <p:cNvSpPr/>
          <p:nvPr/>
        </p:nvSpPr>
        <p:spPr>
          <a:xfrm>
            <a:off x="548640" y="3282696"/>
            <a:ext cx="11094415" cy="548640"/>
          </a:xfrm>
          <a:prstGeom prst="roundRect">
            <a:avLst>
              <a:gd name="adj" fmla="val 18000"/>
            </a:avLst>
          </a:prstGeom>
          <a:solidFill>
            <a:srgbClr val="F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E6D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6E625B"/>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6E625B"/>
                </a:solidFill>
                <a:latin typeface="Calibri"/>
              </a:rPr>
              <a:t>The injection cures frozen shoulder</a:t>
            </a:r>
          </a:p>
        </p:txBody>
      </p:sp>
      <p:sp>
        <p:nvSpPr>
          <p:cNvPr id="15" name="Rounded Rectangle 14"/>
          <p:cNvSpPr/>
          <p:nvPr/>
        </p:nvSpPr>
        <p:spPr>
          <a:xfrm>
            <a:off x="548640" y="3959352"/>
            <a:ext cx="11094415" cy="548640"/>
          </a:xfrm>
          <a:prstGeom prst="roundRect">
            <a:avLst>
              <a:gd name="adj" fmla="val 18000"/>
            </a:avLst>
          </a:prstGeom>
          <a:solidFill>
            <a:srgbClr val="F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E6D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6E625B"/>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6E625B"/>
                </a:solidFill>
                <a:latin typeface="Calibri"/>
              </a:rPr>
              <a:t>The review is not relevant</a:t>
            </a:r>
          </a:p>
        </p:txBody>
      </p:sp>
      <p:sp>
        <p:nvSpPr>
          <p:cNvPr id="18" name="Rounded Rectangle 17"/>
          <p:cNvSpPr/>
          <p:nvPr/>
        </p:nvSpPr>
        <p:spPr>
          <a:xfrm>
            <a:off x="548640" y="4636008"/>
            <a:ext cx="11094415" cy="548640"/>
          </a:xfrm>
          <a:prstGeom prst="roundRect">
            <a:avLst>
              <a:gd name="adj" fmla="val 18000"/>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2F6F7A"/>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1">
                <a:solidFill>
                  <a:srgbClr val="FFFFFF"/>
                </a:solidFill>
                <a:latin typeface="Calibri"/>
              </a:rPr>
              <a:t>The injection helps in the short term, mainly to support exercise</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2F6F7A"/>
                </a:solidFill>
                <a:latin typeface="Calibri"/>
              </a:rPr>
              <a:t>Why:  </a:t>
            </a:r>
            <a:r>
              <a:rPr sz="1500" i="0" b="0">
                <a:solidFill>
                  <a:srgbClr val="2B211C"/>
                </a:solidFill>
                <a:latin typeface="Calibri"/>
              </a:rPr>
              <a:t>The benefit is real but short-term. A and B overstate the result; C is wrong.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10</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SELF-ASSESSMENT  ·  QUESTION 4 OF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10  ·  Applied Case: Answering a Real Drug Question</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16</a:t>
            </a:r>
          </a:p>
        </p:txBody>
      </p:sp>
      <p:pic>
        <p:nvPicPr>
          <p:cNvPr id="7" name="Picture 6" descr="faculty-of-pharmacy.png"/>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Mr Ahmed's swelling and raised creatinine after naproxen are best classified as:</a:t>
            </a:r>
          </a:p>
        </p:txBody>
      </p:sp>
      <p:sp>
        <p:nvSpPr>
          <p:cNvPr id="9" name="Rounded Rectangle 8"/>
          <p:cNvSpPr/>
          <p:nvPr/>
        </p:nvSpPr>
        <p:spPr>
          <a:xfrm>
            <a:off x="548640" y="2697480"/>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2B211C"/>
                </a:solidFill>
                <a:latin typeface="Calibri"/>
              </a:rPr>
              <a:t>Type A, moderate, not serious</a:t>
            </a:r>
          </a:p>
        </p:txBody>
      </p:sp>
      <p:sp>
        <p:nvSpPr>
          <p:cNvPr id="12" name="Rounded Rectangle 11"/>
          <p:cNvSpPr/>
          <p:nvPr/>
        </p:nvSpPr>
        <p:spPr>
          <a:xfrm>
            <a:off x="548640" y="3465576"/>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2B211C"/>
                </a:solidFill>
                <a:latin typeface="Calibri"/>
              </a:rPr>
              <a:t>Type B, severe, serious</a:t>
            </a:r>
          </a:p>
        </p:txBody>
      </p:sp>
      <p:sp>
        <p:nvSpPr>
          <p:cNvPr id="15" name="Rounded Rectangle 14"/>
          <p:cNvSpPr/>
          <p:nvPr/>
        </p:nvSpPr>
        <p:spPr>
          <a:xfrm>
            <a:off x="548640" y="4233672"/>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2B211C"/>
                </a:solidFill>
                <a:latin typeface="Calibri"/>
              </a:rPr>
              <a:t>Type E, mild, not serious</a:t>
            </a:r>
          </a:p>
        </p:txBody>
      </p:sp>
      <p:sp>
        <p:nvSpPr>
          <p:cNvPr id="18" name="Rounded Rectangle 17"/>
          <p:cNvSpPr/>
          <p:nvPr/>
        </p:nvSpPr>
        <p:spPr>
          <a:xfrm>
            <a:off x="548640" y="5001768"/>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2B211C"/>
                </a:solidFill>
                <a:latin typeface="Calibri"/>
              </a:rPr>
              <a:t>Type F, moderate, serious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10</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SELF-ASSESSMENT  ·  QUESTION 4 OF 5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10  ·  Applied Case: Answering a Real Drug Question</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17</a:t>
            </a:r>
          </a:p>
        </p:txBody>
      </p:sp>
      <p:pic>
        <p:nvPicPr>
          <p:cNvPr id="7" name="Picture 6" descr="faculty-of-pharmacy.png"/>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Mr Ahmed's swelling and raised creatinine after naproxen are best classified as:</a:t>
            </a:r>
          </a:p>
        </p:txBody>
      </p:sp>
      <p:sp>
        <p:nvSpPr>
          <p:cNvPr id="9" name="Rounded Rectangle 8"/>
          <p:cNvSpPr/>
          <p:nvPr/>
        </p:nvSpPr>
        <p:spPr>
          <a:xfrm>
            <a:off x="548640" y="2606040"/>
            <a:ext cx="11094415" cy="548640"/>
          </a:xfrm>
          <a:prstGeom prst="roundRect">
            <a:avLst>
              <a:gd name="adj" fmla="val 18000"/>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2F6F7A"/>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1">
                <a:solidFill>
                  <a:srgbClr val="FFFFFF"/>
                </a:solidFill>
                <a:latin typeface="Calibri"/>
              </a:rPr>
              <a:t>Type A, moderate, not serious</a:t>
            </a:r>
          </a:p>
        </p:txBody>
      </p:sp>
      <p:sp>
        <p:nvSpPr>
          <p:cNvPr id="12" name="Rounded Rectangle 11"/>
          <p:cNvSpPr/>
          <p:nvPr/>
        </p:nvSpPr>
        <p:spPr>
          <a:xfrm>
            <a:off x="548640" y="3282696"/>
            <a:ext cx="11094415" cy="548640"/>
          </a:xfrm>
          <a:prstGeom prst="roundRect">
            <a:avLst>
              <a:gd name="adj" fmla="val 18000"/>
            </a:avLst>
          </a:prstGeom>
          <a:solidFill>
            <a:srgbClr val="F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E6D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6E625B"/>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6E625B"/>
                </a:solidFill>
                <a:latin typeface="Calibri"/>
              </a:rPr>
              <a:t>Type B, severe, serious</a:t>
            </a:r>
          </a:p>
        </p:txBody>
      </p:sp>
      <p:sp>
        <p:nvSpPr>
          <p:cNvPr id="15" name="Rounded Rectangle 14"/>
          <p:cNvSpPr/>
          <p:nvPr/>
        </p:nvSpPr>
        <p:spPr>
          <a:xfrm>
            <a:off x="548640" y="3959352"/>
            <a:ext cx="11094415" cy="548640"/>
          </a:xfrm>
          <a:prstGeom prst="roundRect">
            <a:avLst>
              <a:gd name="adj" fmla="val 18000"/>
            </a:avLst>
          </a:prstGeom>
          <a:solidFill>
            <a:srgbClr val="F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E6D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6E625B"/>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6E625B"/>
                </a:solidFill>
                <a:latin typeface="Calibri"/>
              </a:rPr>
              <a:t>Type E, mild, not serious</a:t>
            </a:r>
          </a:p>
        </p:txBody>
      </p:sp>
      <p:sp>
        <p:nvSpPr>
          <p:cNvPr id="18" name="Rounded Rectangle 17"/>
          <p:cNvSpPr/>
          <p:nvPr/>
        </p:nvSpPr>
        <p:spPr>
          <a:xfrm>
            <a:off x="548640" y="4636008"/>
            <a:ext cx="11094415" cy="548640"/>
          </a:xfrm>
          <a:prstGeom prst="roundRect">
            <a:avLst>
              <a:gd name="adj" fmla="val 18000"/>
            </a:avLst>
          </a:prstGeom>
          <a:solidFill>
            <a:srgbClr val="F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E6D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6E625B"/>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6E625B"/>
                </a:solidFill>
                <a:latin typeface="Calibri"/>
              </a:rPr>
              <a:t>Type F, moderate, serious</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2F6F7A"/>
                </a:solidFill>
                <a:latin typeface="Calibri"/>
              </a:rPr>
              <a:t>Why:  </a:t>
            </a:r>
            <a:r>
              <a:rPr sz="1500" i="0" b="0">
                <a:solidFill>
                  <a:srgbClr val="2B211C"/>
                </a:solidFill>
                <a:latin typeface="Calibri"/>
              </a:rPr>
              <a:t>Predictable pharmacology (Type A), treatment changed (moderate), no admission (not serious). B, C and D do not fit.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10</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SELF-ASSESSMENT  ·  QUESTION 5 OF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10  ·  Applied Case: Answering a Real Drug Question</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18</a:t>
            </a:r>
          </a:p>
        </p:txBody>
      </p:sp>
      <p:pic>
        <p:nvPicPr>
          <p:cNvPr id="7" name="Picture 6" descr="faculty-of-pharmacy.png"/>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What is the first step after finding his raised creatinine?</a:t>
            </a:r>
          </a:p>
        </p:txBody>
      </p:sp>
      <p:sp>
        <p:nvSpPr>
          <p:cNvPr id="9" name="Rounded Rectangle 8"/>
          <p:cNvSpPr/>
          <p:nvPr/>
        </p:nvSpPr>
        <p:spPr>
          <a:xfrm>
            <a:off x="548640" y="2697480"/>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2B211C"/>
                </a:solidFill>
                <a:latin typeface="Calibri"/>
              </a:rPr>
              <a:t>Report to the EPVC</a:t>
            </a:r>
          </a:p>
        </p:txBody>
      </p:sp>
      <p:sp>
        <p:nvSpPr>
          <p:cNvPr id="12" name="Rounded Rectangle 11"/>
          <p:cNvSpPr/>
          <p:nvPr/>
        </p:nvSpPr>
        <p:spPr>
          <a:xfrm>
            <a:off x="548640" y="3465576"/>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2B211C"/>
                </a:solidFill>
                <a:latin typeface="Calibri"/>
              </a:rPr>
              <a:t>Complete the Naranjo score</a:t>
            </a:r>
          </a:p>
        </p:txBody>
      </p:sp>
      <p:sp>
        <p:nvSpPr>
          <p:cNvPr id="15" name="Rounded Rectangle 14"/>
          <p:cNvSpPr/>
          <p:nvPr/>
        </p:nvSpPr>
        <p:spPr>
          <a:xfrm>
            <a:off x="548640" y="4233672"/>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2B211C"/>
                </a:solidFill>
                <a:latin typeface="Calibri"/>
              </a:rPr>
              <a:t>Stop naproxen and contact the doctor</a:t>
            </a:r>
          </a:p>
        </p:txBody>
      </p:sp>
      <p:sp>
        <p:nvSpPr>
          <p:cNvPr id="18" name="Rounded Rectangle 17"/>
          <p:cNvSpPr/>
          <p:nvPr/>
        </p:nvSpPr>
        <p:spPr>
          <a:xfrm>
            <a:off x="548640" y="5001768"/>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2B211C"/>
                </a:solidFill>
                <a:latin typeface="Calibri"/>
              </a:rPr>
              <a:t>Increase the naproxen dose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10</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SELF-ASSESSMENT  ·  QUESTION 5 OF 5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10  ·  Applied Case: Answering a Real Drug Question</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19</a:t>
            </a:r>
          </a:p>
        </p:txBody>
      </p:sp>
      <p:pic>
        <p:nvPicPr>
          <p:cNvPr id="7" name="Picture 6" descr="faculty-of-pharmacy.png"/>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What is the first step after finding his raised creatinine?</a:t>
            </a:r>
          </a:p>
        </p:txBody>
      </p:sp>
      <p:sp>
        <p:nvSpPr>
          <p:cNvPr id="9" name="Rounded Rectangle 8"/>
          <p:cNvSpPr/>
          <p:nvPr/>
        </p:nvSpPr>
        <p:spPr>
          <a:xfrm>
            <a:off x="548640" y="2606040"/>
            <a:ext cx="11094415" cy="548640"/>
          </a:xfrm>
          <a:prstGeom prst="roundRect">
            <a:avLst>
              <a:gd name="adj" fmla="val 18000"/>
            </a:avLst>
          </a:prstGeom>
          <a:solidFill>
            <a:srgbClr val="F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E6D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6E625B"/>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6E625B"/>
                </a:solidFill>
                <a:latin typeface="Calibri"/>
              </a:rPr>
              <a:t>Report to the EPVC</a:t>
            </a:r>
          </a:p>
        </p:txBody>
      </p:sp>
      <p:sp>
        <p:nvSpPr>
          <p:cNvPr id="12" name="Rounded Rectangle 11"/>
          <p:cNvSpPr/>
          <p:nvPr/>
        </p:nvSpPr>
        <p:spPr>
          <a:xfrm>
            <a:off x="548640" y="3282696"/>
            <a:ext cx="11094415" cy="548640"/>
          </a:xfrm>
          <a:prstGeom prst="roundRect">
            <a:avLst>
              <a:gd name="adj" fmla="val 18000"/>
            </a:avLst>
          </a:prstGeom>
          <a:solidFill>
            <a:srgbClr val="F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E6D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6E625B"/>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6E625B"/>
                </a:solidFill>
                <a:latin typeface="Calibri"/>
              </a:rPr>
              <a:t>Complete the Naranjo score</a:t>
            </a:r>
          </a:p>
        </p:txBody>
      </p:sp>
      <p:sp>
        <p:nvSpPr>
          <p:cNvPr id="15" name="Rounded Rectangle 14"/>
          <p:cNvSpPr/>
          <p:nvPr/>
        </p:nvSpPr>
        <p:spPr>
          <a:xfrm>
            <a:off x="548640" y="3959352"/>
            <a:ext cx="11094415" cy="548640"/>
          </a:xfrm>
          <a:prstGeom prst="roundRect">
            <a:avLst>
              <a:gd name="adj" fmla="val 18000"/>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2F6F7A"/>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1">
                <a:solidFill>
                  <a:srgbClr val="FFFFFF"/>
                </a:solidFill>
                <a:latin typeface="Calibri"/>
              </a:rPr>
              <a:t>Stop naproxen and contact the doctor</a:t>
            </a:r>
          </a:p>
        </p:txBody>
      </p:sp>
      <p:sp>
        <p:nvSpPr>
          <p:cNvPr id="18" name="Rounded Rectangle 17"/>
          <p:cNvSpPr/>
          <p:nvPr/>
        </p:nvSpPr>
        <p:spPr>
          <a:xfrm>
            <a:off x="548640" y="4636008"/>
            <a:ext cx="11094415" cy="548640"/>
          </a:xfrm>
          <a:prstGeom prst="roundRect">
            <a:avLst>
              <a:gd name="adj" fmla="val 18000"/>
            </a:avLst>
          </a:prstGeom>
          <a:solidFill>
            <a:srgbClr val="F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E6D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6E625B"/>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6E625B"/>
                </a:solidFill>
                <a:latin typeface="Calibri"/>
              </a:rPr>
              <a:t>Increase the naproxen dose</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2F6F7A"/>
                </a:solidFill>
                <a:latin typeface="Calibri"/>
              </a:rPr>
              <a:t>Why:  </a:t>
            </a:r>
            <a:r>
              <a:rPr sz="1500" i="0" b="0">
                <a:solidFill>
                  <a:srgbClr val="2B211C"/>
                </a:solidFill>
                <a:latin typeface="Calibri"/>
              </a:rPr>
              <a:t>Patient care comes first. A and B follow; D is harmful.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931920" cy="6858000"/>
          </a:xfrm>
          <a:prstGeom prst="rect">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188720"/>
            <a:ext cx="2926080" cy="2377440"/>
          </a:xfrm>
          <a:prstGeom prst="rect">
            <a:avLst/>
          </a:prstGeom>
          <a:noFill/>
        </p:spPr>
        <p:txBody>
          <a:bodyPr wrap="square" anchor="t" lIns="0" rIns="0" tIns="0" bIns="0">
            <a:spAutoFit/>
          </a:bodyPr>
          <a:lstStyle/>
          <a:p>
            <a:pPr algn="l"/>
            <a:r>
              <a:rPr sz="13000" i="0" b="1">
                <a:solidFill>
                  <a:srgbClr val="F6E5DE"/>
                </a:solidFill>
                <a:latin typeface="Cambria"/>
              </a:rPr>
              <a:t>?</a:t>
            </a:r>
          </a:p>
        </p:txBody>
      </p:sp>
      <p:sp>
        <p:nvSpPr>
          <p:cNvPr id="4" name="TextBox 3"/>
          <p:cNvSpPr txBox="1"/>
          <p:nvPr/>
        </p:nvSpPr>
        <p:spPr>
          <a:xfrm>
            <a:off x="548640" y="3977639"/>
            <a:ext cx="3017520" cy="1280160"/>
          </a:xfrm>
          <a:prstGeom prst="rect">
            <a:avLst/>
          </a:prstGeom>
          <a:noFill/>
        </p:spPr>
        <p:txBody>
          <a:bodyPr wrap="square" anchor="t" lIns="0" rIns="0" tIns="0" bIns="0">
            <a:spAutoFit/>
          </a:bodyPr>
          <a:lstStyle/>
          <a:p>
            <a:r>
              <a:rPr sz="3000" i="0" b="1">
                <a:solidFill>
                  <a:srgbClr val="FFFFFF"/>
                </a:solidFill>
                <a:latin typeface="Cambria"/>
              </a:rPr>
              <a:t>Practice Case</a:t>
            </a:r>
          </a:p>
          <a:p>
            <a:r>
              <a:rPr sz="1400" i="0" b="1" spc="150">
                <a:solidFill>
                  <a:srgbClr val="F6E5DE"/>
                </a:solidFill>
                <a:latin typeface="Calibri"/>
              </a:rPr>
              <a:t>Section 10</a:t>
            </a:r>
          </a:p>
        </p:txBody>
      </p:sp>
      <p:sp>
        <p:nvSpPr>
          <p:cNvPr id="5" name="TextBox 4"/>
          <p:cNvSpPr txBox="1"/>
          <p:nvPr/>
        </p:nvSpPr>
        <p:spPr>
          <a:xfrm>
            <a:off x="4526280" y="822960"/>
            <a:ext cx="7132320" cy="5120640"/>
          </a:xfrm>
          <a:prstGeom prst="rect">
            <a:avLst/>
          </a:prstGeom>
          <a:noFill/>
        </p:spPr>
        <p:txBody>
          <a:bodyPr wrap="square" anchor="ctr" lIns="0" rIns="0" tIns="0" bIns="0">
            <a:spAutoFit/>
          </a:bodyPr>
          <a:lstStyle/>
          <a:p>
            <a:r>
              <a:rPr sz="2200" i="0" b="0">
                <a:solidFill>
                  <a:srgbClr val="2B211C"/>
                </a:solidFill>
                <a:latin typeface="Calibri"/>
              </a:rPr>
              <a:t>Six months later, Mr Ahmed's brother (62, diabetic, on metformin and enalapril) asks the pharmacist for "the same painkiller" for his knee. (a) List the background details you need. (b) What would you advise? (c) Which source would you check first, and why?</a:t>
            </a:r>
          </a:p>
        </p:txBody>
      </p:sp>
      <p:sp>
        <p:nvSpPr>
          <p:cNvPr id="6" name="TextBox 5"/>
          <p:cNvSpPr txBox="1"/>
          <p:nvPr/>
        </p:nvSpPr>
        <p:spPr>
          <a:xfrm>
            <a:off x="4526280" y="6419088"/>
            <a:ext cx="5486400" cy="274320"/>
          </a:xfrm>
          <a:prstGeom prst="rect">
            <a:avLst/>
          </a:prstGeom>
          <a:noFill/>
        </p:spPr>
        <p:txBody>
          <a:bodyPr wrap="square" anchor="t" lIns="0" rIns="0" tIns="0" bIns="0">
            <a:spAutoFit/>
          </a:bodyPr>
          <a:lstStyle/>
          <a:p>
            <a:r>
              <a:rPr sz="1000" i="0" b="0">
                <a:solidFill>
                  <a:srgbClr val="6E625B"/>
                </a:solidFill>
                <a:latin typeface="Calibri"/>
              </a:rPr>
              <a:t>Drug Information  ·  Applied Case: Answering a Real Drug Question</a:t>
            </a:r>
          </a:p>
        </p:txBody>
      </p:sp>
      <p:sp>
        <p:nvSpPr>
          <p:cNvPr id="7" name="TextBox 6"/>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20</a:t>
            </a:r>
          </a:p>
        </p:txBody>
      </p:sp>
      <p:pic>
        <p:nvPicPr>
          <p:cNvPr id="8" name="Picture 7" descr="faculty-of-pharmacy.png"/>
          <p:cNvPicPr>
            <a:picLocks noChangeAspect="1"/>
          </p:cNvPicPr>
          <p:nvPr/>
        </p:nvPicPr>
        <p:blipFill>
          <a:blip r:embed="rId3"/>
          <a:stretch>
            <a:fillRect/>
          </a:stretch>
        </p:blipFill>
        <p:spPr>
          <a:xfrm>
            <a:off x="11247120" y="6309360"/>
            <a:ext cx="384048" cy="384048"/>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A4472B"/>
        </a:solidFill>
        <a:effectLst/>
      </p:bgPr>
    </p:bg>
    <p:spTree>
      <p:nvGrpSpPr>
        <p:cNvPr id="1" name=""/>
        <p:cNvGrpSpPr/>
        <p:nvPr/>
      </p:nvGrpSpPr>
      <p:grpSpPr/>
      <p:sp>
        <p:nvSpPr>
          <p:cNvPr id="2" name="TextBox 1"/>
          <p:cNvSpPr txBox="1"/>
          <p:nvPr/>
        </p:nvSpPr>
        <p:spPr>
          <a:xfrm>
            <a:off x="548640" y="502920"/>
            <a:ext cx="7315200" cy="365760"/>
          </a:xfrm>
          <a:prstGeom prst="rect">
            <a:avLst/>
          </a:prstGeom>
          <a:noFill/>
        </p:spPr>
        <p:txBody>
          <a:bodyPr wrap="square" anchor="t" lIns="0" rIns="0" tIns="0" bIns="0">
            <a:spAutoFit/>
          </a:bodyPr>
          <a:lstStyle/>
          <a:p>
            <a:r>
              <a:rPr sz="1300" i="0" b="1" spc="200">
                <a:solidFill>
                  <a:srgbClr val="F3E6D8"/>
                </a:solidFill>
                <a:latin typeface="Calibri"/>
              </a:rPr>
              <a:t>SECTION 10  ·  SUMMARY</a:t>
            </a:r>
          </a:p>
        </p:txBody>
      </p:sp>
      <p:sp>
        <p:nvSpPr>
          <p:cNvPr id="3" name="TextBox 2"/>
          <p:cNvSpPr txBox="1"/>
          <p:nvPr/>
        </p:nvSpPr>
        <p:spPr>
          <a:xfrm>
            <a:off x="548640" y="822960"/>
            <a:ext cx="9144000" cy="731520"/>
          </a:xfrm>
          <a:prstGeom prst="rect">
            <a:avLst/>
          </a:prstGeom>
          <a:noFill/>
        </p:spPr>
        <p:txBody>
          <a:bodyPr wrap="square" anchor="t" lIns="0" rIns="0" tIns="0" bIns="0">
            <a:spAutoFit/>
          </a:bodyPr>
          <a:lstStyle/>
          <a:p>
            <a:r>
              <a:rPr sz="3600" i="0" b="1">
                <a:solidFill>
                  <a:srgbClr val="FFFFFF"/>
                </a:solidFill>
                <a:latin typeface="Cambria"/>
              </a:rPr>
              <a:t>Key Takeaways</a:t>
            </a:r>
          </a:p>
        </p:txBody>
      </p:sp>
      <p:sp>
        <p:nvSpPr>
          <p:cNvPr id="4" name="Oval 3"/>
          <p:cNvSpPr/>
          <p:nvPr/>
        </p:nvSpPr>
        <p:spPr>
          <a:xfrm>
            <a:off x="548640" y="1847088"/>
            <a:ext cx="402336" cy="402336"/>
          </a:xfrm>
          <a:prstGeom prst="ellipse">
            <a:avLst/>
          </a:prstGeom>
          <a:solidFill>
            <a:srgbClr val="F3E6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A4472B"/>
                </a:solidFill>
                <a:latin typeface="Calibri"/>
              </a:rPr>
              <a:t>1</a:t>
            </a:r>
          </a:p>
        </p:txBody>
      </p:sp>
      <p:sp>
        <p:nvSpPr>
          <p:cNvPr id="5" name="TextBox 4"/>
          <p:cNvSpPr txBox="1"/>
          <p:nvPr/>
        </p:nvSpPr>
        <p:spPr>
          <a:xfrm>
            <a:off x="1143000" y="1865376"/>
            <a:ext cx="10500055" cy="1089183"/>
          </a:xfrm>
          <a:prstGeom prst="rect">
            <a:avLst/>
          </a:prstGeom>
          <a:noFill/>
        </p:spPr>
        <p:txBody>
          <a:bodyPr wrap="square" anchor="t" lIns="0" rIns="0" tIns="0" bIns="0">
            <a:spAutoFit/>
          </a:bodyPr>
          <a:lstStyle/>
          <a:p>
            <a:r>
              <a:rPr sz="2100" i="0" b="0">
                <a:solidFill>
                  <a:srgbClr val="FFFFFF"/>
                </a:solidFill>
                <a:latin typeface="Calibri"/>
              </a:rPr>
              <a:t>A real question uses every step: requester, background, real question, sources, appraisal, answer, follow-up.</a:t>
            </a:r>
          </a:p>
        </p:txBody>
      </p:sp>
      <p:sp>
        <p:nvSpPr>
          <p:cNvPr id="6" name="Oval 5"/>
          <p:cNvSpPr/>
          <p:nvPr/>
        </p:nvSpPr>
        <p:spPr>
          <a:xfrm>
            <a:off x="548640" y="2981991"/>
            <a:ext cx="402336" cy="402336"/>
          </a:xfrm>
          <a:prstGeom prst="ellipse">
            <a:avLst/>
          </a:prstGeom>
          <a:solidFill>
            <a:srgbClr val="F3E6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A4472B"/>
                </a:solidFill>
                <a:latin typeface="Calibri"/>
              </a:rPr>
              <a:t>2</a:t>
            </a:r>
          </a:p>
        </p:txBody>
      </p:sp>
      <p:sp>
        <p:nvSpPr>
          <p:cNvPr id="7" name="TextBox 6"/>
          <p:cNvSpPr txBox="1"/>
          <p:nvPr/>
        </p:nvSpPr>
        <p:spPr>
          <a:xfrm>
            <a:off x="1143000" y="3000279"/>
            <a:ext cx="10500055" cy="1089183"/>
          </a:xfrm>
          <a:prstGeom prst="rect">
            <a:avLst/>
          </a:prstGeom>
          <a:noFill/>
        </p:spPr>
        <p:txBody>
          <a:bodyPr wrap="square" anchor="t" lIns="0" rIns="0" tIns="0" bIns="0">
            <a:spAutoFit/>
          </a:bodyPr>
          <a:lstStyle/>
          <a:p>
            <a:r>
              <a:rPr sz="2100" i="0" b="0">
                <a:solidFill>
                  <a:srgbClr val="FFFFFF"/>
                </a:solidFill>
                <a:latin typeface="Calibri"/>
              </a:rPr>
              <a:t>Tertiary sources give the safe plan; primary evidence answers the new-treatment question.</a:t>
            </a:r>
          </a:p>
        </p:txBody>
      </p:sp>
      <p:sp>
        <p:nvSpPr>
          <p:cNvPr id="8" name="Oval 7"/>
          <p:cNvSpPr/>
          <p:nvPr/>
        </p:nvSpPr>
        <p:spPr>
          <a:xfrm>
            <a:off x="548640" y="4116895"/>
            <a:ext cx="402336" cy="402336"/>
          </a:xfrm>
          <a:prstGeom prst="ellipse">
            <a:avLst/>
          </a:prstGeom>
          <a:solidFill>
            <a:srgbClr val="F3E6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A4472B"/>
                </a:solidFill>
                <a:latin typeface="Calibri"/>
              </a:rPr>
              <a:t>3</a:t>
            </a:r>
          </a:p>
        </p:txBody>
      </p:sp>
      <p:sp>
        <p:nvSpPr>
          <p:cNvPr id="9" name="TextBox 8"/>
          <p:cNvSpPr txBox="1"/>
          <p:nvPr/>
        </p:nvSpPr>
        <p:spPr>
          <a:xfrm>
            <a:off x="1143000" y="4135183"/>
            <a:ext cx="10500055" cy="755808"/>
          </a:xfrm>
          <a:prstGeom prst="rect">
            <a:avLst/>
          </a:prstGeom>
          <a:noFill/>
        </p:spPr>
        <p:txBody>
          <a:bodyPr wrap="square" anchor="t" lIns="0" rIns="0" tIns="0" bIns="0">
            <a:spAutoFit/>
          </a:bodyPr>
          <a:lstStyle/>
          <a:p>
            <a:r>
              <a:rPr sz="2100" i="0" b="0">
                <a:solidFill>
                  <a:srgbClr val="FFFFFF"/>
                </a:solidFill>
                <a:latin typeface="Calibri"/>
              </a:rPr>
              <a:t>NSAIDs with ACE inhibitors need blood pressure and kidney checks.</a:t>
            </a:r>
          </a:p>
        </p:txBody>
      </p:sp>
      <p:sp>
        <p:nvSpPr>
          <p:cNvPr id="10" name="Oval 9"/>
          <p:cNvSpPr/>
          <p:nvPr/>
        </p:nvSpPr>
        <p:spPr>
          <a:xfrm>
            <a:off x="548640" y="4918424"/>
            <a:ext cx="402336" cy="402336"/>
          </a:xfrm>
          <a:prstGeom prst="ellipse">
            <a:avLst/>
          </a:prstGeom>
          <a:solidFill>
            <a:srgbClr val="F3E6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A4472B"/>
                </a:solidFill>
                <a:latin typeface="Calibri"/>
              </a:rPr>
              <a:t>4</a:t>
            </a:r>
          </a:p>
        </p:txBody>
      </p:sp>
      <p:sp>
        <p:nvSpPr>
          <p:cNvPr id="11" name="TextBox 10"/>
          <p:cNvSpPr txBox="1"/>
          <p:nvPr/>
        </p:nvSpPr>
        <p:spPr>
          <a:xfrm>
            <a:off x="1143000" y="4936712"/>
            <a:ext cx="10500055" cy="1089183"/>
          </a:xfrm>
          <a:prstGeom prst="rect">
            <a:avLst/>
          </a:prstGeom>
          <a:noFill/>
        </p:spPr>
        <p:txBody>
          <a:bodyPr wrap="square" anchor="t" lIns="0" rIns="0" tIns="0" bIns="0">
            <a:spAutoFit/>
          </a:bodyPr>
          <a:lstStyle/>
          <a:p>
            <a:r>
              <a:rPr sz="2100" i="0" b="0">
                <a:solidFill>
                  <a:srgbClr val="FFFFFF"/>
                </a:solidFill>
                <a:latin typeface="Calibri"/>
              </a:rPr>
              <a:t>A suspected ADR is managed patient first, then scored, classified, reported and recorded.</a:t>
            </a:r>
          </a:p>
        </p:txBody>
      </p:sp>
      <p:pic>
        <p:nvPicPr>
          <p:cNvPr id="12" name="Picture 11" descr="port-said-university.png"/>
          <p:cNvPicPr>
            <a:picLocks noChangeAspect="1"/>
          </p:cNvPicPr>
          <p:nvPr/>
        </p:nvPicPr>
        <p:blipFill>
          <a:blip r:embed="rId2"/>
          <a:stretch>
            <a:fillRect/>
          </a:stretch>
        </p:blipFill>
        <p:spPr>
          <a:xfrm>
            <a:off x="10378440" y="6144768"/>
            <a:ext cx="548640" cy="548640"/>
          </a:xfrm>
          <a:prstGeom prst="rect">
            <a:avLst/>
          </a:prstGeom>
        </p:spPr>
      </p:pic>
      <p:pic>
        <p:nvPicPr>
          <p:cNvPr id="13" name="Picture 12" descr="faculty-of-pharmacy.png"/>
          <p:cNvPicPr>
            <a:picLocks noChangeAspect="1"/>
          </p:cNvPicPr>
          <p:nvPr/>
        </p:nvPicPr>
        <p:blipFill>
          <a:blip r:embed="rId3"/>
          <a:stretch>
            <a:fillRect/>
          </a:stretch>
        </p:blipFill>
        <p:spPr>
          <a:xfrm>
            <a:off x="11036808" y="6144768"/>
            <a:ext cx="548640" cy="548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