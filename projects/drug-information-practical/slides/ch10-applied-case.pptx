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rebuilds the Section 8 case as a drug information exercise. It uses every earlier chapter.</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a 59-year-old mechanic, has adhesive capsulitis (frozen shoulder),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 His physiotherapy plan includes stretching, joint mobilisation, scapular exercises and heat. The plan says "NSAIDs only if pain interferes with rehab". If conservative treatment fails, options include hydrodilatation, manipulation under anaesthesia or surgical release. For this exercise, add these facts: he has hypertension treated with lisinopril 10 mg daily, he had dyspepsia last year, and he drinks no alcohol.</a:t>
            </a:r>
          </a:p>
          <a:p/>
          <a:p>
            <a:r>
              <a:t>About 120 s.  Next: Step by Step: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a:p/>
          <a:p>
            <a:r>
              <a:t>About 60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120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60 s.  Next: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pharmacist writes back to the physiotherapist and the doctor:</a:t>
            </a:r>
          </a:p>
          <a:p/>
          <a:p>
            <a:r>
              <a:t>About 60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120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Ten Days Later: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need was pain control that allows exercise. A, C and D miss the point.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systematic review of RCTs is the best evidence for a treatment effect. A, B and D do not compare treatments.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benefit is real but short-term. A and B overstate the result; C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Predictable pharmacology (Type A), treatment changed (moderate), no admission (not serious). B, C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Patient care comes first. A and B follow; D is harmful.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Kidney function, blood pressure, other drugs (including any diuretic), stomach history, and the cause of the knee pain. (b) Avoid self-selected NSAIDs; start paracetamol, suggest topical ibuprofen or diclofenac gel, and refer to the doctor. (c) The BNF (or Lexicomp) for NSAID cautions with ACE inhibitors and diabetes; it gives a fast, reliable answer.</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10</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10</a:t>
            </a:r>
          </a:p>
          <a:p>
            <a:pPr>
              <a:spcBef>
                <a:spcPts val="1400"/>
              </a:spcBef>
            </a:pPr>
            <a:r>
              <a:rPr sz="3600" i="0" b="1">
                <a:solidFill>
                  <a:srgbClr val="FFFFFF"/>
                </a:solidFill>
                <a:latin typeface="Cambria"/>
              </a:rPr>
              <a:t>Applied Case: Answering a Real Drug Question</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Handle a real request with the seven-step approach.</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Choose and use tertiary, secondary and primary sources for one question.</a:t>
            </a:r>
          </a:p>
        </p:txBody>
      </p:sp>
      <p:sp>
        <p:nvSpPr>
          <p:cNvPr id="17" name="Oval 16"/>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966971"/>
            <a:ext cx="6629400" cy="808863"/>
          </a:xfrm>
          <a:prstGeom prst="rect">
            <a:avLst/>
          </a:prstGeom>
          <a:noFill/>
        </p:spPr>
        <p:txBody>
          <a:bodyPr wrap="square" anchor="t" lIns="0" rIns="0" tIns="0" bIns="0">
            <a:spAutoFit/>
          </a:bodyPr>
          <a:lstStyle/>
          <a:p>
            <a:r>
              <a:rPr sz="2100" i="0" b="0">
                <a:solidFill>
                  <a:srgbClr val="2B211C"/>
                </a:solidFill>
                <a:latin typeface="Calibri"/>
              </a:rPr>
              <a:t>Appraise the evidence for a treatment option.</a:t>
            </a:r>
          </a:p>
        </p:txBody>
      </p:sp>
      <p:sp>
        <p:nvSpPr>
          <p:cNvPr id="19" name="Oval 18"/>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Assess, manage and report a suspected ADR that follows your advice.</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Patient</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Step by Step: The Request</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Finding the Evidence</a:t>
            </a:r>
          </a:p>
        </p:txBody>
      </p:sp>
      <p:sp>
        <p:nvSpPr>
          <p:cNvPr id="19" name="Oval 18"/>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Answer</a:t>
            </a:r>
          </a:p>
        </p:txBody>
      </p:sp>
      <p:sp>
        <p:nvSpPr>
          <p:cNvPr id="21" name="Oval 20"/>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Ten Days Later: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Patient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2160270"/>
          </a:xfrm>
          <a:prstGeom prst="rect">
            <a:avLst/>
          </a:prstGeom>
          <a:noFill/>
        </p:spPr>
        <p:txBody>
          <a:bodyPr wrap="square" anchor="t" lIns="0" rIns="0" tIns="0" bIns="0">
            <a:spAutoFit/>
          </a:bodyPr>
          <a:lstStyle/>
          <a:p>
            <a:r>
              <a:rPr sz="2100" i="0" b="1">
                <a:solidFill>
                  <a:srgbClr val="2B211C"/>
                </a:solidFill>
                <a:latin typeface="Calibri"/>
              </a:rPr>
              <a:t>Mr Ahmed</a:t>
            </a:r>
            <a:r>
              <a:rPr sz="2100" i="0" b="0">
                <a:solidFill>
                  <a:srgbClr val="2B211C"/>
                </a:solidFill>
                <a:latin typeface="Calibri"/>
              </a:rPr>
              <a:t>, a 59-year-old mechanic, has </a:t>
            </a:r>
            <a:r>
              <a:rPr sz="2100" i="0" b="1">
                <a:solidFill>
                  <a:srgbClr val="2B211C"/>
                </a:solidFill>
                <a:latin typeface="Calibri"/>
              </a:rPr>
              <a:t>adhesive capsulitis (frozen shoulder)</a:t>
            </a:r>
            <a:r>
              <a:rPr sz="2100" i="0" b="0">
                <a:solidFill>
                  <a:srgbClr val="2B211C"/>
                </a:solidFill>
                <a:latin typeface="Calibri"/>
              </a:rPr>
              <a:t>,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a:t>
            </a:r>
          </a:p>
        </p:txBody>
      </p:sp>
      <p:sp>
        <p:nvSpPr>
          <p:cNvPr id="15" name="Oval 14"/>
          <p:cNvSpPr/>
          <p:nvPr/>
        </p:nvSpPr>
        <p:spPr>
          <a:xfrm>
            <a:off x="548640" y="37787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3797046"/>
            <a:ext cx="10500055" cy="1493519"/>
          </a:xfrm>
          <a:prstGeom prst="rect">
            <a:avLst/>
          </a:prstGeom>
          <a:noFill/>
        </p:spPr>
        <p:txBody>
          <a:bodyPr wrap="square" anchor="t" lIns="0" rIns="0" tIns="0" bIns="0">
            <a:spAutoFit/>
          </a:bodyPr>
          <a:lstStyle/>
          <a:p>
            <a:r>
              <a:rPr sz="2100" i="0" b="0">
                <a:solidFill>
                  <a:srgbClr val="2B211C"/>
                </a:solidFill>
                <a:latin typeface="Calibri"/>
              </a:rPr>
              <a:t>His physiotherapy plan includes stretching, joint mobilisation, scapular exercises and heat. The plan says "NSAIDs only if pain interferes with rehab". If conservative treatment fails, options include hydrodilatation, manipulation under anaesthesia or surgical release.</a:t>
            </a:r>
          </a:p>
        </p:txBody>
      </p:sp>
      <p:sp>
        <p:nvSpPr>
          <p:cNvPr id="17" name="Oval 16"/>
          <p:cNvSpPr/>
          <p:nvPr/>
        </p:nvSpPr>
        <p:spPr>
          <a:xfrm>
            <a:off x="548640" y="531799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5336285"/>
            <a:ext cx="10500055" cy="826769"/>
          </a:xfrm>
          <a:prstGeom prst="rect">
            <a:avLst/>
          </a:prstGeom>
          <a:noFill/>
        </p:spPr>
        <p:txBody>
          <a:bodyPr wrap="square" anchor="t" lIns="0" rIns="0" tIns="0" bIns="0">
            <a:spAutoFit/>
          </a:bodyPr>
          <a:lstStyle/>
          <a:p>
            <a:r>
              <a:rPr sz="2100" i="0" b="0">
                <a:solidFill>
                  <a:srgbClr val="2B211C"/>
                </a:solidFill>
                <a:latin typeface="Calibri"/>
              </a:rPr>
              <a:t>For this exercise, add these facts: he has </a:t>
            </a:r>
            <a:r>
              <a:rPr sz="2100" i="0" b="1">
                <a:solidFill>
                  <a:srgbClr val="2B211C"/>
                </a:solidFill>
                <a:latin typeface="Calibri"/>
              </a:rPr>
              <a:t>hypertension</a:t>
            </a:r>
            <a:r>
              <a:rPr sz="2100" i="0" b="0">
                <a:solidFill>
                  <a:srgbClr val="2B211C"/>
                </a:solidFill>
                <a:latin typeface="Calibri"/>
              </a:rPr>
              <a:t> treated with </a:t>
            </a:r>
            <a:r>
              <a:rPr sz="2100" i="0" b="1">
                <a:solidFill>
                  <a:srgbClr val="2B211C"/>
                </a:solidFill>
                <a:latin typeface="Calibri"/>
              </a:rPr>
              <a:t>lisinopril 10 mg daily</a:t>
            </a:r>
            <a:r>
              <a:rPr sz="2100" i="0" b="0">
                <a:solidFill>
                  <a:srgbClr val="2B211C"/>
                </a:solidFill>
                <a:latin typeface="Calibri"/>
              </a:rPr>
              <a:t>, he had </a:t>
            </a:r>
            <a:r>
              <a:rPr sz="2100" i="0" b="1">
                <a:solidFill>
                  <a:srgbClr val="2B211C"/>
                </a:solidFill>
                <a:latin typeface="Calibri"/>
              </a:rPr>
              <a:t>dyspepsia</a:t>
            </a:r>
            <a:r>
              <a:rPr sz="2100" i="0" b="0">
                <a:solidFill>
                  <a:srgbClr val="2B211C"/>
                </a:solidFill>
                <a:latin typeface="Calibri"/>
              </a:rPr>
              <a:t> last year, and he drinks no alcohol.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Step by Step: The Request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29006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The physiotherapist phones the hospital pharmacy: "His pain stops him doing his exercises. Which painkiller can he take? Would a steroid injection help?"</a:t>
            </a:r>
          </a:p>
          <a:p>
            <a:pPr>
              <a:spcAft>
                <a:spcPts val="800"/>
              </a:spcAft>
            </a:pPr>
            <a:r>
              <a:rPr sz="1700" i="0" b="0">
                <a:solidFill>
                  <a:srgbClr val="2B211C"/>
                </a:solidFill>
                <a:latin typeface="Calibri"/>
              </a:rPr>
              <a:t>The real question matters. The physiotherapist does not need a list of every painkiller. She needs a safe plan that lets exercise continue.</a:t>
            </a:r>
          </a:p>
        </p:txBody>
      </p:sp>
      <p:graphicFrame>
        <p:nvGraphicFramePr>
          <p:cNvPr id="15" name="Table 14"/>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629937"/>
                <a:gridCol w="4618157"/>
              </a:tblGrid>
              <a:tr h="577215">
                <a:tc>
                  <a:txBody>
                    <a:bodyPr/>
                    <a:lstStyle/>
                    <a:p>
                      <a:r>
                        <a:rPr sz="1300" i="0" b="1">
                          <a:solidFill>
                            <a:srgbClr val="FFFFFF"/>
                          </a:solidFill>
                          <a:latin typeface="Calibri"/>
                        </a:rPr>
                        <a:t>Step (Chapter 1)</a:t>
                      </a:r>
                    </a:p>
                  </a:txBody>
                  <a:tcPr marL="109728" marR="109728" marT="45720" marB="45720" anchor="ctr">
                    <a:solidFill>
                      <a:srgbClr val="A4472B"/>
                    </a:solidFill>
                  </a:tcPr>
                </a:tc>
                <a:tc>
                  <a:txBody>
                    <a:bodyPr/>
                    <a:lstStyle/>
                    <a:p>
                      <a:r>
                        <a:rPr sz="1300" i="0" b="1">
                          <a:solidFill>
                            <a:srgbClr val="FFFFFF"/>
                          </a:solidFill>
                          <a:latin typeface="Calibri"/>
                        </a:rPr>
                        <a:t>Applied to Mr Ahmed</a:t>
                      </a:r>
                    </a:p>
                  </a:txBody>
                  <a:tcPr marL="109728" marR="109728" marT="45720" marB="45720" anchor="ctr">
                    <a:solidFill>
                      <a:srgbClr val="A4472B"/>
                    </a:solidFill>
                  </a:tcPr>
                </a:tc>
              </a:tr>
              <a:tr h="577215">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Physiotherapist; answer needed today, before the next session</a:t>
                      </a:r>
                    </a:p>
                  </a:txBody>
                  <a:tcPr marL="109728" marR="109728" marT="45720" marB="45720" anchor="ctr">
                    <a:solidFill>
                      <a:srgbClr val="FFFFFF"/>
                    </a:solidFill>
                  </a:tcPr>
                </a:tc>
              </a:tr>
              <a:tr h="577215">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59 years; hypertension on lisinopril; past dyspepsia; normal kidney function last month; no allergies</a:t>
                      </a:r>
                    </a:p>
                  </a:txBody>
                  <a:tcPr marL="109728" marR="109728" marT="45720" marB="45720" anchor="ctr">
                    <a:solidFill>
                      <a:srgbClr val="FAF4F2"/>
                    </a:solidFill>
                  </a:tcPr>
                </a:tc>
              </a:tr>
              <a:tr h="577215">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Safe pain control that lets him exercise; and whether an injection would speed recovery</a:t>
                      </a:r>
                    </a:p>
                  </a:txBody>
                  <a:tcPr marL="109728" marR="109728" marT="45720" marB="45720" anchor="ctr">
                    <a:solidFill>
                      <a:srgbClr val="FFFFFF"/>
                    </a:solidFill>
                  </a:tcPr>
                </a:tc>
              </a:tr>
              <a:tr h="577215">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Therapy choice plus adverse-effect and interaction questions</a:t>
                      </a:r>
                    </a:p>
                  </a:txBody>
                  <a:tcPr marL="109728" marR="109728" marT="45720" marB="45720" anchor="ctr">
                    <a:solidFill>
                      <a:srgbClr val="FAF4F2"/>
                    </a:solidFill>
                  </a:tcPr>
                </a:tc>
              </a:tr>
              <a:tr h="577215">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Tertiary, then secondary and primary sources (10.3)</a:t>
                      </a:r>
                    </a:p>
                  </a:txBody>
                  <a:tcPr marL="109728" marR="109728" marT="45720" marB="45720" anchor="ctr">
                    <a:solidFill>
                      <a:srgbClr val="FFFFFF"/>
                    </a:solidFill>
                  </a:tcPr>
                </a:tc>
              </a:tr>
              <a:tr h="577215">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Clear written plan with references (10.4)</a:t>
                      </a:r>
                    </a:p>
                  </a:txBody>
                  <a:tcPr marL="109728" marR="109728" marT="45720" marB="45720" anchor="ctr">
                    <a:solidFill>
                      <a:srgbClr val="FAF4F2"/>
                    </a:solidFill>
                  </a:tcPr>
                </a:tc>
              </a:tr>
              <a:tr h="577215">
                <a:tc>
                  <a:txBody>
                    <a:bodyPr/>
                    <a:lstStyle/>
                    <a:p>
                      <a:r>
                        <a:rPr sz="1400" i="0" b="1">
                          <a:solidFill>
                            <a:srgbClr val="2B211C"/>
                          </a:solidFill>
                          <a:latin typeface="Calibri"/>
                        </a:rPr>
                        <a:t>7. Follow up</a:t>
                      </a:r>
                    </a:p>
                  </a:txBody>
                  <a:tcPr marL="109728" marR="109728" marT="45720" marB="45720" anchor="ctr">
                    <a:solidFill>
                      <a:srgbClr val="FFFFFF"/>
                    </a:solidFill>
                  </a:tcPr>
                </a:tc>
                <a:tc>
                  <a:txBody>
                    <a:bodyPr/>
                    <a:lstStyle/>
                    <a:p>
                      <a:r>
                        <a:rPr sz="1400" i="0" b="0">
                          <a:solidFill>
                            <a:srgbClr val="2B211C"/>
                          </a:solidFill>
                          <a:latin typeface="Calibri"/>
                        </a:rPr>
                        <a:t>Review in one week; document the request</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Appraising the review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396996"/>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Tertiary (Chapter 2).</a:t>
            </a:r>
            <a:r>
              <a:rPr sz="1800" i="0" b="0">
                <a:solidFill>
                  <a:srgbClr val="2B211C"/>
                </a:solidFill>
                <a:latin typeface="Calibri"/>
              </a:rPr>
              <a:t>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a:t>
            </a:r>
          </a:p>
          <a:p>
            <a:pPr>
              <a:spcAft>
                <a:spcPts val="800"/>
              </a:spcAft>
            </a:pPr>
            <a:r>
              <a:rPr sz="1800" i="0" b="1">
                <a:solidFill>
                  <a:srgbClr val="2B211C"/>
                </a:solidFill>
                <a:latin typeface="Calibri"/>
              </a:rPr>
              <a:t>Secondary.</a:t>
            </a:r>
            <a:r>
              <a:rPr sz="1800" i="0" b="0">
                <a:solidFill>
                  <a:srgbClr val="2B211C"/>
                </a:solidFill>
                <a:latin typeface="Calibri"/>
              </a:rPr>
              <a:t> A PubMed search for frozen shoulder AND corticosteroid injection, filtered to systematic reviews, finds a recent meta-analysis.</a:t>
            </a:r>
          </a:p>
          <a:p>
            <a:pPr>
              <a:spcAft>
                <a:spcPts val="800"/>
              </a:spcAft>
            </a:pPr>
            <a:r>
              <a:rPr sz="1800" i="0" b="1">
                <a:solidFill>
                  <a:srgbClr val="2B211C"/>
                </a:solidFill>
                <a:latin typeface="Calibri"/>
              </a:rPr>
              <a:t>Primary / review evidence (Chapters 3 and 6).</a:t>
            </a:r>
            <a:r>
              <a:rPr sz="1800" i="0" b="0">
                <a:solidFill>
                  <a:srgbClr val="2B211C"/>
                </a:solidFill>
                <a:latin typeface="Calibri"/>
              </a:rPr>
              <a:t> The review pooled randomised trials. Intra-articular corticosteroid injection gave better pain and movement in the </a:t>
            </a:r>
            <a:r>
              <a:rPr sz="1800" i="0" b="1">
                <a:solidFill>
                  <a:srgbClr val="2B211C"/>
                </a:solidFill>
                <a:latin typeface="Calibri"/>
              </a:rPr>
              <a:t>early</a:t>
            </a:r>
            <a:r>
              <a:rPr sz="1800" i="0" b="0">
                <a:solidFill>
                  <a:srgbClr val="2B211C"/>
                </a:solidFill>
                <a:latin typeface="Calibri"/>
              </a:rPr>
              <a:t> months than no injection. The benefit became smaller over time. Combining injection with home exercise did better than exercise alone in the short term.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Appraising the review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769946"/>
                <a:gridCol w="7324468"/>
              </a:tblGrid>
              <a:tr h="640080">
                <a:tc>
                  <a:txBody>
                    <a:bodyPr/>
                    <a:lstStyle/>
                    <a:p>
                      <a:r>
                        <a:rPr sz="1700" i="0" b="1">
                          <a:solidFill>
                            <a:srgbClr val="FFFFFF"/>
                          </a:solidFill>
                          <a:latin typeface="Calibri"/>
                        </a:rPr>
                        <a:t>Checklist point (Chapter 6)</a:t>
                      </a:r>
                    </a:p>
                  </a:txBody>
                  <a:tcPr marL="109728" marR="109728" marT="45720" marB="45720" anchor="ctr">
                    <a:solidFill>
                      <a:srgbClr val="A4472B"/>
                    </a:solidFill>
                  </a:tcPr>
                </a:tc>
                <a:tc>
                  <a:txBody>
                    <a:bodyPr/>
                    <a:lstStyle/>
                    <a:p>
                      <a:r>
                        <a:rPr sz="1700" i="0" b="1">
                          <a:solidFill>
                            <a:srgbClr val="FFFFFF"/>
                          </a:solidFill>
                          <a:latin typeface="Calibri"/>
                        </a:rPr>
                        <a:t>Finding</a:t>
                      </a:r>
                    </a:p>
                  </a:txBody>
                  <a:tcPr marL="109728" marR="109728" marT="45720" marB="45720" anchor="ctr">
                    <a:solidFill>
                      <a:srgbClr val="A4472B"/>
                    </a:solidFill>
                  </a:tcPr>
                </a:tc>
              </a:tr>
              <a:tr h="640080">
                <a:tc>
                  <a:txBody>
                    <a:bodyPr/>
                    <a:lstStyle/>
                    <a:p>
                      <a:r>
                        <a:rPr sz="1800" i="0" b="1">
                          <a:solidFill>
                            <a:srgbClr val="2B211C"/>
                          </a:solidFill>
                          <a:latin typeface="Calibri"/>
                        </a:rPr>
                        <a:t>Design</a:t>
                      </a:r>
                    </a:p>
                  </a:txBody>
                  <a:tcPr marL="109728" marR="109728" marT="45720" marB="45720" anchor="ctr">
                    <a:solidFill>
                      <a:srgbClr val="FFFFFF"/>
                    </a:solidFill>
                  </a:tcPr>
                </a:tc>
                <a:tc>
                  <a:txBody>
                    <a:bodyPr/>
                    <a:lstStyle/>
                    <a:p>
                      <a:r>
                        <a:rPr sz="1800" i="0" b="0">
                          <a:solidFill>
                            <a:srgbClr val="2B211C"/>
                          </a:solidFill>
                          <a:latin typeface="Calibri"/>
                        </a:rPr>
                        <a:t>Systematic review and meta-analysis of RCTs: top of the pyramid</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Adults with frozen shoulder, similar to Mr Ahmed</a:t>
                      </a:r>
                    </a:p>
                  </a:txBody>
                  <a:tcPr marL="109728" marR="109728" marT="45720" marB="45720" anchor="ctr">
                    <a:solidFill>
                      <a:srgbClr val="FAF4F2"/>
                    </a:solidFill>
                  </a:tcPr>
                </a:tc>
              </a:tr>
              <a:tr h="640080">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Pain and range of movement: important to him</a:t>
                      </a:r>
                    </a:p>
                  </a:txBody>
                  <a:tcPr marL="109728" marR="109728" marT="45720" marB="45720" anchor="ctr">
                    <a:solidFill>
                      <a:srgbClr val="FFFFFF"/>
                    </a:solidFill>
                  </a:tcPr>
                </a:tc>
              </a:tr>
              <a:tr h="640080">
                <a:tc>
                  <a:txBody>
                    <a:bodyPr/>
                    <a:lstStyle/>
                    <a:p>
                      <a:r>
                        <a:rPr sz="1800" i="0" b="1">
                          <a:solidFill>
                            <a:srgbClr val="2B211C"/>
                          </a:solidFill>
                          <a:latin typeface="Calibri"/>
                        </a:rPr>
                        <a:t>Size of effect</a:t>
                      </a:r>
                    </a:p>
                  </a:txBody>
                  <a:tcPr marL="109728" marR="109728" marT="45720" marB="45720" anchor="ctr">
                    <a:solidFill>
                      <a:srgbClr val="FAF4F2"/>
                    </a:solidFill>
                  </a:tcPr>
                </a:tc>
                <a:tc>
                  <a:txBody>
                    <a:bodyPr/>
                    <a:lstStyle/>
                    <a:p>
                      <a:r>
                        <a:rPr sz="1800" i="0" b="0">
                          <a:solidFill>
                            <a:srgbClr val="2B211C"/>
                          </a:solidFill>
                          <a:latin typeface="Calibri"/>
                        </a:rPr>
                        <a:t>Clear short-term benefit; small long-term benefit</a:t>
                      </a:r>
                    </a:p>
                  </a:txBody>
                  <a:tcPr marL="109728" marR="109728" marT="45720" marB="45720" anchor="ctr">
                    <a:solidFill>
                      <a:srgbClr val="FAF4F2"/>
                    </a:solidFill>
                  </a:tcPr>
                </a:tc>
              </a:tr>
              <a:tr h="640080">
                <a:tc>
                  <a:txBody>
                    <a:bodyPr/>
                    <a:lstStyle/>
                    <a:p>
                      <a:r>
                        <a:rPr sz="1800" i="0" b="1">
                          <a:solidFill>
                            <a:srgbClr val="2B211C"/>
                          </a:solidFill>
                          <a:latin typeface="Calibri"/>
                        </a:rPr>
                        <a:t>Limits</a:t>
                      </a:r>
                    </a:p>
                  </a:txBody>
                  <a:tcPr marL="109728" marR="109728" marT="45720" marB="45720" anchor="ctr">
                    <a:solidFill>
                      <a:srgbClr val="FFFFFF"/>
                    </a:solidFill>
                  </a:tcPr>
                </a:tc>
                <a:tc>
                  <a:txBody>
                    <a:bodyPr/>
                    <a:lstStyle/>
                    <a:p>
                      <a:r>
                        <a:rPr sz="1800" i="0" b="0">
                          <a:solidFill>
                            <a:srgbClr val="2B211C"/>
                          </a:solidFill>
                          <a:latin typeface="Calibri"/>
                        </a:rPr>
                        <a:t>Trials varied in dose and timing; many were small and not blinded</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pharmacist writes back to the physiotherapist and the doctor:</a:t>
            </a:r>
          </a:p>
        </p:txBody>
      </p:sp>
      <p:sp>
        <p:nvSpPr>
          <p:cNvPr id="15" name="Oval 14"/>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272284"/>
            <a:ext cx="10500055" cy="805078"/>
          </a:xfrm>
          <a:prstGeom prst="rect">
            <a:avLst/>
          </a:prstGeom>
          <a:noFill/>
        </p:spPr>
        <p:txBody>
          <a:bodyPr wrap="square" anchor="t" lIns="0" rIns="0" tIns="0" bIns="0">
            <a:spAutoFit/>
          </a:bodyPr>
          <a:lstStyle/>
          <a:p>
            <a:r>
              <a:rPr sz="2000" i="0" b="1">
                <a:solidFill>
                  <a:srgbClr val="2B211C"/>
                </a:solidFill>
                <a:latin typeface="Calibri"/>
              </a:rPr>
              <a:t>Paracetamol</a:t>
            </a:r>
            <a:r>
              <a:rPr sz="2000" i="0" b="0">
                <a:solidFill>
                  <a:srgbClr val="2B211C"/>
                </a:solidFill>
                <a:latin typeface="Calibri"/>
              </a:rPr>
              <a:t> 1 g up to four times a day (maximum 4 g a day) before exercise sessions.</a:t>
            </a:r>
          </a:p>
        </p:txBody>
      </p:sp>
      <p:sp>
        <p:nvSpPr>
          <p:cNvPr id="17" name="Oval 16"/>
          <p:cNvSpPr/>
          <p:nvPr/>
        </p:nvSpPr>
        <p:spPr>
          <a:xfrm>
            <a:off x="548640" y="310479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123082"/>
            <a:ext cx="10500055" cy="805078"/>
          </a:xfrm>
          <a:prstGeom prst="rect">
            <a:avLst/>
          </a:prstGeom>
          <a:noFill/>
        </p:spPr>
        <p:txBody>
          <a:bodyPr wrap="square" anchor="t" lIns="0" rIns="0" tIns="0" bIns="0">
            <a:spAutoFit/>
          </a:bodyPr>
          <a:lstStyle/>
          <a:p>
            <a:r>
              <a:rPr sz="2000" i="0" b="0">
                <a:solidFill>
                  <a:srgbClr val="2B211C"/>
                </a:solidFill>
                <a:latin typeface="Calibri"/>
              </a:rPr>
              <a:t>If this is not enough, </a:t>
            </a:r>
            <a:r>
              <a:rPr sz="2000" i="0" b="1">
                <a:solidFill>
                  <a:srgbClr val="2B211C"/>
                </a:solidFill>
                <a:latin typeface="Calibri"/>
              </a:rPr>
              <a:t>naproxen</a:t>
            </a:r>
            <a:r>
              <a:rPr sz="2000" i="0" b="0">
                <a:solidFill>
                  <a:srgbClr val="2B211C"/>
                </a:solidFill>
                <a:latin typeface="Calibri"/>
              </a:rPr>
              <a:t> 250-500 mg twice daily with food, for up to two weeks, </a:t>
            </a:r>
            <a:r>
              <a:rPr sz="2000" i="0" b="1">
                <a:solidFill>
                  <a:srgbClr val="2B211C"/>
                </a:solidFill>
                <a:latin typeface="Calibri"/>
              </a:rPr>
              <a:t>with omeprazole</a:t>
            </a:r>
            <a:r>
              <a:rPr sz="2000" i="0" b="0">
                <a:solidFill>
                  <a:srgbClr val="2B211C"/>
                </a:solidFill>
                <a:latin typeface="Calibri"/>
              </a:rPr>
              <a:t> 20 mg daily for stomach protection.</a:t>
            </a:r>
          </a:p>
        </p:txBody>
      </p:sp>
      <p:sp>
        <p:nvSpPr>
          <p:cNvPr id="19" name="Oval 18"/>
          <p:cNvSpPr/>
          <p:nvPr/>
        </p:nvSpPr>
        <p:spPr>
          <a:xfrm>
            <a:off x="548640" y="395559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3973880"/>
            <a:ext cx="10500055" cy="805078"/>
          </a:xfrm>
          <a:prstGeom prst="rect">
            <a:avLst/>
          </a:prstGeom>
          <a:noFill/>
        </p:spPr>
        <p:txBody>
          <a:bodyPr wrap="square" anchor="t" lIns="0" rIns="0" tIns="0" bIns="0">
            <a:spAutoFit/>
          </a:bodyPr>
          <a:lstStyle/>
          <a:p>
            <a:r>
              <a:rPr sz="2000" i="0" b="0">
                <a:solidFill>
                  <a:srgbClr val="2B211C"/>
                </a:solidFill>
                <a:latin typeface="Calibri"/>
              </a:rPr>
              <a:t>Because of lisinopril, check </a:t>
            </a:r>
            <a:r>
              <a:rPr sz="2000" i="0" b="1">
                <a:solidFill>
                  <a:srgbClr val="2B211C"/>
                </a:solidFill>
                <a:latin typeface="Calibri"/>
              </a:rPr>
              <a:t>blood pressure</a:t>
            </a:r>
            <a:r>
              <a:rPr sz="2000" i="0" b="0">
                <a:solidFill>
                  <a:srgbClr val="2B211C"/>
                </a:solidFill>
                <a:latin typeface="Calibri"/>
              </a:rPr>
              <a:t> and </a:t>
            </a:r>
            <a:r>
              <a:rPr sz="2000" i="0" b="1">
                <a:solidFill>
                  <a:srgbClr val="2B211C"/>
                </a:solidFill>
                <a:latin typeface="Calibri"/>
              </a:rPr>
              <a:t>kidney function</a:t>
            </a:r>
            <a:r>
              <a:rPr sz="2000" i="0" b="0">
                <a:solidFill>
                  <a:srgbClr val="2B211C"/>
                </a:solidFill>
                <a:latin typeface="Calibri"/>
              </a:rPr>
              <a:t> within one to two weeks of starting naproxen.</a:t>
            </a:r>
          </a:p>
        </p:txBody>
      </p:sp>
      <p:sp>
        <p:nvSpPr>
          <p:cNvPr id="21" name="Oval 20"/>
          <p:cNvSpPr/>
          <p:nvPr/>
        </p:nvSpPr>
        <p:spPr>
          <a:xfrm>
            <a:off x="548640" y="480639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1143000" y="4824679"/>
            <a:ext cx="10500055" cy="805078"/>
          </a:xfrm>
          <a:prstGeom prst="rect">
            <a:avLst/>
          </a:prstGeom>
          <a:noFill/>
        </p:spPr>
        <p:txBody>
          <a:bodyPr wrap="square" anchor="t" lIns="0" rIns="0" tIns="0" bIns="0">
            <a:spAutoFit/>
          </a:bodyPr>
          <a:lstStyle/>
          <a:p>
            <a:r>
              <a:rPr sz="2000" i="0" b="0">
                <a:solidFill>
                  <a:srgbClr val="2B211C"/>
                </a:solidFill>
                <a:latin typeface="Calibri"/>
              </a:rPr>
              <a:t>A </a:t>
            </a:r>
            <a:r>
              <a:rPr sz="2000" i="0" b="1">
                <a:solidFill>
                  <a:srgbClr val="2B211C"/>
                </a:solidFill>
                <a:latin typeface="Calibri"/>
              </a:rPr>
              <a:t>corticosteroid injection</a:t>
            </a:r>
            <a:r>
              <a:rPr sz="2000" i="0" b="0">
                <a:solidFill>
                  <a:srgbClr val="2B211C"/>
                </a:solidFill>
                <a:latin typeface="Calibri"/>
              </a:rPr>
              <a:t> can be considered by the doctor for short-term relief to help him exercise; evidence supports early benefit.</a:t>
            </a:r>
          </a:p>
        </p:txBody>
      </p:sp>
      <p:sp>
        <p:nvSpPr>
          <p:cNvPr id="23" name="Oval 22"/>
          <p:cNvSpPr/>
          <p:nvPr/>
        </p:nvSpPr>
        <p:spPr>
          <a:xfrm>
            <a:off x="548640" y="56571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4" name="TextBox 23"/>
          <p:cNvSpPr txBox="1"/>
          <p:nvPr/>
        </p:nvSpPr>
        <p:spPr>
          <a:xfrm>
            <a:off x="1143000" y="5675477"/>
            <a:ext cx="10500055" cy="487578"/>
          </a:xfrm>
          <a:prstGeom prst="rect">
            <a:avLst/>
          </a:prstGeom>
          <a:noFill/>
        </p:spPr>
        <p:txBody>
          <a:bodyPr wrap="square" anchor="t" lIns="0" rIns="0" tIns="0" bIns="0">
            <a:spAutoFit/>
          </a:bodyPr>
          <a:lstStyle/>
          <a:p>
            <a:r>
              <a:rPr sz="2000" i="0" b="0">
                <a:solidFill>
                  <a:srgbClr val="2B211C"/>
                </a:solidFill>
                <a:latin typeface="Calibri"/>
              </a:rPr>
              <a:t>Heat before exercise and the home programme remain the core of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10</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Mr Ahmed comes in with his prescription. You explain how to take naproxen with food and omeprazole. You also tell him to stop naproxen and call if he notices black stools, ankle swelling or much less urine. You record the counselling in the pharmacy notes.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24</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Step 2: causality (Naranjo)</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405460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Mr Ahmed returns. His ankles are swollen, his blood pressure is 158/96 mmHg (usually 130/80) and his creatinine has risen from 90 to 140 µmol/L. He has taken naproxen for eight days.</a:t>
            </a:r>
          </a:p>
          <a:p>
            <a:pPr>
              <a:spcAft>
                <a:spcPts val="800"/>
              </a:spcAft>
            </a:pPr>
            <a:r>
              <a:rPr sz="2100" i="0" b="0">
                <a:solidFill>
                  <a:srgbClr val="2B211C"/>
                </a:solidFill>
                <a:latin typeface="Calibri"/>
              </a:rPr>
              <a:t>Stop naproxen. Contact the doctor the same day. Recheck kidney function and potassium in a few days. Continue paracetamol.</a:t>
            </a:r>
          </a:p>
          <a:p>
            <a:pPr>
              <a:spcAft>
                <a:spcPts val="800"/>
              </a:spcAft>
            </a:pPr>
            <a:r>
              <a:rPr sz="2100" i="0" b="0">
                <a:solidFill>
                  <a:srgbClr val="2B211C"/>
                </a:solidFill>
                <a:latin typeface="Calibri"/>
              </a:rPr>
              <a:t>The reaction is </a:t>
            </a:r>
            <a:r>
              <a:rPr sz="2100" i="0" b="1">
                <a:solidFill>
                  <a:srgbClr val="2B211C"/>
                </a:solidFill>
                <a:latin typeface="Calibri"/>
              </a:rPr>
              <a:t>Type A</a:t>
            </a:r>
            <a:r>
              <a:rPr sz="2100" i="0" b="0">
                <a:solidFill>
                  <a:srgbClr val="2B211C"/>
                </a:solidFill>
                <a:latin typeface="Calibri"/>
              </a:rPr>
              <a:t> (predictable from pharmacology; worse with an ACE inhibitor). It is </a:t>
            </a:r>
            <a:r>
              <a:rPr sz="2100" i="0" b="1">
                <a:solidFill>
                  <a:srgbClr val="2B211C"/>
                </a:solidFill>
                <a:latin typeface="Calibri"/>
              </a:rPr>
              <a:t>moderate</a:t>
            </a:r>
            <a:r>
              <a:rPr sz="2100" i="0" b="0">
                <a:solidFill>
                  <a:srgbClr val="2B211C"/>
                </a:solidFill>
                <a:latin typeface="Calibri"/>
              </a:rPr>
              <a:t> in severity (treatment had to change) and </a:t>
            </a:r>
            <a:r>
              <a:rPr sz="2100" i="0" b="1">
                <a:solidFill>
                  <a:srgbClr val="2B211C"/>
                </a:solidFill>
                <a:latin typeface="Calibri"/>
              </a:rPr>
              <a:t>not serious</a:t>
            </a:r>
            <a:r>
              <a:rPr sz="2100" i="0" b="0">
                <a:solidFill>
                  <a:srgbClr val="2B211C"/>
                </a:solidFill>
                <a:latin typeface="Calibri"/>
              </a:rPr>
              <a:t> (no admission).</a:t>
            </a:r>
          </a:p>
          <a:p>
            <a:pPr>
              <a:spcAft>
                <a:spcPts val="800"/>
              </a:spcAft>
            </a:pPr>
            <a:r>
              <a:rPr sz="2100" i="0" b="0">
                <a:solidFill>
                  <a:srgbClr val="2B211C"/>
                </a:solidFill>
                <a:latin typeface="Calibri"/>
              </a:rPr>
              <a:t>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Step 2: causality (Naranjo)</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3302917"/>
                <a:gridCol w="5758932"/>
                <a:gridCol w="2032564"/>
              </a:tblGrid>
              <a:tr h="577215">
                <a:tc>
                  <a:txBody>
                    <a:bodyPr/>
                    <a:lstStyle/>
                    <a:p>
                      <a:r>
                        <a:rPr sz="1700" i="0" b="1">
                          <a:solidFill>
                            <a:srgbClr val="FFFFFF"/>
                          </a:solidFill>
                          <a:latin typeface="Calibri"/>
                        </a:rPr>
                        <a:t>Naranjo question</a:t>
                      </a:r>
                    </a:p>
                  </a:txBody>
                  <a:tcPr marL="109728" marR="109728" marT="45720" marB="45720" anchor="ctr">
                    <a:solidFill>
                      <a:srgbClr val="A4472B"/>
                    </a:solidFill>
                  </a:tcPr>
                </a:tc>
                <a:tc>
                  <a:txBody>
                    <a:bodyPr/>
                    <a:lstStyle/>
                    <a:p>
                      <a:r>
                        <a:rPr sz="1700" i="0" b="1">
                          <a:solidFill>
                            <a:srgbClr val="FFFFFF"/>
                          </a:solidFill>
                          <a:latin typeface="Calibri"/>
                        </a:rPr>
                        <a:t>Answer</a:t>
                      </a:r>
                    </a:p>
                  </a:txBody>
                  <a:tcPr marL="109728" marR="109728" marT="45720" marB="45720" anchor="ctr">
                    <a:solidFill>
                      <a:srgbClr val="A4472B"/>
                    </a:solidFill>
                  </a:tcPr>
                </a:tc>
                <a:tc>
                  <a:txBody>
                    <a:bodyPr/>
                    <a:lstStyle/>
                    <a:p>
                      <a:r>
                        <a:rPr sz="1700" i="0" b="1">
                          <a:solidFill>
                            <a:srgbClr val="FFFFFF"/>
                          </a:solidFill>
                          <a:latin typeface="Calibri"/>
                        </a:rPr>
                        <a:t>Score</a:t>
                      </a:r>
                    </a:p>
                  </a:txBody>
                  <a:tcPr marL="109728" marR="109728" marT="45720" marB="45720" anchor="ctr">
                    <a:solidFill>
                      <a:srgbClr val="A4472B"/>
                    </a:solidFill>
                  </a:tcPr>
                </a:tc>
              </a:tr>
              <a:tr h="577215">
                <a:tc>
                  <a:txBody>
                    <a:bodyPr/>
                    <a:lstStyle/>
                    <a:p>
                      <a:r>
                        <a:rPr sz="1800" i="0" b="1">
                          <a:solidFill>
                            <a:srgbClr val="2B211C"/>
                          </a:solidFill>
                          <a:latin typeface="Calibri"/>
                        </a:rPr>
                        <a:t>1. Previous conclusive reports?</a:t>
                      </a:r>
                    </a:p>
                  </a:txBody>
                  <a:tcPr marL="109728" marR="109728" marT="45720" marB="45720" anchor="ctr">
                    <a:solidFill>
                      <a:srgbClr val="FFFFFF"/>
                    </a:solidFill>
                  </a:tcPr>
                </a:tc>
                <a:tc>
                  <a:txBody>
                    <a:bodyPr/>
                    <a:lstStyle/>
                    <a:p>
                      <a:r>
                        <a:rPr sz="1800" i="0" b="0">
                          <a:solidFill>
                            <a:srgbClr val="2B211C"/>
                          </a:solidFill>
                          <a:latin typeface="Calibri"/>
                        </a:rPr>
                        <a:t>Yes: NSAIDs cause fluid retention, raised BP and kidney injury</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2. Appeared after the drug?</a:t>
                      </a:r>
                    </a:p>
                  </a:txBody>
                  <a:tcPr marL="109728" marR="109728" marT="45720" marB="45720" anchor="ctr">
                    <a:solidFill>
                      <a:srgbClr val="FAF4F2"/>
                    </a:solidFill>
                  </a:tcPr>
                </a:tc>
                <a:tc>
                  <a:txBody>
                    <a:bodyPr/>
                    <a:lstStyle/>
                    <a:p>
                      <a:r>
                        <a:rPr sz="1800" i="0" b="0">
                          <a:solidFill>
                            <a:srgbClr val="2B211C"/>
                          </a:solidFill>
                          <a:latin typeface="Calibri"/>
                        </a:rPr>
                        <a:t>Yes</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3. Improved on stopping?</a:t>
                      </a:r>
                    </a:p>
                  </a:txBody>
                  <a:tcPr marL="109728" marR="109728" marT="45720" marB="45720" anchor="ctr">
                    <a:solidFill>
                      <a:srgbClr val="FFFFFF"/>
                    </a:solidFill>
                  </a:tcPr>
                </a:tc>
                <a:tc>
                  <a:txBody>
                    <a:bodyPr/>
                    <a:lstStyle/>
                    <a:p>
                      <a:r>
                        <a:rPr sz="1800" i="0" b="0">
                          <a:solidFill>
                            <a:srgbClr val="2B211C"/>
                          </a:solidFill>
                          <a:latin typeface="Calibri"/>
                        </a:rPr>
                        <a:t>Yes, after one week</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5. Other causes?</a:t>
                      </a:r>
                    </a:p>
                  </a:txBody>
                  <a:tcPr marL="109728" marR="109728" marT="45720" marB="45720" anchor="ctr">
                    <a:solidFill>
                      <a:srgbClr val="FAF4F2"/>
                    </a:solidFill>
                  </a:tcPr>
                </a:tc>
                <a:tc>
                  <a:txBody>
                    <a:bodyPr/>
                    <a:lstStyle/>
                    <a:p>
                      <a:r>
                        <a:rPr sz="1800" i="0" b="0">
                          <a:solidFill>
                            <a:srgbClr val="2B211C"/>
                          </a:solidFill>
                          <a:latin typeface="Calibri"/>
                        </a:rPr>
                        <a:t>No</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10. Objective evidence?</a:t>
                      </a:r>
                    </a:p>
                  </a:txBody>
                  <a:tcPr marL="109728" marR="109728" marT="45720" marB="45720" anchor="ctr">
                    <a:solidFill>
                      <a:srgbClr val="FFFFFF"/>
                    </a:solidFill>
                  </a:tcPr>
                </a:tc>
                <a:tc>
                  <a:txBody>
                    <a:bodyPr/>
                    <a:lstStyle/>
                    <a:p>
                      <a:r>
                        <a:rPr sz="1800" i="0" b="0">
                          <a:solidFill>
                            <a:srgbClr val="2B211C"/>
                          </a:solidFill>
                          <a:latin typeface="Calibri"/>
                        </a:rPr>
                        <a:t>Yes: creatinine and BP</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Other questions</a:t>
                      </a:r>
                    </a:p>
                  </a:txBody>
                  <a:tcPr marL="109728" marR="109728" marT="45720" marB="45720" anchor="ctr">
                    <a:solidFill>
                      <a:srgbClr val="FAF4F2"/>
                    </a:solidFill>
                  </a:tcPr>
                </a:tc>
                <a:tc>
                  <a:txBody>
                    <a:bodyPr/>
                    <a:lstStyle/>
                    <a:p>
                      <a:r>
                        <a:rPr sz="1800" i="0" b="0">
                          <a:solidFill>
                            <a:srgbClr val="2B211C"/>
                          </a:solidFill>
                          <a:latin typeface="Calibri"/>
                        </a:rPr>
                        <a:t>Not done / not known</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577215">
                <a:tc>
                  <a:txBody>
                    <a:bodyPr/>
                    <a:lstStyle/>
                    <a:p>
                      <a:r>
                        <a:rPr sz="1800" i="0" b="1">
                          <a:solidFill>
                            <a:srgbClr val="2B211C"/>
                          </a:solidFill>
                          <a:latin typeface="Calibri"/>
                        </a:rPr>
                        <a:t>Total</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r>
                        <a:rPr sz="1800" i="0" b="1">
                          <a:solidFill>
                            <a:srgbClr val="2B211C"/>
                          </a:solidFill>
                          <a:latin typeface="Calibri"/>
                        </a:rPr>
                        <a:t>7 = probable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Ten Days Later: A Suspected ADR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400" i="0" b="0">
                <a:solidFill>
                  <a:srgbClr val="2B211C"/>
                </a:solidFill>
                <a:latin typeface="Calibri"/>
              </a:rPr>
              <a:t>The combination of an NSAID, an ACE inhibitor or ARB, and a diuretic is especially risky for the kidneys ("triple whammy"). Avoid it, or monitor closely.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list of every painkiller</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Safe pain control so the patient can exercise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price of naproxen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Whether surgery is needed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 list of every painkiller</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Safe pain control so the patient can exercise</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price of naproxen</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Whether surgery is needed</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need was pain control that allows exercise. A, C and D miss the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drug label</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textbook dose table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systematic review found through PubMed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company leaflet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 drug label</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A textbook dose table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systematic review found through PubMed</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 company leaflet</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systematic review of RCTs is the best evidence for a treatment effect. A, B and D do not compare treatments.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has no value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cures frozen shoulder</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review is not relevant</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helps in the short term, mainly to support exercise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The injection has no value</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injection cures frozen shoulder</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review is not relevant</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injection helps in the short term, mainly to support exercise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benefit is real but short-term. A and B overstate the result; C is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 moderate, not serious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B, severe, serious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 mild, not serious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F, moderate, serious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Type A, moderate, not serious</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Type B, severe, serious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Type E, mild, not serious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Type F, moderate, serious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Predictable pharmacology (Type A), treatment changed (moderate), no admission (not serious). B, C and D do not fit.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EPVC</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score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Stop naproxen and contact the doctor</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Increase the naproxen dose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10</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10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Report to the EPVC</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Complete the Naranjo score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naproxen and contact the doctor</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Increase the naproxen dose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A and B follow; D is harmful.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10</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Six months later, Mr Ahmed's brother (62, diabetic, on metformin and enalapril) asks the pharmacist for "the same painkiller" for his knee. (a) List the background details you need. (b) What would you advise? (c) Which source would you check first, and why?</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24</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10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1089183"/>
          </a:xfrm>
          <a:prstGeom prst="rect">
            <a:avLst/>
          </a:prstGeom>
          <a:noFill/>
        </p:spPr>
        <p:txBody>
          <a:bodyPr wrap="square" anchor="t" lIns="0" rIns="0" tIns="0" bIns="0">
            <a:spAutoFit/>
          </a:bodyPr>
          <a:lstStyle/>
          <a:p>
            <a:r>
              <a:rPr sz="2100" i="0" b="0">
                <a:solidFill>
                  <a:srgbClr val="FFFFFF"/>
                </a:solidFill>
                <a:latin typeface="Calibri"/>
              </a:rPr>
              <a:t>A real question uses every step: requester, background, real question, sources, appraisal, answer, follow-up.</a:t>
            </a:r>
          </a:p>
        </p:txBody>
      </p:sp>
      <p:sp>
        <p:nvSpPr>
          <p:cNvPr id="7" name="Oval 6"/>
          <p:cNvSpPr/>
          <p:nvPr/>
        </p:nvSpPr>
        <p:spPr>
          <a:xfrm>
            <a:off x="548640" y="298199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3000279"/>
            <a:ext cx="10500055" cy="1089183"/>
          </a:xfrm>
          <a:prstGeom prst="rect">
            <a:avLst/>
          </a:prstGeom>
          <a:noFill/>
        </p:spPr>
        <p:txBody>
          <a:bodyPr wrap="square" anchor="t" lIns="0" rIns="0" tIns="0" bIns="0">
            <a:spAutoFit/>
          </a:bodyPr>
          <a:lstStyle/>
          <a:p>
            <a:r>
              <a:rPr sz="2100" i="0" b="0">
                <a:solidFill>
                  <a:srgbClr val="FFFFFF"/>
                </a:solidFill>
                <a:latin typeface="Calibri"/>
              </a:rPr>
              <a:t>Tertiary sources give the safe plan; primary evidence answers the new-treatment question.</a:t>
            </a:r>
          </a:p>
        </p:txBody>
      </p:sp>
      <p:sp>
        <p:nvSpPr>
          <p:cNvPr id="9" name="Oval 8"/>
          <p:cNvSpPr/>
          <p:nvPr/>
        </p:nvSpPr>
        <p:spPr>
          <a:xfrm>
            <a:off x="548640" y="411689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4135183"/>
            <a:ext cx="10500055" cy="755808"/>
          </a:xfrm>
          <a:prstGeom prst="rect">
            <a:avLst/>
          </a:prstGeom>
          <a:noFill/>
        </p:spPr>
        <p:txBody>
          <a:bodyPr wrap="square" anchor="t" lIns="0" rIns="0" tIns="0" bIns="0">
            <a:spAutoFit/>
          </a:bodyPr>
          <a:lstStyle/>
          <a:p>
            <a:r>
              <a:rPr sz="2100" i="0" b="0">
                <a:solidFill>
                  <a:srgbClr val="FFFFFF"/>
                </a:solidFill>
                <a:latin typeface="Calibri"/>
              </a:rPr>
              <a:t>NSAIDs with ACE inhibitors need blood pressure and kidney checks.</a:t>
            </a:r>
          </a:p>
        </p:txBody>
      </p:sp>
      <p:sp>
        <p:nvSpPr>
          <p:cNvPr id="11" name="Oval 10"/>
          <p:cNvSpPr/>
          <p:nvPr/>
        </p:nvSpPr>
        <p:spPr>
          <a:xfrm>
            <a:off x="548640" y="491842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936712"/>
            <a:ext cx="10500055" cy="1089183"/>
          </a:xfrm>
          <a:prstGeom prst="rect">
            <a:avLst/>
          </a:prstGeom>
          <a:noFill/>
        </p:spPr>
        <p:txBody>
          <a:bodyPr wrap="square" anchor="t" lIns="0" rIns="0" tIns="0" bIns="0">
            <a:spAutoFit/>
          </a:bodyPr>
          <a:lstStyle/>
          <a:p>
            <a:r>
              <a:rPr sz="2100" i="0" b="0">
                <a:solidFill>
                  <a:srgbClr val="FFFFFF"/>
                </a:solidFill>
                <a:latin typeface="Calibri"/>
              </a:rPr>
              <a:t>A suspected ADR is managed patient first, then scored, classified, reported and recorded.</a:t>
            </a:r>
          </a:p>
        </p:txBody>
      </p:sp>
      <p:pic>
        <p:nvPicPr>
          <p:cNvPr id="13" name="Picture 12"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4" name="Picture 13"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