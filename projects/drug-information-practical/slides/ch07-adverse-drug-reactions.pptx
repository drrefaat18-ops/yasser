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World Health Organization defines an adverse drug reaction as a response to a drug that is noxious and unintended, and that occurs at doses normally used in humans for prevention, diagnosis or treatment of disease, or for changing a body function. A side effect is an effect of the drug's normal pharmacology that is not the aim of treatment. It happens because the drug's receptors are found in many tissues, or because the drug is not selective. A side effect can be useful in another setting. Sedating antihistamines help sleep, and the constipating effect of loperamide (an opioid) treats diarrhoea. Related terms help you describe events precisely: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World Health Organization defines an adverse drug reaction as a response to a drug that is noxious and unintended, and that occurs at doses normally used in humans for prevention, diagnosis or treatment of disease, or for changing a body function. A side effect is an effect of the drug's normal pharmacology that is not the aim of treatment. It happens because the drug's receptors are found in many tissues, or because the drug is not selective. A side effect can be useful in another setting. Sedating antihistamines help sleep, and the constipating effect of loperamide (an opioid) treats diarrhoea. Related terms help you describe events precisely: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ADRs are common and costly. A large UK study found that ADRs caused about 1 in 16 hospital admissions (6.5%) and took up about 4% of hospital bed capacity. Many of these reactions were preventable. ADRs increase illness, death and health-care costs worldwide. Because trials before marketing are small and short, many ADRs are found only after a drug is in wide use. This is why every pharmacist must recognise and report ADRs (Chapter 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Types A and B account for most reactions. Type A reactions are about 80% of all ADRs; they are usually managed by lowering the dose. Type B reactions usually require stopping the drug and avoiding it in future. Paracetamol liver damage after an overdose is a Type A (dose-related) reaction, not a separate "chemical" type.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Types A and B account for most reactions. Type A reactions are about 80% of all ADRs; they are usually managed by lowering the dose. Type B reactions usually require stopping the drug and avoiding it in future. Paracetamol liver damage after an overdose is a Type A (dose-related) reaction, not a separate "chemical" type.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ADR is not a medication error. It can happen even when the right drug is given in the right dose. Some patients and some drug situations carry more risk. Preventable harm caused by the wrong drug, dose or monitoring is a medication error, even if it causes an ADR. Chapter 9 covers errors and how to prevent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ADR is not a medication error. It can happen even when the right drug is given in the right dose. Some patients and some drug situations carry more risk. Preventable harm caused by the wrong drug, dose or monitoring is a medication error, even if it causes an ADR. Chapter 9 covers errors and how to prevent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This is the WHO definition. A is an overdose, C an adverse event, D a medication error.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About 6.5%, or 1 in 16. B, C and D are wrong.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Allergy is unpredictable and not dose-related: Type B. A, B and C are other types.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The contraceptive failed because rifampicin induces its metabolism: Type F. A, B and D do not fit.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Old age, kidney disease and polypharmacy all raise risk. A, C and D are low-risk.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(a) Type E (end of use): adrenal insufficiency after sudden withdrawal. (b) Type C (chronic): adrenal suppression, osteoporosis. (c) Never stop steroids suddenly; the dose must be reduced gradually under medical supervision, and she should carry a steroid card.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8C3A22"/>
                </a:solidFill>
                <a:latin typeface="Cambria"/>
              </a:rPr>
              <a:t>07</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F3E6D8"/>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F3E6D8"/>
                </a:solidFill>
                <a:latin typeface="Calibri"/>
              </a:rPr>
              <a:t>DRUG INFORMATION  ·  SECTION 7</a:t>
            </a:r>
          </a:p>
          <a:p>
            <a:pPr>
              <a:spcBef>
                <a:spcPts val="1400"/>
              </a:spcBef>
            </a:pPr>
            <a:r>
              <a:rPr sz="4400" i="0" b="1">
                <a:solidFill>
                  <a:srgbClr val="FFFFFF"/>
                </a:solidFill>
                <a:latin typeface="Cambria"/>
              </a:rPr>
              <a:t>Adverse Drug Reactions</a:t>
            </a:r>
          </a:p>
          <a:p>
            <a:pPr>
              <a:spcBef>
                <a:spcPts val="1600"/>
              </a:spcBef>
            </a:pPr>
            <a:r>
              <a:rPr sz="2000" i="1" b="0">
                <a:solidFill>
                  <a:srgbClr val="F3E6D8"/>
                </a:solidFill>
                <a:latin typeface="Cambria"/>
              </a:rPr>
              <a:t>A Practical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F3E6D8"/>
                </a:solidFill>
                <a:latin typeface="Calibri"/>
              </a:rPr>
              <a:t>45-minute practical section  ·  5 questions  ·  1 practice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GOALS</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In This Section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6184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1</a:t>
            </a:r>
          </a:p>
        </p:txBody>
      </p:sp>
      <p:sp>
        <p:nvSpPr>
          <p:cNvPr id="9" name="TextBox 8"/>
          <p:cNvSpPr txBox="1"/>
          <p:nvPr/>
        </p:nvSpPr>
        <p:spPr>
          <a:xfrm>
            <a:off x="1143000" y="1636776"/>
            <a:ext cx="6629400" cy="1085850"/>
          </a:xfrm>
          <a:prstGeom prst="rect">
            <a:avLst/>
          </a:prstGeom>
          <a:noFill/>
        </p:spPr>
        <p:txBody>
          <a:bodyPr wrap="square" anchor="t" lIns="0" rIns="0" tIns="0" bIns="0">
            <a:spAutoFit/>
          </a:bodyPr>
          <a:lstStyle/>
          <a:p>
            <a:r>
              <a:rPr sz="2100" i="0" b="0">
                <a:solidFill>
                  <a:srgbClr val="2B211C"/>
                </a:solidFill>
                <a:latin typeface="Calibri"/>
              </a:rPr>
              <a:t>Define an adverse drug reaction (ADR) and a side effect.</a:t>
            </a:r>
          </a:p>
        </p:txBody>
      </p:sp>
      <p:sp>
        <p:nvSpPr>
          <p:cNvPr id="10" name="Oval 9"/>
          <p:cNvSpPr/>
          <p:nvPr/>
        </p:nvSpPr>
        <p:spPr>
          <a:xfrm>
            <a:off x="548640" y="275005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2</a:t>
            </a:r>
          </a:p>
        </p:txBody>
      </p:sp>
      <p:sp>
        <p:nvSpPr>
          <p:cNvPr id="11" name="TextBox 10"/>
          <p:cNvSpPr txBox="1"/>
          <p:nvPr/>
        </p:nvSpPr>
        <p:spPr>
          <a:xfrm>
            <a:off x="1143000" y="2768346"/>
            <a:ext cx="6629400" cy="1085850"/>
          </a:xfrm>
          <a:prstGeom prst="rect">
            <a:avLst/>
          </a:prstGeom>
          <a:noFill/>
        </p:spPr>
        <p:txBody>
          <a:bodyPr wrap="square" anchor="t" lIns="0" rIns="0" tIns="0" bIns="0">
            <a:spAutoFit/>
          </a:bodyPr>
          <a:lstStyle/>
          <a:p>
            <a:r>
              <a:rPr sz="2100" i="0" b="0">
                <a:solidFill>
                  <a:srgbClr val="2B211C"/>
                </a:solidFill>
                <a:latin typeface="Calibri"/>
              </a:rPr>
              <a:t>Describe the burden of ADRs on patients and health services.</a:t>
            </a:r>
          </a:p>
        </p:txBody>
      </p:sp>
      <p:sp>
        <p:nvSpPr>
          <p:cNvPr id="12" name="Oval 11"/>
          <p:cNvSpPr/>
          <p:nvPr/>
        </p:nvSpPr>
        <p:spPr>
          <a:xfrm>
            <a:off x="548640" y="3881627"/>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3</a:t>
            </a:r>
          </a:p>
        </p:txBody>
      </p:sp>
      <p:sp>
        <p:nvSpPr>
          <p:cNvPr id="13" name="TextBox 12"/>
          <p:cNvSpPr txBox="1"/>
          <p:nvPr/>
        </p:nvSpPr>
        <p:spPr>
          <a:xfrm>
            <a:off x="1143000" y="3899915"/>
            <a:ext cx="6629400" cy="1085850"/>
          </a:xfrm>
          <a:prstGeom prst="rect">
            <a:avLst/>
          </a:prstGeom>
          <a:noFill/>
        </p:spPr>
        <p:txBody>
          <a:bodyPr wrap="square" anchor="t" lIns="0" rIns="0" tIns="0" bIns="0">
            <a:spAutoFit/>
          </a:bodyPr>
          <a:lstStyle/>
          <a:p>
            <a:r>
              <a:rPr sz="2100" i="0" b="0">
                <a:solidFill>
                  <a:srgbClr val="2B211C"/>
                </a:solidFill>
                <a:latin typeface="Calibri"/>
              </a:rPr>
              <a:t>Classify ADRs into types A to F, with an example of each.</a:t>
            </a:r>
          </a:p>
        </p:txBody>
      </p:sp>
      <p:sp>
        <p:nvSpPr>
          <p:cNvPr id="14" name="Oval 13"/>
          <p:cNvSpPr/>
          <p:nvPr/>
        </p:nvSpPr>
        <p:spPr>
          <a:xfrm>
            <a:off x="548640" y="5013197"/>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4</a:t>
            </a:r>
          </a:p>
        </p:txBody>
      </p:sp>
      <p:sp>
        <p:nvSpPr>
          <p:cNvPr id="15" name="TextBox 14"/>
          <p:cNvSpPr txBox="1"/>
          <p:nvPr/>
        </p:nvSpPr>
        <p:spPr>
          <a:xfrm>
            <a:off x="1143000" y="5031486"/>
            <a:ext cx="6629400" cy="1085850"/>
          </a:xfrm>
          <a:prstGeom prst="rect">
            <a:avLst/>
          </a:prstGeom>
          <a:noFill/>
        </p:spPr>
        <p:txBody>
          <a:bodyPr wrap="square" anchor="t" lIns="0" rIns="0" tIns="0" bIns="0">
            <a:spAutoFit/>
          </a:bodyPr>
          <a:lstStyle/>
          <a:p>
            <a:r>
              <a:rPr sz="2100" i="0" b="0">
                <a:solidFill>
                  <a:srgbClr val="2B211C"/>
                </a:solidFill>
                <a:latin typeface="Calibri"/>
              </a:rPr>
              <a:t>List patient and drug factors that increase ADR risk.</a:t>
            </a:r>
          </a:p>
        </p:txBody>
      </p:sp>
      <p:sp>
        <p:nvSpPr>
          <p:cNvPr id="16" name="Rounded Rectangle 15"/>
          <p:cNvSpPr/>
          <p:nvPr/>
        </p:nvSpPr>
        <p:spPr>
          <a:xfrm>
            <a:off x="8366760" y="1600200"/>
            <a:ext cx="3273552" cy="4526280"/>
          </a:xfrm>
          <a:prstGeom prst="roundRect">
            <a:avLst>
              <a:gd name="adj" fmla="val 5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A4472B"/>
                </a:solidFill>
                <a:latin typeface="Cambria"/>
              </a:rPr>
              <a:t>45</a:t>
            </a:r>
          </a:p>
          <a:p>
            <a:r>
              <a:rPr sz="1200" i="0" b="1" spc="150">
                <a:solidFill>
                  <a:srgbClr val="6E625B"/>
                </a:solidFill>
                <a:latin typeface="Calibri"/>
              </a:rPr>
              <a:t>MINUTES</a:t>
            </a:r>
          </a:p>
          <a:p>
            <a:pPr>
              <a:spcBef>
                <a:spcPts val="1600"/>
              </a:spcBef>
            </a:pPr>
            <a:r>
              <a:rPr sz="5400" i="0" b="1">
                <a:solidFill>
                  <a:srgbClr val="A4472B"/>
                </a:solidFill>
                <a:latin typeface="Cambria"/>
              </a:rPr>
              <a:t>5</a:t>
            </a:r>
          </a:p>
          <a:p>
            <a:r>
              <a:rPr sz="1200" i="0" b="1" spc="150">
                <a:solidFill>
                  <a:srgbClr val="6E625B"/>
                </a:solidFill>
                <a:latin typeface="Calibri"/>
              </a:rPr>
              <a:t>QUESTIONS</a:t>
            </a:r>
          </a:p>
          <a:p>
            <a:pPr>
              <a:spcBef>
                <a:spcPts val="1600"/>
              </a:spcBef>
            </a:pPr>
            <a:r>
              <a:rPr sz="5400" i="0" b="1">
                <a:solidFill>
                  <a:srgbClr val="A4472B"/>
                </a:solidFill>
                <a:latin typeface="Cambria"/>
              </a:rPr>
              <a:t>1</a:t>
            </a:r>
          </a:p>
          <a:p>
            <a:r>
              <a:rPr sz="1200" i="0" b="1" spc="150">
                <a:solidFill>
                  <a:srgbClr val="6E625B"/>
                </a:solidFill>
                <a:latin typeface="Calibri"/>
              </a:rPr>
              <a:t>PRACTICE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Definitions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3</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3" cy="3108960"/>
        </p:xfrm>
        <a:graphic>
          <a:graphicData uri="http://schemas.openxmlformats.org/drawingml/2006/table">
            <a:tbl>
              <a:tblPr firstRow="0" bandRow="0">
                <a:tableStyleId>{5C22544A-7EE6-4342-B048-85BDC9FD1C3A}</a:tableStyleId>
              </a:tblPr>
              <a:tblGrid>
                <a:gridCol w="4622672"/>
                <a:gridCol w="2054521"/>
                <a:gridCol w="4417220"/>
              </a:tblGrid>
              <a:tr h="777240">
                <a:tc>
                  <a:txBody>
                    <a:bodyPr/>
                    <a:lstStyle/>
                    <a:p>
                      <a:r>
                        <a:rPr sz="1900" i="0" b="1">
                          <a:solidFill>
                            <a:srgbClr val="FFFFFF"/>
                          </a:solidFill>
                          <a:latin typeface="Calibri"/>
                        </a:rPr>
                        <a:t>Drug</a:t>
                      </a:r>
                    </a:p>
                  </a:txBody>
                  <a:tcPr marL="109728" marR="109728" marT="45720" marB="45720" anchor="ctr">
                    <a:solidFill>
                      <a:srgbClr val="A4472B"/>
                    </a:solidFill>
                  </a:tcPr>
                </a:tc>
                <a:tc>
                  <a:txBody>
                    <a:bodyPr/>
                    <a:lstStyle/>
                    <a:p>
                      <a:r>
                        <a:rPr sz="1900" i="0" b="1">
                          <a:solidFill>
                            <a:srgbClr val="FFFFFF"/>
                          </a:solidFill>
                          <a:latin typeface="Calibri"/>
                        </a:rPr>
                        <a:t>Side effect</a:t>
                      </a:r>
                    </a:p>
                  </a:txBody>
                  <a:tcPr marL="109728" marR="109728" marT="45720" marB="45720" anchor="ctr">
                    <a:solidFill>
                      <a:srgbClr val="A4472B"/>
                    </a:solidFill>
                  </a:tcPr>
                </a:tc>
                <a:tc>
                  <a:txBody>
                    <a:bodyPr/>
                    <a:lstStyle/>
                    <a:p>
                      <a:r>
                        <a:rPr sz="1900" i="0" b="1">
                          <a:solidFill>
                            <a:srgbClr val="FFFFFF"/>
                          </a:solidFill>
                          <a:latin typeface="Calibri"/>
                        </a:rPr>
                        <a:t>Why</a:t>
                      </a:r>
                    </a:p>
                  </a:txBody>
                  <a:tcPr marL="109728" marR="109728" marT="45720" marB="45720" anchor="ctr">
                    <a:solidFill>
                      <a:srgbClr val="A4472B"/>
                    </a:solidFill>
                  </a:tcPr>
                </a:tc>
              </a:tr>
              <a:tr h="777240">
                <a:tc>
                  <a:txBody>
                    <a:bodyPr/>
                    <a:lstStyle/>
                    <a:p>
                      <a:r>
                        <a:rPr sz="2000" i="0" b="1">
                          <a:solidFill>
                            <a:srgbClr val="2B211C"/>
                          </a:solidFill>
                          <a:latin typeface="Calibri"/>
                        </a:rPr>
                        <a:t>Older antihistamines (chlorphenamine)</a:t>
                      </a:r>
                    </a:p>
                  </a:txBody>
                  <a:tcPr marL="109728" marR="109728" marT="45720" marB="45720" anchor="ctr">
                    <a:solidFill>
                      <a:srgbClr val="FFFFFF"/>
                    </a:solidFill>
                  </a:tcPr>
                </a:tc>
                <a:tc>
                  <a:txBody>
                    <a:bodyPr/>
                    <a:lstStyle/>
                    <a:p>
                      <a:r>
                        <a:rPr sz="2000" i="0" b="0">
                          <a:solidFill>
                            <a:srgbClr val="2B211C"/>
                          </a:solidFill>
                          <a:latin typeface="Calibri"/>
                        </a:rPr>
                        <a:t>Drowsiness</a:t>
                      </a:r>
                    </a:p>
                  </a:txBody>
                  <a:tcPr marL="109728" marR="109728" marT="45720" marB="45720" anchor="ctr">
                    <a:solidFill>
                      <a:srgbClr val="FFFFFF"/>
                    </a:solidFill>
                  </a:tcPr>
                </a:tc>
                <a:tc>
                  <a:txBody>
                    <a:bodyPr/>
                    <a:lstStyle/>
                    <a:p>
                      <a:r>
                        <a:rPr sz="2000" i="0" b="0">
                          <a:solidFill>
                            <a:srgbClr val="2B211C"/>
                          </a:solidFill>
                          <a:latin typeface="Calibri"/>
                        </a:rPr>
                        <a:t>H1 block in the brain</a:t>
                      </a:r>
                    </a:p>
                  </a:txBody>
                  <a:tcPr marL="109728" marR="109728" marT="45720" marB="45720" anchor="ctr">
                    <a:solidFill>
                      <a:srgbClr val="FFFFFF"/>
                    </a:solidFill>
                  </a:tcPr>
                </a:tc>
              </a:tr>
              <a:tr h="777240">
                <a:tc>
                  <a:txBody>
                    <a:bodyPr/>
                    <a:lstStyle/>
                    <a:p>
                      <a:r>
                        <a:rPr sz="2000" i="0" b="1">
                          <a:solidFill>
                            <a:srgbClr val="2B211C"/>
                          </a:solidFill>
                          <a:latin typeface="Calibri"/>
                        </a:rPr>
                        <a:t>Opioids</a:t>
                      </a:r>
                    </a:p>
                  </a:txBody>
                  <a:tcPr marL="109728" marR="109728" marT="45720" marB="45720" anchor="ctr">
                    <a:solidFill>
                      <a:srgbClr val="FBF3EE"/>
                    </a:solidFill>
                  </a:tcPr>
                </a:tc>
                <a:tc>
                  <a:txBody>
                    <a:bodyPr/>
                    <a:lstStyle/>
                    <a:p>
                      <a:r>
                        <a:rPr sz="2000" i="0" b="0">
                          <a:solidFill>
                            <a:srgbClr val="2B211C"/>
                          </a:solidFill>
                          <a:latin typeface="Calibri"/>
                        </a:rPr>
                        <a:t>Constipation</a:t>
                      </a:r>
                    </a:p>
                  </a:txBody>
                  <a:tcPr marL="109728" marR="109728" marT="45720" marB="45720" anchor="ctr">
                    <a:solidFill>
                      <a:srgbClr val="FBF3EE"/>
                    </a:solidFill>
                  </a:tcPr>
                </a:tc>
                <a:tc>
                  <a:txBody>
                    <a:bodyPr/>
                    <a:lstStyle/>
                    <a:p>
                      <a:r>
                        <a:rPr sz="2000" i="0" b="0">
                          <a:solidFill>
                            <a:srgbClr val="2B211C"/>
                          </a:solidFill>
                          <a:latin typeface="Calibri"/>
                        </a:rPr>
                        <a:t>Opioid receptors in the gut</a:t>
                      </a:r>
                    </a:p>
                  </a:txBody>
                  <a:tcPr marL="109728" marR="109728" marT="45720" marB="45720" anchor="ctr">
                    <a:solidFill>
                      <a:srgbClr val="FBF3EE"/>
                    </a:solidFill>
                  </a:tcPr>
                </a:tc>
              </a:tr>
              <a:tr h="777240">
                <a:tc>
                  <a:txBody>
                    <a:bodyPr/>
                    <a:lstStyle/>
                    <a:p>
                      <a:r>
                        <a:rPr sz="2000" i="0" b="1">
                          <a:solidFill>
                            <a:srgbClr val="2B211C"/>
                          </a:solidFill>
                          <a:latin typeface="Calibri"/>
                        </a:rPr>
                        <a:t>Atropine-like drugs</a:t>
                      </a:r>
                    </a:p>
                  </a:txBody>
                  <a:tcPr marL="109728" marR="109728" marT="45720" marB="45720" anchor="ctr">
                    <a:solidFill>
                      <a:srgbClr val="FFFFFF"/>
                    </a:solidFill>
                  </a:tcPr>
                </a:tc>
                <a:tc>
                  <a:txBody>
                    <a:bodyPr/>
                    <a:lstStyle/>
                    <a:p>
                      <a:r>
                        <a:rPr sz="2000" i="0" b="0">
                          <a:solidFill>
                            <a:srgbClr val="2B211C"/>
                          </a:solidFill>
                          <a:latin typeface="Calibri"/>
                        </a:rPr>
                        <a:t>Dry mouth</a:t>
                      </a:r>
                    </a:p>
                  </a:txBody>
                  <a:tcPr marL="109728" marR="109728" marT="45720" marB="45720" anchor="ctr">
                    <a:solidFill>
                      <a:srgbClr val="FFFFFF"/>
                    </a:solidFill>
                  </a:tcPr>
                </a:tc>
                <a:tc>
                  <a:txBody>
                    <a:bodyPr/>
                    <a:lstStyle/>
                    <a:p>
                      <a:r>
                        <a:rPr sz="2000" i="0" b="0">
                          <a:solidFill>
                            <a:srgbClr val="2B211C"/>
                          </a:solidFill>
                          <a:latin typeface="Calibri"/>
                        </a:rPr>
                        <a:t>Muscarinic block in salivary glands</a:t>
                      </a:r>
                    </a:p>
                  </a:txBody>
                  <a:tcPr marL="109728" marR="109728" marT="45720" marB="45720" anchor="ct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Definitions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4</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6184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1</a:t>
            </a:r>
          </a:p>
        </p:txBody>
      </p:sp>
      <p:sp>
        <p:nvSpPr>
          <p:cNvPr id="9" name="TextBox 8"/>
          <p:cNvSpPr txBox="1"/>
          <p:nvPr/>
        </p:nvSpPr>
        <p:spPr>
          <a:xfrm>
            <a:off x="1143000" y="1636776"/>
            <a:ext cx="10500055" cy="1237488"/>
          </a:xfrm>
          <a:prstGeom prst="rect">
            <a:avLst/>
          </a:prstGeom>
          <a:noFill/>
        </p:spPr>
        <p:txBody>
          <a:bodyPr wrap="square" anchor="t" lIns="0" rIns="0" tIns="0" bIns="0">
            <a:spAutoFit/>
          </a:bodyPr>
          <a:lstStyle/>
          <a:p>
            <a:r>
              <a:rPr sz="2400" i="0" b="1">
                <a:solidFill>
                  <a:srgbClr val="2B211C"/>
                </a:solidFill>
                <a:latin typeface="Calibri"/>
              </a:rPr>
              <a:t>Adverse event:</a:t>
            </a:r>
            <a:r>
              <a:rPr sz="2400" i="0" b="0">
                <a:solidFill>
                  <a:srgbClr val="2B211C"/>
                </a:solidFill>
                <a:latin typeface="Calibri"/>
              </a:rPr>
              <a:t> any harm during treatment, whether or not the drug caused it.</a:t>
            </a:r>
          </a:p>
        </p:txBody>
      </p:sp>
      <p:sp>
        <p:nvSpPr>
          <p:cNvPr id="10" name="Oval 9"/>
          <p:cNvSpPr/>
          <p:nvPr/>
        </p:nvSpPr>
        <p:spPr>
          <a:xfrm>
            <a:off x="548640" y="2901696"/>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2</a:t>
            </a:r>
          </a:p>
        </p:txBody>
      </p:sp>
      <p:sp>
        <p:nvSpPr>
          <p:cNvPr id="11" name="TextBox 10"/>
          <p:cNvSpPr txBox="1"/>
          <p:nvPr/>
        </p:nvSpPr>
        <p:spPr>
          <a:xfrm>
            <a:off x="1143000" y="2919984"/>
            <a:ext cx="10500055" cy="856488"/>
          </a:xfrm>
          <a:prstGeom prst="rect">
            <a:avLst/>
          </a:prstGeom>
          <a:noFill/>
        </p:spPr>
        <p:txBody>
          <a:bodyPr wrap="square" anchor="t" lIns="0" rIns="0" tIns="0" bIns="0">
            <a:spAutoFit/>
          </a:bodyPr>
          <a:lstStyle/>
          <a:p>
            <a:r>
              <a:rPr sz="2400" i="0" b="1">
                <a:solidFill>
                  <a:srgbClr val="2B211C"/>
                </a:solidFill>
                <a:latin typeface="Calibri"/>
              </a:rPr>
              <a:t>Adverse drug reaction:</a:t>
            </a:r>
            <a:r>
              <a:rPr sz="2400" i="0" b="0">
                <a:solidFill>
                  <a:srgbClr val="2B211C"/>
                </a:solidFill>
                <a:latin typeface="Calibri"/>
              </a:rPr>
              <a:t> harm that the drug probably caused.</a:t>
            </a:r>
          </a:p>
        </p:txBody>
      </p:sp>
      <p:sp>
        <p:nvSpPr>
          <p:cNvPr id="12" name="Oval 11"/>
          <p:cNvSpPr/>
          <p:nvPr/>
        </p:nvSpPr>
        <p:spPr>
          <a:xfrm>
            <a:off x="548640" y="3803903"/>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3</a:t>
            </a:r>
          </a:p>
        </p:txBody>
      </p:sp>
      <p:sp>
        <p:nvSpPr>
          <p:cNvPr id="13" name="TextBox 12"/>
          <p:cNvSpPr txBox="1"/>
          <p:nvPr/>
        </p:nvSpPr>
        <p:spPr>
          <a:xfrm>
            <a:off x="1143000" y="3822191"/>
            <a:ext cx="10500055" cy="856488"/>
          </a:xfrm>
          <a:prstGeom prst="rect">
            <a:avLst/>
          </a:prstGeom>
          <a:noFill/>
        </p:spPr>
        <p:txBody>
          <a:bodyPr wrap="square" anchor="t" lIns="0" rIns="0" tIns="0" bIns="0">
            <a:spAutoFit/>
          </a:bodyPr>
          <a:lstStyle/>
          <a:p>
            <a:r>
              <a:rPr sz="2400" i="0" b="1">
                <a:solidFill>
                  <a:srgbClr val="2B211C"/>
                </a:solidFill>
                <a:latin typeface="Calibri"/>
              </a:rPr>
              <a:t>Medication error:</a:t>
            </a:r>
            <a:r>
              <a:rPr sz="2400" i="0" b="0">
                <a:solidFill>
                  <a:srgbClr val="2B211C"/>
                </a:solidFill>
                <a:latin typeface="Calibri"/>
              </a:rPr>
              <a:t> a preventable mistake in using a drug (Chapter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Burden of ADRs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5</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618488"/>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1</a:t>
            </a:r>
          </a:p>
        </p:txBody>
      </p:sp>
      <p:sp>
        <p:nvSpPr>
          <p:cNvPr id="9" name="TextBox 8"/>
          <p:cNvSpPr txBox="1"/>
          <p:nvPr/>
        </p:nvSpPr>
        <p:spPr>
          <a:xfrm>
            <a:off x="1143000" y="1636776"/>
            <a:ext cx="10500055" cy="856488"/>
          </a:xfrm>
          <a:prstGeom prst="rect">
            <a:avLst/>
          </a:prstGeom>
          <a:noFill/>
        </p:spPr>
        <p:txBody>
          <a:bodyPr wrap="square" anchor="t" lIns="0" rIns="0" tIns="0" bIns="0">
            <a:spAutoFit/>
          </a:bodyPr>
          <a:lstStyle/>
          <a:p>
            <a:r>
              <a:rPr sz="2400" i="0" b="0">
                <a:solidFill>
                  <a:srgbClr val="2B211C"/>
                </a:solidFill>
                <a:latin typeface="Calibri"/>
              </a:rPr>
              <a:t>ADRs are common and costly.</a:t>
            </a:r>
          </a:p>
        </p:txBody>
      </p:sp>
      <p:sp>
        <p:nvSpPr>
          <p:cNvPr id="10" name="Oval 9"/>
          <p:cNvSpPr/>
          <p:nvPr/>
        </p:nvSpPr>
        <p:spPr>
          <a:xfrm>
            <a:off x="548640" y="2520696"/>
            <a:ext cx="402336" cy="402336"/>
          </a:xfrm>
          <a:prstGeom prst="ellipse">
            <a:avLst/>
          </a:prstGeom>
          <a:solidFill>
            <a:srgbClr val="E0EE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2F6F7A"/>
                </a:solidFill>
                <a:latin typeface="Calibri"/>
              </a:rPr>
              <a:t>2</a:t>
            </a:r>
          </a:p>
        </p:txBody>
      </p:sp>
      <p:sp>
        <p:nvSpPr>
          <p:cNvPr id="11" name="TextBox 10"/>
          <p:cNvSpPr txBox="1"/>
          <p:nvPr/>
        </p:nvSpPr>
        <p:spPr>
          <a:xfrm>
            <a:off x="1143000" y="2538984"/>
            <a:ext cx="10500055" cy="1237488"/>
          </a:xfrm>
          <a:prstGeom prst="rect">
            <a:avLst/>
          </a:prstGeom>
          <a:noFill/>
        </p:spPr>
        <p:txBody>
          <a:bodyPr wrap="square" anchor="t" lIns="0" rIns="0" tIns="0" bIns="0">
            <a:spAutoFit/>
          </a:bodyPr>
          <a:lstStyle/>
          <a:p>
            <a:r>
              <a:rPr sz="2400" i="0" b="0">
                <a:solidFill>
                  <a:srgbClr val="2B211C"/>
                </a:solidFill>
                <a:latin typeface="Calibri"/>
              </a:rPr>
              <a:t>Because trials before marketing are small and short, many ADRs are found only after a drug is in wide 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Types of ADR: A to F</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6</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4" cy="4526277"/>
        </p:xfrm>
        <a:graphic>
          <a:graphicData uri="http://schemas.openxmlformats.org/drawingml/2006/table">
            <a:tbl>
              <a:tblPr firstRow="0" bandRow="0">
                <a:tableStyleId>{5C22544A-7EE6-4342-B048-85BDC9FD1C3A}</a:tableStyleId>
              </a:tblPr>
              <a:tblGrid>
                <a:gridCol w="843435"/>
                <a:gridCol w="1427351"/>
                <a:gridCol w="4411814"/>
                <a:gridCol w="4411814"/>
              </a:tblGrid>
              <a:tr h="646611">
                <a:tc>
                  <a:txBody>
                    <a:bodyPr/>
                    <a:lstStyle/>
                    <a:p>
                      <a:r>
                        <a:rPr sz="1300" i="0" b="1">
                          <a:solidFill>
                            <a:srgbClr val="FFFFFF"/>
                          </a:solidFill>
                          <a:latin typeface="Calibri"/>
                        </a:rPr>
                        <a:t>Type</a:t>
                      </a:r>
                    </a:p>
                  </a:txBody>
                  <a:tcPr marL="109728" marR="109728" marT="45720" marB="45720" anchor="ctr">
                    <a:solidFill>
                      <a:srgbClr val="A4472B"/>
                    </a:solidFill>
                  </a:tcPr>
                </a:tc>
                <a:tc>
                  <a:txBody>
                    <a:bodyPr/>
                    <a:lstStyle/>
                    <a:p>
                      <a:r>
                        <a:rPr sz="1300" i="0" b="1">
                          <a:solidFill>
                            <a:srgbClr val="FFFFFF"/>
                          </a:solidFill>
                          <a:latin typeface="Calibri"/>
                        </a:rPr>
                        <a:t>Name</a:t>
                      </a:r>
                    </a:p>
                  </a:txBody>
                  <a:tcPr marL="109728" marR="109728" marT="45720" marB="45720" anchor="ctr">
                    <a:solidFill>
                      <a:srgbClr val="A4472B"/>
                    </a:solidFill>
                  </a:tcPr>
                </a:tc>
                <a:tc>
                  <a:txBody>
                    <a:bodyPr/>
                    <a:lstStyle/>
                    <a:p>
                      <a:r>
                        <a:rPr sz="1300" i="0" b="1">
                          <a:solidFill>
                            <a:srgbClr val="FFFFFF"/>
                          </a:solidFill>
                          <a:latin typeface="Calibri"/>
                        </a:rPr>
                        <a:t>Key features</a:t>
                      </a:r>
                    </a:p>
                  </a:txBody>
                  <a:tcPr marL="109728" marR="109728" marT="45720" marB="45720" anchor="ctr">
                    <a:solidFill>
                      <a:srgbClr val="A4472B"/>
                    </a:solidFill>
                  </a:tcPr>
                </a:tc>
                <a:tc>
                  <a:txBody>
                    <a:bodyPr/>
                    <a:lstStyle/>
                    <a:p>
                      <a:r>
                        <a:rPr sz="1300" i="0" b="1">
                          <a:solidFill>
                            <a:srgbClr val="FFFFFF"/>
                          </a:solidFill>
                          <a:latin typeface="Calibri"/>
                        </a:rPr>
                        <a:t>Example</a:t>
                      </a:r>
                    </a:p>
                  </a:txBody>
                  <a:tcPr marL="109728" marR="109728" marT="45720" marB="45720" anchor="ctr">
                    <a:solidFill>
                      <a:srgbClr val="A4472B"/>
                    </a:solidFill>
                  </a:tcPr>
                </a:tc>
              </a:tr>
              <a:tr h="646611">
                <a:tc>
                  <a:txBody>
                    <a:bodyPr/>
                    <a:lstStyle/>
                    <a:p>
                      <a:r>
                        <a:rPr sz="1400" i="0" b="1">
                          <a:solidFill>
                            <a:srgbClr val="2B211C"/>
                          </a:solidFill>
                          <a:latin typeface="Calibri"/>
                        </a:rPr>
                        <a:t>A</a:t>
                      </a:r>
                    </a:p>
                  </a:txBody>
                  <a:tcPr marL="109728" marR="109728" marT="45720" marB="45720" anchor="ctr">
                    <a:solidFill>
                      <a:srgbClr val="FFFFFF"/>
                    </a:solidFill>
                  </a:tcPr>
                </a:tc>
                <a:tc>
                  <a:txBody>
                    <a:bodyPr/>
                    <a:lstStyle/>
                    <a:p>
                      <a:r>
                        <a:rPr sz="1400" i="0" b="1">
                          <a:solidFill>
                            <a:srgbClr val="2B211C"/>
                          </a:solidFill>
                          <a:latin typeface="Calibri"/>
                        </a:rPr>
                        <a:t>Augmented</a:t>
                      </a:r>
                    </a:p>
                  </a:txBody>
                  <a:tcPr marL="109728" marR="109728" marT="45720" marB="45720" anchor="ctr">
                    <a:solidFill>
                      <a:srgbClr val="FFFFFF"/>
                    </a:solidFill>
                  </a:tcPr>
                </a:tc>
                <a:tc>
                  <a:txBody>
                    <a:bodyPr/>
                    <a:lstStyle/>
                    <a:p>
                      <a:r>
                        <a:rPr sz="1400" i="0" b="0">
                          <a:solidFill>
                            <a:srgbClr val="2B211C"/>
                          </a:solidFill>
                          <a:latin typeface="Calibri"/>
                        </a:rPr>
                        <a:t>Predictable from pharmacology; dose-related; common; rarely fatal</a:t>
                      </a:r>
                    </a:p>
                  </a:txBody>
                  <a:tcPr marL="109728" marR="109728" marT="45720" marB="45720" anchor="ctr">
                    <a:solidFill>
                      <a:srgbClr val="FFFFFF"/>
                    </a:solidFill>
                  </a:tcPr>
                </a:tc>
                <a:tc>
                  <a:txBody>
                    <a:bodyPr/>
                    <a:lstStyle/>
                    <a:p>
                      <a:r>
                        <a:rPr sz="1400" i="0" b="0">
                          <a:solidFill>
                            <a:srgbClr val="2B211C"/>
                          </a:solidFill>
                          <a:latin typeface="Calibri"/>
                        </a:rPr>
                        <a:t>Bleeding with warfarin; bradycardia with beta-blockers; headache with nitrates; postural hypotension with prazosin</a:t>
                      </a:r>
                    </a:p>
                  </a:txBody>
                  <a:tcPr marL="109728" marR="109728" marT="45720" marB="45720" anchor="ctr">
                    <a:solidFill>
                      <a:srgbClr val="FFFFFF"/>
                    </a:solidFill>
                  </a:tcPr>
                </a:tc>
              </a:tr>
              <a:tr h="646611">
                <a:tc>
                  <a:txBody>
                    <a:bodyPr/>
                    <a:lstStyle/>
                    <a:p>
                      <a:r>
                        <a:rPr sz="1400" i="0" b="1">
                          <a:solidFill>
                            <a:srgbClr val="2B211C"/>
                          </a:solidFill>
                          <a:latin typeface="Calibri"/>
                        </a:rPr>
                        <a:t>B</a:t>
                      </a:r>
                    </a:p>
                  </a:txBody>
                  <a:tcPr marL="109728" marR="109728" marT="45720" marB="45720" anchor="ctr">
                    <a:solidFill>
                      <a:srgbClr val="FBF3EE"/>
                    </a:solidFill>
                  </a:tcPr>
                </a:tc>
                <a:tc>
                  <a:txBody>
                    <a:bodyPr/>
                    <a:lstStyle/>
                    <a:p>
                      <a:r>
                        <a:rPr sz="1400" i="0" b="1">
                          <a:solidFill>
                            <a:srgbClr val="2B211C"/>
                          </a:solidFill>
                          <a:latin typeface="Calibri"/>
                        </a:rPr>
                        <a:t>Bizarre</a:t>
                      </a:r>
                    </a:p>
                  </a:txBody>
                  <a:tcPr marL="109728" marR="109728" marT="45720" marB="45720" anchor="ctr">
                    <a:solidFill>
                      <a:srgbClr val="FBF3EE"/>
                    </a:solidFill>
                  </a:tcPr>
                </a:tc>
                <a:tc>
                  <a:txBody>
                    <a:bodyPr/>
                    <a:lstStyle/>
                    <a:p>
                      <a:r>
                        <a:rPr sz="1400" i="0" b="0">
                          <a:solidFill>
                            <a:srgbClr val="2B211C"/>
                          </a:solidFill>
                          <a:latin typeface="Calibri"/>
                        </a:rPr>
                        <a:t>Not predictable; not dose-related; uncommon; can be serious; depends on the patient (allergy, genetics)</a:t>
                      </a:r>
                    </a:p>
                  </a:txBody>
                  <a:tcPr marL="109728" marR="109728" marT="45720" marB="45720" anchor="ctr">
                    <a:solidFill>
                      <a:srgbClr val="FBF3EE"/>
                    </a:solidFill>
                  </a:tcPr>
                </a:tc>
                <a:tc>
                  <a:txBody>
                    <a:bodyPr/>
                    <a:lstStyle/>
                    <a:p>
                      <a:r>
                        <a:rPr sz="1400" i="0" b="0">
                          <a:solidFill>
                            <a:srgbClr val="2B211C"/>
                          </a:solidFill>
                          <a:latin typeface="Calibri"/>
                        </a:rPr>
                        <a:t>Anaphylaxis with penicillin; hypersensitivity with carbamazepine</a:t>
                      </a:r>
                    </a:p>
                  </a:txBody>
                  <a:tcPr marL="109728" marR="109728" marT="45720" marB="45720" anchor="ctr">
                    <a:solidFill>
                      <a:srgbClr val="FBF3EE"/>
                    </a:solidFill>
                  </a:tcPr>
                </a:tc>
              </a:tr>
              <a:tr h="646611">
                <a:tc>
                  <a:txBody>
                    <a:bodyPr/>
                    <a:lstStyle/>
                    <a:p>
                      <a:r>
                        <a:rPr sz="1400" i="0" b="1">
                          <a:solidFill>
                            <a:srgbClr val="2B211C"/>
                          </a:solidFill>
                          <a:latin typeface="Calibri"/>
                        </a:rPr>
                        <a:t>C</a:t>
                      </a:r>
                    </a:p>
                  </a:txBody>
                  <a:tcPr marL="109728" marR="109728" marT="45720" marB="45720" anchor="ctr">
                    <a:solidFill>
                      <a:srgbClr val="FFFFFF"/>
                    </a:solidFill>
                  </a:tcPr>
                </a:tc>
                <a:tc>
                  <a:txBody>
                    <a:bodyPr/>
                    <a:lstStyle/>
                    <a:p>
                      <a:r>
                        <a:rPr sz="1400" i="0" b="1">
                          <a:solidFill>
                            <a:srgbClr val="2B211C"/>
                          </a:solidFill>
                          <a:latin typeface="Calibri"/>
                        </a:rPr>
                        <a:t>Chronic</a:t>
                      </a:r>
                    </a:p>
                  </a:txBody>
                  <a:tcPr marL="109728" marR="109728" marT="45720" marB="45720" anchor="ctr">
                    <a:solidFill>
                      <a:srgbClr val="FFFFFF"/>
                    </a:solidFill>
                  </a:tcPr>
                </a:tc>
                <a:tc>
                  <a:txBody>
                    <a:bodyPr/>
                    <a:lstStyle/>
                    <a:p>
                      <a:r>
                        <a:rPr sz="1400" i="0" b="0">
                          <a:solidFill>
                            <a:srgbClr val="2B211C"/>
                          </a:solidFill>
                          <a:latin typeface="Calibri"/>
                        </a:rPr>
                        <a:t>Related to dose </a:t>
                      </a:r>
                      <a:r>
                        <a:rPr sz="1400" i="0" b="1">
                          <a:solidFill>
                            <a:srgbClr val="2B211C"/>
                          </a:solidFill>
                          <a:latin typeface="Calibri"/>
                        </a:rPr>
                        <a:t>and</a:t>
                      </a:r>
                      <a:r>
                        <a:rPr sz="1400" i="0" b="0">
                          <a:solidFill>
                            <a:srgbClr val="2B211C"/>
                          </a:solidFill>
                          <a:latin typeface="Calibri"/>
                        </a:rPr>
                        <a:t> time; appears with long use</a:t>
                      </a:r>
                    </a:p>
                  </a:txBody>
                  <a:tcPr marL="109728" marR="109728" marT="45720" marB="45720" anchor="ctr">
                    <a:solidFill>
                      <a:srgbClr val="FFFFFF"/>
                    </a:solidFill>
                  </a:tcPr>
                </a:tc>
                <a:tc>
                  <a:txBody>
                    <a:bodyPr/>
                    <a:lstStyle/>
                    <a:p>
                      <a:r>
                        <a:rPr sz="1400" i="0" b="0">
                          <a:solidFill>
                            <a:srgbClr val="2B211C"/>
                          </a:solidFill>
                          <a:latin typeface="Calibri"/>
                        </a:rPr>
                        <a:t>Adrenal suppression with long-term corticosteroids</a:t>
                      </a:r>
                    </a:p>
                  </a:txBody>
                  <a:tcPr marL="109728" marR="109728" marT="45720" marB="45720" anchor="ctr">
                    <a:solidFill>
                      <a:srgbClr val="FFFFFF"/>
                    </a:solidFill>
                  </a:tcPr>
                </a:tc>
              </a:tr>
              <a:tr h="646611">
                <a:tc>
                  <a:txBody>
                    <a:bodyPr/>
                    <a:lstStyle/>
                    <a:p>
                      <a:r>
                        <a:rPr sz="1400" i="0" b="1">
                          <a:solidFill>
                            <a:srgbClr val="2B211C"/>
                          </a:solidFill>
                          <a:latin typeface="Calibri"/>
                        </a:rPr>
                        <a:t>D</a:t>
                      </a:r>
                    </a:p>
                  </a:txBody>
                  <a:tcPr marL="109728" marR="109728" marT="45720" marB="45720" anchor="ctr">
                    <a:solidFill>
                      <a:srgbClr val="FBF3EE"/>
                    </a:solidFill>
                  </a:tcPr>
                </a:tc>
                <a:tc>
                  <a:txBody>
                    <a:bodyPr/>
                    <a:lstStyle/>
                    <a:p>
                      <a:r>
                        <a:rPr sz="1400" i="0" b="1">
                          <a:solidFill>
                            <a:srgbClr val="2B211C"/>
                          </a:solidFill>
                          <a:latin typeface="Calibri"/>
                        </a:rPr>
                        <a:t>Delayed</a:t>
                      </a:r>
                    </a:p>
                  </a:txBody>
                  <a:tcPr marL="109728" marR="109728" marT="45720" marB="45720" anchor="ctr">
                    <a:solidFill>
                      <a:srgbClr val="FBF3EE"/>
                    </a:solidFill>
                  </a:tcPr>
                </a:tc>
                <a:tc>
                  <a:txBody>
                    <a:bodyPr/>
                    <a:lstStyle/>
                    <a:p>
                      <a:r>
                        <a:rPr sz="1400" i="0" b="0">
                          <a:solidFill>
                            <a:srgbClr val="2B211C"/>
                          </a:solidFill>
                          <a:latin typeface="Calibri"/>
                        </a:rPr>
                        <a:t>Appears long after the drug is started, or even after it is stopped</a:t>
                      </a:r>
                    </a:p>
                  </a:txBody>
                  <a:tcPr marL="109728" marR="109728" marT="45720" marB="45720" anchor="ctr">
                    <a:solidFill>
                      <a:srgbClr val="FBF3EE"/>
                    </a:solidFill>
                  </a:tcPr>
                </a:tc>
                <a:tc>
                  <a:txBody>
                    <a:bodyPr/>
                    <a:lstStyle/>
                    <a:p>
                      <a:r>
                        <a:rPr sz="1400" i="0" b="0">
                          <a:solidFill>
                            <a:srgbClr val="2B211C"/>
                          </a:solidFill>
                          <a:latin typeface="Calibri"/>
                        </a:rPr>
                        <a:t>Birth defects with isotretinoin; tardive dyskinesia with antipsychotics; cancers after some cytotoxics</a:t>
                      </a:r>
                    </a:p>
                  </a:txBody>
                  <a:tcPr marL="109728" marR="109728" marT="45720" marB="45720" anchor="ctr">
                    <a:solidFill>
                      <a:srgbClr val="FBF3EE"/>
                    </a:solidFill>
                  </a:tcPr>
                </a:tc>
              </a:tr>
              <a:tr h="646611">
                <a:tc>
                  <a:txBody>
                    <a:bodyPr/>
                    <a:lstStyle/>
                    <a:p>
                      <a:r>
                        <a:rPr sz="1400" i="0" b="1">
                          <a:solidFill>
                            <a:srgbClr val="2B211C"/>
                          </a:solidFill>
                          <a:latin typeface="Calibri"/>
                        </a:rPr>
                        <a:t>E</a:t>
                      </a:r>
                    </a:p>
                  </a:txBody>
                  <a:tcPr marL="109728" marR="109728" marT="45720" marB="45720" anchor="ctr">
                    <a:solidFill>
                      <a:srgbClr val="FFFFFF"/>
                    </a:solidFill>
                  </a:tcPr>
                </a:tc>
                <a:tc>
                  <a:txBody>
                    <a:bodyPr/>
                    <a:lstStyle/>
                    <a:p>
                      <a:r>
                        <a:rPr sz="1400" i="0" b="1">
                          <a:solidFill>
                            <a:srgbClr val="2B211C"/>
                          </a:solidFill>
                          <a:latin typeface="Calibri"/>
                        </a:rPr>
                        <a:t>End of use</a:t>
                      </a:r>
                    </a:p>
                  </a:txBody>
                  <a:tcPr marL="109728" marR="109728" marT="45720" marB="45720" anchor="ctr">
                    <a:solidFill>
                      <a:srgbClr val="FFFFFF"/>
                    </a:solidFill>
                  </a:tcPr>
                </a:tc>
                <a:tc>
                  <a:txBody>
                    <a:bodyPr/>
                    <a:lstStyle/>
                    <a:p>
                      <a:r>
                        <a:rPr sz="1400" i="0" b="0">
                          <a:solidFill>
                            <a:srgbClr val="2B211C"/>
                          </a:solidFill>
                          <a:latin typeface="Calibri"/>
                        </a:rPr>
                        <a:t>Appears when the drug is stopped, especially suddenly</a:t>
                      </a:r>
                    </a:p>
                  </a:txBody>
                  <a:tcPr marL="109728" marR="109728" marT="45720" marB="45720" anchor="ctr">
                    <a:solidFill>
                      <a:srgbClr val="FFFFFF"/>
                    </a:solidFill>
                  </a:tcPr>
                </a:tc>
                <a:tc>
                  <a:txBody>
                    <a:bodyPr/>
                    <a:lstStyle/>
                    <a:p>
                      <a:r>
                        <a:rPr sz="1400" i="0" b="0">
                          <a:solidFill>
                            <a:srgbClr val="2B211C"/>
                          </a:solidFill>
                          <a:latin typeface="Calibri"/>
                        </a:rPr>
                        <a:t>Seizures after sudden phenytoin withdrawal; adrenal crisis after stopping steroids; rebound tachycardia after stopping beta-blockers</a:t>
                      </a:r>
                    </a:p>
                  </a:txBody>
                  <a:tcPr marL="109728" marR="109728" marT="45720" marB="45720" anchor="ctr">
                    <a:solidFill>
                      <a:srgbClr val="FFFFFF"/>
                    </a:solidFill>
                  </a:tcPr>
                </a:tc>
              </a:tr>
              <a:tr h="646611">
                <a:tc>
                  <a:txBody>
                    <a:bodyPr/>
                    <a:lstStyle/>
                    <a:p>
                      <a:r>
                        <a:rPr sz="1400" i="0" b="1">
                          <a:solidFill>
                            <a:srgbClr val="2B211C"/>
                          </a:solidFill>
                          <a:latin typeface="Calibri"/>
                        </a:rPr>
                        <a:t>F</a:t>
                      </a:r>
                    </a:p>
                  </a:txBody>
                  <a:tcPr marL="109728" marR="109728" marT="45720" marB="45720" anchor="ctr">
                    <a:solidFill>
                      <a:srgbClr val="FBF3EE"/>
                    </a:solidFill>
                  </a:tcPr>
                </a:tc>
                <a:tc>
                  <a:txBody>
                    <a:bodyPr/>
                    <a:lstStyle/>
                    <a:p>
                      <a:r>
                        <a:rPr sz="1400" i="0" b="1">
                          <a:solidFill>
                            <a:srgbClr val="2B211C"/>
                          </a:solidFill>
                          <a:latin typeface="Calibri"/>
                        </a:rPr>
                        <a:t>Failure</a:t>
                      </a:r>
                    </a:p>
                  </a:txBody>
                  <a:tcPr marL="109728" marR="109728" marT="45720" marB="45720" anchor="ctr">
                    <a:solidFill>
                      <a:srgbClr val="FBF3EE"/>
                    </a:solidFill>
                  </a:tcPr>
                </a:tc>
                <a:tc>
                  <a:txBody>
                    <a:bodyPr/>
                    <a:lstStyle/>
                    <a:p>
                      <a:r>
                        <a:rPr sz="1400" i="0" b="0">
                          <a:solidFill>
                            <a:srgbClr val="2B211C"/>
                          </a:solidFill>
                          <a:latin typeface="Calibri"/>
                        </a:rPr>
                        <a:t>Unexpected failure of therapy, often from an interaction</a:t>
                      </a:r>
                    </a:p>
                  </a:txBody>
                  <a:tcPr marL="109728" marR="109728" marT="45720" marB="45720" anchor="ctr">
                    <a:solidFill>
                      <a:srgbClr val="FBF3EE"/>
                    </a:solidFill>
                  </a:tcPr>
                </a:tc>
                <a:tc>
                  <a:txBody>
                    <a:bodyPr/>
                    <a:lstStyle/>
                    <a:p>
                      <a:r>
                        <a:rPr sz="1400" i="0" b="0">
                          <a:solidFill>
                            <a:srgbClr val="2B211C"/>
                          </a:solidFill>
                          <a:latin typeface="Calibri"/>
                        </a:rPr>
                        <a:t>Failure of oral contraceptives with enzyme inducers such as rifampicin; antimicrobial resistance</a:t>
                      </a:r>
                    </a:p>
                  </a:txBody>
                  <a:tcPr marL="109728" marR="109728" marT="45720" marB="45720" anchor="ctr">
                    <a:solidFill>
                      <a:srgbClr val="FBF3EE"/>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Types of ADR: A to F</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7</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996695" cy="310896"/>
          </a:xfrm>
          <a:prstGeom prst="roundRect">
            <a:avLst>
              <a:gd name="adj" fmla="val 50000"/>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i="0" b="1" spc="100">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A = Augmented, B = Bizarre, C = Chronic, D = Delayed, E = End of use, F = Failure.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Who Is at Risk?</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8</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600200"/>
          <a:ext cx="11094414" cy="4526280"/>
        </p:xfrm>
        <a:graphic>
          <a:graphicData uri="http://schemas.openxmlformats.org/drawingml/2006/table">
            <a:tbl>
              <a:tblPr firstRow="0" bandRow="0">
                <a:tableStyleId>{5C22544A-7EE6-4342-B048-85BDC9FD1C3A}</a:tableStyleId>
              </a:tblPr>
              <a:tblGrid>
                <a:gridCol w="5765601"/>
                <a:gridCol w="5328813"/>
              </a:tblGrid>
              <a:tr h="565785">
                <a:tc>
                  <a:txBody>
                    <a:bodyPr/>
                    <a:lstStyle/>
                    <a:p>
                      <a:r>
                        <a:rPr sz="1700" i="0" b="1">
                          <a:solidFill>
                            <a:srgbClr val="FFFFFF"/>
                          </a:solidFill>
                          <a:latin typeface="Calibri"/>
                        </a:rPr>
                        <a:t>Patient factors</a:t>
                      </a:r>
                    </a:p>
                  </a:txBody>
                  <a:tcPr marL="109728" marR="109728" marT="45720" marB="45720" anchor="ctr">
                    <a:solidFill>
                      <a:srgbClr val="A4472B"/>
                    </a:solidFill>
                  </a:tcPr>
                </a:tc>
                <a:tc>
                  <a:txBody>
                    <a:bodyPr/>
                    <a:lstStyle/>
                    <a:p>
                      <a:r>
                        <a:rPr sz="1700" i="0" b="1">
                          <a:solidFill>
                            <a:srgbClr val="FFFFFF"/>
                          </a:solidFill>
                          <a:latin typeface="Calibri"/>
                        </a:rPr>
                        <a:t>Drug and use factors</a:t>
                      </a:r>
                    </a:p>
                  </a:txBody>
                  <a:tcPr marL="109728" marR="109728" marT="45720" marB="45720" anchor="ctr">
                    <a:solidFill>
                      <a:srgbClr val="A4472B"/>
                    </a:solidFill>
                  </a:tcPr>
                </a:tc>
              </a:tr>
              <a:tr h="565785">
                <a:tc>
                  <a:txBody>
                    <a:bodyPr/>
                    <a:lstStyle/>
                    <a:p>
                      <a:r>
                        <a:rPr sz="1800" i="0" b="1">
                          <a:solidFill>
                            <a:srgbClr val="2B211C"/>
                          </a:solidFill>
                          <a:latin typeface="Calibri"/>
                        </a:rPr>
                        <a:t>Very young or old age</a:t>
                      </a:r>
                    </a:p>
                  </a:txBody>
                  <a:tcPr marL="109728" marR="109728" marT="45720" marB="45720" anchor="ctr">
                    <a:solidFill>
                      <a:srgbClr val="FFFFFF"/>
                    </a:solidFill>
                  </a:tcPr>
                </a:tc>
                <a:tc>
                  <a:txBody>
                    <a:bodyPr/>
                    <a:lstStyle/>
                    <a:p>
                      <a:r>
                        <a:rPr sz="1800" i="0" b="0">
                          <a:solidFill>
                            <a:srgbClr val="2B211C"/>
                          </a:solidFill>
                          <a:latin typeface="Calibri"/>
                        </a:rPr>
                        <a:t>Narrow therapeutic index (warfarin, digoxin, lithium)</a:t>
                      </a:r>
                    </a:p>
                  </a:txBody>
                  <a:tcPr marL="109728" marR="109728" marT="45720" marB="45720" anchor="ctr">
                    <a:solidFill>
                      <a:srgbClr val="FFFFFF"/>
                    </a:solidFill>
                  </a:tcPr>
                </a:tc>
              </a:tr>
              <a:tr h="565785">
                <a:tc>
                  <a:txBody>
                    <a:bodyPr/>
                    <a:lstStyle/>
                    <a:p>
                      <a:r>
                        <a:rPr sz="1800" i="0" b="1">
                          <a:solidFill>
                            <a:srgbClr val="2B211C"/>
                          </a:solidFill>
                          <a:latin typeface="Calibri"/>
                        </a:rPr>
                        <a:t>Female sex</a:t>
                      </a:r>
                    </a:p>
                  </a:txBody>
                  <a:tcPr marL="109728" marR="109728" marT="45720" marB="45720" anchor="ctr">
                    <a:solidFill>
                      <a:srgbClr val="FBF3EE"/>
                    </a:solidFill>
                  </a:tcPr>
                </a:tc>
                <a:tc>
                  <a:txBody>
                    <a:bodyPr/>
                    <a:lstStyle/>
                    <a:p>
                      <a:r>
                        <a:rPr sz="1800" i="0" b="0">
                          <a:solidFill>
                            <a:srgbClr val="2B211C"/>
                          </a:solidFill>
                          <a:latin typeface="Calibri"/>
                        </a:rPr>
                        <a:t>Many drugs together (polypharmacy) and interactions</a:t>
                      </a:r>
                    </a:p>
                  </a:txBody>
                  <a:tcPr marL="109728" marR="109728" marT="45720" marB="45720" anchor="ctr">
                    <a:solidFill>
                      <a:srgbClr val="FBF3EE"/>
                    </a:solidFill>
                  </a:tcPr>
                </a:tc>
              </a:tr>
              <a:tr h="565785">
                <a:tc>
                  <a:txBody>
                    <a:bodyPr/>
                    <a:lstStyle/>
                    <a:p>
                      <a:r>
                        <a:rPr sz="1800" i="0" b="1">
                          <a:solidFill>
                            <a:srgbClr val="2B211C"/>
                          </a:solidFill>
                          <a:latin typeface="Calibri"/>
                        </a:rPr>
                        <a:t>Kidney or liver disease</a:t>
                      </a:r>
                    </a:p>
                  </a:txBody>
                  <a:tcPr marL="109728" marR="109728" marT="45720" marB="45720" anchor="ctr">
                    <a:solidFill>
                      <a:srgbClr val="FFFFFF"/>
                    </a:solidFill>
                  </a:tcPr>
                </a:tc>
                <a:tc>
                  <a:txBody>
                    <a:bodyPr/>
                    <a:lstStyle/>
                    <a:p>
                      <a:r>
                        <a:rPr sz="1800" i="0" b="0">
                          <a:solidFill>
                            <a:srgbClr val="2B211C"/>
                          </a:solidFill>
                          <a:latin typeface="Calibri"/>
                        </a:rPr>
                        <a:t>High doses or long courses (Type C)</a:t>
                      </a:r>
                    </a:p>
                  </a:txBody>
                  <a:tcPr marL="109728" marR="109728" marT="45720" marB="45720" anchor="ctr">
                    <a:solidFill>
                      <a:srgbClr val="FFFFFF"/>
                    </a:solidFill>
                  </a:tcPr>
                </a:tc>
              </a:tr>
              <a:tr h="565785">
                <a:tc>
                  <a:txBody>
                    <a:bodyPr/>
                    <a:lstStyle/>
                    <a:p>
                      <a:r>
                        <a:rPr sz="1800" i="0" b="1">
                          <a:solidFill>
                            <a:srgbClr val="2B211C"/>
                          </a:solidFill>
                          <a:latin typeface="Calibri"/>
                        </a:rPr>
                        <a:t>Serious illness</a:t>
                      </a:r>
                    </a:p>
                  </a:txBody>
                  <a:tcPr marL="109728" marR="109728" marT="45720" marB="45720" anchor="ctr">
                    <a:solidFill>
                      <a:srgbClr val="FBF3EE"/>
                    </a:solidFill>
                  </a:tcPr>
                </a:tc>
                <a:tc>
                  <a:txBody>
                    <a:bodyPr/>
                    <a:lstStyle/>
                    <a:p>
                      <a:r>
                        <a:rPr sz="1800" i="0" b="0">
                          <a:solidFill>
                            <a:srgbClr val="2B211C"/>
                          </a:solidFill>
                          <a:latin typeface="Calibri"/>
                        </a:rPr>
                        <a:t>Use at a critical time in pregnancy (Type D)</a:t>
                      </a:r>
                    </a:p>
                  </a:txBody>
                  <a:tcPr marL="109728" marR="109728" marT="45720" marB="45720" anchor="ctr">
                    <a:solidFill>
                      <a:srgbClr val="FBF3EE"/>
                    </a:solidFill>
                  </a:tcPr>
                </a:tc>
              </a:tr>
              <a:tr h="565785">
                <a:tc>
                  <a:txBody>
                    <a:bodyPr/>
                    <a:lstStyle/>
                    <a:p>
                      <a:r>
                        <a:rPr sz="1800" i="0" b="1">
                          <a:solidFill>
                            <a:srgbClr val="2B211C"/>
                          </a:solidFill>
                          <a:latin typeface="Calibri"/>
                        </a:rPr>
                        <a:t>HIV infection</a:t>
                      </a:r>
                    </a:p>
                  </a:txBody>
                  <a:tcPr marL="109728" marR="109728" marT="45720" marB="45720" anchor="ctr">
                    <a:solidFill>
                      <a:srgbClr val="FFFFFF"/>
                    </a:solidFill>
                  </a:tcPr>
                </a:tc>
                <a:tc>
                  <a:txBody>
                    <a:bodyPr/>
                    <a:lstStyle/>
                    <a:p>
                      <a:r>
                        <a:rPr sz="1800" i="0" b="0">
                          <a:solidFill>
                            <a:srgbClr val="2B211C"/>
                          </a:solidFill>
                          <a:latin typeface="Calibri"/>
                        </a:rPr>
                        <a:t>Sudden stopping (Type E)</a:t>
                      </a:r>
                    </a:p>
                  </a:txBody>
                  <a:tcPr marL="109728" marR="109728" marT="45720" marB="45720" anchor="ctr">
                    <a:solidFill>
                      <a:srgbClr val="FFFFFF"/>
                    </a:solidFill>
                  </a:tcPr>
                </a:tc>
              </a:tr>
              <a:tr h="565785">
                <a:tc>
                  <a:txBody>
                    <a:bodyPr/>
                    <a:lstStyle/>
                    <a:p>
                      <a:r>
                        <a:rPr sz="1800" i="0" b="1">
                          <a:solidFill>
                            <a:srgbClr val="2B211C"/>
                          </a:solidFill>
                          <a:latin typeface="Calibri"/>
                        </a:rPr>
                        <a:t>Alcohol misuse</a:t>
                      </a:r>
                    </a:p>
                  </a:txBody>
                  <a:tcPr marL="109728" marR="109728" marT="45720" marB="45720" anchor="ctr">
                    <a:solidFill>
                      <a:srgbClr val="FBF3EE"/>
                    </a:solidFill>
                  </a:tcPr>
                </a:tc>
                <a:tc>
                  <a:txBody>
                    <a:bodyPr/>
                    <a:lstStyle/>
                    <a:p>
                      <a:r>
                        <a:rPr sz="1800" i="0" b="0">
                          <a:solidFill>
                            <a:srgbClr val="2B211C"/>
                          </a:solidFill>
                          <a:latin typeface="Calibri"/>
                        </a:rPr>
                        <a:t>Poor monitoring (for example no INR checks)</a:t>
                      </a:r>
                    </a:p>
                  </a:txBody>
                  <a:tcPr marL="109728" marR="109728" marT="45720" marB="45720" anchor="ctr">
                    <a:solidFill>
                      <a:srgbClr val="FBF3EE"/>
                    </a:solidFill>
                  </a:tcPr>
                </a:tc>
              </a:tr>
              <a:tr h="565785">
                <a:tc>
                  <a:txBody>
                    <a:bodyPr/>
                    <a:lstStyle/>
                    <a:p>
                      <a:r>
                        <a:rPr sz="1800" i="0" b="1">
                          <a:solidFill>
                            <a:srgbClr val="2B211C"/>
                          </a:solidFill>
                          <a:latin typeface="Calibri"/>
                        </a:rPr>
                        <a:t>Genetic factors (for example HLA-B1502 and carbamazepine)</a:t>
                      </a:r>
                    </a:p>
                  </a:txBody>
                  <a:tcPr marL="109728" marR="109728" marT="45720" marB="45720" anchor="ctr">
                    <a:solidFill>
                      <a:srgbClr val="FFFFFF"/>
                    </a:solidFill>
                  </a:tcPr>
                </a:tc>
                <a:tc>
                  <a:txBody>
                    <a:bodyPr/>
                    <a:lstStyle/>
                    <a:p>
                      <a:r>
                        <a:rPr sz="1800" i="0" b="0">
                          <a:solidFill>
                            <a:srgbClr val="2B211C"/>
                          </a:solidFill>
                          <a:latin typeface="Calibri"/>
                        </a:rPr>
                        <a:t>Previous reaction to the same drug class</a:t>
                      </a:r>
                    </a:p>
                  </a:txBody>
                  <a:tcPr marL="109728" marR="109728" marT="45720" marB="4572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Who Is at Risk?</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9</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900684" cy="310896"/>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i="0" b="1" spc="100">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Stopping some drugs suddenly is dangerous (Type E). Advise patients never to stop steroids, antiepileptics or beta-blockers without medical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pPr algn="l"/>
            <a:r>
              <a:rPr sz="13000" i="0" b="1">
                <a:solidFill>
                  <a:srgbClr val="E0EEF0"/>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At the Pharmacy</a:t>
            </a:r>
          </a:p>
          <a:p>
            <a:r>
              <a:rPr sz="1400" i="0" b="1" spc="150">
                <a:solidFill>
                  <a:srgbClr val="E0EEF0"/>
                </a:solidFill>
                <a:latin typeface="Calibri"/>
              </a:rPr>
              <a:t>Section 7</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78-year-old man on warfarin buys ibuprofen for knee pain. You recognise a high-risk situation: older age, a narrow-therapeutic-index drug and an NSAID that raises bleeding risk (a predictable Type A interaction). You advise paracetamol instead, tell him which bleeding signs to watch for, and suggest an INR check if he has already taken ibuprofen.</a:t>
            </a:r>
          </a:p>
        </p:txBody>
      </p:sp>
      <p:sp>
        <p:nvSpPr>
          <p:cNvPr id="6" name="TextBox 5"/>
          <p:cNvSpPr txBox="1"/>
          <p:nvPr/>
        </p:nvSpPr>
        <p:spPr>
          <a:xfrm>
            <a:off x="4526280" y="6419088"/>
            <a:ext cx="5486400" cy="274320"/>
          </a:xfrm>
          <a:prstGeom prst="rect">
            <a:avLst/>
          </a:prstGeom>
          <a:noFill/>
        </p:spPr>
        <p:txBody>
          <a:bodyPr wrap="square" anchor="t" lIns="0" rIns="0" tIns="0" bIns="0">
            <a:spAutoFit/>
          </a:bodyPr>
          <a:lstStyle/>
          <a:p>
            <a:r>
              <a:rPr sz="1000" i="0" b="0">
                <a:solidFill>
                  <a:srgbClr val="6E625B"/>
                </a:solidFill>
                <a:latin typeface="Calibri"/>
              </a:rPr>
              <a:t>Drug Information  ·  Adverse Drug Reactions</a:t>
            </a:r>
          </a:p>
        </p:txBody>
      </p:sp>
      <p:sp>
        <p:nvSpPr>
          <p:cNvPr id="7" name="TextBox 6"/>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10</a:t>
            </a:r>
          </a:p>
        </p:txBody>
      </p:sp>
      <p:pic>
        <p:nvPicPr>
          <p:cNvPr id="8" name="Picture 7" descr="faculty-of-pharmacy.png"/>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1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11</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best fits the WHO definition of an ADR?</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Liver damage after a deliberate overdose</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A noxious, unintended response at a normal dose</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Any event during treatment</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Giving the wrong drug by mistake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1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12</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best fits the WHO definition of an ADR?</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Liver damage after a deliberate overdose</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A noxious, unintended response at a normal dose</a:t>
            </a:r>
          </a:p>
        </p:txBody>
      </p:sp>
      <p:sp>
        <p:nvSpPr>
          <p:cNvPr id="15" name="Rounded Rectangle 14"/>
          <p:cNvSpPr/>
          <p:nvPr/>
        </p:nvSpPr>
        <p:spPr>
          <a:xfrm>
            <a:off x="548640" y="3959352"/>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Any event during treatment</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Giving the wrong drug by mistake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This is the WHO definition. A is an overdose, C an adverse event, D a medication error.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2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13</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About what share of hospital admissions are caused by ADRs?</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1 in 16</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1 in 200</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1 in 2</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1 in 1,000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2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14</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About what share of hospital admissions are caused by ADRs?</a:t>
            </a:r>
          </a:p>
        </p:txBody>
      </p:sp>
      <p:sp>
        <p:nvSpPr>
          <p:cNvPr id="9" name="Rounded Rectangle 8"/>
          <p:cNvSpPr/>
          <p:nvPr/>
        </p:nvSpPr>
        <p:spPr>
          <a:xfrm>
            <a:off x="548640" y="2606040"/>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1 in 16</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1 in 200</a:t>
            </a:r>
          </a:p>
        </p:txBody>
      </p:sp>
      <p:sp>
        <p:nvSpPr>
          <p:cNvPr id="15" name="Rounded Rectangle 14"/>
          <p:cNvSpPr/>
          <p:nvPr/>
        </p:nvSpPr>
        <p:spPr>
          <a:xfrm>
            <a:off x="548640" y="3959352"/>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1 in 2</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1 in 1,000</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About 6.5%, or 1 in 16. B, C and D are wrong.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3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15</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patient develops anaphylaxis after the first dose of amoxicillin. What type of ADR is this?</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Type A</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Type C</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Type E</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Type 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3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16</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patient develops anaphylaxis after the first dose of amoxicillin. What type of ADR is this?</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Type A</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Type C</a:t>
            </a:r>
          </a:p>
        </p:txBody>
      </p:sp>
      <p:sp>
        <p:nvSpPr>
          <p:cNvPr id="15" name="Rounded Rectangle 14"/>
          <p:cNvSpPr/>
          <p:nvPr/>
        </p:nvSpPr>
        <p:spPr>
          <a:xfrm>
            <a:off x="548640" y="3959352"/>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Type E</a:t>
            </a:r>
          </a:p>
        </p:txBody>
      </p:sp>
      <p:sp>
        <p:nvSpPr>
          <p:cNvPr id="18" name="Rounded Rectangle 17"/>
          <p:cNvSpPr/>
          <p:nvPr/>
        </p:nvSpPr>
        <p:spPr>
          <a:xfrm>
            <a:off x="548640" y="4636008"/>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Type B</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Allergy is unpredictable and not dose-related: Type B. A, B and C are other types.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4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17</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woman on rifampicin becomes pregnant while taking an oral contraceptive. What type of ADR is this?</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Type A</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Type D</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Type F</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Type 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4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18</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woman on rifampicin becomes pregnant while taking an oral contraceptive. What type of ADR is this?</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Type A</a:t>
            </a:r>
          </a:p>
        </p:txBody>
      </p:sp>
      <p:sp>
        <p:nvSpPr>
          <p:cNvPr id="12" name="Rounded Rectangle 11"/>
          <p:cNvSpPr/>
          <p:nvPr/>
        </p:nvSpPr>
        <p:spPr>
          <a:xfrm>
            <a:off x="548640" y="3282696"/>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Type D</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Type F</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Type C</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The contraceptive failed because rifampicin induces its metabolism: Type F. A, B and D do not fit.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5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19</a:t>
            </a:r>
          </a:p>
        </p:txBody>
      </p:sp>
      <p:pic>
        <p:nvPicPr>
          <p:cNvPr id="7" name="Picture 6" descr="faculty-of-pharmacy.png"/>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patient has the highest risk of an ADR?</a:t>
            </a:r>
          </a:p>
        </p:txBody>
      </p:sp>
      <p:sp>
        <p:nvSpPr>
          <p:cNvPr id="9" name="Rounded Rectangle 8"/>
          <p:cNvSpPr/>
          <p:nvPr/>
        </p:nvSpPr>
        <p:spPr>
          <a:xfrm>
            <a:off x="548640" y="2697480"/>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A 25-year-old man taking one antibiotic</a:t>
            </a:r>
          </a:p>
        </p:txBody>
      </p:sp>
      <p:sp>
        <p:nvSpPr>
          <p:cNvPr id="12" name="Rounded Rectangle 11"/>
          <p:cNvSpPr/>
          <p:nvPr/>
        </p:nvSpPr>
        <p:spPr>
          <a:xfrm>
            <a:off x="548640" y="3465576"/>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An 80-year-old woman with kidney disease taking eight drugs</a:t>
            </a:r>
          </a:p>
        </p:txBody>
      </p:sp>
      <p:sp>
        <p:nvSpPr>
          <p:cNvPr id="15" name="Rounded Rectangle 14"/>
          <p:cNvSpPr/>
          <p:nvPr/>
        </p:nvSpPr>
        <p:spPr>
          <a:xfrm>
            <a:off x="548640" y="4233672"/>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A healthy 30-year-old woman taking vitamin D</a:t>
            </a:r>
          </a:p>
        </p:txBody>
      </p:sp>
      <p:sp>
        <p:nvSpPr>
          <p:cNvPr id="18" name="Rounded Rectangle 17"/>
          <p:cNvSpPr/>
          <p:nvPr/>
        </p:nvSpPr>
        <p:spPr>
          <a:xfrm>
            <a:off x="548640" y="5001768"/>
            <a:ext cx="11094415" cy="640080"/>
          </a:xfrm>
          <a:prstGeom prst="roundRect">
            <a:avLst>
              <a:gd name="adj" fmla="val 18000"/>
            </a:avLst>
          </a:prstGeom>
          <a:solidFill>
            <a:srgbClr val="FB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A 40-year-old man taking paracetamol for one day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SELF-ASSESSMENT  ·  QUESTION 5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000" i="0" b="0">
                <a:solidFill>
                  <a:srgbClr val="6E625B"/>
                </a:solidFill>
                <a:latin typeface="Calibri"/>
              </a:rPr>
              <a:t>Drug Information  ·  Section 7  ·  Adverse Drug Reactions</a:t>
            </a:r>
          </a:p>
        </p:txBody>
      </p:sp>
      <p:sp>
        <p:nvSpPr>
          <p:cNvPr id="6" name="TextBox 5"/>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20</a:t>
            </a:r>
          </a:p>
        </p:txBody>
      </p:sp>
      <p:pic>
        <p:nvPicPr>
          <p:cNvPr id="7" name="Picture 6" descr="faculty-of-pharmacy.png"/>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patient has the highest risk of an ADR?</a:t>
            </a:r>
          </a:p>
        </p:txBody>
      </p:sp>
      <p:sp>
        <p:nvSpPr>
          <p:cNvPr id="9" name="Rounded Rectangle 8"/>
          <p:cNvSpPr/>
          <p:nvPr/>
        </p:nvSpPr>
        <p:spPr>
          <a:xfrm>
            <a:off x="548640" y="2606040"/>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A 25-year-old man taking one antibiotic</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An 80-year-old woman with kidney disease taking eight drugs</a:t>
            </a:r>
          </a:p>
        </p:txBody>
      </p:sp>
      <p:sp>
        <p:nvSpPr>
          <p:cNvPr id="15" name="Rounded Rectangle 14"/>
          <p:cNvSpPr/>
          <p:nvPr/>
        </p:nvSpPr>
        <p:spPr>
          <a:xfrm>
            <a:off x="548640" y="3959352"/>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A healthy 30-year-old woman taking vitamin D</a:t>
            </a:r>
          </a:p>
        </p:txBody>
      </p:sp>
      <p:sp>
        <p:nvSpPr>
          <p:cNvPr id="18" name="Rounded Rectangle 17"/>
          <p:cNvSpPr/>
          <p:nvPr/>
        </p:nvSpPr>
        <p:spPr>
          <a:xfrm>
            <a:off x="548640" y="4636008"/>
            <a:ext cx="11094415" cy="548640"/>
          </a:xfrm>
          <a:prstGeom prst="roundRect">
            <a:avLst>
              <a:gd name="adj" fmla="val 18000"/>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6D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A 40-year-old man taking paracetamol for one day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Old age, kidney disease and polypharmacy all raise risk. A, C and D are low-risk.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pPr algn="l"/>
            <a:r>
              <a:rPr sz="13000" i="0" b="1">
                <a:solidFill>
                  <a:srgbClr val="F6E5DE"/>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Practice Case</a:t>
            </a:r>
          </a:p>
          <a:p>
            <a:r>
              <a:rPr sz="1400" i="0" b="1" spc="150">
                <a:solidFill>
                  <a:srgbClr val="F6E5DE"/>
                </a:solidFill>
                <a:latin typeface="Calibri"/>
              </a:rPr>
              <a:t>Section 7</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65-year-old woman has taken prednisolone 20 mg daily for eight months for arthritis. She stopped it suddenly last week and now feels weak, dizzy and nauseous; her blood pressure is low. (a) What type of ADR is this? (b) What other type of ADR might long-term steroids cause? (c) What advice should she have been given?</a:t>
            </a:r>
          </a:p>
        </p:txBody>
      </p:sp>
      <p:sp>
        <p:nvSpPr>
          <p:cNvPr id="6" name="TextBox 5"/>
          <p:cNvSpPr txBox="1"/>
          <p:nvPr/>
        </p:nvSpPr>
        <p:spPr>
          <a:xfrm>
            <a:off x="4526280" y="6419088"/>
            <a:ext cx="5486400" cy="274320"/>
          </a:xfrm>
          <a:prstGeom prst="rect">
            <a:avLst/>
          </a:prstGeom>
          <a:noFill/>
        </p:spPr>
        <p:txBody>
          <a:bodyPr wrap="square" anchor="t" lIns="0" rIns="0" tIns="0" bIns="0">
            <a:spAutoFit/>
          </a:bodyPr>
          <a:lstStyle/>
          <a:p>
            <a:r>
              <a:rPr sz="1000" i="0" b="0">
                <a:solidFill>
                  <a:srgbClr val="6E625B"/>
                </a:solidFill>
                <a:latin typeface="Calibri"/>
              </a:rPr>
              <a:t>Drug Information  ·  Adverse Drug Reactions</a:t>
            </a:r>
          </a:p>
        </p:txBody>
      </p:sp>
      <p:sp>
        <p:nvSpPr>
          <p:cNvPr id="7" name="TextBox 6"/>
          <p:cNvSpPr txBox="1"/>
          <p:nvPr/>
        </p:nvSpPr>
        <p:spPr>
          <a:xfrm>
            <a:off x="10424160" y="6419088"/>
            <a:ext cx="731520" cy="274320"/>
          </a:xfrm>
          <a:prstGeom prst="rect">
            <a:avLst/>
          </a:prstGeom>
          <a:noFill/>
        </p:spPr>
        <p:txBody>
          <a:bodyPr wrap="square" anchor="t" lIns="0" rIns="0" tIns="0" bIns="0">
            <a:spAutoFit/>
          </a:bodyPr>
          <a:lstStyle/>
          <a:p>
            <a:pPr algn="r"/>
            <a:r>
              <a:rPr sz="1000" i="0" b="1">
                <a:solidFill>
                  <a:srgbClr val="6E625B"/>
                </a:solidFill>
                <a:latin typeface="Calibri"/>
              </a:rPr>
              <a:t>21</a:t>
            </a:r>
          </a:p>
        </p:txBody>
      </p:sp>
      <p:pic>
        <p:nvPicPr>
          <p:cNvPr id="8" name="Picture 7" descr="faculty-of-pharmacy.png"/>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F3E6D8"/>
                </a:solidFill>
                <a:latin typeface="Calibri"/>
              </a:rPr>
              <a:t>SECTION 7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1</a:t>
            </a:r>
          </a:p>
        </p:txBody>
      </p:sp>
      <p:sp>
        <p:nvSpPr>
          <p:cNvPr id="5" name="TextBox 4"/>
          <p:cNvSpPr txBox="1"/>
          <p:nvPr/>
        </p:nvSpPr>
        <p:spPr>
          <a:xfrm>
            <a:off x="1143000" y="1865376"/>
            <a:ext cx="10500055" cy="928877"/>
          </a:xfrm>
          <a:prstGeom prst="rect">
            <a:avLst/>
          </a:prstGeom>
          <a:noFill/>
        </p:spPr>
        <p:txBody>
          <a:bodyPr wrap="square" anchor="t" lIns="0" rIns="0" tIns="0" bIns="0">
            <a:spAutoFit/>
          </a:bodyPr>
          <a:lstStyle/>
          <a:p>
            <a:r>
              <a:rPr sz="2100" i="0" b="0">
                <a:solidFill>
                  <a:srgbClr val="FFFFFF"/>
                </a:solidFill>
                <a:latin typeface="Calibri"/>
              </a:rPr>
              <a:t>An ADR is a noxious, unintended response at normal doses; a side effect follows from the drug's pharmacology.</a:t>
            </a:r>
          </a:p>
        </p:txBody>
      </p:sp>
      <p:sp>
        <p:nvSpPr>
          <p:cNvPr id="6" name="Oval 5"/>
          <p:cNvSpPr/>
          <p:nvPr/>
        </p:nvSpPr>
        <p:spPr>
          <a:xfrm>
            <a:off x="548640" y="2821685"/>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2</a:t>
            </a:r>
          </a:p>
        </p:txBody>
      </p:sp>
      <p:sp>
        <p:nvSpPr>
          <p:cNvPr id="7" name="TextBox 6"/>
          <p:cNvSpPr txBox="1"/>
          <p:nvPr/>
        </p:nvSpPr>
        <p:spPr>
          <a:xfrm>
            <a:off x="1143000" y="2839973"/>
            <a:ext cx="10500055" cy="595502"/>
          </a:xfrm>
          <a:prstGeom prst="rect">
            <a:avLst/>
          </a:prstGeom>
          <a:noFill/>
        </p:spPr>
        <p:txBody>
          <a:bodyPr wrap="square" anchor="t" lIns="0" rIns="0" tIns="0" bIns="0">
            <a:spAutoFit/>
          </a:bodyPr>
          <a:lstStyle/>
          <a:p>
            <a:r>
              <a:rPr sz="2100" i="0" b="0">
                <a:solidFill>
                  <a:srgbClr val="FFFFFF"/>
                </a:solidFill>
                <a:latin typeface="Calibri"/>
              </a:rPr>
              <a:t>ADRs cause about 1 in 16 hospital admissions.</a:t>
            </a:r>
          </a:p>
        </p:txBody>
      </p:sp>
      <p:sp>
        <p:nvSpPr>
          <p:cNvPr id="8" name="Oval 7"/>
          <p:cNvSpPr/>
          <p:nvPr/>
        </p:nvSpPr>
        <p:spPr>
          <a:xfrm>
            <a:off x="548640" y="3462908"/>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3</a:t>
            </a:r>
          </a:p>
        </p:txBody>
      </p:sp>
      <p:sp>
        <p:nvSpPr>
          <p:cNvPr id="9" name="TextBox 8"/>
          <p:cNvSpPr txBox="1"/>
          <p:nvPr/>
        </p:nvSpPr>
        <p:spPr>
          <a:xfrm>
            <a:off x="1143000" y="3481196"/>
            <a:ext cx="10500055" cy="595502"/>
          </a:xfrm>
          <a:prstGeom prst="rect">
            <a:avLst/>
          </a:prstGeom>
          <a:noFill/>
        </p:spPr>
        <p:txBody>
          <a:bodyPr wrap="square" anchor="t" lIns="0" rIns="0" tIns="0" bIns="0">
            <a:spAutoFit/>
          </a:bodyPr>
          <a:lstStyle/>
          <a:p>
            <a:r>
              <a:rPr sz="2100" i="0" b="0">
                <a:solidFill>
                  <a:srgbClr val="FFFFFF"/>
                </a:solidFill>
                <a:latin typeface="Calibri"/>
              </a:rPr>
              <a:t>Types: A Augmented, B Bizarre, C Chronic, D Delayed, E End of use, F Failure.</a:t>
            </a:r>
          </a:p>
        </p:txBody>
      </p:sp>
      <p:sp>
        <p:nvSpPr>
          <p:cNvPr id="10" name="Oval 9"/>
          <p:cNvSpPr/>
          <p:nvPr/>
        </p:nvSpPr>
        <p:spPr>
          <a:xfrm>
            <a:off x="548640" y="4104131"/>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4</a:t>
            </a:r>
          </a:p>
        </p:txBody>
      </p:sp>
      <p:sp>
        <p:nvSpPr>
          <p:cNvPr id="11" name="TextBox 10"/>
          <p:cNvSpPr txBox="1"/>
          <p:nvPr/>
        </p:nvSpPr>
        <p:spPr>
          <a:xfrm>
            <a:off x="1143000" y="4122419"/>
            <a:ext cx="10500055" cy="928877"/>
          </a:xfrm>
          <a:prstGeom prst="rect">
            <a:avLst/>
          </a:prstGeom>
          <a:noFill/>
        </p:spPr>
        <p:txBody>
          <a:bodyPr wrap="square" anchor="t" lIns="0" rIns="0" tIns="0" bIns="0">
            <a:spAutoFit/>
          </a:bodyPr>
          <a:lstStyle/>
          <a:p>
            <a:r>
              <a:rPr sz="2100" i="0" b="0">
                <a:solidFill>
                  <a:srgbClr val="FFFFFF"/>
                </a:solidFill>
                <a:latin typeface="Calibri"/>
              </a:rPr>
              <a:t>Type A is common and dose-related; Type B is unpredictable and needs the drug stopped.</a:t>
            </a:r>
          </a:p>
        </p:txBody>
      </p:sp>
      <p:sp>
        <p:nvSpPr>
          <p:cNvPr id="12" name="Oval 11"/>
          <p:cNvSpPr/>
          <p:nvPr/>
        </p:nvSpPr>
        <p:spPr>
          <a:xfrm>
            <a:off x="548640" y="5078729"/>
            <a:ext cx="402336" cy="402336"/>
          </a:xfrm>
          <a:prstGeom prst="ellipse">
            <a:avLst/>
          </a:prstGeom>
          <a:solidFill>
            <a:srgbClr val="F3E6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i="0" b="1">
                <a:solidFill>
                  <a:srgbClr val="A4472B"/>
                </a:solidFill>
                <a:latin typeface="Calibri"/>
              </a:rPr>
              <a:t>5</a:t>
            </a:r>
          </a:p>
        </p:txBody>
      </p:sp>
      <p:sp>
        <p:nvSpPr>
          <p:cNvPr id="13" name="TextBox 12"/>
          <p:cNvSpPr txBox="1"/>
          <p:nvPr/>
        </p:nvSpPr>
        <p:spPr>
          <a:xfrm>
            <a:off x="1143000" y="5097017"/>
            <a:ext cx="10500055" cy="928877"/>
          </a:xfrm>
          <a:prstGeom prst="rect">
            <a:avLst/>
          </a:prstGeom>
          <a:noFill/>
        </p:spPr>
        <p:txBody>
          <a:bodyPr wrap="square" anchor="t" lIns="0" rIns="0" tIns="0" bIns="0">
            <a:spAutoFit/>
          </a:bodyPr>
          <a:lstStyle/>
          <a:p>
            <a:r>
              <a:rPr sz="2100" i="0" b="0">
                <a:solidFill>
                  <a:srgbClr val="FFFFFF"/>
                </a:solidFill>
                <a:latin typeface="Calibri"/>
              </a:rPr>
              <a:t>Age, organ disease, polypharmacy, genetics and narrow-index drugs raise the risk.</a:t>
            </a:r>
          </a:p>
        </p:txBody>
      </p:sp>
      <p:pic>
        <p:nvPicPr>
          <p:cNvPr id="14" name="Picture 13"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5" name="Picture 14"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