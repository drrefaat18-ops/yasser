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ADR-reporting part of this chapter was added to this edition.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defines pharmacovigilance as the science and activities relating to the detection, assessment, understanding and prevention of adverse effects or any other drug-related problem. It covers all medicines, including herbal products and vaccines. The rule of three shows the limit of trials. If no event is seen in n patients, the true rate could still be as high as about 3/n. With 3,000 patients, a reaction as common as 1 in 1,000 may still be missed. Rare reactions often appear only after marketing.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Spontaneous reporting means that health professionals and patients report suspected ADRs to a national centre. It is the main way that new safety signals are found. In Egypt, reports go to the Egyptian Pharmaceutical Vigilance Center (EPVC) of the Egyptian Drug Authority (EDA). You do not need to be sure the drug caused the reaction. If in doubt, report. Reports can be sent online through the EDA pharmacovigilance portal, or on the paper form. Serious reactions should be reported as soon as possible. Every report is confidential.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Spontaneous reporting means that health professionals and patients report suspected ADRs to a national centre. It is the main way that new safety signals are found. In Egypt, reports go to the Egyptian Pharmaceutical Vigilance Center (EPVC) of the Egyptian Drug Authority (EDA). You do not need to be sure the drug caused the reaction. If in doubt, report. Reports can be sent online through the EDA pharmacovigilance portal, or on the paper form. Serious reactions should be reported as soon as possible. Every report is confidential.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Drug and Therapeutics Committee (DTC) of a hospital runs local drug-safety 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medication error is any preventable event that may cause or lead to inappropriate medication use or patient harm while the medication is in the control of the health professional, patient or consumer. Errors happen at every stage: Errors have many causes: lack of knowledge, slips and lapses (mental errors under pressure), unclear labels, and failures to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medication error is any preventable event that may cause or lead to inappropriate medication use or patient harm while the medication is in the control of the health professional, patient or consumer. Errors happen at every stage: Errors have many causes: lack of knowledge, slips and lapses (mental errors under pressure), unclear labels, and failures to check.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Trials are too small and short to find rare reactions. A, C and D are false.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Suspicion is enough to report. A and B delay safety signals; C is unsafe advice.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The DTC identifies and monitors high-risk medicines. B, C and D belong to others.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missed dose is an error of omission. A is doing the wrong thing; B and D are ADRs.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Tall man letters and separation reduce LASA errors. A, C and D increase risk.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Both: a preventable medication error that caused harm (a dose-related ADR). (b) Prescribing (unclear frequency), dispensing (not checked) and possibly counselling. (c) Report the harm and the error to the EPVC and the hospital system. Prevent it with electronic prescribing, a weekly-dose alert, a second check for methotrexate, and clear patient counselling.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C3A22"/>
                </a:solidFill>
                <a:latin typeface="Cambria"/>
              </a:rPr>
              <a:t>09</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3E6D8"/>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3E6D8"/>
                </a:solidFill>
                <a:latin typeface="Calibri"/>
              </a:rPr>
              <a:t>DRUG INFORMATION  ·  SECTION 9</a:t>
            </a:r>
          </a:p>
          <a:p>
            <a:pPr>
              <a:spcBef>
                <a:spcPts val="1400"/>
              </a:spcBef>
            </a:pPr>
            <a:r>
              <a:rPr sz="3600" i="0" b="1">
                <a:solidFill>
                  <a:srgbClr val="FFFFFF"/>
                </a:solidFill>
                <a:latin typeface="Cambria"/>
              </a:rPr>
              <a:t>Pharmacovigilance, ADR Reporting and Medication Errors</a:t>
            </a:r>
          </a:p>
          <a:p>
            <a:pPr>
              <a:spcBef>
                <a:spcPts val="1600"/>
              </a:spcBef>
            </a:pPr>
            <a:r>
              <a:rPr sz="2000" i="1" b="0">
                <a:solidFill>
                  <a:srgbClr val="F3E6D8"/>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3E6D8"/>
                </a:solidFill>
                <a:latin typeface="Calibri"/>
              </a:rPr>
              <a:t>45-minute practical section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GOALS</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6629400" cy="926211"/>
          </a:xfrm>
          <a:prstGeom prst="rect">
            <a:avLst/>
          </a:prstGeom>
          <a:noFill/>
        </p:spPr>
        <p:txBody>
          <a:bodyPr wrap="square" anchor="t" lIns="0" rIns="0" tIns="0" bIns="0">
            <a:spAutoFit/>
          </a:bodyPr>
          <a:lstStyle/>
          <a:p>
            <a:r>
              <a:rPr sz="2100" i="0" b="0">
                <a:solidFill>
                  <a:srgbClr val="2B211C"/>
                </a:solidFill>
                <a:latin typeface="Calibri"/>
              </a:rPr>
              <a:t>Define pharmacovigilance and explain why post-marketing surveillance is needed.</a:t>
            </a:r>
          </a:p>
        </p:txBody>
      </p:sp>
      <p:sp>
        <p:nvSpPr>
          <p:cNvPr id="10" name="Oval 9"/>
          <p:cNvSpPr/>
          <p:nvPr/>
        </p:nvSpPr>
        <p:spPr>
          <a:xfrm>
            <a:off x="548640" y="2590419"/>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608707"/>
            <a:ext cx="6629400" cy="926211"/>
          </a:xfrm>
          <a:prstGeom prst="rect">
            <a:avLst/>
          </a:prstGeom>
          <a:noFill/>
        </p:spPr>
        <p:txBody>
          <a:bodyPr wrap="square" anchor="t" lIns="0" rIns="0" tIns="0" bIns="0">
            <a:spAutoFit/>
          </a:bodyPr>
          <a:lstStyle/>
          <a:p>
            <a:r>
              <a:rPr sz="2100" i="0" b="0">
                <a:solidFill>
                  <a:srgbClr val="2B211C"/>
                </a:solidFill>
                <a:latin typeface="Calibri"/>
              </a:rPr>
              <a:t>Report a suspected ADR to the Egyptian Drug Authority.</a:t>
            </a:r>
          </a:p>
        </p:txBody>
      </p:sp>
      <p:sp>
        <p:nvSpPr>
          <p:cNvPr id="12" name="Oval 11"/>
          <p:cNvSpPr/>
          <p:nvPr/>
        </p:nvSpPr>
        <p:spPr>
          <a:xfrm>
            <a:off x="548640" y="3562350"/>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3580638"/>
            <a:ext cx="6629400" cy="926211"/>
          </a:xfrm>
          <a:prstGeom prst="rect">
            <a:avLst/>
          </a:prstGeom>
          <a:noFill/>
        </p:spPr>
        <p:txBody>
          <a:bodyPr wrap="square" anchor="t" lIns="0" rIns="0" tIns="0" bIns="0">
            <a:spAutoFit/>
          </a:bodyPr>
          <a:lstStyle/>
          <a:p>
            <a:r>
              <a:rPr sz="2100" i="0" b="0">
                <a:solidFill>
                  <a:srgbClr val="2B211C"/>
                </a:solidFill>
                <a:latin typeface="Calibri"/>
              </a:rPr>
              <a:t>Describe the role of the Drug and Therapeutics Committee in drug safety.</a:t>
            </a:r>
          </a:p>
        </p:txBody>
      </p:sp>
      <p:sp>
        <p:nvSpPr>
          <p:cNvPr id="14" name="Oval 13"/>
          <p:cNvSpPr/>
          <p:nvPr/>
        </p:nvSpPr>
        <p:spPr>
          <a:xfrm>
            <a:off x="548640" y="4534281"/>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4</a:t>
            </a:r>
          </a:p>
        </p:txBody>
      </p:sp>
      <p:sp>
        <p:nvSpPr>
          <p:cNvPr id="15" name="TextBox 14"/>
          <p:cNvSpPr txBox="1"/>
          <p:nvPr/>
        </p:nvSpPr>
        <p:spPr>
          <a:xfrm>
            <a:off x="1143000" y="4552569"/>
            <a:ext cx="6629400" cy="926211"/>
          </a:xfrm>
          <a:prstGeom prst="rect">
            <a:avLst/>
          </a:prstGeom>
          <a:noFill/>
        </p:spPr>
        <p:txBody>
          <a:bodyPr wrap="square" anchor="t" lIns="0" rIns="0" tIns="0" bIns="0">
            <a:spAutoFit/>
          </a:bodyPr>
          <a:lstStyle/>
          <a:p>
            <a:r>
              <a:rPr sz="2100" i="0" b="0">
                <a:solidFill>
                  <a:srgbClr val="2B211C"/>
                </a:solidFill>
                <a:latin typeface="Calibri"/>
              </a:rPr>
              <a:t>Define a medication error and classify its types and causes.</a:t>
            </a:r>
          </a:p>
        </p:txBody>
      </p:sp>
      <p:sp>
        <p:nvSpPr>
          <p:cNvPr id="16" name="Oval 15"/>
          <p:cNvSpPr/>
          <p:nvPr/>
        </p:nvSpPr>
        <p:spPr>
          <a:xfrm>
            <a:off x="548640" y="5506212"/>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5</a:t>
            </a:r>
          </a:p>
        </p:txBody>
      </p:sp>
      <p:sp>
        <p:nvSpPr>
          <p:cNvPr id="17" name="TextBox 16"/>
          <p:cNvSpPr txBox="1"/>
          <p:nvPr/>
        </p:nvSpPr>
        <p:spPr>
          <a:xfrm>
            <a:off x="1143000" y="5524500"/>
            <a:ext cx="6629400" cy="592836"/>
          </a:xfrm>
          <a:prstGeom prst="rect">
            <a:avLst/>
          </a:prstGeom>
          <a:noFill/>
        </p:spPr>
        <p:txBody>
          <a:bodyPr wrap="square" anchor="t" lIns="0" rIns="0" tIns="0" bIns="0">
            <a:spAutoFit/>
          </a:bodyPr>
          <a:lstStyle/>
          <a:p>
            <a:r>
              <a:rPr sz="2100" i="0" b="0">
                <a:solidFill>
                  <a:srgbClr val="2B211C"/>
                </a:solidFill>
                <a:latin typeface="Calibri"/>
              </a:rPr>
              <a:t>List ways to prevent medication errors.</a:t>
            </a:r>
          </a:p>
        </p:txBody>
      </p:sp>
      <p:sp>
        <p:nvSpPr>
          <p:cNvPr id="18" name="Rounded Rectangle 17"/>
          <p:cNvSpPr/>
          <p:nvPr/>
        </p:nvSpPr>
        <p:spPr>
          <a:xfrm>
            <a:off x="8366760" y="1600200"/>
            <a:ext cx="3273552" cy="4526280"/>
          </a:xfrm>
          <a:prstGeom prst="roundRect">
            <a:avLst>
              <a:gd name="adj" fmla="val 5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Pharmacovigilance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4526280"/>
        </p:xfrm>
        <a:graphic>
          <a:graphicData uri="http://schemas.openxmlformats.org/drawingml/2006/table">
            <a:tbl>
              <a:tblPr firstRow="0" bandRow="0">
                <a:tableStyleId>{5C22544A-7EE6-4342-B048-85BDC9FD1C3A}</a:tableStyleId>
              </a:tblPr>
              <a:tblGrid>
                <a:gridCol w="5588297"/>
                <a:gridCol w="5506117"/>
              </a:tblGrid>
              <a:tr h="754380">
                <a:tc>
                  <a:txBody>
                    <a:bodyPr/>
                    <a:lstStyle/>
                    <a:p>
                      <a:r>
                        <a:rPr sz="1700" i="0" b="1">
                          <a:solidFill>
                            <a:srgbClr val="FFFFFF"/>
                          </a:solidFill>
                          <a:latin typeface="Calibri"/>
                        </a:rPr>
                        <a:t>Before marketing</a:t>
                      </a:r>
                    </a:p>
                  </a:txBody>
                  <a:tcPr marL="109728" marR="109728" marT="45720" marB="45720" anchor="ctr">
                    <a:solidFill>
                      <a:srgbClr val="A4472B"/>
                    </a:solidFill>
                  </a:tcPr>
                </a:tc>
                <a:tc>
                  <a:txBody>
                    <a:bodyPr/>
                    <a:lstStyle/>
                    <a:p>
                      <a:r>
                        <a:rPr sz="1700" i="0" b="1">
                          <a:solidFill>
                            <a:srgbClr val="FFFFFF"/>
                          </a:solidFill>
                          <a:latin typeface="Calibri"/>
                        </a:rPr>
                        <a:t>After marketing</a:t>
                      </a:r>
                    </a:p>
                  </a:txBody>
                  <a:tcPr marL="109728" marR="109728" marT="45720" marB="45720" anchor="ctr">
                    <a:solidFill>
                      <a:srgbClr val="A4472B"/>
                    </a:solidFill>
                  </a:tcPr>
                </a:tc>
              </a:tr>
              <a:tr h="754380">
                <a:tc>
                  <a:txBody>
                    <a:bodyPr/>
                    <a:lstStyle/>
                    <a:p>
                      <a:r>
                        <a:rPr sz="1800" i="0" b="1">
                          <a:solidFill>
                            <a:srgbClr val="2B211C"/>
                          </a:solidFill>
                          <a:latin typeface="Calibri"/>
                        </a:rPr>
                        <a:t>Animal studies, then phase I, II and III trials</a:t>
                      </a:r>
                    </a:p>
                  </a:txBody>
                  <a:tcPr marL="109728" marR="109728" marT="45720" marB="45720" anchor="ctr">
                    <a:solidFill>
                      <a:srgbClr val="FFFFFF"/>
                    </a:solidFill>
                  </a:tcPr>
                </a:tc>
                <a:tc>
                  <a:txBody>
                    <a:bodyPr/>
                    <a:lstStyle/>
                    <a:p>
                      <a:r>
                        <a:rPr sz="1800" i="0" b="0">
                          <a:solidFill>
                            <a:srgbClr val="2B211C"/>
                          </a:solidFill>
                          <a:latin typeface="Calibri"/>
                        </a:rPr>
                        <a:t>Phase IV trials, observational studies, spontaneous reports</a:t>
                      </a:r>
                    </a:p>
                  </a:txBody>
                  <a:tcPr marL="109728" marR="109728" marT="45720" marB="45720" anchor="ctr">
                    <a:solidFill>
                      <a:srgbClr val="FFFFFF"/>
                    </a:solidFill>
                  </a:tcPr>
                </a:tc>
              </a:tr>
              <a:tr h="754380">
                <a:tc>
                  <a:txBody>
                    <a:bodyPr/>
                    <a:lstStyle/>
                    <a:p>
                      <a:r>
                        <a:rPr sz="1800" i="0" b="1">
                          <a:solidFill>
                            <a:srgbClr val="2B211C"/>
                          </a:solidFill>
                          <a:latin typeface="Calibri"/>
                        </a:rPr>
                        <a:t>A few thousand patients at most</a:t>
                      </a:r>
                    </a:p>
                  </a:txBody>
                  <a:tcPr marL="109728" marR="109728" marT="45720" marB="45720" anchor="ctr">
                    <a:solidFill>
                      <a:srgbClr val="FBF3EE"/>
                    </a:solidFill>
                  </a:tcPr>
                </a:tc>
                <a:tc>
                  <a:txBody>
                    <a:bodyPr/>
                    <a:lstStyle/>
                    <a:p>
                      <a:r>
                        <a:rPr sz="1800" i="0" b="0">
                          <a:solidFill>
                            <a:srgbClr val="2B211C"/>
                          </a:solidFill>
                          <a:latin typeface="Calibri"/>
                        </a:rPr>
                        <a:t>Millions of patients</a:t>
                      </a:r>
                    </a:p>
                  </a:txBody>
                  <a:tcPr marL="109728" marR="109728" marT="45720" marB="45720" anchor="ctr">
                    <a:solidFill>
                      <a:srgbClr val="FBF3EE"/>
                    </a:solidFill>
                  </a:tcPr>
                </a:tc>
              </a:tr>
              <a:tr h="754380">
                <a:tc>
                  <a:txBody>
                    <a:bodyPr/>
                    <a:lstStyle/>
                    <a:p>
                      <a:r>
                        <a:rPr sz="1800" i="0" b="1">
                          <a:solidFill>
                            <a:srgbClr val="2B211C"/>
                          </a:solidFill>
                          <a:latin typeface="Calibri"/>
                        </a:rPr>
                        <a:t>Weeks to months</a:t>
                      </a:r>
                    </a:p>
                  </a:txBody>
                  <a:tcPr marL="109728" marR="109728" marT="45720" marB="45720" anchor="ctr">
                    <a:solidFill>
                      <a:srgbClr val="FFFFFF"/>
                    </a:solidFill>
                  </a:tcPr>
                </a:tc>
                <a:tc>
                  <a:txBody>
                    <a:bodyPr/>
                    <a:lstStyle/>
                    <a:p>
                      <a:r>
                        <a:rPr sz="1800" i="0" b="0">
                          <a:solidFill>
                            <a:srgbClr val="2B211C"/>
                          </a:solidFill>
                          <a:latin typeface="Calibri"/>
                        </a:rPr>
                        <a:t>Years</a:t>
                      </a:r>
                    </a:p>
                  </a:txBody>
                  <a:tcPr marL="109728" marR="109728" marT="45720" marB="45720" anchor="ctr">
                    <a:solidFill>
                      <a:srgbClr val="FFFFFF"/>
                    </a:solidFill>
                  </a:tcPr>
                </a:tc>
              </a:tr>
              <a:tr h="754380">
                <a:tc>
                  <a:txBody>
                    <a:bodyPr/>
                    <a:lstStyle/>
                    <a:p>
                      <a:r>
                        <a:rPr sz="1800" i="0" b="1">
                          <a:solidFill>
                            <a:srgbClr val="2B211C"/>
                          </a:solidFill>
                          <a:latin typeface="Calibri"/>
                        </a:rPr>
                        <a:t>Strict patients: few children, older people or pregnant women</a:t>
                      </a:r>
                    </a:p>
                  </a:txBody>
                  <a:tcPr marL="109728" marR="109728" marT="45720" marB="45720" anchor="ctr">
                    <a:solidFill>
                      <a:srgbClr val="FBF3EE"/>
                    </a:solidFill>
                  </a:tcPr>
                </a:tc>
                <a:tc>
                  <a:txBody>
                    <a:bodyPr/>
                    <a:lstStyle/>
                    <a:p>
                      <a:r>
                        <a:rPr sz="1800" i="0" b="0">
                          <a:solidFill>
                            <a:srgbClr val="2B211C"/>
                          </a:solidFill>
                          <a:latin typeface="Calibri"/>
                        </a:rPr>
                        <a:t>All kinds of patients</a:t>
                      </a:r>
                    </a:p>
                  </a:txBody>
                  <a:tcPr marL="109728" marR="109728" marT="45720" marB="45720" anchor="ctr">
                    <a:solidFill>
                      <a:srgbClr val="FBF3EE"/>
                    </a:solidFill>
                  </a:tcPr>
                </a:tc>
              </a:tr>
              <a:tr h="754380">
                <a:tc>
                  <a:txBody>
                    <a:bodyPr/>
                    <a:lstStyle/>
                    <a:p>
                      <a:r>
                        <a:rPr sz="1800" i="0" b="1">
                          <a:solidFill>
                            <a:srgbClr val="2B211C"/>
                          </a:solidFill>
                          <a:latin typeface="Calibri"/>
                        </a:rPr>
                        <a:t>Misses uncommon and rare ADRs</a:t>
                      </a:r>
                    </a:p>
                  </a:txBody>
                  <a:tcPr marL="109728" marR="109728" marT="45720" marB="45720" anchor="ctr">
                    <a:solidFill>
                      <a:srgbClr val="FFFFFF"/>
                    </a:solidFill>
                  </a:tcPr>
                </a:tc>
                <a:tc>
                  <a:txBody>
                    <a:bodyPr/>
                    <a:lstStyle/>
                    <a:p>
                      <a:r>
                        <a:rPr sz="1800" i="0" b="0">
                          <a:solidFill>
                            <a:srgbClr val="2B211C"/>
                          </a:solidFill>
                          <a:latin typeface="Calibri"/>
                        </a:rPr>
                        <a:t>Finds rare, delayed and interaction ADRs</a:t>
                      </a:r>
                    </a:p>
                  </a:txBody>
                  <a:tcPr marL="109728" marR="109728" marT="45720" marB="4572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Spontaneous Reporting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4526280"/>
        </p:xfrm>
        <a:graphic>
          <a:graphicData uri="http://schemas.openxmlformats.org/drawingml/2006/table">
            <a:tbl>
              <a:tblPr firstRow="0" bandRow="0">
                <a:tableStyleId>{5C22544A-7EE6-4342-B048-85BDC9FD1C3A}</a:tableStyleId>
              </a:tblPr>
              <a:tblGrid>
                <a:gridCol w="3153149"/>
                <a:gridCol w="7941265"/>
              </a:tblGrid>
              <a:tr h="754380">
                <a:tc>
                  <a:txBody>
                    <a:bodyPr/>
                    <a:lstStyle/>
                    <a:p>
                      <a:r>
                        <a:rPr sz="1700" i="0" b="1">
                          <a:solidFill>
                            <a:srgbClr val="FFFFFF"/>
                          </a:solidFill>
                          <a:latin typeface="Calibri"/>
                        </a:rPr>
                        <a:t>Section of the form</a:t>
                      </a:r>
                    </a:p>
                  </a:txBody>
                  <a:tcPr marL="109728" marR="109728" marT="45720" marB="45720" anchor="ctr">
                    <a:solidFill>
                      <a:srgbClr val="A4472B"/>
                    </a:solidFill>
                  </a:tcPr>
                </a:tc>
                <a:tc>
                  <a:txBody>
                    <a:bodyPr/>
                    <a:lstStyle/>
                    <a:p>
                      <a:r>
                        <a:rPr sz="1700" i="0" b="1">
                          <a:solidFill>
                            <a:srgbClr val="FFFFFF"/>
                          </a:solidFill>
                          <a:latin typeface="Calibri"/>
                        </a:rPr>
                        <a:t>What you write</a:t>
                      </a:r>
                    </a:p>
                  </a:txBody>
                  <a:tcPr marL="109728" marR="109728" marT="45720" marB="45720" anchor="ctr">
                    <a:solidFill>
                      <a:srgbClr val="A4472B"/>
                    </a:solidFill>
                  </a:tcPr>
                </a:tc>
              </a:tr>
              <a:tr h="754380">
                <a:tc>
                  <a:txBody>
                    <a:bodyPr/>
                    <a:lstStyle/>
                    <a:p>
                      <a:r>
                        <a:rPr sz="1800" i="0" b="1">
                          <a:solidFill>
                            <a:srgbClr val="2B211C"/>
                          </a:solidFill>
                          <a:latin typeface="Calibri"/>
                        </a:rPr>
                        <a:t>Patient</a:t>
                      </a:r>
                    </a:p>
                  </a:txBody>
                  <a:tcPr marL="109728" marR="109728" marT="45720" marB="45720" anchor="ctr">
                    <a:solidFill>
                      <a:srgbClr val="FFFFFF"/>
                    </a:solidFill>
                  </a:tcPr>
                </a:tc>
                <a:tc>
                  <a:txBody>
                    <a:bodyPr/>
                    <a:lstStyle/>
                    <a:p>
                      <a:r>
                        <a:rPr sz="1800" i="0" b="0">
                          <a:solidFill>
                            <a:srgbClr val="2B211C"/>
                          </a:solidFill>
                          <a:latin typeface="Calibri"/>
                        </a:rPr>
                        <a:t>Initials, age, sex, weight (no full name)</a:t>
                      </a:r>
                    </a:p>
                  </a:txBody>
                  <a:tcPr marL="109728" marR="109728" marT="45720" marB="45720" anchor="ctr">
                    <a:solidFill>
                      <a:srgbClr val="FFFFFF"/>
                    </a:solidFill>
                  </a:tcPr>
                </a:tc>
              </a:tr>
              <a:tr h="754380">
                <a:tc>
                  <a:txBody>
                    <a:bodyPr/>
                    <a:lstStyle/>
                    <a:p>
                      <a:r>
                        <a:rPr sz="1800" i="0" b="1">
                          <a:solidFill>
                            <a:srgbClr val="2B211C"/>
                          </a:solidFill>
                          <a:latin typeface="Calibri"/>
                        </a:rPr>
                        <a:t>Reaction</a:t>
                      </a:r>
                    </a:p>
                  </a:txBody>
                  <a:tcPr marL="109728" marR="109728" marT="45720" marB="45720" anchor="ctr">
                    <a:solidFill>
                      <a:srgbClr val="FBF3EE"/>
                    </a:solidFill>
                  </a:tcPr>
                </a:tc>
                <a:tc>
                  <a:txBody>
                    <a:bodyPr/>
                    <a:lstStyle/>
                    <a:p>
                      <a:r>
                        <a:rPr sz="1800" i="0" b="0">
                          <a:solidFill>
                            <a:srgbClr val="2B211C"/>
                          </a:solidFill>
                          <a:latin typeface="Calibri"/>
                        </a:rPr>
                        <a:t>What happened, when it started, how it was treated, the outcome</a:t>
                      </a:r>
                    </a:p>
                  </a:txBody>
                  <a:tcPr marL="109728" marR="109728" marT="45720" marB="45720" anchor="ctr">
                    <a:solidFill>
                      <a:srgbClr val="FBF3EE"/>
                    </a:solidFill>
                  </a:tcPr>
                </a:tc>
              </a:tr>
              <a:tr h="754380">
                <a:tc>
                  <a:txBody>
                    <a:bodyPr/>
                    <a:lstStyle/>
                    <a:p>
                      <a:r>
                        <a:rPr sz="1800" i="0" b="1">
                          <a:solidFill>
                            <a:srgbClr val="2B211C"/>
                          </a:solidFill>
                          <a:latin typeface="Calibri"/>
                        </a:rPr>
                        <a:t>Suspected drug</a:t>
                      </a:r>
                    </a:p>
                  </a:txBody>
                  <a:tcPr marL="109728" marR="109728" marT="45720" marB="45720" anchor="ctr">
                    <a:solidFill>
                      <a:srgbClr val="FFFFFF"/>
                    </a:solidFill>
                  </a:tcPr>
                </a:tc>
                <a:tc>
                  <a:txBody>
                    <a:bodyPr/>
                    <a:lstStyle/>
                    <a:p>
                      <a:r>
                        <a:rPr sz="1800" i="0" b="0">
                          <a:solidFill>
                            <a:srgbClr val="2B211C"/>
                          </a:solidFill>
                          <a:latin typeface="Calibri"/>
                        </a:rPr>
                        <a:t>Name, brand, batch number, dose, route, start and stop dates, reason for use</a:t>
                      </a:r>
                    </a:p>
                  </a:txBody>
                  <a:tcPr marL="109728" marR="109728" marT="45720" marB="45720" anchor="ctr">
                    <a:solidFill>
                      <a:srgbClr val="FFFFFF"/>
                    </a:solidFill>
                  </a:tcPr>
                </a:tc>
              </a:tr>
              <a:tr h="754380">
                <a:tc>
                  <a:txBody>
                    <a:bodyPr/>
                    <a:lstStyle/>
                    <a:p>
                      <a:r>
                        <a:rPr sz="1800" i="0" b="1">
                          <a:solidFill>
                            <a:srgbClr val="2B211C"/>
                          </a:solidFill>
                          <a:latin typeface="Calibri"/>
                        </a:rPr>
                        <a:t>Other drugs</a:t>
                      </a:r>
                    </a:p>
                  </a:txBody>
                  <a:tcPr marL="109728" marR="109728" marT="45720" marB="45720" anchor="ctr">
                    <a:solidFill>
                      <a:srgbClr val="FBF3EE"/>
                    </a:solidFill>
                  </a:tcPr>
                </a:tc>
                <a:tc>
                  <a:txBody>
                    <a:bodyPr/>
                    <a:lstStyle/>
                    <a:p>
                      <a:r>
                        <a:rPr sz="1800" i="0" b="0">
                          <a:solidFill>
                            <a:srgbClr val="2B211C"/>
                          </a:solidFill>
                          <a:latin typeface="Calibri"/>
                        </a:rPr>
                        <a:t>All other medicines, including over-the-counter and herbal products</a:t>
                      </a:r>
                    </a:p>
                  </a:txBody>
                  <a:tcPr marL="109728" marR="109728" marT="45720" marB="45720" anchor="ctr">
                    <a:solidFill>
                      <a:srgbClr val="FBF3EE"/>
                    </a:solidFill>
                  </a:tcPr>
                </a:tc>
              </a:tr>
              <a:tr h="754380">
                <a:tc>
                  <a:txBody>
                    <a:bodyPr/>
                    <a:lstStyle/>
                    <a:p>
                      <a:r>
                        <a:rPr sz="1800" i="0" b="1">
                          <a:solidFill>
                            <a:srgbClr val="2B211C"/>
                          </a:solidFill>
                          <a:latin typeface="Calibri"/>
                        </a:rPr>
                        <a:t>Reporter</a:t>
                      </a:r>
                    </a:p>
                  </a:txBody>
                  <a:tcPr marL="109728" marR="109728" marT="45720" marB="45720" anchor="ctr">
                    <a:solidFill>
                      <a:srgbClr val="FFFFFF"/>
                    </a:solidFill>
                  </a:tcPr>
                </a:tc>
                <a:tc>
                  <a:txBody>
                    <a:bodyPr/>
                    <a:lstStyle/>
                    <a:p>
                      <a:r>
                        <a:rPr sz="1800" i="0" b="0">
                          <a:solidFill>
                            <a:srgbClr val="2B211C"/>
                          </a:solidFill>
                          <a:latin typeface="Calibri"/>
                        </a:rPr>
                        <a:t>Your name, profession and contact details</a:t>
                      </a:r>
                    </a:p>
                  </a:txBody>
                  <a:tcPr marL="109728" marR="109728" marT="45720" marB="4572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to report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10500055" cy="808863"/>
          </a:xfrm>
          <a:prstGeom prst="rect">
            <a:avLst/>
          </a:prstGeom>
          <a:noFill/>
        </p:spPr>
        <p:txBody>
          <a:bodyPr wrap="square" anchor="t" lIns="0" rIns="0" tIns="0" bIns="0">
            <a:spAutoFit/>
          </a:bodyPr>
          <a:lstStyle/>
          <a:p>
            <a:r>
              <a:rPr sz="2100" i="0" b="1">
                <a:solidFill>
                  <a:srgbClr val="2B211C"/>
                </a:solidFill>
                <a:latin typeface="Calibri"/>
              </a:rPr>
              <a:t>All suspected</a:t>
            </a:r>
            <a:r>
              <a:rPr sz="2100" i="0" b="0">
                <a:solidFill>
                  <a:srgbClr val="2B211C"/>
                </a:solidFill>
                <a:latin typeface="Calibri"/>
              </a:rPr>
              <a:t> ADRs to new drugs.</a:t>
            </a:r>
          </a:p>
        </p:txBody>
      </p:sp>
      <p:sp>
        <p:nvSpPr>
          <p:cNvPr id="10" name="Oval 9"/>
          <p:cNvSpPr/>
          <p:nvPr/>
        </p:nvSpPr>
        <p:spPr>
          <a:xfrm>
            <a:off x="548640" y="2473071"/>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491359"/>
            <a:ext cx="10500055" cy="1142237"/>
          </a:xfrm>
          <a:prstGeom prst="rect">
            <a:avLst/>
          </a:prstGeom>
          <a:noFill/>
        </p:spPr>
        <p:txBody>
          <a:bodyPr wrap="square" anchor="t" lIns="0" rIns="0" tIns="0" bIns="0">
            <a:spAutoFit/>
          </a:bodyPr>
          <a:lstStyle/>
          <a:p>
            <a:r>
              <a:rPr sz="2100" i="0" b="1">
                <a:solidFill>
                  <a:srgbClr val="2B211C"/>
                </a:solidFill>
                <a:latin typeface="Calibri"/>
              </a:rPr>
              <a:t>Serious</a:t>
            </a:r>
            <a:r>
              <a:rPr sz="2100" i="0" b="0">
                <a:solidFill>
                  <a:srgbClr val="2B211C"/>
                </a:solidFill>
                <a:latin typeface="Calibri"/>
              </a:rPr>
              <a:t> ADRs to any drug (death, life-threatening, hospitalisation, disability, congenital anomaly).</a:t>
            </a:r>
          </a:p>
        </p:txBody>
      </p:sp>
      <p:sp>
        <p:nvSpPr>
          <p:cNvPr id="12" name="Oval 11"/>
          <p:cNvSpPr/>
          <p:nvPr/>
        </p:nvSpPr>
        <p:spPr>
          <a:xfrm>
            <a:off x="548640" y="366102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3679316"/>
            <a:ext cx="10500055" cy="808863"/>
          </a:xfrm>
          <a:prstGeom prst="rect">
            <a:avLst/>
          </a:prstGeom>
          <a:noFill/>
        </p:spPr>
        <p:txBody>
          <a:bodyPr wrap="square" anchor="t" lIns="0" rIns="0" tIns="0" bIns="0">
            <a:spAutoFit/>
          </a:bodyPr>
          <a:lstStyle/>
          <a:p>
            <a:r>
              <a:rPr sz="2100" i="0" b="0">
                <a:solidFill>
                  <a:srgbClr val="2B211C"/>
                </a:solidFill>
                <a:latin typeface="Calibri"/>
              </a:rPr>
              <a:t>Unexpected reactions, interactions, medication errors and lack of effect.</a:t>
            </a:r>
          </a:p>
        </p:txBody>
      </p:sp>
      <p:sp>
        <p:nvSpPr>
          <p:cNvPr id="14" name="Oval 13"/>
          <p:cNvSpPr/>
          <p:nvPr/>
        </p:nvSpPr>
        <p:spPr>
          <a:xfrm>
            <a:off x="548640" y="4515611"/>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4</a:t>
            </a:r>
          </a:p>
        </p:txBody>
      </p:sp>
      <p:sp>
        <p:nvSpPr>
          <p:cNvPr id="15" name="TextBox 14"/>
          <p:cNvSpPr txBox="1"/>
          <p:nvPr/>
        </p:nvSpPr>
        <p:spPr>
          <a:xfrm>
            <a:off x="1143000" y="4533900"/>
            <a:ext cx="10500055" cy="808863"/>
          </a:xfrm>
          <a:prstGeom prst="rect">
            <a:avLst/>
          </a:prstGeom>
          <a:noFill/>
        </p:spPr>
        <p:txBody>
          <a:bodyPr wrap="square" anchor="t" lIns="0" rIns="0" tIns="0" bIns="0">
            <a:spAutoFit/>
          </a:bodyPr>
          <a:lstStyle/>
          <a:p>
            <a:r>
              <a:rPr sz="2100" i="0" b="0">
                <a:solidFill>
                  <a:srgbClr val="2B211C"/>
                </a:solidFill>
                <a:latin typeface="Calibri"/>
              </a:rPr>
              <a:t>Suspected poor-quality or falsified products.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pPr algn="l"/>
            <a:r>
              <a:rPr sz="13000" i="0" b="1">
                <a:solidFill>
                  <a:srgbClr val="E0EEF0"/>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0EEF0"/>
                </a:solidFill>
                <a:latin typeface="Calibri"/>
              </a:rPr>
              <a:t>Section 9</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patient tells you that her ankles have swollen since she started amlodipine. You check the dose and history, suggest she see her doctor, and complete an online EDA report with the batch number from the box. The whole report takes about ten minutes.</a:t>
            </a:r>
          </a:p>
        </p:txBody>
      </p:sp>
      <p:sp>
        <p:nvSpPr>
          <p:cNvPr id="6" name="TextBox 5"/>
          <p:cNvSpPr txBox="1"/>
          <p:nvPr/>
        </p:nvSpPr>
        <p:spPr>
          <a:xfrm>
            <a:off x="4526280" y="6419088"/>
            <a:ext cx="5486400" cy="274320"/>
          </a:xfrm>
          <a:prstGeom prst="rect">
            <a:avLst/>
          </a:prstGeom>
          <a:noFill/>
        </p:spPr>
        <p:txBody>
          <a:bodyPr wrap="square" anchor="t" lIns="0" rIns="0" tIns="0" bIns="0">
            <a:spAutoFit/>
          </a:bodyPr>
          <a:lstStyle/>
          <a:p>
            <a:r>
              <a:rPr sz="1000" i="0" b="0">
                <a:solidFill>
                  <a:srgbClr val="6E625B"/>
                </a:solidFill>
                <a:latin typeface="Calibri"/>
              </a:rPr>
              <a:t>Drug Information  ·  Pharmacovigilance, ADR Reporting and Medication Errors</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Drug and Therapeutics Committee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10500055" cy="792861"/>
          </a:xfrm>
          <a:prstGeom prst="rect">
            <a:avLst/>
          </a:prstGeom>
          <a:noFill/>
        </p:spPr>
        <p:txBody>
          <a:bodyPr wrap="square" anchor="t" lIns="0" rIns="0" tIns="0" bIns="0">
            <a:spAutoFit/>
          </a:bodyPr>
          <a:lstStyle/>
          <a:p>
            <a:r>
              <a:rPr sz="2100" i="0" b="0">
                <a:solidFill>
                  <a:srgbClr val="2B211C"/>
                </a:solidFill>
                <a:latin typeface="Calibri"/>
              </a:rPr>
              <a:t>sets up a local ADR reporting system with a standard form;</a:t>
            </a:r>
          </a:p>
        </p:txBody>
      </p:sp>
      <p:sp>
        <p:nvSpPr>
          <p:cNvPr id="10" name="Oval 9"/>
          <p:cNvSpPr/>
          <p:nvPr/>
        </p:nvSpPr>
        <p:spPr>
          <a:xfrm>
            <a:off x="548640" y="2457069"/>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475357"/>
            <a:ext cx="10500055" cy="792861"/>
          </a:xfrm>
          <a:prstGeom prst="rect">
            <a:avLst/>
          </a:prstGeom>
          <a:noFill/>
        </p:spPr>
        <p:txBody>
          <a:bodyPr wrap="square" anchor="t" lIns="0" rIns="0" tIns="0" bIns="0">
            <a:spAutoFit/>
          </a:bodyPr>
          <a:lstStyle/>
          <a:p>
            <a:r>
              <a:rPr sz="2100" i="0" b="0">
                <a:solidFill>
                  <a:srgbClr val="2B211C"/>
                </a:solidFill>
                <a:latin typeface="Calibri"/>
              </a:rPr>
              <a:t>analyses reported ADRs through a named member;</a:t>
            </a:r>
          </a:p>
        </p:txBody>
      </p:sp>
      <p:sp>
        <p:nvSpPr>
          <p:cNvPr id="12" name="Oval 11"/>
          <p:cNvSpPr/>
          <p:nvPr/>
        </p:nvSpPr>
        <p:spPr>
          <a:xfrm>
            <a:off x="548640" y="3295650"/>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3313938"/>
            <a:ext cx="10500055" cy="792861"/>
          </a:xfrm>
          <a:prstGeom prst="rect">
            <a:avLst/>
          </a:prstGeom>
          <a:noFill/>
        </p:spPr>
        <p:txBody>
          <a:bodyPr wrap="square" anchor="t" lIns="0" rIns="0" tIns="0" bIns="0">
            <a:spAutoFit/>
          </a:bodyPr>
          <a:lstStyle/>
          <a:p>
            <a:r>
              <a:rPr sz="2100" i="0" b="0">
                <a:solidFill>
                  <a:srgbClr val="2B211C"/>
                </a:solidFill>
                <a:latin typeface="Calibri"/>
              </a:rPr>
              <a:t>reports serious and repeated ADRs to the regulator and the manufacturer;</a:t>
            </a:r>
          </a:p>
        </p:txBody>
      </p:sp>
      <p:sp>
        <p:nvSpPr>
          <p:cNvPr id="14" name="Oval 13"/>
          <p:cNvSpPr/>
          <p:nvPr/>
        </p:nvSpPr>
        <p:spPr>
          <a:xfrm>
            <a:off x="548640" y="4134230"/>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4</a:t>
            </a:r>
          </a:p>
        </p:txBody>
      </p:sp>
      <p:sp>
        <p:nvSpPr>
          <p:cNvPr id="15" name="TextBox 14"/>
          <p:cNvSpPr txBox="1"/>
          <p:nvPr/>
        </p:nvSpPr>
        <p:spPr>
          <a:xfrm>
            <a:off x="1143000" y="4152519"/>
            <a:ext cx="10500055" cy="792861"/>
          </a:xfrm>
          <a:prstGeom prst="rect">
            <a:avLst/>
          </a:prstGeom>
          <a:noFill/>
        </p:spPr>
        <p:txBody>
          <a:bodyPr wrap="square" anchor="t" lIns="0" rIns="0" tIns="0" bIns="0">
            <a:spAutoFit/>
          </a:bodyPr>
          <a:lstStyle/>
          <a:p>
            <a:r>
              <a:rPr sz="2100" i="0" b="0">
                <a:solidFill>
                  <a:srgbClr val="2B211C"/>
                </a:solidFill>
                <a:latin typeface="Calibri"/>
              </a:rPr>
              <a:t>changes the formulary or treatment guidelines when a problem repeats;</a:t>
            </a:r>
          </a:p>
        </p:txBody>
      </p:sp>
      <p:sp>
        <p:nvSpPr>
          <p:cNvPr id="16" name="Oval 15"/>
          <p:cNvSpPr/>
          <p:nvPr/>
        </p:nvSpPr>
        <p:spPr>
          <a:xfrm>
            <a:off x="548640" y="4972811"/>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5</a:t>
            </a:r>
          </a:p>
        </p:txBody>
      </p:sp>
      <p:sp>
        <p:nvSpPr>
          <p:cNvPr id="17" name="TextBox 16"/>
          <p:cNvSpPr txBox="1"/>
          <p:nvPr/>
        </p:nvSpPr>
        <p:spPr>
          <a:xfrm>
            <a:off x="1143000" y="4991100"/>
            <a:ext cx="10500055" cy="1126236"/>
          </a:xfrm>
          <a:prstGeom prst="rect">
            <a:avLst/>
          </a:prstGeom>
          <a:noFill/>
        </p:spPr>
        <p:txBody>
          <a:bodyPr wrap="square" anchor="t" lIns="0" rIns="0" tIns="0" bIns="0">
            <a:spAutoFit/>
          </a:bodyPr>
          <a:lstStyle/>
          <a:p>
            <a:r>
              <a:rPr sz="2100" i="0" b="0">
                <a:solidFill>
                  <a:srgbClr val="2B211C"/>
                </a:solidFill>
                <a:latin typeface="Calibri"/>
              </a:rPr>
              <a:t>identifies </a:t>
            </a:r>
            <a:r>
              <a:rPr sz="2100" i="0" b="1">
                <a:solidFill>
                  <a:srgbClr val="2B211C"/>
                </a:solidFill>
                <a:latin typeface="Calibri"/>
              </a:rPr>
              <a:t>high-risk medicines</a:t>
            </a:r>
            <a:r>
              <a:rPr sz="2100" i="0" b="0">
                <a:solidFill>
                  <a:srgbClr val="2B211C"/>
                </a:solidFill>
                <a:latin typeface="Calibri"/>
              </a:rPr>
              <a:t> (for example insulin, anticoagulants, concentrated potassium) that need close monitoring.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2331720"/>
        </p:xfrm>
        <a:graphic>
          <a:graphicData uri="http://schemas.openxmlformats.org/drawingml/2006/table">
            <a:tbl>
              <a:tblPr firstRow="0" bandRow="0">
                <a:tableStyleId>{5C22544A-7EE6-4342-B048-85BDC9FD1C3A}</a:tableStyleId>
              </a:tblPr>
              <a:tblGrid>
                <a:gridCol w="2068450"/>
                <a:gridCol w="5077105"/>
                <a:gridCol w="3948859"/>
              </a:tblGrid>
              <a:tr h="777240">
                <a:tc>
                  <a:txBody>
                    <a:bodyPr/>
                    <a:lstStyle/>
                    <a:p>
                      <a:r>
                        <a:rPr sz="1900" i="0" b="1">
                          <a:solidFill>
                            <a:srgbClr val="FFFFFF"/>
                          </a:solidFill>
                          <a:latin typeface="Calibri"/>
                        </a:rPr>
                        <a:t>Type</a:t>
                      </a:r>
                    </a:p>
                  </a:txBody>
                  <a:tcPr marL="109728" marR="109728" marT="45720" marB="45720" anchor="ctr">
                    <a:solidFill>
                      <a:srgbClr val="A4472B"/>
                    </a:solidFill>
                  </a:tcPr>
                </a:tc>
                <a:tc>
                  <a:txBody>
                    <a:bodyPr/>
                    <a:lstStyle/>
                    <a:p>
                      <a:r>
                        <a:rPr sz="1900" i="0" b="1">
                          <a:solidFill>
                            <a:srgbClr val="FFFFFF"/>
                          </a:solidFill>
                          <a:latin typeface="Calibri"/>
                        </a:rPr>
                        <a:t>Meaning</a:t>
                      </a:r>
                    </a:p>
                  </a:txBody>
                  <a:tcPr marL="109728" marR="109728" marT="45720" marB="45720" anchor="ctr">
                    <a:solidFill>
                      <a:srgbClr val="A4472B"/>
                    </a:solidFill>
                  </a:tcPr>
                </a:tc>
                <a:tc>
                  <a:txBody>
                    <a:bodyPr/>
                    <a:lstStyle/>
                    <a:p>
                      <a:r>
                        <a:rPr sz="1900" i="0" b="1">
                          <a:solidFill>
                            <a:srgbClr val="FFFFFF"/>
                          </a:solidFill>
                          <a:latin typeface="Calibri"/>
                        </a:rPr>
                        <a:t>Example</a:t>
                      </a:r>
                    </a:p>
                  </a:txBody>
                  <a:tcPr marL="109728" marR="109728" marT="45720" marB="45720" anchor="ctr">
                    <a:solidFill>
                      <a:srgbClr val="A4472B"/>
                    </a:solidFill>
                  </a:tcPr>
                </a:tc>
              </a:tr>
              <a:tr h="777240">
                <a:tc>
                  <a:txBody>
                    <a:bodyPr/>
                    <a:lstStyle/>
                    <a:p>
                      <a:r>
                        <a:rPr sz="2000" i="0" b="1">
                          <a:solidFill>
                            <a:srgbClr val="2B211C"/>
                          </a:solidFill>
                          <a:latin typeface="Calibri"/>
                        </a:rPr>
                        <a:t>Omission</a:t>
                      </a:r>
                    </a:p>
                  </a:txBody>
                  <a:tcPr marL="109728" marR="109728" marT="45720" marB="45720" anchor="ctr">
                    <a:solidFill>
                      <a:srgbClr val="FFFFFF"/>
                    </a:solidFill>
                  </a:tcPr>
                </a:tc>
                <a:tc>
                  <a:txBody>
                    <a:bodyPr/>
                    <a:lstStyle/>
                    <a:p>
                      <a:r>
                        <a:rPr sz="2000" i="0" b="0">
                          <a:solidFill>
                            <a:srgbClr val="2B211C"/>
                          </a:solidFill>
                          <a:latin typeface="Calibri"/>
                        </a:rPr>
                        <a:t>Not doing something that should have been done</a:t>
                      </a:r>
                    </a:p>
                  </a:txBody>
                  <a:tcPr marL="109728" marR="109728" marT="45720" marB="45720" anchor="ctr">
                    <a:solidFill>
                      <a:srgbClr val="FFFFFF"/>
                    </a:solidFill>
                  </a:tcPr>
                </a:tc>
                <a:tc>
                  <a:txBody>
                    <a:bodyPr/>
                    <a:lstStyle/>
                    <a:p>
                      <a:r>
                        <a:rPr sz="2000" i="0" b="0">
                          <a:solidFill>
                            <a:srgbClr val="2B211C"/>
                          </a:solidFill>
                          <a:latin typeface="Calibri"/>
                        </a:rPr>
                        <a:t>A dose of antibiotic is missed</a:t>
                      </a:r>
                    </a:p>
                  </a:txBody>
                  <a:tcPr marL="109728" marR="109728" marT="45720" marB="45720" anchor="ctr">
                    <a:solidFill>
                      <a:srgbClr val="FFFFFF"/>
                    </a:solidFill>
                  </a:tcPr>
                </a:tc>
              </a:tr>
              <a:tr h="777240">
                <a:tc>
                  <a:txBody>
                    <a:bodyPr/>
                    <a:lstStyle/>
                    <a:p>
                      <a:r>
                        <a:rPr sz="2000" i="0" b="1">
                          <a:solidFill>
                            <a:srgbClr val="2B211C"/>
                          </a:solidFill>
                          <a:latin typeface="Calibri"/>
                        </a:rPr>
                        <a:t>Commission</a:t>
                      </a:r>
                    </a:p>
                  </a:txBody>
                  <a:tcPr marL="109728" marR="109728" marT="45720" marB="45720" anchor="ctr">
                    <a:solidFill>
                      <a:srgbClr val="FBF3EE"/>
                    </a:solidFill>
                  </a:tcPr>
                </a:tc>
                <a:tc>
                  <a:txBody>
                    <a:bodyPr/>
                    <a:lstStyle/>
                    <a:p>
                      <a:r>
                        <a:rPr sz="2000" i="0" b="0">
                          <a:solidFill>
                            <a:srgbClr val="2B211C"/>
                          </a:solidFill>
                          <a:latin typeface="Calibri"/>
                        </a:rPr>
                        <a:t>Doing the wrong thing</a:t>
                      </a:r>
                    </a:p>
                  </a:txBody>
                  <a:tcPr marL="109728" marR="109728" marT="45720" marB="45720" anchor="ctr">
                    <a:solidFill>
                      <a:srgbClr val="FBF3EE"/>
                    </a:solidFill>
                  </a:tcPr>
                </a:tc>
                <a:tc>
                  <a:txBody>
                    <a:bodyPr/>
                    <a:lstStyle/>
                    <a:p>
                      <a:r>
                        <a:rPr sz="2000" i="0" b="0">
                          <a:solidFill>
                            <a:srgbClr val="2B211C"/>
                          </a:solidFill>
                          <a:latin typeface="Calibri"/>
                        </a:rPr>
                        <a:t>Wrong drug, dose, route or patient</a:t>
                      </a:r>
                    </a:p>
                  </a:txBody>
                  <a:tcPr marL="109728" marR="109728" marT="45720" marB="45720" anchor="ctr">
                    <a:solidFill>
                      <a:srgbClr val="FB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3" cy="3108960"/>
        </p:xfrm>
        <a:graphic>
          <a:graphicData uri="http://schemas.openxmlformats.org/drawingml/2006/table">
            <a:tbl>
              <a:tblPr firstRow="0" bandRow="0">
                <a:tableStyleId>{5C22544A-7EE6-4342-B048-85BDC9FD1C3A}</a:tableStyleId>
              </a:tblPr>
              <a:tblGrid>
                <a:gridCol w="1935938"/>
                <a:gridCol w="4095253"/>
                <a:gridCol w="5063222"/>
              </a:tblGrid>
              <a:tr h="777240">
                <a:tc>
                  <a:txBody>
                    <a:bodyPr/>
                    <a:lstStyle/>
                    <a:p>
                      <a:r>
                        <a:rPr sz="1700" i="0" b="1">
                          <a:solidFill>
                            <a:srgbClr val="FFFFFF"/>
                          </a:solidFill>
                          <a:latin typeface="Calibri"/>
                        </a:rPr>
                        <a:t>Stage</a:t>
                      </a:r>
                    </a:p>
                  </a:txBody>
                  <a:tcPr marL="109728" marR="109728" marT="45720" marB="45720" anchor="ctr">
                    <a:solidFill>
                      <a:srgbClr val="A4472B"/>
                    </a:solidFill>
                  </a:tcPr>
                </a:tc>
                <a:tc>
                  <a:txBody>
                    <a:bodyPr/>
                    <a:lstStyle/>
                    <a:p>
                      <a:r>
                        <a:rPr sz="1700" i="0" b="1">
                          <a:solidFill>
                            <a:srgbClr val="FFFFFF"/>
                          </a:solidFill>
                          <a:latin typeface="Calibri"/>
                        </a:rPr>
                        <a:t>Examples</a:t>
                      </a:r>
                    </a:p>
                  </a:txBody>
                  <a:tcPr marL="109728" marR="109728" marT="45720" marB="45720" anchor="ctr">
                    <a:solidFill>
                      <a:srgbClr val="A4472B"/>
                    </a:solidFill>
                  </a:tcPr>
                </a:tc>
                <a:tc>
                  <a:txBody>
                    <a:bodyPr/>
                    <a:lstStyle/>
                    <a:p>
                      <a:r>
                        <a:rPr sz="1700" i="0" b="1">
                          <a:solidFill>
                            <a:srgbClr val="FFFFFF"/>
                          </a:solidFill>
                          <a:latin typeface="Calibri"/>
                        </a:rPr>
                        <a:t>Risk factors</a:t>
                      </a:r>
                    </a:p>
                  </a:txBody>
                  <a:tcPr marL="109728" marR="109728" marT="45720" marB="45720" anchor="ctr">
                    <a:solidFill>
                      <a:srgbClr val="A4472B"/>
                    </a:solidFill>
                  </a:tcPr>
                </a:tc>
              </a:tr>
              <a:tr h="777240">
                <a:tc>
                  <a:txBody>
                    <a:bodyPr/>
                    <a:lstStyle/>
                    <a:p>
                      <a:r>
                        <a:rPr sz="1800" i="0" b="1">
                          <a:solidFill>
                            <a:srgbClr val="2B211C"/>
                          </a:solidFill>
                          <a:latin typeface="Calibri"/>
                        </a:rPr>
                        <a:t>Prescribing</a:t>
                      </a:r>
                    </a:p>
                  </a:txBody>
                  <a:tcPr marL="109728" marR="109728" marT="45720" marB="45720" anchor="ctr">
                    <a:solidFill>
                      <a:srgbClr val="FFFFFF"/>
                    </a:solidFill>
                  </a:tcPr>
                </a:tc>
                <a:tc>
                  <a:txBody>
                    <a:bodyPr/>
                    <a:lstStyle/>
                    <a:p>
                      <a:r>
                        <a:rPr sz="1800" i="0" b="0">
                          <a:solidFill>
                            <a:srgbClr val="2B211C"/>
                          </a:solidFill>
                          <a:latin typeface="Calibri"/>
                        </a:rPr>
                        <a:t>Wrong dose, unclear handwriting, missed allergy</a:t>
                      </a:r>
                    </a:p>
                  </a:txBody>
                  <a:tcPr marL="109728" marR="109728" marT="45720" marB="45720" anchor="ctr">
                    <a:solidFill>
                      <a:srgbClr val="FFFFFF"/>
                    </a:solidFill>
                  </a:tcPr>
                </a:tc>
                <a:tc>
                  <a:txBody>
                    <a:bodyPr/>
                    <a:lstStyle/>
                    <a:p>
                      <a:r>
                        <a:rPr sz="1800" i="0" b="0">
                          <a:solidFill>
                            <a:srgbClr val="2B211C"/>
                          </a:solidFill>
                          <a:latin typeface="Calibri"/>
                        </a:rPr>
                        <a:t>Poor training, lack of knowledge, heavy workload, poor team communication</a:t>
                      </a:r>
                    </a:p>
                  </a:txBody>
                  <a:tcPr marL="109728" marR="109728" marT="45720" marB="45720" anchor="ctr">
                    <a:solidFill>
                      <a:srgbClr val="FFFFFF"/>
                    </a:solidFill>
                  </a:tcPr>
                </a:tc>
              </a:tr>
              <a:tr h="777240">
                <a:tc>
                  <a:txBody>
                    <a:bodyPr/>
                    <a:lstStyle/>
                    <a:p>
                      <a:r>
                        <a:rPr sz="1800" i="0" b="1">
                          <a:solidFill>
                            <a:srgbClr val="2B211C"/>
                          </a:solidFill>
                          <a:latin typeface="Calibri"/>
                        </a:rPr>
                        <a:t>Dispensing</a:t>
                      </a:r>
                    </a:p>
                  </a:txBody>
                  <a:tcPr marL="109728" marR="109728" marT="45720" marB="45720" anchor="ctr">
                    <a:solidFill>
                      <a:srgbClr val="FBF3EE"/>
                    </a:solidFill>
                  </a:tcPr>
                </a:tc>
                <a:tc>
                  <a:txBody>
                    <a:bodyPr/>
                    <a:lstStyle/>
                    <a:p>
                      <a:r>
                        <a:rPr sz="1800" i="0" b="0">
                          <a:solidFill>
                            <a:srgbClr val="2B211C"/>
                          </a:solidFill>
                          <a:latin typeface="Calibri"/>
                        </a:rPr>
                        <a:t>Wrong drug or strength, wrong label</a:t>
                      </a:r>
                    </a:p>
                  </a:txBody>
                  <a:tcPr marL="109728" marR="109728" marT="45720" marB="45720" anchor="ctr">
                    <a:solidFill>
                      <a:srgbClr val="FBF3EE"/>
                    </a:solidFill>
                  </a:tcPr>
                </a:tc>
                <a:tc>
                  <a:txBody>
                    <a:bodyPr/>
                    <a:lstStyle/>
                    <a:p>
                      <a:r>
                        <a:rPr sz="1800" i="0" b="0">
                          <a:solidFill>
                            <a:srgbClr val="2B211C"/>
                          </a:solidFill>
                          <a:latin typeface="Calibri"/>
                        </a:rPr>
                        <a:t>Look-alike, sound-alike (LASA) names, distractions</a:t>
                      </a:r>
                    </a:p>
                  </a:txBody>
                  <a:tcPr marL="109728" marR="109728" marT="45720" marB="45720" anchor="ctr">
                    <a:solidFill>
                      <a:srgbClr val="FBF3EE"/>
                    </a:solidFill>
                  </a:tcPr>
                </a:tc>
              </a:tr>
              <a:tr h="777240">
                <a:tc>
                  <a:txBody>
                    <a:bodyPr/>
                    <a:lstStyle/>
                    <a:p>
                      <a:r>
                        <a:rPr sz="1800" i="0" b="1">
                          <a:solidFill>
                            <a:srgbClr val="2B211C"/>
                          </a:solidFill>
                          <a:latin typeface="Calibri"/>
                        </a:rPr>
                        <a:t>Administration</a:t>
                      </a:r>
                    </a:p>
                  </a:txBody>
                  <a:tcPr marL="109728" marR="109728" marT="45720" marB="45720" anchor="ctr">
                    <a:solidFill>
                      <a:srgbClr val="FFFFFF"/>
                    </a:solidFill>
                  </a:tcPr>
                </a:tc>
                <a:tc>
                  <a:txBody>
                    <a:bodyPr/>
                    <a:lstStyle/>
                    <a:p>
                      <a:r>
                        <a:rPr sz="1800" i="0" b="0">
                          <a:solidFill>
                            <a:srgbClr val="2B211C"/>
                          </a:solidFill>
                          <a:latin typeface="Calibri"/>
                        </a:rPr>
                        <a:t>Wrong time, route or patient</a:t>
                      </a:r>
                    </a:p>
                  </a:txBody>
                  <a:tcPr marL="109728" marR="109728" marT="45720" marB="45720" anchor="ctr">
                    <a:solidFill>
                      <a:srgbClr val="FFFFFF"/>
                    </a:solidFill>
                  </a:tcPr>
                </a:tc>
                <a:tc>
                  <a:txBody>
                    <a:bodyPr/>
                    <a:lstStyle/>
                    <a:p>
                      <a:r>
                        <a:rPr sz="1800" i="0" b="0">
                          <a:solidFill>
                            <a:srgbClr val="2B211C"/>
                          </a:solidFill>
                          <a:latin typeface="Calibri"/>
                        </a:rPr>
                        <a:t>Misidentified patient, unclear labels</a:t>
                      </a:r>
                    </a:p>
                  </a:txBody>
                  <a:tcPr marL="109728" marR="109728" marT="45720" marB="4572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Preventing 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3200400"/>
        </p:xfrm>
        <a:graphic>
          <a:graphicData uri="http://schemas.openxmlformats.org/drawingml/2006/table">
            <a:tbl>
              <a:tblPr firstRow="0" bandRow="0">
                <a:tableStyleId>{5C22544A-7EE6-4342-B048-85BDC9FD1C3A}</a:tableStyleId>
              </a:tblPr>
              <a:tblGrid>
                <a:gridCol w="2711968"/>
                <a:gridCol w="8382446"/>
              </a:tblGrid>
              <a:tr h="640080">
                <a:tc>
                  <a:txBody>
                    <a:bodyPr/>
                    <a:lstStyle/>
                    <a:p>
                      <a:r>
                        <a:rPr sz="1700" i="0" b="1">
                          <a:solidFill>
                            <a:srgbClr val="FFFFFF"/>
                          </a:solidFill>
                          <a:latin typeface="Calibri"/>
                        </a:rPr>
                        <a:t>Stage</a:t>
                      </a:r>
                    </a:p>
                  </a:txBody>
                  <a:tcPr marL="109728" marR="109728" marT="45720" marB="45720" anchor="ctr">
                    <a:solidFill>
                      <a:srgbClr val="A4472B"/>
                    </a:solidFill>
                  </a:tcPr>
                </a:tc>
                <a:tc>
                  <a:txBody>
                    <a:bodyPr/>
                    <a:lstStyle/>
                    <a:p>
                      <a:r>
                        <a:rPr sz="1700" i="0" b="1">
                          <a:solidFill>
                            <a:srgbClr val="FFFFFF"/>
                          </a:solidFill>
                          <a:latin typeface="Calibri"/>
                        </a:rPr>
                        <a:t>Prevention</a:t>
                      </a:r>
                    </a:p>
                  </a:txBody>
                  <a:tcPr marL="109728" marR="109728" marT="45720" marB="45720" anchor="ctr">
                    <a:solidFill>
                      <a:srgbClr val="A4472B"/>
                    </a:solidFill>
                  </a:tcPr>
                </a:tc>
              </a:tr>
              <a:tr h="640080">
                <a:tc>
                  <a:txBody>
                    <a:bodyPr/>
                    <a:lstStyle/>
                    <a:p>
                      <a:r>
                        <a:rPr sz="1800" i="0" b="1">
                          <a:solidFill>
                            <a:srgbClr val="2B211C"/>
                          </a:solidFill>
                          <a:latin typeface="Calibri"/>
                        </a:rPr>
                        <a:t>Prescribing</a:t>
                      </a:r>
                    </a:p>
                  </a:txBody>
                  <a:tcPr marL="109728" marR="109728" marT="45720" marB="45720" anchor="ctr">
                    <a:solidFill>
                      <a:srgbClr val="FFFFFF"/>
                    </a:solidFill>
                  </a:tcPr>
                </a:tc>
                <a:tc>
                  <a:txBody>
                    <a:bodyPr/>
                    <a:lstStyle/>
                    <a:p>
                      <a:r>
                        <a:rPr sz="1800" i="0" b="0">
                          <a:solidFill>
                            <a:srgbClr val="2B211C"/>
                          </a:solidFill>
                          <a:latin typeface="Calibri"/>
                        </a:rPr>
                        <a:t>Electronic prescribing with dose and allergy checks; clear, complete orders</a:t>
                      </a:r>
                    </a:p>
                  </a:txBody>
                  <a:tcPr marL="109728" marR="109728" marT="45720" marB="45720" anchor="ctr">
                    <a:solidFill>
                      <a:srgbClr val="FFFFFF"/>
                    </a:solidFill>
                  </a:tcPr>
                </a:tc>
              </a:tr>
              <a:tr h="640080">
                <a:tc>
                  <a:txBody>
                    <a:bodyPr/>
                    <a:lstStyle/>
                    <a:p>
                      <a:r>
                        <a:rPr sz="1800" i="0" b="1">
                          <a:solidFill>
                            <a:srgbClr val="2B211C"/>
                          </a:solidFill>
                          <a:latin typeface="Calibri"/>
                        </a:rPr>
                        <a:t>Dispensing</a:t>
                      </a:r>
                    </a:p>
                  </a:txBody>
                  <a:tcPr marL="109728" marR="109728" marT="45720" marB="45720" anchor="ctr">
                    <a:solidFill>
                      <a:srgbClr val="FBF3EE"/>
                    </a:solidFill>
                  </a:tcPr>
                </a:tc>
                <a:tc>
                  <a:txBody>
                    <a:bodyPr/>
                    <a:lstStyle/>
                    <a:p>
                      <a:r>
                        <a:rPr sz="1800" i="0" b="0">
                          <a:solidFill>
                            <a:srgbClr val="2B211C"/>
                          </a:solidFill>
                          <a:latin typeface="Calibri"/>
                        </a:rPr>
                        <a:t>Separate LASA drugs on the shelves; use "tall man" letters (for example hydrOXYzine, hydrALAZINE); a second check for high-risk drugs; unit-dose systems</a:t>
                      </a:r>
                    </a:p>
                  </a:txBody>
                  <a:tcPr marL="109728" marR="109728" marT="45720" marB="45720" anchor="ctr">
                    <a:solidFill>
                      <a:srgbClr val="FBF3EE"/>
                    </a:solidFill>
                  </a:tcPr>
                </a:tc>
              </a:tr>
              <a:tr h="640080">
                <a:tc>
                  <a:txBody>
                    <a:bodyPr/>
                    <a:lstStyle/>
                    <a:p>
                      <a:r>
                        <a:rPr sz="1800" i="0" b="1">
                          <a:solidFill>
                            <a:srgbClr val="2B211C"/>
                          </a:solidFill>
                          <a:latin typeface="Calibri"/>
                        </a:rPr>
                        <a:t>Administration</a:t>
                      </a:r>
                    </a:p>
                  </a:txBody>
                  <a:tcPr marL="109728" marR="109728" marT="45720" marB="45720" anchor="ctr">
                    <a:solidFill>
                      <a:srgbClr val="FFFFFF"/>
                    </a:solidFill>
                  </a:tcPr>
                </a:tc>
                <a:tc>
                  <a:txBody>
                    <a:bodyPr/>
                    <a:lstStyle/>
                    <a:p>
                      <a:r>
                        <a:rPr sz="1800" i="0" b="0">
                          <a:solidFill>
                            <a:srgbClr val="2B211C"/>
                          </a:solidFill>
                          <a:latin typeface="Calibri"/>
                        </a:rPr>
                        <a:t>Check the "rights": right patient, drug, dose, route and time; barcode scanning</a:t>
                      </a:r>
                    </a:p>
                  </a:txBody>
                  <a:tcPr marL="109728" marR="109728" marT="45720" marB="45720" anchor="ctr">
                    <a:solidFill>
                      <a:srgbClr val="FFFFFF"/>
                    </a:solidFill>
                  </a:tcPr>
                </a:tc>
              </a:tr>
              <a:tr h="640080">
                <a:tc>
                  <a:txBody>
                    <a:bodyPr/>
                    <a:lstStyle/>
                    <a:p>
                      <a:r>
                        <a:rPr sz="1800" i="0" b="1">
                          <a:solidFill>
                            <a:srgbClr val="2B211C"/>
                          </a:solidFill>
                          <a:latin typeface="Calibri"/>
                        </a:rPr>
                        <a:t>Patient</a:t>
                      </a:r>
                    </a:p>
                  </a:txBody>
                  <a:tcPr marL="109728" marR="109728" marT="45720" marB="45720" anchor="ctr">
                    <a:solidFill>
                      <a:srgbClr val="FBF3EE"/>
                    </a:solidFill>
                  </a:tcPr>
                </a:tc>
                <a:tc>
                  <a:txBody>
                    <a:bodyPr/>
                    <a:lstStyle/>
                    <a:p>
                      <a:r>
                        <a:rPr sz="1800" i="0" b="0">
                          <a:solidFill>
                            <a:srgbClr val="2B211C"/>
                          </a:solidFill>
                          <a:latin typeface="Calibri"/>
                        </a:rPr>
                        <a:t>Clear counselling and written instructions</a:t>
                      </a:r>
                    </a:p>
                  </a:txBody>
                  <a:tcPr marL="109728" marR="109728" marT="45720" marB="45720" anchor="ctr">
                    <a:solidFill>
                      <a:srgbClr val="FBF3EE"/>
                    </a:solidFill>
                  </a:tcPr>
                </a:tc>
              </a:tr>
            </a:tbl>
          </a:graphicData>
        </a:graphic>
      </p:graphicFrame>
      <p:sp>
        <p:nvSpPr>
          <p:cNvPr id="9" name="Rounded Rectangle 8"/>
          <p:cNvSpPr/>
          <p:nvPr/>
        </p:nvSpPr>
        <p:spPr>
          <a:xfrm>
            <a:off x="548640" y="4983480"/>
            <a:ext cx="11094415" cy="1234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59" y="5212080"/>
            <a:ext cx="900684" cy="310896"/>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spc="100">
                <a:solidFill>
                  <a:srgbClr val="FFFFFF"/>
                </a:solidFill>
                <a:latin typeface="Calibri"/>
              </a:rPr>
              <a:t>CAUTION</a:t>
            </a:r>
          </a:p>
        </p:txBody>
      </p:sp>
      <p:sp>
        <p:nvSpPr>
          <p:cNvPr id="11" name="TextBox 10"/>
          <p:cNvSpPr txBox="1"/>
          <p:nvPr/>
        </p:nvSpPr>
        <p:spPr>
          <a:xfrm>
            <a:off x="822959" y="5669280"/>
            <a:ext cx="10545775" cy="365760"/>
          </a:xfrm>
          <a:prstGeom prst="rect">
            <a:avLst/>
          </a:prstGeom>
          <a:noFill/>
        </p:spPr>
        <p:txBody>
          <a:bodyPr wrap="square" anchor="t" lIns="0" rIns="0" tIns="0" bIns="0">
            <a:spAutoFit/>
          </a:bodyPr>
          <a:lstStyle/>
          <a:p>
            <a:r>
              <a:rPr sz="1500" i="0" b="0">
                <a:solidFill>
                  <a:srgbClr val="2B211C"/>
                </a:solidFill>
                <a:latin typeface="Calibri"/>
              </a:rPr>
              <a:t>Report medication errors, even near misses. The aim is to fix the system, not to blame a person.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Preventing 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96695" cy="310896"/>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spc="100">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An ADR can happen with correct use; a medication error is always preventable.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are post-marketing studies needed?</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Trials include too many patients</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Trials are too small and short to detect rare ADRs</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Trials never measure safety</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Marketing studies are cheaper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are post-marketing studies needed?</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Trials include too many patients</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Trials are too small and short to detect rare ADRs</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Trials never measure safety</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Marketing studies are cheaper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Trials are too small and short to find rare reactions. A, C and D are false.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pharmacist suspects, but is not sure, that a drug caused a rash. What should she do?</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Wait until she is certain</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Report only if the patient is admitted</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Tell the patient to stop all drugs</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Report it to the EPVC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pharmacist suspects, but is not sure, that a drug caused a rash. What should she do?</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Wait until she is certain</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Report only if the patient is admitted</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Tell the patient to stop all drugs</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Report it to the EPVC</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Suspicion is enough to report. A and B delay safety signals; C is unsafe advice.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a role of the Drug and Therapeutics Committee?</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Identifying high-risk medicines for close monitoring</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Manufacturing new medicines</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Setting drug prices nationally</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Approving marketing authorisations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a role of the Drug and Therapeutics Committee?</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Identifying high-risk medicines for close monitoring</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Manufacturing new medicines</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Setting drug prices nationally</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Approving marketing authorisations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DTC identifies and monitors high-risk medicines. B, C and D belong to others.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forgets to give a patient's evening insulin. This is:</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 error of commission</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Type A ADR</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 error of omission</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Type B ADR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forgets to give a patient's evening insulin. This is:</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 error of commission</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A Type A ADR</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An error of omission</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Type B ADR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missed dose is an error of omission. A is doing the wrong thing; B and D are ADRs.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measure best reduces dispensing errors with look-alike drug names?</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Storing LASA drugs side by side</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Using "tall man" lettering and separating them on shelves</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Removing all labels</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Dispensing from memory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9  ·  Pharmacovigilance, ADR Reporting and Medication Errors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21</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measure best reduces dispensing errors with look-alike drug names?</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Storing LASA drugs side by side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Using "tall man" lettering and separating them on shelves</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Removing all labels</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Dispensing from memory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Tall man letters and separation reduce LASA errors. A, C and D increase risk.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pPr algn="l"/>
            <a:r>
              <a:rPr sz="13000" i="0" b="1">
                <a:solidFill>
                  <a:srgbClr val="F6E5DE"/>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6E5DE"/>
                </a:solidFill>
                <a:latin typeface="Calibri"/>
              </a:rPr>
              <a:t>Section 9</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patient receives methotrexate 10 mg </a:t>
            </a:r>
            <a:r>
              <a:rPr sz="2200" i="0" b="1">
                <a:solidFill>
                  <a:srgbClr val="2B211C"/>
                </a:solidFill>
                <a:latin typeface="Calibri"/>
              </a:rPr>
              <a:t>daily</a:t>
            </a:r>
            <a:r>
              <a:rPr sz="2200" i="0" b="0">
                <a:solidFill>
                  <a:srgbClr val="2B211C"/>
                </a:solidFill>
                <a:latin typeface="Calibri"/>
              </a:rPr>
              <a:t> instead of 10 mg </a:t>
            </a:r>
            <a:r>
              <a:rPr sz="2200" i="0" b="1">
                <a:solidFill>
                  <a:srgbClr val="2B211C"/>
                </a:solidFill>
                <a:latin typeface="Calibri"/>
              </a:rPr>
              <a:t>weekly</a:t>
            </a:r>
            <a:r>
              <a:rPr sz="2200" i="0" b="0">
                <a:solidFill>
                  <a:srgbClr val="2B211C"/>
                </a:solidFill>
                <a:latin typeface="Calibri"/>
              </a:rPr>
              <a:t>, dispensed from a handwritten prescription. After five days she has mouth ulcers and a low white-cell count. (a) Is this an ADR, a medication error, or both? (b) At which stages did the error occur? (c) What should be reported, and how could it be prevented?</a:t>
            </a:r>
          </a:p>
        </p:txBody>
      </p:sp>
      <p:sp>
        <p:nvSpPr>
          <p:cNvPr id="6" name="TextBox 5"/>
          <p:cNvSpPr txBox="1"/>
          <p:nvPr/>
        </p:nvSpPr>
        <p:spPr>
          <a:xfrm>
            <a:off x="4526280" y="6419088"/>
            <a:ext cx="5486400" cy="274320"/>
          </a:xfrm>
          <a:prstGeom prst="rect">
            <a:avLst/>
          </a:prstGeom>
          <a:noFill/>
        </p:spPr>
        <p:txBody>
          <a:bodyPr wrap="square" anchor="t" lIns="0" rIns="0" tIns="0" bIns="0">
            <a:spAutoFit/>
          </a:bodyPr>
          <a:lstStyle/>
          <a:p>
            <a:r>
              <a:rPr sz="1000" i="0" b="0">
                <a:solidFill>
                  <a:srgbClr val="6E625B"/>
                </a:solidFill>
                <a:latin typeface="Calibri"/>
              </a:rPr>
              <a:t>Drug Information  ·  Pharmacovigilance, ADR Reporting and Medication Errors</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22</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3E6D8"/>
                </a:solidFill>
                <a:latin typeface="Calibri"/>
              </a:rPr>
              <a:t>SECTION 9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1</a:t>
            </a:r>
          </a:p>
        </p:txBody>
      </p:sp>
      <p:sp>
        <p:nvSpPr>
          <p:cNvPr id="5" name="TextBox 4"/>
          <p:cNvSpPr txBox="1"/>
          <p:nvPr/>
        </p:nvSpPr>
        <p:spPr>
          <a:xfrm>
            <a:off x="1143000" y="1865376"/>
            <a:ext cx="10500055" cy="728852"/>
          </a:xfrm>
          <a:prstGeom prst="rect">
            <a:avLst/>
          </a:prstGeom>
          <a:noFill/>
        </p:spPr>
        <p:txBody>
          <a:bodyPr wrap="square" anchor="t" lIns="0" rIns="0" tIns="0" bIns="0">
            <a:spAutoFit/>
          </a:bodyPr>
          <a:lstStyle/>
          <a:p>
            <a:r>
              <a:rPr sz="2100" i="0" b="0">
                <a:solidFill>
                  <a:srgbClr val="FFFFFF"/>
                </a:solidFill>
                <a:latin typeface="Calibri"/>
              </a:rPr>
              <a:t>Pharmacovigilance detects, assesses, understands and prevents drug problems.</a:t>
            </a:r>
          </a:p>
        </p:txBody>
      </p:sp>
      <p:sp>
        <p:nvSpPr>
          <p:cNvPr id="6" name="Oval 5"/>
          <p:cNvSpPr/>
          <p:nvPr/>
        </p:nvSpPr>
        <p:spPr>
          <a:xfrm>
            <a:off x="548640" y="2621660"/>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2</a:t>
            </a:r>
          </a:p>
        </p:txBody>
      </p:sp>
      <p:sp>
        <p:nvSpPr>
          <p:cNvPr id="7" name="TextBox 6"/>
          <p:cNvSpPr txBox="1"/>
          <p:nvPr/>
        </p:nvSpPr>
        <p:spPr>
          <a:xfrm>
            <a:off x="1143000" y="2639948"/>
            <a:ext cx="10500055" cy="728852"/>
          </a:xfrm>
          <a:prstGeom prst="rect">
            <a:avLst/>
          </a:prstGeom>
          <a:noFill/>
        </p:spPr>
        <p:txBody>
          <a:bodyPr wrap="square" anchor="t" lIns="0" rIns="0" tIns="0" bIns="0">
            <a:spAutoFit/>
          </a:bodyPr>
          <a:lstStyle/>
          <a:p>
            <a:r>
              <a:rPr sz="2100" i="0" b="0">
                <a:solidFill>
                  <a:srgbClr val="FFFFFF"/>
                </a:solidFill>
                <a:latin typeface="Calibri"/>
              </a:rPr>
              <a:t>Trials miss rare ADRs; post-marketing reporting finds them.</a:t>
            </a:r>
          </a:p>
        </p:txBody>
      </p:sp>
      <p:sp>
        <p:nvSpPr>
          <p:cNvPr id="8" name="Oval 7"/>
          <p:cNvSpPr/>
          <p:nvPr/>
        </p:nvSpPr>
        <p:spPr>
          <a:xfrm>
            <a:off x="548640" y="3396233"/>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3</a:t>
            </a:r>
          </a:p>
        </p:txBody>
      </p:sp>
      <p:sp>
        <p:nvSpPr>
          <p:cNvPr id="9" name="TextBox 8"/>
          <p:cNvSpPr txBox="1"/>
          <p:nvPr/>
        </p:nvSpPr>
        <p:spPr>
          <a:xfrm>
            <a:off x="1143000" y="3414521"/>
            <a:ext cx="10500055" cy="728852"/>
          </a:xfrm>
          <a:prstGeom prst="rect">
            <a:avLst/>
          </a:prstGeom>
          <a:noFill/>
        </p:spPr>
        <p:txBody>
          <a:bodyPr wrap="square" anchor="t" lIns="0" rIns="0" tIns="0" bIns="0">
            <a:spAutoFit/>
          </a:bodyPr>
          <a:lstStyle/>
          <a:p>
            <a:r>
              <a:rPr sz="2100" i="0" b="0">
                <a:solidFill>
                  <a:srgbClr val="FFFFFF"/>
                </a:solidFill>
                <a:latin typeface="Calibri"/>
              </a:rPr>
              <a:t>In Egypt, report to the EPVC of the EDA; if in doubt, report.</a:t>
            </a:r>
          </a:p>
        </p:txBody>
      </p:sp>
      <p:sp>
        <p:nvSpPr>
          <p:cNvPr id="10" name="Oval 9"/>
          <p:cNvSpPr/>
          <p:nvPr/>
        </p:nvSpPr>
        <p:spPr>
          <a:xfrm>
            <a:off x="548640" y="4170806"/>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4</a:t>
            </a:r>
          </a:p>
        </p:txBody>
      </p:sp>
      <p:sp>
        <p:nvSpPr>
          <p:cNvPr id="11" name="TextBox 10"/>
          <p:cNvSpPr txBox="1"/>
          <p:nvPr/>
        </p:nvSpPr>
        <p:spPr>
          <a:xfrm>
            <a:off x="1143000" y="4189094"/>
            <a:ext cx="10500055" cy="728852"/>
          </a:xfrm>
          <a:prstGeom prst="rect">
            <a:avLst/>
          </a:prstGeom>
          <a:noFill/>
        </p:spPr>
        <p:txBody>
          <a:bodyPr wrap="square" anchor="t" lIns="0" rIns="0" tIns="0" bIns="0">
            <a:spAutoFit/>
          </a:bodyPr>
          <a:lstStyle/>
          <a:p>
            <a:r>
              <a:rPr sz="2100" i="0" b="0">
                <a:solidFill>
                  <a:srgbClr val="FFFFFF"/>
                </a:solidFill>
                <a:latin typeface="Calibri"/>
              </a:rPr>
              <a:t>The DTC runs local ADR monitoring and acts on repeated problems.</a:t>
            </a:r>
          </a:p>
        </p:txBody>
      </p:sp>
      <p:sp>
        <p:nvSpPr>
          <p:cNvPr id="12" name="Oval 11"/>
          <p:cNvSpPr/>
          <p:nvPr/>
        </p:nvSpPr>
        <p:spPr>
          <a:xfrm>
            <a:off x="548640" y="4945379"/>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5</a:t>
            </a:r>
          </a:p>
        </p:txBody>
      </p:sp>
      <p:sp>
        <p:nvSpPr>
          <p:cNvPr id="13" name="TextBox 12"/>
          <p:cNvSpPr txBox="1"/>
          <p:nvPr/>
        </p:nvSpPr>
        <p:spPr>
          <a:xfrm>
            <a:off x="1143000" y="4963667"/>
            <a:ext cx="10500055" cy="1062227"/>
          </a:xfrm>
          <a:prstGeom prst="rect">
            <a:avLst/>
          </a:prstGeom>
          <a:noFill/>
        </p:spPr>
        <p:txBody>
          <a:bodyPr wrap="square" anchor="t" lIns="0" rIns="0" tIns="0" bIns="0">
            <a:spAutoFit/>
          </a:bodyPr>
          <a:lstStyle/>
          <a:p>
            <a:r>
              <a:rPr sz="2100" i="0" b="0">
                <a:solidFill>
                  <a:srgbClr val="FFFFFF"/>
                </a:solidFill>
                <a:latin typeface="Calibri"/>
              </a:rPr>
              <a:t>Medication errors are preventable; prevent them at prescribing, dispensing and administration.</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