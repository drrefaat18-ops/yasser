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ADR-reporting part of this chapter was added to this edition.</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Why trials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defines pharmacovigilance as the science and activities relating to the detection, assessment, understanding and prevention of adverse effects or any other drug-related problem. It covers all medicines, including herbal products and vaccines. The rule of three shows the limit of trials. If no event is seen in n patients, the true rate could still be as high as about 3/n. With 3,000 patients, a reaction as common as 1 in 1,000 may still be missed. Rare reactions often appear only after marketing.</a:t>
            </a:r>
          </a:p>
          <a:p/>
          <a:p>
            <a:r>
              <a:t>About 90 s.  Next: Why trials are not enough.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defines pharmacovigilance as the science and activities relating to the detection, assessment, understanding and prevention of adverse effects or any other drug-related problem. It covers all medicines, including herbal products and vaccines. The rule of three shows the limit of trials. If no event is seen in n patients, the true rate could still be as high as about 3/n. With 3,000 patients, a reaction as common as 1 in 1,000 may still be missed. Rare reactions often appear only after marketing.</a:t>
            </a:r>
          </a:p>
          <a:p/>
          <a:p>
            <a:r>
              <a:t>About 60 s.  Next: What to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a:p/>
          <a:p>
            <a:r>
              <a:t>About 90 s.  Next: How to report.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Spontaneous reporting means that health professionals and patients report suspected ADRs to a national centre. It is the main way that new safety signals are found. In Egypt, reports go to the Egyptian Pharmaceutical Vigilance Center (EPVC) of the Egyptian Drug Authority (EDA). You do not need to be sure the drug caused the reaction. If in doubt, report. Reports can be sent online through the EDA pharmacovigilance portal, or on the paper form. Serious reactions should be reported as soon as possible. Every report is confidential.</a:t>
            </a:r>
          </a:p>
          <a:p/>
          <a:p>
            <a:r>
              <a:t>About 60 s.  Next: The Drug and Therapeutics Committee.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The Drug and Therapeutics Committee.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Drug and Therapeutics Committee (DTC) of a hospital runs local drug-safety work:</a:t>
            </a:r>
          </a:p>
          <a:p/>
          <a:p>
            <a:r>
              <a:t>About 60 s.  Next: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a:p/>
          <a:p>
            <a:r>
              <a:t>About 60 s.  Next: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medication error is any preventable event that may cause or lead to inappropriate medication use or patient harm while the medication is in the control of the health professional, patient or consumer. Errors happen at every stage: Errors have many causes: lack of knowledge, slips and lapses (mental errors under pressure), unclear labels, and failures to check.</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Preventing Medication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Regulators also prevent errors. They review drug labels and names before approval, and reject names that look or sound like existing ones. They encourage pharmacists and other professionals to report medication errors.</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Trials are too small and short to find rare reactions. A, C and D are false.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Suspicion is enough to report. A and B delay safety signals; C is unsafe advice.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The DTC identifies and monitors high-risk medicines. B, C and D belong to others.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missed dose is an error of omission. A is doing the wrong thing; B and D are ADRs.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Tall man letters and separation reduce LASA errors. A, C and D increase risk.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Both: a preventable medication error that caused harm (a dose-related ADR). (b) Prescribing (unclear frequency), dispensing (not checked) and possibly counselling. (c) Report the harm and the error to the EPVC and the hospital system. Prevent it with electronic prescribing, a weekly-dose alert, a second check for methotrexate, and clear patient counselling.</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09</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9</a:t>
            </a:r>
          </a:p>
          <a:p>
            <a:pPr>
              <a:spcBef>
                <a:spcPts val="1400"/>
              </a:spcBef>
            </a:pPr>
            <a:r>
              <a:rPr sz="3600" i="0" b="1">
                <a:solidFill>
                  <a:srgbClr val="FFFFFF"/>
                </a:solidFill>
                <a:latin typeface="Cambria"/>
              </a:rPr>
              <a:t>Pharmacovigilance, ADR Reporting and Medication Errors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2B211C"/>
                </a:solidFill>
                <a:latin typeface="Calibri"/>
              </a:rPr>
              <a:t>Define pharmacovigilance and explain why post-marketing surveillance is needed.</a:t>
            </a:r>
          </a:p>
        </p:txBody>
      </p:sp>
      <p:sp>
        <p:nvSpPr>
          <p:cNvPr id="10" name="Oval 9"/>
          <p:cNvSpPr/>
          <p:nvPr/>
        </p:nvSpPr>
        <p:spPr>
          <a:xfrm>
            <a:off x="548640" y="256298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2B211C"/>
                </a:solidFill>
                <a:latin typeface="Calibri"/>
              </a:rPr>
              <a:t>Report a suspected ADR to the Egyptian Drug Authority.</a:t>
            </a:r>
          </a:p>
        </p:txBody>
      </p:sp>
      <p:sp>
        <p:nvSpPr>
          <p:cNvPr id="12" name="Oval 11"/>
          <p:cNvSpPr/>
          <p:nvPr/>
        </p:nvSpPr>
        <p:spPr>
          <a:xfrm>
            <a:off x="548640" y="355320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2B211C"/>
                </a:solidFill>
                <a:latin typeface="Calibri"/>
              </a:rPr>
              <a:t>Describe the role of the Drug and Therapeutics Committee in drug safety.</a:t>
            </a:r>
          </a:p>
        </p:txBody>
      </p:sp>
      <p:sp>
        <p:nvSpPr>
          <p:cNvPr id="14" name="Oval 13"/>
          <p:cNvSpPr/>
          <p:nvPr/>
        </p:nvSpPr>
        <p:spPr>
          <a:xfrm>
            <a:off x="548640" y="4543425"/>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2B211C"/>
                </a:solidFill>
                <a:latin typeface="Calibri"/>
              </a:rPr>
              <a:t>Define a medication error and classify its types and causes.</a:t>
            </a:r>
          </a:p>
        </p:txBody>
      </p:sp>
      <p:sp>
        <p:nvSpPr>
          <p:cNvPr id="16" name="Oval 15"/>
          <p:cNvSpPr/>
          <p:nvPr/>
        </p:nvSpPr>
        <p:spPr>
          <a:xfrm>
            <a:off x="548640" y="553364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2B211C"/>
                </a:solidFill>
                <a:latin typeface="Calibri"/>
              </a:rPr>
              <a:t>List ways to prevent medication errors.</a:t>
            </a:r>
          </a:p>
        </p:txBody>
      </p:sp>
      <p:sp>
        <p:nvSpPr>
          <p:cNvPr id="18" name="Rounded Rectangle 17"/>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Pharmacovigilance</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Spontaneous Reporting</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1173987"/>
          </a:xfrm>
          <a:prstGeom prst="rect">
            <a:avLst/>
          </a:prstGeom>
          <a:noFill/>
        </p:spPr>
        <p:txBody>
          <a:bodyPr wrap="square" anchor="t" lIns="0" rIns="0" tIns="0" bIns="0">
            <a:spAutoFit/>
          </a:bodyPr>
          <a:lstStyle/>
          <a:p>
            <a:r>
              <a:rPr sz="2200" i="0" b="0">
                <a:solidFill>
                  <a:srgbClr val="2B211C"/>
                </a:solidFill>
                <a:latin typeface="Calibri"/>
              </a:rPr>
              <a:t>The Drug and Therapeutics Committee</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Medication Errors</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Preventing Medication Errors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trials are not enough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WHO defines </a:t>
            </a:r>
            <a:r>
              <a:rPr sz="2100" i="0" b="1">
                <a:solidFill>
                  <a:srgbClr val="2B211C"/>
                </a:solidFill>
                <a:latin typeface="Calibri"/>
              </a:rPr>
              <a:t>pharmacovigilance</a:t>
            </a:r>
            <a:r>
              <a:rPr sz="2100" i="0" b="0">
                <a:solidFill>
                  <a:srgbClr val="2B211C"/>
                </a:solidFill>
                <a:latin typeface="Calibri"/>
              </a:rPr>
              <a:t> as the science and activities relating to the </a:t>
            </a:r>
            <a:r>
              <a:rPr sz="2100" i="0" b="1">
                <a:solidFill>
                  <a:srgbClr val="2B211C"/>
                </a:solidFill>
                <a:latin typeface="Calibri"/>
              </a:rPr>
              <a:t>detection, assessment, understanding and prevention</a:t>
            </a:r>
            <a:r>
              <a:rPr sz="2100" i="0" b="0">
                <a:solidFill>
                  <a:srgbClr val="2B211C"/>
                </a:solidFill>
                <a:latin typeface="Calibri"/>
              </a:rPr>
              <a:t> of adverse effects or any other drug-related problem. It covers all medicines, including herbal products and vaccines.</a:t>
            </a:r>
          </a:p>
          <a:p>
            <a:pPr>
              <a:spcAft>
                <a:spcPts val="800"/>
              </a:spcAft>
            </a:pPr>
            <a:r>
              <a:rPr sz="2100" i="0" b="0">
                <a:solidFill>
                  <a:srgbClr val="2B211C"/>
                </a:solidFill>
                <a:latin typeface="Calibri"/>
              </a:rPr>
              <a:t>The </a:t>
            </a:r>
            <a:r>
              <a:rPr sz="2100" i="0" b="1">
                <a:solidFill>
                  <a:srgbClr val="2B211C"/>
                </a:solidFill>
                <a:latin typeface="Calibri"/>
              </a:rPr>
              <a:t>rule of three</a:t>
            </a:r>
            <a:r>
              <a:rPr sz="2100" i="0" b="0">
                <a:solidFill>
                  <a:srgbClr val="2B211C"/>
                </a:solidFill>
                <a:latin typeface="Calibri"/>
              </a:rPr>
              <a:t> shows the limit of trials. If no event is seen in n patients, the true rate could still be as high as about 3/n. With 3,000 patients, a reaction as common as 1 in 1,000 may still be missed. Rare reactions often appear only after marketing.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trials are not enough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5588297"/>
                <a:gridCol w="5506117"/>
              </a:tblGrid>
              <a:tr h="640080">
                <a:tc>
                  <a:txBody>
                    <a:bodyPr/>
                    <a:lstStyle/>
                    <a:p>
                      <a:r>
                        <a:rPr sz="1700" i="0" b="1">
                          <a:solidFill>
                            <a:srgbClr val="FFFFFF"/>
                          </a:solidFill>
                          <a:latin typeface="Calibri"/>
                        </a:rPr>
                        <a:t>Before marketing</a:t>
                      </a:r>
                    </a:p>
                  </a:txBody>
                  <a:tcPr marL="109728" marR="109728" marT="45720" marB="45720" anchor="ctr">
                    <a:solidFill>
                      <a:srgbClr val="A4472B"/>
                    </a:solidFill>
                  </a:tcPr>
                </a:tc>
                <a:tc>
                  <a:txBody>
                    <a:bodyPr/>
                    <a:lstStyle/>
                    <a:p>
                      <a:r>
                        <a:rPr sz="1700" i="0" b="1">
                          <a:solidFill>
                            <a:srgbClr val="FFFFFF"/>
                          </a:solidFill>
                          <a:latin typeface="Calibri"/>
                        </a:rPr>
                        <a:t>After marketing</a:t>
                      </a:r>
                    </a:p>
                  </a:txBody>
                  <a:tcPr marL="109728" marR="109728" marT="45720" marB="45720" anchor="ctr">
                    <a:solidFill>
                      <a:srgbClr val="A4472B"/>
                    </a:solidFill>
                  </a:tcPr>
                </a:tc>
              </a:tr>
              <a:tr h="640080">
                <a:tc>
                  <a:txBody>
                    <a:bodyPr/>
                    <a:lstStyle/>
                    <a:p>
                      <a:r>
                        <a:rPr sz="1800" i="0" b="1">
                          <a:solidFill>
                            <a:srgbClr val="2B211C"/>
                          </a:solidFill>
                          <a:latin typeface="Calibri"/>
                        </a:rPr>
                        <a:t>Animal studies, then phase I, II and III trials</a:t>
                      </a:r>
                    </a:p>
                  </a:txBody>
                  <a:tcPr marL="109728" marR="109728" marT="45720" marB="45720" anchor="ctr">
                    <a:solidFill>
                      <a:srgbClr val="FFFFFF"/>
                    </a:solidFill>
                  </a:tcPr>
                </a:tc>
                <a:tc>
                  <a:txBody>
                    <a:bodyPr/>
                    <a:lstStyle/>
                    <a:p>
                      <a:r>
                        <a:rPr sz="1800" i="0" b="0">
                          <a:solidFill>
                            <a:srgbClr val="2B211C"/>
                          </a:solidFill>
                          <a:latin typeface="Calibri"/>
                        </a:rPr>
                        <a:t>Phase IV trials, observational studies, spontaneous reports</a:t>
                      </a:r>
                    </a:p>
                  </a:txBody>
                  <a:tcPr marL="109728" marR="109728" marT="45720" marB="45720" anchor="ctr">
                    <a:solidFill>
                      <a:srgbClr val="FFFFFF"/>
                    </a:solidFill>
                  </a:tcPr>
                </a:tc>
              </a:tr>
              <a:tr h="640080">
                <a:tc>
                  <a:txBody>
                    <a:bodyPr/>
                    <a:lstStyle/>
                    <a:p>
                      <a:r>
                        <a:rPr sz="1800" i="0" b="1">
                          <a:solidFill>
                            <a:srgbClr val="2B211C"/>
                          </a:solidFill>
                          <a:latin typeface="Calibri"/>
                        </a:rPr>
                        <a:t>A few thousand patients at most</a:t>
                      </a:r>
                    </a:p>
                  </a:txBody>
                  <a:tcPr marL="109728" marR="109728" marT="45720" marB="45720" anchor="ctr">
                    <a:solidFill>
                      <a:srgbClr val="FAF4F2"/>
                    </a:solidFill>
                  </a:tcPr>
                </a:tc>
                <a:tc>
                  <a:txBody>
                    <a:bodyPr/>
                    <a:lstStyle/>
                    <a:p>
                      <a:r>
                        <a:rPr sz="1800" i="0" b="0">
                          <a:solidFill>
                            <a:srgbClr val="2B211C"/>
                          </a:solidFill>
                          <a:latin typeface="Calibri"/>
                        </a:rPr>
                        <a:t>Millions of patients</a:t>
                      </a:r>
                    </a:p>
                  </a:txBody>
                  <a:tcPr marL="109728" marR="109728" marT="45720" marB="45720" anchor="ctr">
                    <a:solidFill>
                      <a:srgbClr val="FAF4F2"/>
                    </a:solidFill>
                  </a:tcPr>
                </a:tc>
              </a:tr>
              <a:tr h="640080">
                <a:tc>
                  <a:txBody>
                    <a:bodyPr/>
                    <a:lstStyle/>
                    <a:p>
                      <a:r>
                        <a:rPr sz="1800" i="0" b="1">
                          <a:solidFill>
                            <a:srgbClr val="2B211C"/>
                          </a:solidFill>
                          <a:latin typeface="Calibri"/>
                        </a:rPr>
                        <a:t>Weeks to months</a:t>
                      </a:r>
                    </a:p>
                  </a:txBody>
                  <a:tcPr marL="109728" marR="109728" marT="45720" marB="45720" anchor="ctr">
                    <a:solidFill>
                      <a:srgbClr val="FFFFFF"/>
                    </a:solidFill>
                  </a:tcPr>
                </a:tc>
                <a:tc>
                  <a:txBody>
                    <a:bodyPr/>
                    <a:lstStyle/>
                    <a:p>
                      <a:r>
                        <a:rPr sz="1800" i="0" b="0">
                          <a:solidFill>
                            <a:srgbClr val="2B211C"/>
                          </a:solidFill>
                          <a:latin typeface="Calibri"/>
                        </a:rPr>
                        <a:t>Years</a:t>
                      </a:r>
                    </a:p>
                  </a:txBody>
                  <a:tcPr marL="109728" marR="109728" marT="45720" marB="45720" anchor="ctr">
                    <a:solidFill>
                      <a:srgbClr val="FFFFFF"/>
                    </a:solidFill>
                  </a:tcPr>
                </a:tc>
              </a:tr>
              <a:tr h="640080">
                <a:tc>
                  <a:txBody>
                    <a:bodyPr/>
                    <a:lstStyle/>
                    <a:p>
                      <a:r>
                        <a:rPr sz="1800" i="0" b="1">
                          <a:solidFill>
                            <a:srgbClr val="2B211C"/>
                          </a:solidFill>
                          <a:latin typeface="Calibri"/>
                        </a:rPr>
                        <a:t>Strict patients: few children, older people or pregnant women</a:t>
                      </a:r>
                    </a:p>
                  </a:txBody>
                  <a:tcPr marL="109728" marR="109728" marT="45720" marB="45720" anchor="ctr">
                    <a:solidFill>
                      <a:srgbClr val="FAF4F2"/>
                    </a:solidFill>
                  </a:tcPr>
                </a:tc>
                <a:tc>
                  <a:txBody>
                    <a:bodyPr/>
                    <a:lstStyle/>
                    <a:p>
                      <a:r>
                        <a:rPr sz="1800" i="0" b="0">
                          <a:solidFill>
                            <a:srgbClr val="2B211C"/>
                          </a:solidFill>
                          <a:latin typeface="Calibri"/>
                        </a:rPr>
                        <a:t>All kinds of patients</a:t>
                      </a:r>
                    </a:p>
                  </a:txBody>
                  <a:tcPr marL="109728" marR="109728" marT="45720" marB="45720" anchor="ctr">
                    <a:solidFill>
                      <a:srgbClr val="FAF4F2"/>
                    </a:solidFill>
                  </a:tcPr>
                </a:tc>
              </a:tr>
              <a:tr h="640080">
                <a:tc>
                  <a:txBody>
                    <a:bodyPr/>
                    <a:lstStyle/>
                    <a:p>
                      <a:r>
                        <a:rPr sz="1800" i="0" b="1">
                          <a:solidFill>
                            <a:srgbClr val="2B211C"/>
                          </a:solidFill>
                          <a:latin typeface="Calibri"/>
                        </a:rPr>
                        <a:t>Misses uncommon and rare ADRs</a:t>
                      </a:r>
                    </a:p>
                  </a:txBody>
                  <a:tcPr marL="109728" marR="109728" marT="45720" marB="45720" anchor="ctr">
                    <a:solidFill>
                      <a:srgbClr val="FFFFFF"/>
                    </a:solidFill>
                  </a:tcPr>
                </a:tc>
                <a:tc>
                  <a:txBody>
                    <a:bodyPr/>
                    <a:lstStyle/>
                    <a:p>
                      <a:r>
                        <a:rPr sz="1800" i="0" b="0">
                          <a:solidFill>
                            <a:srgbClr val="2B211C"/>
                          </a:solidFill>
                          <a:latin typeface="Calibri"/>
                        </a:rPr>
                        <a:t>Finds rare, delayed and interaction ADRs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to report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Spontaneous reporting</a:t>
            </a:r>
            <a:r>
              <a:rPr sz="1800" i="0" b="0">
                <a:solidFill>
                  <a:srgbClr val="2B211C"/>
                </a:solidFill>
                <a:latin typeface="Calibri"/>
              </a:rPr>
              <a:t> means that health professionals and patients report suspected ADRs to a national centre. It is the main way that new safety signals are found. In Egypt, reports go to the </a:t>
            </a:r>
            <a:r>
              <a:rPr sz="1800" i="0" b="1">
                <a:solidFill>
                  <a:srgbClr val="2B211C"/>
                </a:solidFill>
                <a:latin typeface="Calibri"/>
              </a:rPr>
              <a:t>Egyptian Pharmaceutical Vigilance Center (EPVC)</a:t>
            </a:r>
            <a:r>
              <a:rPr sz="1800" i="0" b="0">
                <a:solidFill>
                  <a:srgbClr val="2B211C"/>
                </a:solidFill>
                <a:latin typeface="Calibri"/>
              </a:rPr>
              <a:t> of the Egyptian Drug Authority (EDA).</a:t>
            </a:r>
          </a:p>
        </p:txBody>
      </p:sp>
      <p:sp>
        <p:nvSpPr>
          <p:cNvPr id="9" name="Oval 8"/>
          <p:cNvSpPr/>
          <p:nvPr/>
        </p:nvSpPr>
        <p:spPr>
          <a:xfrm>
            <a:off x="548640" y="314553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3163824"/>
            <a:ext cx="10500055" cy="632174"/>
          </a:xfrm>
          <a:prstGeom prst="rect">
            <a:avLst/>
          </a:prstGeom>
          <a:noFill/>
        </p:spPr>
        <p:txBody>
          <a:bodyPr wrap="square" anchor="t" lIns="0" rIns="0" tIns="0" bIns="0">
            <a:spAutoFit/>
          </a:bodyPr>
          <a:lstStyle/>
          <a:p>
            <a:r>
              <a:rPr sz="2100" i="0" b="1">
                <a:solidFill>
                  <a:srgbClr val="2B211C"/>
                </a:solidFill>
                <a:latin typeface="Calibri"/>
              </a:rPr>
              <a:t>All suspected</a:t>
            </a:r>
            <a:r>
              <a:rPr sz="2100" i="0" b="0">
                <a:solidFill>
                  <a:srgbClr val="2B211C"/>
                </a:solidFill>
                <a:latin typeface="Calibri"/>
              </a:rPr>
              <a:t> ADRs to new drugs.</a:t>
            </a:r>
          </a:p>
        </p:txBody>
      </p:sp>
      <p:sp>
        <p:nvSpPr>
          <p:cNvPr id="11" name="Oval 10"/>
          <p:cNvSpPr/>
          <p:nvPr/>
        </p:nvSpPr>
        <p:spPr>
          <a:xfrm>
            <a:off x="548640" y="382343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41718"/>
            <a:ext cx="10500055" cy="965549"/>
          </a:xfrm>
          <a:prstGeom prst="rect">
            <a:avLst/>
          </a:prstGeom>
          <a:noFill/>
        </p:spPr>
        <p:txBody>
          <a:bodyPr wrap="square" anchor="t" lIns="0" rIns="0" tIns="0" bIns="0">
            <a:spAutoFit/>
          </a:bodyPr>
          <a:lstStyle/>
          <a:p>
            <a:r>
              <a:rPr sz="2100" i="0" b="1">
                <a:solidFill>
                  <a:srgbClr val="2B211C"/>
                </a:solidFill>
                <a:latin typeface="Calibri"/>
              </a:rPr>
              <a:t>Serious</a:t>
            </a:r>
            <a:r>
              <a:rPr sz="2100" i="0" b="0">
                <a:solidFill>
                  <a:srgbClr val="2B211C"/>
                </a:solidFill>
                <a:latin typeface="Calibri"/>
              </a:rPr>
              <a:t> ADRs to any drug (death, life-threatening, hospitalisation, disability, congenital anomaly).</a:t>
            </a:r>
          </a:p>
        </p:txBody>
      </p:sp>
      <p:sp>
        <p:nvSpPr>
          <p:cNvPr id="13" name="Oval 12"/>
          <p:cNvSpPr/>
          <p:nvPr/>
        </p:nvSpPr>
        <p:spPr>
          <a:xfrm>
            <a:off x="548640" y="483469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852987"/>
            <a:ext cx="10500055" cy="632174"/>
          </a:xfrm>
          <a:prstGeom prst="rect">
            <a:avLst/>
          </a:prstGeom>
          <a:noFill/>
        </p:spPr>
        <p:txBody>
          <a:bodyPr wrap="square" anchor="t" lIns="0" rIns="0" tIns="0" bIns="0">
            <a:spAutoFit/>
          </a:bodyPr>
          <a:lstStyle/>
          <a:p>
            <a:r>
              <a:rPr sz="2100" i="0" b="0">
                <a:solidFill>
                  <a:srgbClr val="2B211C"/>
                </a:solidFill>
                <a:latin typeface="Calibri"/>
              </a:rPr>
              <a:t>Unexpected reactions, interactions, medication errors and lack of effect.</a:t>
            </a:r>
          </a:p>
        </p:txBody>
      </p:sp>
      <p:sp>
        <p:nvSpPr>
          <p:cNvPr id="15" name="Oval 14"/>
          <p:cNvSpPr/>
          <p:nvPr/>
        </p:nvSpPr>
        <p:spPr>
          <a:xfrm>
            <a:off x="548640" y="551259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5530881"/>
            <a:ext cx="10500055" cy="632174"/>
          </a:xfrm>
          <a:prstGeom prst="rect">
            <a:avLst/>
          </a:prstGeom>
          <a:noFill/>
        </p:spPr>
        <p:txBody>
          <a:bodyPr wrap="square" anchor="t" lIns="0" rIns="0" tIns="0" bIns="0">
            <a:spAutoFit/>
          </a:bodyPr>
          <a:lstStyle/>
          <a:p>
            <a:r>
              <a:rPr sz="2100" i="0" b="0">
                <a:solidFill>
                  <a:srgbClr val="2B211C"/>
                </a:solidFill>
                <a:latin typeface="Calibri"/>
              </a:rPr>
              <a:t>Suspected poor-quality or falsified products.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How to report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You do </a:t>
            </a:r>
            <a:r>
              <a:rPr sz="1800" i="0" b="1">
                <a:solidFill>
                  <a:srgbClr val="2B211C"/>
                </a:solidFill>
                <a:latin typeface="Calibri"/>
              </a:rPr>
              <a:t>not</a:t>
            </a:r>
            <a:r>
              <a:rPr sz="1800" i="0" b="0">
                <a:solidFill>
                  <a:srgbClr val="2B211C"/>
                </a:solidFill>
                <a:latin typeface="Calibri"/>
              </a:rPr>
              <a:t> need to be sure the drug caused the reaction. </a:t>
            </a:r>
            <a:r>
              <a:rPr sz="1800" i="0" b="1">
                <a:solidFill>
                  <a:srgbClr val="2B211C"/>
                </a:solidFill>
                <a:latin typeface="Calibri"/>
              </a:rPr>
              <a:t>If in doubt, report.</a:t>
            </a:r>
          </a:p>
          <a:p>
            <a:pPr>
              <a:spcAft>
                <a:spcPts val="800"/>
              </a:spcAft>
            </a:pPr>
            <a:r>
              <a:rPr sz="1800" i="0" b="0">
                <a:solidFill>
                  <a:srgbClr val="2B211C"/>
                </a:solidFill>
                <a:latin typeface="Calibri"/>
              </a:rPr>
              <a:t>Reports can be sent online through the EDA pharmacovigilance portal, or on the paper form. Serious reactions should be reported as soon as possible. Every report is confidential.</a:t>
            </a:r>
          </a:p>
        </p:txBody>
      </p:sp>
      <p:graphicFrame>
        <p:nvGraphicFramePr>
          <p:cNvPr id="9" name="Table 8"/>
          <p:cNvGraphicFramePr>
            <a:graphicFrameLocks noGrp="1"/>
          </p:cNvGraphicFramePr>
          <p:nvPr/>
        </p:nvGraphicFramePr>
        <p:xfrm>
          <a:off x="548640" y="2939796"/>
          <a:ext cx="11094414" cy="3232404"/>
        </p:xfrm>
        <a:graphic>
          <a:graphicData uri="http://schemas.openxmlformats.org/drawingml/2006/table">
            <a:tbl>
              <a:tblPr firstRow="0" bandRow="0">
                <a:tableStyleId>{5C22544A-7EE6-4342-B048-85BDC9FD1C3A}</a:tableStyleId>
              </a:tblPr>
              <a:tblGrid>
                <a:gridCol w="3153149"/>
                <a:gridCol w="7941265"/>
              </a:tblGrid>
              <a:tr h="538734">
                <a:tc>
                  <a:txBody>
                    <a:bodyPr/>
                    <a:lstStyle/>
                    <a:p>
                      <a:r>
                        <a:rPr sz="1700" i="0" b="1">
                          <a:solidFill>
                            <a:srgbClr val="FFFFFF"/>
                          </a:solidFill>
                          <a:latin typeface="Calibri"/>
                        </a:rPr>
                        <a:t>Section of the form</a:t>
                      </a:r>
                    </a:p>
                  </a:txBody>
                  <a:tcPr marL="109728" marR="109728" marT="45720" marB="45720" anchor="ctr">
                    <a:solidFill>
                      <a:srgbClr val="A4472B"/>
                    </a:solidFill>
                  </a:tcPr>
                </a:tc>
                <a:tc>
                  <a:txBody>
                    <a:bodyPr/>
                    <a:lstStyle/>
                    <a:p>
                      <a:r>
                        <a:rPr sz="1700" i="0" b="1">
                          <a:solidFill>
                            <a:srgbClr val="FFFFFF"/>
                          </a:solidFill>
                          <a:latin typeface="Calibri"/>
                        </a:rPr>
                        <a:t>What you write</a:t>
                      </a:r>
                    </a:p>
                  </a:txBody>
                  <a:tcPr marL="109728" marR="109728" marT="45720" marB="45720" anchor="ctr">
                    <a:solidFill>
                      <a:srgbClr val="A4472B"/>
                    </a:solidFill>
                  </a:tcPr>
                </a:tc>
              </a:tr>
              <a:tr h="538734">
                <a:tc>
                  <a:txBody>
                    <a:bodyPr/>
                    <a:lstStyle/>
                    <a:p>
                      <a:r>
                        <a:rPr sz="1800" i="0" b="1">
                          <a:solidFill>
                            <a:srgbClr val="2B211C"/>
                          </a:solidFill>
                          <a:latin typeface="Calibri"/>
                        </a:rPr>
                        <a:t>Patient</a:t>
                      </a:r>
                    </a:p>
                  </a:txBody>
                  <a:tcPr marL="109728" marR="109728" marT="45720" marB="45720" anchor="ctr">
                    <a:solidFill>
                      <a:srgbClr val="FFFFFF"/>
                    </a:solidFill>
                  </a:tcPr>
                </a:tc>
                <a:tc>
                  <a:txBody>
                    <a:bodyPr/>
                    <a:lstStyle/>
                    <a:p>
                      <a:r>
                        <a:rPr sz="1800" i="0" b="0">
                          <a:solidFill>
                            <a:srgbClr val="2B211C"/>
                          </a:solidFill>
                          <a:latin typeface="Calibri"/>
                        </a:rPr>
                        <a:t>Initials, age, sex, weight (no full name)</a:t>
                      </a:r>
                    </a:p>
                  </a:txBody>
                  <a:tcPr marL="109728" marR="109728" marT="45720" marB="45720" anchor="ctr">
                    <a:solidFill>
                      <a:srgbClr val="FFFFFF"/>
                    </a:solidFill>
                  </a:tcPr>
                </a:tc>
              </a:tr>
              <a:tr h="538734">
                <a:tc>
                  <a:txBody>
                    <a:bodyPr/>
                    <a:lstStyle/>
                    <a:p>
                      <a:r>
                        <a:rPr sz="1800" i="0" b="1">
                          <a:solidFill>
                            <a:srgbClr val="2B211C"/>
                          </a:solidFill>
                          <a:latin typeface="Calibri"/>
                        </a:rPr>
                        <a:t>Reaction</a:t>
                      </a:r>
                    </a:p>
                  </a:txBody>
                  <a:tcPr marL="109728" marR="109728" marT="45720" marB="45720" anchor="ctr">
                    <a:solidFill>
                      <a:srgbClr val="FAF4F2"/>
                    </a:solidFill>
                  </a:tcPr>
                </a:tc>
                <a:tc>
                  <a:txBody>
                    <a:bodyPr/>
                    <a:lstStyle/>
                    <a:p>
                      <a:r>
                        <a:rPr sz="1800" i="0" b="0">
                          <a:solidFill>
                            <a:srgbClr val="2B211C"/>
                          </a:solidFill>
                          <a:latin typeface="Calibri"/>
                        </a:rPr>
                        <a:t>What happened, when it started, how it was treated, the outcome</a:t>
                      </a:r>
                    </a:p>
                  </a:txBody>
                  <a:tcPr marL="109728" marR="109728" marT="45720" marB="45720" anchor="ctr">
                    <a:solidFill>
                      <a:srgbClr val="FAF4F2"/>
                    </a:solidFill>
                  </a:tcPr>
                </a:tc>
              </a:tr>
              <a:tr h="538734">
                <a:tc>
                  <a:txBody>
                    <a:bodyPr/>
                    <a:lstStyle/>
                    <a:p>
                      <a:r>
                        <a:rPr sz="1800" i="0" b="1">
                          <a:solidFill>
                            <a:srgbClr val="2B211C"/>
                          </a:solidFill>
                          <a:latin typeface="Calibri"/>
                        </a:rPr>
                        <a:t>Suspected drug</a:t>
                      </a:r>
                    </a:p>
                  </a:txBody>
                  <a:tcPr marL="109728" marR="109728" marT="45720" marB="45720" anchor="ctr">
                    <a:solidFill>
                      <a:srgbClr val="FFFFFF"/>
                    </a:solidFill>
                  </a:tcPr>
                </a:tc>
                <a:tc>
                  <a:txBody>
                    <a:bodyPr/>
                    <a:lstStyle/>
                    <a:p>
                      <a:r>
                        <a:rPr sz="1800" i="0" b="0">
                          <a:solidFill>
                            <a:srgbClr val="2B211C"/>
                          </a:solidFill>
                          <a:latin typeface="Calibri"/>
                        </a:rPr>
                        <a:t>Name, brand, batch number, dose, route, start and stop dates, reason for use</a:t>
                      </a:r>
                    </a:p>
                  </a:txBody>
                  <a:tcPr marL="109728" marR="109728" marT="45720" marB="45720" anchor="ctr">
                    <a:solidFill>
                      <a:srgbClr val="FFFFFF"/>
                    </a:solidFill>
                  </a:tcPr>
                </a:tc>
              </a:tr>
              <a:tr h="538734">
                <a:tc>
                  <a:txBody>
                    <a:bodyPr/>
                    <a:lstStyle/>
                    <a:p>
                      <a:r>
                        <a:rPr sz="1800" i="0" b="1">
                          <a:solidFill>
                            <a:srgbClr val="2B211C"/>
                          </a:solidFill>
                          <a:latin typeface="Calibri"/>
                        </a:rPr>
                        <a:t>Other drugs</a:t>
                      </a:r>
                    </a:p>
                  </a:txBody>
                  <a:tcPr marL="109728" marR="109728" marT="45720" marB="45720" anchor="ctr">
                    <a:solidFill>
                      <a:srgbClr val="FAF4F2"/>
                    </a:solidFill>
                  </a:tcPr>
                </a:tc>
                <a:tc>
                  <a:txBody>
                    <a:bodyPr/>
                    <a:lstStyle/>
                    <a:p>
                      <a:r>
                        <a:rPr sz="1800" i="0" b="0">
                          <a:solidFill>
                            <a:srgbClr val="2B211C"/>
                          </a:solidFill>
                          <a:latin typeface="Calibri"/>
                        </a:rPr>
                        <a:t>All other medicines, including over-the-counter and herbal products</a:t>
                      </a:r>
                    </a:p>
                  </a:txBody>
                  <a:tcPr marL="109728" marR="109728" marT="45720" marB="45720" anchor="ctr">
                    <a:solidFill>
                      <a:srgbClr val="FAF4F2"/>
                    </a:solidFill>
                  </a:tcPr>
                </a:tc>
              </a:tr>
              <a:tr h="538734">
                <a:tc>
                  <a:txBody>
                    <a:bodyPr/>
                    <a:lstStyle/>
                    <a:p>
                      <a:r>
                        <a:rPr sz="1800" i="0" b="1">
                          <a:solidFill>
                            <a:srgbClr val="2B211C"/>
                          </a:solidFill>
                          <a:latin typeface="Calibri"/>
                        </a:rPr>
                        <a:t>Reporter</a:t>
                      </a:r>
                    </a:p>
                  </a:txBody>
                  <a:tcPr marL="109728" marR="109728" marT="45720" marB="45720" anchor="ctr">
                    <a:solidFill>
                      <a:srgbClr val="FFFFFF"/>
                    </a:solidFill>
                  </a:tcPr>
                </a:tc>
                <a:tc>
                  <a:txBody>
                    <a:bodyPr/>
                    <a:lstStyle/>
                    <a:p>
                      <a:r>
                        <a:rPr sz="1800" i="0" b="0">
                          <a:solidFill>
                            <a:srgbClr val="2B211C"/>
                          </a:solidFill>
                          <a:latin typeface="Calibri"/>
                        </a:rPr>
                        <a:t>Your name, profession and contact details</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tells you that her ankles have swollen since she started amlodipine. You check the dose and history, suggest she see her doctor, and complete an online EDA report with the batch number from the box. The whole report takes about ten minutes.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Pharmacovigilance, ADR Reporting and Medication Errors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Drug and Therapeutics Committee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a:t>
            </a:r>
            <a:r>
              <a:rPr sz="1800" i="0" b="1">
                <a:solidFill>
                  <a:srgbClr val="2B211C"/>
                </a:solidFill>
                <a:latin typeface="Calibri"/>
              </a:rPr>
              <a:t>Drug and Therapeutics Committee (DTC)</a:t>
            </a:r>
            <a:r>
              <a:rPr sz="1800" i="0" b="0">
                <a:solidFill>
                  <a:srgbClr val="2B211C"/>
                </a:solidFill>
                <a:latin typeface="Calibri"/>
              </a:rPr>
              <a:t> of a hospital runs local drug-safety work:</a:t>
            </a:r>
          </a:p>
        </p:txBody>
      </p:sp>
      <p:sp>
        <p:nvSpPr>
          <p:cNvPr id="9" name="Oval 8"/>
          <p:cNvSpPr/>
          <p:nvPr/>
        </p:nvSpPr>
        <p:spPr>
          <a:xfrm>
            <a:off x="548640" y="225399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272284"/>
            <a:ext cx="10500055" cy="674903"/>
          </a:xfrm>
          <a:prstGeom prst="rect">
            <a:avLst/>
          </a:prstGeom>
          <a:noFill/>
        </p:spPr>
        <p:txBody>
          <a:bodyPr wrap="square" anchor="t" lIns="0" rIns="0" tIns="0" bIns="0">
            <a:spAutoFit/>
          </a:bodyPr>
          <a:lstStyle/>
          <a:p>
            <a:r>
              <a:rPr sz="2100" i="0" b="0">
                <a:solidFill>
                  <a:srgbClr val="2B211C"/>
                </a:solidFill>
                <a:latin typeface="Calibri"/>
              </a:rPr>
              <a:t>sets up a local ADR reporting system with a standard form;</a:t>
            </a:r>
          </a:p>
        </p:txBody>
      </p:sp>
      <p:sp>
        <p:nvSpPr>
          <p:cNvPr id="11" name="Oval 10"/>
          <p:cNvSpPr/>
          <p:nvPr/>
        </p:nvSpPr>
        <p:spPr>
          <a:xfrm>
            <a:off x="548640" y="297461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2992907"/>
            <a:ext cx="10500055" cy="674903"/>
          </a:xfrm>
          <a:prstGeom prst="rect">
            <a:avLst/>
          </a:prstGeom>
          <a:noFill/>
        </p:spPr>
        <p:txBody>
          <a:bodyPr wrap="square" anchor="t" lIns="0" rIns="0" tIns="0" bIns="0">
            <a:spAutoFit/>
          </a:bodyPr>
          <a:lstStyle/>
          <a:p>
            <a:r>
              <a:rPr sz="2100" i="0" b="0">
                <a:solidFill>
                  <a:srgbClr val="2B211C"/>
                </a:solidFill>
                <a:latin typeface="Calibri"/>
              </a:rPr>
              <a:t>analyses reported ADRs through a named member;</a:t>
            </a:r>
          </a:p>
        </p:txBody>
      </p:sp>
      <p:sp>
        <p:nvSpPr>
          <p:cNvPr id="13" name="Oval 12"/>
          <p:cNvSpPr/>
          <p:nvPr/>
        </p:nvSpPr>
        <p:spPr>
          <a:xfrm>
            <a:off x="548640" y="369524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3713530"/>
            <a:ext cx="10500055" cy="674903"/>
          </a:xfrm>
          <a:prstGeom prst="rect">
            <a:avLst/>
          </a:prstGeom>
          <a:noFill/>
        </p:spPr>
        <p:txBody>
          <a:bodyPr wrap="square" anchor="t" lIns="0" rIns="0" tIns="0" bIns="0">
            <a:spAutoFit/>
          </a:bodyPr>
          <a:lstStyle/>
          <a:p>
            <a:r>
              <a:rPr sz="2100" i="0" b="0">
                <a:solidFill>
                  <a:srgbClr val="2B211C"/>
                </a:solidFill>
                <a:latin typeface="Calibri"/>
              </a:rPr>
              <a:t>reports serious and repeated ADRs to the regulator and the manufacturer;</a:t>
            </a:r>
          </a:p>
        </p:txBody>
      </p:sp>
      <p:sp>
        <p:nvSpPr>
          <p:cNvPr id="15" name="Oval 14"/>
          <p:cNvSpPr/>
          <p:nvPr/>
        </p:nvSpPr>
        <p:spPr>
          <a:xfrm>
            <a:off x="548640" y="44158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434154"/>
            <a:ext cx="10500055" cy="674903"/>
          </a:xfrm>
          <a:prstGeom prst="rect">
            <a:avLst/>
          </a:prstGeom>
          <a:noFill/>
        </p:spPr>
        <p:txBody>
          <a:bodyPr wrap="square" anchor="t" lIns="0" rIns="0" tIns="0" bIns="0">
            <a:spAutoFit/>
          </a:bodyPr>
          <a:lstStyle/>
          <a:p>
            <a:r>
              <a:rPr sz="2100" i="0" b="0">
                <a:solidFill>
                  <a:srgbClr val="2B211C"/>
                </a:solidFill>
                <a:latin typeface="Calibri"/>
              </a:rPr>
              <a:t>changes the formulary or treatment guidelines when a problem repeats;</a:t>
            </a:r>
          </a:p>
        </p:txBody>
      </p:sp>
      <p:sp>
        <p:nvSpPr>
          <p:cNvPr id="17" name="Oval 16"/>
          <p:cNvSpPr/>
          <p:nvPr/>
        </p:nvSpPr>
        <p:spPr>
          <a:xfrm>
            <a:off x="548640" y="513648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154777"/>
            <a:ext cx="10500055" cy="1008278"/>
          </a:xfrm>
          <a:prstGeom prst="rect">
            <a:avLst/>
          </a:prstGeom>
          <a:noFill/>
        </p:spPr>
        <p:txBody>
          <a:bodyPr wrap="square" anchor="t" lIns="0" rIns="0" tIns="0" bIns="0">
            <a:spAutoFit/>
          </a:bodyPr>
          <a:lstStyle/>
          <a:p>
            <a:r>
              <a:rPr sz="2100" i="0" b="0">
                <a:solidFill>
                  <a:srgbClr val="2B211C"/>
                </a:solidFill>
                <a:latin typeface="Calibri"/>
              </a:rPr>
              <a:t>identifies </a:t>
            </a:r>
            <a:r>
              <a:rPr sz="2100" i="0" b="1">
                <a:solidFill>
                  <a:srgbClr val="2B211C"/>
                </a:solidFill>
                <a:latin typeface="Calibri"/>
              </a:rPr>
              <a:t>high-risk medicines</a:t>
            </a:r>
            <a:r>
              <a:rPr sz="2100" i="0" b="0">
                <a:solidFill>
                  <a:srgbClr val="2B211C"/>
                </a:solidFill>
                <a:latin typeface="Calibri"/>
              </a:rPr>
              <a:t> (for example insulin, anticoagulants, concentrated potassium) that need close monitoring.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a:t>
            </a:r>
            <a:r>
              <a:rPr sz="1800" i="0" b="1">
                <a:solidFill>
                  <a:srgbClr val="2B211C"/>
                </a:solidFill>
                <a:latin typeface="Calibri"/>
              </a:rPr>
              <a:t>medication error</a:t>
            </a:r>
            <a:r>
              <a:rPr sz="1800" i="0" b="0">
                <a:solidFill>
                  <a:srgbClr val="2B211C"/>
                </a:solidFill>
                <a:latin typeface="Calibri"/>
              </a:rPr>
              <a:t> is any </a:t>
            </a:r>
            <a:r>
              <a:rPr sz="1800" i="0" b="1">
                <a:solidFill>
                  <a:srgbClr val="2B211C"/>
                </a:solidFill>
                <a:latin typeface="Calibri"/>
              </a:rPr>
              <a:t>preventable</a:t>
            </a:r>
            <a:r>
              <a:rPr sz="1800" i="0" b="0">
                <a:solidFill>
                  <a:srgbClr val="2B211C"/>
                </a:solidFill>
                <a:latin typeface="Calibri"/>
              </a:rPr>
              <a:t> event that may cause or lead to inappropriate medication use or patient harm while the medication is in the control of the health professional, patient or consumer.</a:t>
            </a:r>
          </a:p>
        </p:txBody>
      </p:sp>
      <p:graphicFrame>
        <p:nvGraphicFramePr>
          <p:cNvPr id="9" name="Table 8"/>
          <p:cNvGraphicFramePr>
            <a:graphicFrameLocks noGrp="1"/>
          </p:cNvGraphicFramePr>
          <p:nvPr/>
        </p:nvGraphicFramePr>
        <p:xfrm>
          <a:off x="548640" y="2830068"/>
          <a:ext cx="11094414" cy="1920240"/>
        </p:xfrm>
        <a:graphic>
          <a:graphicData uri="http://schemas.openxmlformats.org/drawingml/2006/table">
            <a:tbl>
              <a:tblPr firstRow="0" bandRow="0">
                <a:tableStyleId>{5C22544A-7EE6-4342-B048-85BDC9FD1C3A}</a:tableStyleId>
              </a:tblPr>
              <a:tblGrid>
                <a:gridCol w="2068450"/>
                <a:gridCol w="5077105"/>
                <a:gridCol w="3948859"/>
              </a:tblGrid>
              <a:tr h="640080">
                <a:tc>
                  <a:txBody>
                    <a:bodyPr/>
                    <a:lstStyle/>
                    <a:p>
                      <a:r>
                        <a:rPr sz="1900" i="0" b="1">
                          <a:solidFill>
                            <a:srgbClr val="FFFFFF"/>
                          </a:solidFill>
                          <a:latin typeface="Calibri"/>
                        </a:rPr>
                        <a:t>Type</a:t>
                      </a:r>
                    </a:p>
                  </a:txBody>
                  <a:tcPr marL="109728" marR="109728" marT="45720" marB="45720" anchor="ctr">
                    <a:solidFill>
                      <a:srgbClr val="A4472B"/>
                    </a:solidFill>
                  </a:tcPr>
                </a:tc>
                <a:tc>
                  <a:txBody>
                    <a:bodyPr/>
                    <a:lstStyle/>
                    <a:p>
                      <a:r>
                        <a:rPr sz="1900" i="0" b="1">
                          <a:solidFill>
                            <a:srgbClr val="FFFFFF"/>
                          </a:solidFill>
                          <a:latin typeface="Calibri"/>
                        </a:rPr>
                        <a:t>Meaning</a:t>
                      </a:r>
                    </a:p>
                  </a:txBody>
                  <a:tcPr marL="109728" marR="109728" marT="45720" marB="45720" anchor="ctr">
                    <a:solidFill>
                      <a:srgbClr val="A4472B"/>
                    </a:solidFill>
                  </a:tcPr>
                </a:tc>
                <a:tc>
                  <a:txBody>
                    <a:bodyPr/>
                    <a:lstStyle/>
                    <a:p>
                      <a:r>
                        <a:rPr sz="1900" i="0" b="1">
                          <a:solidFill>
                            <a:srgbClr val="FFFFFF"/>
                          </a:solidFill>
                          <a:latin typeface="Calibri"/>
                        </a:rPr>
                        <a:t>Example</a:t>
                      </a:r>
                    </a:p>
                  </a:txBody>
                  <a:tcPr marL="109728" marR="109728" marT="45720" marB="45720" anchor="ctr">
                    <a:solidFill>
                      <a:srgbClr val="A4472B"/>
                    </a:solidFill>
                  </a:tcPr>
                </a:tc>
              </a:tr>
              <a:tr h="640080">
                <a:tc>
                  <a:txBody>
                    <a:bodyPr/>
                    <a:lstStyle/>
                    <a:p>
                      <a:r>
                        <a:rPr sz="2000" i="0" b="1">
                          <a:solidFill>
                            <a:srgbClr val="2B211C"/>
                          </a:solidFill>
                          <a:latin typeface="Calibri"/>
                        </a:rPr>
                        <a:t>Omission</a:t>
                      </a:r>
                    </a:p>
                  </a:txBody>
                  <a:tcPr marL="109728" marR="109728" marT="45720" marB="45720" anchor="ctr">
                    <a:solidFill>
                      <a:srgbClr val="FFFFFF"/>
                    </a:solidFill>
                  </a:tcPr>
                </a:tc>
                <a:tc>
                  <a:txBody>
                    <a:bodyPr/>
                    <a:lstStyle/>
                    <a:p>
                      <a:r>
                        <a:rPr sz="2000" i="0" b="0">
                          <a:solidFill>
                            <a:srgbClr val="2B211C"/>
                          </a:solidFill>
                          <a:latin typeface="Calibri"/>
                        </a:rPr>
                        <a:t>Not doing something that should have been done</a:t>
                      </a:r>
                    </a:p>
                  </a:txBody>
                  <a:tcPr marL="109728" marR="109728" marT="45720" marB="45720" anchor="ctr">
                    <a:solidFill>
                      <a:srgbClr val="FFFFFF"/>
                    </a:solidFill>
                  </a:tcPr>
                </a:tc>
                <a:tc>
                  <a:txBody>
                    <a:bodyPr/>
                    <a:lstStyle/>
                    <a:p>
                      <a:r>
                        <a:rPr sz="2000" i="0" b="0">
                          <a:solidFill>
                            <a:srgbClr val="2B211C"/>
                          </a:solidFill>
                          <a:latin typeface="Calibri"/>
                        </a:rPr>
                        <a:t>A dose of antibiotic is missed</a:t>
                      </a:r>
                    </a:p>
                  </a:txBody>
                  <a:tcPr marL="109728" marR="109728" marT="45720" marB="45720" anchor="ctr">
                    <a:solidFill>
                      <a:srgbClr val="FFFFFF"/>
                    </a:solidFill>
                  </a:tcPr>
                </a:tc>
              </a:tr>
              <a:tr h="640080">
                <a:tc>
                  <a:txBody>
                    <a:bodyPr/>
                    <a:lstStyle/>
                    <a:p>
                      <a:r>
                        <a:rPr sz="2000" i="0" b="1">
                          <a:solidFill>
                            <a:srgbClr val="2B211C"/>
                          </a:solidFill>
                          <a:latin typeface="Calibri"/>
                        </a:rPr>
                        <a:t>Commission</a:t>
                      </a:r>
                    </a:p>
                  </a:txBody>
                  <a:tcPr marL="109728" marR="109728" marT="45720" marB="45720" anchor="ctr">
                    <a:solidFill>
                      <a:srgbClr val="FAF4F2"/>
                    </a:solidFill>
                  </a:tcPr>
                </a:tc>
                <a:tc>
                  <a:txBody>
                    <a:bodyPr/>
                    <a:lstStyle/>
                    <a:p>
                      <a:r>
                        <a:rPr sz="2000" i="0" b="0">
                          <a:solidFill>
                            <a:srgbClr val="2B211C"/>
                          </a:solidFill>
                          <a:latin typeface="Calibri"/>
                        </a:rPr>
                        <a:t>Doing the wrong thing</a:t>
                      </a:r>
                    </a:p>
                  </a:txBody>
                  <a:tcPr marL="109728" marR="109728" marT="45720" marB="45720" anchor="ctr">
                    <a:solidFill>
                      <a:srgbClr val="FAF4F2"/>
                    </a:solidFill>
                  </a:tcPr>
                </a:tc>
                <a:tc>
                  <a:txBody>
                    <a:bodyPr/>
                    <a:lstStyle/>
                    <a:p>
                      <a:r>
                        <a:rPr sz="2000" i="0" b="0">
                          <a:solidFill>
                            <a:srgbClr val="2B211C"/>
                          </a:solidFill>
                          <a:latin typeface="Calibri"/>
                        </a:rPr>
                        <a:t>Wrong drug, dose, route or patient</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Errors happen at every stage:</a:t>
            </a:r>
          </a:p>
          <a:p>
            <a:pPr>
              <a:spcAft>
                <a:spcPts val="800"/>
              </a:spcAft>
            </a:pPr>
            <a:r>
              <a:rPr sz="1800" i="0" b="0">
                <a:solidFill>
                  <a:srgbClr val="2B211C"/>
                </a:solidFill>
                <a:latin typeface="Calibri"/>
              </a:rPr>
              <a:t>Errors have many causes: lack of knowledge, slips and lapses (mental errors under pressure), unclear labels, and failures to check.</a:t>
            </a:r>
          </a:p>
        </p:txBody>
      </p:sp>
      <p:graphicFrame>
        <p:nvGraphicFramePr>
          <p:cNvPr id="9" name="Table 8"/>
          <p:cNvGraphicFramePr>
            <a:graphicFrameLocks noGrp="1"/>
          </p:cNvGraphicFramePr>
          <p:nvPr/>
        </p:nvGraphicFramePr>
        <p:xfrm>
          <a:off x="548640" y="2939796"/>
          <a:ext cx="11094413" cy="2560320"/>
        </p:xfrm>
        <a:graphic>
          <a:graphicData uri="http://schemas.openxmlformats.org/drawingml/2006/table">
            <a:tbl>
              <a:tblPr firstRow="0" bandRow="0">
                <a:tableStyleId>{5C22544A-7EE6-4342-B048-85BDC9FD1C3A}</a:tableStyleId>
              </a:tblPr>
              <a:tblGrid>
                <a:gridCol w="1935938"/>
                <a:gridCol w="4095253"/>
                <a:gridCol w="5063222"/>
              </a:tblGrid>
              <a:tr h="640080">
                <a:tc>
                  <a:txBody>
                    <a:bodyPr/>
                    <a:lstStyle/>
                    <a:p>
                      <a:r>
                        <a:rPr sz="1700" i="0" b="1">
                          <a:solidFill>
                            <a:srgbClr val="FFFFFF"/>
                          </a:solidFill>
                          <a:latin typeface="Calibri"/>
                        </a:rPr>
                        <a:t>Stage</a:t>
                      </a:r>
                    </a:p>
                  </a:txBody>
                  <a:tcPr marL="109728" marR="109728" marT="45720" marB="45720" anchor="ctr">
                    <a:solidFill>
                      <a:srgbClr val="A4472B"/>
                    </a:solidFill>
                  </a:tcPr>
                </a:tc>
                <a:tc>
                  <a:txBody>
                    <a:bodyPr/>
                    <a:lstStyle/>
                    <a:p>
                      <a:r>
                        <a:rPr sz="1700" i="0" b="1">
                          <a:solidFill>
                            <a:srgbClr val="FFFFFF"/>
                          </a:solidFill>
                          <a:latin typeface="Calibri"/>
                        </a:rPr>
                        <a:t>Examples</a:t>
                      </a:r>
                    </a:p>
                  </a:txBody>
                  <a:tcPr marL="109728" marR="109728" marT="45720" marB="45720" anchor="ctr">
                    <a:solidFill>
                      <a:srgbClr val="A4472B"/>
                    </a:solidFill>
                  </a:tcPr>
                </a:tc>
                <a:tc>
                  <a:txBody>
                    <a:bodyPr/>
                    <a:lstStyle/>
                    <a:p>
                      <a:r>
                        <a:rPr sz="1700" i="0" b="1">
                          <a:solidFill>
                            <a:srgbClr val="FFFFFF"/>
                          </a:solidFill>
                          <a:latin typeface="Calibri"/>
                        </a:rPr>
                        <a:t>Risk factors</a:t>
                      </a:r>
                    </a:p>
                  </a:txBody>
                  <a:tcPr marL="109728" marR="109728" marT="45720" marB="45720" anchor="ctr">
                    <a:solidFill>
                      <a:srgbClr val="A4472B"/>
                    </a:solidFill>
                  </a:tcPr>
                </a:tc>
              </a:tr>
              <a:tr h="640080">
                <a:tc>
                  <a:txBody>
                    <a:bodyPr/>
                    <a:lstStyle/>
                    <a:p>
                      <a:r>
                        <a:rPr sz="1800" i="0" b="1">
                          <a:solidFill>
                            <a:srgbClr val="2B211C"/>
                          </a:solidFill>
                          <a:latin typeface="Calibri"/>
                        </a:rPr>
                        <a:t>Prescribing</a:t>
                      </a:r>
                    </a:p>
                  </a:txBody>
                  <a:tcPr marL="109728" marR="109728" marT="45720" marB="45720" anchor="ctr">
                    <a:solidFill>
                      <a:srgbClr val="FFFFFF"/>
                    </a:solidFill>
                  </a:tcPr>
                </a:tc>
                <a:tc>
                  <a:txBody>
                    <a:bodyPr/>
                    <a:lstStyle/>
                    <a:p>
                      <a:r>
                        <a:rPr sz="1800" i="0" b="0">
                          <a:solidFill>
                            <a:srgbClr val="2B211C"/>
                          </a:solidFill>
                          <a:latin typeface="Calibri"/>
                        </a:rPr>
                        <a:t>Wrong dose, unclear handwriting, missed allergy</a:t>
                      </a:r>
                    </a:p>
                  </a:txBody>
                  <a:tcPr marL="109728" marR="109728" marT="45720" marB="45720" anchor="ctr">
                    <a:solidFill>
                      <a:srgbClr val="FFFFFF"/>
                    </a:solidFill>
                  </a:tcPr>
                </a:tc>
                <a:tc>
                  <a:txBody>
                    <a:bodyPr/>
                    <a:lstStyle/>
                    <a:p>
                      <a:r>
                        <a:rPr sz="1800" i="0" b="0">
                          <a:solidFill>
                            <a:srgbClr val="2B211C"/>
                          </a:solidFill>
                          <a:latin typeface="Calibri"/>
                        </a:rPr>
                        <a:t>Poor training, lack of knowledge, heavy workload, poor team communication</a:t>
                      </a:r>
                    </a:p>
                  </a:txBody>
                  <a:tcPr marL="109728" marR="109728" marT="45720" marB="45720" anchor="ctr">
                    <a:solidFill>
                      <a:srgbClr val="FFFFFF"/>
                    </a:solidFill>
                  </a:tcPr>
                </a:tc>
              </a:tr>
              <a:tr h="640080">
                <a:tc>
                  <a:txBody>
                    <a:bodyPr/>
                    <a:lstStyle/>
                    <a:p>
                      <a:r>
                        <a:rPr sz="1800" i="0" b="1">
                          <a:solidFill>
                            <a:srgbClr val="2B211C"/>
                          </a:solidFill>
                          <a:latin typeface="Calibri"/>
                        </a:rPr>
                        <a:t>Dispensing</a:t>
                      </a:r>
                    </a:p>
                  </a:txBody>
                  <a:tcPr marL="109728" marR="109728" marT="45720" marB="45720" anchor="ctr">
                    <a:solidFill>
                      <a:srgbClr val="FAF4F2"/>
                    </a:solidFill>
                  </a:tcPr>
                </a:tc>
                <a:tc>
                  <a:txBody>
                    <a:bodyPr/>
                    <a:lstStyle/>
                    <a:p>
                      <a:r>
                        <a:rPr sz="1800" i="0" b="0">
                          <a:solidFill>
                            <a:srgbClr val="2B211C"/>
                          </a:solidFill>
                          <a:latin typeface="Calibri"/>
                        </a:rPr>
                        <a:t>Wrong drug or strength, wrong label</a:t>
                      </a:r>
                    </a:p>
                  </a:txBody>
                  <a:tcPr marL="109728" marR="109728" marT="45720" marB="45720" anchor="ctr">
                    <a:solidFill>
                      <a:srgbClr val="FAF4F2"/>
                    </a:solidFill>
                  </a:tcPr>
                </a:tc>
                <a:tc>
                  <a:txBody>
                    <a:bodyPr/>
                    <a:lstStyle/>
                    <a:p>
                      <a:r>
                        <a:rPr sz="1800" i="0" b="0">
                          <a:solidFill>
                            <a:srgbClr val="2B211C"/>
                          </a:solidFill>
                          <a:latin typeface="Calibri"/>
                        </a:rPr>
                        <a:t>Look-alike, sound-alike (LASA) names, distractions</a:t>
                      </a:r>
                    </a:p>
                  </a:txBody>
                  <a:tcPr marL="109728" marR="109728" marT="45720" marB="45720" anchor="ctr">
                    <a:solidFill>
                      <a:srgbClr val="FAF4F2"/>
                    </a:solidFill>
                  </a:tcPr>
                </a:tc>
              </a:tr>
              <a:tr h="640080">
                <a:tc>
                  <a:txBody>
                    <a:bodyPr/>
                    <a:lstStyle/>
                    <a:p>
                      <a:r>
                        <a:rPr sz="1800" i="0" b="1">
                          <a:solidFill>
                            <a:srgbClr val="2B211C"/>
                          </a:solidFill>
                          <a:latin typeface="Calibri"/>
                        </a:rPr>
                        <a:t>Administration</a:t>
                      </a:r>
                    </a:p>
                  </a:txBody>
                  <a:tcPr marL="109728" marR="109728" marT="45720" marB="45720" anchor="ctr">
                    <a:solidFill>
                      <a:srgbClr val="FFFFFF"/>
                    </a:solidFill>
                  </a:tcPr>
                </a:tc>
                <a:tc>
                  <a:txBody>
                    <a:bodyPr/>
                    <a:lstStyle/>
                    <a:p>
                      <a:r>
                        <a:rPr sz="1800" i="0" b="0">
                          <a:solidFill>
                            <a:srgbClr val="2B211C"/>
                          </a:solidFill>
                          <a:latin typeface="Calibri"/>
                        </a:rPr>
                        <a:t>Wrong time, route or patient</a:t>
                      </a:r>
                    </a:p>
                  </a:txBody>
                  <a:tcPr marL="109728" marR="109728" marT="45720" marB="45720" anchor="ctr">
                    <a:solidFill>
                      <a:srgbClr val="FFFFFF"/>
                    </a:solidFill>
                  </a:tcPr>
                </a:tc>
                <a:tc>
                  <a:txBody>
                    <a:bodyPr/>
                    <a:lstStyle/>
                    <a:p>
                      <a:r>
                        <a:rPr sz="1800" i="0" b="0">
                          <a:solidFill>
                            <a:srgbClr val="2B211C"/>
                          </a:solidFill>
                          <a:latin typeface="Calibri"/>
                        </a:rPr>
                        <a:t>Misidentified patient, unclear labels</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Regulators</a:t>
            </a:r>
            <a:r>
              <a:rPr sz="1800" i="0" b="0">
                <a:solidFill>
                  <a:srgbClr val="2B211C"/>
                </a:solidFill>
                <a:latin typeface="Calibri"/>
              </a:rPr>
              <a:t> also prevent errors. They review drug labels and names before approval, and reject names that look or sound like existing ones. They encourage pharmacists and other professionals to report medication errors.</a:t>
            </a:r>
          </a:p>
        </p:txBody>
      </p:sp>
      <p:graphicFrame>
        <p:nvGraphicFramePr>
          <p:cNvPr id="9" name="Table 8"/>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2711968"/>
                <a:gridCol w="8382446"/>
              </a:tblGrid>
              <a:tr h="640080">
                <a:tc>
                  <a:txBody>
                    <a:bodyPr/>
                    <a:lstStyle/>
                    <a:p>
                      <a:r>
                        <a:rPr sz="1700" i="0" b="1">
                          <a:solidFill>
                            <a:srgbClr val="FFFFFF"/>
                          </a:solidFill>
                          <a:latin typeface="Calibri"/>
                        </a:rPr>
                        <a:t>Stage</a:t>
                      </a:r>
                    </a:p>
                  </a:txBody>
                  <a:tcPr marL="109728" marR="109728" marT="45720" marB="45720" anchor="ctr">
                    <a:solidFill>
                      <a:srgbClr val="A4472B"/>
                    </a:solidFill>
                  </a:tcPr>
                </a:tc>
                <a:tc>
                  <a:txBody>
                    <a:bodyPr/>
                    <a:lstStyle/>
                    <a:p>
                      <a:r>
                        <a:rPr sz="1700" i="0" b="1">
                          <a:solidFill>
                            <a:srgbClr val="FFFFFF"/>
                          </a:solidFill>
                          <a:latin typeface="Calibri"/>
                        </a:rPr>
                        <a:t>Prevention</a:t>
                      </a:r>
                    </a:p>
                  </a:txBody>
                  <a:tcPr marL="109728" marR="109728" marT="45720" marB="45720" anchor="ctr">
                    <a:solidFill>
                      <a:srgbClr val="A4472B"/>
                    </a:solidFill>
                  </a:tcPr>
                </a:tc>
              </a:tr>
              <a:tr h="640080">
                <a:tc>
                  <a:txBody>
                    <a:bodyPr/>
                    <a:lstStyle/>
                    <a:p>
                      <a:r>
                        <a:rPr sz="1800" i="0" b="1">
                          <a:solidFill>
                            <a:srgbClr val="2B211C"/>
                          </a:solidFill>
                          <a:latin typeface="Calibri"/>
                        </a:rPr>
                        <a:t>Prescribing</a:t>
                      </a:r>
                    </a:p>
                  </a:txBody>
                  <a:tcPr marL="109728" marR="109728" marT="45720" marB="45720" anchor="ctr">
                    <a:solidFill>
                      <a:srgbClr val="FFFFFF"/>
                    </a:solidFill>
                  </a:tcPr>
                </a:tc>
                <a:tc>
                  <a:txBody>
                    <a:bodyPr/>
                    <a:lstStyle/>
                    <a:p>
                      <a:r>
                        <a:rPr sz="1800" i="0" b="0">
                          <a:solidFill>
                            <a:srgbClr val="2B211C"/>
                          </a:solidFill>
                          <a:latin typeface="Calibri"/>
                        </a:rPr>
                        <a:t>Electronic prescribing with dose and allergy checks; clear, complete orders</a:t>
                      </a:r>
                    </a:p>
                  </a:txBody>
                  <a:tcPr marL="109728" marR="109728" marT="45720" marB="45720" anchor="ctr">
                    <a:solidFill>
                      <a:srgbClr val="FFFFFF"/>
                    </a:solidFill>
                  </a:tcPr>
                </a:tc>
              </a:tr>
              <a:tr h="640080">
                <a:tc>
                  <a:txBody>
                    <a:bodyPr/>
                    <a:lstStyle/>
                    <a:p>
                      <a:r>
                        <a:rPr sz="1800" i="0" b="1">
                          <a:solidFill>
                            <a:srgbClr val="2B211C"/>
                          </a:solidFill>
                          <a:latin typeface="Calibri"/>
                        </a:rPr>
                        <a:t>Dispensing</a:t>
                      </a:r>
                    </a:p>
                  </a:txBody>
                  <a:tcPr marL="109728" marR="109728" marT="45720" marB="45720" anchor="ctr">
                    <a:solidFill>
                      <a:srgbClr val="FAF4F2"/>
                    </a:solidFill>
                  </a:tcPr>
                </a:tc>
                <a:tc>
                  <a:txBody>
                    <a:bodyPr/>
                    <a:lstStyle/>
                    <a:p>
                      <a:r>
                        <a:rPr sz="1800" i="0" b="0">
                          <a:solidFill>
                            <a:srgbClr val="2B211C"/>
                          </a:solidFill>
                          <a:latin typeface="Calibri"/>
                        </a:rPr>
                        <a:t>Separate LASA drugs on the shelves; use "tall man" letters (for example hydrOXYzine, hydrALAZINE); a second check for high-risk drugs; unit-dose systems</a:t>
                      </a:r>
                    </a:p>
                  </a:txBody>
                  <a:tcPr marL="109728" marR="109728" marT="45720" marB="45720" anchor="ctr">
                    <a:solidFill>
                      <a:srgbClr val="FAF4F2"/>
                    </a:solidFill>
                  </a:tcPr>
                </a:tc>
              </a:tr>
              <a:tr h="640080">
                <a:tc>
                  <a:txBody>
                    <a:bodyPr/>
                    <a:lstStyle/>
                    <a:p>
                      <a:r>
                        <a:rPr sz="1800" i="0" b="1">
                          <a:solidFill>
                            <a:srgbClr val="2B211C"/>
                          </a:solidFill>
                          <a:latin typeface="Calibri"/>
                        </a:rPr>
                        <a:t>Administration</a:t>
                      </a:r>
                    </a:p>
                  </a:txBody>
                  <a:tcPr marL="109728" marR="109728" marT="45720" marB="45720" anchor="ctr">
                    <a:solidFill>
                      <a:srgbClr val="FFFFFF"/>
                    </a:solidFill>
                  </a:tcPr>
                </a:tc>
                <a:tc>
                  <a:txBody>
                    <a:bodyPr/>
                    <a:lstStyle/>
                    <a:p>
                      <a:r>
                        <a:rPr sz="1800" i="0" b="0">
                          <a:solidFill>
                            <a:srgbClr val="2B211C"/>
                          </a:solidFill>
                          <a:latin typeface="Calibri"/>
                        </a:rPr>
                        <a:t>Check the "rights": right patient, drug, dose, route and time; barcode scanning</a:t>
                      </a:r>
                    </a:p>
                  </a:txBody>
                  <a:tcPr marL="109728" marR="109728" marT="45720" marB="45720" anchor="ctr">
                    <a:solidFill>
                      <a:srgbClr val="FFFFFF"/>
                    </a:solidFill>
                  </a:tcPr>
                </a:tc>
              </a:tr>
              <a:tr h="640080">
                <a:tc>
                  <a:txBody>
                    <a:bodyPr/>
                    <a:lstStyle/>
                    <a:p>
                      <a:r>
                        <a:rPr sz="1800" i="0" b="1">
                          <a:solidFill>
                            <a:srgbClr val="2B211C"/>
                          </a:solidFill>
                          <a:latin typeface="Calibri"/>
                        </a:rPr>
                        <a:t>Patient</a:t>
                      </a:r>
                    </a:p>
                  </a:txBody>
                  <a:tcPr marL="109728" marR="109728" marT="45720" marB="45720" anchor="ctr">
                    <a:solidFill>
                      <a:srgbClr val="FAF4F2"/>
                    </a:solidFill>
                  </a:tcPr>
                </a:tc>
                <a:tc>
                  <a:txBody>
                    <a:bodyPr/>
                    <a:lstStyle/>
                    <a:p>
                      <a:r>
                        <a:rPr sz="1800" i="0" b="0">
                          <a:solidFill>
                            <a:srgbClr val="2B211C"/>
                          </a:solidFill>
                          <a:latin typeface="Calibri"/>
                        </a:rPr>
                        <a:t>Clear counselling and written instructions</a:t>
                      </a:r>
                    </a:p>
                  </a:txBody>
                  <a:tcPr marL="109728" marR="109728" marT="45720" marB="45720" anchor="ctr">
                    <a:solidFill>
                      <a:srgbClr val="FAF4F2"/>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Report medication errors, even near misses. The aim is to fix the system, not to blame a person.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Preventing Medication Errors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An ADR can happen with correct use; a medication error is always preventable.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Trials include too many patients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Trials are too small and short to detect rare ADRs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Trials never measure safety</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Marketing studies are cheaper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are post-marketing studies needed?</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Trials include too many patients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Trials are too small and short to detect rare ADRs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Trials never measure safety</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Marketing studies are cheaper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Trials are too small and short to find rare reactions. A, C and D are false.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Wait until she is certain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Report only if the patient is admitted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Tell the patient to stop all drugs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Report it to the EPVC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pharmacist suspects, but is not sure, that a drug caused a rash. What should she do?</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Wait until she is certain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Report only if the patient is admitted</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Tell the patient to stop all drugs</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Report it to the EPVC</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Suspicion is enough to report. A and B delay safety signals; C is unsafe advice.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Identifying high-risk medicines for close monitoring</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new medicines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Setting drug prices nationally</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Approving marketing authorisations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a role of the Drug and Therapeutics Committee?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Identifying high-risk medicines for close monitoring</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Manufacturing new medicines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Setting drug prices nationally</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Approving marketing authorisations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DTC identifies and monitors high-risk medicines. B, C and D belong to others.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 error of commission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Type A ADR</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 error of omission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Type B ADR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forgets to give a patient's evening insulin. This 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 error of commission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A Type A ADR</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An error of omission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Type B ADR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missed dose is an error of omission. A is doing the wrong thing; B and D are ADRs.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Storing LASA drugs side by side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Using "tall man" lettering and separating them on shelves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Removing all labels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Dispensing from memory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09</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9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9  ·  Pharmacovigilance, ADR Reporting and Medication Errors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measure best reduces dispensing errors with look-alike drug names?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Storing LASA drugs side by side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Using "tall man" lettering and separating them on shelves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Removing all labels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Dispensing from memory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Tall man letters and separation reduce LASA errors. A, C and D increase risk.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9</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patient receives methotrexate 10 mg </a:t>
            </a:r>
            <a:r>
              <a:rPr sz="2200" i="0" b="1">
                <a:solidFill>
                  <a:srgbClr val="2B211C"/>
                </a:solidFill>
                <a:latin typeface="Calibri"/>
              </a:rPr>
              <a:t>daily</a:t>
            </a:r>
            <a:r>
              <a:rPr sz="2200" i="0" b="0">
                <a:solidFill>
                  <a:srgbClr val="2B211C"/>
                </a:solidFill>
                <a:latin typeface="Calibri"/>
              </a:rPr>
              <a:t> instead of 10 mg </a:t>
            </a:r>
            <a:r>
              <a:rPr sz="2200" i="0" b="1">
                <a:solidFill>
                  <a:srgbClr val="2B211C"/>
                </a:solidFill>
                <a:latin typeface="Calibri"/>
              </a:rPr>
              <a:t>weekly</a:t>
            </a:r>
            <a:r>
              <a:rPr sz="2200" i="0" b="0">
                <a:solidFill>
                  <a:srgbClr val="2B211C"/>
                </a:solidFill>
                <a:latin typeface="Calibri"/>
              </a:rPr>
              <a:t>, dispensed from a handwritten prescription. After five days she has mouth ulcers and a low white-cell count. (a) Is this an ADR, a medication error, or both? (b) At which stages did the error occur? (c) What should be reported, and how could it be prevented?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Pharmacovigilance, ADR Reporting and Medication Errors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9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728852"/>
          </a:xfrm>
          <a:prstGeom prst="rect">
            <a:avLst/>
          </a:prstGeom>
          <a:noFill/>
        </p:spPr>
        <p:txBody>
          <a:bodyPr wrap="square" anchor="t" lIns="0" rIns="0" tIns="0" bIns="0">
            <a:spAutoFit/>
          </a:bodyPr>
          <a:lstStyle/>
          <a:p>
            <a:r>
              <a:rPr sz="2100" i="0" b="0">
                <a:solidFill>
                  <a:srgbClr val="FFFFFF"/>
                </a:solidFill>
                <a:latin typeface="Calibri"/>
              </a:rPr>
              <a:t>Pharmacovigilance detects, assesses, understands and prevents drug problems.</a:t>
            </a:r>
          </a:p>
        </p:txBody>
      </p:sp>
      <p:sp>
        <p:nvSpPr>
          <p:cNvPr id="6" name="Oval 5"/>
          <p:cNvSpPr/>
          <p:nvPr/>
        </p:nvSpPr>
        <p:spPr>
          <a:xfrm>
            <a:off x="548640" y="262166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639948"/>
            <a:ext cx="10500055" cy="728852"/>
          </a:xfrm>
          <a:prstGeom prst="rect">
            <a:avLst/>
          </a:prstGeom>
          <a:noFill/>
        </p:spPr>
        <p:txBody>
          <a:bodyPr wrap="square" anchor="t" lIns="0" rIns="0" tIns="0" bIns="0">
            <a:spAutoFit/>
          </a:bodyPr>
          <a:lstStyle/>
          <a:p>
            <a:r>
              <a:rPr sz="2100" i="0" b="0">
                <a:solidFill>
                  <a:srgbClr val="FFFFFF"/>
                </a:solidFill>
                <a:latin typeface="Calibri"/>
              </a:rPr>
              <a:t>Trials miss rare ADRs; post-marketing reporting finds them.</a:t>
            </a:r>
          </a:p>
        </p:txBody>
      </p:sp>
      <p:sp>
        <p:nvSpPr>
          <p:cNvPr id="8" name="Oval 7"/>
          <p:cNvSpPr/>
          <p:nvPr/>
        </p:nvSpPr>
        <p:spPr>
          <a:xfrm>
            <a:off x="548640" y="33962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14521"/>
            <a:ext cx="10500055" cy="728852"/>
          </a:xfrm>
          <a:prstGeom prst="rect">
            <a:avLst/>
          </a:prstGeom>
          <a:noFill/>
        </p:spPr>
        <p:txBody>
          <a:bodyPr wrap="square" anchor="t" lIns="0" rIns="0" tIns="0" bIns="0">
            <a:spAutoFit/>
          </a:bodyPr>
          <a:lstStyle/>
          <a:p>
            <a:r>
              <a:rPr sz="2100" i="0" b="0">
                <a:solidFill>
                  <a:srgbClr val="FFFFFF"/>
                </a:solidFill>
                <a:latin typeface="Calibri"/>
              </a:rPr>
              <a:t>In Egypt, report to the EPVC of the EDA; if in doubt, report.</a:t>
            </a:r>
          </a:p>
        </p:txBody>
      </p:sp>
      <p:sp>
        <p:nvSpPr>
          <p:cNvPr id="10" name="Oval 9"/>
          <p:cNvSpPr/>
          <p:nvPr/>
        </p:nvSpPr>
        <p:spPr>
          <a:xfrm>
            <a:off x="548640" y="41708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189094"/>
            <a:ext cx="10500055" cy="728852"/>
          </a:xfrm>
          <a:prstGeom prst="rect">
            <a:avLst/>
          </a:prstGeom>
          <a:noFill/>
        </p:spPr>
        <p:txBody>
          <a:bodyPr wrap="square" anchor="t" lIns="0" rIns="0" tIns="0" bIns="0">
            <a:spAutoFit/>
          </a:bodyPr>
          <a:lstStyle/>
          <a:p>
            <a:r>
              <a:rPr sz="2100" i="0" b="0">
                <a:solidFill>
                  <a:srgbClr val="FFFFFF"/>
                </a:solidFill>
                <a:latin typeface="Calibri"/>
              </a:rPr>
              <a:t>The DTC runs local ADR monitoring and acts on repeated problems.</a:t>
            </a:r>
          </a:p>
        </p:txBody>
      </p:sp>
      <p:sp>
        <p:nvSpPr>
          <p:cNvPr id="12" name="Oval 11"/>
          <p:cNvSpPr/>
          <p:nvPr/>
        </p:nvSpPr>
        <p:spPr>
          <a:xfrm>
            <a:off x="548640" y="494537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4963667"/>
            <a:ext cx="10500055" cy="1062227"/>
          </a:xfrm>
          <a:prstGeom prst="rect">
            <a:avLst/>
          </a:prstGeom>
          <a:noFill/>
        </p:spPr>
        <p:txBody>
          <a:bodyPr wrap="square" anchor="t" lIns="0" rIns="0" tIns="0" bIns="0">
            <a:spAutoFit/>
          </a:bodyPr>
          <a:lstStyle/>
          <a:p>
            <a:r>
              <a:rPr sz="2100" i="0" b="0">
                <a:solidFill>
                  <a:srgbClr val="FFFFFF"/>
                </a:solidFill>
                <a:latin typeface="Calibri"/>
              </a:rPr>
              <a:t>Medication errors are preventable; prevent them at prescribing, dispensing and administration.</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