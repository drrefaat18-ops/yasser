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notesMaster" Target="notesMasters/notesMaster1.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ADR-reporting part of this chapter was added to this edition.</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WHO defines pharmacovigilance as the science and activities relating to the detection, assessment, understanding and prevention of adverse effects or any other drug-related problem. It covers all medicines, including herbal products and vaccines. The rule of three shows the limit of trials. If no event is seen in n patients, the true rate could still be as high as about 3/n. With 3,000 patients, a reaction as common as 1 in 1,000 may still be missed. Rare reactions often appear only after marketing.</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Spontaneous reporting means that health professionals and patients report suspected ADRs to a national centre. It is the main way that new safety signals are found. In Egypt, reports go to the Egyptian Pharmaceutical Vigilance Center (EPVC) of the Egyptian Drug Authority (EDA). You do not need to be sure the drug caused the reaction. If in doubt, report. Reports can be sent online through the EDA pharmacovigilance portal, or on the paper form. Serious reactions should be reported as soon as possible. Every report is confidential.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Spontaneous reporting means that health professionals and patients report suspected ADRs to a national centre. It is the main way that new safety signals are found. In Egypt, reports go to the Egyptian Pharmaceutical Vigilance Center (EPVC) of the Egyptian Drug Authority (EDA). You do not need to be sure the drug caused the reaction. If in doubt, report. Reports can be sent online through the EDA pharmacovigilance portal, or on the paper form. Serious reactions should be reported as soon as possible. Every report is confidential.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Discuss with the class: what would you ask, check and say?</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Drug and Therapeutics Committee (DTC) of a hospital runs local drug-safety work:</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 medication error is any preventable event that may cause or lead to inappropriate medication use or patient harm while the medication is in the control of the health professional, patient or consumer. Errors happen at every stage: Errors have many causes: lack of knowledge, slips and lapses (mental errors under pressure), unclear labels, and failures to check.</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 medication error is any preventable event that may cause or lead to inappropriate medication use or patient harm while the medication is in the control of the health professional, patient or consumer. Errors happen at every stage: Errors have many causes: lack of knowledge, slips and lapses (mental errors under pressure), unclear labels, and failures to check.</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Regulators also prevent errors. They review drug labels and names before approval, and reject names that look or sound like existing ones. They encourage pharmacists and other professionals to report medication errors.</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Regulators also prevent errors. They review drug labels and names before approval, and reject names that look or sound like existing ones. They encourage pharmacists and other professionals to report medication errors.</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Regulators also prevent errors. They review drug labels and names before approval, and reject names that look or sound like existing ones. They encourage pharmacists and other professionals to report medication errors.</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Answer B: Trials are too small and short to find rare reactions. A, C and D are false.</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Answer D: Suspicion is enough to report. A and B delay safety signals; C is unsafe advice.</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Answer A: The DTC identifies and monitors high-risk medicines. B, C and D belong to others.</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Answer C: A missed dose is an error of omission. A is doing the wrong thing; B and D are ADRs.</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Answer B: Tall man letters and separation reduce LASA errors. A, C and D increase risk.</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Model answer: (a) Both: a preventable medication error that caused harm (a dose-related ADR). (b) Prescribing (unclear frequency), dispensing (not checked) and possibly counselling. (c) Report the harm and the error to the EPVC and the hospital system. Prevent it with electronic prescribing, a weekly-dose alert, a second check for methotrexate, and clear patient counselling.</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 Id="rId3" Type="http://schemas.openxmlformats.org/officeDocument/2006/relationships/image" Target="../media/image2.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 Id="rId3" Type="http://schemas.openxmlformats.org/officeDocument/2006/relationships/image" Target="../media/image2.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 Id="rId3" Type="http://schemas.openxmlformats.org/officeDocument/2006/relationships/image" Target="../media/image2.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 Id="rId3" Type="http://schemas.openxmlformats.org/officeDocument/2006/relationships/image" Target="../media/image2.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 Id="rId3" Type="http://schemas.openxmlformats.org/officeDocument/2006/relationships/image" Target="../media/image2.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 Id="rId3" Type="http://schemas.openxmlformats.org/officeDocument/2006/relationships/image" Target="../media/image2.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 Id="rId3" Type="http://schemas.openxmlformats.org/officeDocument/2006/relationships/image" Target="../media/image2.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 Id="rId3" Type="http://schemas.openxmlformats.org/officeDocument/2006/relationships/image" Target="../media/image2.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 Id="rId3" Type="http://schemas.openxmlformats.org/officeDocument/2006/relationships/image" Target="../media/image2.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 Id="rId3" Type="http://schemas.openxmlformats.org/officeDocument/2006/relationships/image" Target="../media/image2.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 Id="rId3" Type="http://schemas.openxmlformats.org/officeDocument/2006/relationships/image" Target="../media/image2.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 Id="rId3" Type="http://schemas.openxmlformats.org/officeDocument/2006/relationships/image" Target="../media/image2.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 Id="rId3" Type="http://schemas.openxmlformats.org/officeDocument/2006/relationships/image" Target="../media/image2.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 Id="rId3" Type="http://schemas.openxmlformats.org/officeDocument/2006/relationships/image" Target="../media/image2.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 Id="rId3" Type="http://schemas.openxmlformats.org/officeDocument/2006/relationships/image" Target="../media/image2.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 Id="rId3" Type="http://schemas.openxmlformats.org/officeDocument/2006/relationships/image" Target="../media/image2.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 Id="rId3" Type="http://schemas.openxmlformats.org/officeDocument/2006/relationships/image" Target="../media/image2.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png"/></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A4472B"/>
        </a:solidFill>
        <a:effectLst/>
      </p:bgPr>
    </p:bg>
    <p:spTree>
      <p:nvGrpSpPr>
        <p:cNvPr id="1" name=""/>
        <p:cNvGrpSpPr/>
        <p:nvPr/>
      </p:nvGrpSpPr>
      <p:grpSpPr/>
      <p:sp>
        <p:nvSpPr>
          <p:cNvPr id="2" name="TextBox 1"/>
          <p:cNvSpPr txBox="1"/>
          <p:nvPr/>
        </p:nvSpPr>
        <p:spPr>
          <a:xfrm>
            <a:off x="7589520" y="1097280"/>
            <a:ext cx="4754880" cy="5120640"/>
          </a:xfrm>
          <a:prstGeom prst="rect">
            <a:avLst/>
          </a:prstGeom>
          <a:noFill/>
        </p:spPr>
        <p:txBody>
          <a:bodyPr wrap="square" anchor="ctr" lIns="0" rIns="0" tIns="0" bIns="0">
            <a:spAutoFit/>
          </a:bodyPr>
          <a:lstStyle/>
          <a:p>
            <a:pPr algn="r"/>
            <a:r>
              <a:rPr sz="28000" i="0" b="1">
                <a:solidFill>
                  <a:srgbClr val="8B3C25"/>
                </a:solidFill>
                <a:latin typeface="Cambria"/>
              </a:rPr>
              <a:t>09</a:t>
            </a:r>
          </a:p>
        </p:txBody>
      </p:sp>
      <p:pic>
        <p:nvPicPr>
          <p:cNvPr id="3" name="Picture 2" descr="port-said-university.png"/>
          <p:cNvPicPr>
            <a:picLocks noChangeAspect="1"/>
          </p:cNvPicPr>
          <p:nvPr/>
        </p:nvPicPr>
        <p:blipFill>
          <a:blip r:embed="rId2"/>
          <a:stretch>
            <a:fillRect/>
          </a:stretch>
        </p:blipFill>
        <p:spPr>
          <a:xfrm>
            <a:off x="548640" y="502920"/>
            <a:ext cx="960120" cy="960120"/>
          </a:xfrm>
          <a:prstGeom prst="rect">
            <a:avLst/>
          </a:prstGeom>
        </p:spPr>
      </p:pic>
      <p:pic>
        <p:nvPicPr>
          <p:cNvPr id="4" name="Picture 3" descr="faculty-of-pharmacy.png"/>
          <p:cNvPicPr>
            <a:picLocks noChangeAspect="1"/>
          </p:cNvPicPr>
          <p:nvPr/>
        </p:nvPicPr>
        <p:blipFill>
          <a:blip r:embed="rId3"/>
          <a:stretch>
            <a:fillRect/>
          </a:stretch>
        </p:blipFill>
        <p:spPr>
          <a:xfrm>
            <a:off x="1691640" y="502920"/>
            <a:ext cx="960120" cy="960120"/>
          </a:xfrm>
          <a:prstGeom prst="rect">
            <a:avLst/>
          </a:prstGeom>
        </p:spPr>
      </p:pic>
      <p:sp>
        <p:nvSpPr>
          <p:cNvPr id="5" name="TextBox 4"/>
          <p:cNvSpPr txBox="1"/>
          <p:nvPr/>
        </p:nvSpPr>
        <p:spPr>
          <a:xfrm>
            <a:off x="2971800" y="658368"/>
            <a:ext cx="6400800" cy="731520"/>
          </a:xfrm>
          <a:prstGeom prst="rect">
            <a:avLst/>
          </a:prstGeom>
          <a:noFill/>
        </p:spPr>
        <p:txBody>
          <a:bodyPr wrap="square" anchor="ctr" lIns="0" rIns="0" tIns="0" bIns="0">
            <a:spAutoFit/>
          </a:bodyPr>
          <a:lstStyle/>
          <a:p>
            <a:r>
              <a:rPr sz="1800" i="0" b="1">
                <a:solidFill>
                  <a:srgbClr val="FFFFFF"/>
                </a:solidFill>
                <a:latin typeface="Cambria"/>
              </a:rPr>
              <a:t>Faculty of Pharmacy</a:t>
            </a:r>
          </a:p>
          <a:p>
            <a:r>
              <a:rPr sz="1200" i="0" b="1" spc="200">
                <a:solidFill>
                  <a:srgbClr val="F2E5E1"/>
                </a:solidFill>
                <a:latin typeface="Calibri"/>
              </a:rPr>
              <a:t>PORT SAID UNIVERSITY</a:t>
            </a:r>
          </a:p>
        </p:txBody>
      </p:sp>
      <p:sp>
        <p:nvSpPr>
          <p:cNvPr id="6" name="TextBox 5"/>
          <p:cNvSpPr txBox="1"/>
          <p:nvPr/>
        </p:nvSpPr>
        <p:spPr>
          <a:xfrm>
            <a:off x="548640" y="2514600"/>
            <a:ext cx="6766560" cy="3108960"/>
          </a:xfrm>
          <a:prstGeom prst="rect">
            <a:avLst/>
          </a:prstGeom>
          <a:noFill/>
        </p:spPr>
        <p:txBody>
          <a:bodyPr wrap="square" anchor="t" lIns="0" rIns="0" tIns="0" bIns="0">
            <a:spAutoFit/>
          </a:bodyPr>
          <a:lstStyle/>
          <a:p>
            <a:r>
              <a:rPr sz="1400" i="0" b="1" spc="200">
                <a:solidFill>
                  <a:srgbClr val="F2E5E1"/>
                </a:solidFill>
                <a:latin typeface="Calibri"/>
              </a:rPr>
              <a:t>DRUG INFORMATION  ·  SECTION 9</a:t>
            </a:r>
          </a:p>
          <a:p>
            <a:pPr>
              <a:spcBef>
                <a:spcPts val="1400"/>
              </a:spcBef>
            </a:pPr>
            <a:r>
              <a:rPr sz="3600" i="0" b="1">
                <a:solidFill>
                  <a:srgbClr val="FFFFFF"/>
                </a:solidFill>
                <a:latin typeface="Cambria"/>
              </a:rPr>
              <a:t>Pharmacovigilance, ADR Reporting and Medication Errors</a:t>
            </a:r>
          </a:p>
          <a:p>
            <a:pPr>
              <a:spcBef>
                <a:spcPts val="1600"/>
              </a:spcBef>
            </a:pPr>
            <a:r>
              <a:rPr sz="2000" i="1" b="0">
                <a:solidFill>
                  <a:srgbClr val="F2E5E1"/>
                </a:solidFill>
                <a:latin typeface="Cambria"/>
              </a:rPr>
              <a:t>A Practical Section Guide</a:t>
            </a:r>
          </a:p>
        </p:txBody>
      </p:sp>
      <p:sp>
        <p:nvSpPr>
          <p:cNvPr id="7" name="TextBox 6"/>
          <p:cNvSpPr txBox="1"/>
          <p:nvPr/>
        </p:nvSpPr>
        <p:spPr>
          <a:xfrm>
            <a:off x="548640" y="5989320"/>
            <a:ext cx="8229600" cy="457200"/>
          </a:xfrm>
          <a:prstGeom prst="rect">
            <a:avLst/>
          </a:prstGeom>
          <a:noFill/>
        </p:spPr>
        <p:txBody>
          <a:bodyPr wrap="square" anchor="t" lIns="0" rIns="0" tIns="0" bIns="0">
            <a:spAutoFit/>
          </a:bodyPr>
          <a:lstStyle/>
          <a:p>
            <a:r>
              <a:rPr sz="1300" i="0" b="0">
                <a:solidFill>
                  <a:srgbClr val="F2E5E1"/>
                </a:solidFill>
                <a:latin typeface="Calibri"/>
              </a:rPr>
              <a:t>45 minutes  ·  5 questions  ·  1 practice case</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Oval 1"/>
          <p:cNvSpPr/>
          <p:nvPr/>
        </p:nvSpPr>
        <p:spPr>
          <a:xfrm>
            <a:off x="548640" y="475488"/>
            <a:ext cx="658368" cy="658368"/>
          </a:xfrm>
          <a:prstGeom prst="ellipse">
            <a:avLst/>
          </a:prstGeom>
          <a:solidFill>
            <a:srgbClr val="2F6F7A"/>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800" i="0" b="1">
                <a:solidFill>
                  <a:srgbClr val="FFFFFF"/>
                </a:solidFill>
                <a:latin typeface="Cambria"/>
              </a:rPr>
              <a:t>09</a:t>
            </a:r>
          </a:p>
        </p:txBody>
      </p:sp>
      <p:sp>
        <p:nvSpPr>
          <p:cNvPr id="3" name="TextBox 2"/>
          <p:cNvSpPr txBox="1"/>
          <p:nvPr/>
        </p:nvSpPr>
        <p:spPr>
          <a:xfrm>
            <a:off x="1417319" y="438912"/>
            <a:ext cx="10180015" cy="292608"/>
          </a:xfrm>
          <a:prstGeom prst="rect">
            <a:avLst/>
          </a:prstGeom>
          <a:noFill/>
        </p:spPr>
        <p:txBody>
          <a:bodyPr wrap="square" anchor="t" lIns="0" rIns="0" tIns="0" bIns="0">
            <a:spAutoFit/>
          </a:bodyPr>
          <a:lstStyle/>
          <a:p>
            <a:r>
              <a:rPr sz="1200" i="0" b="1" spc="150">
                <a:solidFill>
                  <a:srgbClr val="2F6F7A"/>
                </a:solidFill>
                <a:latin typeface="Calibri"/>
              </a:rPr>
              <a:t>SECTION 9</a:t>
            </a:r>
          </a:p>
        </p:txBody>
      </p:sp>
      <p:sp>
        <p:nvSpPr>
          <p:cNvPr id="4" name="TextBox 3"/>
          <p:cNvSpPr txBox="1"/>
          <p:nvPr/>
        </p:nvSpPr>
        <p:spPr>
          <a:xfrm>
            <a:off x="1417319" y="676656"/>
            <a:ext cx="10180015" cy="640080"/>
          </a:xfrm>
          <a:prstGeom prst="rect">
            <a:avLst/>
          </a:prstGeom>
          <a:noFill/>
        </p:spPr>
        <p:txBody>
          <a:bodyPr wrap="square" anchor="t" lIns="0" rIns="0" tIns="0" bIns="0">
            <a:spAutoFit/>
          </a:bodyPr>
          <a:lstStyle/>
          <a:p>
            <a:r>
              <a:rPr sz="3200" i="0" b="1">
                <a:solidFill>
                  <a:srgbClr val="2B211C"/>
                </a:solidFill>
                <a:latin typeface="Cambria"/>
              </a:rPr>
              <a:t>In This Section</a:t>
            </a:r>
          </a:p>
        </p:txBody>
      </p:sp>
      <p:sp>
        <p:nvSpPr>
          <p:cNvPr id="5" name="TextBox 4"/>
          <p:cNvSpPr txBox="1"/>
          <p:nvPr/>
        </p:nvSpPr>
        <p:spPr>
          <a:xfrm>
            <a:off x="548640" y="6419088"/>
            <a:ext cx="8229600" cy="274320"/>
          </a:xfrm>
          <a:prstGeom prst="rect">
            <a:avLst/>
          </a:prstGeom>
          <a:noFill/>
        </p:spPr>
        <p:txBody>
          <a:bodyPr wrap="square" anchor="t" lIns="0" rIns="0" tIns="0" bIns="0">
            <a:spAutoFit/>
          </a:bodyPr>
          <a:lstStyle/>
          <a:p>
            <a:r>
              <a:rPr sz="1000" i="0" b="0">
                <a:solidFill>
                  <a:srgbClr val="6E625B"/>
                </a:solidFill>
                <a:latin typeface="Calibri"/>
              </a:rPr>
              <a:t>Drug Information  ·  Section 9  ·  Pharmacovigilance, ADR Reporting and Medication Errors</a:t>
            </a:r>
          </a:p>
        </p:txBody>
      </p:sp>
      <p:sp>
        <p:nvSpPr>
          <p:cNvPr id="6" name="TextBox 5"/>
          <p:cNvSpPr txBox="1"/>
          <p:nvPr/>
        </p:nvSpPr>
        <p:spPr>
          <a:xfrm>
            <a:off x="10424160" y="6419088"/>
            <a:ext cx="731520" cy="274320"/>
          </a:xfrm>
          <a:prstGeom prst="rect">
            <a:avLst/>
          </a:prstGeom>
          <a:noFill/>
        </p:spPr>
        <p:txBody>
          <a:bodyPr wrap="square" anchor="t" lIns="0" rIns="0" tIns="0" bIns="0">
            <a:spAutoFit/>
          </a:bodyPr>
          <a:lstStyle/>
          <a:p>
            <a:pPr algn="r"/>
            <a:r>
              <a:rPr sz="1000" i="0" b="1">
                <a:solidFill>
                  <a:srgbClr val="6E625B"/>
                </a:solidFill>
                <a:latin typeface="Calibri"/>
              </a:rPr>
              <a:t>2</a:t>
            </a:r>
          </a:p>
        </p:txBody>
      </p:sp>
      <p:pic>
        <p:nvPicPr>
          <p:cNvPr id="7" name="Picture 6" descr="faculty-of-pharmacy.png"/>
          <p:cNvPicPr>
            <a:picLocks noChangeAspect="1"/>
          </p:cNvPicPr>
          <p:nvPr/>
        </p:nvPicPr>
        <p:blipFill>
          <a:blip r:embed="rId3"/>
          <a:stretch>
            <a:fillRect/>
          </a:stretch>
        </p:blipFill>
        <p:spPr>
          <a:xfrm>
            <a:off x="11247120" y="6309360"/>
            <a:ext cx="384048" cy="384048"/>
          </a:xfrm>
          <a:prstGeom prst="rect">
            <a:avLst/>
          </a:prstGeom>
        </p:spPr>
      </p:pic>
      <p:sp>
        <p:nvSpPr>
          <p:cNvPr id="8" name="Oval 7"/>
          <p:cNvSpPr/>
          <p:nvPr/>
        </p:nvSpPr>
        <p:spPr>
          <a:xfrm>
            <a:off x="548640" y="1572768"/>
            <a:ext cx="402336" cy="402336"/>
          </a:xfrm>
          <a:prstGeom prst="ellipse">
            <a:avLst/>
          </a:prstGeom>
          <a:solidFill>
            <a:srgbClr val="E6EEE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300" i="0" b="1">
                <a:solidFill>
                  <a:srgbClr val="2F6F7A"/>
                </a:solidFill>
                <a:latin typeface="Calibri"/>
              </a:rPr>
              <a:t>1</a:t>
            </a:r>
          </a:p>
        </p:txBody>
      </p:sp>
      <p:sp>
        <p:nvSpPr>
          <p:cNvPr id="9" name="TextBox 8"/>
          <p:cNvSpPr txBox="1"/>
          <p:nvPr/>
        </p:nvSpPr>
        <p:spPr>
          <a:xfrm>
            <a:off x="1143000" y="1591056"/>
            <a:ext cx="6629400" cy="944499"/>
          </a:xfrm>
          <a:prstGeom prst="rect">
            <a:avLst/>
          </a:prstGeom>
          <a:noFill/>
        </p:spPr>
        <p:txBody>
          <a:bodyPr wrap="square" anchor="t" lIns="0" rIns="0" tIns="0" bIns="0">
            <a:spAutoFit/>
          </a:bodyPr>
          <a:lstStyle/>
          <a:p>
            <a:r>
              <a:rPr sz="2100" i="0" b="0">
                <a:solidFill>
                  <a:srgbClr val="2B211C"/>
                </a:solidFill>
                <a:latin typeface="Calibri"/>
              </a:rPr>
              <a:t>Define pharmacovigilance and explain why post-marketing surveillance is needed.</a:t>
            </a:r>
          </a:p>
        </p:txBody>
      </p:sp>
      <p:sp>
        <p:nvSpPr>
          <p:cNvPr id="10" name="Oval 9"/>
          <p:cNvSpPr/>
          <p:nvPr/>
        </p:nvSpPr>
        <p:spPr>
          <a:xfrm>
            <a:off x="548640" y="2562987"/>
            <a:ext cx="402336" cy="402336"/>
          </a:xfrm>
          <a:prstGeom prst="ellipse">
            <a:avLst/>
          </a:prstGeom>
          <a:solidFill>
            <a:srgbClr val="E6EEE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300" i="0" b="1">
                <a:solidFill>
                  <a:srgbClr val="2F6F7A"/>
                </a:solidFill>
                <a:latin typeface="Calibri"/>
              </a:rPr>
              <a:t>2</a:t>
            </a:r>
          </a:p>
        </p:txBody>
      </p:sp>
      <p:sp>
        <p:nvSpPr>
          <p:cNvPr id="11" name="TextBox 10"/>
          <p:cNvSpPr txBox="1"/>
          <p:nvPr/>
        </p:nvSpPr>
        <p:spPr>
          <a:xfrm>
            <a:off x="1143000" y="2581275"/>
            <a:ext cx="6629400" cy="944499"/>
          </a:xfrm>
          <a:prstGeom prst="rect">
            <a:avLst/>
          </a:prstGeom>
          <a:noFill/>
        </p:spPr>
        <p:txBody>
          <a:bodyPr wrap="square" anchor="t" lIns="0" rIns="0" tIns="0" bIns="0">
            <a:spAutoFit/>
          </a:bodyPr>
          <a:lstStyle/>
          <a:p>
            <a:r>
              <a:rPr sz="2100" i="0" b="0">
                <a:solidFill>
                  <a:srgbClr val="2B211C"/>
                </a:solidFill>
                <a:latin typeface="Calibri"/>
              </a:rPr>
              <a:t>Report a suspected ADR to the Egyptian Drug Authority.</a:t>
            </a:r>
          </a:p>
        </p:txBody>
      </p:sp>
      <p:sp>
        <p:nvSpPr>
          <p:cNvPr id="12" name="Oval 11"/>
          <p:cNvSpPr/>
          <p:nvPr/>
        </p:nvSpPr>
        <p:spPr>
          <a:xfrm>
            <a:off x="548640" y="3553206"/>
            <a:ext cx="402336" cy="402336"/>
          </a:xfrm>
          <a:prstGeom prst="ellipse">
            <a:avLst/>
          </a:prstGeom>
          <a:solidFill>
            <a:srgbClr val="E6EEE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300" i="0" b="1">
                <a:solidFill>
                  <a:srgbClr val="2F6F7A"/>
                </a:solidFill>
                <a:latin typeface="Calibri"/>
              </a:rPr>
              <a:t>3</a:t>
            </a:r>
          </a:p>
        </p:txBody>
      </p:sp>
      <p:sp>
        <p:nvSpPr>
          <p:cNvPr id="13" name="TextBox 12"/>
          <p:cNvSpPr txBox="1"/>
          <p:nvPr/>
        </p:nvSpPr>
        <p:spPr>
          <a:xfrm>
            <a:off x="1143000" y="3571494"/>
            <a:ext cx="6629400" cy="944499"/>
          </a:xfrm>
          <a:prstGeom prst="rect">
            <a:avLst/>
          </a:prstGeom>
          <a:noFill/>
        </p:spPr>
        <p:txBody>
          <a:bodyPr wrap="square" anchor="t" lIns="0" rIns="0" tIns="0" bIns="0">
            <a:spAutoFit/>
          </a:bodyPr>
          <a:lstStyle/>
          <a:p>
            <a:r>
              <a:rPr sz="2100" i="0" b="0">
                <a:solidFill>
                  <a:srgbClr val="2B211C"/>
                </a:solidFill>
                <a:latin typeface="Calibri"/>
              </a:rPr>
              <a:t>Describe the role of the Drug and Therapeutics Committee in drug safety.</a:t>
            </a:r>
          </a:p>
        </p:txBody>
      </p:sp>
      <p:sp>
        <p:nvSpPr>
          <p:cNvPr id="14" name="Oval 13"/>
          <p:cNvSpPr/>
          <p:nvPr/>
        </p:nvSpPr>
        <p:spPr>
          <a:xfrm>
            <a:off x="548640" y="4543425"/>
            <a:ext cx="402336" cy="402336"/>
          </a:xfrm>
          <a:prstGeom prst="ellipse">
            <a:avLst/>
          </a:prstGeom>
          <a:solidFill>
            <a:srgbClr val="E6EEE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300" i="0" b="1">
                <a:solidFill>
                  <a:srgbClr val="2F6F7A"/>
                </a:solidFill>
                <a:latin typeface="Calibri"/>
              </a:rPr>
              <a:t>4</a:t>
            </a:r>
          </a:p>
        </p:txBody>
      </p:sp>
      <p:sp>
        <p:nvSpPr>
          <p:cNvPr id="15" name="TextBox 14"/>
          <p:cNvSpPr txBox="1"/>
          <p:nvPr/>
        </p:nvSpPr>
        <p:spPr>
          <a:xfrm>
            <a:off x="1143000" y="4561713"/>
            <a:ext cx="6629400" cy="944499"/>
          </a:xfrm>
          <a:prstGeom prst="rect">
            <a:avLst/>
          </a:prstGeom>
          <a:noFill/>
        </p:spPr>
        <p:txBody>
          <a:bodyPr wrap="square" anchor="t" lIns="0" rIns="0" tIns="0" bIns="0">
            <a:spAutoFit/>
          </a:bodyPr>
          <a:lstStyle/>
          <a:p>
            <a:r>
              <a:rPr sz="2100" i="0" b="0">
                <a:solidFill>
                  <a:srgbClr val="2B211C"/>
                </a:solidFill>
                <a:latin typeface="Calibri"/>
              </a:rPr>
              <a:t>Define a medication error and classify its types and causes.</a:t>
            </a:r>
          </a:p>
        </p:txBody>
      </p:sp>
      <p:sp>
        <p:nvSpPr>
          <p:cNvPr id="16" name="Oval 15"/>
          <p:cNvSpPr/>
          <p:nvPr/>
        </p:nvSpPr>
        <p:spPr>
          <a:xfrm>
            <a:off x="548640" y="5533644"/>
            <a:ext cx="402336" cy="402336"/>
          </a:xfrm>
          <a:prstGeom prst="ellipse">
            <a:avLst/>
          </a:prstGeom>
          <a:solidFill>
            <a:srgbClr val="E6EEE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300" i="0" b="1">
                <a:solidFill>
                  <a:srgbClr val="2F6F7A"/>
                </a:solidFill>
                <a:latin typeface="Calibri"/>
              </a:rPr>
              <a:t>5</a:t>
            </a:r>
          </a:p>
        </p:txBody>
      </p:sp>
      <p:sp>
        <p:nvSpPr>
          <p:cNvPr id="17" name="TextBox 16"/>
          <p:cNvSpPr txBox="1"/>
          <p:nvPr/>
        </p:nvSpPr>
        <p:spPr>
          <a:xfrm>
            <a:off x="1143000" y="5551932"/>
            <a:ext cx="6629400" cy="611124"/>
          </a:xfrm>
          <a:prstGeom prst="rect">
            <a:avLst/>
          </a:prstGeom>
          <a:noFill/>
        </p:spPr>
        <p:txBody>
          <a:bodyPr wrap="square" anchor="t" lIns="0" rIns="0" tIns="0" bIns="0">
            <a:spAutoFit/>
          </a:bodyPr>
          <a:lstStyle/>
          <a:p>
            <a:r>
              <a:rPr sz="2100" i="0" b="0">
                <a:solidFill>
                  <a:srgbClr val="2B211C"/>
                </a:solidFill>
                <a:latin typeface="Calibri"/>
              </a:rPr>
              <a:t>List ways to prevent medication errors.</a:t>
            </a:r>
          </a:p>
        </p:txBody>
      </p:sp>
      <p:sp>
        <p:nvSpPr>
          <p:cNvPr id="18" name="Rounded Rectangle 17"/>
          <p:cNvSpPr/>
          <p:nvPr/>
        </p:nvSpPr>
        <p:spPr>
          <a:xfrm>
            <a:off x="8366760" y="1600200"/>
            <a:ext cx="3273552" cy="4526280"/>
          </a:xfrm>
          <a:prstGeom prst="roundRect">
            <a:avLst>
              <a:gd name="adj" fmla="val 5000"/>
            </a:avLst>
          </a:prstGeom>
          <a:solidFill>
            <a:srgbClr val="FAF4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8641080" y="1874519"/>
            <a:ext cx="2743200" cy="4023360"/>
          </a:xfrm>
          <a:prstGeom prst="rect">
            <a:avLst/>
          </a:prstGeom>
          <a:noFill/>
        </p:spPr>
        <p:txBody>
          <a:bodyPr wrap="square" anchor="t" lIns="0" rIns="0" tIns="0" bIns="0">
            <a:spAutoFit/>
          </a:bodyPr>
          <a:lstStyle/>
          <a:p>
            <a:pPr>
              <a:spcBef>
                <a:spcPts val="0"/>
              </a:spcBef>
            </a:pPr>
            <a:r>
              <a:rPr sz="5400" i="0" b="1">
                <a:solidFill>
                  <a:srgbClr val="A4472B"/>
                </a:solidFill>
                <a:latin typeface="Cambria"/>
              </a:rPr>
              <a:t>45</a:t>
            </a:r>
          </a:p>
          <a:p>
            <a:r>
              <a:rPr sz="1200" i="0" b="1" spc="150">
                <a:solidFill>
                  <a:srgbClr val="6E625B"/>
                </a:solidFill>
                <a:latin typeface="Calibri"/>
              </a:rPr>
              <a:t>MINUTES</a:t>
            </a:r>
          </a:p>
          <a:p>
            <a:pPr>
              <a:spcBef>
                <a:spcPts val="1600"/>
              </a:spcBef>
            </a:pPr>
            <a:r>
              <a:rPr sz="5400" i="0" b="1">
                <a:solidFill>
                  <a:srgbClr val="A4472B"/>
                </a:solidFill>
                <a:latin typeface="Cambria"/>
              </a:rPr>
              <a:t>5</a:t>
            </a:r>
          </a:p>
          <a:p>
            <a:r>
              <a:rPr sz="1200" i="0" b="1" spc="150">
                <a:solidFill>
                  <a:srgbClr val="6E625B"/>
                </a:solidFill>
                <a:latin typeface="Calibri"/>
              </a:rPr>
              <a:t>QUESTIONS</a:t>
            </a:r>
          </a:p>
          <a:p>
            <a:pPr>
              <a:spcBef>
                <a:spcPts val="1600"/>
              </a:spcBef>
            </a:pPr>
            <a:r>
              <a:rPr sz="5400" i="0" b="1">
                <a:solidFill>
                  <a:srgbClr val="A4472B"/>
                </a:solidFill>
                <a:latin typeface="Cambria"/>
              </a:rPr>
              <a:t>1</a:t>
            </a:r>
          </a:p>
          <a:p>
            <a:r>
              <a:rPr sz="1200" i="0" b="1" spc="150">
                <a:solidFill>
                  <a:srgbClr val="6E625B"/>
                </a:solidFill>
                <a:latin typeface="Calibri"/>
              </a:rPr>
              <a:t>PRACTICE CASE</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Oval 1"/>
          <p:cNvSpPr/>
          <p:nvPr/>
        </p:nvSpPr>
        <p:spPr>
          <a:xfrm>
            <a:off x="548640" y="475488"/>
            <a:ext cx="658368" cy="658368"/>
          </a:xfrm>
          <a:prstGeom prst="ellipse">
            <a:avLst/>
          </a:prstGeom>
          <a:solidFill>
            <a:srgbClr val="2F6F7A"/>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800" i="0" b="1">
                <a:solidFill>
                  <a:srgbClr val="FFFFFF"/>
                </a:solidFill>
                <a:latin typeface="Cambria"/>
              </a:rPr>
              <a:t>09</a:t>
            </a:r>
          </a:p>
        </p:txBody>
      </p:sp>
      <p:sp>
        <p:nvSpPr>
          <p:cNvPr id="3" name="TextBox 2"/>
          <p:cNvSpPr txBox="1"/>
          <p:nvPr/>
        </p:nvSpPr>
        <p:spPr>
          <a:xfrm>
            <a:off x="1417319" y="438912"/>
            <a:ext cx="10180015" cy="292608"/>
          </a:xfrm>
          <a:prstGeom prst="rect">
            <a:avLst/>
          </a:prstGeom>
          <a:noFill/>
        </p:spPr>
        <p:txBody>
          <a:bodyPr wrap="square" anchor="t" lIns="0" rIns="0" tIns="0" bIns="0">
            <a:spAutoFit/>
          </a:bodyPr>
          <a:lstStyle/>
          <a:p>
            <a:r>
              <a:rPr sz="1200" i="0" b="1" spc="150">
                <a:solidFill>
                  <a:srgbClr val="2F6F7A"/>
                </a:solidFill>
                <a:latin typeface="Calibri"/>
              </a:rPr>
              <a:t>SECTION 9</a:t>
            </a:r>
          </a:p>
        </p:txBody>
      </p:sp>
      <p:sp>
        <p:nvSpPr>
          <p:cNvPr id="4" name="TextBox 3"/>
          <p:cNvSpPr txBox="1"/>
          <p:nvPr/>
        </p:nvSpPr>
        <p:spPr>
          <a:xfrm>
            <a:off x="1417319" y="676656"/>
            <a:ext cx="10180015" cy="640080"/>
          </a:xfrm>
          <a:prstGeom prst="rect">
            <a:avLst/>
          </a:prstGeom>
          <a:noFill/>
        </p:spPr>
        <p:txBody>
          <a:bodyPr wrap="square" anchor="t" lIns="0" rIns="0" tIns="0" bIns="0">
            <a:spAutoFit/>
          </a:bodyPr>
          <a:lstStyle/>
          <a:p>
            <a:r>
              <a:rPr sz="3200" i="0" b="1">
                <a:solidFill>
                  <a:srgbClr val="2B211C"/>
                </a:solidFill>
                <a:latin typeface="Cambria"/>
              </a:rPr>
              <a:t>Why trials are not enough</a:t>
            </a:r>
          </a:p>
        </p:txBody>
      </p:sp>
      <p:sp>
        <p:nvSpPr>
          <p:cNvPr id="5" name="TextBox 4"/>
          <p:cNvSpPr txBox="1"/>
          <p:nvPr/>
        </p:nvSpPr>
        <p:spPr>
          <a:xfrm>
            <a:off x="548640" y="6419088"/>
            <a:ext cx="8229600" cy="274320"/>
          </a:xfrm>
          <a:prstGeom prst="rect">
            <a:avLst/>
          </a:prstGeom>
          <a:noFill/>
        </p:spPr>
        <p:txBody>
          <a:bodyPr wrap="square" anchor="t" lIns="0" rIns="0" tIns="0" bIns="0">
            <a:spAutoFit/>
          </a:bodyPr>
          <a:lstStyle/>
          <a:p>
            <a:r>
              <a:rPr sz="1000" i="0" b="0">
                <a:solidFill>
                  <a:srgbClr val="6E625B"/>
                </a:solidFill>
                <a:latin typeface="Calibri"/>
              </a:rPr>
              <a:t>Drug Information  ·  Section 9  ·  Pharmacovigilance, ADR Reporting and Medication Errors</a:t>
            </a:r>
          </a:p>
        </p:txBody>
      </p:sp>
      <p:sp>
        <p:nvSpPr>
          <p:cNvPr id="6" name="TextBox 5"/>
          <p:cNvSpPr txBox="1"/>
          <p:nvPr/>
        </p:nvSpPr>
        <p:spPr>
          <a:xfrm>
            <a:off x="10424160" y="6419088"/>
            <a:ext cx="731520" cy="274320"/>
          </a:xfrm>
          <a:prstGeom prst="rect">
            <a:avLst/>
          </a:prstGeom>
          <a:noFill/>
        </p:spPr>
        <p:txBody>
          <a:bodyPr wrap="square" anchor="t" lIns="0" rIns="0" tIns="0" bIns="0">
            <a:spAutoFit/>
          </a:bodyPr>
          <a:lstStyle/>
          <a:p>
            <a:pPr algn="r"/>
            <a:r>
              <a:rPr sz="1000" i="0" b="1">
                <a:solidFill>
                  <a:srgbClr val="6E625B"/>
                </a:solidFill>
                <a:latin typeface="Calibri"/>
              </a:rPr>
              <a:t>3</a:t>
            </a:r>
          </a:p>
        </p:txBody>
      </p:sp>
      <p:pic>
        <p:nvPicPr>
          <p:cNvPr id="7" name="Picture 6" descr="faculty-of-pharmacy.png"/>
          <p:cNvPicPr>
            <a:picLocks noChangeAspect="1"/>
          </p:cNvPicPr>
          <p:nvPr/>
        </p:nvPicPr>
        <p:blipFill>
          <a:blip r:embed="rId3"/>
          <a:stretch>
            <a:fillRect/>
          </a:stretch>
        </p:blipFill>
        <p:spPr>
          <a:xfrm>
            <a:off x="11247120" y="6309360"/>
            <a:ext cx="384048" cy="384048"/>
          </a:xfrm>
          <a:prstGeom prst="rect">
            <a:avLst/>
          </a:prstGeom>
        </p:spPr>
      </p:pic>
      <p:sp>
        <p:nvSpPr>
          <p:cNvPr id="8" name="TextBox 7"/>
          <p:cNvSpPr txBox="1"/>
          <p:nvPr/>
        </p:nvSpPr>
        <p:spPr>
          <a:xfrm>
            <a:off x="548640" y="1554480"/>
            <a:ext cx="4480560" cy="4617720"/>
          </a:xfrm>
          <a:prstGeom prst="rect">
            <a:avLst/>
          </a:prstGeom>
          <a:noFill/>
        </p:spPr>
        <p:txBody>
          <a:bodyPr wrap="square" anchor="t" lIns="0" rIns="0" tIns="0" bIns="0">
            <a:spAutoFit/>
          </a:bodyPr>
          <a:lstStyle/>
          <a:p>
            <a:pPr>
              <a:spcAft>
                <a:spcPts val="800"/>
              </a:spcAft>
            </a:pPr>
            <a:r>
              <a:rPr sz="1700" i="0" b="0">
                <a:solidFill>
                  <a:srgbClr val="2B211C"/>
                </a:solidFill>
                <a:latin typeface="Calibri"/>
              </a:rPr>
              <a:t>WHO defines </a:t>
            </a:r>
            <a:r>
              <a:rPr sz="1700" i="0" b="1">
                <a:solidFill>
                  <a:srgbClr val="2B211C"/>
                </a:solidFill>
                <a:latin typeface="Calibri"/>
              </a:rPr>
              <a:t>pharmacovigilance</a:t>
            </a:r>
            <a:r>
              <a:rPr sz="1700" i="0" b="0">
                <a:solidFill>
                  <a:srgbClr val="2B211C"/>
                </a:solidFill>
                <a:latin typeface="Calibri"/>
              </a:rPr>
              <a:t> as the science and activities relating to the </a:t>
            </a:r>
            <a:r>
              <a:rPr sz="1700" i="0" b="1">
                <a:solidFill>
                  <a:srgbClr val="2B211C"/>
                </a:solidFill>
                <a:latin typeface="Calibri"/>
              </a:rPr>
              <a:t>detection, assessment, understanding and prevention</a:t>
            </a:r>
            <a:r>
              <a:rPr sz="1700" i="0" b="0">
                <a:solidFill>
                  <a:srgbClr val="2B211C"/>
                </a:solidFill>
                <a:latin typeface="Calibri"/>
              </a:rPr>
              <a:t> of adverse effects or any other drug-related problem. It covers all medicines, including herbal products and vaccines.</a:t>
            </a:r>
          </a:p>
          <a:p>
            <a:pPr>
              <a:spcAft>
                <a:spcPts val="800"/>
              </a:spcAft>
            </a:pPr>
            <a:r>
              <a:rPr sz="1700" i="0" b="0">
                <a:solidFill>
                  <a:srgbClr val="2B211C"/>
                </a:solidFill>
                <a:latin typeface="Calibri"/>
              </a:rPr>
              <a:t>The </a:t>
            </a:r>
            <a:r>
              <a:rPr sz="1700" i="0" b="1">
                <a:solidFill>
                  <a:srgbClr val="2B211C"/>
                </a:solidFill>
                <a:latin typeface="Calibri"/>
              </a:rPr>
              <a:t>rule of three</a:t>
            </a:r>
            <a:r>
              <a:rPr sz="1700" i="0" b="0">
                <a:solidFill>
                  <a:srgbClr val="2B211C"/>
                </a:solidFill>
                <a:latin typeface="Calibri"/>
              </a:rPr>
              <a:t> shows the limit of trials. If no event is seen in n patients, the true rate could still be as high as about 3/n. With 3,000 patients, a reaction as common as 1 in 1,000 may still be missed. Rare reactions often appear only after marketing.</a:t>
            </a:r>
          </a:p>
        </p:txBody>
      </p:sp>
      <p:graphicFrame>
        <p:nvGraphicFramePr>
          <p:cNvPr id="9" name="Table 8"/>
          <p:cNvGraphicFramePr>
            <a:graphicFrameLocks noGrp="1"/>
          </p:cNvGraphicFramePr>
          <p:nvPr/>
        </p:nvGraphicFramePr>
        <p:xfrm>
          <a:off x="5394959" y="1554480"/>
          <a:ext cx="6248094" cy="3840480"/>
        </p:xfrm>
        <a:graphic>
          <a:graphicData uri="http://schemas.openxmlformats.org/drawingml/2006/table">
            <a:tbl>
              <a:tblPr firstRow="0" bandRow="0">
                <a:tableStyleId>{5C22544A-7EE6-4342-B048-85BDC9FD1C3A}</a:tableStyleId>
              </a:tblPr>
              <a:tblGrid>
                <a:gridCol w="3147188"/>
                <a:gridCol w="3100906"/>
              </a:tblGrid>
              <a:tr h="640080">
                <a:tc>
                  <a:txBody>
                    <a:bodyPr/>
                    <a:lstStyle/>
                    <a:p>
                      <a:r>
                        <a:rPr sz="1600" i="0" b="1">
                          <a:solidFill>
                            <a:srgbClr val="FFFFFF"/>
                          </a:solidFill>
                          <a:latin typeface="Calibri"/>
                        </a:rPr>
                        <a:t>Before marketing</a:t>
                      </a:r>
                    </a:p>
                  </a:txBody>
                  <a:tcPr marL="109728" marR="109728" marT="45720" marB="45720" anchor="ctr">
                    <a:solidFill>
                      <a:srgbClr val="A4472B"/>
                    </a:solidFill>
                  </a:tcPr>
                </a:tc>
                <a:tc>
                  <a:txBody>
                    <a:bodyPr/>
                    <a:lstStyle/>
                    <a:p>
                      <a:r>
                        <a:rPr sz="1600" i="0" b="1">
                          <a:solidFill>
                            <a:srgbClr val="FFFFFF"/>
                          </a:solidFill>
                          <a:latin typeface="Calibri"/>
                        </a:rPr>
                        <a:t>After marketing</a:t>
                      </a:r>
                    </a:p>
                  </a:txBody>
                  <a:tcPr marL="109728" marR="109728" marT="45720" marB="45720" anchor="ctr">
                    <a:solidFill>
                      <a:srgbClr val="A4472B"/>
                    </a:solidFill>
                  </a:tcPr>
                </a:tc>
              </a:tr>
              <a:tr h="640080">
                <a:tc>
                  <a:txBody>
                    <a:bodyPr/>
                    <a:lstStyle/>
                    <a:p>
                      <a:r>
                        <a:rPr sz="1700" i="0" b="1">
                          <a:solidFill>
                            <a:srgbClr val="2B211C"/>
                          </a:solidFill>
                          <a:latin typeface="Calibri"/>
                        </a:rPr>
                        <a:t>Animal studies, then phase I, II and III trials</a:t>
                      </a:r>
                    </a:p>
                  </a:txBody>
                  <a:tcPr marL="109728" marR="109728" marT="45720" marB="45720" anchor="ctr">
                    <a:solidFill>
                      <a:srgbClr val="FFFFFF"/>
                    </a:solidFill>
                  </a:tcPr>
                </a:tc>
                <a:tc>
                  <a:txBody>
                    <a:bodyPr/>
                    <a:lstStyle/>
                    <a:p>
                      <a:r>
                        <a:rPr sz="1700" i="0" b="0">
                          <a:solidFill>
                            <a:srgbClr val="2B211C"/>
                          </a:solidFill>
                          <a:latin typeface="Calibri"/>
                        </a:rPr>
                        <a:t>Phase IV trials, observational studies, spontaneous reports</a:t>
                      </a:r>
                    </a:p>
                  </a:txBody>
                  <a:tcPr marL="109728" marR="109728" marT="45720" marB="45720" anchor="ctr">
                    <a:solidFill>
                      <a:srgbClr val="FFFFFF"/>
                    </a:solidFill>
                  </a:tcPr>
                </a:tc>
              </a:tr>
              <a:tr h="640080">
                <a:tc>
                  <a:txBody>
                    <a:bodyPr/>
                    <a:lstStyle/>
                    <a:p>
                      <a:r>
                        <a:rPr sz="1700" i="0" b="1">
                          <a:solidFill>
                            <a:srgbClr val="2B211C"/>
                          </a:solidFill>
                          <a:latin typeface="Calibri"/>
                        </a:rPr>
                        <a:t>A few thousand patients at most</a:t>
                      </a:r>
                    </a:p>
                  </a:txBody>
                  <a:tcPr marL="109728" marR="109728" marT="45720" marB="45720" anchor="ctr">
                    <a:solidFill>
                      <a:srgbClr val="FAF4F2"/>
                    </a:solidFill>
                  </a:tcPr>
                </a:tc>
                <a:tc>
                  <a:txBody>
                    <a:bodyPr/>
                    <a:lstStyle/>
                    <a:p>
                      <a:r>
                        <a:rPr sz="1700" i="0" b="0">
                          <a:solidFill>
                            <a:srgbClr val="2B211C"/>
                          </a:solidFill>
                          <a:latin typeface="Calibri"/>
                        </a:rPr>
                        <a:t>Millions of patients</a:t>
                      </a:r>
                    </a:p>
                  </a:txBody>
                  <a:tcPr marL="109728" marR="109728" marT="45720" marB="45720" anchor="ctr">
                    <a:solidFill>
                      <a:srgbClr val="FAF4F2"/>
                    </a:solidFill>
                  </a:tcPr>
                </a:tc>
              </a:tr>
              <a:tr h="640080">
                <a:tc>
                  <a:txBody>
                    <a:bodyPr/>
                    <a:lstStyle/>
                    <a:p>
                      <a:r>
                        <a:rPr sz="1700" i="0" b="1">
                          <a:solidFill>
                            <a:srgbClr val="2B211C"/>
                          </a:solidFill>
                          <a:latin typeface="Calibri"/>
                        </a:rPr>
                        <a:t>Weeks to months</a:t>
                      </a:r>
                    </a:p>
                  </a:txBody>
                  <a:tcPr marL="109728" marR="109728" marT="45720" marB="45720" anchor="ctr">
                    <a:solidFill>
                      <a:srgbClr val="FFFFFF"/>
                    </a:solidFill>
                  </a:tcPr>
                </a:tc>
                <a:tc>
                  <a:txBody>
                    <a:bodyPr/>
                    <a:lstStyle/>
                    <a:p>
                      <a:r>
                        <a:rPr sz="1700" i="0" b="0">
                          <a:solidFill>
                            <a:srgbClr val="2B211C"/>
                          </a:solidFill>
                          <a:latin typeface="Calibri"/>
                        </a:rPr>
                        <a:t>Years</a:t>
                      </a:r>
                    </a:p>
                  </a:txBody>
                  <a:tcPr marL="109728" marR="109728" marT="45720" marB="45720" anchor="ctr">
                    <a:solidFill>
                      <a:srgbClr val="FFFFFF"/>
                    </a:solidFill>
                  </a:tcPr>
                </a:tc>
              </a:tr>
              <a:tr h="640080">
                <a:tc>
                  <a:txBody>
                    <a:bodyPr/>
                    <a:lstStyle/>
                    <a:p>
                      <a:r>
                        <a:rPr sz="1700" i="0" b="1">
                          <a:solidFill>
                            <a:srgbClr val="2B211C"/>
                          </a:solidFill>
                          <a:latin typeface="Calibri"/>
                        </a:rPr>
                        <a:t>Strict patients: few children, older people or pregnant women</a:t>
                      </a:r>
                    </a:p>
                  </a:txBody>
                  <a:tcPr marL="109728" marR="109728" marT="45720" marB="45720" anchor="ctr">
                    <a:solidFill>
                      <a:srgbClr val="FAF4F2"/>
                    </a:solidFill>
                  </a:tcPr>
                </a:tc>
                <a:tc>
                  <a:txBody>
                    <a:bodyPr/>
                    <a:lstStyle/>
                    <a:p>
                      <a:r>
                        <a:rPr sz="1700" i="0" b="0">
                          <a:solidFill>
                            <a:srgbClr val="2B211C"/>
                          </a:solidFill>
                          <a:latin typeface="Calibri"/>
                        </a:rPr>
                        <a:t>All kinds of patients</a:t>
                      </a:r>
                    </a:p>
                  </a:txBody>
                  <a:tcPr marL="109728" marR="109728" marT="45720" marB="45720" anchor="ctr">
                    <a:solidFill>
                      <a:srgbClr val="FAF4F2"/>
                    </a:solidFill>
                  </a:tcPr>
                </a:tc>
              </a:tr>
              <a:tr h="640080">
                <a:tc>
                  <a:txBody>
                    <a:bodyPr/>
                    <a:lstStyle/>
                    <a:p>
                      <a:r>
                        <a:rPr sz="1700" i="0" b="1">
                          <a:solidFill>
                            <a:srgbClr val="2B211C"/>
                          </a:solidFill>
                          <a:latin typeface="Calibri"/>
                        </a:rPr>
                        <a:t>Misses uncommon and rare ADRs</a:t>
                      </a:r>
                    </a:p>
                  </a:txBody>
                  <a:tcPr marL="109728" marR="109728" marT="45720" marB="45720" anchor="ctr">
                    <a:solidFill>
                      <a:srgbClr val="FFFFFF"/>
                    </a:solidFill>
                  </a:tcPr>
                </a:tc>
                <a:tc>
                  <a:txBody>
                    <a:bodyPr/>
                    <a:lstStyle/>
                    <a:p>
                      <a:r>
                        <a:rPr sz="1700" i="0" b="0">
                          <a:solidFill>
                            <a:srgbClr val="2B211C"/>
                          </a:solidFill>
                          <a:latin typeface="Calibri"/>
                        </a:rPr>
                        <a:t>Finds rare, delayed and interaction ADRs</a:t>
                      </a:r>
                    </a:p>
                  </a:txBody>
                  <a:tcPr marL="109728" marR="109728" marT="45720" marB="45720" anchor="ctr">
                    <a:solidFill>
                      <a:srgbClr val="FFFFFF"/>
                    </a:solidFill>
                  </a:tcPr>
                </a:tc>
              </a:tr>
            </a:tbl>
          </a:graphicData>
        </a:graphic>
      </p:graphicFrame>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Oval 1"/>
          <p:cNvSpPr/>
          <p:nvPr/>
        </p:nvSpPr>
        <p:spPr>
          <a:xfrm>
            <a:off x="548640" y="475488"/>
            <a:ext cx="658368" cy="658368"/>
          </a:xfrm>
          <a:prstGeom prst="ellipse">
            <a:avLst/>
          </a:prstGeom>
          <a:solidFill>
            <a:srgbClr val="2F6F7A"/>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800" i="0" b="1">
                <a:solidFill>
                  <a:srgbClr val="FFFFFF"/>
                </a:solidFill>
                <a:latin typeface="Cambria"/>
              </a:rPr>
              <a:t>09</a:t>
            </a:r>
          </a:p>
        </p:txBody>
      </p:sp>
      <p:sp>
        <p:nvSpPr>
          <p:cNvPr id="3" name="TextBox 2"/>
          <p:cNvSpPr txBox="1"/>
          <p:nvPr/>
        </p:nvSpPr>
        <p:spPr>
          <a:xfrm>
            <a:off x="1417319" y="438912"/>
            <a:ext cx="10180015" cy="292608"/>
          </a:xfrm>
          <a:prstGeom prst="rect">
            <a:avLst/>
          </a:prstGeom>
          <a:noFill/>
        </p:spPr>
        <p:txBody>
          <a:bodyPr wrap="square" anchor="t" lIns="0" rIns="0" tIns="0" bIns="0">
            <a:spAutoFit/>
          </a:bodyPr>
          <a:lstStyle/>
          <a:p>
            <a:r>
              <a:rPr sz="1200" i="0" b="1" spc="150">
                <a:solidFill>
                  <a:srgbClr val="2F6F7A"/>
                </a:solidFill>
                <a:latin typeface="Calibri"/>
              </a:rPr>
              <a:t>SECTION 9</a:t>
            </a:r>
          </a:p>
        </p:txBody>
      </p:sp>
      <p:sp>
        <p:nvSpPr>
          <p:cNvPr id="4" name="TextBox 3"/>
          <p:cNvSpPr txBox="1"/>
          <p:nvPr/>
        </p:nvSpPr>
        <p:spPr>
          <a:xfrm>
            <a:off x="1417319" y="676656"/>
            <a:ext cx="10180015" cy="640080"/>
          </a:xfrm>
          <a:prstGeom prst="rect">
            <a:avLst/>
          </a:prstGeom>
          <a:noFill/>
        </p:spPr>
        <p:txBody>
          <a:bodyPr wrap="square" anchor="t" lIns="0" rIns="0" tIns="0" bIns="0">
            <a:spAutoFit/>
          </a:bodyPr>
          <a:lstStyle/>
          <a:p>
            <a:r>
              <a:rPr sz="3200" i="0" b="1">
                <a:solidFill>
                  <a:srgbClr val="2B211C"/>
                </a:solidFill>
                <a:latin typeface="Cambria"/>
              </a:rPr>
              <a:t>What to report</a:t>
            </a:r>
          </a:p>
        </p:txBody>
      </p:sp>
      <p:sp>
        <p:nvSpPr>
          <p:cNvPr id="5" name="TextBox 4"/>
          <p:cNvSpPr txBox="1"/>
          <p:nvPr/>
        </p:nvSpPr>
        <p:spPr>
          <a:xfrm>
            <a:off x="548640" y="6419088"/>
            <a:ext cx="8229600" cy="274320"/>
          </a:xfrm>
          <a:prstGeom prst="rect">
            <a:avLst/>
          </a:prstGeom>
          <a:noFill/>
        </p:spPr>
        <p:txBody>
          <a:bodyPr wrap="square" anchor="t" lIns="0" rIns="0" tIns="0" bIns="0">
            <a:spAutoFit/>
          </a:bodyPr>
          <a:lstStyle/>
          <a:p>
            <a:r>
              <a:rPr sz="1000" i="0" b="0">
                <a:solidFill>
                  <a:srgbClr val="6E625B"/>
                </a:solidFill>
                <a:latin typeface="Calibri"/>
              </a:rPr>
              <a:t>Drug Information  ·  Section 9  ·  Pharmacovigilance, ADR Reporting and Medication Errors</a:t>
            </a:r>
          </a:p>
        </p:txBody>
      </p:sp>
      <p:sp>
        <p:nvSpPr>
          <p:cNvPr id="6" name="TextBox 5"/>
          <p:cNvSpPr txBox="1"/>
          <p:nvPr/>
        </p:nvSpPr>
        <p:spPr>
          <a:xfrm>
            <a:off x="10424160" y="6419088"/>
            <a:ext cx="731520" cy="274320"/>
          </a:xfrm>
          <a:prstGeom prst="rect">
            <a:avLst/>
          </a:prstGeom>
          <a:noFill/>
        </p:spPr>
        <p:txBody>
          <a:bodyPr wrap="square" anchor="t" lIns="0" rIns="0" tIns="0" bIns="0">
            <a:spAutoFit/>
          </a:bodyPr>
          <a:lstStyle/>
          <a:p>
            <a:pPr algn="r"/>
            <a:r>
              <a:rPr sz="1000" i="0" b="1">
                <a:solidFill>
                  <a:srgbClr val="6E625B"/>
                </a:solidFill>
                <a:latin typeface="Calibri"/>
              </a:rPr>
              <a:t>4</a:t>
            </a:r>
          </a:p>
        </p:txBody>
      </p:sp>
      <p:pic>
        <p:nvPicPr>
          <p:cNvPr id="7" name="Picture 6" descr="faculty-of-pharmacy.png"/>
          <p:cNvPicPr>
            <a:picLocks noChangeAspect="1"/>
          </p:cNvPicPr>
          <p:nvPr/>
        </p:nvPicPr>
        <p:blipFill>
          <a:blip r:embed="rId3"/>
          <a:stretch>
            <a:fillRect/>
          </a:stretch>
        </p:blipFill>
        <p:spPr>
          <a:xfrm>
            <a:off x="11247120" y="6309360"/>
            <a:ext cx="384048" cy="384048"/>
          </a:xfrm>
          <a:prstGeom prst="rect">
            <a:avLst/>
          </a:prstGeom>
        </p:spPr>
      </p:pic>
      <p:sp>
        <p:nvSpPr>
          <p:cNvPr id="8" name="TextBox 7"/>
          <p:cNvSpPr txBox="1"/>
          <p:nvPr/>
        </p:nvSpPr>
        <p:spPr>
          <a:xfrm>
            <a:off x="548640" y="1554480"/>
            <a:ext cx="11094415" cy="1092708"/>
          </a:xfrm>
          <a:prstGeom prst="rect">
            <a:avLst/>
          </a:prstGeom>
          <a:noFill/>
        </p:spPr>
        <p:txBody>
          <a:bodyPr wrap="square" anchor="t" lIns="0" rIns="0" tIns="0" bIns="0">
            <a:spAutoFit/>
          </a:bodyPr>
          <a:lstStyle/>
          <a:p>
            <a:pPr>
              <a:spcAft>
                <a:spcPts val="800"/>
              </a:spcAft>
            </a:pPr>
            <a:r>
              <a:rPr sz="1800" i="0" b="1">
                <a:solidFill>
                  <a:srgbClr val="2B211C"/>
                </a:solidFill>
                <a:latin typeface="Calibri"/>
              </a:rPr>
              <a:t>Spontaneous reporting</a:t>
            </a:r>
            <a:r>
              <a:rPr sz="1800" i="0" b="0">
                <a:solidFill>
                  <a:srgbClr val="2B211C"/>
                </a:solidFill>
                <a:latin typeface="Calibri"/>
              </a:rPr>
              <a:t> means that health professionals and patients report suspected ADRs to a national centre. It is the main way that new safety signals are found. In Egypt, reports go to the </a:t>
            </a:r>
            <a:r>
              <a:rPr sz="1800" i="0" b="1">
                <a:solidFill>
                  <a:srgbClr val="2B211C"/>
                </a:solidFill>
                <a:latin typeface="Calibri"/>
              </a:rPr>
              <a:t>Egyptian Pharmaceutical Vigilance Center (EPVC)</a:t>
            </a:r>
            <a:r>
              <a:rPr sz="1800" i="0" b="0">
                <a:solidFill>
                  <a:srgbClr val="2B211C"/>
                </a:solidFill>
                <a:latin typeface="Calibri"/>
              </a:rPr>
              <a:t> of the Egyptian Drug Authority (EDA).</a:t>
            </a:r>
          </a:p>
        </p:txBody>
      </p:sp>
      <p:sp>
        <p:nvSpPr>
          <p:cNvPr id="9" name="Oval 8"/>
          <p:cNvSpPr/>
          <p:nvPr/>
        </p:nvSpPr>
        <p:spPr>
          <a:xfrm>
            <a:off x="548640" y="2848356"/>
            <a:ext cx="402336" cy="402336"/>
          </a:xfrm>
          <a:prstGeom prst="ellipse">
            <a:avLst/>
          </a:prstGeom>
          <a:solidFill>
            <a:srgbClr val="E6EEE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300" i="0" b="1">
                <a:solidFill>
                  <a:srgbClr val="2F6F7A"/>
                </a:solidFill>
                <a:latin typeface="Calibri"/>
              </a:rPr>
              <a:t>1</a:t>
            </a:r>
          </a:p>
        </p:txBody>
      </p:sp>
      <p:sp>
        <p:nvSpPr>
          <p:cNvPr id="10" name="TextBox 9"/>
          <p:cNvSpPr txBox="1"/>
          <p:nvPr/>
        </p:nvSpPr>
        <p:spPr>
          <a:xfrm>
            <a:off x="1143000" y="2866644"/>
            <a:ext cx="10500055" cy="706469"/>
          </a:xfrm>
          <a:prstGeom prst="rect">
            <a:avLst/>
          </a:prstGeom>
          <a:noFill/>
        </p:spPr>
        <p:txBody>
          <a:bodyPr wrap="square" anchor="t" lIns="0" rIns="0" tIns="0" bIns="0">
            <a:spAutoFit/>
          </a:bodyPr>
          <a:lstStyle/>
          <a:p>
            <a:r>
              <a:rPr sz="2100" i="0" b="1">
                <a:solidFill>
                  <a:srgbClr val="2B211C"/>
                </a:solidFill>
                <a:latin typeface="Calibri"/>
              </a:rPr>
              <a:t>All suspected</a:t>
            </a:r>
            <a:r>
              <a:rPr sz="2100" i="0" b="0">
                <a:solidFill>
                  <a:srgbClr val="2B211C"/>
                </a:solidFill>
                <a:latin typeface="Calibri"/>
              </a:rPr>
              <a:t> ADRs to new drugs.</a:t>
            </a:r>
          </a:p>
        </p:txBody>
      </p:sp>
      <p:sp>
        <p:nvSpPr>
          <p:cNvPr id="11" name="Oval 10"/>
          <p:cNvSpPr/>
          <p:nvPr/>
        </p:nvSpPr>
        <p:spPr>
          <a:xfrm>
            <a:off x="548640" y="3600545"/>
            <a:ext cx="402336" cy="402336"/>
          </a:xfrm>
          <a:prstGeom prst="ellipse">
            <a:avLst/>
          </a:prstGeom>
          <a:solidFill>
            <a:srgbClr val="E6EEE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300" i="0" b="1">
                <a:solidFill>
                  <a:srgbClr val="2F6F7A"/>
                </a:solidFill>
                <a:latin typeface="Calibri"/>
              </a:rPr>
              <a:t>2</a:t>
            </a:r>
          </a:p>
        </p:txBody>
      </p:sp>
      <p:sp>
        <p:nvSpPr>
          <p:cNvPr id="12" name="TextBox 11"/>
          <p:cNvSpPr txBox="1"/>
          <p:nvPr/>
        </p:nvSpPr>
        <p:spPr>
          <a:xfrm>
            <a:off x="1143000" y="3618833"/>
            <a:ext cx="10500055" cy="1039844"/>
          </a:xfrm>
          <a:prstGeom prst="rect">
            <a:avLst/>
          </a:prstGeom>
          <a:noFill/>
        </p:spPr>
        <p:txBody>
          <a:bodyPr wrap="square" anchor="t" lIns="0" rIns="0" tIns="0" bIns="0">
            <a:spAutoFit/>
          </a:bodyPr>
          <a:lstStyle/>
          <a:p>
            <a:r>
              <a:rPr sz="2100" i="0" b="1">
                <a:solidFill>
                  <a:srgbClr val="2B211C"/>
                </a:solidFill>
                <a:latin typeface="Calibri"/>
              </a:rPr>
              <a:t>Serious</a:t>
            </a:r>
            <a:r>
              <a:rPr sz="2100" i="0" b="0">
                <a:solidFill>
                  <a:srgbClr val="2B211C"/>
                </a:solidFill>
                <a:latin typeface="Calibri"/>
              </a:rPr>
              <a:t> ADRs to any drug (death, life-threatening, hospitalisation, disability, congenital anomaly).</a:t>
            </a:r>
          </a:p>
        </p:txBody>
      </p:sp>
      <p:sp>
        <p:nvSpPr>
          <p:cNvPr id="13" name="Oval 12"/>
          <p:cNvSpPr/>
          <p:nvPr/>
        </p:nvSpPr>
        <p:spPr>
          <a:xfrm>
            <a:off x="548640" y="4686109"/>
            <a:ext cx="402336" cy="402336"/>
          </a:xfrm>
          <a:prstGeom prst="ellipse">
            <a:avLst/>
          </a:prstGeom>
          <a:solidFill>
            <a:srgbClr val="E6EEE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300" i="0" b="1">
                <a:solidFill>
                  <a:srgbClr val="2F6F7A"/>
                </a:solidFill>
                <a:latin typeface="Calibri"/>
              </a:rPr>
              <a:t>3</a:t>
            </a:r>
          </a:p>
        </p:txBody>
      </p:sp>
      <p:sp>
        <p:nvSpPr>
          <p:cNvPr id="14" name="TextBox 13"/>
          <p:cNvSpPr txBox="1"/>
          <p:nvPr/>
        </p:nvSpPr>
        <p:spPr>
          <a:xfrm>
            <a:off x="1143000" y="4704397"/>
            <a:ext cx="10500055" cy="706469"/>
          </a:xfrm>
          <a:prstGeom prst="rect">
            <a:avLst/>
          </a:prstGeom>
          <a:noFill/>
        </p:spPr>
        <p:txBody>
          <a:bodyPr wrap="square" anchor="t" lIns="0" rIns="0" tIns="0" bIns="0">
            <a:spAutoFit/>
          </a:bodyPr>
          <a:lstStyle/>
          <a:p>
            <a:r>
              <a:rPr sz="2100" i="0" b="0">
                <a:solidFill>
                  <a:srgbClr val="2B211C"/>
                </a:solidFill>
                <a:latin typeface="Calibri"/>
              </a:rPr>
              <a:t>Unexpected reactions, interactions, medication errors and lack of effect.</a:t>
            </a:r>
          </a:p>
        </p:txBody>
      </p:sp>
      <p:sp>
        <p:nvSpPr>
          <p:cNvPr id="15" name="Oval 14"/>
          <p:cNvSpPr/>
          <p:nvPr/>
        </p:nvSpPr>
        <p:spPr>
          <a:xfrm>
            <a:off x="548640" y="5438298"/>
            <a:ext cx="402336" cy="402336"/>
          </a:xfrm>
          <a:prstGeom prst="ellipse">
            <a:avLst/>
          </a:prstGeom>
          <a:solidFill>
            <a:srgbClr val="E6EEE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300" i="0" b="1">
                <a:solidFill>
                  <a:srgbClr val="2F6F7A"/>
                </a:solidFill>
                <a:latin typeface="Calibri"/>
              </a:rPr>
              <a:t>4</a:t>
            </a:r>
          </a:p>
        </p:txBody>
      </p:sp>
      <p:sp>
        <p:nvSpPr>
          <p:cNvPr id="16" name="TextBox 15"/>
          <p:cNvSpPr txBox="1"/>
          <p:nvPr/>
        </p:nvSpPr>
        <p:spPr>
          <a:xfrm>
            <a:off x="1143000" y="5456586"/>
            <a:ext cx="10500055" cy="706469"/>
          </a:xfrm>
          <a:prstGeom prst="rect">
            <a:avLst/>
          </a:prstGeom>
          <a:noFill/>
        </p:spPr>
        <p:txBody>
          <a:bodyPr wrap="square" anchor="t" lIns="0" rIns="0" tIns="0" bIns="0">
            <a:spAutoFit/>
          </a:bodyPr>
          <a:lstStyle/>
          <a:p>
            <a:r>
              <a:rPr sz="2100" i="0" b="0">
                <a:solidFill>
                  <a:srgbClr val="2B211C"/>
                </a:solidFill>
                <a:latin typeface="Calibri"/>
              </a:rPr>
              <a:t>Suspected poor-quality or falsified products.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Oval 1"/>
          <p:cNvSpPr/>
          <p:nvPr/>
        </p:nvSpPr>
        <p:spPr>
          <a:xfrm>
            <a:off x="548640" y="475488"/>
            <a:ext cx="658368" cy="658368"/>
          </a:xfrm>
          <a:prstGeom prst="ellipse">
            <a:avLst/>
          </a:prstGeom>
          <a:solidFill>
            <a:srgbClr val="2F6F7A"/>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800" i="0" b="1">
                <a:solidFill>
                  <a:srgbClr val="FFFFFF"/>
                </a:solidFill>
                <a:latin typeface="Cambria"/>
              </a:rPr>
              <a:t>09</a:t>
            </a:r>
          </a:p>
        </p:txBody>
      </p:sp>
      <p:sp>
        <p:nvSpPr>
          <p:cNvPr id="3" name="TextBox 2"/>
          <p:cNvSpPr txBox="1"/>
          <p:nvPr/>
        </p:nvSpPr>
        <p:spPr>
          <a:xfrm>
            <a:off x="1417319" y="438912"/>
            <a:ext cx="10180015" cy="292608"/>
          </a:xfrm>
          <a:prstGeom prst="rect">
            <a:avLst/>
          </a:prstGeom>
          <a:noFill/>
        </p:spPr>
        <p:txBody>
          <a:bodyPr wrap="square" anchor="t" lIns="0" rIns="0" tIns="0" bIns="0">
            <a:spAutoFit/>
          </a:bodyPr>
          <a:lstStyle/>
          <a:p>
            <a:r>
              <a:rPr sz="1200" i="0" b="1" spc="150">
                <a:solidFill>
                  <a:srgbClr val="2F6F7A"/>
                </a:solidFill>
                <a:latin typeface="Calibri"/>
              </a:rPr>
              <a:t>SECTION 9</a:t>
            </a:r>
          </a:p>
        </p:txBody>
      </p:sp>
      <p:sp>
        <p:nvSpPr>
          <p:cNvPr id="4" name="TextBox 3"/>
          <p:cNvSpPr txBox="1"/>
          <p:nvPr/>
        </p:nvSpPr>
        <p:spPr>
          <a:xfrm>
            <a:off x="1417319" y="676656"/>
            <a:ext cx="10180015" cy="640080"/>
          </a:xfrm>
          <a:prstGeom prst="rect">
            <a:avLst/>
          </a:prstGeom>
          <a:noFill/>
        </p:spPr>
        <p:txBody>
          <a:bodyPr wrap="square" anchor="t" lIns="0" rIns="0" tIns="0" bIns="0">
            <a:spAutoFit/>
          </a:bodyPr>
          <a:lstStyle/>
          <a:p>
            <a:r>
              <a:rPr sz="3200" i="0" b="1">
                <a:solidFill>
                  <a:srgbClr val="2B211C"/>
                </a:solidFill>
                <a:latin typeface="Cambria"/>
              </a:rPr>
              <a:t>How to report</a:t>
            </a:r>
          </a:p>
        </p:txBody>
      </p:sp>
      <p:sp>
        <p:nvSpPr>
          <p:cNvPr id="5" name="TextBox 4"/>
          <p:cNvSpPr txBox="1"/>
          <p:nvPr/>
        </p:nvSpPr>
        <p:spPr>
          <a:xfrm>
            <a:off x="548640" y="6419088"/>
            <a:ext cx="8229600" cy="274320"/>
          </a:xfrm>
          <a:prstGeom prst="rect">
            <a:avLst/>
          </a:prstGeom>
          <a:noFill/>
        </p:spPr>
        <p:txBody>
          <a:bodyPr wrap="square" anchor="t" lIns="0" rIns="0" tIns="0" bIns="0">
            <a:spAutoFit/>
          </a:bodyPr>
          <a:lstStyle/>
          <a:p>
            <a:r>
              <a:rPr sz="1000" i="0" b="0">
                <a:solidFill>
                  <a:srgbClr val="6E625B"/>
                </a:solidFill>
                <a:latin typeface="Calibri"/>
              </a:rPr>
              <a:t>Drug Information  ·  Section 9  ·  Pharmacovigilance, ADR Reporting and Medication Errors</a:t>
            </a:r>
          </a:p>
        </p:txBody>
      </p:sp>
      <p:sp>
        <p:nvSpPr>
          <p:cNvPr id="6" name="TextBox 5"/>
          <p:cNvSpPr txBox="1"/>
          <p:nvPr/>
        </p:nvSpPr>
        <p:spPr>
          <a:xfrm>
            <a:off x="10424160" y="6419088"/>
            <a:ext cx="731520" cy="274320"/>
          </a:xfrm>
          <a:prstGeom prst="rect">
            <a:avLst/>
          </a:prstGeom>
          <a:noFill/>
        </p:spPr>
        <p:txBody>
          <a:bodyPr wrap="square" anchor="t" lIns="0" rIns="0" tIns="0" bIns="0">
            <a:spAutoFit/>
          </a:bodyPr>
          <a:lstStyle/>
          <a:p>
            <a:pPr algn="r"/>
            <a:r>
              <a:rPr sz="1000" i="0" b="1">
                <a:solidFill>
                  <a:srgbClr val="6E625B"/>
                </a:solidFill>
                <a:latin typeface="Calibri"/>
              </a:rPr>
              <a:t>5</a:t>
            </a:r>
          </a:p>
        </p:txBody>
      </p:sp>
      <p:pic>
        <p:nvPicPr>
          <p:cNvPr id="7" name="Picture 6" descr="faculty-of-pharmacy.png"/>
          <p:cNvPicPr>
            <a:picLocks noChangeAspect="1"/>
          </p:cNvPicPr>
          <p:nvPr/>
        </p:nvPicPr>
        <p:blipFill>
          <a:blip r:embed="rId3"/>
          <a:stretch>
            <a:fillRect/>
          </a:stretch>
        </p:blipFill>
        <p:spPr>
          <a:xfrm>
            <a:off x="11247120" y="6309360"/>
            <a:ext cx="384048" cy="384048"/>
          </a:xfrm>
          <a:prstGeom prst="rect">
            <a:avLst/>
          </a:prstGeom>
        </p:spPr>
      </p:pic>
      <p:sp>
        <p:nvSpPr>
          <p:cNvPr id="8" name="TextBox 7"/>
          <p:cNvSpPr txBox="1"/>
          <p:nvPr/>
        </p:nvSpPr>
        <p:spPr>
          <a:xfrm>
            <a:off x="548640" y="1554480"/>
            <a:ext cx="11094415" cy="1202436"/>
          </a:xfrm>
          <a:prstGeom prst="rect">
            <a:avLst/>
          </a:prstGeom>
          <a:noFill/>
        </p:spPr>
        <p:txBody>
          <a:bodyPr wrap="square" anchor="t" lIns="0" rIns="0" tIns="0" bIns="0">
            <a:spAutoFit/>
          </a:bodyPr>
          <a:lstStyle/>
          <a:p>
            <a:pPr>
              <a:spcAft>
                <a:spcPts val="800"/>
              </a:spcAft>
            </a:pPr>
            <a:r>
              <a:rPr sz="1800" i="0" b="0">
                <a:solidFill>
                  <a:srgbClr val="2B211C"/>
                </a:solidFill>
                <a:latin typeface="Calibri"/>
              </a:rPr>
              <a:t>You do </a:t>
            </a:r>
            <a:r>
              <a:rPr sz="1800" i="0" b="1">
                <a:solidFill>
                  <a:srgbClr val="2B211C"/>
                </a:solidFill>
                <a:latin typeface="Calibri"/>
              </a:rPr>
              <a:t>not</a:t>
            </a:r>
            <a:r>
              <a:rPr sz="1800" i="0" b="0">
                <a:solidFill>
                  <a:srgbClr val="2B211C"/>
                </a:solidFill>
                <a:latin typeface="Calibri"/>
              </a:rPr>
              <a:t> need to be sure the drug caused the reaction. </a:t>
            </a:r>
            <a:r>
              <a:rPr sz="1800" i="0" b="1">
                <a:solidFill>
                  <a:srgbClr val="2B211C"/>
                </a:solidFill>
                <a:latin typeface="Calibri"/>
              </a:rPr>
              <a:t>If in doubt, report.</a:t>
            </a:r>
          </a:p>
          <a:p>
            <a:pPr>
              <a:spcAft>
                <a:spcPts val="800"/>
              </a:spcAft>
            </a:pPr>
            <a:r>
              <a:rPr sz="1800" i="0" b="0">
                <a:solidFill>
                  <a:srgbClr val="2B211C"/>
                </a:solidFill>
                <a:latin typeface="Calibri"/>
              </a:rPr>
              <a:t>Reports can be sent online through the EDA pharmacovigilance portal, or on the paper form. Serious reactions should be reported as soon as possible. Every report is confidential.</a:t>
            </a:r>
          </a:p>
        </p:txBody>
      </p:sp>
      <p:graphicFrame>
        <p:nvGraphicFramePr>
          <p:cNvPr id="9" name="Table 8"/>
          <p:cNvGraphicFramePr>
            <a:graphicFrameLocks noGrp="1"/>
          </p:cNvGraphicFramePr>
          <p:nvPr/>
        </p:nvGraphicFramePr>
        <p:xfrm>
          <a:off x="548640" y="2939796"/>
          <a:ext cx="11094414" cy="3232404"/>
        </p:xfrm>
        <a:graphic>
          <a:graphicData uri="http://schemas.openxmlformats.org/drawingml/2006/table">
            <a:tbl>
              <a:tblPr firstRow="0" bandRow="0">
                <a:tableStyleId>{5C22544A-7EE6-4342-B048-85BDC9FD1C3A}</a:tableStyleId>
              </a:tblPr>
              <a:tblGrid>
                <a:gridCol w="3153149"/>
                <a:gridCol w="7941265"/>
              </a:tblGrid>
              <a:tr h="538734">
                <a:tc>
                  <a:txBody>
                    <a:bodyPr/>
                    <a:lstStyle/>
                    <a:p>
                      <a:r>
                        <a:rPr sz="1300" i="0" b="1">
                          <a:solidFill>
                            <a:srgbClr val="FFFFFF"/>
                          </a:solidFill>
                          <a:latin typeface="Calibri"/>
                        </a:rPr>
                        <a:t>Section of the form</a:t>
                      </a:r>
                    </a:p>
                  </a:txBody>
                  <a:tcPr marL="109728" marR="109728" marT="45720" marB="45720" anchor="ctr">
                    <a:solidFill>
                      <a:srgbClr val="A4472B"/>
                    </a:solidFill>
                  </a:tcPr>
                </a:tc>
                <a:tc>
                  <a:txBody>
                    <a:bodyPr/>
                    <a:lstStyle/>
                    <a:p>
                      <a:r>
                        <a:rPr sz="1300" i="0" b="1">
                          <a:solidFill>
                            <a:srgbClr val="FFFFFF"/>
                          </a:solidFill>
                          <a:latin typeface="Calibri"/>
                        </a:rPr>
                        <a:t>What you write</a:t>
                      </a:r>
                    </a:p>
                  </a:txBody>
                  <a:tcPr marL="109728" marR="109728" marT="45720" marB="45720" anchor="ctr">
                    <a:solidFill>
                      <a:srgbClr val="A4472B"/>
                    </a:solidFill>
                  </a:tcPr>
                </a:tc>
              </a:tr>
              <a:tr h="538734">
                <a:tc>
                  <a:txBody>
                    <a:bodyPr/>
                    <a:lstStyle/>
                    <a:p>
                      <a:r>
                        <a:rPr sz="1400" i="0" b="1">
                          <a:solidFill>
                            <a:srgbClr val="2B211C"/>
                          </a:solidFill>
                          <a:latin typeface="Calibri"/>
                        </a:rPr>
                        <a:t>Patient</a:t>
                      </a:r>
                    </a:p>
                  </a:txBody>
                  <a:tcPr marL="109728" marR="109728" marT="45720" marB="45720" anchor="ctr">
                    <a:solidFill>
                      <a:srgbClr val="FFFFFF"/>
                    </a:solidFill>
                  </a:tcPr>
                </a:tc>
                <a:tc>
                  <a:txBody>
                    <a:bodyPr/>
                    <a:lstStyle/>
                    <a:p>
                      <a:r>
                        <a:rPr sz="1400" i="0" b="0">
                          <a:solidFill>
                            <a:srgbClr val="2B211C"/>
                          </a:solidFill>
                          <a:latin typeface="Calibri"/>
                        </a:rPr>
                        <a:t>Initials, age, sex, weight (no full name)</a:t>
                      </a:r>
                    </a:p>
                  </a:txBody>
                  <a:tcPr marL="109728" marR="109728" marT="45720" marB="45720" anchor="ctr">
                    <a:solidFill>
                      <a:srgbClr val="FFFFFF"/>
                    </a:solidFill>
                  </a:tcPr>
                </a:tc>
              </a:tr>
              <a:tr h="538734">
                <a:tc>
                  <a:txBody>
                    <a:bodyPr/>
                    <a:lstStyle/>
                    <a:p>
                      <a:r>
                        <a:rPr sz="1400" i="0" b="1">
                          <a:solidFill>
                            <a:srgbClr val="2B211C"/>
                          </a:solidFill>
                          <a:latin typeface="Calibri"/>
                        </a:rPr>
                        <a:t>Reaction</a:t>
                      </a:r>
                    </a:p>
                  </a:txBody>
                  <a:tcPr marL="109728" marR="109728" marT="45720" marB="45720" anchor="ctr">
                    <a:solidFill>
                      <a:srgbClr val="FAF4F2"/>
                    </a:solidFill>
                  </a:tcPr>
                </a:tc>
                <a:tc>
                  <a:txBody>
                    <a:bodyPr/>
                    <a:lstStyle/>
                    <a:p>
                      <a:r>
                        <a:rPr sz="1400" i="0" b="0">
                          <a:solidFill>
                            <a:srgbClr val="2B211C"/>
                          </a:solidFill>
                          <a:latin typeface="Calibri"/>
                        </a:rPr>
                        <a:t>What happened, when it started, how it was treated, the outcome</a:t>
                      </a:r>
                    </a:p>
                  </a:txBody>
                  <a:tcPr marL="109728" marR="109728" marT="45720" marB="45720" anchor="ctr">
                    <a:solidFill>
                      <a:srgbClr val="FAF4F2"/>
                    </a:solidFill>
                  </a:tcPr>
                </a:tc>
              </a:tr>
              <a:tr h="538734">
                <a:tc>
                  <a:txBody>
                    <a:bodyPr/>
                    <a:lstStyle/>
                    <a:p>
                      <a:r>
                        <a:rPr sz="1400" i="0" b="1">
                          <a:solidFill>
                            <a:srgbClr val="2B211C"/>
                          </a:solidFill>
                          <a:latin typeface="Calibri"/>
                        </a:rPr>
                        <a:t>Suspected drug</a:t>
                      </a:r>
                    </a:p>
                  </a:txBody>
                  <a:tcPr marL="109728" marR="109728" marT="45720" marB="45720" anchor="ctr">
                    <a:solidFill>
                      <a:srgbClr val="FFFFFF"/>
                    </a:solidFill>
                  </a:tcPr>
                </a:tc>
                <a:tc>
                  <a:txBody>
                    <a:bodyPr/>
                    <a:lstStyle/>
                    <a:p>
                      <a:r>
                        <a:rPr sz="1400" i="0" b="0">
                          <a:solidFill>
                            <a:srgbClr val="2B211C"/>
                          </a:solidFill>
                          <a:latin typeface="Calibri"/>
                        </a:rPr>
                        <a:t>Name, brand, batch number, dose, route, start and stop dates, reason for use</a:t>
                      </a:r>
                    </a:p>
                  </a:txBody>
                  <a:tcPr marL="109728" marR="109728" marT="45720" marB="45720" anchor="ctr">
                    <a:solidFill>
                      <a:srgbClr val="FFFFFF"/>
                    </a:solidFill>
                  </a:tcPr>
                </a:tc>
              </a:tr>
              <a:tr h="538734">
                <a:tc>
                  <a:txBody>
                    <a:bodyPr/>
                    <a:lstStyle/>
                    <a:p>
                      <a:r>
                        <a:rPr sz="1400" i="0" b="1">
                          <a:solidFill>
                            <a:srgbClr val="2B211C"/>
                          </a:solidFill>
                          <a:latin typeface="Calibri"/>
                        </a:rPr>
                        <a:t>Other drugs</a:t>
                      </a:r>
                    </a:p>
                  </a:txBody>
                  <a:tcPr marL="109728" marR="109728" marT="45720" marB="45720" anchor="ctr">
                    <a:solidFill>
                      <a:srgbClr val="FAF4F2"/>
                    </a:solidFill>
                  </a:tcPr>
                </a:tc>
                <a:tc>
                  <a:txBody>
                    <a:bodyPr/>
                    <a:lstStyle/>
                    <a:p>
                      <a:r>
                        <a:rPr sz="1400" i="0" b="0">
                          <a:solidFill>
                            <a:srgbClr val="2B211C"/>
                          </a:solidFill>
                          <a:latin typeface="Calibri"/>
                        </a:rPr>
                        <a:t>All other medicines, including over-the-counter and herbal products</a:t>
                      </a:r>
                    </a:p>
                  </a:txBody>
                  <a:tcPr marL="109728" marR="109728" marT="45720" marB="45720" anchor="ctr">
                    <a:solidFill>
                      <a:srgbClr val="FAF4F2"/>
                    </a:solidFill>
                  </a:tcPr>
                </a:tc>
              </a:tr>
              <a:tr h="538734">
                <a:tc>
                  <a:txBody>
                    <a:bodyPr/>
                    <a:lstStyle/>
                    <a:p>
                      <a:r>
                        <a:rPr sz="1400" i="0" b="1">
                          <a:solidFill>
                            <a:srgbClr val="2B211C"/>
                          </a:solidFill>
                          <a:latin typeface="Calibri"/>
                        </a:rPr>
                        <a:t>Reporter</a:t>
                      </a:r>
                    </a:p>
                  </a:txBody>
                  <a:tcPr marL="109728" marR="109728" marT="45720" marB="45720" anchor="ctr">
                    <a:solidFill>
                      <a:srgbClr val="FFFFFF"/>
                    </a:solidFill>
                  </a:tcPr>
                </a:tc>
                <a:tc>
                  <a:txBody>
                    <a:bodyPr/>
                    <a:lstStyle/>
                    <a:p>
                      <a:r>
                        <a:rPr sz="1400" i="0" b="0">
                          <a:solidFill>
                            <a:srgbClr val="2B211C"/>
                          </a:solidFill>
                          <a:latin typeface="Calibri"/>
                        </a:rPr>
                        <a:t>Your name, profession and contact details</a:t>
                      </a:r>
                    </a:p>
                  </a:txBody>
                  <a:tcPr marL="109728" marR="109728" marT="45720" marB="45720" anchor="ctr">
                    <a:solidFill>
                      <a:srgbClr val="FFFFFF"/>
                    </a:solidFill>
                  </a:tcPr>
                </a:tc>
              </a:tr>
            </a:tbl>
          </a:graphicData>
        </a:graphic>
      </p:graphicFrame>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3931920" cy="6858000"/>
          </a:xfrm>
          <a:prstGeom prst="rect">
            <a:avLst/>
          </a:prstGeom>
          <a:solidFill>
            <a:srgbClr val="2F6F7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188720"/>
            <a:ext cx="2926080" cy="2377440"/>
          </a:xfrm>
          <a:prstGeom prst="rect">
            <a:avLst/>
          </a:prstGeom>
          <a:noFill/>
        </p:spPr>
        <p:txBody>
          <a:bodyPr wrap="square" anchor="t" lIns="0" rIns="0" tIns="0" bIns="0">
            <a:spAutoFit/>
          </a:bodyPr>
          <a:lstStyle/>
          <a:p>
            <a:r>
              <a:rPr sz="13000" i="0" b="1">
                <a:solidFill>
                  <a:srgbClr val="E6EEEF"/>
                </a:solidFill>
                <a:latin typeface="Cambria"/>
              </a:rPr>
              <a:t>℞</a:t>
            </a:r>
          </a:p>
        </p:txBody>
      </p:sp>
      <p:sp>
        <p:nvSpPr>
          <p:cNvPr id="4" name="TextBox 3"/>
          <p:cNvSpPr txBox="1"/>
          <p:nvPr/>
        </p:nvSpPr>
        <p:spPr>
          <a:xfrm>
            <a:off x="548640" y="3977639"/>
            <a:ext cx="3017520" cy="1280160"/>
          </a:xfrm>
          <a:prstGeom prst="rect">
            <a:avLst/>
          </a:prstGeom>
          <a:noFill/>
        </p:spPr>
        <p:txBody>
          <a:bodyPr wrap="square" anchor="t" lIns="0" rIns="0" tIns="0" bIns="0">
            <a:spAutoFit/>
          </a:bodyPr>
          <a:lstStyle/>
          <a:p>
            <a:r>
              <a:rPr sz="3000" i="0" b="1">
                <a:solidFill>
                  <a:srgbClr val="FFFFFF"/>
                </a:solidFill>
                <a:latin typeface="Cambria"/>
              </a:rPr>
              <a:t>At the Pharmacy</a:t>
            </a:r>
          </a:p>
          <a:p>
            <a:r>
              <a:rPr sz="1400" i="0" b="1" spc="150">
                <a:solidFill>
                  <a:srgbClr val="E6EEEF"/>
                </a:solidFill>
                <a:latin typeface="Calibri"/>
              </a:rPr>
              <a:t>Section 9</a:t>
            </a:r>
          </a:p>
        </p:txBody>
      </p:sp>
      <p:sp>
        <p:nvSpPr>
          <p:cNvPr id="5" name="TextBox 4"/>
          <p:cNvSpPr txBox="1"/>
          <p:nvPr/>
        </p:nvSpPr>
        <p:spPr>
          <a:xfrm>
            <a:off x="4526280" y="822960"/>
            <a:ext cx="7132320" cy="5120640"/>
          </a:xfrm>
          <a:prstGeom prst="rect">
            <a:avLst/>
          </a:prstGeom>
          <a:noFill/>
        </p:spPr>
        <p:txBody>
          <a:bodyPr wrap="square" anchor="ctr" lIns="0" rIns="0" tIns="0" bIns="0">
            <a:spAutoFit/>
          </a:bodyPr>
          <a:lstStyle/>
          <a:p>
            <a:r>
              <a:rPr sz="2200" i="0" b="0">
                <a:solidFill>
                  <a:srgbClr val="2B211C"/>
                </a:solidFill>
                <a:latin typeface="Calibri"/>
              </a:rPr>
              <a:t>A patient tells you that her ankles have swollen since she started amlodipine. You check the dose and history, suggest she see her doctor, and complete an online EDA report with the batch number from the box. The whole report takes about ten minutes.</a:t>
            </a:r>
          </a:p>
        </p:txBody>
      </p:sp>
      <p:sp>
        <p:nvSpPr>
          <p:cNvPr id="6" name="TextBox 5"/>
          <p:cNvSpPr txBox="1"/>
          <p:nvPr/>
        </p:nvSpPr>
        <p:spPr>
          <a:xfrm>
            <a:off x="4526280" y="6419088"/>
            <a:ext cx="8229600" cy="274320"/>
          </a:xfrm>
          <a:prstGeom prst="rect">
            <a:avLst/>
          </a:prstGeom>
          <a:noFill/>
        </p:spPr>
        <p:txBody>
          <a:bodyPr wrap="square" anchor="t" lIns="0" rIns="0" tIns="0" bIns="0">
            <a:spAutoFit/>
          </a:bodyPr>
          <a:lstStyle/>
          <a:p>
            <a:r>
              <a:rPr sz="1000" i="0" b="0">
                <a:solidFill>
                  <a:srgbClr val="6E625B"/>
                </a:solidFill>
                <a:latin typeface="Calibri"/>
              </a:rPr>
              <a:t>Drug Information  ·  Pharmacovigilance, ADR Reporting and Medication Errors</a:t>
            </a:r>
          </a:p>
        </p:txBody>
      </p:sp>
      <p:sp>
        <p:nvSpPr>
          <p:cNvPr id="7" name="TextBox 6"/>
          <p:cNvSpPr txBox="1"/>
          <p:nvPr/>
        </p:nvSpPr>
        <p:spPr>
          <a:xfrm>
            <a:off x="10424160" y="6419088"/>
            <a:ext cx="731520" cy="274320"/>
          </a:xfrm>
          <a:prstGeom prst="rect">
            <a:avLst/>
          </a:prstGeom>
          <a:noFill/>
        </p:spPr>
        <p:txBody>
          <a:bodyPr wrap="square" anchor="t" lIns="0" rIns="0" tIns="0" bIns="0">
            <a:spAutoFit/>
          </a:bodyPr>
          <a:lstStyle/>
          <a:p>
            <a:pPr algn="r"/>
            <a:r>
              <a:rPr sz="1000" i="0" b="1">
                <a:solidFill>
                  <a:srgbClr val="6E625B"/>
                </a:solidFill>
                <a:latin typeface="Calibri"/>
              </a:rPr>
              <a:t>6</a:t>
            </a:r>
          </a:p>
        </p:txBody>
      </p:sp>
      <p:pic>
        <p:nvPicPr>
          <p:cNvPr id="8" name="Picture 7" descr="faculty-of-pharmacy.png"/>
          <p:cNvPicPr>
            <a:picLocks noChangeAspect="1"/>
          </p:cNvPicPr>
          <p:nvPr/>
        </p:nvPicPr>
        <p:blipFill>
          <a:blip r:embed="rId3"/>
          <a:stretch>
            <a:fillRect/>
          </a:stretch>
        </p:blipFill>
        <p:spPr>
          <a:xfrm>
            <a:off x="11247120" y="6309360"/>
            <a:ext cx="384048" cy="384048"/>
          </a:xfrm>
          <a:prstGeom prst="rect">
            <a:avLst/>
          </a:prstGeom>
        </p:spPr>
      </p:pic>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Oval 1"/>
          <p:cNvSpPr/>
          <p:nvPr/>
        </p:nvSpPr>
        <p:spPr>
          <a:xfrm>
            <a:off x="548640" y="475488"/>
            <a:ext cx="658368" cy="658368"/>
          </a:xfrm>
          <a:prstGeom prst="ellipse">
            <a:avLst/>
          </a:prstGeom>
          <a:solidFill>
            <a:srgbClr val="2F6F7A"/>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800" i="0" b="1">
                <a:solidFill>
                  <a:srgbClr val="FFFFFF"/>
                </a:solidFill>
                <a:latin typeface="Cambria"/>
              </a:rPr>
              <a:t>09</a:t>
            </a:r>
          </a:p>
        </p:txBody>
      </p:sp>
      <p:sp>
        <p:nvSpPr>
          <p:cNvPr id="3" name="TextBox 2"/>
          <p:cNvSpPr txBox="1"/>
          <p:nvPr/>
        </p:nvSpPr>
        <p:spPr>
          <a:xfrm>
            <a:off x="1417319" y="438912"/>
            <a:ext cx="10180015" cy="292608"/>
          </a:xfrm>
          <a:prstGeom prst="rect">
            <a:avLst/>
          </a:prstGeom>
          <a:noFill/>
        </p:spPr>
        <p:txBody>
          <a:bodyPr wrap="square" anchor="t" lIns="0" rIns="0" tIns="0" bIns="0">
            <a:spAutoFit/>
          </a:bodyPr>
          <a:lstStyle/>
          <a:p>
            <a:r>
              <a:rPr sz="1200" i="0" b="1" spc="150">
                <a:solidFill>
                  <a:srgbClr val="2F6F7A"/>
                </a:solidFill>
                <a:latin typeface="Calibri"/>
              </a:rPr>
              <a:t>SECTION 9</a:t>
            </a:r>
          </a:p>
        </p:txBody>
      </p:sp>
      <p:sp>
        <p:nvSpPr>
          <p:cNvPr id="4" name="TextBox 3"/>
          <p:cNvSpPr txBox="1"/>
          <p:nvPr/>
        </p:nvSpPr>
        <p:spPr>
          <a:xfrm>
            <a:off x="1417319" y="676656"/>
            <a:ext cx="10180015" cy="640080"/>
          </a:xfrm>
          <a:prstGeom prst="rect">
            <a:avLst/>
          </a:prstGeom>
          <a:noFill/>
        </p:spPr>
        <p:txBody>
          <a:bodyPr wrap="square" anchor="t" lIns="0" rIns="0" tIns="0" bIns="0">
            <a:spAutoFit/>
          </a:bodyPr>
          <a:lstStyle/>
          <a:p>
            <a:r>
              <a:rPr sz="3200" i="0" b="1">
                <a:solidFill>
                  <a:srgbClr val="2B211C"/>
                </a:solidFill>
                <a:latin typeface="Cambria"/>
              </a:rPr>
              <a:t>The Drug and Therapeutics Committee</a:t>
            </a:r>
          </a:p>
        </p:txBody>
      </p:sp>
      <p:sp>
        <p:nvSpPr>
          <p:cNvPr id="5" name="TextBox 4"/>
          <p:cNvSpPr txBox="1"/>
          <p:nvPr/>
        </p:nvSpPr>
        <p:spPr>
          <a:xfrm>
            <a:off x="548640" y="6419088"/>
            <a:ext cx="8229600" cy="274320"/>
          </a:xfrm>
          <a:prstGeom prst="rect">
            <a:avLst/>
          </a:prstGeom>
          <a:noFill/>
        </p:spPr>
        <p:txBody>
          <a:bodyPr wrap="square" anchor="t" lIns="0" rIns="0" tIns="0" bIns="0">
            <a:spAutoFit/>
          </a:bodyPr>
          <a:lstStyle/>
          <a:p>
            <a:r>
              <a:rPr sz="1000" i="0" b="0">
                <a:solidFill>
                  <a:srgbClr val="6E625B"/>
                </a:solidFill>
                <a:latin typeface="Calibri"/>
              </a:rPr>
              <a:t>Drug Information  ·  Section 9  ·  Pharmacovigilance, ADR Reporting and Medication Errors</a:t>
            </a:r>
          </a:p>
        </p:txBody>
      </p:sp>
      <p:sp>
        <p:nvSpPr>
          <p:cNvPr id="6" name="TextBox 5"/>
          <p:cNvSpPr txBox="1"/>
          <p:nvPr/>
        </p:nvSpPr>
        <p:spPr>
          <a:xfrm>
            <a:off x="10424160" y="6419088"/>
            <a:ext cx="731520" cy="274320"/>
          </a:xfrm>
          <a:prstGeom prst="rect">
            <a:avLst/>
          </a:prstGeom>
          <a:noFill/>
        </p:spPr>
        <p:txBody>
          <a:bodyPr wrap="square" anchor="t" lIns="0" rIns="0" tIns="0" bIns="0">
            <a:spAutoFit/>
          </a:bodyPr>
          <a:lstStyle/>
          <a:p>
            <a:pPr algn="r"/>
            <a:r>
              <a:rPr sz="1000" i="0" b="1">
                <a:solidFill>
                  <a:srgbClr val="6E625B"/>
                </a:solidFill>
                <a:latin typeface="Calibri"/>
              </a:rPr>
              <a:t>7</a:t>
            </a:r>
          </a:p>
        </p:txBody>
      </p:sp>
      <p:pic>
        <p:nvPicPr>
          <p:cNvPr id="7" name="Picture 6" descr="faculty-of-pharmacy.png"/>
          <p:cNvPicPr>
            <a:picLocks noChangeAspect="1"/>
          </p:cNvPicPr>
          <p:nvPr/>
        </p:nvPicPr>
        <p:blipFill>
          <a:blip r:embed="rId3"/>
          <a:stretch>
            <a:fillRect/>
          </a:stretch>
        </p:blipFill>
        <p:spPr>
          <a:xfrm>
            <a:off x="11247120" y="6309360"/>
            <a:ext cx="384048" cy="384048"/>
          </a:xfrm>
          <a:prstGeom prst="rect">
            <a:avLst/>
          </a:prstGeom>
        </p:spPr>
      </p:pic>
      <p:sp>
        <p:nvSpPr>
          <p:cNvPr id="8" name="TextBox 7"/>
          <p:cNvSpPr txBox="1"/>
          <p:nvPr/>
        </p:nvSpPr>
        <p:spPr>
          <a:xfrm>
            <a:off x="548640" y="1554480"/>
            <a:ext cx="11094415" cy="498348"/>
          </a:xfrm>
          <a:prstGeom prst="rect">
            <a:avLst/>
          </a:prstGeom>
          <a:noFill/>
        </p:spPr>
        <p:txBody>
          <a:bodyPr wrap="square" anchor="t" lIns="0" rIns="0" tIns="0" bIns="0">
            <a:spAutoFit/>
          </a:bodyPr>
          <a:lstStyle/>
          <a:p>
            <a:pPr>
              <a:spcAft>
                <a:spcPts val="800"/>
              </a:spcAft>
            </a:pPr>
            <a:r>
              <a:rPr sz="1800" i="0" b="0">
                <a:solidFill>
                  <a:srgbClr val="2B211C"/>
                </a:solidFill>
                <a:latin typeface="Calibri"/>
              </a:rPr>
              <a:t>The </a:t>
            </a:r>
            <a:r>
              <a:rPr sz="1800" i="0" b="1">
                <a:solidFill>
                  <a:srgbClr val="2B211C"/>
                </a:solidFill>
                <a:latin typeface="Calibri"/>
              </a:rPr>
              <a:t>Drug and Therapeutics Committee (DTC)</a:t>
            </a:r>
            <a:r>
              <a:rPr sz="1800" i="0" b="0">
                <a:solidFill>
                  <a:srgbClr val="2B211C"/>
                </a:solidFill>
                <a:latin typeface="Calibri"/>
              </a:rPr>
              <a:t> of a hospital runs local drug-safety work:</a:t>
            </a:r>
          </a:p>
        </p:txBody>
      </p:sp>
      <p:sp>
        <p:nvSpPr>
          <p:cNvPr id="9" name="Oval 8"/>
          <p:cNvSpPr/>
          <p:nvPr/>
        </p:nvSpPr>
        <p:spPr>
          <a:xfrm>
            <a:off x="548640" y="2253996"/>
            <a:ext cx="402336" cy="402336"/>
          </a:xfrm>
          <a:prstGeom prst="ellipse">
            <a:avLst/>
          </a:prstGeom>
          <a:solidFill>
            <a:srgbClr val="E6EEE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300" i="0" b="1">
                <a:solidFill>
                  <a:srgbClr val="2F6F7A"/>
                </a:solidFill>
                <a:latin typeface="Calibri"/>
              </a:rPr>
              <a:t>1</a:t>
            </a:r>
          </a:p>
        </p:txBody>
      </p:sp>
      <p:sp>
        <p:nvSpPr>
          <p:cNvPr id="10" name="TextBox 9"/>
          <p:cNvSpPr txBox="1"/>
          <p:nvPr/>
        </p:nvSpPr>
        <p:spPr>
          <a:xfrm>
            <a:off x="1143000" y="2272284"/>
            <a:ext cx="10500055" cy="674903"/>
          </a:xfrm>
          <a:prstGeom prst="rect">
            <a:avLst/>
          </a:prstGeom>
          <a:noFill/>
        </p:spPr>
        <p:txBody>
          <a:bodyPr wrap="square" anchor="t" lIns="0" rIns="0" tIns="0" bIns="0">
            <a:spAutoFit/>
          </a:bodyPr>
          <a:lstStyle/>
          <a:p>
            <a:r>
              <a:rPr sz="2100" i="0" b="0">
                <a:solidFill>
                  <a:srgbClr val="2B211C"/>
                </a:solidFill>
                <a:latin typeface="Calibri"/>
              </a:rPr>
              <a:t>sets up a local ADR reporting system with a standard form;</a:t>
            </a:r>
          </a:p>
        </p:txBody>
      </p:sp>
      <p:sp>
        <p:nvSpPr>
          <p:cNvPr id="11" name="Oval 10"/>
          <p:cNvSpPr/>
          <p:nvPr/>
        </p:nvSpPr>
        <p:spPr>
          <a:xfrm>
            <a:off x="548640" y="2974619"/>
            <a:ext cx="402336" cy="402336"/>
          </a:xfrm>
          <a:prstGeom prst="ellipse">
            <a:avLst/>
          </a:prstGeom>
          <a:solidFill>
            <a:srgbClr val="E6EEE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300" i="0" b="1">
                <a:solidFill>
                  <a:srgbClr val="2F6F7A"/>
                </a:solidFill>
                <a:latin typeface="Calibri"/>
              </a:rPr>
              <a:t>2</a:t>
            </a:r>
          </a:p>
        </p:txBody>
      </p:sp>
      <p:sp>
        <p:nvSpPr>
          <p:cNvPr id="12" name="TextBox 11"/>
          <p:cNvSpPr txBox="1"/>
          <p:nvPr/>
        </p:nvSpPr>
        <p:spPr>
          <a:xfrm>
            <a:off x="1143000" y="2992907"/>
            <a:ext cx="10500055" cy="674903"/>
          </a:xfrm>
          <a:prstGeom prst="rect">
            <a:avLst/>
          </a:prstGeom>
          <a:noFill/>
        </p:spPr>
        <p:txBody>
          <a:bodyPr wrap="square" anchor="t" lIns="0" rIns="0" tIns="0" bIns="0">
            <a:spAutoFit/>
          </a:bodyPr>
          <a:lstStyle/>
          <a:p>
            <a:r>
              <a:rPr sz="2100" i="0" b="0">
                <a:solidFill>
                  <a:srgbClr val="2B211C"/>
                </a:solidFill>
                <a:latin typeface="Calibri"/>
              </a:rPr>
              <a:t>analyses reported ADRs through a named member;</a:t>
            </a:r>
          </a:p>
        </p:txBody>
      </p:sp>
      <p:sp>
        <p:nvSpPr>
          <p:cNvPr id="13" name="Oval 12"/>
          <p:cNvSpPr/>
          <p:nvPr/>
        </p:nvSpPr>
        <p:spPr>
          <a:xfrm>
            <a:off x="548640" y="3695242"/>
            <a:ext cx="402336" cy="402336"/>
          </a:xfrm>
          <a:prstGeom prst="ellipse">
            <a:avLst/>
          </a:prstGeom>
          <a:solidFill>
            <a:srgbClr val="E6EEE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300" i="0" b="1">
                <a:solidFill>
                  <a:srgbClr val="2F6F7A"/>
                </a:solidFill>
                <a:latin typeface="Calibri"/>
              </a:rPr>
              <a:t>3</a:t>
            </a:r>
          </a:p>
        </p:txBody>
      </p:sp>
      <p:sp>
        <p:nvSpPr>
          <p:cNvPr id="14" name="TextBox 13"/>
          <p:cNvSpPr txBox="1"/>
          <p:nvPr/>
        </p:nvSpPr>
        <p:spPr>
          <a:xfrm>
            <a:off x="1143000" y="3713530"/>
            <a:ext cx="10500055" cy="674903"/>
          </a:xfrm>
          <a:prstGeom prst="rect">
            <a:avLst/>
          </a:prstGeom>
          <a:noFill/>
        </p:spPr>
        <p:txBody>
          <a:bodyPr wrap="square" anchor="t" lIns="0" rIns="0" tIns="0" bIns="0">
            <a:spAutoFit/>
          </a:bodyPr>
          <a:lstStyle/>
          <a:p>
            <a:r>
              <a:rPr sz="2100" i="0" b="0">
                <a:solidFill>
                  <a:srgbClr val="2B211C"/>
                </a:solidFill>
                <a:latin typeface="Calibri"/>
              </a:rPr>
              <a:t>reports serious and repeated ADRs to the regulator and the manufacturer;</a:t>
            </a:r>
          </a:p>
        </p:txBody>
      </p:sp>
      <p:sp>
        <p:nvSpPr>
          <p:cNvPr id="15" name="Oval 14"/>
          <p:cNvSpPr/>
          <p:nvPr/>
        </p:nvSpPr>
        <p:spPr>
          <a:xfrm>
            <a:off x="548640" y="4415866"/>
            <a:ext cx="402336" cy="402336"/>
          </a:xfrm>
          <a:prstGeom prst="ellipse">
            <a:avLst/>
          </a:prstGeom>
          <a:solidFill>
            <a:srgbClr val="E6EEE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300" i="0" b="1">
                <a:solidFill>
                  <a:srgbClr val="2F6F7A"/>
                </a:solidFill>
                <a:latin typeface="Calibri"/>
              </a:rPr>
              <a:t>4</a:t>
            </a:r>
          </a:p>
        </p:txBody>
      </p:sp>
      <p:sp>
        <p:nvSpPr>
          <p:cNvPr id="16" name="TextBox 15"/>
          <p:cNvSpPr txBox="1"/>
          <p:nvPr/>
        </p:nvSpPr>
        <p:spPr>
          <a:xfrm>
            <a:off x="1143000" y="4434154"/>
            <a:ext cx="10500055" cy="674903"/>
          </a:xfrm>
          <a:prstGeom prst="rect">
            <a:avLst/>
          </a:prstGeom>
          <a:noFill/>
        </p:spPr>
        <p:txBody>
          <a:bodyPr wrap="square" anchor="t" lIns="0" rIns="0" tIns="0" bIns="0">
            <a:spAutoFit/>
          </a:bodyPr>
          <a:lstStyle/>
          <a:p>
            <a:r>
              <a:rPr sz="2100" i="0" b="0">
                <a:solidFill>
                  <a:srgbClr val="2B211C"/>
                </a:solidFill>
                <a:latin typeface="Calibri"/>
              </a:rPr>
              <a:t>changes the formulary or treatment guidelines when a problem repeats;</a:t>
            </a:r>
          </a:p>
        </p:txBody>
      </p:sp>
      <p:sp>
        <p:nvSpPr>
          <p:cNvPr id="17" name="Oval 16"/>
          <p:cNvSpPr/>
          <p:nvPr/>
        </p:nvSpPr>
        <p:spPr>
          <a:xfrm>
            <a:off x="548640" y="5136489"/>
            <a:ext cx="402336" cy="402336"/>
          </a:xfrm>
          <a:prstGeom prst="ellipse">
            <a:avLst/>
          </a:prstGeom>
          <a:solidFill>
            <a:srgbClr val="E6EEE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300" i="0" b="1">
                <a:solidFill>
                  <a:srgbClr val="2F6F7A"/>
                </a:solidFill>
                <a:latin typeface="Calibri"/>
              </a:rPr>
              <a:t>5</a:t>
            </a:r>
          </a:p>
        </p:txBody>
      </p:sp>
      <p:sp>
        <p:nvSpPr>
          <p:cNvPr id="18" name="TextBox 17"/>
          <p:cNvSpPr txBox="1"/>
          <p:nvPr/>
        </p:nvSpPr>
        <p:spPr>
          <a:xfrm>
            <a:off x="1143000" y="5154777"/>
            <a:ext cx="10500055" cy="1008278"/>
          </a:xfrm>
          <a:prstGeom prst="rect">
            <a:avLst/>
          </a:prstGeom>
          <a:noFill/>
        </p:spPr>
        <p:txBody>
          <a:bodyPr wrap="square" anchor="t" lIns="0" rIns="0" tIns="0" bIns="0">
            <a:spAutoFit/>
          </a:bodyPr>
          <a:lstStyle/>
          <a:p>
            <a:r>
              <a:rPr sz="2100" i="0" b="0">
                <a:solidFill>
                  <a:srgbClr val="2B211C"/>
                </a:solidFill>
                <a:latin typeface="Calibri"/>
              </a:rPr>
              <a:t>identifies </a:t>
            </a:r>
            <a:r>
              <a:rPr sz="2100" i="0" b="1">
                <a:solidFill>
                  <a:srgbClr val="2B211C"/>
                </a:solidFill>
                <a:latin typeface="Calibri"/>
              </a:rPr>
              <a:t>high-risk medicines</a:t>
            </a:r>
            <a:r>
              <a:rPr sz="2100" i="0" b="0">
                <a:solidFill>
                  <a:srgbClr val="2B211C"/>
                </a:solidFill>
                <a:latin typeface="Calibri"/>
              </a:rPr>
              <a:t> (for example insulin, anticoagulants, concentrated potassium) that need close monitoring.</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Oval 1"/>
          <p:cNvSpPr/>
          <p:nvPr/>
        </p:nvSpPr>
        <p:spPr>
          <a:xfrm>
            <a:off x="548640" y="475488"/>
            <a:ext cx="658368" cy="658368"/>
          </a:xfrm>
          <a:prstGeom prst="ellipse">
            <a:avLst/>
          </a:prstGeom>
          <a:solidFill>
            <a:srgbClr val="2F6F7A"/>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800" i="0" b="1">
                <a:solidFill>
                  <a:srgbClr val="FFFFFF"/>
                </a:solidFill>
                <a:latin typeface="Cambria"/>
              </a:rPr>
              <a:t>09</a:t>
            </a:r>
          </a:p>
        </p:txBody>
      </p:sp>
      <p:sp>
        <p:nvSpPr>
          <p:cNvPr id="3" name="TextBox 2"/>
          <p:cNvSpPr txBox="1"/>
          <p:nvPr/>
        </p:nvSpPr>
        <p:spPr>
          <a:xfrm>
            <a:off x="1417319" y="438912"/>
            <a:ext cx="10180015" cy="292608"/>
          </a:xfrm>
          <a:prstGeom prst="rect">
            <a:avLst/>
          </a:prstGeom>
          <a:noFill/>
        </p:spPr>
        <p:txBody>
          <a:bodyPr wrap="square" anchor="t" lIns="0" rIns="0" tIns="0" bIns="0">
            <a:spAutoFit/>
          </a:bodyPr>
          <a:lstStyle/>
          <a:p>
            <a:r>
              <a:rPr sz="1200" i="0" b="1" spc="150">
                <a:solidFill>
                  <a:srgbClr val="2F6F7A"/>
                </a:solidFill>
                <a:latin typeface="Calibri"/>
              </a:rPr>
              <a:t>SECTION 9</a:t>
            </a:r>
          </a:p>
        </p:txBody>
      </p:sp>
      <p:sp>
        <p:nvSpPr>
          <p:cNvPr id="4" name="TextBox 3"/>
          <p:cNvSpPr txBox="1"/>
          <p:nvPr/>
        </p:nvSpPr>
        <p:spPr>
          <a:xfrm>
            <a:off x="1417319" y="676656"/>
            <a:ext cx="10180015" cy="640080"/>
          </a:xfrm>
          <a:prstGeom prst="rect">
            <a:avLst/>
          </a:prstGeom>
          <a:noFill/>
        </p:spPr>
        <p:txBody>
          <a:bodyPr wrap="square" anchor="t" lIns="0" rIns="0" tIns="0" bIns="0">
            <a:spAutoFit/>
          </a:bodyPr>
          <a:lstStyle/>
          <a:p>
            <a:r>
              <a:rPr sz="3200" i="0" b="1">
                <a:solidFill>
                  <a:srgbClr val="2B211C"/>
                </a:solidFill>
                <a:latin typeface="Cambria"/>
              </a:rPr>
              <a:t>Medication Errors</a:t>
            </a:r>
          </a:p>
        </p:txBody>
      </p:sp>
      <p:sp>
        <p:nvSpPr>
          <p:cNvPr id="5" name="TextBox 4"/>
          <p:cNvSpPr txBox="1"/>
          <p:nvPr/>
        </p:nvSpPr>
        <p:spPr>
          <a:xfrm>
            <a:off x="548640" y="6419088"/>
            <a:ext cx="8229600" cy="274320"/>
          </a:xfrm>
          <a:prstGeom prst="rect">
            <a:avLst/>
          </a:prstGeom>
          <a:noFill/>
        </p:spPr>
        <p:txBody>
          <a:bodyPr wrap="square" anchor="t" lIns="0" rIns="0" tIns="0" bIns="0">
            <a:spAutoFit/>
          </a:bodyPr>
          <a:lstStyle/>
          <a:p>
            <a:r>
              <a:rPr sz="1000" i="0" b="0">
                <a:solidFill>
                  <a:srgbClr val="6E625B"/>
                </a:solidFill>
                <a:latin typeface="Calibri"/>
              </a:rPr>
              <a:t>Drug Information  ·  Section 9  ·  Pharmacovigilance, ADR Reporting and Medication Errors</a:t>
            </a:r>
          </a:p>
        </p:txBody>
      </p:sp>
      <p:sp>
        <p:nvSpPr>
          <p:cNvPr id="6" name="TextBox 5"/>
          <p:cNvSpPr txBox="1"/>
          <p:nvPr/>
        </p:nvSpPr>
        <p:spPr>
          <a:xfrm>
            <a:off x="10424160" y="6419088"/>
            <a:ext cx="731520" cy="274320"/>
          </a:xfrm>
          <a:prstGeom prst="rect">
            <a:avLst/>
          </a:prstGeom>
          <a:noFill/>
        </p:spPr>
        <p:txBody>
          <a:bodyPr wrap="square" anchor="t" lIns="0" rIns="0" tIns="0" bIns="0">
            <a:spAutoFit/>
          </a:bodyPr>
          <a:lstStyle/>
          <a:p>
            <a:pPr algn="r"/>
            <a:r>
              <a:rPr sz="1000" i="0" b="1">
                <a:solidFill>
                  <a:srgbClr val="6E625B"/>
                </a:solidFill>
                <a:latin typeface="Calibri"/>
              </a:rPr>
              <a:t>8</a:t>
            </a:r>
          </a:p>
        </p:txBody>
      </p:sp>
      <p:pic>
        <p:nvPicPr>
          <p:cNvPr id="7" name="Picture 6" descr="faculty-of-pharmacy.png"/>
          <p:cNvPicPr>
            <a:picLocks noChangeAspect="1"/>
          </p:cNvPicPr>
          <p:nvPr/>
        </p:nvPicPr>
        <p:blipFill>
          <a:blip r:embed="rId3"/>
          <a:stretch>
            <a:fillRect/>
          </a:stretch>
        </p:blipFill>
        <p:spPr>
          <a:xfrm>
            <a:off x="11247120" y="6309360"/>
            <a:ext cx="384048" cy="384048"/>
          </a:xfrm>
          <a:prstGeom prst="rect">
            <a:avLst/>
          </a:prstGeom>
        </p:spPr>
      </p:pic>
      <p:sp>
        <p:nvSpPr>
          <p:cNvPr id="8" name="TextBox 7"/>
          <p:cNvSpPr txBox="1"/>
          <p:nvPr/>
        </p:nvSpPr>
        <p:spPr>
          <a:xfrm>
            <a:off x="548640" y="1554480"/>
            <a:ext cx="11094415" cy="1092708"/>
          </a:xfrm>
          <a:prstGeom prst="rect">
            <a:avLst/>
          </a:prstGeom>
          <a:noFill/>
        </p:spPr>
        <p:txBody>
          <a:bodyPr wrap="square" anchor="t" lIns="0" rIns="0" tIns="0" bIns="0">
            <a:spAutoFit/>
          </a:bodyPr>
          <a:lstStyle/>
          <a:p>
            <a:pPr>
              <a:spcAft>
                <a:spcPts val="800"/>
              </a:spcAft>
            </a:pPr>
            <a:r>
              <a:rPr sz="1800" i="0" b="0">
                <a:solidFill>
                  <a:srgbClr val="2B211C"/>
                </a:solidFill>
                <a:latin typeface="Calibri"/>
              </a:rPr>
              <a:t>A </a:t>
            </a:r>
            <a:r>
              <a:rPr sz="1800" i="0" b="1">
                <a:solidFill>
                  <a:srgbClr val="2B211C"/>
                </a:solidFill>
                <a:latin typeface="Calibri"/>
              </a:rPr>
              <a:t>medication error</a:t>
            </a:r>
            <a:r>
              <a:rPr sz="1800" i="0" b="0">
                <a:solidFill>
                  <a:srgbClr val="2B211C"/>
                </a:solidFill>
                <a:latin typeface="Calibri"/>
              </a:rPr>
              <a:t> is any </a:t>
            </a:r>
            <a:r>
              <a:rPr sz="1800" i="0" b="1">
                <a:solidFill>
                  <a:srgbClr val="2B211C"/>
                </a:solidFill>
                <a:latin typeface="Calibri"/>
              </a:rPr>
              <a:t>preventable</a:t>
            </a:r>
            <a:r>
              <a:rPr sz="1800" i="0" b="0">
                <a:solidFill>
                  <a:srgbClr val="2B211C"/>
                </a:solidFill>
                <a:latin typeface="Calibri"/>
              </a:rPr>
              <a:t> event that may cause or lead to inappropriate medication use or patient harm while the medication is in the control of the health professional, patient or consumer.</a:t>
            </a:r>
          </a:p>
        </p:txBody>
      </p:sp>
      <p:graphicFrame>
        <p:nvGraphicFramePr>
          <p:cNvPr id="9" name="Table 8"/>
          <p:cNvGraphicFramePr>
            <a:graphicFrameLocks noGrp="1"/>
          </p:cNvGraphicFramePr>
          <p:nvPr/>
        </p:nvGraphicFramePr>
        <p:xfrm>
          <a:off x="548640" y="2830068"/>
          <a:ext cx="11094414" cy="1920240"/>
        </p:xfrm>
        <a:graphic>
          <a:graphicData uri="http://schemas.openxmlformats.org/drawingml/2006/table">
            <a:tbl>
              <a:tblPr firstRow="0" bandRow="0">
                <a:tableStyleId>{5C22544A-7EE6-4342-B048-85BDC9FD1C3A}</a:tableStyleId>
              </a:tblPr>
              <a:tblGrid>
                <a:gridCol w="2068450"/>
                <a:gridCol w="5077105"/>
                <a:gridCol w="3948859"/>
              </a:tblGrid>
              <a:tr h="640080">
                <a:tc>
                  <a:txBody>
                    <a:bodyPr/>
                    <a:lstStyle/>
                    <a:p>
                      <a:r>
                        <a:rPr sz="1900" i="0" b="1">
                          <a:solidFill>
                            <a:srgbClr val="FFFFFF"/>
                          </a:solidFill>
                          <a:latin typeface="Calibri"/>
                        </a:rPr>
                        <a:t>Type</a:t>
                      </a:r>
                    </a:p>
                  </a:txBody>
                  <a:tcPr marL="109728" marR="109728" marT="45720" marB="45720" anchor="ctr">
                    <a:solidFill>
                      <a:srgbClr val="A4472B"/>
                    </a:solidFill>
                  </a:tcPr>
                </a:tc>
                <a:tc>
                  <a:txBody>
                    <a:bodyPr/>
                    <a:lstStyle/>
                    <a:p>
                      <a:r>
                        <a:rPr sz="1900" i="0" b="1">
                          <a:solidFill>
                            <a:srgbClr val="FFFFFF"/>
                          </a:solidFill>
                          <a:latin typeface="Calibri"/>
                        </a:rPr>
                        <a:t>Meaning</a:t>
                      </a:r>
                    </a:p>
                  </a:txBody>
                  <a:tcPr marL="109728" marR="109728" marT="45720" marB="45720" anchor="ctr">
                    <a:solidFill>
                      <a:srgbClr val="A4472B"/>
                    </a:solidFill>
                  </a:tcPr>
                </a:tc>
                <a:tc>
                  <a:txBody>
                    <a:bodyPr/>
                    <a:lstStyle/>
                    <a:p>
                      <a:r>
                        <a:rPr sz="1900" i="0" b="1">
                          <a:solidFill>
                            <a:srgbClr val="FFFFFF"/>
                          </a:solidFill>
                          <a:latin typeface="Calibri"/>
                        </a:rPr>
                        <a:t>Example</a:t>
                      </a:r>
                    </a:p>
                  </a:txBody>
                  <a:tcPr marL="109728" marR="109728" marT="45720" marB="45720" anchor="ctr">
                    <a:solidFill>
                      <a:srgbClr val="A4472B"/>
                    </a:solidFill>
                  </a:tcPr>
                </a:tc>
              </a:tr>
              <a:tr h="640080">
                <a:tc>
                  <a:txBody>
                    <a:bodyPr/>
                    <a:lstStyle/>
                    <a:p>
                      <a:r>
                        <a:rPr sz="2000" i="0" b="1">
                          <a:solidFill>
                            <a:srgbClr val="2B211C"/>
                          </a:solidFill>
                          <a:latin typeface="Calibri"/>
                        </a:rPr>
                        <a:t>Omission</a:t>
                      </a:r>
                    </a:p>
                  </a:txBody>
                  <a:tcPr marL="109728" marR="109728" marT="45720" marB="45720" anchor="ctr">
                    <a:solidFill>
                      <a:srgbClr val="FFFFFF"/>
                    </a:solidFill>
                  </a:tcPr>
                </a:tc>
                <a:tc>
                  <a:txBody>
                    <a:bodyPr/>
                    <a:lstStyle/>
                    <a:p>
                      <a:r>
                        <a:rPr sz="2000" i="0" b="0">
                          <a:solidFill>
                            <a:srgbClr val="2B211C"/>
                          </a:solidFill>
                          <a:latin typeface="Calibri"/>
                        </a:rPr>
                        <a:t>Not doing something that should have been done</a:t>
                      </a:r>
                    </a:p>
                  </a:txBody>
                  <a:tcPr marL="109728" marR="109728" marT="45720" marB="45720" anchor="ctr">
                    <a:solidFill>
                      <a:srgbClr val="FFFFFF"/>
                    </a:solidFill>
                  </a:tcPr>
                </a:tc>
                <a:tc>
                  <a:txBody>
                    <a:bodyPr/>
                    <a:lstStyle/>
                    <a:p>
                      <a:r>
                        <a:rPr sz="2000" i="0" b="0">
                          <a:solidFill>
                            <a:srgbClr val="2B211C"/>
                          </a:solidFill>
                          <a:latin typeface="Calibri"/>
                        </a:rPr>
                        <a:t>A dose of antibiotic is missed</a:t>
                      </a:r>
                    </a:p>
                  </a:txBody>
                  <a:tcPr marL="109728" marR="109728" marT="45720" marB="45720" anchor="ctr">
                    <a:solidFill>
                      <a:srgbClr val="FFFFFF"/>
                    </a:solidFill>
                  </a:tcPr>
                </a:tc>
              </a:tr>
              <a:tr h="640080">
                <a:tc>
                  <a:txBody>
                    <a:bodyPr/>
                    <a:lstStyle/>
                    <a:p>
                      <a:r>
                        <a:rPr sz="2000" i="0" b="1">
                          <a:solidFill>
                            <a:srgbClr val="2B211C"/>
                          </a:solidFill>
                          <a:latin typeface="Calibri"/>
                        </a:rPr>
                        <a:t>Commission</a:t>
                      </a:r>
                    </a:p>
                  </a:txBody>
                  <a:tcPr marL="109728" marR="109728" marT="45720" marB="45720" anchor="ctr">
                    <a:solidFill>
                      <a:srgbClr val="FAF4F2"/>
                    </a:solidFill>
                  </a:tcPr>
                </a:tc>
                <a:tc>
                  <a:txBody>
                    <a:bodyPr/>
                    <a:lstStyle/>
                    <a:p>
                      <a:r>
                        <a:rPr sz="2000" i="0" b="0">
                          <a:solidFill>
                            <a:srgbClr val="2B211C"/>
                          </a:solidFill>
                          <a:latin typeface="Calibri"/>
                        </a:rPr>
                        <a:t>Doing the wrong thing</a:t>
                      </a:r>
                    </a:p>
                  </a:txBody>
                  <a:tcPr marL="109728" marR="109728" marT="45720" marB="45720" anchor="ctr">
                    <a:solidFill>
                      <a:srgbClr val="FAF4F2"/>
                    </a:solidFill>
                  </a:tcPr>
                </a:tc>
                <a:tc>
                  <a:txBody>
                    <a:bodyPr/>
                    <a:lstStyle/>
                    <a:p>
                      <a:r>
                        <a:rPr sz="2000" i="0" b="0">
                          <a:solidFill>
                            <a:srgbClr val="2B211C"/>
                          </a:solidFill>
                          <a:latin typeface="Calibri"/>
                        </a:rPr>
                        <a:t>Wrong drug, dose, route or patient</a:t>
                      </a:r>
                    </a:p>
                  </a:txBody>
                  <a:tcPr marL="109728" marR="109728" marT="45720" marB="45720" anchor="ctr">
                    <a:solidFill>
                      <a:srgbClr val="FAF4F2"/>
                    </a:solidFill>
                  </a:tcPr>
                </a:tc>
              </a:tr>
            </a:tbl>
          </a:graphicData>
        </a:graphic>
      </p:graphicFrame>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Oval 1"/>
          <p:cNvSpPr/>
          <p:nvPr/>
        </p:nvSpPr>
        <p:spPr>
          <a:xfrm>
            <a:off x="548640" y="475488"/>
            <a:ext cx="658368" cy="658368"/>
          </a:xfrm>
          <a:prstGeom prst="ellipse">
            <a:avLst/>
          </a:prstGeom>
          <a:solidFill>
            <a:srgbClr val="2F6F7A"/>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800" i="0" b="1">
                <a:solidFill>
                  <a:srgbClr val="FFFFFF"/>
                </a:solidFill>
                <a:latin typeface="Cambria"/>
              </a:rPr>
              <a:t>09</a:t>
            </a:r>
          </a:p>
        </p:txBody>
      </p:sp>
      <p:sp>
        <p:nvSpPr>
          <p:cNvPr id="3" name="TextBox 2"/>
          <p:cNvSpPr txBox="1"/>
          <p:nvPr/>
        </p:nvSpPr>
        <p:spPr>
          <a:xfrm>
            <a:off x="1417319" y="438912"/>
            <a:ext cx="10180015" cy="292608"/>
          </a:xfrm>
          <a:prstGeom prst="rect">
            <a:avLst/>
          </a:prstGeom>
          <a:noFill/>
        </p:spPr>
        <p:txBody>
          <a:bodyPr wrap="square" anchor="t" lIns="0" rIns="0" tIns="0" bIns="0">
            <a:spAutoFit/>
          </a:bodyPr>
          <a:lstStyle/>
          <a:p>
            <a:r>
              <a:rPr sz="1200" i="0" b="1" spc="150">
                <a:solidFill>
                  <a:srgbClr val="2F6F7A"/>
                </a:solidFill>
                <a:latin typeface="Calibri"/>
              </a:rPr>
              <a:t>SECTION 9</a:t>
            </a:r>
          </a:p>
        </p:txBody>
      </p:sp>
      <p:sp>
        <p:nvSpPr>
          <p:cNvPr id="4" name="TextBox 3"/>
          <p:cNvSpPr txBox="1"/>
          <p:nvPr/>
        </p:nvSpPr>
        <p:spPr>
          <a:xfrm>
            <a:off x="1417319" y="676656"/>
            <a:ext cx="10180015" cy="640080"/>
          </a:xfrm>
          <a:prstGeom prst="rect">
            <a:avLst/>
          </a:prstGeom>
          <a:noFill/>
        </p:spPr>
        <p:txBody>
          <a:bodyPr wrap="square" anchor="t" lIns="0" rIns="0" tIns="0" bIns="0">
            <a:spAutoFit/>
          </a:bodyPr>
          <a:lstStyle/>
          <a:p>
            <a:r>
              <a:rPr sz="3200" i="0" b="1">
                <a:solidFill>
                  <a:srgbClr val="2B211C"/>
                </a:solidFill>
                <a:latin typeface="Cambria"/>
              </a:rPr>
              <a:t>Medication Errors</a:t>
            </a:r>
          </a:p>
        </p:txBody>
      </p:sp>
      <p:sp>
        <p:nvSpPr>
          <p:cNvPr id="5" name="TextBox 4"/>
          <p:cNvSpPr txBox="1"/>
          <p:nvPr/>
        </p:nvSpPr>
        <p:spPr>
          <a:xfrm>
            <a:off x="548640" y="6419088"/>
            <a:ext cx="8229600" cy="274320"/>
          </a:xfrm>
          <a:prstGeom prst="rect">
            <a:avLst/>
          </a:prstGeom>
          <a:noFill/>
        </p:spPr>
        <p:txBody>
          <a:bodyPr wrap="square" anchor="t" lIns="0" rIns="0" tIns="0" bIns="0">
            <a:spAutoFit/>
          </a:bodyPr>
          <a:lstStyle/>
          <a:p>
            <a:r>
              <a:rPr sz="1000" i="0" b="0">
                <a:solidFill>
                  <a:srgbClr val="6E625B"/>
                </a:solidFill>
                <a:latin typeface="Calibri"/>
              </a:rPr>
              <a:t>Drug Information  ·  Section 9  ·  Pharmacovigilance, ADR Reporting and Medication Errors</a:t>
            </a:r>
          </a:p>
        </p:txBody>
      </p:sp>
      <p:sp>
        <p:nvSpPr>
          <p:cNvPr id="6" name="TextBox 5"/>
          <p:cNvSpPr txBox="1"/>
          <p:nvPr/>
        </p:nvSpPr>
        <p:spPr>
          <a:xfrm>
            <a:off x="10424160" y="6419088"/>
            <a:ext cx="731520" cy="274320"/>
          </a:xfrm>
          <a:prstGeom prst="rect">
            <a:avLst/>
          </a:prstGeom>
          <a:noFill/>
        </p:spPr>
        <p:txBody>
          <a:bodyPr wrap="square" anchor="t" lIns="0" rIns="0" tIns="0" bIns="0">
            <a:spAutoFit/>
          </a:bodyPr>
          <a:lstStyle/>
          <a:p>
            <a:pPr algn="r"/>
            <a:r>
              <a:rPr sz="1000" i="0" b="1">
                <a:solidFill>
                  <a:srgbClr val="6E625B"/>
                </a:solidFill>
                <a:latin typeface="Calibri"/>
              </a:rPr>
              <a:t>9</a:t>
            </a:r>
          </a:p>
        </p:txBody>
      </p:sp>
      <p:pic>
        <p:nvPicPr>
          <p:cNvPr id="7" name="Picture 6" descr="faculty-of-pharmacy.png"/>
          <p:cNvPicPr>
            <a:picLocks noChangeAspect="1"/>
          </p:cNvPicPr>
          <p:nvPr/>
        </p:nvPicPr>
        <p:blipFill>
          <a:blip r:embed="rId3"/>
          <a:stretch>
            <a:fillRect/>
          </a:stretch>
        </p:blipFill>
        <p:spPr>
          <a:xfrm>
            <a:off x="11247120" y="6309360"/>
            <a:ext cx="384048" cy="384048"/>
          </a:xfrm>
          <a:prstGeom prst="rect">
            <a:avLst/>
          </a:prstGeom>
        </p:spPr>
      </p:pic>
      <p:sp>
        <p:nvSpPr>
          <p:cNvPr id="8" name="TextBox 7"/>
          <p:cNvSpPr txBox="1"/>
          <p:nvPr/>
        </p:nvSpPr>
        <p:spPr>
          <a:xfrm>
            <a:off x="548640" y="1554480"/>
            <a:ext cx="11094415" cy="1202436"/>
          </a:xfrm>
          <a:prstGeom prst="rect">
            <a:avLst/>
          </a:prstGeom>
          <a:noFill/>
        </p:spPr>
        <p:txBody>
          <a:bodyPr wrap="square" anchor="t" lIns="0" rIns="0" tIns="0" bIns="0">
            <a:spAutoFit/>
          </a:bodyPr>
          <a:lstStyle/>
          <a:p>
            <a:pPr>
              <a:spcAft>
                <a:spcPts val="800"/>
              </a:spcAft>
            </a:pPr>
            <a:r>
              <a:rPr sz="1800" i="0" b="0">
                <a:solidFill>
                  <a:srgbClr val="2B211C"/>
                </a:solidFill>
                <a:latin typeface="Calibri"/>
              </a:rPr>
              <a:t>Errors happen at every stage:</a:t>
            </a:r>
          </a:p>
          <a:p>
            <a:pPr>
              <a:spcAft>
                <a:spcPts val="800"/>
              </a:spcAft>
            </a:pPr>
            <a:r>
              <a:rPr sz="1800" i="0" b="0">
                <a:solidFill>
                  <a:srgbClr val="2B211C"/>
                </a:solidFill>
                <a:latin typeface="Calibri"/>
              </a:rPr>
              <a:t>Errors have many causes: lack of knowledge, slips and lapses (mental errors under pressure), unclear labels, and failures to check.</a:t>
            </a:r>
          </a:p>
        </p:txBody>
      </p:sp>
      <p:graphicFrame>
        <p:nvGraphicFramePr>
          <p:cNvPr id="9" name="Table 8"/>
          <p:cNvGraphicFramePr>
            <a:graphicFrameLocks noGrp="1"/>
          </p:cNvGraphicFramePr>
          <p:nvPr/>
        </p:nvGraphicFramePr>
        <p:xfrm>
          <a:off x="548640" y="2939796"/>
          <a:ext cx="11094413" cy="2560320"/>
        </p:xfrm>
        <a:graphic>
          <a:graphicData uri="http://schemas.openxmlformats.org/drawingml/2006/table">
            <a:tbl>
              <a:tblPr firstRow="0" bandRow="0">
                <a:tableStyleId>{5C22544A-7EE6-4342-B048-85BDC9FD1C3A}</a:tableStyleId>
              </a:tblPr>
              <a:tblGrid>
                <a:gridCol w="1935938"/>
                <a:gridCol w="4095253"/>
                <a:gridCol w="5063222"/>
              </a:tblGrid>
              <a:tr h="640080">
                <a:tc>
                  <a:txBody>
                    <a:bodyPr/>
                    <a:lstStyle/>
                    <a:p>
                      <a:r>
                        <a:rPr sz="1700" i="0" b="1">
                          <a:solidFill>
                            <a:srgbClr val="FFFFFF"/>
                          </a:solidFill>
                          <a:latin typeface="Calibri"/>
                        </a:rPr>
                        <a:t>Stage</a:t>
                      </a:r>
                    </a:p>
                  </a:txBody>
                  <a:tcPr marL="109728" marR="109728" marT="45720" marB="45720" anchor="ctr">
                    <a:solidFill>
                      <a:srgbClr val="A4472B"/>
                    </a:solidFill>
                  </a:tcPr>
                </a:tc>
                <a:tc>
                  <a:txBody>
                    <a:bodyPr/>
                    <a:lstStyle/>
                    <a:p>
                      <a:r>
                        <a:rPr sz="1700" i="0" b="1">
                          <a:solidFill>
                            <a:srgbClr val="FFFFFF"/>
                          </a:solidFill>
                          <a:latin typeface="Calibri"/>
                        </a:rPr>
                        <a:t>Examples</a:t>
                      </a:r>
                    </a:p>
                  </a:txBody>
                  <a:tcPr marL="109728" marR="109728" marT="45720" marB="45720" anchor="ctr">
                    <a:solidFill>
                      <a:srgbClr val="A4472B"/>
                    </a:solidFill>
                  </a:tcPr>
                </a:tc>
                <a:tc>
                  <a:txBody>
                    <a:bodyPr/>
                    <a:lstStyle/>
                    <a:p>
                      <a:r>
                        <a:rPr sz="1700" i="0" b="1">
                          <a:solidFill>
                            <a:srgbClr val="FFFFFF"/>
                          </a:solidFill>
                          <a:latin typeface="Calibri"/>
                        </a:rPr>
                        <a:t>Risk factors</a:t>
                      </a:r>
                    </a:p>
                  </a:txBody>
                  <a:tcPr marL="109728" marR="109728" marT="45720" marB="45720" anchor="ctr">
                    <a:solidFill>
                      <a:srgbClr val="A4472B"/>
                    </a:solidFill>
                  </a:tcPr>
                </a:tc>
              </a:tr>
              <a:tr h="640080">
                <a:tc>
                  <a:txBody>
                    <a:bodyPr/>
                    <a:lstStyle/>
                    <a:p>
                      <a:r>
                        <a:rPr sz="1800" i="0" b="1">
                          <a:solidFill>
                            <a:srgbClr val="2B211C"/>
                          </a:solidFill>
                          <a:latin typeface="Calibri"/>
                        </a:rPr>
                        <a:t>Prescribing</a:t>
                      </a:r>
                    </a:p>
                  </a:txBody>
                  <a:tcPr marL="109728" marR="109728" marT="45720" marB="45720" anchor="ctr">
                    <a:solidFill>
                      <a:srgbClr val="FFFFFF"/>
                    </a:solidFill>
                  </a:tcPr>
                </a:tc>
                <a:tc>
                  <a:txBody>
                    <a:bodyPr/>
                    <a:lstStyle/>
                    <a:p>
                      <a:r>
                        <a:rPr sz="1800" i="0" b="0">
                          <a:solidFill>
                            <a:srgbClr val="2B211C"/>
                          </a:solidFill>
                          <a:latin typeface="Calibri"/>
                        </a:rPr>
                        <a:t>Wrong dose, unclear handwriting, missed allergy</a:t>
                      </a:r>
                    </a:p>
                  </a:txBody>
                  <a:tcPr marL="109728" marR="109728" marT="45720" marB="45720" anchor="ctr">
                    <a:solidFill>
                      <a:srgbClr val="FFFFFF"/>
                    </a:solidFill>
                  </a:tcPr>
                </a:tc>
                <a:tc>
                  <a:txBody>
                    <a:bodyPr/>
                    <a:lstStyle/>
                    <a:p>
                      <a:r>
                        <a:rPr sz="1800" i="0" b="0">
                          <a:solidFill>
                            <a:srgbClr val="2B211C"/>
                          </a:solidFill>
                          <a:latin typeface="Calibri"/>
                        </a:rPr>
                        <a:t>Poor training, lack of knowledge, heavy workload, poor team communication</a:t>
                      </a:r>
                    </a:p>
                  </a:txBody>
                  <a:tcPr marL="109728" marR="109728" marT="45720" marB="45720" anchor="ctr">
                    <a:solidFill>
                      <a:srgbClr val="FFFFFF"/>
                    </a:solidFill>
                  </a:tcPr>
                </a:tc>
              </a:tr>
              <a:tr h="640080">
                <a:tc>
                  <a:txBody>
                    <a:bodyPr/>
                    <a:lstStyle/>
                    <a:p>
                      <a:r>
                        <a:rPr sz="1800" i="0" b="1">
                          <a:solidFill>
                            <a:srgbClr val="2B211C"/>
                          </a:solidFill>
                          <a:latin typeface="Calibri"/>
                        </a:rPr>
                        <a:t>Dispensing</a:t>
                      </a:r>
                    </a:p>
                  </a:txBody>
                  <a:tcPr marL="109728" marR="109728" marT="45720" marB="45720" anchor="ctr">
                    <a:solidFill>
                      <a:srgbClr val="FAF4F2"/>
                    </a:solidFill>
                  </a:tcPr>
                </a:tc>
                <a:tc>
                  <a:txBody>
                    <a:bodyPr/>
                    <a:lstStyle/>
                    <a:p>
                      <a:r>
                        <a:rPr sz="1800" i="0" b="0">
                          <a:solidFill>
                            <a:srgbClr val="2B211C"/>
                          </a:solidFill>
                          <a:latin typeface="Calibri"/>
                        </a:rPr>
                        <a:t>Wrong drug or strength, wrong label</a:t>
                      </a:r>
                    </a:p>
                  </a:txBody>
                  <a:tcPr marL="109728" marR="109728" marT="45720" marB="45720" anchor="ctr">
                    <a:solidFill>
                      <a:srgbClr val="FAF4F2"/>
                    </a:solidFill>
                  </a:tcPr>
                </a:tc>
                <a:tc>
                  <a:txBody>
                    <a:bodyPr/>
                    <a:lstStyle/>
                    <a:p>
                      <a:r>
                        <a:rPr sz="1800" i="0" b="0">
                          <a:solidFill>
                            <a:srgbClr val="2B211C"/>
                          </a:solidFill>
                          <a:latin typeface="Calibri"/>
                        </a:rPr>
                        <a:t>Look-alike, sound-alike (LASA) names, distractions</a:t>
                      </a:r>
                    </a:p>
                  </a:txBody>
                  <a:tcPr marL="109728" marR="109728" marT="45720" marB="45720" anchor="ctr">
                    <a:solidFill>
                      <a:srgbClr val="FAF4F2"/>
                    </a:solidFill>
                  </a:tcPr>
                </a:tc>
              </a:tr>
              <a:tr h="640080">
                <a:tc>
                  <a:txBody>
                    <a:bodyPr/>
                    <a:lstStyle/>
                    <a:p>
                      <a:r>
                        <a:rPr sz="1800" i="0" b="1">
                          <a:solidFill>
                            <a:srgbClr val="2B211C"/>
                          </a:solidFill>
                          <a:latin typeface="Calibri"/>
                        </a:rPr>
                        <a:t>Administration</a:t>
                      </a:r>
                    </a:p>
                  </a:txBody>
                  <a:tcPr marL="109728" marR="109728" marT="45720" marB="45720" anchor="ctr">
                    <a:solidFill>
                      <a:srgbClr val="FFFFFF"/>
                    </a:solidFill>
                  </a:tcPr>
                </a:tc>
                <a:tc>
                  <a:txBody>
                    <a:bodyPr/>
                    <a:lstStyle/>
                    <a:p>
                      <a:r>
                        <a:rPr sz="1800" i="0" b="0">
                          <a:solidFill>
                            <a:srgbClr val="2B211C"/>
                          </a:solidFill>
                          <a:latin typeface="Calibri"/>
                        </a:rPr>
                        <a:t>Wrong time, route or patient</a:t>
                      </a:r>
                    </a:p>
                  </a:txBody>
                  <a:tcPr marL="109728" marR="109728" marT="45720" marB="45720" anchor="ctr">
                    <a:solidFill>
                      <a:srgbClr val="FFFFFF"/>
                    </a:solidFill>
                  </a:tcPr>
                </a:tc>
                <a:tc>
                  <a:txBody>
                    <a:bodyPr/>
                    <a:lstStyle/>
                    <a:p>
                      <a:r>
                        <a:rPr sz="1800" i="0" b="0">
                          <a:solidFill>
                            <a:srgbClr val="2B211C"/>
                          </a:solidFill>
                          <a:latin typeface="Calibri"/>
                        </a:rPr>
                        <a:t>Misidentified patient, unclear labels</a:t>
                      </a:r>
                    </a:p>
                  </a:txBody>
                  <a:tcPr marL="109728" marR="109728" marT="45720" marB="45720" anchor="ctr">
                    <a:solidFill>
                      <a:srgbClr val="FFFFFF"/>
                    </a:solidFill>
                  </a:tcPr>
                </a:tc>
              </a:tr>
            </a:tbl>
          </a:graphicData>
        </a:graphic>
      </p:graphicFrame>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Oval 1"/>
          <p:cNvSpPr/>
          <p:nvPr/>
        </p:nvSpPr>
        <p:spPr>
          <a:xfrm>
            <a:off x="548640" y="475488"/>
            <a:ext cx="658368" cy="658368"/>
          </a:xfrm>
          <a:prstGeom prst="ellipse">
            <a:avLst/>
          </a:prstGeom>
          <a:solidFill>
            <a:srgbClr val="2F6F7A"/>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800" i="0" b="1">
                <a:solidFill>
                  <a:srgbClr val="FFFFFF"/>
                </a:solidFill>
                <a:latin typeface="Cambria"/>
              </a:rPr>
              <a:t>09</a:t>
            </a:r>
          </a:p>
        </p:txBody>
      </p:sp>
      <p:sp>
        <p:nvSpPr>
          <p:cNvPr id="3" name="TextBox 2"/>
          <p:cNvSpPr txBox="1"/>
          <p:nvPr/>
        </p:nvSpPr>
        <p:spPr>
          <a:xfrm>
            <a:off x="1417319" y="438912"/>
            <a:ext cx="10180015" cy="292608"/>
          </a:xfrm>
          <a:prstGeom prst="rect">
            <a:avLst/>
          </a:prstGeom>
          <a:noFill/>
        </p:spPr>
        <p:txBody>
          <a:bodyPr wrap="square" anchor="t" lIns="0" rIns="0" tIns="0" bIns="0">
            <a:spAutoFit/>
          </a:bodyPr>
          <a:lstStyle/>
          <a:p>
            <a:r>
              <a:rPr sz="1200" i="0" b="1" spc="150">
                <a:solidFill>
                  <a:srgbClr val="2F6F7A"/>
                </a:solidFill>
                <a:latin typeface="Calibri"/>
              </a:rPr>
              <a:t>SECTION 9</a:t>
            </a:r>
          </a:p>
        </p:txBody>
      </p:sp>
      <p:sp>
        <p:nvSpPr>
          <p:cNvPr id="4" name="TextBox 3"/>
          <p:cNvSpPr txBox="1"/>
          <p:nvPr/>
        </p:nvSpPr>
        <p:spPr>
          <a:xfrm>
            <a:off x="1417319" y="676656"/>
            <a:ext cx="10180015" cy="640080"/>
          </a:xfrm>
          <a:prstGeom prst="rect">
            <a:avLst/>
          </a:prstGeom>
          <a:noFill/>
        </p:spPr>
        <p:txBody>
          <a:bodyPr wrap="square" anchor="t" lIns="0" rIns="0" tIns="0" bIns="0">
            <a:spAutoFit/>
          </a:bodyPr>
          <a:lstStyle/>
          <a:p>
            <a:r>
              <a:rPr sz="3200" i="0" b="1">
                <a:solidFill>
                  <a:srgbClr val="2B211C"/>
                </a:solidFill>
                <a:latin typeface="Cambria"/>
              </a:rPr>
              <a:t>Preventing Medication Errors</a:t>
            </a:r>
          </a:p>
        </p:txBody>
      </p:sp>
      <p:sp>
        <p:nvSpPr>
          <p:cNvPr id="5" name="TextBox 4"/>
          <p:cNvSpPr txBox="1"/>
          <p:nvPr/>
        </p:nvSpPr>
        <p:spPr>
          <a:xfrm>
            <a:off x="548640" y="6419088"/>
            <a:ext cx="8229600" cy="274320"/>
          </a:xfrm>
          <a:prstGeom prst="rect">
            <a:avLst/>
          </a:prstGeom>
          <a:noFill/>
        </p:spPr>
        <p:txBody>
          <a:bodyPr wrap="square" anchor="t" lIns="0" rIns="0" tIns="0" bIns="0">
            <a:spAutoFit/>
          </a:bodyPr>
          <a:lstStyle/>
          <a:p>
            <a:r>
              <a:rPr sz="1000" i="0" b="0">
                <a:solidFill>
                  <a:srgbClr val="6E625B"/>
                </a:solidFill>
                <a:latin typeface="Calibri"/>
              </a:rPr>
              <a:t>Drug Information  ·  Section 9  ·  Pharmacovigilance, ADR Reporting and Medication Errors</a:t>
            </a:r>
          </a:p>
        </p:txBody>
      </p:sp>
      <p:sp>
        <p:nvSpPr>
          <p:cNvPr id="6" name="TextBox 5"/>
          <p:cNvSpPr txBox="1"/>
          <p:nvPr/>
        </p:nvSpPr>
        <p:spPr>
          <a:xfrm>
            <a:off x="10424160" y="6419088"/>
            <a:ext cx="731520" cy="274320"/>
          </a:xfrm>
          <a:prstGeom prst="rect">
            <a:avLst/>
          </a:prstGeom>
          <a:noFill/>
        </p:spPr>
        <p:txBody>
          <a:bodyPr wrap="square" anchor="t" lIns="0" rIns="0" tIns="0" bIns="0">
            <a:spAutoFit/>
          </a:bodyPr>
          <a:lstStyle/>
          <a:p>
            <a:pPr algn="r"/>
            <a:r>
              <a:rPr sz="1000" i="0" b="1">
                <a:solidFill>
                  <a:srgbClr val="6E625B"/>
                </a:solidFill>
                <a:latin typeface="Calibri"/>
              </a:rPr>
              <a:t>10</a:t>
            </a:r>
          </a:p>
        </p:txBody>
      </p:sp>
      <p:pic>
        <p:nvPicPr>
          <p:cNvPr id="7" name="Picture 6" descr="faculty-of-pharmacy.png"/>
          <p:cNvPicPr>
            <a:picLocks noChangeAspect="1"/>
          </p:cNvPicPr>
          <p:nvPr/>
        </p:nvPicPr>
        <p:blipFill>
          <a:blip r:embed="rId3"/>
          <a:stretch>
            <a:fillRect/>
          </a:stretch>
        </p:blipFill>
        <p:spPr>
          <a:xfrm>
            <a:off x="11247120" y="6309360"/>
            <a:ext cx="384048" cy="384048"/>
          </a:xfrm>
          <a:prstGeom prst="rect">
            <a:avLst/>
          </a:prstGeom>
        </p:spPr>
      </p:pic>
      <p:sp>
        <p:nvSpPr>
          <p:cNvPr id="8" name="TextBox 7"/>
          <p:cNvSpPr txBox="1"/>
          <p:nvPr/>
        </p:nvSpPr>
        <p:spPr>
          <a:xfrm>
            <a:off x="548640" y="1554480"/>
            <a:ext cx="11094415" cy="1092708"/>
          </a:xfrm>
          <a:prstGeom prst="rect">
            <a:avLst/>
          </a:prstGeom>
          <a:noFill/>
        </p:spPr>
        <p:txBody>
          <a:bodyPr wrap="square" anchor="t" lIns="0" rIns="0" tIns="0" bIns="0">
            <a:spAutoFit/>
          </a:bodyPr>
          <a:lstStyle/>
          <a:p>
            <a:pPr>
              <a:spcAft>
                <a:spcPts val="800"/>
              </a:spcAft>
            </a:pPr>
            <a:r>
              <a:rPr sz="1800" i="0" b="1">
                <a:solidFill>
                  <a:srgbClr val="2B211C"/>
                </a:solidFill>
                <a:latin typeface="Calibri"/>
              </a:rPr>
              <a:t>Regulators</a:t>
            </a:r>
            <a:r>
              <a:rPr sz="1800" i="0" b="0">
                <a:solidFill>
                  <a:srgbClr val="2B211C"/>
                </a:solidFill>
                <a:latin typeface="Calibri"/>
              </a:rPr>
              <a:t> also prevent errors. They review drug labels and names before approval, and reject names that look or sound like existing ones. They encourage pharmacists and other professionals to report medication errors.</a:t>
            </a:r>
          </a:p>
        </p:txBody>
      </p:sp>
      <p:graphicFrame>
        <p:nvGraphicFramePr>
          <p:cNvPr id="9" name="Table 8"/>
          <p:cNvGraphicFramePr>
            <a:graphicFrameLocks noGrp="1"/>
          </p:cNvGraphicFramePr>
          <p:nvPr/>
        </p:nvGraphicFramePr>
        <p:xfrm>
          <a:off x="548640" y="2830068"/>
          <a:ext cx="11094414" cy="3200400"/>
        </p:xfrm>
        <a:graphic>
          <a:graphicData uri="http://schemas.openxmlformats.org/drawingml/2006/table">
            <a:tbl>
              <a:tblPr firstRow="0" bandRow="0">
                <a:tableStyleId>{5C22544A-7EE6-4342-B048-85BDC9FD1C3A}</a:tableStyleId>
              </a:tblPr>
              <a:tblGrid>
                <a:gridCol w="2711968"/>
                <a:gridCol w="8382446"/>
              </a:tblGrid>
              <a:tr h="640080">
                <a:tc>
                  <a:txBody>
                    <a:bodyPr/>
                    <a:lstStyle/>
                    <a:p>
                      <a:r>
                        <a:rPr sz="1500" i="0" b="1">
                          <a:solidFill>
                            <a:srgbClr val="FFFFFF"/>
                          </a:solidFill>
                          <a:latin typeface="Calibri"/>
                        </a:rPr>
                        <a:t>Stage</a:t>
                      </a:r>
                    </a:p>
                  </a:txBody>
                  <a:tcPr marL="109728" marR="109728" marT="45720" marB="45720" anchor="ctr">
                    <a:solidFill>
                      <a:srgbClr val="A4472B"/>
                    </a:solidFill>
                  </a:tcPr>
                </a:tc>
                <a:tc>
                  <a:txBody>
                    <a:bodyPr/>
                    <a:lstStyle/>
                    <a:p>
                      <a:r>
                        <a:rPr sz="1500" i="0" b="1">
                          <a:solidFill>
                            <a:srgbClr val="FFFFFF"/>
                          </a:solidFill>
                          <a:latin typeface="Calibri"/>
                        </a:rPr>
                        <a:t>Prevention</a:t>
                      </a:r>
                    </a:p>
                  </a:txBody>
                  <a:tcPr marL="109728" marR="109728" marT="45720" marB="45720" anchor="ctr">
                    <a:solidFill>
                      <a:srgbClr val="A4472B"/>
                    </a:solidFill>
                  </a:tcPr>
                </a:tc>
              </a:tr>
              <a:tr h="640080">
                <a:tc>
                  <a:txBody>
                    <a:bodyPr/>
                    <a:lstStyle/>
                    <a:p>
                      <a:r>
                        <a:rPr sz="1600" i="0" b="1">
                          <a:solidFill>
                            <a:srgbClr val="2B211C"/>
                          </a:solidFill>
                          <a:latin typeface="Calibri"/>
                        </a:rPr>
                        <a:t>Prescribing</a:t>
                      </a:r>
                    </a:p>
                  </a:txBody>
                  <a:tcPr marL="109728" marR="109728" marT="45720" marB="45720" anchor="ctr">
                    <a:solidFill>
                      <a:srgbClr val="FFFFFF"/>
                    </a:solidFill>
                  </a:tcPr>
                </a:tc>
                <a:tc>
                  <a:txBody>
                    <a:bodyPr/>
                    <a:lstStyle/>
                    <a:p>
                      <a:r>
                        <a:rPr sz="1600" i="0" b="0">
                          <a:solidFill>
                            <a:srgbClr val="2B211C"/>
                          </a:solidFill>
                          <a:latin typeface="Calibri"/>
                        </a:rPr>
                        <a:t>Electronic prescribing with dose and allergy checks; clear, complete orders</a:t>
                      </a:r>
                    </a:p>
                  </a:txBody>
                  <a:tcPr marL="109728" marR="109728" marT="45720" marB="45720" anchor="ctr">
                    <a:solidFill>
                      <a:srgbClr val="FFFFFF"/>
                    </a:solidFill>
                  </a:tcPr>
                </a:tc>
              </a:tr>
              <a:tr h="640080">
                <a:tc>
                  <a:txBody>
                    <a:bodyPr/>
                    <a:lstStyle/>
                    <a:p>
                      <a:r>
                        <a:rPr sz="1600" i="0" b="1">
                          <a:solidFill>
                            <a:srgbClr val="2B211C"/>
                          </a:solidFill>
                          <a:latin typeface="Calibri"/>
                        </a:rPr>
                        <a:t>Dispensing</a:t>
                      </a:r>
                    </a:p>
                  </a:txBody>
                  <a:tcPr marL="109728" marR="109728" marT="45720" marB="45720" anchor="ctr">
                    <a:solidFill>
                      <a:srgbClr val="FAF4F2"/>
                    </a:solidFill>
                  </a:tcPr>
                </a:tc>
                <a:tc>
                  <a:txBody>
                    <a:bodyPr/>
                    <a:lstStyle/>
                    <a:p>
                      <a:r>
                        <a:rPr sz="1600" i="0" b="0">
                          <a:solidFill>
                            <a:srgbClr val="2B211C"/>
                          </a:solidFill>
                          <a:latin typeface="Calibri"/>
                        </a:rPr>
                        <a:t>Separate LASA drugs on the shelves; use "tall man" letters (for example hydrOXYzine, hydrALAZINE); a second check for high-risk drugs; unit-dose systems</a:t>
                      </a:r>
                    </a:p>
                  </a:txBody>
                  <a:tcPr marL="109728" marR="109728" marT="45720" marB="45720" anchor="ctr">
                    <a:solidFill>
                      <a:srgbClr val="FAF4F2"/>
                    </a:solidFill>
                  </a:tcPr>
                </a:tc>
              </a:tr>
              <a:tr h="640080">
                <a:tc>
                  <a:txBody>
                    <a:bodyPr/>
                    <a:lstStyle/>
                    <a:p>
                      <a:r>
                        <a:rPr sz="1600" i="0" b="1">
                          <a:solidFill>
                            <a:srgbClr val="2B211C"/>
                          </a:solidFill>
                          <a:latin typeface="Calibri"/>
                        </a:rPr>
                        <a:t>Administration</a:t>
                      </a:r>
                    </a:p>
                  </a:txBody>
                  <a:tcPr marL="109728" marR="109728" marT="45720" marB="45720" anchor="ctr">
                    <a:solidFill>
                      <a:srgbClr val="FFFFFF"/>
                    </a:solidFill>
                  </a:tcPr>
                </a:tc>
                <a:tc>
                  <a:txBody>
                    <a:bodyPr/>
                    <a:lstStyle/>
                    <a:p>
                      <a:r>
                        <a:rPr sz="1600" i="0" b="0">
                          <a:solidFill>
                            <a:srgbClr val="2B211C"/>
                          </a:solidFill>
                          <a:latin typeface="Calibri"/>
                        </a:rPr>
                        <a:t>Check the "rights": right patient, drug, dose, route and time; barcode scanning</a:t>
                      </a:r>
                    </a:p>
                  </a:txBody>
                  <a:tcPr marL="109728" marR="109728" marT="45720" marB="45720" anchor="ctr">
                    <a:solidFill>
                      <a:srgbClr val="FFFFFF"/>
                    </a:solidFill>
                  </a:tcPr>
                </a:tc>
              </a:tr>
              <a:tr h="640080">
                <a:tc>
                  <a:txBody>
                    <a:bodyPr/>
                    <a:lstStyle/>
                    <a:p>
                      <a:r>
                        <a:rPr sz="1600" i="0" b="1">
                          <a:solidFill>
                            <a:srgbClr val="2B211C"/>
                          </a:solidFill>
                          <a:latin typeface="Calibri"/>
                        </a:rPr>
                        <a:t>Patient</a:t>
                      </a:r>
                    </a:p>
                  </a:txBody>
                  <a:tcPr marL="109728" marR="109728" marT="45720" marB="45720" anchor="ctr">
                    <a:solidFill>
                      <a:srgbClr val="FAF4F2"/>
                    </a:solidFill>
                  </a:tcPr>
                </a:tc>
                <a:tc>
                  <a:txBody>
                    <a:bodyPr/>
                    <a:lstStyle/>
                    <a:p>
                      <a:r>
                        <a:rPr sz="1600" i="0" b="0">
                          <a:solidFill>
                            <a:srgbClr val="2B211C"/>
                          </a:solidFill>
                          <a:latin typeface="Calibri"/>
                        </a:rPr>
                        <a:t>Clear counselling and written instructions</a:t>
                      </a:r>
                    </a:p>
                  </a:txBody>
                  <a:tcPr marL="109728" marR="109728" marT="45720" marB="45720" anchor="ctr">
                    <a:solidFill>
                      <a:srgbClr val="FAF4F2"/>
                    </a:solidFill>
                  </a:tcPr>
                </a:tc>
              </a:tr>
            </a:tbl>
          </a:graphicData>
        </a:graphic>
      </p:graphicFrame>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Oval 1"/>
          <p:cNvSpPr/>
          <p:nvPr/>
        </p:nvSpPr>
        <p:spPr>
          <a:xfrm>
            <a:off x="548640" y="475488"/>
            <a:ext cx="658368" cy="658368"/>
          </a:xfrm>
          <a:prstGeom prst="ellipse">
            <a:avLst/>
          </a:prstGeom>
          <a:solidFill>
            <a:srgbClr val="2F6F7A"/>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800" i="0" b="1">
                <a:solidFill>
                  <a:srgbClr val="FFFFFF"/>
                </a:solidFill>
                <a:latin typeface="Cambria"/>
              </a:rPr>
              <a:t>09</a:t>
            </a:r>
          </a:p>
        </p:txBody>
      </p:sp>
      <p:sp>
        <p:nvSpPr>
          <p:cNvPr id="3" name="TextBox 2"/>
          <p:cNvSpPr txBox="1"/>
          <p:nvPr/>
        </p:nvSpPr>
        <p:spPr>
          <a:xfrm>
            <a:off x="1417319" y="438912"/>
            <a:ext cx="10180015" cy="292608"/>
          </a:xfrm>
          <a:prstGeom prst="rect">
            <a:avLst/>
          </a:prstGeom>
          <a:noFill/>
        </p:spPr>
        <p:txBody>
          <a:bodyPr wrap="square" anchor="t" lIns="0" rIns="0" tIns="0" bIns="0">
            <a:spAutoFit/>
          </a:bodyPr>
          <a:lstStyle/>
          <a:p>
            <a:r>
              <a:rPr sz="1200" i="0" b="1" spc="150">
                <a:solidFill>
                  <a:srgbClr val="2F6F7A"/>
                </a:solidFill>
                <a:latin typeface="Calibri"/>
              </a:rPr>
              <a:t>SECTION 9</a:t>
            </a:r>
          </a:p>
        </p:txBody>
      </p:sp>
      <p:sp>
        <p:nvSpPr>
          <p:cNvPr id="4" name="TextBox 3"/>
          <p:cNvSpPr txBox="1"/>
          <p:nvPr/>
        </p:nvSpPr>
        <p:spPr>
          <a:xfrm>
            <a:off x="1417319" y="676656"/>
            <a:ext cx="10180015" cy="640080"/>
          </a:xfrm>
          <a:prstGeom prst="rect">
            <a:avLst/>
          </a:prstGeom>
          <a:noFill/>
        </p:spPr>
        <p:txBody>
          <a:bodyPr wrap="square" anchor="t" lIns="0" rIns="0" tIns="0" bIns="0">
            <a:spAutoFit/>
          </a:bodyPr>
          <a:lstStyle/>
          <a:p>
            <a:r>
              <a:rPr sz="3200" i="0" b="1">
                <a:solidFill>
                  <a:srgbClr val="2B211C"/>
                </a:solidFill>
                <a:latin typeface="Cambria"/>
              </a:rPr>
              <a:t>Preventing Medication Errors</a:t>
            </a:r>
          </a:p>
        </p:txBody>
      </p:sp>
      <p:sp>
        <p:nvSpPr>
          <p:cNvPr id="5" name="TextBox 4"/>
          <p:cNvSpPr txBox="1"/>
          <p:nvPr/>
        </p:nvSpPr>
        <p:spPr>
          <a:xfrm>
            <a:off x="548640" y="6419088"/>
            <a:ext cx="8229600" cy="274320"/>
          </a:xfrm>
          <a:prstGeom prst="rect">
            <a:avLst/>
          </a:prstGeom>
          <a:noFill/>
        </p:spPr>
        <p:txBody>
          <a:bodyPr wrap="square" anchor="t" lIns="0" rIns="0" tIns="0" bIns="0">
            <a:spAutoFit/>
          </a:bodyPr>
          <a:lstStyle/>
          <a:p>
            <a:r>
              <a:rPr sz="1000" i="0" b="0">
                <a:solidFill>
                  <a:srgbClr val="6E625B"/>
                </a:solidFill>
                <a:latin typeface="Calibri"/>
              </a:rPr>
              <a:t>Drug Information  ·  Section 9  ·  Pharmacovigilance, ADR Reporting and Medication Errors</a:t>
            </a:r>
          </a:p>
        </p:txBody>
      </p:sp>
      <p:sp>
        <p:nvSpPr>
          <p:cNvPr id="6" name="TextBox 5"/>
          <p:cNvSpPr txBox="1"/>
          <p:nvPr/>
        </p:nvSpPr>
        <p:spPr>
          <a:xfrm>
            <a:off x="10424160" y="6419088"/>
            <a:ext cx="731520" cy="274320"/>
          </a:xfrm>
          <a:prstGeom prst="rect">
            <a:avLst/>
          </a:prstGeom>
          <a:noFill/>
        </p:spPr>
        <p:txBody>
          <a:bodyPr wrap="square" anchor="t" lIns="0" rIns="0" tIns="0" bIns="0">
            <a:spAutoFit/>
          </a:bodyPr>
          <a:lstStyle/>
          <a:p>
            <a:pPr algn="r"/>
            <a:r>
              <a:rPr sz="1000" i="0" b="1">
                <a:solidFill>
                  <a:srgbClr val="6E625B"/>
                </a:solidFill>
                <a:latin typeface="Calibri"/>
              </a:rPr>
              <a:t>11</a:t>
            </a:r>
          </a:p>
        </p:txBody>
      </p:sp>
      <p:pic>
        <p:nvPicPr>
          <p:cNvPr id="7" name="Picture 6" descr="faculty-of-pharmacy.png"/>
          <p:cNvPicPr>
            <a:picLocks noChangeAspect="1"/>
          </p:cNvPicPr>
          <p:nvPr/>
        </p:nvPicPr>
        <p:blipFill>
          <a:blip r:embed="rId3"/>
          <a:stretch>
            <a:fillRect/>
          </a:stretch>
        </p:blipFill>
        <p:spPr>
          <a:xfrm>
            <a:off x="11247120" y="6309360"/>
            <a:ext cx="384048" cy="384048"/>
          </a:xfrm>
          <a:prstGeom prst="rect">
            <a:avLst/>
          </a:prstGeom>
        </p:spPr>
      </p:pic>
      <p:sp>
        <p:nvSpPr>
          <p:cNvPr id="8" name="Rounded Rectangle 7"/>
          <p:cNvSpPr/>
          <p:nvPr/>
        </p:nvSpPr>
        <p:spPr>
          <a:xfrm>
            <a:off x="1645919" y="2103120"/>
            <a:ext cx="8899855" cy="2377440"/>
          </a:xfrm>
          <a:prstGeom prst="roundRect">
            <a:avLst>
              <a:gd name="adj" fmla="val 6000"/>
            </a:avLst>
          </a:prstGeom>
          <a:solidFill>
            <a:srgbClr val="FBEA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ounded Rectangle 8"/>
          <p:cNvSpPr/>
          <p:nvPr/>
        </p:nvSpPr>
        <p:spPr>
          <a:xfrm>
            <a:off x="1920239" y="2331720"/>
            <a:ext cx="900684" cy="310896"/>
          </a:xfrm>
          <a:prstGeom prst="roundRect">
            <a:avLst>
              <a:gd name="adj" fmla="val 50000"/>
            </a:avLst>
          </a:prstGeom>
          <a:solidFill>
            <a:srgbClr val="B3261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050" i="0" b="1">
                <a:solidFill>
                  <a:srgbClr val="FFFFFF"/>
                </a:solidFill>
                <a:latin typeface="Calibri"/>
              </a:rPr>
              <a:t>CAUTION</a:t>
            </a:r>
          </a:p>
        </p:txBody>
      </p:sp>
      <p:sp>
        <p:nvSpPr>
          <p:cNvPr id="10" name="TextBox 9"/>
          <p:cNvSpPr txBox="1"/>
          <p:nvPr/>
        </p:nvSpPr>
        <p:spPr>
          <a:xfrm>
            <a:off x="1920239" y="2788920"/>
            <a:ext cx="8351215" cy="1508760"/>
          </a:xfrm>
          <a:prstGeom prst="rect">
            <a:avLst/>
          </a:prstGeom>
          <a:noFill/>
        </p:spPr>
        <p:txBody>
          <a:bodyPr wrap="square" anchor="t" lIns="0" rIns="0" tIns="0" bIns="0">
            <a:spAutoFit/>
          </a:bodyPr>
          <a:lstStyle/>
          <a:p>
            <a:r>
              <a:rPr sz="2600" i="0" b="0">
                <a:solidFill>
                  <a:srgbClr val="2B211C"/>
                </a:solidFill>
                <a:latin typeface="Calibri"/>
              </a:rPr>
              <a:t>Report medication errors, even near misses. The aim is to fix the system, not to blame a person.</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Oval 1"/>
          <p:cNvSpPr/>
          <p:nvPr/>
        </p:nvSpPr>
        <p:spPr>
          <a:xfrm>
            <a:off x="548640" y="475488"/>
            <a:ext cx="658368" cy="658368"/>
          </a:xfrm>
          <a:prstGeom prst="ellipse">
            <a:avLst/>
          </a:prstGeom>
          <a:solidFill>
            <a:srgbClr val="2F6F7A"/>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800" i="0" b="1">
                <a:solidFill>
                  <a:srgbClr val="FFFFFF"/>
                </a:solidFill>
                <a:latin typeface="Cambria"/>
              </a:rPr>
              <a:t>09</a:t>
            </a:r>
          </a:p>
        </p:txBody>
      </p:sp>
      <p:sp>
        <p:nvSpPr>
          <p:cNvPr id="3" name="TextBox 2"/>
          <p:cNvSpPr txBox="1"/>
          <p:nvPr/>
        </p:nvSpPr>
        <p:spPr>
          <a:xfrm>
            <a:off x="1417319" y="438912"/>
            <a:ext cx="10180015" cy="292608"/>
          </a:xfrm>
          <a:prstGeom prst="rect">
            <a:avLst/>
          </a:prstGeom>
          <a:noFill/>
        </p:spPr>
        <p:txBody>
          <a:bodyPr wrap="square" anchor="t" lIns="0" rIns="0" tIns="0" bIns="0">
            <a:spAutoFit/>
          </a:bodyPr>
          <a:lstStyle/>
          <a:p>
            <a:r>
              <a:rPr sz="1200" i="0" b="1" spc="150">
                <a:solidFill>
                  <a:srgbClr val="2F6F7A"/>
                </a:solidFill>
                <a:latin typeface="Calibri"/>
              </a:rPr>
              <a:t>SECTION 9</a:t>
            </a:r>
          </a:p>
        </p:txBody>
      </p:sp>
      <p:sp>
        <p:nvSpPr>
          <p:cNvPr id="4" name="TextBox 3"/>
          <p:cNvSpPr txBox="1"/>
          <p:nvPr/>
        </p:nvSpPr>
        <p:spPr>
          <a:xfrm>
            <a:off x="1417319" y="676656"/>
            <a:ext cx="10180015" cy="640080"/>
          </a:xfrm>
          <a:prstGeom prst="rect">
            <a:avLst/>
          </a:prstGeom>
          <a:noFill/>
        </p:spPr>
        <p:txBody>
          <a:bodyPr wrap="square" anchor="t" lIns="0" rIns="0" tIns="0" bIns="0">
            <a:spAutoFit/>
          </a:bodyPr>
          <a:lstStyle/>
          <a:p>
            <a:r>
              <a:rPr sz="3200" i="0" b="1">
                <a:solidFill>
                  <a:srgbClr val="2B211C"/>
                </a:solidFill>
                <a:latin typeface="Cambria"/>
              </a:rPr>
              <a:t>Preventing Medication Errors</a:t>
            </a:r>
          </a:p>
        </p:txBody>
      </p:sp>
      <p:sp>
        <p:nvSpPr>
          <p:cNvPr id="5" name="TextBox 4"/>
          <p:cNvSpPr txBox="1"/>
          <p:nvPr/>
        </p:nvSpPr>
        <p:spPr>
          <a:xfrm>
            <a:off x="548640" y="6419088"/>
            <a:ext cx="8229600" cy="274320"/>
          </a:xfrm>
          <a:prstGeom prst="rect">
            <a:avLst/>
          </a:prstGeom>
          <a:noFill/>
        </p:spPr>
        <p:txBody>
          <a:bodyPr wrap="square" anchor="t" lIns="0" rIns="0" tIns="0" bIns="0">
            <a:spAutoFit/>
          </a:bodyPr>
          <a:lstStyle/>
          <a:p>
            <a:r>
              <a:rPr sz="1000" i="0" b="0">
                <a:solidFill>
                  <a:srgbClr val="6E625B"/>
                </a:solidFill>
                <a:latin typeface="Calibri"/>
              </a:rPr>
              <a:t>Drug Information  ·  Section 9  ·  Pharmacovigilance, ADR Reporting and Medication Errors</a:t>
            </a:r>
          </a:p>
        </p:txBody>
      </p:sp>
      <p:sp>
        <p:nvSpPr>
          <p:cNvPr id="6" name="TextBox 5"/>
          <p:cNvSpPr txBox="1"/>
          <p:nvPr/>
        </p:nvSpPr>
        <p:spPr>
          <a:xfrm>
            <a:off x="10424160" y="6419088"/>
            <a:ext cx="731520" cy="274320"/>
          </a:xfrm>
          <a:prstGeom prst="rect">
            <a:avLst/>
          </a:prstGeom>
          <a:noFill/>
        </p:spPr>
        <p:txBody>
          <a:bodyPr wrap="square" anchor="t" lIns="0" rIns="0" tIns="0" bIns="0">
            <a:spAutoFit/>
          </a:bodyPr>
          <a:lstStyle/>
          <a:p>
            <a:pPr algn="r"/>
            <a:r>
              <a:rPr sz="1000" i="0" b="1">
                <a:solidFill>
                  <a:srgbClr val="6E625B"/>
                </a:solidFill>
                <a:latin typeface="Calibri"/>
              </a:rPr>
              <a:t>12</a:t>
            </a:r>
          </a:p>
        </p:txBody>
      </p:sp>
      <p:pic>
        <p:nvPicPr>
          <p:cNvPr id="7" name="Picture 6" descr="faculty-of-pharmacy.png"/>
          <p:cNvPicPr>
            <a:picLocks noChangeAspect="1"/>
          </p:cNvPicPr>
          <p:nvPr/>
        </p:nvPicPr>
        <p:blipFill>
          <a:blip r:embed="rId3"/>
          <a:stretch>
            <a:fillRect/>
          </a:stretch>
        </p:blipFill>
        <p:spPr>
          <a:xfrm>
            <a:off x="11247120" y="6309360"/>
            <a:ext cx="384048" cy="384048"/>
          </a:xfrm>
          <a:prstGeom prst="rect">
            <a:avLst/>
          </a:prstGeom>
        </p:spPr>
      </p:pic>
      <p:sp>
        <p:nvSpPr>
          <p:cNvPr id="8" name="Rounded Rectangle 7"/>
          <p:cNvSpPr/>
          <p:nvPr/>
        </p:nvSpPr>
        <p:spPr>
          <a:xfrm>
            <a:off x="1645919" y="2103120"/>
            <a:ext cx="8899855" cy="2377440"/>
          </a:xfrm>
          <a:prstGeom prst="roundRect">
            <a:avLst>
              <a:gd name="adj" fmla="val 6000"/>
            </a:avLst>
          </a:prstGeom>
          <a:solidFill>
            <a:srgbClr val="F6E5D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ounded Rectangle 8"/>
          <p:cNvSpPr/>
          <p:nvPr/>
        </p:nvSpPr>
        <p:spPr>
          <a:xfrm>
            <a:off x="1920239" y="2331720"/>
            <a:ext cx="996695" cy="310896"/>
          </a:xfrm>
          <a:prstGeom prst="roundRect">
            <a:avLst>
              <a:gd name="adj" fmla="val 50000"/>
            </a:avLst>
          </a:prstGeom>
          <a:solidFill>
            <a:srgbClr val="A4472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050" i="0" b="1">
                <a:solidFill>
                  <a:srgbClr val="FFFFFF"/>
                </a:solidFill>
                <a:latin typeface="Calibri"/>
              </a:rPr>
              <a:t>EXAM TIP</a:t>
            </a:r>
          </a:p>
        </p:txBody>
      </p:sp>
      <p:sp>
        <p:nvSpPr>
          <p:cNvPr id="10" name="TextBox 9"/>
          <p:cNvSpPr txBox="1"/>
          <p:nvPr/>
        </p:nvSpPr>
        <p:spPr>
          <a:xfrm>
            <a:off x="1920239" y="2788920"/>
            <a:ext cx="8351215" cy="1508760"/>
          </a:xfrm>
          <a:prstGeom prst="rect">
            <a:avLst/>
          </a:prstGeom>
          <a:noFill/>
        </p:spPr>
        <p:txBody>
          <a:bodyPr wrap="square" anchor="t" lIns="0" rIns="0" tIns="0" bIns="0">
            <a:spAutoFit/>
          </a:bodyPr>
          <a:lstStyle/>
          <a:p>
            <a:r>
              <a:rPr sz="2600" i="0" b="0">
                <a:solidFill>
                  <a:srgbClr val="2B211C"/>
                </a:solidFill>
                <a:latin typeface="Calibri"/>
              </a:rPr>
              <a:t>An ADR can happen with correct use; a medication error is always preventable.</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Oval 1"/>
          <p:cNvSpPr/>
          <p:nvPr/>
        </p:nvSpPr>
        <p:spPr>
          <a:xfrm>
            <a:off x="548640" y="475488"/>
            <a:ext cx="658368" cy="658368"/>
          </a:xfrm>
          <a:prstGeom prst="ellipse">
            <a:avLst/>
          </a:prstGeom>
          <a:solidFill>
            <a:srgbClr val="2F6F7A"/>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800" i="0" b="1">
                <a:solidFill>
                  <a:srgbClr val="FFFFFF"/>
                </a:solidFill>
                <a:latin typeface="Cambria"/>
              </a:rPr>
              <a:t>09</a:t>
            </a:r>
          </a:p>
        </p:txBody>
      </p:sp>
      <p:sp>
        <p:nvSpPr>
          <p:cNvPr id="3" name="TextBox 2"/>
          <p:cNvSpPr txBox="1"/>
          <p:nvPr/>
        </p:nvSpPr>
        <p:spPr>
          <a:xfrm>
            <a:off x="1417319" y="438912"/>
            <a:ext cx="10180015" cy="292608"/>
          </a:xfrm>
          <a:prstGeom prst="rect">
            <a:avLst/>
          </a:prstGeom>
          <a:noFill/>
        </p:spPr>
        <p:txBody>
          <a:bodyPr wrap="square" anchor="t" lIns="0" rIns="0" tIns="0" bIns="0">
            <a:spAutoFit/>
          </a:bodyPr>
          <a:lstStyle/>
          <a:p>
            <a:r>
              <a:rPr sz="1200" i="0" b="1" spc="150">
                <a:solidFill>
                  <a:srgbClr val="2F6F7A"/>
                </a:solidFill>
                <a:latin typeface="Calibri"/>
              </a:rPr>
              <a:t>SECTION 9  ·  QUESTION 1 OF 5</a:t>
            </a:r>
          </a:p>
        </p:txBody>
      </p:sp>
      <p:sp>
        <p:nvSpPr>
          <p:cNvPr id="4" name="TextBox 3"/>
          <p:cNvSpPr txBox="1"/>
          <p:nvPr/>
        </p:nvSpPr>
        <p:spPr>
          <a:xfrm>
            <a:off x="1417319" y="676656"/>
            <a:ext cx="10180015" cy="640080"/>
          </a:xfrm>
          <a:prstGeom prst="rect">
            <a:avLst/>
          </a:prstGeom>
          <a:noFill/>
        </p:spPr>
        <p:txBody>
          <a:bodyPr wrap="square" anchor="t" lIns="0" rIns="0" tIns="0" bIns="0">
            <a:spAutoFit/>
          </a:bodyPr>
          <a:lstStyle/>
          <a:p>
            <a:r>
              <a:rPr sz="3200" i="0" b="1">
                <a:solidFill>
                  <a:srgbClr val="2B211C"/>
                </a:solidFill>
                <a:latin typeface="Cambria"/>
              </a:rPr>
              <a:t>Your turn</a:t>
            </a:r>
          </a:p>
        </p:txBody>
      </p:sp>
      <p:sp>
        <p:nvSpPr>
          <p:cNvPr id="5" name="TextBox 4"/>
          <p:cNvSpPr txBox="1"/>
          <p:nvPr/>
        </p:nvSpPr>
        <p:spPr>
          <a:xfrm>
            <a:off x="548640" y="6419088"/>
            <a:ext cx="8229600" cy="274320"/>
          </a:xfrm>
          <a:prstGeom prst="rect">
            <a:avLst/>
          </a:prstGeom>
          <a:noFill/>
        </p:spPr>
        <p:txBody>
          <a:bodyPr wrap="square" anchor="t" lIns="0" rIns="0" tIns="0" bIns="0">
            <a:spAutoFit/>
          </a:bodyPr>
          <a:lstStyle/>
          <a:p>
            <a:r>
              <a:rPr sz="1000" i="0" b="0">
                <a:solidFill>
                  <a:srgbClr val="6E625B"/>
                </a:solidFill>
                <a:latin typeface="Calibri"/>
              </a:rPr>
              <a:t>Drug Information  ·  Section 9  ·  Pharmacovigilance, ADR Reporting and Medication Errors</a:t>
            </a:r>
          </a:p>
        </p:txBody>
      </p:sp>
      <p:sp>
        <p:nvSpPr>
          <p:cNvPr id="6" name="TextBox 5"/>
          <p:cNvSpPr txBox="1"/>
          <p:nvPr/>
        </p:nvSpPr>
        <p:spPr>
          <a:xfrm>
            <a:off x="10424160" y="6419088"/>
            <a:ext cx="731520" cy="274320"/>
          </a:xfrm>
          <a:prstGeom prst="rect">
            <a:avLst/>
          </a:prstGeom>
          <a:noFill/>
        </p:spPr>
        <p:txBody>
          <a:bodyPr wrap="square" anchor="t" lIns="0" rIns="0" tIns="0" bIns="0">
            <a:spAutoFit/>
          </a:bodyPr>
          <a:lstStyle/>
          <a:p>
            <a:pPr algn="r"/>
            <a:r>
              <a:rPr sz="1000" i="0" b="1">
                <a:solidFill>
                  <a:srgbClr val="6E625B"/>
                </a:solidFill>
                <a:latin typeface="Calibri"/>
              </a:rPr>
              <a:t>13</a:t>
            </a:r>
          </a:p>
        </p:txBody>
      </p:sp>
      <p:pic>
        <p:nvPicPr>
          <p:cNvPr id="7" name="Picture 6" descr="faculty-of-pharmacy.png"/>
          <p:cNvPicPr>
            <a:picLocks noChangeAspect="1"/>
          </p:cNvPicPr>
          <p:nvPr/>
        </p:nvPicPr>
        <p:blipFill>
          <a:blip r:embed="rId3"/>
          <a:stretch>
            <a:fillRect/>
          </a:stretch>
        </p:blipFill>
        <p:spPr>
          <a:xfrm>
            <a:off x="11247120" y="6309360"/>
            <a:ext cx="384048" cy="384048"/>
          </a:xfrm>
          <a:prstGeom prst="rect">
            <a:avLst/>
          </a:prstGeom>
        </p:spPr>
      </p:pic>
      <p:sp>
        <p:nvSpPr>
          <p:cNvPr id="8" name="TextBox 7"/>
          <p:cNvSpPr txBox="1"/>
          <p:nvPr/>
        </p:nvSpPr>
        <p:spPr>
          <a:xfrm>
            <a:off x="548640" y="1554480"/>
            <a:ext cx="11094415" cy="1005840"/>
          </a:xfrm>
          <a:prstGeom prst="rect">
            <a:avLst/>
          </a:prstGeom>
          <a:noFill/>
        </p:spPr>
        <p:txBody>
          <a:bodyPr wrap="square" anchor="t" lIns="0" rIns="0" tIns="0" bIns="0">
            <a:spAutoFit/>
          </a:bodyPr>
          <a:lstStyle/>
          <a:p>
            <a:r>
              <a:rPr sz="2400" i="0" b="1">
                <a:solidFill>
                  <a:srgbClr val="2B211C"/>
                </a:solidFill>
                <a:latin typeface="Calibri"/>
              </a:rPr>
              <a:t>Why are post-marketing studies needed?</a:t>
            </a:r>
          </a:p>
        </p:txBody>
      </p:sp>
      <p:sp>
        <p:nvSpPr>
          <p:cNvPr id="9" name="Rounded Rectangle 8"/>
          <p:cNvSpPr/>
          <p:nvPr/>
        </p:nvSpPr>
        <p:spPr>
          <a:xfrm>
            <a:off x="548640" y="2697480"/>
            <a:ext cx="11094415" cy="640080"/>
          </a:xfrm>
          <a:prstGeom prst="roundRect">
            <a:avLst>
              <a:gd name="adj" fmla="val 18000"/>
            </a:avLst>
          </a:prstGeom>
          <a:solidFill>
            <a:srgbClr val="FAF4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713232" y="2807208"/>
            <a:ext cx="420624" cy="420624"/>
          </a:xfrm>
          <a:prstGeom prst="ellipse">
            <a:avLst/>
          </a:prstGeom>
          <a:solidFill>
            <a:srgbClr val="A4472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500" i="0" b="1">
                <a:solidFill>
                  <a:srgbClr val="FFFFFF"/>
                </a:solidFill>
                <a:latin typeface="Calibri"/>
              </a:rPr>
              <a:t>A</a:t>
            </a:r>
          </a:p>
        </p:txBody>
      </p:sp>
      <p:sp>
        <p:nvSpPr>
          <p:cNvPr id="11" name="TextBox 10"/>
          <p:cNvSpPr txBox="1"/>
          <p:nvPr/>
        </p:nvSpPr>
        <p:spPr>
          <a:xfrm>
            <a:off x="1371600" y="2697480"/>
            <a:ext cx="10088575" cy="640080"/>
          </a:xfrm>
          <a:prstGeom prst="rect">
            <a:avLst/>
          </a:prstGeom>
          <a:noFill/>
        </p:spPr>
        <p:txBody>
          <a:bodyPr wrap="square" anchor="ctr" lIns="0" rIns="0" tIns="0" bIns="0">
            <a:spAutoFit/>
          </a:bodyPr>
          <a:lstStyle/>
          <a:p>
            <a:r>
              <a:rPr sz="1900" i="0" b="0">
                <a:solidFill>
                  <a:srgbClr val="2B211C"/>
                </a:solidFill>
                <a:latin typeface="Calibri"/>
              </a:rPr>
              <a:t>Trials include too many patients</a:t>
            </a:r>
          </a:p>
        </p:txBody>
      </p:sp>
      <p:sp>
        <p:nvSpPr>
          <p:cNvPr id="12" name="Rounded Rectangle 11"/>
          <p:cNvSpPr/>
          <p:nvPr/>
        </p:nvSpPr>
        <p:spPr>
          <a:xfrm>
            <a:off x="548640" y="3465576"/>
            <a:ext cx="11094415" cy="640080"/>
          </a:xfrm>
          <a:prstGeom prst="roundRect">
            <a:avLst>
              <a:gd name="adj" fmla="val 18000"/>
            </a:avLst>
          </a:prstGeom>
          <a:solidFill>
            <a:srgbClr val="FAF4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713232" y="3575304"/>
            <a:ext cx="420624" cy="420624"/>
          </a:xfrm>
          <a:prstGeom prst="ellipse">
            <a:avLst/>
          </a:prstGeom>
          <a:solidFill>
            <a:srgbClr val="A4472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500" i="0" b="1">
                <a:solidFill>
                  <a:srgbClr val="FFFFFF"/>
                </a:solidFill>
                <a:latin typeface="Calibri"/>
              </a:rPr>
              <a:t>B</a:t>
            </a:r>
          </a:p>
        </p:txBody>
      </p:sp>
      <p:sp>
        <p:nvSpPr>
          <p:cNvPr id="14" name="TextBox 13"/>
          <p:cNvSpPr txBox="1"/>
          <p:nvPr/>
        </p:nvSpPr>
        <p:spPr>
          <a:xfrm>
            <a:off x="1371600" y="3465576"/>
            <a:ext cx="10088575" cy="640080"/>
          </a:xfrm>
          <a:prstGeom prst="rect">
            <a:avLst/>
          </a:prstGeom>
          <a:noFill/>
        </p:spPr>
        <p:txBody>
          <a:bodyPr wrap="square" anchor="ctr" lIns="0" rIns="0" tIns="0" bIns="0">
            <a:spAutoFit/>
          </a:bodyPr>
          <a:lstStyle/>
          <a:p>
            <a:r>
              <a:rPr sz="1900" i="0" b="0">
                <a:solidFill>
                  <a:srgbClr val="2B211C"/>
                </a:solidFill>
                <a:latin typeface="Calibri"/>
              </a:rPr>
              <a:t>Trials are too small and short to detect rare ADRs</a:t>
            </a:r>
          </a:p>
        </p:txBody>
      </p:sp>
      <p:sp>
        <p:nvSpPr>
          <p:cNvPr id="15" name="Rounded Rectangle 14"/>
          <p:cNvSpPr/>
          <p:nvPr/>
        </p:nvSpPr>
        <p:spPr>
          <a:xfrm>
            <a:off x="548640" y="4233672"/>
            <a:ext cx="11094415" cy="640080"/>
          </a:xfrm>
          <a:prstGeom prst="roundRect">
            <a:avLst>
              <a:gd name="adj" fmla="val 18000"/>
            </a:avLst>
          </a:prstGeom>
          <a:solidFill>
            <a:srgbClr val="FAF4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713232" y="4343400"/>
            <a:ext cx="420624" cy="420624"/>
          </a:xfrm>
          <a:prstGeom prst="ellipse">
            <a:avLst/>
          </a:prstGeom>
          <a:solidFill>
            <a:srgbClr val="A4472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500" i="0" b="1">
                <a:solidFill>
                  <a:srgbClr val="FFFFFF"/>
                </a:solidFill>
                <a:latin typeface="Calibri"/>
              </a:rPr>
              <a:t>C</a:t>
            </a:r>
          </a:p>
        </p:txBody>
      </p:sp>
      <p:sp>
        <p:nvSpPr>
          <p:cNvPr id="17" name="TextBox 16"/>
          <p:cNvSpPr txBox="1"/>
          <p:nvPr/>
        </p:nvSpPr>
        <p:spPr>
          <a:xfrm>
            <a:off x="1371600" y="4233672"/>
            <a:ext cx="10088575" cy="640080"/>
          </a:xfrm>
          <a:prstGeom prst="rect">
            <a:avLst/>
          </a:prstGeom>
          <a:noFill/>
        </p:spPr>
        <p:txBody>
          <a:bodyPr wrap="square" anchor="ctr" lIns="0" rIns="0" tIns="0" bIns="0">
            <a:spAutoFit/>
          </a:bodyPr>
          <a:lstStyle/>
          <a:p>
            <a:r>
              <a:rPr sz="1900" i="0" b="0">
                <a:solidFill>
                  <a:srgbClr val="2B211C"/>
                </a:solidFill>
                <a:latin typeface="Calibri"/>
              </a:rPr>
              <a:t>Trials never measure safety</a:t>
            </a:r>
          </a:p>
        </p:txBody>
      </p:sp>
      <p:sp>
        <p:nvSpPr>
          <p:cNvPr id="18" name="Rounded Rectangle 17"/>
          <p:cNvSpPr/>
          <p:nvPr/>
        </p:nvSpPr>
        <p:spPr>
          <a:xfrm>
            <a:off x="548640" y="5001768"/>
            <a:ext cx="11094415" cy="640080"/>
          </a:xfrm>
          <a:prstGeom prst="roundRect">
            <a:avLst>
              <a:gd name="adj" fmla="val 18000"/>
            </a:avLst>
          </a:prstGeom>
          <a:solidFill>
            <a:srgbClr val="FAF4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713232" y="5111496"/>
            <a:ext cx="420624" cy="420624"/>
          </a:xfrm>
          <a:prstGeom prst="ellipse">
            <a:avLst/>
          </a:prstGeom>
          <a:solidFill>
            <a:srgbClr val="A4472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500" i="0" b="1">
                <a:solidFill>
                  <a:srgbClr val="FFFFFF"/>
                </a:solidFill>
                <a:latin typeface="Calibri"/>
              </a:rPr>
              <a:t>D</a:t>
            </a:r>
          </a:p>
        </p:txBody>
      </p:sp>
      <p:sp>
        <p:nvSpPr>
          <p:cNvPr id="20" name="TextBox 19"/>
          <p:cNvSpPr txBox="1"/>
          <p:nvPr/>
        </p:nvSpPr>
        <p:spPr>
          <a:xfrm>
            <a:off x="1371600" y="5001768"/>
            <a:ext cx="10088575" cy="640080"/>
          </a:xfrm>
          <a:prstGeom prst="rect">
            <a:avLst/>
          </a:prstGeom>
          <a:noFill/>
        </p:spPr>
        <p:txBody>
          <a:bodyPr wrap="square" anchor="ctr" lIns="0" rIns="0" tIns="0" bIns="0">
            <a:spAutoFit/>
          </a:bodyPr>
          <a:lstStyle/>
          <a:p>
            <a:r>
              <a:rPr sz="1900" i="0" b="0">
                <a:solidFill>
                  <a:srgbClr val="2B211C"/>
                </a:solidFill>
                <a:latin typeface="Calibri"/>
              </a:rPr>
              <a:t>Marketing studies are cheaper</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Oval 1"/>
          <p:cNvSpPr/>
          <p:nvPr/>
        </p:nvSpPr>
        <p:spPr>
          <a:xfrm>
            <a:off x="548640" y="475488"/>
            <a:ext cx="658368" cy="658368"/>
          </a:xfrm>
          <a:prstGeom prst="ellipse">
            <a:avLst/>
          </a:prstGeom>
          <a:solidFill>
            <a:srgbClr val="2F6F7A"/>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800" i="0" b="1">
                <a:solidFill>
                  <a:srgbClr val="FFFFFF"/>
                </a:solidFill>
                <a:latin typeface="Cambria"/>
              </a:rPr>
              <a:t>09</a:t>
            </a:r>
          </a:p>
        </p:txBody>
      </p:sp>
      <p:sp>
        <p:nvSpPr>
          <p:cNvPr id="3" name="TextBox 2"/>
          <p:cNvSpPr txBox="1"/>
          <p:nvPr/>
        </p:nvSpPr>
        <p:spPr>
          <a:xfrm>
            <a:off x="1417319" y="438912"/>
            <a:ext cx="10180015" cy="292608"/>
          </a:xfrm>
          <a:prstGeom prst="rect">
            <a:avLst/>
          </a:prstGeom>
          <a:noFill/>
        </p:spPr>
        <p:txBody>
          <a:bodyPr wrap="square" anchor="t" lIns="0" rIns="0" tIns="0" bIns="0">
            <a:spAutoFit/>
          </a:bodyPr>
          <a:lstStyle/>
          <a:p>
            <a:r>
              <a:rPr sz="1200" i="0" b="1" spc="150">
                <a:solidFill>
                  <a:srgbClr val="2F6F7A"/>
                </a:solidFill>
                <a:latin typeface="Calibri"/>
              </a:rPr>
              <a:t>SECTION 9  ·  QUESTION 1 OF 5  ·  ANSWER</a:t>
            </a:r>
          </a:p>
        </p:txBody>
      </p:sp>
      <p:sp>
        <p:nvSpPr>
          <p:cNvPr id="4" name="TextBox 3"/>
          <p:cNvSpPr txBox="1"/>
          <p:nvPr/>
        </p:nvSpPr>
        <p:spPr>
          <a:xfrm>
            <a:off x="1417319" y="676656"/>
            <a:ext cx="10180015" cy="640080"/>
          </a:xfrm>
          <a:prstGeom prst="rect">
            <a:avLst/>
          </a:prstGeom>
          <a:noFill/>
        </p:spPr>
        <p:txBody>
          <a:bodyPr wrap="square" anchor="t" lIns="0" rIns="0" tIns="0" bIns="0">
            <a:spAutoFit/>
          </a:bodyPr>
          <a:lstStyle/>
          <a:p>
            <a:r>
              <a:rPr sz="3200" i="0" b="1">
                <a:solidFill>
                  <a:srgbClr val="2B211C"/>
                </a:solidFill>
                <a:latin typeface="Cambria"/>
              </a:rPr>
              <a:t>Check your answer</a:t>
            </a:r>
          </a:p>
        </p:txBody>
      </p:sp>
      <p:sp>
        <p:nvSpPr>
          <p:cNvPr id="5" name="TextBox 4"/>
          <p:cNvSpPr txBox="1"/>
          <p:nvPr/>
        </p:nvSpPr>
        <p:spPr>
          <a:xfrm>
            <a:off x="548640" y="6419088"/>
            <a:ext cx="8229600" cy="274320"/>
          </a:xfrm>
          <a:prstGeom prst="rect">
            <a:avLst/>
          </a:prstGeom>
          <a:noFill/>
        </p:spPr>
        <p:txBody>
          <a:bodyPr wrap="square" anchor="t" lIns="0" rIns="0" tIns="0" bIns="0">
            <a:spAutoFit/>
          </a:bodyPr>
          <a:lstStyle/>
          <a:p>
            <a:r>
              <a:rPr sz="1000" i="0" b="0">
                <a:solidFill>
                  <a:srgbClr val="6E625B"/>
                </a:solidFill>
                <a:latin typeface="Calibri"/>
              </a:rPr>
              <a:t>Drug Information  ·  Section 9  ·  Pharmacovigilance, ADR Reporting and Medication Errors</a:t>
            </a:r>
          </a:p>
        </p:txBody>
      </p:sp>
      <p:sp>
        <p:nvSpPr>
          <p:cNvPr id="6" name="TextBox 5"/>
          <p:cNvSpPr txBox="1"/>
          <p:nvPr/>
        </p:nvSpPr>
        <p:spPr>
          <a:xfrm>
            <a:off x="10424160" y="6419088"/>
            <a:ext cx="731520" cy="274320"/>
          </a:xfrm>
          <a:prstGeom prst="rect">
            <a:avLst/>
          </a:prstGeom>
          <a:noFill/>
        </p:spPr>
        <p:txBody>
          <a:bodyPr wrap="square" anchor="t" lIns="0" rIns="0" tIns="0" bIns="0">
            <a:spAutoFit/>
          </a:bodyPr>
          <a:lstStyle/>
          <a:p>
            <a:pPr algn="r"/>
            <a:r>
              <a:rPr sz="1000" i="0" b="1">
                <a:solidFill>
                  <a:srgbClr val="6E625B"/>
                </a:solidFill>
                <a:latin typeface="Calibri"/>
              </a:rPr>
              <a:t>14</a:t>
            </a:r>
          </a:p>
        </p:txBody>
      </p:sp>
      <p:pic>
        <p:nvPicPr>
          <p:cNvPr id="7" name="Picture 6" descr="faculty-of-pharmacy.png"/>
          <p:cNvPicPr>
            <a:picLocks noChangeAspect="1"/>
          </p:cNvPicPr>
          <p:nvPr/>
        </p:nvPicPr>
        <p:blipFill>
          <a:blip r:embed="rId2"/>
          <a:stretch>
            <a:fillRect/>
          </a:stretch>
        </p:blipFill>
        <p:spPr>
          <a:xfrm>
            <a:off x="11247120" y="6309360"/>
            <a:ext cx="384048" cy="384048"/>
          </a:xfrm>
          <a:prstGeom prst="rect">
            <a:avLst/>
          </a:prstGeom>
        </p:spPr>
      </p:pic>
      <p:sp>
        <p:nvSpPr>
          <p:cNvPr id="8" name="TextBox 7"/>
          <p:cNvSpPr txBox="1"/>
          <p:nvPr/>
        </p:nvSpPr>
        <p:spPr>
          <a:xfrm>
            <a:off x="548640" y="1554480"/>
            <a:ext cx="11094415" cy="1005840"/>
          </a:xfrm>
          <a:prstGeom prst="rect">
            <a:avLst/>
          </a:prstGeom>
          <a:noFill/>
        </p:spPr>
        <p:txBody>
          <a:bodyPr wrap="square" anchor="t" lIns="0" rIns="0" tIns="0" bIns="0">
            <a:spAutoFit/>
          </a:bodyPr>
          <a:lstStyle/>
          <a:p>
            <a:r>
              <a:rPr sz="2400" i="0" b="1">
                <a:solidFill>
                  <a:srgbClr val="2B211C"/>
                </a:solidFill>
                <a:latin typeface="Calibri"/>
              </a:rPr>
              <a:t>Why are post-marketing studies needed?</a:t>
            </a:r>
          </a:p>
        </p:txBody>
      </p:sp>
      <p:sp>
        <p:nvSpPr>
          <p:cNvPr id="9" name="Rounded Rectangle 8"/>
          <p:cNvSpPr/>
          <p:nvPr/>
        </p:nvSpPr>
        <p:spPr>
          <a:xfrm>
            <a:off x="548640" y="2606040"/>
            <a:ext cx="11094415" cy="548640"/>
          </a:xfrm>
          <a:prstGeom prst="roundRect">
            <a:avLst>
              <a:gd name="adj" fmla="val 18000"/>
            </a:avLst>
          </a:prstGeom>
          <a:solidFill>
            <a:srgbClr val="F5F4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713232" y="2670048"/>
            <a:ext cx="420624" cy="420624"/>
          </a:xfrm>
          <a:prstGeom prst="ellipse">
            <a:avLst/>
          </a:prstGeom>
          <a:solidFill>
            <a:srgbClr val="E2E0D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500" i="0" b="1">
                <a:solidFill>
                  <a:srgbClr val="6E625B"/>
                </a:solidFill>
                <a:latin typeface="Calibri"/>
              </a:rPr>
              <a:t>A</a:t>
            </a:r>
          </a:p>
        </p:txBody>
      </p:sp>
      <p:sp>
        <p:nvSpPr>
          <p:cNvPr id="11" name="TextBox 10"/>
          <p:cNvSpPr txBox="1"/>
          <p:nvPr/>
        </p:nvSpPr>
        <p:spPr>
          <a:xfrm>
            <a:off x="1371600" y="2606040"/>
            <a:ext cx="10088575" cy="548640"/>
          </a:xfrm>
          <a:prstGeom prst="rect">
            <a:avLst/>
          </a:prstGeom>
          <a:noFill/>
        </p:spPr>
        <p:txBody>
          <a:bodyPr wrap="square" anchor="ctr" lIns="0" rIns="0" tIns="0" bIns="0">
            <a:spAutoFit/>
          </a:bodyPr>
          <a:lstStyle/>
          <a:p>
            <a:r>
              <a:rPr sz="1900" i="0" b="0">
                <a:solidFill>
                  <a:srgbClr val="6E625B"/>
                </a:solidFill>
                <a:latin typeface="Calibri"/>
              </a:rPr>
              <a:t>Trials include too many patients</a:t>
            </a:r>
          </a:p>
        </p:txBody>
      </p:sp>
      <p:sp>
        <p:nvSpPr>
          <p:cNvPr id="12" name="Rounded Rectangle 11"/>
          <p:cNvSpPr/>
          <p:nvPr/>
        </p:nvSpPr>
        <p:spPr>
          <a:xfrm>
            <a:off x="548640" y="3282696"/>
            <a:ext cx="11094415" cy="548640"/>
          </a:xfrm>
          <a:prstGeom prst="roundRect">
            <a:avLst>
              <a:gd name="adj" fmla="val 18000"/>
            </a:avLst>
          </a:prstGeom>
          <a:solidFill>
            <a:srgbClr val="2F6F7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713232" y="3346703"/>
            <a:ext cx="420624" cy="420624"/>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500" i="0" b="1">
                <a:solidFill>
                  <a:srgbClr val="2F6F7A"/>
                </a:solidFill>
                <a:latin typeface="Calibri"/>
              </a:rPr>
              <a:t>B</a:t>
            </a:r>
          </a:p>
        </p:txBody>
      </p:sp>
      <p:sp>
        <p:nvSpPr>
          <p:cNvPr id="14" name="TextBox 13"/>
          <p:cNvSpPr txBox="1"/>
          <p:nvPr/>
        </p:nvSpPr>
        <p:spPr>
          <a:xfrm>
            <a:off x="1371600" y="3282696"/>
            <a:ext cx="10088575" cy="548640"/>
          </a:xfrm>
          <a:prstGeom prst="rect">
            <a:avLst/>
          </a:prstGeom>
          <a:noFill/>
        </p:spPr>
        <p:txBody>
          <a:bodyPr wrap="square" anchor="ctr" lIns="0" rIns="0" tIns="0" bIns="0">
            <a:spAutoFit/>
          </a:bodyPr>
          <a:lstStyle/>
          <a:p>
            <a:r>
              <a:rPr sz="1900" i="0" b="1">
                <a:solidFill>
                  <a:srgbClr val="FFFFFF"/>
                </a:solidFill>
                <a:latin typeface="Calibri"/>
              </a:rPr>
              <a:t>Trials are too small and short to detect rare ADRs</a:t>
            </a:r>
          </a:p>
        </p:txBody>
      </p:sp>
      <p:sp>
        <p:nvSpPr>
          <p:cNvPr id="15" name="Rounded Rectangle 14"/>
          <p:cNvSpPr/>
          <p:nvPr/>
        </p:nvSpPr>
        <p:spPr>
          <a:xfrm>
            <a:off x="548640" y="3959352"/>
            <a:ext cx="11094415" cy="548640"/>
          </a:xfrm>
          <a:prstGeom prst="roundRect">
            <a:avLst>
              <a:gd name="adj" fmla="val 18000"/>
            </a:avLst>
          </a:prstGeom>
          <a:solidFill>
            <a:srgbClr val="F5F4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713232" y="4023360"/>
            <a:ext cx="420624" cy="420624"/>
          </a:xfrm>
          <a:prstGeom prst="ellipse">
            <a:avLst/>
          </a:prstGeom>
          <a:solidFill>
            <a:srgbClr val="E2E0D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500" i="0" b="1">
                <a:solidFill>
                  <a:srgbClr val="6E625B"/>
                </a:solidFill>
                <a:latin typeface="Calibri"/>
              </a:rPr>
              <a:t>C</a:t>
            </a:r>
          </a:p>
        </p:txBody>
      </p:sp>
      <p:sp>
        <p:nvSpPr>
          <p:cNvPr id="17" name="TextBox 16"/>
          <p:cNvSpPr txBox="1"/>
          <p:nvPr/>
        </p:nvSpPr>
        <p:spPr>
          <a:xfrm>
            <a:off x="1371600" y="3959352"/>
            <a:ext cx="10088575" cy="548640"/>
          </a:xfrm>
          <a:prstGeom prst="rect">
            <a:avLst/>
          </a:prstGeom>
          <a:noFill/>
        </p:spPr>
        <p:txBody>
          <a:bodyPr wrap="square" anchor="ctr" lIns="0" rIns="0" tIns="0" bIns="0">
            <a:spAutoFit/>
          </a:bodyPr>
          <a:lstStyle/>
          <a:p>
            <a:r>
              <a:rPr sz="1900" i="0" b="0">
                <a:solidFill>
                  <a:srgbClr val="6E625B"/>
                </a:solidFill>
                <a:latin typeface="Calibri"/>
              </a:rPr>
              <a:t>Trials never measure safety</a:t>
            </a:r>
          </a:p>
        </p:txBody>
      </p:sp>
      <p:sp>
        <p:nvSpPr>
          <p:cNvPr id="18" name="Rounded Rectangle 17"/>
          <p:cNvSpPr/>
          <p:nvPr/>
        </p:nvSpPr>
        <p:spPr>
          <a:xfrm>
            <a:off x="548640" y="4636008"/>
            <a:ext cx="11094415" cy="548640"/>
          </a:xfrm>
          <a:prstGeom prst="roundRect">
            <a:avLst>
              <a:gd name="adj" fmla="val 18000"/>
            </a:avLst>
          </a:prstGeom>
          <a:solidFill>
            <a:srgbClr val="F5F4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713232" y="4700016"/>
            <a:ext cx="420624" cy="420624"/>
          </a:xfrm>
          <a:prstGeom prst="ellipse">
            <a:avLst/>
          </a:prstGeom>
          <a:solidFill>
            <a:srgbClr val="E2E0D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500" i="0" b="1">
                <a:solidFill>
                  <a:srgbClr val="6E625B"/>
                </a:solidFill>
                <a:latin typeface="Calibri"/>
              </a:rPr>
              <a:t>D</a:t>
            </a:r>
          </a:p>
        </p:txBody>
      </p:sp>
      <p:sp>
        <p:nvSpPr>
          <p:cNvPr id="20" name="TextBox 19"/>
          <p:cNvSpPr txBox="1"/>
          <p:nvPr/>
        </p:nvSpPr>
        <p:spPr>
          <a:xfrm>
            <a:off x="1371600" y="4636008"/>
            <a:ext cx="10088575" cy="548640"/>
          </a:xfrm>
          <a:prstGeom prst="rect">
            <a:avLst/>
          </a:prstGeom>
          <a:noFill/>
        </p:spPr>
        <p:txBody>
          <a:bodyPr wrap="square" anchor="ctr" lIns="0" rIns="0" tIns="0" bIns="0">
            <a:spAutoFit/>
          </a:bodyPr>
          <a:lstStyle/>
          <a:p>
            <a:r>
              <a:rPr sz="1900" i="0" b="0">
                <a:solidFill>
                  <a:srgbClr val="6E625B"/>
                </a:solidFill>
                <a:latin typeface="Calibri"/>
              </a:rPr>
              <a:t>Marketing studies are cheaper</a:t>
            </a:r>
          </a:p>
        </p:txBody>
      </p:sp>
      <p:sp>
        <p:nvSpPr>
          <p:cNvPr id="21" name="TextBox 20"/>
          <p:cNvSpPr txBox="1"/>
          <p:nvPr/>
        </p:nvSpPr>
        <p:spPr>
          <a:xfrm>
            <a:off x="548640" y="5358384"/>
            <a:ext cx="11094415" cy="685800"/>
          </a:xfrm>
          <a:prstGeom prst="rect">
            <a:avLst/>
          </a:prstGeom>
          <a:noFill/>
        </p:spPr>
        <p:txBody>
          <a:bodyPr wrap="square" anchor="t" lIns="0" rIns="0" tIns="0" bIns="0">
            <a:spAutoFit/>
          </a:bodyPr>
          <a:lstStyle/>
          <a:p>
            <a:r>
              <a:rPr sz="1500" i="0" b="1">
                <a:solidFill>
                  <a:srgbClr val="2F6F7A"/>
                </a:solidFill>
                <a:latin typeface="Calibri"/>
              </a:rPr>
              <a:t>Why:  </a:t>
            </a:r>
            <a:r>
              <a:rPr sz="1500" i="0" b="0">
                <a:solidFill>
                  <a:srgbClr val="2B211C"/>
                </a:solidFill>
                <a:latin typeface="Calibri"/>
              </a:rPr>
              <a:t>Trials are too small and short to find rare reactions. A, C and D are false.</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Oval 1"/>
          <p:cNvSpPr/>
          <p:nvPr/>
        </p:nvSpPr>
        <p:spPr>
          <a:xfrm>
            <a:off x="548640" y="475488"/>
            <a:ext cx="658368" cy="658368"/>
          </a:xfrm>
          <a:prstGeom prst="ellipse">
            <a:avLst/>
          </a:prstGeom>
          <a:solidFill>
            <a:srgbClr val="2F6F7A"/>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800" i="0" b="1">
                <a:solidFill>
                  <a:srgbClr val="FFFFFF"/>
                </a:solidFill>
                <a:latin typeface="Cambria"/>
              </a:rPr>
              <a:t>09</a:t>
            </a:r>
          </a:p>
        </p:txBody>
      </p:sp>
      <p:sp>
        <p:nvSpPr>
          <p:cNvPr id="3" name="TextBox 2"/>
          <p:cNvSpPr txBox="1"/>
          <p:nvPr/>
        </p:nvSpPr>
        <p:spPr>
          <a:xfrm>
            <a:off x="1417319" y="438912"/>
            <a:ext cx="10180015" cy="292608"/>
          </a:xfrm>
          <a:prstGeom prst="rect">
            <a:avLst/>
          </a:prstGeom>
          <a:noFill/>
        </p:spPr>
        <p:txBody>
          <a:bodyPr wrap="square" anchor="t" lIns="0" rIns="0" tIns="0" bIns="0">
            <a:spAutoFit/>
          </a:bodyPr>
          <a:lstStyle/>
          <a:p>
            <a:r>
              <a:rPr sz="1200" i="0" b="1" spc="150">
                <a:solidFill>
                  <a:srgbClr val="2F6F7A"/>
                </a:solidFill>
                <a:latin typeface="Calibri"/>
              </a:rPr>
              <a:t>SECTION 9  ·  QUESTION 2 OF 5</a:t>
            </a:r>
          </a:p>
        </p:txBody>
      </p:sp>
      <p:sp>
        <p:nvSpPr>
          <p:cNvPr id="4" name="TextBox 3"/>
          <p:cNvSpPr txBox="1"/>
          <p:nvPr/>
        </p:nvSpPr>
        <p:spPr>
          <a:xfrm>
            <a:off x="1417319" y="676656"/>
            <a:ext cx="10180015" cy="640080"/>
          </a:xfrm>
          <a:prstGeom prst="rect">
            <a:avLst/>
          </a:prstGeom>
          <a:noFill/>
        </p:spPr>
        <p:txBody>
          <a:bodyPr wrap="square" anchor="t" lIns="0" rIns="0" tIns="0" bIns="0">
            <a:spAutoFit/>
          </a:bodyPr>
          <a:lstStyle/>
          <a:p>
            <a:r>
              <a:rPr sz="3200" i="0" b="1">
                <a:solidFill>
                  <a:srgbClr val="2B211C"/>
                </a:solidFill>
                <a:latin typeface="Cambria"/>
              </a:rPr>
              <a:t>Your turn</a:t>
            </a:r>
          </a:p>
        </p:txBody>
      </p:sp>
      <p:sp>
        <p:nvSpPr>
          <p:cNvPr id="5" name="TextBox 4"/>
          <p:cNvSpPr txBox="1"/>
          <p:nvPr/>
        </p:nvSpPr>
        <p:spPr>
          <a:xfrm>
            <a:off x="548640" y="6419088"/>
            <a:ext cx="8229600" cy="274320"/>
          </a:xfrm>
          <a:prstGeom prst="rect">
            <a:avLst/>
          </a:prstGeom>
          <a:noFill/>
        </p:spPr>
        <p:txBody>
          <a:bodyPr wrap="square" anchor="t" lIns="0" rIns="0" tIns="0" bIns="0">
            <a:spAutoFit/>
          </a:bodyPr>
          <a:lstStyle/>
          <a:p>
            <a:r>
              <a:rPr sz="1000" i="0" b="0">
                <a:solidFill>
                  <a:srgbClr val="6E625B"/>
                </a:solidFill>
                <a:latin typeface="Calibri"/>
              </a:rPr>
              <a:t>Drug Information  ·  Section 9  ·  Pharmacovigilance, ADR Reporting and Medication Errors</a:t>
            </a:r>
          </a:p>
        </p:txBody>
      </p:sp>
      <p:sp>
        <p:nvSpPr>
          <p:cNvPr id="6" name="TextBox 5"/>
          <p:cNvSpPr txBox="1"/>
          <p:nvPr/>
        </p:nvSpPr>
        <p:spPr>
          <a:xfrm>
            <a:off x="10424160" y="6419088"/>
            <a:ext cx="731520" cy="274320"/>
          </a:xfrm>
          <a:prstGeom prst="rect">
            <a:avLst/>
          </a:prstGeom>
          <a:noFill/>
        </p:spPr>
        <p:txBody>
          <a:bodyPr wrap="square" anchor="t" lIns="0" rIns="0" tIns="0" bIns="0">
            <a:spAutoFit/>
          </a:bodyPr>
          <a:lstStyle/>
          <a:p>
            <a:pPr algn="r"/>
            <a:r>
              <a:rPr sz="1000" i="0" b="1">
                <a:solidFill>
                  <a:srgbClr val="6E625B"/>
                </a:solidFill>
                <a:latin typeface="Calibri"/>
              </a:rPr>
              <a:t>15</a:t>
            </a:r>
          </a:p>
        </p:txBody>
      </p:sp>
      <p:pic>
        <p:nvPicPr>
          <p:cNvPr id="7" name="Picture 6" descr="faculty-of-pharmacy.png"/>
          <p:cNvPicPr>
            <a:picLocks noChangeAspect="1"/>
          </p:cNvPicPr>
          <p:nvPr/>
        </p:nvPicPr>
        <p:blipFill>
          <a:blip r:embed="rId3"/>
          <a:stretch>
            <a:fillRect/>
          </a:stretch>
        </p:blipFill>
        <p:spPr>
          <a:xfrm>
            <a:off x="11247120" y="6309360"/>
            <a:ext cx="384048" cy="384048"/>
          </a:xfrm>
          <a:prstGeom prst="rect">
            <a:avLst/>
          </a:prstGeom>
        </p:spPr>
      </p:pic>
      <p:sp>
        <p:nvSpPr>
          <p:cNvPr id="8" name="TextBox 7"/>
          <p:cNvSpPr txBox="1"/>
          <p:nvPr/>
        </p:nvSpPr>
        <p:spPr>
          <a:xfrm>
            <a:off x="548640" y="1554480"/>
            <a:ext cx="11094415" cy="1005840"/>
          </a:xfrm>
          <a:prstGeom prst="rect">
            <a:avLst/>
          </a:prstGeom>
          <a:noFill/>
        </p:spPr>
        <p:txBody>
          <a:bodyPr wrap="square" anchor="t" lIns="0" rIns="0" tIns="0" bIns="0">
            <a:spAutoFit/>
          </a:bodyPr>
          <a:lstStyle/>
          <a:p>
            <a:r>
              <a:rPr sz="2400" i="0" b="1">
                <a:solidFill>
                  <a:srgbClr val="2B211C"/>
                </a:solidFill>
                <a:latin typeface="Calibri"/>
              </a:rPr>
              <a:t>A pharmacist suspects, but is not sure, that a drug caused a rash. What should she do?</a:t>
            </a:r>
          </a:p>
        </p:txBody>
      </p:sp>
      <p:sp>
        <p:nvSpPr>
          <p:cNvPr id="9" name="Rounded Rectangle 8"/>
          <p:cNvSpPr/>
          <p:nvPr/>
        </p:nvSpPr>
        <p:spPr>
          <a:xfrm>
            <a:off x="548640" y="2697480"/>
            <a:ext cx="11094415" cy="640080"/>
          </a:xfrm>
          <a:prstGeom prst="roundRect">
            <a:avLst>
              <a:gd name="adj" fmla="val 18000"/>
            </a:avLst>
          </a:prstGeom>
          <a:solidFill>
            <a:srgbClr val="FAF4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713232" y="2807208"/>
            <a:ext cx="420624" cy="420624"/>
          </a:xfrm>
          <a:prstGeom prst="ellipse">
            <a:avLst/>
          </a:prstGeom>
          <a:solidFill>
            <a:srgbClr val="A4472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500" i="0" b="1">
                <a:solidFill>
                  <a:srgbClr val="FFFFFF"/>
                </a:solidFill>
                <a:latin typeface="Calibri"/>
              </a:rPr>
              <a:t>A</a:t>
            </a:r>
          </a:p>
        </p:txBody>
      </p:sp>
      <p:sp>
        <p:nvSpPr>
          <p:cNvPr id="11" name="TextBox 10"/>
          <p:cNvSpPr txBox="1"/>
          <p:nvPr/>
        </p:nvSpPr>
        <p:spPr>
          <a:xfrm>
            <a:off x="1371600" y="2697480"/>
            <a:ext cx="10088575" cy="640080"/>
          </a:xfrm>
          <a:prstGeom prst="rect">
            <a:avLst/>
          </a:prstGeom>
          <a:noFill/>
        </p:spPr>
        <p:txBody>
          <a:bodyPr wrap="square" anchor="ctr" lIns="0" rIns="0" tIns="0" bIns="0">
            <a:spAutoFit/>
          </a:bodyPr>
          <a:lstStyle/>
          <a:p>
            <a:r>
              <a:rPr sz="1900" i="0" b="0">
                <a:solidFill>
                  <a:srgbClr val="2B211C"/>
                </a:solidFill>
                <a:latin typeface="Calibri"/>
              </a:rPr>
              <a:t>Wait until she is certain</a:t>
            </a:r>
          </a:p>
        </p:txBody>
      </p:sp>
      <p:sp>
        <p:nvSpPr>
          <p:cNvPr id="12" name="Rounded Rectangle 11"/>
          <p:cNvSpPr/>
          <p:nvPr/>
        </p:nvSpPr>
        <p:spPr>
          <a:xfrm>
            <a:off x="548640" y="3465576"/>
            <a:ext cx="11094415" cy="640080"/>
          </a:xfrm>
          <a:prstGeom prst="roundRect">
            <a:avLst>
              <a:gd name="adj" fmla="val 18000"/>
            </a:avLst>
          </a:prstGeom>
          <a:solidFill>
            <a:srgbClr val="FAF4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713232" y="3575304"/>
            <a:ext cx="420624" cy="420624"/>
          </a:xfrm>
          <a:prstGeom prst="ellipse">
            <a:avLst/>
          </a:prstGeom>
          <a:solidFill>
            <a:srgbClr val="A4472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500" i="0" b="1">
                <a:solidFill>
                  <a:srgbClr val="FFFFFF"/>
                </a:solidFill>
                <a:latin typeface="Calibri"/>
              </a:rPr>
              <a:t>B</a:t>
            </a:r>
          </a:p>
        </p:txBody>
      </p:sp>
      <p:sp>
        <p:nvSpPr>
          <p:cNvPr id="14" name="TextBox 13"/>
          <p:cNvSpPr txBox="1"/>
          <p:nvPr/>
        </p:nvSpPr>
        <p:spPr>
          <a:xfrm>
            <a:off x="1371600" y="3465576"/>
            <a:ext cx="10088575" cy="640080"/>
          </a:xfrm>
          <a:prstGeom prst="rect">
            <a:avLst/>
          </a:prstGeom>
          <a:noFill/>
        </p:spPr>
        <p:txBody>
          <a:bodyPr wrap="square" anchor="ctr" lIns="0" rIns="0" tIns="0" bIns="0">
            <a:spAutoFit/>
          </a:bodyPr>
          <a:lstStyle/>
          <a:p>
            <a:r>
              <a:rPr sz="1900" i="0" b="0">
                <a:solidFill>
                  <a:srgbClr val="2B211C"/>
                </a:solidFill>
                <a:latin typeface="Calibri"/>
              </a:rPr>
              <a:t>Report only if the patient is admitted</a:t>
            </a:r>
          </a:p>
        </p:txBody>
      </p:sp>
      <p:sp>
        <p:nvSpPr>
          <p:cNvPr id="15" name="Rounded Rectangle 14"/>
          <p:cNvSpPr/>
          <p:nvPr/>
        </p:nvSpPr>
        <p:spPr>
          <a:xfrm>
            <a:off x="548640" y="4233672"/>
            <a:ext cx="11094415" cy="640080"/>
          </a:xfrm>
          <a:prstGeom prst="roundRect">
            <a:avLst>
              <a:gd name="adj" fmla="val 18000"/>
            </a:avLst>
          </a:prstGeom>
          <a:solidFill>
            <a:srgbClr val="FAF4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713232" y="4343400"/>
            <a:ext cx="420624" cy="420624"/>
          </a:xfrm>
          <a:prstGeom prst="ellipse">
            <a:avLst/>
          </a:prstGeom>
          <a:solidFill>
            <a:srgbClr val="A4472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500" i="0" b="1">
                <a:solidFill>
                  <a:srgbClr val="FFFFFF"/>
                </a:solidFill>
                <a:latin typeface="Calibri"/>
              </a:rPr>
              <a:t>C</a:t>
            </a:r>
          </a:p>
        </p:txBody>
      </p:sp>
      <p:sp>
        <p:nvSpPr>
          <p:cNvPr id="17" name="TextBox 16"/>
          <p:cNvSpPr txBox="1"/>
          <p:nvPr/>
        </p:nvSpPr>
        <p:spPr>
          <a:xfrm>
            <a:off x="1371600" y="4233672"/>
            <a:ext cx="10088575" cy="640080"/>
          </a:xfrm>
          <a:prstGeom prst="rect">
            <a:avLst/>
          </a:prstGeom>
          <a:noFill/>
        </p:spPr>
        <p:txBody>
          <a:bodyPr wrap="square" anchor="ctr" lIns="0" rIns="0" tIns="0" bIns="0">
            <a:spAutoFit/>
          </a:bodyPr>
          <a:lstStyle/>
          <a:p>
            <a:r>
              <a:rPr sz="1900" i="0" b="0">
                <a:solidFill>
                  <a:srgbClr val="2B211C"/>
                </a:solidFill>
                <a:latin typeface="Calibri"/>
              </a:rPr>
              <a:t>Tell the patient to stop all drugs</a:t>
            </a:r>
          </a:p>
        </p:txBody>
      </p:sp>
      <p:sp>
        <p:nvSpPr>
          <p:cNvPr id="18" name="Rounded Rectangle 17"/>
          <p:cNvSpPr/>
          <p:nvPr/>
        </p:nvSpPr>
        <p:spPr>
          <a:xfrm>
            <a:off x="548640" y="5001768"/>
            <a:ext cx="11094415" cy="640080"/>
          </a:xfrm>
          <a:prstGeom prst="roundRect">
            <a:avLst>
              <a:gd name="adj" fmla="val 18000"/>
            </a:avLst>
          </a:prstGeom>
          <a:solidFill>
            <a:srgbClr val="FAF4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713232" y="5111496"/>
            <a:ext cx="420624" cy="420624"/>
          </a:xfrm>
          <a:prstGeom prst="ellipse">
            <a:avLst/>
          </a:prstGeom>
          <a:solidFill>
            <a:srgbClr val="A4472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500" i="0" b="1">
                <a:solidFill>
                  <a:srgbClr val="FFFFFF"/>
                </a:solidFill>
                <a:latin typeface="Calibri"/>
              </a:rPr>
              <a:t>D</a:t>
            </a:r>
          </a:p>
        </p:txBody>
      </p:sp>
      <p:sp>
        <p:nvSpPr>
          <p:cNvPr id="20" name="TextBox 19"/>
          <p:cNvSpPr txBox="1"/>
          <p:nvPr/>
        </p:nvSpPr>
        <p:spPr>
          <a:xfrm>
            <a:off x="1371600" y="5001768"/>
            <a:ext cx="10088575" cy="640080"/>
          </a:xfrm>
          <a:prstGeom prst="rect">
            <a:avLst/>
          </a:prstGeom>
          <a:noFill/>
        </p:spPr>
        <p:txBody>
          <a:bodyPr wrap="square" anchor="ctr" lIns="0" rIns="0" tIns="0" bIns="0">
            <a:spAutoFit/>
          </a:bodyPr>
          <a:lstStyle/>
          <a:p>
            <a:r>
              <a:rPr sz="1900" i="0" b="0">
                <a:solidFill>
                  <a:srgbClr val="2B211C"/>
                </a:solidFill>
                <a:latin typeface="Calibri"/>
              </a:rPr>
              <a:t>Report it to the EPVC</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Oval 1"/>
          <p:cNvSpPr/>
          <p:nvPr/>
        </p:nvSpPr>
        <p:spPr>
          <a:xfrm>
            <a:off x="548640" y="475488"/>
            <a:ext cx="658368" cy="658368"/>
          </a:xfrm>
          <a:prstGeom prst="ellipse">
            <a:avLst/>
          </a:prstGeom>
          <a:solidFill>
            <a:srgbClr val="2F6F7A"/>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800" i="0" b="1">
                <a:solidFill>
                  <a:srgbClr val="FFFFFF"/>
                </a:solidFill>
                <a:latin typeface="Cambria"/>
              </a:rPr>
              <a:t>09</a:t>
            </a:r>
          </a:p>
        </p:txBody>
      </p:sp>
      <p:sp>
        <p:nvSpPr>
          <p:cNvPr id="3" name="TextBox 2"/>
          <p:cNvSpPr txBox="1"/>
          <p:nvPr/>
        </p:nvSpPr>
        <p:spPr>
          <a:xfrm>
            <a:off x="1417319" y="438912"/>
            <a:ext cx="10180015" cy="292608"/>
          </a:xfrm>
          <a:prstGeom prst="rect">
            <a:avLst/>
          </a:prstGeom>
          <a:noFill/>
        </p:spPr>
        <p:txBody>
          <a:bodyPr wrap="square" anchor="t" lIns="0" rIns="0" tIns="0" bIns="0">
            <a:spAutoFit/>
          </a:bodyPr>
          <a:lstStyle/>
          <a:p>
            <a:r>
              <a:rPr sz="1200" i="0" b="1" spc="150">
                <a:solidFill>
                  <a:srgbClr val="2F6F7A"/>
                </a:solidFill>
                <a:latin typeface="Calibri"/>
              </a:rPr>
              <a:t>SECTION 9  ·  QUESTION 2 OF 5  ·  ANSWER</a:t>
            </a:r>
          </a:p>
        </p:txBody>
      </p:sp>
      <p:sp>
        <p:nvSpPr>
          <p:cNvPr id="4" name="TextBox 3"/>
          <p:cNvSpPr txBox="1"/>
          <p:nvPr/>
        </p:nvSpPr>
        <p:spPr>
          <a:xfrm>
            <a:off x="1417319" y="676656"/>
            <a:ext cx="10180015" cy="640080"/>
          </a:xfrm>
          <a:prstGeom prst="rect">
            <a:avLst/>
          </a:prstGeom>
          <a:noFill/>
        </p:spPr>
        <p:txBody>
          <a:bodyPr wrap="square" anchor="t" lIns="0" rIns="0" tIns="0" bIns="0">
            <a:spAutoFit/>
          </a:bodyPr>
          <a:lstStyle/>
          <a:p>
            <a:r>
              <a:rPr sz="3200" i="0" b="1">
                <a:solidFill>
                  <a:srgbClr val="2B211C"/>
                </a:solidFill>
                <a:latin typeface="Cambria"/>
              </a:rPr>
              <a:t>Check your answer</a:t>
            </a:r>
          </a:p>
        </p:txBody>
      </p:sp>
      <p:sp>
        <p:nvSpPr>
          <p:cNvPr id="5" name="TextBox 4"/>
          <p:cNvSpPr txBox="1"/>
          <p:nvPr/>
        </p:nvSpPr>
        <p:spPr>
          <a:xfrm>
            <a:off x="548640" y="6419088"/>
            <a:ext cx="8229600" cy="274320"/>
          </a:xfrm>
          <a:prstGeom prst="rect">
            <a:avLst/>
          </a:prstGeom>
          <a:noFill/>
        </p:spPr>
        <p:txBody>
          <a:bodyPr wrap="square" anchor="t" lIns="0" rIns="0" tIns="0" bIns="0">
            <a:spAutoFit/>
          </a:bodyPr>
          <a:lstStyle/>
          <a:p>
            <a:r>
              <a:rPr sz="1000" i="0" b="0">
                <a:solidFill>
                  <a:srgbClr val="6E625B"/>
                </a:solidFill>
                <a:latin typeface="Calibri"/>
              </a:rPr>
              <a:t>Drug Information  ·  Section 9  ·  Pharmacovigilance, ADR Reporting and Medication Errors</a:t>
            </a:r>
          </a:p>
        </p:txBody>
      </p:sp>
      <p:sp>
        <p:nvSpPr>
          <p:cNvPr id="6" name="TextBox 5"/>
          <p:cNvSpPr txBox="1"/>
          <p:nvPr/>
        </p:nvSpPr>
        <p:spPr>
          <a:xfrm>
            <a:off x="10424160" y="6419088"/>
            <a:ext cx="731520" cy="274320"/>
          </a:xfrm>
          <a:prstGeom prst="rect">
            <a:avLst/>
          </a:prstGeom>
          <a:noFill/>
        </p:spPr>
        <p:txBody>
          <a:bodyPr wrap="square" anchor="t" lIns="0" rIns="0" tIns="0" bIns="0">
            <a:spAutoFit/>
          </a:bodyPr>
          <a:lstStyle/>
          <a:p>
            <a:pPr algn="r"/>
            <a:r>
              <a:rPr sz="1000" i="0" b="1">
                <a:solidFill>
                  <a:srgbClr val="6E625B"/>
                </a:solidFill>
                <a:latin typeface="Calibri"/>
              </a:rPr>
              <a:t>16</a:t>
            </a:r>
          </a:p>
        </p:txBody>
      </p:sp>
      <p:pic>
        <p:nvPicPr>
          <p:cNvPr id="7" name="Picture 6" descr="faculty-of-pharmacy.png"/>
          <p:cNvPicPr>
            <a:picLocks noChangeAspect="1"/>
          </p:cNvPicPr>
          <p:nvPr/>
        </p:nvPicPr>
        <p:blipFill>
          <a:blip r:embed="rId2"/>
          <a:stretch>
            <a:fillRect/>
          </a:stretch>
        </p:blipFill>
        <p:spPr>
          <a:xfrm>
            <a:off x="11247120" y="6309360"/>
            <a:ext cx="384048" cy="384048"/>
          </a:xfrm>
          <a:prstGeom prst="rect">
            <a:avLst/>
          </a:prstGeom>
        </p:spPr>
      </p:pic>
      <p:sp>
        <p:nvSpPr>
          <p:cNvPr id="8" name="TextBox 7"/>
          <p:cNvSpPr txBox="1"/>
          <p:nvPr/>
        </p:nvSpPr>
        <p:spPr>
          <a:xfrm>
            <a:off x="548640" y="1554480"/>
            <a:ext cx="11094415" cy="1005840"/>
          </a:xfrm>
          <a:prstGeom prst="rect">
            <a:avLst/>
          </a:prstGeom>
          <a:noFill/>
        </p:spPr>
        <p:txBody>
          <a:bodyPr wrap="square" anchor="t" lIns="0" rIns="0" tIns="0" bIns="0">
            <a:spAutoFit/>
          </a:bodyPr>
          <a:lstStyle/>
          <a:p>
            <a:r>
              <a:rPr sz="2400" i="0" b="1">
                <a:solidFill>
                  <a:srgbClr val="2B211C"/>
                </a:solidFill>
                <a:latin typeface="Calibri"/>
              </a:rPr>
              <a:t>A pharmacist suspects, but is not sure, that a drug caused a rash. What should she do?</a:t>
            </a:r>
          </a:p>
        </p:txBody>
      </p:sp>
      <p:sp>
        <p:nvSpPr>
          <p:cNvPr id="9" name="Rounded Rectangle 8"/>
          <p:cNvSpPr/>
          <p:nvPr/>
        </p:nvSpPr>
        <p:spPr>
          <a:xfrm>
            <a:off x="548640" y="2606040"/>
            <a:ext cx="11094415" cy="548640"/>
          </a:xfrm>
          <a:prstGeom prst="roundRect">
            <a:avLst>
              <a:gd name="adj" fmla="val 18000"/>
            </a:avLst>
          </a:prstGeom>
          <a:solidFill>
            <a:srgbClr val="F5F4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713232" y="2670048"/>
            <a:ext cx="420624" cy="420624"/>
          </a:xfrm>
          <a:prstGeom prst="ellipse">
            <a:avLst/>
          </a:prstGeom>
          <a:solidFill>
            <a:srgbClr val="E2E0D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500" i="0" b="1">
                <a:solidFill>
                  <a:srgbClr val="6E625B"/>
                </a:solidFill>
                <a:latin typeface="Calibri"/>
              </a:rPr>
              <a:t>A</a:t>
            </a:r>
          </a:p>
        </p:txBody>
      </p:sp>
      <p:sp>
        <p:nvSpPr>
          <p:cNvPr id="11" name="TextBox 10"/>
          <p:cNvSpPr txBox="1"/>
          <p:nvPr/>
        </p:nvSpPr>
        <p:spPr>
          <a:xfrm>
            <a:off x="1371600" y="2606040"/>
            <a:ext cx="10088575" cy="548640"/>
          </a:xfrm>
          <a:prstGeom prst="rect">
            <a:avLst/>
          </a:prstGeom>
          <a:noFill/>
        </p:spPr>
        <p:txBody>
          <a:bodyPr wrap="square" anchor="ctr" lIns="0" rIns="0" tIns="0" bIns="0">
            <a:spAutoFit/>
          </a:bodyPr>
          <a:lstStyle/>
          <a:p>
            <a:r>
              <a:rPr sz="1900" i="0" b="0">
                <a:solidFill>
                  <a:srgbClr val="6E625B"/>
                </a:solidFill>
                <a:latin typeface="Calibri"/>
              </a:rPr>
              <a:t>Wait until she is certain</a:t>
            </a:r>
          </a:p>
        </p:txBody>
      </p:sp>
      <p:sp>
        <p:nvSpPr>
          <p:cNvPr id="12" name="Rounded Rectangle 11"/>
          <p:cNvSpPr/>
          <p:nvPr/>
        </p:nvSpPr>
        <p:spPr>
          <a:xfrm>
            <a:off x="548640" y="3282696"/>
            <a:ext cx="11094415" cy="548640"/>
          </a:xfrm>
          <a:prstGeom prst="roundRect">
            <a:avLst>
              <a:gd name="adj" fmla="val 18000"/>
            </a:avLst>
          </a:prstGeom>
          <a:solidFill>
            <a:srgbClr val="F5F4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713232" y="3346703"/>
            <a:ext cx="420624" cy="420624"/>
          </a:xfrm>
          <a:prstGeom prst="ellipse">
            <a:avLst/>
          </a:prstGeom>
          <a:solidFill>
            <a:srgbClr val="E2E0D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500" i="0" b="1">
                <a:solidFill>
                  <a:srgbClr val="6E625B"/>
                </a:solidFill>
                <a:latin typeface="Calibri"/>
              </a:rPr>
              <a:t>B</a:t>
            </a:r>
          </a:p>
        </p:txBody>
      </p:sp>
      <p:sp>
        <p:nvSpPr>
          <p:cNvPr id="14" name="TextBox 13"/>
          <p:cNvSpPr txBox="1"/>
          <p:nvPr/>
        </p:nvSpPr>
        <p:spPr>
          <a:xfrm>
            <a:off x="1371600" y="3282696"/>
            <a:ext cx="10088575" cy="548640"/>
          </a:xfrm>
          <a:prstGeom prst="rect">
            <a:avLst/>
          </a:prstGeom>
          <a:noFill/>
        </p:spPr>
        <p:txBody>
          <a:bodyPr wrap="square" anchor="ctr" lIns="0" rIns="0" tIns="0" bIns="0">
            <a:spAutoFit/>
          </a:bodyPr>
          <a:lstStyle/>
          <a:p>
            <a:r>
              <a:rPr sz="1900" i="0" b="0">
                <a:solidFill>
                  <a:srgbClr val="6E625B"/>
                </a:solidFill>
                <a:latin typeface="Calibri"/>
              </a:rPr>
              <a:t>Report only if the patient is admitted</a:t>
            </a:r>
          </a:p>
        </p:txBody>
      </p:sp>
      <p:sp>
        <p:nvSpPr>
          <p:cNvPr id="15" name="Rounded Rectangle 14"/>
          <p:cNvSpPr/>
          <p:nvPr/>
        </p:nvSpPr>
        <p:spPr>
          <a:xfrm>
            <a:off x="548640" y="3959352"/>
            <a:ext cx="11094415" cy="548640"/>
          </a:xfrm>
          <a:prstGeom prst="roundRect">
            <a:avLst>
              <a:gd name="adj" fmla="val 18000"/>
            </a:avLst>
          </a:prstGeom>
          <a:solidFill>
            <a:srgbClr val="F5F4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713232" y="4023360"/>
            <a:ext cx="420624" cy="420624"/>
          </a:xfrm>
          <a:prstGeom prst="ellipse">
            <a:avLst/>
          </a:prstGeom>
          <a:solidFill>
            <a:srgbClr val="E2E0D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500" i="0" b="1">
                <a:solidFill>
                  <a:srgbClr val="6E625B"/>
                </a:solidFill>
                <a:latin typeface="Calibri"/>
              </a:rPr>
              <a:t>C</a:t>
            </a:r>
          </a:p>
        </p:txBody>
      </p:sp>
      <p:sp>
        <p:nvSpPr>
          <p:cNvPr id="17" name="TextBox 16"/>
          <p:cNvSpPr txBox="1"/>
          <p:nvPr/>
        </p:nvSpPr>
        <p:spPr>
          <a:xfrm>
            <a:off x="1371600" y="3959352"/>
            <a:ext cx="10088575" cy="548640"/>
          </a:xfrm>
          <a:prstGeom prst="rect">
            <a:avLst/>
          </a:prstGeom>
          <a:noFill/>
        </p:spPr>
        <p:txBody>
          <a:bodyPr wrap="square" anchor="ctr" lIns="0" rIns="0" tIns="0" bIns="0">
            <a:spAutoFit/>
          </a:bodyPr>
          <a:lstStyle/>
          <a:p>
            <a:r>
              <a:rPr sz="1900" i="0" b="0">
                <a:solidFill>
                  <a:srgbClr val="6E625B"/>
                </a:solidFill>
                <a:latin typeface="Calibri"/>
              </a:rPr>
              <a:t>Tell the patient to stop all drugs</a:t>
            </a:r>
          </a:p>
        </p:txBody>
      </p:sp>
      <p:sp>
        <p:nvSpPr>
          <p:cNvPr id="18" name="Rounded Rectangle 17"/>
          <p:cNvSpPr/>
          <p:nvPr/>
        </p:nvSpPr>
        <p:spPr>
          <a:xfrm>
            <a:off x="548640" y="4636008"/>
            <a:ext cx="11094415" cy="548640"/>
          </a:xfrm>
          <a:prstGeom prst="roundRect">
            <a:avLst>
              <a:gd name="adj" fmla="val 18000"/>
            </a:avLst>
          </a:prstGeom>
          <a:solidFill>
            <a:srgbClr val="2F6F7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713232" y="4700016"/>
            <a:ext cx="420624" cy="420624"/>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500" i="0" b="1">
                <a:solidFill>
                  <a:srgbClr val="2F6F7A"/>
                </a:solidFill>
                <a:latin typeface="Calibri"/>
              </a:rPr>
              <a:t>D</a:t>
            </a:r>
          </a:p>
        </p:txBody>
      </p:sp>
      <p:sp>
        <p:nvSpPr>
          <p:cNvPr id="20" name="TextBox 19"/>
          <p:cNvSpPr txBox="1"/>
          <p:nvPr/>
        </p:nvSpPr>
        <p:spPr>
          <a:xfrm>
            <a:off x="1371600" y="4636008"/>
            <a:ext cx="10088575" cy="548640"/>
          </a:xfrm>
          <a:prstGeom prst="rect">
            <a:avLst/>
          </a:prstGeom>
          <a:noFill/>
        </p:spPr>
        <p:txBody>
          <a:bodyPr wrap="square" anchor="ctr" lIns="0" rIns="0" tIns="0" bIns="0">
            <a:spAutoFit/>
          </a:bodyPr>
          <a:lstStyle/>
          <a:p>
            <a:r>
              <a:rPr sz="1900" i="0" b="1">
                <a:solidFill>
                  <a:srgbClr val="FFFFFF"/>
                </a:solidFill>
                <a:latin typeface="Calibri"/>
              </a:rPr>
              <a:t>Report it to the EPVC</a:t>
            </a:r>
          </a:p>
        </p:txBody>
      </p:sp>
      <p:sp>
        <p:nvSpPr>
          <p:cNvPr id="21" name="TextBox 20"/>
          <p:cNvSpPr txBox="1"/>
          <p:nvPr/>
        </p:nvSpPr>
        <p:spPr>
          <a:xfrm>
            <a:off x="548640" y="5358384"/>
            <a:ext cx="11094415" cy="685800"/>
          </a:xfrm>
          <a:prstGeom prst="rect">
            <a:avLst/>
          </a:prstGeom>
          <a:noFill/>
        </p:spPr>
        <p:txBody>
          <a:bodyPr wrap="square" anchor="t" lIns="0" rIns="0" tIns="0" bIns="0">
            <a:spAutoFit/>
          </a:bodyPr>
          <a:lstStyle/>
          <a:p>
            <a:r>
              <a:rPr sz="1500" i="0" b="1">
                <a:solidFill>
                  <a:srgbClr val="2F6F7A"/>
                </a:solidFill>
                <a:latin typeface="Calibri"/>
              </a:rPr>
              <a:t>Why:  </a:t>
            </a:r>
            <a:r>
              <a:rPr sz="1500" i="0" b="0">
                <a:solidFill>
                  <a:srgbClr val="2B211C"/>
                </a:solidFill>
                <a:latin typeface="Calibri"/>
              </a:rPr>
              <a:t>Suspicion is enough to report. A and B delay safety signals; C is unsafe advice.</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Oval 1"/>
          <p:cNvSpPr/>
          <p:nvPr/>
        </p:nvSpPr>
        <p:spPr>
          <a:xfrm>
            <a:off x="548640" y="475488"/>
            <a:ext cx="658368" cy="658368"/>
          </a:xfrm>
          <a:prstGeom prst="ellipse">
            <a:avLst/>
          </a:prstGeom>
          <a:solidFill>
            <a:srgbClr val="2F6F7A"/>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800" i="0" b="1">
                <a:solidFill>
                  <a:srgbClr val="FFFFFF"/>
                </a:solidFill>
                <a:latin typeface="Cambria"/>
              </a:rPr>
              <a:t>09</a:t>
            </a:r>
          </a:p>
        </p:txBody>
      </p:sp>
      <p:sp>
        <p:nvSpPr>
          <p:cNvPr id="3" name="TextBox 2"/>
          <p:cNvSpPr txBox="1"/>
          <p:nvPr/>
        </p:nvSpPr>
        <p:spPr>
          <a:xfrm>
            <a:off x="1417319" y="438912"/>
            <a:ext cx="10180015" cy="292608"/>
          </a:xfrm>
          <a:prstGeom prst="rect">
            <a:avLst/>
          </a:prstGeom>
          <a:noFill/>
        </p:spPr>
        <p:txBody>
          <a:bodyPr wrap="square" anchor="t" lIns="0" rIns="0" tIns="0" bIns="0">
            <a:spAutoFit/>
          </a:bodyPr>
          <a:lstStyle/>
          <a:p>
            <a:r>
              <a:rPr sz="1200" i="0" b="1" spc="150">
                <a:solidFill>
                  <a:srgbClr val="2F6F7A"/>
                </a:solidFill>
                <a:latin typeface="Calibri"/>
              </a:rPr>
              <a:t>SECTION 9  ·  QUESTION 3 OF 5</a:t>
            </a:r>
          </a:p>
        </p:txBody>
      </p:sp>
      <p:sp>
        <p:nvSpPr>
          <p:cNvPr id="4" name="TextBox 3"/>
          <p:cNvSpPr txBox="1"/>
          <p:nvPr/>
        </p:nvSpPr>
        <p:spPr>
          <a:xfrm>
            <a:off x="1417319" y="676656"/>
            <a:ext cx="10180015" cy="640080"/>
          </a:xfrm>
          <a:prstGeom prst="rect">
            <a:avLst/>
          </a:prstGeom>
          <a:noFill/>
        </p:spPr>
        <p:txBody>
          <a:bodyPr wrap="square" anchor="t" lIns="0" rIns="0" tIns="0" bIns="0">
            <a:spAutoFit/>
          </a:bodyPr>
          <a:lstStyle/>
          <a:p>
            <a:r>
              <a:rPr sz="3200" i="0" b="1">
                <a:solidFill>
                  <a:srgbClr val="2B211C"/>
                </a:solidFill>
                <a:latin typeface="Cambria"/>
              </a:rPr>
              <a:t>Your turn</a:t>
            </a:r>
          </a:p>
        </p:txBody>
      </p:sp>
      <p:sp>
        <p:nvSpPr>
          <p:cNvPr id="5" name="TextBox 4"/>
          <p:cNvSpPr txBox="1"/>
          <p:nvPr/>
        </p:nvSpPr>
        <p:spPr>
          <a:xfrm>
            <a:off x="548640" y="6419088"/>
            <a:ext cx="8229600" cy="274320"/>
          </a:xfrm>
          <a:prstGeom prst="rect">
            <a:avLst/>
          </a:prstGeom>
          <a:noFill/>
        </p:spPr>
        <p:txBody>
          <a:bodyPr wrap="square" anchor="t" lIns="0" rIns="0" tIns="0" bIns="0">
            <a:spAutoFit/>
          </a:bodyPr>
          <a:lstStyle/>
          <a:p>
            <a:r>
              <a:rPr sz="1000" i="0" b="0">
                <a:solidFill>
                  <a:srgbClr val="6E625B"/>
                </a:solidFill>
                <a:latin typeface="Calibri"/>
              </a:rPr>
              <a:t>Drug Information  ·  Section 9  ·  Pharmacovigilance, ADR Reporting and Medication Errors</a:t>
            </a:r>
          </a:p>
        </p:txBody>
      </p:sp>
      <p:sp>
        <p:nvSpPr>
          <p:cNvPr id="6" name="TextBox 5"/>
          <p:cNvSpPr txBox="1"/>
          <p:nvPr/>
        </p:nvSpPr>
        <p:spPr>
          <a:xfrm>
            <a:off x="10424160" y="6419088"/>
            <a:ext cx="731520" cy="274320"/>
          </a:xfrm>
          <a:prstGeom prst="rect">
            <a:avLst/>
          </a:prstGeom>
          <a:noFill/>
        </p:spPr>
        <p:txBody>
          <a:bodyPr wrap="square" anchor="t" lIns="0" rIns="0" tIns="0" bIns="0">
            <a:spAutoFit/>
          </a:bodyPr>
          <a:lstStyle/>
          <a:p>
            <a:pPr algn="r"/>
            <a:r>
              <a:rPr sz="1000" i="0" b="1">
                <a:solidFill>
                  <a:srgbClr val="6E625B"/>
                </a:solidFill>
                <a:latin typeface="Calibri"/>
              </a:rPr>
              <a:t>17</a:t>
            </a:r>
          </a:p>
        </p:txBody>
      </p:sp>
      <p:pic>
        <p:nvPicPr>
          <p:cNvPr id="7" name="Picture 6" descr="faculty-of-pharmacy.png"/>
          <p:cNvPicPr>
            <a:picLocks noChangeAspect="1"/>
          </p:cNvPicPr>
          <p:nvPr/>
        </p:nvPicPr>
        <p:blipFill>
          <a:blip r:embed="rId3"/>
          <a:stretch>
            <a:fillRect/>
          </a:stretch>
        </p:blipFill>
        <p:spPr>
          <a:xfrm>
            <a:off x="11247120" y="6309360"/>
            <a:ext cx="384048" cy="384048"/>
          </a:xfrm>
          <a:prstGeom prst="rect">
            <a:avLst/>
          </a:prstGeom>
        </p:spPr>
      </p:pic>
      <p:sp>
        <p:nvSpPr>
          <p:cNvPr id="8" name="TextBox 7"/>
          <p:cNvSpPr txBox="1"/>
          <p:nvPr/>
        </p:nvSpPr>
        <p:spPr>
          <a:xfrm>
            <a:off x="548640" y="1554480"/>
            <a:ext cx="11094415" cy="1005840"/>
          </a:xfrm>
          <a:prstGeom prst="rect">
            <a:avLst/>
          </a:prstGeom>
          <a:noFill/>
        </p:spPr>
        <p:txBody>
          <a:bodyPr wrap="square" anchor="t" lIns="0" rIns="0" tIns="0" bIns="0">
            <a:spAutoFit/>
          </a:bodyPr>
          <a:lstStyle/>
          <a:p>
            <a:r>
              <a:rPr sz="2400" i="0" b="1">
                <a:solidFill>
                  <a:srgbClr val="2B211C"/>
                </a:solidFill>
                <a:latin typeface="Calibri"/>
              </a:rPr>
              <a:t>Which is a role of the Drug and Therapeutics Committee?</a:t>
            </a:r>
          </a:p>
        </p:txBody>
      </p:sp>
      <p:sp>
        <p:nvSpPr>
          <p:cNvPr id="9" name="Rounded Rectangle 8"/>
          <p:cNvSpPr/>
          <p:nvPr/>
        </p:nvSpPr>
        <p:spPr>
          <a:xfrm>
            <a:off x="548640" y="2697480"/>
            <a:ext cx="11094415" cy="640080"/>
          </a:xfrm>
          <a:prstGeom prst="roundRect">
            <a:avLst>
              <a:gd name="adj" fmla="val 18000"/>
            </a:avLst>
          </a:prstGeom>
          <a:solidFill>
            <a:srgbClr val="FAF4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713232" y="2807208"/>
            <a:ext cx="420624" cy="420624"/>
          </a:xfrm>
          <a:prstGeom prst="ellipse">
            <a:avLst/>
          </a:prstGeom>
          <a:solidFill>
            <a:srgbClr val="A4472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500" i="0" b="1">
                <a:solidFill>
                  <a:srgbClr val="FFFFFF"/>
                </a:solidFill>
                <a:latin typeface="Calibri"/>
              </a:rPr>
              <a:t>A</a:t>
            </a:r>
          </a:p>
        </p:txBody>
      </p:sp>
      <p:sp>
        <p:nvSpPr>
          <p:cNvPr id="11" name="TextBox 10"/>
          <p:cNvSpPr txBox="1"/>
          <p:nvPr/>
        </p:nvSpPr>
        <p:spPr>
          <a:xfrm>
            <a:off x="1371600" y="2697480"/>
            <a:ext cx="10088575" cy="640080"/>
          </a:xfrm>
          <a:prstGeom prst="rect">
            <a:avLst/>
          </a:prstGeom>
          <a:noFill/>
        </p:spPr>
        <p:txBody>
          <a:bodyPr wrap="square" anchor="ctr" lIns="0" rIns="0" tIns="0" bIns="0">
            <a:spAutoFit/>
          </a:bodyPr>
          <a:lstStyle/>
          <a:p>
            <a:r>
              <a:rPr sz="1900" i="0" b="0">
                <a:solidFill>
                  <a:srgbClr val="2B211C"/>
                </a:solidFill>
                <a:latin typeface="Calibri"/>
              </a:rPr>
              <a:t>Identifying high-risk medicines for close monitoring</a:t>
            </a:r>
          </a:p>
        </p:txBody>
      </p:sp>
      <p:sp>
        <p:nvSpPr>
          <p:cNvPr id="12" name="Rounded Rectangle 11"/>
          <p:cNvSpPr/>
          <p:nvPr/>
        </p:nvSpPr>
        <p:spPr>
          <a:xfrm>
            <a:off x="548640" y="3465576"/>
            <a:ext cx="11094415" cy="640080"/>
          </a:xfrm>
          <a:prstGeom prst="roundRect">
            <a:avLst>
              <a:gd name="adj" fmla="val 18000"/>
            </a:avLst>
          </a:prstGeom>
          <a:solidFill>
            <a:srgbClr val="FAF4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713232" y="3575304"/>
            <a:ext cx="420624" cy="420624"/>
          </a:xfrm>
          <a:prstGeom prst="ellipse">
            <a:avLst/>
          </a:prstGeom>
          <a:solidFill>
            <a:srgbClr val="A4472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500" i="0" b="1">
                <a:solidFill>
                  <a:srgbClr val="FFFFFF"/>
                </a:solidFill>
                <a:latin typeface="Calibri"/>
              </a:rPr>
              <a:t>B</a:t>
            </a:r>
          </a:p>
        </p:txBody>
      </p:sp>
      <p:sp>
        <p:nvSpPr>
          <p:cNvPr id="14" name="TextBox 13"/>
          <p:cNvSpPr txBox="1"/>
          <p:nvPr/>
        </p:nvSpPr>
        <p:spPr>
          <a:xfrm>
            <a:off x="1371600" y="3465576"/>
            <a:ext cx="10088575" cy="640080"/>
          </a:xfrm>
          <a:prstGeom prst="rect">
            <a:avLst/>
          </a:prstGeom>
          <a:noFill/>
        </p:spPr>
        <p:txBody>
          <a:bodyPr wrap="square" anchor="ctr" lIns="0" rIns="0" tIns="0" bIns="0">
            <a:spAutoFit/>
          </a:bodyPr>
          <a:lstStyle/>
          <a:p>
            <a:r>
              <a:rPr sz="1900" i="0" b="0">
                <a:solidFill>
                  <a:srgbClr val="2B211C"/>
                </a:solidFill>
                <a:latin typeface="Calibri"/>
              </a:rPr>
              <a:t>Manufacturing new medicines</a:t>
            </a:r>
          </a:p>
        </p:txBody>
      </p:sp>
      <p:sp>
        <p:nvSpPr>
          <p:cNvPr id="15" name="Rounded Rectangle 14"/>
          <p:cNvSpPr/>
          <p:nvPr/>
        </p:nvSpPr>
        <p:spPr>
          <a:xfrm>
            <a:off x="548640" y="4233672"/>
            <a:ext cx="11094415" cy="640080"/>
          </a:xfrm>
          <a:prstGeom prst="roundRect">
            <a:avLst>
              <a:gd name="adj" fmla="val 18000"/>
            </a:avLst>
          </a:prstGeom>
          <a:solidFill>
            <a:srgbClr val="FAF4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713232" y="4343400"/>
            <a:ext cx="420624" cy="420624"/>
          </a:xfrm>
          <a:prstGeom prst="ellipse">
            <a:avLst/>
          </a:prstGeom>
          <a:solidFill>
            <a:srgbClr val="A4472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500" i="0" b="1">
                <a:solidFill>
                  <a:srgbClr val="FFFFFF"/>
                </a:solidFill>
                <a:latin typeface="Calibri"/>
              </a:rPr>
              <a:t>C</a:t>
            </a:r>
          </a:p>
        </p:txBody>
      </p:sp>
      <p:sp>
        <p:nvSpPr>
          <p:cNvPr id="17" name="TextBox 16"/>
          <p:cNvSpPr txBox="1"/>
          <p:nvPr/>
        </p:nvSpPr>
        <p:spPr>
          <a:xfrm>
            <a:off x="1371600" y="4233672"/>
            <a:ext cx="10088575" cy="640080"/>
          </a:xfrm>
          <a:prstGeom prst="rect">
            <a:avLst/>
          </a:prstGeom>
          <a:noFill/>
        </p:spPr>
        <p:txBody>
          <a:bodyPr wrap="square" anchor="ctr" lIns="0" rIns="0" tIns="0" bIns="0">
            <a:spAutoFit/>
          </a:bodyPr>
          <a:lstStyle/>
          <a:p>
            <a:r>
              <a:rPr sz="1900" i="0" b="0">
                <a:solidFill>
                  <a:srgbClr val="2B211C"/>
                </a:solidFill>
                <a:latin typeface="Calibri"/>
              </a:rPr>
              <a:t>Setting drug prices nationally</a:t>
            </a:r>
          </a:p>
        </p:txBody>
      </p:sp>
      <p:sp>
        <p:nvSpPr>
          <p:cNvPr id="18" name="Rounded Rectangle 17"/>
          <p:cNvSpPr/>
          <p:nvPr/>
        </p:nvSpPr>
        <p:spPr>
          <a:xfrm>
            <a:off x="548640" y="5001768"/>
            <a:ext cx="11094415" cy="640080"/>
          </a:xfrm>
          <a:prstGeom prst="roundRect">
            <a:avLst>
              <a:gd name="adj" fmla="val 18000"/>
            </a:avLst>
          </a:prstGeom>
          <a:solidFill>
            <a:srgbClr val="FAF4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713232" y="5111496"/>
            <a:ext cx="420624" cy="420624"/>
          </a:xfrm>
          <a:prstGeom prst="ellipse">
            <a:avLst/>
          </a:prstGeom>
          <a:solidFill>
            <a:srgbClr val="A4472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500" i="0" b="1">
                <a:solidFill>
                  <a:srgbClr val="FFFFFF"/>
                </a:solidFill>
                <a:latin typeface="Calibri"/>
              </a:rPr>
              <a:t>D</a:t>
            </a:r>
          </a:p>
        </p:txBody>
      </p:sp>
      <p:sp>
        <p:nvSpPr>
          <p:cNvPr id="20" name="TextBox 19"/>
          <p:cNvSpPr txBox="1"/>
          <p:nvPr/>
        </p:nvSpPr>
        <p:spPr>
          <a:xfrm>
            <a:off x="1371600" y="5001768"/>
            <a:ext cx="10088575" cy="640080"/>
          </a:xfrm>
          <a:prstGeom prst="rect">
            <a:avLst/>
          </a:prstGeom>
          <a:noFill/>
        </p:spPr>
        <p:txBody>
          <a:bodyPr wrap="square" anchor="ctr" lIns="0" rIns="0" tIns="0" bIns="0">
            <a:spAutoFit/>
          </a:bodyPr>
          <a:lstStyle/>
          <a:p>
            <a:r>
              <a:rPr sz="1900" i="0" b="0">
                <a:solidFill>
                  <a:srgbClr val="2B211C"/>
                </a:solidFill>
                <a:latin typeface="Calibri"/>
              </a:rPr>
              <a:t>Approving marketing authorisations</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Oval 1"/>
          <p:cNvSpPr/>
          <p:nvPr/>
        </p:nvSpPr>
        <p:spPr>
          <a:xfrm>
            <a:off x="548640" y="475488"/>
            <a:ext cx="658368" cy="658368"/>
          </a:xfrm>
          <a:prstGeom prst="ellipse">
            <a:avLst/>
          </a:prstGeom>
          <a:solidFill>
            <a:srgbClr val="2F6F7A"/>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800" i="0" b="1">
                <a:solidFill>
                  <a:srgbClr val="FFFFFF"/>
                </a:solidFill>
                <a:latin typeface="Cambria"/>
              </a:rPr>
              <a:t>09</a:t>
            </a:r>
          </a:p>
        </p:txBody>
      </p:sp>
      <p:sp>
        <p:nvSpPr>
          <p:cNvPr id="3" name="TextBox 2"/>
          <p:cNvSpPr txBox="1"/>
          <p:nvPr/>
        </p:nvSpPr>
        <p:spPr>
          <a:xfrm>
            <a:off x="1417319" y="438912"/>
            <a:ext cx="10180015" cy="292608"/>
          </a:xfrm>
          <a:prstGeom prst="rect">
            <a:avLst/>
          </a:prstGeom>
          <a:noFill/>
        </p:spPr>
        <p:txBody>
          <a:bodyPr wrap="square" anchor="t" lIns="0" rIns="0" tIns="0" bIns="0">
            <a:spAutoFit/>
          </a:bodyPr>
          <a:lstStyle/>
          <a:p>
            <a:r>
              <a:rPr sz="1200" i="0" b="1" spc="150">
                <a:solidFill>
                  <a:srgbClr val="2F6F7A"/>
                </a:solidFill>
                <a:latin typeface="Calibri"/>
              </a:rPr>
              <a:t>SECTION 9  ·  QUESTION 3 OF 5  ·  ANSWER</a:t>
            </a:r>
          </a:p>
        </p:txBody>
      </p:sp>
      <p:sp>
        <p:nvSpPr>
          <p:cNvPr id="4" name="TextBox 3"/>
          <p:cNvSpPr txBox="1"/>
          <p:nvPr/>
        </p:nvSpPr>
        <p:spPr>
          <a:xfrm>
            <a:off x="1417319" y="676656"/>
            <a:ext cx="10180015" cy="640080"/>
          </a:xfrm>
          <a:prstGeom prst="rect">
            <a:avLst/>
          </a:prstGeom>
          <a:noFill/>
        </p:spPr>
        <p:txBody>
          <a:bodyPr wrap="square" anchor="t" lIns="0" rIns="0" tIns="0" bIns="0">
            <a:spAutoFit/>
          </a:bodyPr>
          <a:lstStyle/>
          <a:p>
            <a:r>
              <a:rPr sz="3200" i="0" b="1">
                <a:solidFill>
                  <a:srgbClr val="2B211C"/>
                </a:solidFill>
                <a:latin typeface="Cambria"/>
              </a:rPr>
              <a:t>Check your answer</a:t>
            </a:r>
          </a:p>
        </p:txBody>
      </p:sp>
      <p:sp>
        <p:nvSpPr>
          <p:cNvPr id="5" name="TextBox 4"/>
          <p:cNvSpPr txBox="1"/>
          <p:nvPr/>
        </p:nvSpPr>
        <p:spPr>
          <a:xfrm>
            <a:off x="548640" y="6419088"/>
            <a:ext cx="8229600" cy="274320"/>
          </a:xfrm>
          <a:prstGeom prst="rect">
            <a:avLst/>
          </a:prstGeom>
          <a:noFill/>
        </p:spPr>
        <p:txBody>
          <a:bodyPr wrap="square" anchor="t" lIns="0" rIns="0" tIns="0" bIns="0">
            <a:spAutoFit/>
          </a:bodyPr>
          <a:lstStyle/>
          <a:p>
            <a:r>
              <a:rPr sz="1000" i="0" b="0">
                <a:solidFill>
                  <a:srgbClr val="6E625B"/>
                </a:solidFill>
                <a:latin typeface="Calibri"/>
              </a:rPr>
              <a:t>Drug Information  ·  Section 9  ·  Pharmacovigilance, ADR Reporting and Medication Errors</a:t>
            </a:r>
          </a:p>
        </p:txBody>
      </p:sp>
      <p:sp>
        <p:nvSpPr>
          <p:cNvPr id="6" name="TextBox 5"/>
          <p:cNvSpPr txBox="1"/>
          <p:nvPr/>
        </p:nvSpPr>
        <p:spPr>
          <a:xfrm>
            <a:off x="10424160" y="6419088"/>
            <a:ext cx="731520" cy="274320"/>
          </a:xfrm>
          <a:prstGeom prst="rect">
            <a:avLst/>
          </a:prstGeom>
          <a:noFill/>
        </p:spPr>
        <p:txBody>
          <a:bodyPr wrap="square" anchor="t" lIns="0" rIns="0" tIns="0" bIns="0">
            <a:spAutoFit/>
          </a:bodyPr>
          <a:lstStyle/>
          <a:p>
            <a:pPr algn="r"/>
            <a:r>
              <a:rPr sz="1000" i="0" b="1">
                <a:solidFill>
                  <a:srgbClr val="6E625B"/>
                </a:solidFill>
                <a:latin typeface="Calibri"/>
              </a:rPr>
              <a:t>18</a:t>
            </a:r>
          </a:p>
        </p:txBody>
      </p:sp>
      <p:pic>
        <p:nvPicPr>
          <p:cNvPr id="7" name="Picture 6" descr="faculty-of-pharmacy.png"/>
          <p:cNvPicPr>
            <a:picLocks noChangeAspect="1"/>
          </p:cNvPicPr>
          <p:nvPr/>
        </p:nvPicPr>
        <p:blipFill>
          <a:blip r:embed="rId2"/>
          <a:stretch>
            <a:fillRect/>
          </a:stretch>
        </p:blipFill>
        <p:spPr>
          <a:xfrm>
            <a:off x="11247120" y="6309360"/>
            <a:ext cx="384048" cy="384048"/>
          </a:xfrm>
          <a:prstGeom prst="rect">
            <a:avLst/>
          </a:prstGeom>
        </p:spPr>
      </p:pic>
      <p:sp>
        <p:nvSpPr>
          <p:cNvPr id="8" name="TextBox 7"/>
          <p:cNvSpPr txBox="1"/>
          <p:nvPr/>
        </p:nvSpPr>
        <p:spPr>
          <a:xfrm>
            <a:off x="548640" y="1554480"/>
            <a:ext cx="11094415" cy="1005840"/>
          </a:xfrm>
          <a:prstGeom prst="rect">
            <a:avLst/>
          </a:prstGeom>
          <a:noFill/>
        </p:spPr>
        <p:txBody>
          <a:bodyPr wrap="square" anchor="t" lIns="0" rIns="0" tIns="0" bIns="0">
            <a:spAutoFit/>
          </a:bodyPr>
          <a:lstStyle/>
          <a:p>
            <a:r>
              <a:rPr sz="2400" i="0" b="1">
                <a:solidFill>
                  <a:srgbClr val="2B211C"/>
                </a:solidFill>
                <a:latin typeface="Calibri"/>
              </a:rPr>
              <a:t>Which is a role of the Drug and Therapeutics Committee?</a:t>
            </a:r>
          </a:p>
        </p:txBody>
      </p:sp>
      <p:sp>
        <p:nvSpPr>
          <p:cNvPr id="9" name="Rounded Rectangle 8"/>
          <p:cNvSpPr/>
          <p:nvPr/>
        </p:nvSpPr>
        <p:spPr>
          <a:xfrm>
            <a:off x="548640" y="2606040"/>
            <a:ext cx="11094415" cy="548640"/>
          </a:xfrm>
          <a:prstGeom prst="roundRect">
            <a:avLst>
              <a:gd name="adj" fmla="val 18000"/>
            </a:avLst>
          </a:prstGeom>
          <a:solidFill>
            <a:srgbClr val="2F6F7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713232" y="2670048"/>
            <a:ext cx="420624" cy="420624"/>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500" i="0" b="1">
                <a:solidFill>
                  <a:srgbClr val="2F6F7A"/>
                </a:solidFill>
                <a:latin typeface="Calibri"/>
              </a:rPr>
              <a:t>A</a:t>
            </a:r>
          </a:p>
        </p:txBody>
      </p:sp>
      <p:sp>
        <p:nvSpPr>
          <p:cNvPr id="11" name="TextBox 10"/>
          <p:cNvSpPr txBox="1"/>
          <p:nvPr/>
        </p:nvSpPr>
        <p:spPr>
          <a:xfrm>
            <a:off x="1371600" y="2606040"/>
            <a:ext cx="10088575" cy="548640"/>
          </a:xfrm>
          <a:prstGeom prst="rect">
            <a:avLst/>
          </a:prstGeom>
          <a:noFill/>
        </p:spPr>
        <p:txBody>
          <a:bodyPr wrap="square" anchor="ctr" lIns="0" rIns="0" tIns="0" bIns="0">
            <a:spAutoFit/>
          </a:bodyPr>
          <a:lstStyle/>
          <a:p>
            <a:r>
              <a:rPr sz="1900" i="0" b="1">
                <a:solidFill>
                  <a:srgbClr val="FFFFFF"/>
                </a:solidFill>
                <a:latin typeface="Calibri"/>
              </a:rPr>
              <a:t>Identifying high-risk medicines for close monitoring</a:t>
            </a:r>
          </a:p>
        </p:txBody>
      </p:sp>
      <p:sp>
        <p:nvSpPr>
          <p:cNvPr id="12" name="Rounded Rectangle 11"/>
          <p:cNvSpPr/>
          <p:nvPr/>
        </p:nvSpPr>
        <p:spPr>
          <a:xfrm>
            <a:off x="548640" y="3282696"/>
            <a:ext cx="11094415" cy="548640"/>
          </a:xfrm>
          <a:prstGeom prst="roundRect">
            <a:avLst>
              <a:gd name="adj" fmla="val 18000"/>
            </a:avLst>
          </a:prstGeom>
          <a:solidFill>
            <a:srgbClr val="F5F4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713232" y="3346703"/>
            <a:ext cx="420624" cy="420624"/>
          </a:xfrm>
          <a:prstGeom prst="ellipse">
            <a:avLst/>
          </a:prstGeom>
          <a:solidFill>
            <a:srgbClr val="E2E0D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500" i="0" b="1">
                <a:solidFill>
                  <a:srgbClr val="6E625B"/>
                </a:solidFill>
                <a:latin typeface="Calibri"/>
              </a:rPr>
              <a:t>B</a:t>
            </a:r>
          </a:p>
        </p:txBody>
      </p:sp>
      <p:sp>
        <p:nvSpPr>
          <p:cNvPr id="14" name="TextBox 13"/>
          <p:cNvSpPr txBox="1"/>
          <p:nvPr/>
        </p:nvSpPr>
        <p:spPr>
          <a:xfrm>
            <a:off x="1371600" y="3282696"/>
            <a:ext cx="10088575" cy="548640"/>
          </a:xfrm>
          <a:prstGeom prst="rect">
            <a:avLst/>
          </a:prstGeom>
          <a:noFill/>
        </p:spPr>
        <p:txBody>
          <a:bodyPr wrap="square" anchor="ctr" lIns="0" rIns="0" tIns="0" bIns="0">
            <a:spAutoFit/>
          </a:bodyPr>
          <a:lstStyle/>
          <a:p>
            <a:r>
              <a:rPr sz="1900" i="0" b="0">
                <a:solidFill>
                  <a:srgbClr val="6E625B"/>
                </a:solidFill>
                <a:latin typeface="Calibri"/>
              </a:rPr>
              <a:t>Manufacturing new medicines</a:t>
            </a:r>
          </a:p>
        </p:txBody>
      </p:sp>
      <p:sp>
        <p:nvSpPr>
          <p:cNvPr id="15" name="Rounded Rectangle 14"/>
          <p:cNvSpPr/>
          <p:nvPr/>
        </p:nvSpPr>
        <p:spPr>
          <a:xfrm>
            <a:off x="548640" y="3959352"/>
            <a:ext cx="11094415" cy="548640"/>
          </a:xfrm>
          <a:prstGeom prst="roundRect">
            <a:avLst>
              <a:gd name="adj" fmla="val 18000"/>
            </a:avLst>
          </a:prstGeom>
          <a:solidFill>
            <a:srgbClr val="F5F4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713232" y="4023360"/>
            <a:ext cx="420624" cy="420624"/>
          </a:xfrm>
          <a:prstGeom prst="ellipse">
            <a:avLst/>
          </a:prstGeom>
          <a:solidFill>
            <a:srgbClr val="E2E0D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500" i="0" b="1">
                <a:solidFill>
                  <a:srgbClr val="6E625B"/>
                </a:solidFill>
                <a:latin typeface="Calibri"/>
              </a:rPr>
              <a:t>C</a:t>
            </a:r>
          </a:p>
        </p:txBody>
      </p:sp>
      <p:sp>
        <p:nvSpPr>
          <p:cNvPr id="17" name="TextBox 16"/>
          <p:cNvSpPr txBox="1"/>
          <p:nvPr/>
        </p:nvSpPr>
        <p:spPr>
          <a:xfrm>
            <a:off x="1371600" y="3959352"/>
            <a:ext cx="10088575" cy="548640"/>
          </a:xfrm>
          <a:prstGeom prst="rect">
            <a:avLst/>
          </a:prstGeom>
          <a:noFill/>
        </p:spPr>
        <p:txBody>
          <a:bodyPr wrap="square" anchor="ctr" lIns="0" rIns="0" tIns="0" bIns="0">
            <a:spAutoFit/>
          </a:bodyPr>
          <a:lstStyle/>
          <a:p>
            <a:r>
              <a:rPr sz="1900" i="0" b="0">
                <a:solidFill>
                  <a:srgbClr val="6E625B"/>
                </a:solidFill>
                <a:latin typeface="Calibri"/>
              </a:rPr>
              <a:t>Setting drug prices nationally</a:t>
            </a:r>
          </a:p>
        </p:txBody>
      </p:sp>
      <p:sp>
        <p:nvSpPr>
          <p:cNvPr id="18" name="Rounded Rectangle 17"/>
          <p:cNvSpPr/>
          <p:nvPr/>
        </p:nvSpPr>
        <p:spPr>
          <a:xfrm>
            <a:off x="548640" y="4636008"/>
            <a:ext cx="11094415" cy="548640"/>
          </a:xfrm>
          <a:prstGeom prst="roundRect">
            <a:avLst>
              <a:gd name="adj" fmla="val 18000"/>
            </a:avLst>
          </a:prstGeom>
          <a:solidFill>
            <a:srgbClr val="F5F4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713232" y="4700016"/>
            <a:ext cx="420624" cy="420624"/>
          </a:xfrm>
          <a:prstGeom prst="ellipse">
            <a:avLst/>
          </a:prstGeom>
          <a:solidFill>
            <a:srgbClr val="E2E0D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500" i="0" b="1">
                <a:solidFill>
                  <a:srgbClr val="6E625B"/>
                </a:solidFill>
                <a:latin typeface="Calibri"/>
              </a:rPr>
              <a:t>D</a:t>
            </a:r>
          </a:p>
        </p:txBody>
      </p:sp>
      <p:sp>
        <p:nvSpPr>
          <p:cNvPr id="20" name="TextBox 19"/>
          <p:cNvSpPr txBox="1"/>
          <p:nvPr/>
        </p:nvSpPr>
        <p:spPr>
          <a:xfrm>
            <a:off x="1371600" y="4636008"/>
            <a:ext cx="10088575" cy="548640"/>
          </a:xfrm>
          <a:prstGeom prst="rect">
            <a:avLst/>
          </a:prstGeom>
          <a:noFill/>
        </p:spPr>
        <p:txBody>
          <a:bodyPr wrap="square" anchor="ctr" lIns="0" rIns="0" tIns="0" bIns="0">
            <a:spAutoFit/>
          </a:bodyPr>
          <a:lstStyle/>
          <a:p>
            <a:r>
              <a:rPr sz="1900" i="0" b="0">
                <a:solidFill>
                  <a:srgbClr val="6E625B"/>
                </a:solidFill>
                <a:latin typeface="Calibri"/>
              </a:rPr>
              <a:t>Approving marketing authorisations</a:t>
            </a:r>
          </a:p>
        </p:txBody>
      </p:sp>
      <p:sp>
        <p:nvSpPr>
          <p:cNvPr id="21" name="TextBox 20"/>
          <p:cNvSpPr txBox="1"/>
          <p:nvPr/>
        </p:nvSpPr>
        <p:spPr>
          <a:xfrm>
            <a:off x="548640" y="5358384"/>
            <a:ext cx="11094415" cy="685800"/>
          </a:xfrm>
          <a:prstGeom prst="rect">
            <a:avLst/>
          </a:prstGeom>
          <a:noFill/>
        </p:spPr>
        <p:txBody>
          <a:bodyPr wrap="square" anchor="t" lIns="0" rIns="0" tIns="0" bIns="0">
            <a:spAutoFit/>
          </a:bodyPr>
          <a:lstStyle/>
          <a:p>
            <a:r>
              <a:rPr sz="1500" i="0" b="1">
                <a:solidFill>
                  <a:srgbClr val="2F6F7A"/>
                </a:solidFill>
                <a:latin typeface="Calibri"/>
              </a:rPr>
              <a:t>Why:  </a:t>
            </a:r>
            <a:r>
              <a:rPr sz="1500" i="0" b="0">
                <a:solidFill>
                  <a:srgbClr val="2B211C"/>
                </a:solidFill>
                <a:latin typeface="Calibri"/>
              </a:rPr>
              <a:t>The DTC identifies and monitors high-risk medicines. B, C and D belong to others.</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Oval 1"/>
          <p:cNvSpPr/>
          <p:nvPr/>
        </p:nvSpPr>
        <p:spPr>
          <a:xfrm>
            <a:off x="548640" y="475488"/>
            <a:ext cx="658368" cy="658368"/>
          </a:xfrm>
          <a:prstGeom prst="ellipse">
            <a:avLst/>
          </a:prstGeom>
          <a:solidFill>
            <a:srgbClr val="2F6F7A"/>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800" i="0" b="1">
                <a:solidFill>
                  <a:srgbClr val="FFFFFF"/>
                </a:solidFill>
                <a:latin typeface="Cambria"/>
              </a:rPr>
              <a:t>09</a:t>
            </a:r>
          </a:p>
        </p:txBody>
      </p:sp>
      <p:sp>
        <p:nvSpPr>
          <p:cNvPr id="3" name="TextBox 2"/>
          <p:cNvSpPr txBox="1"/>
          <p:nvPr/>
        </p:nvSpPr>
        <p:spPr>
          <a:xfrm>
            <a:off x="1417319" y="438912"/>
            <a:ext cx="10180015" cy="292608"/>
          </a:xfrm>
          <a:prstGeom prst="rect">
            <a:avLst/>
          </a:prstGeom>
          <a:noFill/>
        </p:spPr>
        <p:txBody>
          <a:bodyPr wrap="square" anchor="t" lIns="0" rIns="0" tIns="0" bIns="0">
            <a:spAutoFit/>
          </a:bodyPr>
          <a:lstStyle/>
          <a:p>
            <a:r>
              <a:rPr sz="1200" i="0" b="1" spc="150">
                <a:solidFill>
                  <a:srgbClr val="2F6F7A"/>
                </a:solidFill>
                <a:latin typeface="Calibri"/>
              </a:rPr>
              <a:t>SECTION 9  ·  QUESTION 4 OF 5</a:t>
            </a:r>
          </a:p>
        </p:txBody>
      </p:sp>
      <p:sp>
        <p:nvSpPr>
          <p:cNvPr id="4" name="TextBox 3"/>
          <p:cNvSpPr txBox="1"/>
          <p:nvPr/>
        </p:nvSpPr>
        <p:spPr>
          <a:xfrm>
            <a:off x="1417319" y="676656"/>
            <a:ext cx="10180015" cy="640080"/>
          </a:xfrm>
          <a:prstGeom prst="rect">
            <a:avLst/>
          </a:prstGeom>
          <a:noFill/>
        </p:spPr>
        <p:txBody>
          <a:bodyPr wrap="square" anchor="t" lIns="0" rIns="0" tIns="0" bIns="0">
            <a:spAutoFit/>
          </a:bodyPr>
          <a:lstStyle/>
          <a:p>
            <a:r>
              <a:rPr sz="3200" i="0" b="1">
                <a:solidFill>
                  <a:srgbClr val="2B211C"/>
                </a:solidFill>
                <a:latin typeface="Cambria"/>
              </a:rPr>
              <a:t>Your turn</a:t>
            </a:r>
          </a:p>
        </p:txBody>
      </p:sp>
      <p:sp>
        <p:nvSpPr>
          <p:cNvPr id="5" name="TextBox 4"/>
          <p:cNvSpPr txBox="1"/>
          <p:nvPr/>
        </p:nvSpPr>
        <p:spPr>
          <a:xfrm>
            <a:off x="548640" y="6419088"/>
            <a:ext cx="8229600" cy="274320"/>
          </a:xfrm>
          <a:prstGeom prst="rect">
            <a:avLst/>
          </a:prstGeom>
          <a:noFill/>
        </p:spPr>
        <p:txBody>
          <a:bodyPr wrap="square" anchor="t" lIns="0" rIns="0" tIns="0" bIns="0">
            <a:spAutoFit/>
          </a:bodyPr>
          <a:lstStyle/>
          <a:p>
            <a:r>
              <a:rPr sz="1000" i="0" b="0">
                <a:solidFill>
                  <a:srgbClr val="6E625B"/>
                </a:solidFill>
                <a:latin typeface="Calibri"/>
              </a:rPr>
              <a:t>Drug Information  ·  Section 9  ·  Pharmacovigilance, ADR Reporting and Medication Errors</a:t>
            </a:r>
          </a:p>
        </p:txBody>
      </p:sp>
      <p:sp>
        <p:nvSpPr>
          <p:cNvPr id="6" name="TextBox 5"/>
          <p:cNvSpPr txBox="1"/>
          <p:nvPr/>
        </p:nvSpPr>
        <p:spPr>
          <a:xfrm>
            <a:off x="10424160" y="6419088"/>
            <a:ext cx="731520" cy="274320"/>
          </a:xfrm>
          <a:prstGeom prst="rect">
            <a:avLst/>
          </a:prstGeom>
          <a:noFill/>
        </p:spPr>
        <p:txBody>
          <a:bodyPr wrap="square" anchor="t" lIns="0" rIns="0" tIns="0" bIns="0">
            <a:spAutoFit/>
          </a:bodyPr>
          <a:lstStyle/>
          <a:p>
            <a:pPr algn="r"/>
            <a:r>
              <a:rPr sz="1000" i="0" b="1">
                <a:solidFill>
                  <a:srgbClr val="6E625B"/>
                </a:solidFill>
                <a:latin typeface="Calibri"/>
              </a:rPr>
              <a:t>19</a:t>
            </a:r>
          </a:p>
        </p:txBody>
      </p:sp>
      <p:pic>
        <p:nvPicPr>
          <p:cNvPr id="7" name="Picture 6" descr="faculty-of-pharmacy.png"/>
          <p:cNvPicPr>
            <a:picLocks noChangeAspect="1"/>
          </p:cNvPicPr>
          <p:nvPr/>
        </p:nvPicPr>
        <p:blipFill>
          <a:blip r:embed="rId3"/>
          <a:stretch>
            <a:fillRect/>
          </a:stretch>
        </p:blipFill>
        <p:spPr>
          <a:xfrm>
            <a:off x="11247120" y="6309360"/>
            <a:ext cx="384048" cy="384048"/>
          </a:xfrm>
          <a:prstGeom prst="rect">
            <a:avLst/>
          </a:prstGeom>
        </p:spPr>
      </p:pic>
      <p:sp>
        <p:nvSpPr>
          <p:cNvPr id="8" name="TextBox 7"/>
          <p:cNvSpPr txBox="1"/>
          <p:nvPr/>
        </p:nvSpPr>
        <p:spPr>
          <a:xfrm>
            <a:off x="548640" y="1554480"/>
            <a:ext cx="11094415" cy="1005840"/>
          </a:xfrm>
          <a:prstGeom prst="rect">
            <a:avLst/>
          </a:prstGeom>
          <a:noFill/>
        </p:spPr>
        <p:txBody>
          <a:bodyPr wrap="square" anchor="t" lIns="0" rIns="0" tIns="0" bIns="0">
            <a:spAutoFit/>
          </a:bodyPr>
          <a:lstStyle/>
          <a:p>
            <a:r>
              <a:rPr sz="2400" i="0" b="1">
                <a:solidFill>
                  <a:srgbClr val="2B211C"/>
                </a:solidFill>
                <a:latin typeface="Calibri"/>
              </a:rPr>
              <a:t>A nurse forgets to give a patient's evening insulin. This is:</a:t>
            </a:r>
          </a:p>
        </p:txBody>
      </p:sp>
      <p:sp>
        <p:nvSpPr>
          <p:cNvPr id="9" name="Rounded Rectangle 8"/>
          <p:cNvSpPr/>
          <p:nvPr/>
        </p:nvSpPr>
        <p:spPr>
          <a:xfrm>
            <a:off x="548640" y="2697480"/>
            <a:ext cx="11094415" cy="640080"/>
          </a:xfrm>
          <a:prstGeom prst="roundRect">
            <a:avLst>
              <a:gd name="adj" fmla="val 18000"/>
            </a:avLst>
          </a:prstGeom>
          <a:solidFill>
            <a:srgbClr val="FAF4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713232" y="2807208"/>
            <a:ext cx="420624" cy="420624"/>
          </a:xfrm>
          <a:prstGeom prst="ellipse">
            <a:avLst/>
          </a:prstGeom>
          <a:solidFill>
            <a:srgbClr val="A4472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500" i="0" b="1">
                <a:solidFill>
                  <a:srgbClr val="FFFFFF"/>
                </a:solidFill>
                <a:latin typeface="Calibri"/>
              </a:rPr>
              <a:t>A</a:t>
            </a:r>
          </a:p>
        </p:txBody>
      </p:sp>
      <p:sp>
        <p:nvSpPr>
          <p:cNvPr id="11" name="TextBox 10"/>
          <p:cNvSpPr txBox="1"/>
          <p:nvPr/>
        </p:nvSpPr>
        <p:spPr>
          <a:xfrm>
            <a:off x="1371600" y="2697480"/>
            <a:ext cx="10088575" cy="640080"/>
          </a:xfrm>
          <a:prstGeom prst="rect">
            <a:avLst/>
          </a:prstGeom>
          <a:noFill/>
        </p:spPr>
        <p:txBody>
          <a:bodyPr wrap="square" anchor="ctr" lIns="0" rIns="0" tIns="0" bIns="0">
            <a:spAutoFit/>
          </a:bodyPr>
          <a:lstStyle/>
          <a:p>
            <a:r>
              <a:rPr sz="1900" i="0" b="0">
                <a:solidFill>
                  <a:srgbClr val="2B211C"/>
                </a:solidFill>
                <a:latin typeface="Calibri"/>
              </a:rPr>
              <a:t>An error of commission</a:t>
            </a:r>
          </a:p>
        </p:txBody>
      </p:sp>
      <p:sp>
        <p:nvSpPr>
          <p:cNvPr id="12" name="Rounded Rectangle 11"/>
          <p:cNvSpPr/>
          <p:nvPr/>
        </p:nvSpPr>
        <p:spPr>
          <a:xfrm>
            <a:off x="548640" y="3465576"/>
            <a:ext cx="11094415" cy="640080"/>
          </a:xfrm>
          <a:prstGeom prst="roundRect">
            <a:avLst>
              <a:gd name="adj" fmla="val 18000"/>
            </a:avLst>
          </a:prstGeom>
          <a:solidFill>
            <a:srgbClr val="FAF4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713232" y="3575304"/>
            <a:ext cx="420624" cy="420624"/>
          </a:xfrm>
          <a:prstGeom prst="ellipse">
            <a:avLst/>
          </a:prstGeom>
          <a:solidFill>
            <a:srgbClr val="A4472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500" i="0" b="1">
                <a:solidFill>
                  <a:srgbClr val="FFFFFF"/>
                </a:solidFill>
                <a:latin typeface="Calibri"/>
              </a:rPr>
              <a:t>B</a:t>
            </a:r>
          </a:p>
        </p:txBody>
      </p:sp>
      <p:sp>
        <p:nvSpPr>
          <p:cNvPr id="14" name="TextBox 13"/>
          <p:cNvSpPr txBox="1"/>
          <p:nvPr/>
        </p:nvSpPr>
        <p:spPr>
          <a:xfrm>
            <a:off x="1371600" y="3465576"/>
            <a:ext cx="10088575" cy="640080"/>
          </a:xfrm>
          <a:prstGeom prst="rect">
            <a:avLst/>
          </a:prstGeom>
          <a:noFill/>
        </p:spPr>
        <p:txBody>
          <a:bodyPr wrap="square" anchor="ctr" lIns="0" rIns="0" tIns="0" bIns="0">
            <a:spAutoFit/>
          </a:bodyPr>
          <a:lstStyle/>
          <a:p>
            <a:r>
              <a:rPr sz="1900" i="0" b="0">
                <a:solidFill>
                  <a:srgbClr val="2B211C"/>
                </a:solidFill>
                <a:latin typeface="Calibri"/>
              </a:rPr>
              <a:t>A Type A ADR</a:t>
            </a:r>
          </a:p>
        </p:txBody>
      </p:sp>
      <p:sp>
        <p:nvSpPr>
          <p:cNvPr id="15" name="Rounded Rectangle 14"/>
          <p:cNvSpPr/>
          <p:nvPr/>
        </p:nvSpPr>
        <p:spPr>
          <a:xfrm>
            <a:off x="548640" y="4233672"/>
            <a:ext cx="11094415" cy="640080"/>
          </a:xfrm>
          <a:prstGeom prst="roundRect">
            <a:avLst>
              <a:gd name="adj" fmla="val 18000"/>
            </a:avLst>
          </a:prstGeom>
          <a:solidFill>
            <a:srgbClr val="FAF4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713232" y="4343400"/>
            <a:ext cx="420624" cy="420624"/>
          </a:xfrm>
          <a:prstGeom prst="ellipse">
            <a:avLst/>
          </a:prstGeom>
          <a:solidFill>
            <a:srgbClr val="A4472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500" i="0" b="1">
                <a:solidFill>
                  <a:srgbClr val="FFFFFF"/>
                </a:solidFill>
                <a:latin typeface="Calibri"/>
              </a:rPr>
              <a:t>C</a:t>
            </a:r>
          </a:p>
        </p:txBody>
      </p:sp>
      <p:sp>
        <p:nvSpPr>
          <p:cNvPr id="17" name="TextBox 16"/>
          <p:cNvSpPr txBox="1"/>
          <p:nvPr/>
        </p:nvSpPr>
        <p:spPr>
          <a:xfrm>
            <a:off x="1371600" y="4233672"/>
            <a:ext cx="10088575" cy="640080"/>
          </a:xfrm>
          <a:prstGeom prst="rect">
            <a:avLst/>
          </a:prstGeom>
          <a:noFill/>
        </p:spPr>
        <p:txBody>
          <a:bodyPr wrap="square" anchor="ctr" lIns="0" rIns="0" tIns="0" bIns="0">
            <a:spAutoFit/>
          </a:bodyPr>
          <a:lstStyle/>
          <a:p>
            <a:r>
              <a:rPr sz="1900" i="0" b="0">
                <a:solidFill>
                  <a:srgbClr val="2B211C"/>
                </a:solidFill>
                <a:latin typeface="Calibri"/>
              </a:rPr>
              <a:t>An error of omission</a:t>
            </a:r>
          </a:p>
        </p:txBody>
      </p:sp>
      <p:sp>
        <p:nvSpPr>
          <p:cNvPr id="18" name="Rounded Rectangle 17"/>
          <p:cNvSpPr/>
          <p:nvPr/>
        </p:nvSpPr>
        <p:spPr>
          <a:xfrm>
            <a:off x="548640" y="5001768"/>
            <a:ext cx="11094415" cy="640080"/>
          </a:xfrm>
          <a:prstGeom prst="roundRect">
            <a:avLst>
              <a:gd name="adj" fmla="val 18000"/>
            </a:avLst>
          </a:prstGeom>
          <a:solidFill>
            <a:srgbClr val="FAF4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713232" y="5111496"/>
            <a:ext cx="420624" cy="420624"/>
          </a:xfrm>
          <a:prstGeom prst="ellipse">
            <a:avLst/>
          </a:prstGeom>
          <a:solidFill>
            <a:srgbClr val="A4472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500" i="0" b="1">
                <a:solidFill>
                  <a:srgbClr val="FFFFFF"/>
                </a:solidFill>
                <a:latin typeface="Calibri"/>
              </a:rPr>
              <a:t>D</a:t>
            </a:r>
          </a:p>
        </p:txBody>
      </p:sp>
      <p:sp>
        <p:nvSpPr>
          <p:cNvPr id="20" name="TextBox 19"/>
          <p:cNvSpPr txBox="1"/>
          <p:nvPr/>
        </p:nvSpPr>
        <p:spPr>
          <a:xfrm>
            <a:off x="1371600" y="5001768"/>
            <a:ext cx="10088575" cy="640080"/>
          </a:xfrm>
          <a:prstGeom prst="rect">
            <a:avLst/>
          </a:prstGeom>
          <a:noFill/>
        </p:spPr>
        <p:txBody>
          <a:bodyPr wrap="square" anchor="ctr" lIns="0" rIns="0" tIns="0" bIns="0">
            <a:spAutoFit/>
          </a:bodyPr>
          <a:lstStyle/>
          <a:p>
            <a:r>
              <a:rPr sz="1900" i="0" b="0">
                <a:solidFill>
                  <a:srgbClr val="2B211C"/>
                </a:solidFill>
                <a:latin typeface="Calibri"/>
              </a:rPr>
              <a:t>A Type B ADR</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Oval 1"/>
          <p:cNvSpPr/>
          <p:nvPr/>
        </p:nvSpPr>
        <p:spPr>
          <a:xfrm>
            <a:off x="548640" y="475488"/>
            <a:ext cx="658368" cy="658368"/>
          </a:xfrm>
          <a:prstGeom prst="ellipse">
            <a:avLst/>
          </a:prstGeom>
          <a:solidFill>
            <a:srgbClr val="2F6F7A"/>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800" i="0" b="1">
                <a:solidFill>
                  <a:srgbClr val="FFFFFF"/>
                </a:solidFill>
                <a:latin typeface="Cambria"/>
              </a:rPr>
              <a:t>09</a:t>
            </a:r>
          </a:p>
        </p:txBody>
      </p:sp>
      <p:sp>
        <p:nvSpPr>
          <p:cNvPr id="3" name="TextBox 2"/>
          <p:cNvSpPr txBox="1"/>
          <p:nvPr/>
        </p:nvSpPr>
        <p:spPr>
          <a:xfrm>
            <a:off x="1417319" y="438912"/>
            <a:ext cx="10180015" cy="292608"/>
          </a:xfrm>
          <a:prstGeom prst="rect">
            <a:avLst/>
          </a:prstGeom>
          <a:noFill/>
        </p:spPr>
        <p:txBody>
          <a:bodyPr wrap="square" anchor="t" lIns="0" rIns="0" tIns="0" bIns="0">
            <a:spAutoFit/>
          </a:bodyPr>
          <a:lstStyle/>
          <a:p>
            <a:r>
              <a:rPr sz="1200" i="0" b="1" spc="150">
                <a:solidFill>
                  <a:srgbClr val="2F6F7A"/>
                </a:solidFill>
                <a:latin typeface="Calibri"/>
              </a:rPr>
              <a:t>SECTION 9  ·  QUESTION 4 OF 5  ·  ANSWER</a:t>
            </a:r>
          </a:p>
        </p:txBody>
      </p:sp>
      <p:sp>
        <p:nvSpPr>
          <p:cNvPr id="4" name="TextBox 3"/>
          <p:cNvSpPr txBox="1"/>
          <p:nvPr/>
        </p:nvSpPr>
        <p:spPr>
          <a:xfrm>
            <a:off x="1417319" y="676656"/>
            <a:ext cx="10180015" cy="640080"/>
          </a:xfrm>
          <a:prstGeom prst="rect">
            <a:avLst/>
          </a:prstGeom>
          <a:noFill/>
        </p:spPr>
        <p:txBody>
          <a:bodyPr wrap="square" anchor="t" lIns="0" rIns="0" tIns="0" bIns="0">
            <a:spAutoFit/>
          </a:bodyPr>
          <a:lstStyle/>
          <a:p>
            <a:r>
              <a:rPr sz="3200" i="0" b="1">
                <a:solidFill>
                  <a:srgbClr val="2B211C"/>
                </a:solidFill>
                <a:latin typeface="Cambria"/>
              </a:rPr>
              <a:t>Check your answer</a:t>
            </a:r>
          </a:p>
        </p:txBody>
      </p:sp>
      <p:sp>
        <p:nvSpPr>
          <p:cNvPr id="5" name="TextBox 4"/>
          <p:cNvSpPr txBox="1"/>
          <p:nvPr/>
        </p:nvSpPr>
        <p:spPr>
          <a:xfrm>
            <a:off x="548640" y="6419088"/>
            <a:ext cx="8229600" cy="274320"/>
          </a:xfrm>
          <a:prstGeom prst="rect">
            <a:avLst/>
          </a:prstGeom>
          <a:noFill/>
        </p:spPr>
        <p:txBody>
          <a:bodyPr wrap="square" anchor="t" lIns="0" rIns="0" tIns="0" bIns="0">
            <a:spAutoFit/>
          </a:bodyPr>
          <a:lstStyle/>
          <a:p>
            <a:r>
              <a:rPr sz="1000" i="0" b="0">
                <a:solidFill>
                  <a:srgbClr val="6E625B"/>
                </a:solidFill>
                <a:latin typeface="Calibri"/>
              </a:rPr>
              <a:t>Drug Information  ·  Section 9  ·  Pharmacovigilance, ADR Reporting and Medication Errors</a:t>
            </a:r>
          </a:p>
        </p:txBody>
      </p:sp>
      <p:sp>
        <p:nvSpPr>
          <p:cNvPr id="6" name="TextBox 5"/>
          <p:cNvSpPr txBox="1"/>
          <p:nvPr/>
        </p:nvSpPr>
        <p:spPr>
          <a:xfrm>
            <a:off x="10424160" y="6419088"/>
            <a:ext cx="731520" cy="274320"/>
          </a:xfrm>
          <a:prstGeom prst="rect">
            <a:avLst/>
          </a:prstGeom>
          <a:noFill/>
        </p:spPr>
        <p:txBody>
          <a:bodyPr wrap="square" anchor="t" lIns="0" rIns="0" tIns="0" bIns="0">
            <a:spAutoFit/>
          </a:bodyPr>
          <a:lstStyle/>
          <a:p>
            <a:pPr algn="r"/>
            <a:r>
              <a:rPr sz="1000" i="0" b="1">
                <a:solidFill>
                  <a:srgbClr val="6E625B"/>
                </a:solidFill>
                <a:latin typeface="Calibri"/>
              </a:rPr>
              <a:t>20</a:t>
            </a:r>
          </a:p>
        </p:txBody>
      </p:sp>
      <p:pic>
        <p:nvPicPr>
          <p:cNvPr id="7" name="Picture 6" descr="faculty-of-pharmacy.png"/>
          <p:cNvPicPr>
            <a:picLocks noChangeAspect="1"/>
          </p:cNvPicPr>
          <p:nvPr/>
        </p:nvPicPr>
        <p:blipFill>
          <a:blip r:embed="rId2"/>
          <a:stretch>
            <a:fillRect/>
          </a:stretch>
        </p:blipFill>
        <p:spPr>
          <a:xfrm>
            <a:off x="11247120" y="6309360"/>
            <a:ext cx="384048" cy="384048"/>
          </a:xfrm>
          <a:prstGeom prst="rect">
            <a:avLst/>
          </a:prstGeom>
        </p:spPr>
      </p:pic>
      <p:sp>
        <p:nvSpPr>
          <p:cNvPr id="8" name="TextBox 7"/>
          <p:cNvSpPr txBox="1"/>
          <p:nvPr/>
        </p:nvSpPr>
        <p:spPr>
          <a:xfrm>
            <a:off x="548640" y="1554480"/>
            <a:ext cx="11094415" cy="1005840"/>
          </a:xfrm>
          <a:prstGeom prst="rect">
            <a:avLst/>
          </a:prstGeom>
          <a:noFill/>
        </p:spPr>
        <p:txBody>
          <a:bodyPr wrap="square" anchor="t" lIns="0" rIns="0" tIns="0" bIns="0">
            <a:spAutoFit/>
          </a:bodyPr>
          <a:lstStyle/>
          <a:p>
            <a:r>
              <a:rPr sz="2400" i="0" b="1">
                <a:solidFill>
                  <a:srgbClr val="2B211C"/>
                </a:solidFill>
                <a:latin typeface="Calibri"/>
              </a:rPr>
              <a:t>A nurse forgets to give a patient's evening insulin. This is:</a:t>
            </a:r>
          </a:p>
        </p:txBody>
      </p:sp>
      <p:sp>
        <p:nvSpPr>
          <p:cNvPr id="9" name="Rounded Rectangle 8"/>
          <p:cNvSpPr/>
          <p:nvPr/>
        </p:nvSpPr>
        <p:spPr>
          <a:xfrm>
            <a:off x="548640" y="2606040"/>
            <a:ext cx="11094415" cy="548640"/>
          </a:xfrm>
          <a:prstGeom prst="roundRect">
            <a:avLst>
              <a:gd name="adj" fmla="val 18000"/>
            </a:avLst>
          </a:prstGeom>
          <a:solidFill>
            <a:srgbClr val="F5F4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713232" y="2670048"/>
            <a:ext cx="420624" cy="420624"/>
          </a:xfrm>
          <a:prstGeom prst="ellipse">
            <a:avLst/>
          </a:prstGeom>
          <a:solidFill>
            <a:srgbClr val="E2E0D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500" i="0" b="1">
                <a:solidFill>
                  <a:srgbClr val="6E625B"/>
                </a:solidFill>
                <a:latin typeface="Calibri"/>
              </a:rPr>
              <a:t>A</a:t>
            </a:r>
          </a:p>
        </p:txBody>
      </p:sp>
      <p:sp>
        <p:nvSpPr>
          <p:cNvPr id="11" name="TextBox 10"/>
          <p:cNvSpPr txBox="1"/>
          <p:nvPr/>
        </p:nvSpPr>
        <p:spPr>
          <a:xfrm>
            <a:off x="1371600" y="2606040"/>
            <a:ext cx="10088575" cy="548640"/>
          </a:xfrm>
          <a:prstGeom prst="rect">
            <a:avLst/>
          </a:prstGeom>
          <a:noFill/>
        </p:spPr>
        <p:txBody>
          <a:bodyPr wrap="square" anchor="ctr" lIns="0" rIns="0" tIns="0" bIns="0">
            <a:spAutoFit/>
          </a:bodyPr>
          <a:lstStyle/>
          <a:p>
            <a:r>
              <a:rPr sz="1900" i="0" b="0">
                <a:solidFill>
                  <a:srgbClr val="6E625B"/>
                </a:solidFill>
                <a:latin typeface="Calibri"/>
              </a:rPr>
              <a:t>An error of commission</a:t>
            </a:r>
          </a:p>
        </p:txBody>
      </p:sp>
      <p:sp>
        <p:nvSpPr>
          <p:cNvPr id="12" name="Rounded Rectangle 11"/>
          <p:cNvSpPr/>
          <p:nvPr/>
        </p:nvSpPr>
        <p:spPr>
          <a:xfrm>
            <a:off x="548640" y="3282696"/>
            <a:ext cx="11094415" cy="548640"/>
          </a:xfrm>
          <a:prstGeom prst="roundRect">
            <a:avLst>
              <a:gd name="adj" fmla="val 18000"/>
            </a:avLst>
          </a:prstGeom>
          <a:solidFill>
            <a:srgbClr val="F5F4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713232" y="3346703"/>
            <a:ext cx="420624" cy="420624"/>
          </a:xfrm>
          <a:prstGeom prst="ellipse">
            <a:avLst/>
          </a:prstGeom>
          <a:solidFill>
            <a:srgbClr val="E2E0D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500" i="0" b="1">
                <a:solidFill>
                  <a:srgbClr val="6E625B"/>
                </a:solidFill>
                <a:latin typeface="Calibri"/>
              </a:rPr>
              <a:t>B</a:t>
            </a:r>
          </a:p>
        </p:txBody>
      </p:sp>
      <p:sp>
        <p:nvSpPr>
          <p:cNvPr id="14" name="TextBox 13"/>
          <p:cNvSpPr txBox="1"/>
          <p:nvPr/>
        </p:nvSpPr>
        <p:spPr>
          <a:xfrm>
            <a:off x="1371600" y="3282696"/>
            <a:ext cx="10088575" cy="548640"/>
          </a:xfrm>
          <a:prstGeom prst="rect">
            <a:avLst/>
          </a:prstGeom>
          <a:noFill/>
        </p:spPr>
        <p:txBody>
          <a:bodyPr wrap="square" anchor="ctr" lIns="0" rIns="0" tIns="0" bIns="0">
            <a:spAutoFit/>
          </a:bodyPr>
          <a:lstStyle/>
          <a:p>
            <a:r>
              <a:rPr sz="1900" i="0" b="0">
                <a:solidFill>
                  <a:srgbClr val="6E625B"/>
                </a:solidFill>
                <a:latin typeface="Calibri"/>
              </a:rPr>
              <a:t>A Type A ADR</a:t>
            </a:r>
          </a:p>
        </p:txBody>
      </p:sp>
      <p:sp>
        <p:nvSpPr>
          <p:cNvPr id="15" name="Rounded Rectangle 14"/>
          <p:cNvSpPr/>
          <p:nvPr/>
        </p:nvSpPr>
        <p:spPr>
          <a:xfrm>
            <a:off x="548640" y="3959352"/>
            <a:ext cx="11094415" cy="548640"/>
          </a:xfrm>
          <a:prstGeom prst="roundRect">
            <a:avLst>
              <a:gd name="adj" fmla="val 18000"/>
            </a:avLst>
          </a:prstGeom>
          <a:solidFill>
            <a:srgbClr val="2F6F7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713232" y="4023360"/>
            <a:ext cx="420624" cy="420624"/>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500" i="0" b="1">
                <a:solidFill>
                  <a:srgbClr val="2F6F7A"/>
                </a:solidFill>
                <a:latin typeface="Calibri"/>
              </a:rPr>
              <a:t>C</a:t>
            </a:r>
          </a:p>
        </p:txBody>
      </p:sp>
      <p:sp>
        <p:nvSpPr>
          <p:cNvPr id="17" name="TextBox 16"/>
          <p:cNvSpPr txBox="1"/>
          <p:nvPr/>
        </p:nvSpPr>
        <p:spPr>
          <a:xfrm>
            <a:off x="1371600" y="3959352"/>
            <a:ext cx="10088575" cy="548640"/>
          </a:xfrm>
          <a:prstGeom prst="rect">
            <a:avLst/>
          </a:prstGeom>
          <a:noFill/>
        </p:spPr>
        <p:txBody>
          <a:bodyPr wrap="square" anchor="ctr" lIns="0" rIns="0" tIns="0" bIns="0">
            <a:spAutoFit/>
          </a:bodyPr>
          <a:lstStyle/>
          <a:p>
            <a:r>
              <a:rPr sz="1900" i="0" b="1">
                <a:solidFill>
                  <a:srgbClr val="FFFFFF"/>
                </a:solidFill>
                <a:latin typeface="Calibri"/>
              </a:rPr>
              <a:t>An error of omission</a:t>
            </a:r>
          </a:p>
        </p:txBody>
      </p:sp>
      <p:sp>
        <p:nvSpPr>
          <p:cNvPr id="18" name="Rounded Rectangle 17"/>
          <p:cNvSpPr/>
          <p:nvPr/>
        </p:nvSpPr>
        <p:spPr>
          <a:xfrm>
            <a:off x="548640" y="4636008"/>
            <a:ext cx="11094415" cy="548640"/>
          </a:xfrm>
          <a:prstGeom prst="roundRect">
            <a:avLst>
              <a:gd name="adj" fmla="val 18000"/>
            </a:avLst>
          </a:prstGeom>
          <a:solidFill>
            <a:srgbClr val="F5F4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713232" y="4700016"/>
            <a:ext cx="420624" cy="420624"/>
          </a:xfrm>
          <a:prstGeom prst="ellipse">
            <a:avLst/>
          </a:prstGeom>
          <a:solidFill>
            <a:srgbClr val="E2E0D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500" i="0" b="1">
                <a:solidFill>
                  <a:srgbClr val="6E625B"/>
                </a:solidFill>
                <a:latin typeface="Calibri"/>
              </a:rPr>
              <a:t>D</a:t>
            </a:r>
          </a:p>
        </p:txBody>
      </p:sp>
      <p:sp>
        <p:nvSpPr>
          <p:cNvPr id="20" name="TextBox 19"/>
          <p:cNvSpPr txBox="1"/>
          <p:nvPr/>
        </p:nvSpPr>
        <p:spPr>
          <a:xfrm>
            <a:off x="1371600" y="4636008"/>
            <a:ext cx="10088575" cy="548640"/>
          </a:xfrm>
          <a:prstGeom prst="rect">
            <a:avLst/>
          </a:prstGeom>
          <a:noFill/>
        </p:spPr>
        <p:txBody>
          <a:bodyPr wrap="square" anchor="ctr" lIns="0" rIns="0" tIns="0" bIns="0">
            <a:spAutoFit/>
          </a:bodyPr>
          <a:lstStyle/>
          <a:p>
            <a:r>
              <a:rPr sz="1900" i="0" b="0">
                <a:solidFill>
                  <a:srgbClr val="6E625B"/>
                </a:solidFill>
                <a:latin typeface="Calibri"/>
              </a:rPr>
              <a:t>A Type B ADR</a:t>
            </a:r>
          </a:p>
        </p:txBody>
      </p:sp>
      <p:sp>
        <p:nvSpPr>
          <p:cNvPr id="21" name="TextBox 20"/>
          <p:cNvSpPr txBox="1"/>
          <p:nvPr/>
        </p:nvSpPr>
        <p:spPr>
          <a:xfrm>
            <a:off x="548640" y="5358384"/>
            <a:ext cx="11094415" cy="685800"/>
          </a:xfrm>
          <a:prstGeom prst="rect">
            <a:avLst/>
          </a:prstGeom>
          <a:noFill/>
        </p:spPr>
        <p:txBody>
          <a:bodyPr wrap="square" anchor="t" lIns="0" rIns="0" tIns="0" bIns="0">
            <a:spAutoFit/>
          </a:bodyPr>
          <a:lstStyle/>
          <a:p>
            <a:r>
              <a:rPr sz="1500" i="0" b="1">
                <a:solidFill>
                  <a:srgbClr val="2F6F7A"/>
                </a:solidFill>
                <a:latin typeface="Calibri"/>
              </a:rPr>
              <a:t>Why:  </a:t>
            </a:r>
            <a:r>
              <a:rPr sz="1500" i="0" b="0">
                <a:solidFill>
                  <a:srgbClr val="2B211C"/>
                </a:solidFill>
                <a:latin typeface="Calibri"/>
              </a:rPr>
              <a:t>A missed dose is an error of omission. A is doing the wrong thing; B and D are ADRs.</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Oval 1"/>
          <p:cNvSpPr/>
          <p:nvPr/>
        </p:nvSpPr>
        <p:spPr>
          <a:xfrm>
            <a:off x="548640" y="475488"/>
            <a:ext cx="658368" cy="658368"/>
          </a:xfrm>
          <a:prstGeom prst="ellipse">
            <a:avLst/>
          </a:prstGeom>
          <a:solidFill>
            <a:srgbClr val="2F6F7A"/>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800" i="0" b="1">
                <a:solidFill>
                  <a:srgbClr val="FFFFFF"/>
                </a:solidFill>
                <a:latin typeface="Cambria"/>
              </a:rPr>
              <a:t>09</a:t>
            </a:r>
          </a:p>
        </p:txBody>
      </p:sp>
      <p:sp>
        <p:nvSpPr>
          <p:cNvPr id="3" name="TextBox 2"/>
          <p:cNvSpPr txBox="1"/>
          <p:nvPr/>
        </p:nvSpPr>
        <p:spPr>
          <a:xfrm>
            <a:off x="1417319" y="438912"/>
            <a:ext cx="10180015" cy="292608"/>
          </a:xfrm>
          <a:prstGeom prst="rect">
            <a:avLst/>
          </a:prstGeom>
          <a:noFill/>
        </p:spPr>
        <p:txBody>
          <a:bodyPr wrap="square" anchor="t" lIns="0" rIns="0" tIns="0" bIns="0">
            <a:spAutoFit/>
          </a:bodyPr>
          <a:lstStyle/>
          <a:p>
            <a:r>
              <a:rPr sz="1200" i="0" b="1" spc="150">
                <a:solidFill>
                  <a:srgbClr val="2F6F7A"/>
                </a:solidFill>
                <a:latin typeface="Calibri"/>
              </a:rPr>
              <a:t>SECTION 9  ·  QUESTION 5 OF 5</a:t>
            </a:r>
          </a:p>
        </p:txBody>
      </p:sp>
      <p:sp>
        <p:nvSpPr>
          <p:cNvPr id="4" name="TextBox 3"/>
          <p:cNvSpPr txBox="1"/>
          <p:nvPr/>
        </p:nvSpPr>
        <p:spPr>
          <a:xfrm>
            <a:off x="1417319" y="676656"/>
            <a:ext cx="10180015" cy="640080"/>
          </a:xfrm>
          <a:prstGeom prst="rect">
            <a:avLst/>
          </a:prstGeom>
          <a:noFill/>
        </p:spPr>
        <p:txBody>
          <a:bodyPr wrap="square" anchor="t" lIns="0" rIns="0" tIns="0" bIns="0">
            <a:spAutoFit/>
          </a:bodyPr>
          <a:lstStyle/>
          <a:p>
            <a:r>
              <a:rPr sz="3200" i="0" b="1">
                <a:solidFill>
                  <a:srgbClr val="2B211C"/>
                </a:solidFill>
                <a:latin typeface="Cambria"/>
              </a:rPr>
              <a:t>Your turn</a:t>
            </a:r>
          </a:p>
        </p:txBody>
      </p:sp>
      <p:sp>
        <p:nvSpPr>
          <p:cNvPr id="5" name="TextBox 4"/>
          <p:cNvSpPr txBox="1"/>
          <p:nvPr/>
        </p:nvSpPr>
        <p:spPr>
          <a:xfrm>
            <a:off x="548640" y="6419088"/>
            <a:ext cx="8229600" cy="274320"/>
          </a:xfrm>
          <a:prstGeom prst="rect">
            <a:avLst/>
          </a:prstGeom>
          <a:noFill/>
        </p:spPr>
        <p:txBody>
          <a:bodyPr wrap="square" anchor="t" lIns="0" rIns="0" tIns="0" bIns="0">
            <a:spAutoFit/>
          </a:bodyPr>
          <a:lstStyle/>
          <a:p>
            <a:r>
              <a:rPr sz="1000" i="0" b="0">
                <a:solidFill>
                  <a:srgbClr val="6E625B"/>
                </a:solidFill>
                <a:latin typeface="Calibri"/>
              </a:rPr>
              <a:t>Drug Information  ·  Section 9  ·  Pharmacovigilance, ADR Reporting and Medication Errors</a:t>
            </a:r>
          </a:p>
        </p:txBody>
      </p:sp>
      <p:sp>
        <p:nvSpPr>
          <p:cNvPr id="6" name="TextBox 5"/>
          <p:cNvSpPr txBox="1"/>
          <p:nvPr/>
        </p:nvSpPr>
        <p:spPr>
          <a:xfrm>
            <a:off x="10424160" y="6419088"/>
            <a:ext cx="731520" cy="274320"/>
          </a:xfrm>
          <a:prstGeom prst="rect">
            <a:avLst/>
          </a:prstGeom>
          <a:noFill/>
        </p:spPr>
        <p:txBody>
          <a:bodyPr wrap="square" anchor="t" lIns="0" rIns="0" tIns="0" bIns="0">
            <a:spAutoFit/>
          </a:bodyPr>
          <a:lstStyle/>
          <a:p>
            <a:pPr algn="r"/>
            <a:r>
              <a:rPr sz="1000" i="0" b="1">
                <a:solidFill>
                  <a:srgbClr val="6E625B"/>
                </a:solidFill>
                <a:latin typeface="Calibri"/>
              </a:rPr>
              <a:t>21</a:t>
            </a:r>
          </a:p>
        </p:txBody>
      </p:sp>
      <p:pic>
        <p:nvPicPr>
          <p:cNvPr id="7" name="Picture 6" descr="faculty-of-pharmacy.png"/>
          <p:cNvPicPr>
            <a:picLocks noChangeAspect="1"/>
          </p:cNvPicPr>
          <p:nvPr/>
        </p:nvPicPr>
        <p:blipFill>
          <a:blip r:embed="rId3"/>
          <a:stretch>
            <a:fillRect/>
          </a:stretch>
        </p:blipFill>
        <p:spPr>
          <a:xfrm>
            <a:off x="11247120" y="6309360"/>
            <a:ext cx="384048" cy="384048"/>
          </a:xfrm>
          <a:prstGeom prst="rect">
            <a:avLst/>
          </a:prstGeom>
        </p:spPr>
      </p:pic>
      <p:sp>
        <p:nvSpPr>
          <p:cNvPr id="8" name="TextBox 7"/>
          <p:cNvSpPr txBox="1"/>
          <p:nvPr/>
        </p:nvSpPr>
        <p:spPr>
          <a:xfrm>
            <a:off x="548640" y="1554480"/>
            <a:ext cx="11094415" cy="1005840"/>
          </a:xfrm>
          <a:prstGeom prst="rect">
            <a:avLst/>
          </a:prstGeom>
          <a:noFill/>
        </p:spPr>
        <p:txBody>
          <a:bodyPr wrap="square" anchor="t" lIns="0" rIns="0" tIns="0" bIns="0">
            <a:spAutoFit/>
          </a:bodyPr>
          <a:lstStyle/>
          <a:p>
            <a:r>
              <a:rPr sz="2400" i="0" b="1">
                <a:solidFill>
                  <a:srgbClr val="2B211C"/>
                </a:solidFill>
                <a:latin typeface="Calibri"/>
              </a:rPr>
              <a:t>Which measure best reduces dispensing errors with look-alike drug names?</a:t>
            </a:r>
          </a:p>
        </p:txBody>
      </p:sp>
      <p:sp>
        <p:nvSpPr>
          <p:cNvPr id="9" name="Rounded Rectangle 8"/>
          <p:cNvSpPr/>
          <p:nvPr/>
        </p:nvSpPr>
        <p:spPr>
          <a:xfrm>
            <a:off x="548640" y="2697480"/>
            <a:ext cx="11094415" cy="640080"/>
          </a:xfrm>
          <a:prstGeom prst="roundRect">
            <a:avLst>
              <a:gd name="adj" fmla="val 18000"/>
            </a:avLst>
          </a:prstGeom>
          <a:solidFill>
            <a:srgbClr val="FAF4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713232" y="2807208"/>
            <a:ext cx="420624" cy="420624"/>
          </a:xfrm>
          <a:prstGeom prst="ellipse">
            <a:avLst/>
          </a:prstGeom>
          <a:solidFill>
            <a:srgbClr val="A4472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500" i="0" b="1">
                <a:solidFill>
                  <a:srgbClr val="FFFFFF"/>
                </a:solidFill>
                <a:latin typeface="Calibri"/>
              </a:rPr>
              <a:t>A</a:t>
            </a:r>
          </a:p>
        </p:txBody>
      </p:sp>
      <p:sp>
        <p:nvSpPr>
          <p:cNvPr id="11" name="TextBox 10"/>
          <p:cNvSpPr txBox="1"/>
          <p:nvPr/>
        </p:nvSpPr>
        <p:spPr>
          <a:xfrm>
            <a:off x="1371600" y="2697480"/>
            <a:ext cx="10088575" cy="640080"/>
          </a:xfrm>
          <a:prstGeom prst="rect">
            <a:avLst/>
          </a:prstGeom>
          <a:noFill/>
        </p:spPr>
        <p:txBody>
          <a:bodyPr wrap="square" anchor="ctr" lIns="0" rIns="0" tIns="0" bIns="0">
            <a:spAutoFit/>
          </a:bodyPr>
          <a:lstStyle/>
          <a:p>
            <a:r>
              <a:rPr sz="1900" i="0" b="0">
                <a:solidFill>
                  <a:srgbClr val="2B211C"/>
                </a:solidFill>
                <a:latin typeface="Calibri"/>
              </a:rPr>
              <a:t>Storing LASA drugs side by side</a:t>
            </a:r>
          </a:p>
        </p:txBody>
      </p:sp>
      <p:sp>
        <p:nvSpPr>
          <p:cNvPr id="12" name="Rounded Rectangle 11"/>
          <p:cNvSpPr/>
          <p:nvPr/>
        </p:nvSpPr>
        <p:spPr>
          <a:xfrm>
            <a:off x="548640" y="3465576"/>
            <a:ext cx="11094415" cy="640080"/>
          </a:xfrm>
          <a:prstGeom prst="roundRect">
            <a:avLst>
              <a:gd name="adj" fmla="val 18000"/>
            </a:avLst>
          </a:prstGeom>
          <a:solidFill>
            <a:srgbClr val="FAF4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713232" y="3575304"/>
            <a:ext cx="420624" cy="420624"/>
          </a:xfrm>
          <a:prstGeom prst="ellipse">
            <a:avLst/>
          </a:prstGeom>
          <a:solidFill>
            <a:srgbClr val="A4472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500" i="0" b="1">
                <a:solidFill>
                  <a:srgbClr val="FFFFFF"/>
                </a:solidFill>
                <a:latin typeface="Calibri"/>
              </a:rPr>
              <a:t>B</a:t>
            </a:r>
          </a:p>
        </p:txBody>
      </p:sp>
      <p:sp>
        <p:nvSpPr>
          <p:cNvPr id="14" name="TextBox 13"/>
          <p:cNvSpPr txBox="1"/>
          <p:nvPr/>
        </p:nvSpPr>
        <p:spPr>
          <a:xfrm>
            <a:off x="1371600" y="3465576"/>
            <a:ext cx="10088575" cy="640080"/>
          </a:xfrm>
          <a:prstGeom prst="rect">
            <a:avLst/>
          </a:prstGeom>
          <a:noFill/>
        </p:spPr>
        <p:txBody>
          <a:bodyPr wrap="square" anchor="ctr" lIns="0" rIns="0" tIns="0" bIns="0">
            <a:spAutoFit/>
          </a:bodyPr>
          <a:lstStyle/>
          <a:p>
            <a:r>
              <a:rPr sz="1900" i="0" b="0">
                <a:solidFill>
                  <a:srgbClr val="2B211C"/>
                </a:solidFill>
                <a:latin typeface="Calibri"/>
              </a:rPr>
              <a:t>Using "tall man" lettering and separating them on shelves</a:t>
            </a:r>
          </a:p>
        </p:txBody>
      </p:sp>
      <p:sp>
        <p:nvSpPr>
          <p:cNvPr id="15" name="Rounded Rectangle 14"/>
          <p:cNvSpPr/>
          <p:nvPr/>
        </p:nvSpPr>
        <p:spPr>
          <a:xfrm>
            <a:off x="548640" y="4233672"/>
            <a:ext cx="11094415" cy="640080"/>
          </a:xfrm>
          <a:prstGeom prst="roundRect">
            <a:avLst>
              <a:gd name="adj" fmla="val 18000"/>
            </a:avLst>
          </a:prstGeom>
          <a:solidFill>
            <a:srgbClr val="FAF4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713232" y="4343400"/>
            <a:ext cx="420624" cy="420624"/>
          </a:xfrm>
          <a:prstGeom prst="ellipse">
            <a:avLst/>
          </a:prstGeom>
          <a:solidFill>
            <a:srgbClr val="A4472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500" i="0" b="1">
                <a:solidFill>
                  <a:srgbClr val="FFFFFF"/>
                </a:solidFill>
                <a:latin typeface="Calibri"/>
              </a:rPr>
              <a:t>C</a:t>
            </a:r>
          </a:p>
        </p:txBody>
      </p:sp>
      <p:sp>
        <p:nvSpPr>
          <p:cNvPr id="17" name="TextBox 16"/>
          <p:cNvSpPr txBox="1"/>
          <p:nvPr/>
        </p:nvSpPr>
        <p:spPr>
          <a:xfrm>
            <a:off x="1371600" y="4233672"/>
            <a:ext cx="10088575" cy="640080"/>
          </a:xfrm>
          <a:prstGeom prst="rect">
            <a:avLst/>
          </a:prstGeom>
          <a:noFill/>
        </p:spPr>
        <p:txBody>
          <a:bodyPr wrap="square" anchor="ctr" lIns="0" rIns="0" tIns="0" bIns="0">
            <a:spAutoFit/>
          </a:bodyPr>
          <a:lstStyle/>
          <a:p>
            <a:r>
              <a:rPr sz="1900" i="0" b="0">
                <a:solidFill>
                  <a:srgbClr val="2B211C"/>
                </a:solidFill>
                <a:latin typeface="Calibri"/>
              </a:rPr>
              <a:t>Removing all labels</a:t>
            </a:r>
          </a:p>
        </p:txBody>
      </p:sp>
      <p:sp>
        <p:nvSpPr>
          <p:cNvPr id="18" name="Rounded Rectangle 17"/>
          <p:cNvSpPr/>
          <p:nvPr/>
        </p:nvSpPr>
        <p:spPr>
          <a:xfrm>
            <a:off x="548640" y="5001768"/>
            <a:ext cx="11094415" cy="640080"/>
          </a:xfrm>
          <a:prstGeom prst="roundRect">
            <a:avLst>
              <a:gd name="adj" fmla="val 18000"/>
            </a:avLst>
          </a:prstGeom>
          <a:solidFill>
            <a:srgbClr val="FAF4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713232" y="5111496"/>
            <a:ext cx="420624" cy="420624"/>
          </a:xfrm>
          <a:prstGeom prst="ellipse">
            <a:avLst/>
          </a:prstGeom>
          <a:solidFill>
            <a:srgbClr val="A4472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500" i="0" b="1">
                <a:solidFill>
                  <a:srgbClr val="FFFFFF"/>
                </a:solidFill>
                <a:latin typeface="Calibri"/>
              </a:rPr>
              <a:t>D</a:t>
            </a:r>
          </a:p>
        </p:txBody>
      </p:sp>
      <p:sp>
        <p:nvSpPr>
          <p:cNvPr id="20" name="TextBox 19"/>
          <p:cNvSpPr txBox="1"/>
          <p:nvPr/>
        </p:nvSpPr>
        <p:spPr>
          <a:xfrm>
            <a:off x="1371600" y="5001768"/>
            <a:ext cx="10088575" cy="640080"/>
          </a:xfrm>
          <a:prstGeom prst="rect">
            <a:avLst/>
          </a:prstGeom>
          <a:noFill/>
        </p:spPr>
        <p:txBody>
          <a:bodyPr wrap="square" anchor="ctr" lIns="0" rIns="0" tIns="0" bIns="0">
            <a:spAutoFit/>
          </a:bodyPr>
          <a:lstStyle/>
          <a:p>
            <a:r>
              <a:rPr sz="1900" i="0" b="0">
                <a:solidFill>
                  <a:srgbClr val="2B211C"/>
                </a:solidFill>
                <a:latin typeface="Calibri"/>
              </a:rPr>
              <a:t>Dispensing from memory</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Oval 1"/>
          <p:cNvSpPr/>
          <p:nvPr/>
        </p:nvSpPr>
        <p:spPr>
          <a:xfrm>
            <a:off x="548640" y="475488"/>
            <a:ext cx="658368" cy="658368"/>
          </a:xfrm>
          <a:prstGeom prst="ellipse">
            <a:avLst/>
          </a:prstGeom>
          <a:solidFill>
            <a:srgbClr val="2F6F7A"/>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800" i="0" b="1">
                <a:solidFill>
                  <a:srgbClr val="FFFFFF"/>
                </a:solidFill>
                <a:latin typeface="Cambria"/>
              </a:rPr>
              <a:t>09</a:t>
            </a:r>
          </a:p>
        </p:txBody>
      </p:sp>
      <p:sp>
        <p:nvSpPr>
          <p:cNvPr id="3" name="TextBox 2"/>
          <p:cNvSpPr txBox="1"/>
          <p:nvPr/>
        </p:nvSpPr>
        <p:spPr>
          <a:xfrm>
            <a:off x="1417319" y="438912"/>
            <a:ext cx="10180015" cy="292608"/>
          </a:xfrm>
          <a:prstGeom prst="rect">
            <a:avLst/>
          </a:prstGeom>
          <a:noFill/>
        </p:spPr>
        <p:txBody>
          <a:bodyPr wrap="square" anchor="t" lIns="0" rIns="0" tIns="0" bIns="0">
            <a:spAutoFit/>
          </a:bodyPr>
          <a:lstStyle/>
          <a:p>
            <a:r>
              <a:rPr sz="1200" i="0" b="1" spc="150">
                <a:solidFill>
                  <a:srgbClr val="2F6F7A"/>
                </a:solidFill>
                <a:latin typeface="Calibri"/>
              </a:rPr>
              <a:t>SECTION 9  ·  QUESTION 5 OF 5  ·  ANSWER</a:t>
            </a:r>
          </a:p>
        </p:txBody>
      </p:sp>
      <p:sp>
        <p:nvSpPr>
          <p:cNvPr id="4" name="TextBox 3"/>
          <p:cNvSpPr txBox="1"/>
          <p:nvPr/>
        </p:nvSpPr>
        <p:spPr>
          <a:xfrm>
            <a:off x="1417319" y="676656"/>
            <a:ext cx="10180015" cy="640080"/>
          </a:xfrm>
          <a:prstGeom prst="rect">
            <a:avLst/>
          </a:prstGeom>
          <a:noFill/>
        </p:spPr>
        <p:txBody>
          <a:bodyPr wrap="square" anchor="t" lIns="0" rIns="0" tIns="0" bIns="0">
            <a:spAutoFit/>
          </a:bodyPr>
          <a:lstStyle/>
          <a:p>
            <a:r>
              <a:rPr sz="3200" i="0" b="1">
                <a:solidFill>
                  <a:srgbClr val="2B211C"/>
                </a:solidFill>
                <a:latin typeface="Cambria"/>
              </a:rPr>
              <a:t>Check your answer</a:t>
            </a:r>
          </a:p>
        </p:txBody>
      </p:sp>
      <p:sp>
        <p:nvSpPr>
          <p:cNvPr id="5" name="TextBox 4"/>
          <p:cNvSpPr txBox="1"/>
          <p:nvPr/>
        </p:nvSpPr>
        <p:spPr>
          <a:xfrm>
            <a:off x="548640" y="6419088"/>
            <a:ext cx="8229600" cy="274320"/>
          </a:xfrm>
          <a:prstGeom prst="rect">
            <a:avLst/>
          </a:prstGeom>
          <a:noFill/>
        </p:spPr>
        <p:txBody>
          <a:bodyPr wrap="square" anchor="t" lIns="0" rIns="0" tIns="0" bIns="0">
            <a:spAutoFit/>
          </a:bodyPr>
          <a:lstStyle/>
          <a:p>
            <a:r>
              <a:rPr sz="1000" i="0" b="0">
                <a:solidFill>
                  <a:srgbClr val="6E625B"/>
                </a:solidFill>
                <a:latin typeface="Calibri"/>
              </a:rPr>
              <a:t>Drug Information  ·  Section 9  ·  Pharmacovigilance, ADR Reporting and Medication Errors</a:t>
            </a:r>
          </a:p>
        </p:txBody>
      </p:sp>
      <p:sp>
        <p:nvSpPr>
          <p:cNvPr id="6" name="TextBox 5"/>
          <p:cNvSpPr txBox="1"/>
          <p:nvPr/>
        </p:nvSpPr>
        <p:spPr>
          <a:xfrm>
            <a:off x="10424160" y="6419088"/>
            <a:ext cx="731520" cy="274320"/>
          </a:xfrm>
          <a:prstGeom prst="rect">
            <a:avLst/>
          </a:prstGeom>
          <a:noFill/>
        </p:spPr>
        <p:txBody>
          <a:bodyPr wrap="square" anchor="t" lIns="0" rIns="0" tIns="0" bIns="0">
            <a:spAutoFit/>
          </a:bodyPr>
          <a:lstStyle/>
          <a:p>
            <a:pPr algn="r"/>
            <a:r>
              <a:rPr sz="1000" i="0" b="1">
                <a:solidFill>
                  <a:srgbClr val="6E625B"/>
                </a:solidFill>
                <a:latin typeface="Calibri"/>
              </a:rPr>
              <a:t>22</a:t>
            </a:r>
          </a:p>
        </p:txBody>
      </p:sp>
      <p:pic>
        <p:nvPicPr>
          <p:cNvPr id="7" name="Picture 6" descr="faculty-of-pharmacy.png"/>
          <p:cNvPicPr>
            <a:picLocks noChangeAspect="1"/>
          </p:cNvPicPr>
          <p:nvPr/>
        </p:nvPicPr>
        <p:blipFill>
          <a:blip r:embed="rId2"/>
          <a:stretch>
            <a:fillRect/>
          </a:stretch>
        </p:blipFill>
        <p:spPr>
          <a:xfrm>
            <a:off x="11247120" y="6309360"/>
            <a:ext cx="384048" cy="384048"/>
          </a:xfrm>
          <a:prstGeom prst="rect">
            <a:avLst/>
          </a:prstGeom>
        </p:spPr>
      </p:pic>
      <p:sp>
        <p:nvSpPr>
          <p:cNvPr id="8" name="TextBox 7"/>
          <p:cNvSpPr txBox="1"/>
          <p:nvPr/>
        </p:nvSpPr>
        <p:spPr>
          <a:xfrm>
            <a:off x="548640" y="1554480"/>
            <a:ext cx="11094415" cy="1005840"/>
          </a:xfrm>
          <a:prstGeom prst="rect">
            <a:avLst/>
          </a:prstGeom>
          <a:noFill/>
        </p:spPr>
        <p:txBody>
          <a:bodyPr wrap="square" anchor="t" lIns="0" rIns="0" tIns="0" bIns="0">
            <a:spAutoFit/>
          </a:bodyPr>
          <a:lstStyle/>
          <a:p>
            <a:r>
              <a:rPr sz="2400" i="0" b="1">
                <a:solidFill>
                  <a:srgbClr val="2B211C"/>
                </a:solidFill>
                <a:latin typeface="Calibri"/>
              </a:rPr>
              <a:t>Which measure best reduces dispensing errors with look-alike drug names?</a:t>
            </a:r>
          </a:p>
        </p:txBody>
      </p:sp>
      <p:sp>
        <p:nvSpPr>
          <p:cNvPr id="9" name="Rounded Rectangle 8"/>
          <p:cNvSpPr/>
          <p:nvPr/>
        </p:nvSpPr>
        <p:spPr>
          <a:xfrm>
            <a:off x="548640" y="2606040"/>
            <a:ext cx="11094415" cy="548640"/>
          </a:xfrm>
          <a:prstGeom prst="roundRect">
            <a:avLst>
              <a:gd name="adj" fmla="val 18000"/>
            </a:avLst>
          </a:prstGeom>
          <a:solidFill>
            <a:srgbClr val="F5F4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713232" y="2670048"/>
            <a:ext cx="420624" cy="420624"/>
          </a:xfrm>
          <a:prstGeom prst="ellipse">
            <a:avLst/>
          </a:prstGeom>
          <a:solidFill>
            <a:srgbClr val="E2E0D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500" i="0" b="1">
                <a:solidFill>
                  <a:srgbClr val="6E625B"/>
                </a:solidFill>
                <a:latin typeface="Calibri"/>
              </a:rPr>
              <a:t>A</a:t>
            </a:r>
          </a:p>
        </p:txBody>
      </p:sp>
      <p:sp>
        <p:nvSpPr>
          <p:cNvPr id="11" name="TextBox 10"/>
          <p:cNvSpPr txBox="1"/>
          <p:nvPr/>
        </p:nvSpPr>
        <p:spPr>
          <a:xfrm>
            <a:off x="1371600" y="2606040"/>
            <a:ext cx="10088575" cy="548640"/>
          </a:xfrm>
          <a:prstGeom prst="rect">
            <a:avLst/>
          </a:prstGeom>
          <a:noFill/>
        </p:spPr>
        <p:txBody>
          <a:bodyPr wrap="square" anchor="ctr" lIns="0" rIns="0" tIns="0" bIns="0">
            <a:spAutoFit/>
          </a:bodyPr>
          <a:lstStyle/>
          <a:p>
            <a:r>
              <a:rPr sz="1900" i="0" b="0">
                <a:solidFill>
                  <a:srgbClr val="6E625B"/>
                </a:solidFill>
                <a:latin typeface="Calibri"/>
              </a:rPr>
              <a:t>Storing LASA drugs side by side</a:t>
            </a:r>
          </a:p>
        </p:txBody>
      </p:sp>
      <p:sp>
        <p:nvSpPr>
          <p:cNvPr id="12" name="Rounded Rectangle 11"/>
          <p:cNvSpPr/>
          <p:nvPr/>
        </p:nvSpPr>
        <p:spPr>
          <a:xfrm>
            <a:off x="548640" y="3282696"/>
            <a:ext cx="11094415" cy="548640"/>
          </a:xfrm>
          <a:prstGeom prst="roundRect">
            <a:avLst>
              <a:gd name="adj" fmla="val 18000"/>
            </a:avLst>
          </a:prstGeom>
          <a:solidFill>
            <a:srgbClr val="2F6F7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713232" y="3346703"/>
            <a:ext cx="420624" cy="420624"/>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500" i="0" b="1">
                <a:solidFill>
                  <a:srgbClr val="2F6F7A"/>
                </a:solidFill>
                <a:latin typeface="Calibri"/>
              </a:rPr>
              <a:t>B</a:t>
            </a:r>
          </a:p>
        </p:txBody>
      </p:sp>
      <p:sp>
        <p:nvSpPr>
          <p:cNvPr id="14" name="TextBox 13"/>
          <p:cNvSpPr txBox="1"/>
          <p:nvPr/>
        </p:nvSpPr>
        <p:spPr>
          <a:xfrm>
            <a:off x="1371600" y="3282696"/>
            <a:ext cx="10088575" cy="548640"/>
          </a:xfrm>
          <a:prstGeom prst="rect">
            <a:avLst/>
          </a:prstGeom>
          <a:noFill/>
        </p:spPr>
        <p:txBody>
          <a:bodyPr wrap="square" anchor="ctr" lIns="0" rIns="0" tIns="0" bIns="0">
            <a:spAutoFit/>
          </a:bodyPr>
          <a:lstStyle/>
          <a:p>
            <a:r>
              <a:rPr sz="1900" i="0" b="1">
                <a:solidFill>
                  <a:srgbClr val="FFFFFF"/>
                </a:solidFill>
                <a:latin typeface="Calibri"/>
              </a:rPr>
              <a:t>Using "tall man" lettering and separating them on shelves</a:t>
            </a:r>
          </a:p>
        </p:txBody>
      </p:sp>
      <p:sp>
        <p:nvSpPr>
          <p:cNvPr id="15" name="Rounded Rectangle 14"/>
          <p:cNvSpPr/>
          <p:nvPr/>
        </p:nvSpPr>
        <p:spPr>
          <a:xfrm>
            <a:off x="548640" y="3959352"/>
            <a:ext cx="11094415" cy="548640"/>
          </a:xfrm>
          <a:prstGeom prst="roundRect">
            <a:avLst>
              <a:gd name="adj" fmla="val 18000"/>
            </a:avLst>
          </a:prstGeom>
          <a:solidFill>
            <a:srgbClr val="F5F4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713232" y="4023360"/>
            <a:ext cx="420624" cy="420624"/>
          </a:xfrm>
          <a:prstGeom prst="ellipse">
            <a:avLst/>
          </a:prstGeom>
          <a:solidFill>
            <a:srgbClr val="E2E0D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500" i="0" b="1">
                <a:solidFill>
                  <a:srgbClr val="6E625B"/>
                </a:solidFill>
                <a:latin typeface="Calibri"/>
              </a:rPr>
              <a:t>C</a:t>
            </a:r>
          </a:p>
        </p:txBody>
      </p:sp>
      <p:sp>
        <p:nvSpPr>
          <p:cNvPr id="17" name="TextBox 16"/>
          <p:cNvSpPr txBox="1"/>
          <p:nvPr/>
        </p:nvSpPr>
        <p:spPr>
          <a:xfrm>
            <a:off x="1371600" y="3959352"/>
            <a:ext cx="10088575" cy="548640"/>
          </a:xfrm>
          <a:prstGeom prst="rect">
            <a:avLst/>
          </a:prstGeom>
          <a:noFill/>
        </p:spPr>
        <p:txBody>
          <a:bodyPr wrap="square" anchor="ctr" lIns="0" rIns="0" tIns="0" bIns="0">
            <a:spAutoFit/>
          </a:bodyPr>
          <a:lstStyle/>
          <a:p>
            <a:r>
              <a:rPr sz="1900" i="0" b="0">
                <a:solidFill>
                  <a:srgbClr val="6E625B"/>
                </a:solidFill>
                <a:latin typeface="Calibri"/>
              </a:rPr>
              <a:t>Removing all labels</a:t>
            </a:r>
          </a:p>
        </p:txBody>
      </p:sp>
      <p:sp>
        <p:nvSpPr>
          <p:cNvPr id="18" name="Rounded Rectangle 17"/>
          <p:cNvSpPr/>
          <p:nvPr/>
        </p:nvSpPr>
        <p:spPr>
          <a:xfrm>
            <a:off x="548640" y="4636008"/>
            <a:ext cx="11094415" cy="548640"/>
          </a:xfrm>
          <a:prstGeom prst="roundRect">
            <a:avLst>
              <a:gd name="adj" fmla="val 18000"/>
            </a:avLst>
          </a:prstGeom>
          <a:solidFill>
            <a:srgbClr val="F5F4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713232" y="4700016"/>
            <a:ext cx="420624" cy="420624"/>
          </a:xfrm>
          <a:prstGeom prst="ellipse">
            <a:avLst/>
          </a:prstGeom>
          <a:solidFill>
            <a:srgbClr val="E2E0D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500" i="0" b="1">
                <a:solidFill>
                  <a:srgbClr val="6E625B"/>
                </a:solidFill>
                <a:latin typeface="Calibri"/>
              </a:rPr>
              <a:t>D</a:t>
            </a:r>
          </a:p>
        </p:txBody>
      </p:sp>
      <p:sp>
        <p:nvSpPr>
          <p:cNvPr id="20" name="TextBox 19"/>
          <p:cNvSpPr txBox="1"/>
          <p:nvPr/>
        </p:nvSpPr>
        <p:spPr>
          <a:xfrm>
            <a:off x="1371600" y="4636008"/>
            <a:ext cx="10088575" cy="548640"/>
          </a:xfrm>
          <a:prstGeom prst="rect">
            <a:avLst/>
          </a:prstGeom>
          <a:noFill/>
        </p:spPr>
        <p:txBody>
          <a:bodyPr wrap="square" anchor="ctr" lIns="0" rIns="0" tIns="0" bIns="0">
            <a:spAutoFit/>
          </a:bodyPr>
          <a:lstStyle/>
          <a:p>
            <a:r>
              <a:rPr sz="1900" i="0" b="0">
                <a:solidFill>
                  <a:srgbClr val="6E625B"/>
                </a:solidFill>
                <a:latin typeface="Calibri"/>
              </a:rPr>
              <a:t>Dispensing from memory</a:t>
            </a:r>
          </a:p>
        </p:txBody>
      </p:sp>
      <p:sp>
        <p:nvSpPr>
          <p:cNvPr id="21" name="TextBox 20"/>
          <p:cNvSpPr txBox="1"/>
          <p:nvPr/>
        </p:nvSpPr>
        <p:spPr>
          <a:xfrm>
            <a:off x="548640" y="5358384"/>
            <a:ext cx="11094415" cy="685800"/>
          </a:xfrm>
          <a:prstGeom prst="rect">
            <a:avLst/>
          </a:prstGeom>
          <a:noFill/>
        </p:spPr>
        <p:txBody>
          <a:bodyPr wrap="square" anchor="t" lIns="0" rIns="0" tIns="0" bIns="0">
            <a:spAutoFit/>
          </a:bodyPr>
          <a:lstStyle/>
          <a:p>
            <a:r>
              <a:rPr sz="1500" i="0" b="1">
                <a:solidFill>
                  <a:srgbClr val="2F6F7A"/>
                </a:solidFill>
                <a:latin typeface="Calibri"/>
              </a:rPr>
              <a:t>Why:  </a:t>
            </a:r>
            <a:r>
              <a:rPr sz="1500" i="0" b="0">
                <a:solidFill>
                  <a:srgbClr val="2B211C"/>
                </a:solidFill>
                <a:latin typeface="Calibri"/>
              </a:rPr>
              <a:t>Tall man letters and separation reduce LASA errors. A, C and D increase risk.</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3931920" cy="6858000"/>
          </a:xfrm>
          <a:prstGeom prst="rect">
            <a:avLst/>
          </a:prstGeom>
          <a:solidFill>
            <a:srgbClr val="A447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188720"/>
            <a:ext cx="2926080" cy="2377440"/>
          </a:xfrm>
          <a:prstGeom prst="rect">
            <a:avLst/>
          </a:prstGeom>
          <a:noFill/>
        </p:spPr>
        <p:txBody>
          <a:bodyPr wrap="square" anchor="t" lIns="0" rIns="0" tIns="0" bIns="0">
            <a:spAutoFit/>
          </a:bodyPr>
          <a:lstStyle/>
          <a:p>
            <a:r>
              <a:rPr sz="13000" i="0" b="1">
                <a:solidFill>
                  <a:srgbClr val="F1E3DF"/>
                </a:solidFill>
                <a:latin typeface="Cambria"/>
              </a:rPr>
              <a:t>?</a:t>
            </a:r>
          </a:p>
        </p:txBody>
      </p:sp>
      <p:sp>
        <p:nvSpPr>
          <p:cNvPr id="4" name="TextBox 3"/>
          <p:cNvSpPr txBox="1"/>
          <p:nvPr/>
        </p:nvSpPr>
        <p:spPr>
          <a:xfrm>
            <a:off x="548640" y="3977639"/>
            <a:ext cx="3017520" cy="1280160"/>
          </a:xfrm>
          <a:prstGeom prst="rect">
            <a:avLst/>
          </a:prstGeom>
          <a:noFill/>
        </p:spPr>
        <p:txBody>
          <a:bodyPr wrap="square" anchor="t" lIns="0" rIns="0" tIns="0" bIns="0">
            <a:spAutoFit/>
          </a:bodyPr>
          <a:lstStyle/>
          <a:p>
            <a:r>
              <a:rPr sz="3000" i="0" b="1">
                <a:solidFill>
                  <a:srgbClr val="FFFFFF"/>
                </a:solidFill>
                <a:latin typeface="Cambria"/>
              </a:rPr>
              <a:t>Practice Case</a:t>
            </a:r>
          </a:p>
          <a:p>
            <a:r>
              <a:rPr sz="1400" i="0" b="1" spc="150">
                <a:solidFill>
                  <a:srgbClr val="F1E3DF"/>
                </a:solidFill>
                <a:latin typeface="Calibri"/>
              </a:rPr>
              <a:t>Section 9</a:t>
            </a:r>
          </a:p>
        </p:txBody>
      </p:sp>
      <p:sp>
        <p:nvSpPr>
          <p:cNvPr id="5" name="TextBox 4"/>
          <p:cNvSpPr txBox="1"/>
          <p:nvPr/>
        </p:nvSpPr>
        <p:spPr>
          <a:xfrm>
            <a:off x="4526280" y="822960"/>
            <a:ext cx="7132320" cy="5120640"/>
          </a:xfrm>
          <a:prstGeom prst="rect">
            <a:avLst/>
          </a:prstGeom>
          <a:noFill/>
        </p:spPr>
        <p:txBody>
          <a:bodyPr wrap="square" anchor="ctr" lIns="0" rIns="0" tIns="0" bIns="0">
            <a:spAutoFit/>
          </a:bodyPr>
          <a:lstStyle/>
          <a:p>
            <a:r>
              <a:rPr sz="2200" i="0" b="0">
                <a:solidFill>
                  <a:srgbClr val="2B211C"/>
                </a:solidFill>
                <a:latin typeface="Calibri"/>
              </a:rPr>
              <a:t>A patient receives methotrexate 10 mg </a:t>
            </a:r>
            <a:r>
              <a:rPr sz="2200" i="0" b="1">
                <a:solidFill>
                  <a:srgbClr val="2B211C"/>
                </a:solidFill>
                <a:latin typeface="Calibri"/>
              </a:rPr>
              <a:t>daily</a:t>
            </a:r>
            <a:r>
              <a:rPr sz="2200" i="0" b="0">
                <a:solidFill>
                  <a:srgbClr val="2B211C"/>
                </a:solidFill>
                <a:latin typeface="Calibri"/>
              </a:rPr>
              <a:t> instead of 10 mg </a:t>
            </a:r>
            <a:r>
              <a:rPr sz="2200" i="0" b="1">
                <a:solidFill>
                  <a:srgbClr val="2B211C"/>
                </a:solidFill>
                <a:latin typeface="Calibri"/>
              </a:rPr>
              <a:t>weekly</a:t>
            </a:r>
            <a:r>
              <a:rPr sz="2200" i="0" b="0">
                <a:solidFill>
                  <a:srgbClr val="2B211C"/>
                </a:solidFill>
                <a:latin typeface="Calibri"/>
              </a:rPr>
              <a:t>, dispensed from a handwritten prescription. After five days she has mouth ulcers and a low white-cell count. (a) Is this an ADR, a medication error, or both? (b) At which stages did the error occur? (c) What should be reported, and how could it be prevented?</a:t>
            </a:r>
          </a:p>
        </p:txBody>
      </p:sp>
      <p:sp>
        <p:nvSpPr>
          <p:cNvPr id="6" name="TextBox 5"/>
          <p:cNvSpPr txBox="1"/>
          <p:nvPr/>
        </p:nvSpPr>
        <p:spPr>
          <a:xfrm>
            <a:off x="4526280" y="6419088"/>
            <a:ext cx="8229600" cy="274320"/>
          </a:xfrm>
          <a:prstGeom prst="rect">
            <a:avLst/>
          </a:prstGeom>
          <a:noFill/>
        </p:spPr>
        <p:txBody>
          <a:bodyPr wrap="square" anchor="t" lIns="0" rIns="0" tIns="0" bIns="0">
            <a:spAutoFit/>
          </a:bodyPr>
          <a:lstStyle/>
          <a:p>
            <a:r>
              <a:rPr sz="1000" i="0" b="0">
                <a:solidFill>
                  <a:srgbClr val="6E625B"/>
                </a:solidFill>
                <a:latin typeface="Calibri"/>
              </a:rPr>
              <a:t>Drug Information  ·  Pharmacovigilance, ADR Reporting and Medication Errors</a:t>
            </a:r>
          </a:p>
        </p:txBody>
      </p:sp>
      <p:sp>
        <p:nvSpPr>
          <p:cNvPr id="7" name="TextBox 6"/>
          <p:cNvSpPr txBox="1"/>
          <p:nvPr/>
        </p:nvSpPr>
        <p:spPr>
          <a:xfrm>
            <a:off x="10424160" y="6419088"/>
            <a:ext cx="731520" cy="274320"/>
          </a:xfrm>
          <a:prstGeom prst="rect">
            <a:avLst/>
          </a:prstGeom>
          <a:noFill/>
        </p:spPr>
        <p:txBody>
          <a:bodyPr wrap="square" anchor="t" lIns="0" rIns="0" tIns="0" bIns="0">
            <a:spAutoFit/>
          </a:bodyPr>
          <a:lstStyle/>
          <a:p>
            <a:pPr algn="r"/>
            <a:r>
              <a:rPr sz="1000" i="0" b="1">
                <a:solidFill>
                  <a:srgbClr val="6E625B"/>
                </a:solidFill>
                <a:latin typeface="Calibri"/>
              </a:rPr>
              <a:t>23</a:t>
            </a:r>
          </a:p>
        </p:txBody>
      </p:sp>
      <p:pic>
        <p:nvPicPr>
          <p:cNvPr id="8" name="Picture 7" descr="faculty-of-pharmacy.png"/>
          <p:cNvPicPr>
            <a:picLocks noChangeAspect="1"/>
          </p:cNvPicPr>
          <p:nvPr/>
        </p:nvPicPr>
        <p:blipFill>
          <a:blip r:embed="rId3"/>
          <a:stretch>
            <a:fillRect/>
          </a:stretch>
        </p:blipFill>
        <p:spPr>
          <a:xfrm>
            <a:off x="11247120" y="6309360"/>
            <a:ext cx="384048" cy="384048"/>
          </a:xfrm>
          <a:prstGeom prst="rect">
            <a:avLst/>
          </a:prstGeom>
        </p:spPr>
      </p:pic>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bg>
      <p:bgPr>
        <a:solidFill>
          <a:srgbClr val="A4472B"/>
        </a:solidFill>
        <a:effectLst/>
      </p:bgPr>
    </p:bg>
    <p:spTree>
      <p:nvGrpSpPr>
        <p:cNvPr id="1" name=""/>
        <p:cNvGrpSpPr/>
        <p:nvPr/>
      </p:nvGrpSpPr>
      <p:grpSpPr/>
      <p:sp>
        <p:nvSpPr>
          <p:cNvPr id="2" name="TextBox 1"/>
          <p:cNvSpPr txBox="1"/>
          <p:nvPr/>
        </p:nvSpPr>
        <p:spPr>
          <a:xfrm>
            <a:off x="548640" y="502920"/>
            <a:ext cx="7315200" cy="365760"/>
          </a:xfrm>
          <a:prstGeom prst="rect">
            <a:avLst/>
          </a:prstGeom>
          <a:noFill/>
        </p:spPr>
        <p:txBody>
          <a:bodyPr wrap="square" anchor="t" lIns="0" rIns="0" tIns="0" bIns="0">
            <a:spAutoFit/>
          </a:bodyPr>
          <a:lstStyle/>
          <a:p>
            <a:r>
              <a:rPr sz="1300" i="0" b="1" spc="200">
                <a:solidFill>
                  <a:srgbClr val="F2E5E1"/>
                </a:solidFill>
                <a:latin typeface="Calibri"/>
              </a:rPr>
              <a:t>SECTION 9  ·  SUMMARY</a:t>
            </a:r>
          </a:p>
        </p:txBody>
      </p:sp>
      <p:sp>
        <p:nvSpPr>
          <p:cNvPr id="3" name="TextBox 2"/>
          <p:cNvSpPr txBox="1"/>
          <p:nvPr/>
        </p:nvSpPr>
        <p:spPr>
          <a:xfrm>
            <a:off x="548640" y="822960"/>
            <a:ext cx="9144000" cy="731520"/>
          </a:xfrm>
          <a:prstGeom prst="rect">
            <a:avLst/>
          </a:prstGeom>
          <a:noFill/>
        </p:spPr>
        <p:txBody>
          <a:bodyPr wrap="square" anchor="t" lIns="0" rIns="0" tIns="0" bIns="0">
            <a:spAutoFit/>
          </a:bodyPr>
          <a:lstStyle/>
          <a:p>
            <a:r>
              <a:rPr sz="3600" i="0" b="1">
                <a:solidFill>
                  <a:srgbClr val="FFFFFF"/>
                </a:solidFill>
                <a:latin typeface="Cambria"/>
              </a:rPr>
              <a:t>Key Takeaways</a:t>
            </a:r>
          </a:p>
        </p:txBody>
      </p:sp>
      <p:sp>
        <p:nvSpPr>
          <p:cNvPr id="4" name="Oval 3"/>
          <p:cNvSpPr/>
          <p:nvPr/>
        </p:nvSpPr>
        <p:spPr>
          <a:xfrm>
            <a:off x="548640" y="1847088"/>
            <a:ext cx="402336" cy="402336"/>
          </a:xfrm>
          <a:prstGeom prst="ellipse">
            <a:avLst/>
          </a:prstGeom>
          <a:solidFill>
            <a:srgbClr val="F2E5E1"/>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300" i="0" b="1">
                <a:solidFill>
                  <a:srgbClr val="A4472B"/>
                </a:solidFill>
                <a:latin typeface="Calibri"/>
              </a:rPr>
              <a:t>1</a:t>
            </a:r>
          </a:p>
        </p:txBody>
      </p:sp>
      <p:sp>
        <p:nvSpPr>
          <p:cNvPr id="5" name="TextBox 4"/>
          <p:cNvSpPr txBox="1"/>
          <p:nvPr/>
        </p:nvSpPr>
        <p:spPr>
          <a:xfrm>
            <a:off x="1143000" y="1865376"/>
            <a:ext cx="10500055" cy="728852"/>
          </a:xfrm>
          <a:prstGeom prst="rect">
            <a:avLst/>
          </a:prstGeom>
          <a:noFill/>
        </p:spPr>
        <p:txBody>
          <a:bodyPr wrap="square" anchor="t" lIns="0" rIns="0" tIns="0" bIns="0">
            <a:spAutoFit/>
          </a:bodyPr>
          <a:lstStyle/>
          <a:p>
            <a:r>
              <a:rPr sz="2100" i="0" b="0">
                <a:solidFill>
                  <a:srgbClr val="FFFFFF"/>
                </a:solidFill>
                <a:latin typeface="Calibri"/>
              </a:rPr>
              <a:t>Pharmacovigilance detects, assesses, understands and prevents drug problems.</a:t>
            </a:r>
          </a:p>
        </p:txBody>
      </p:sp>
      <p:sp>
        <p:nvSpPr>
          <p:cNvPr id="6" name="Oval 5"/>
          <p:cNvSpPr/>
          <p:nvPr/>
        </p:nvSpPr>
        <p:spPr>
          <a:xfrm>
            <a:off x="548640" y="2621660"/>
            <a:ext cx="402336" cy="402336"/>
          </a:xfrm>
          <a:prstGeom prst="ellipse">
            <a:avLst/>
          </a:prstGeom>
          <a:solidFill>
            <a:srgbClr val="F2E5E1"/>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300" i="0" b="1">
                <a:solidFill>
                  <a:srgbClr val="A4472B"/>
                </a:solidFill>
                <a:latin typeface="Calibri"/>
              </a:rPr>
              <a:t>2</a:t>
            </a:r>
          </a:p>
        </p:txBody>
      </p:sp>
      <p:sp>
        <p:nvSpPr>
          <p:cNvPr id="7" name="TextBox 6"/>
          <p:cNvSpPr txBox="1"/>
          <p:nvPr/>
        </p:nvSpPr>
        <p:spPr>
          <a:xfrm>
            <a:off x="1143000" y="2639948"/>
            <a:ext cx="10500055" cy="728852"/>
          </a:xfrm>
          <a:prstGeom prst="rect">
            <a:avLst/>
          </a:prstGeom>
          <a:noFill/>
        </p:spPr>
        <p:txBody>
          <a:bodyPr wrap="square" anchor="t" lIns="0" rIns="0" tIns="0" bIns="0">
            <a:spAutoFit/>
          </a:bodyPr>
          <a:lstStyle/>
          <a:p>
            <a:r>
              <a:rPr sz="2100" i="0" b="0">
                <a:solidFill>
                  <a:srgbClr val="FFFFFF"/>
                </a:solidFill>
                <a:latin typeface="Calibri"/>
              </a:rPr>
              <a:t>Trials miss rare ADRs; post-marketing reporting finds them.</a:t>
            </a:r>
          </a:p>
        </p:txBody>
      </p:sp>
      <p:sp>
        <p:nvSpPr>
          <p:cNvPr id="8" name="Oval 7"/>
          <p:cNvSpPr/>
          <p:nvPr/>
        </p:nvSpPr>
        <p:spPr>
          <a:xfrm>
            <a:off x="548640" y="3396233"/>
            <a:ext cx="402336" cy="402336"/>
          </a:xfrm>
          <a:prstGeom prst="ellipse">
            <a:avLst/>
          </a:prstGeom>
          <a:solidFill>
            <a:srgbClr val="F2E5E1"/>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300" i="0" b="1">
                <a:solidFill>
                  <a:srgbClr val="A4472B"/>
                </a:solidFill>
                <a:latin typeface="Calibri"/>
              </a:rPr>
              <a:t>3</a:t>
            </a:r>
          </a:p>
        </p:txBody>
      </p:sp>
      <p:sp>
        <p:nvSpPr>
          <p:cNvPr id="9" name="TextBox 8"/>
          <p:cNvSpPr txBox="1"/>
          <p:nvPr/>
        </p:nvSpPr>
        <p:spPr>
          <a:xfrm>
            <a:off x="1143000" y="3414521"/>
            <a:ext cx="10500055" cy="728852"/>
          </a:xfrm>
          <a:prstGeom prst="rect">
            <a:avLst/>
          </a:prstGeom>
          <a:noFill/>
        </p:spPr>
        <p:txBody>
          <a:bodyPr wrap="square" anchor="t" lIns="0" rIns="0" tIns="0" bIns="0">
            <a:spAutoFit/>
          </a:bodyPr>
          <a:lstStyle/>
          <a:p>
            <a:r>
              <a:rPr sz="2100" i="0" b="0">
                <a:solidFill>
                  <a:srgbClr val="FFFFFF"/>
                </a:solidFill>
                <a:latin typeface="Calibri"/>
              </a:rPr>
              <a:t>In Egypt, report to the EPVC of the EDA; if in doubt, report.</a:t>
            </a:r>
          </a:p>
        </p:txBody>
      </p:sp>
      <p:sp>
        <p:nvSpPr>
          <p:cNvPr id="10" name="Oval 9"/>
          <p:cNvSpPr/>
          <p:nvPr/>
        </p:nvSpPr>
        <p:spPr>
          <a:xfrm>
            <a:off x="548640" y="4170806"/>
            <a:ext cx="402336" cy="402336"/>
          </a:xfrm>
          <a:prstGeom prst="ellipse">
            <a:avLst/>
          </a:prstGeom>
          <a:solidFill>
            <a:srgbClr val="F2E5E1"/>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300" i="0" b="1">
                <a:solidFill>
                  <a:srgbClr val="A4472B"/>
                </a:solidFill>
                <a:latin typeface="Calibri"/>
              </a:rPr>
              <a:t>4</a:t>
            </a:r>
          </a:p>
        </p:txBody>
      </p:sp>
      <p:sp>
        <p:nvSpPr>
          <p:cNvPr id="11" name="TextBox 10"/>
          <p:cNvSpPr txBox="1"/>
          <p:nvPr/>
        </p:nvSpPr>
        <p:spPr>
          <a:xfrm>
            <a:off x="1143000" y="4189094"/>
            <a:ext cx="10500055" cy="728852"/>
          </a:xfrm>
          <a:prstGeom prst="rect">
            <a:avLst/>
          </a:prstGeom>
          <a:noFill/>
        </p:spPr>
        <p:txBody>
          <a:bodyPr wrap="square" anchor="t" lIns="0" rIns="0" tIns="0" bIns="0">
            <a:spAutoFit/>
          </a:bodyPr>
          <a:lstStyle/>
          <a:p>
            <a:r>
              <a:rPr sz="2100" i="0" b="0">
                <a:solidFill>
                  <a:srgbClr val="FFFFFF"/>
                </a:solidFill>
                <a:latin typeface="Calibri"/>
              </a:rPr>
              <a:t>The DTC runs local ADR monitoring and acts on repeated problems.</a:t>
            </a:r>
          </a:p>
        </p:txBody>
      </p:sp>
      <p:sp>
        <p:nvSpPr>
          <p:cNvPr id="12" name="Oval 11"/>
          <p:cNvSpPr/>
          <p:nvPr/>
        </p:nvSpPr>
        <p:spPr>
          <a:xfrm>
            <a:off x="548640" y="4945379"/>
            <a:ext cx="402336" cy="402336"/>
          </a:xfrm>
          <a:prstGeom prst="ellipse">
            <a:avLst/>
          </a:prstGeom>
          <a:solidFill>
            <a:srgbClr val="F2E5E1"/>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300" i="0" b="1">
                <a:solidFill>
                  <a:srgbClr val="A4472B"/>
                </a:solidFill>
                <a:latin typeface="Calibri"/>
              </a:rPr>
              <a:t>5</a:t>
            </a:r>
          </a:p>
        </p:txBody>
      </p:sp>
      <p:sp>
        <p:nvSpPr>
          <p:cNvPr id="13" name="TextBox 12"/>
          <p:cNvSpPr txBox="1"/>
          <p:nvPr/>
        </p:nvSpPr>
        <p:spPr>
          <a:xfrm>
            <a:off x="1143000" y="4963667"/>
            <a:ext cx="10500055" cy="1062227"/>
          </a:xfrm>
          <a:prstGeom prst="rect">
            <a:avLst/>
          </a:prstGeom>
          <a:noFill/>
        </p:spPr>
        <p:txBody>
          <a:bodyPr wrap="square" anchor="t" lIns="0" rIns="0" tIns="0" bIns="0">
            <a:spAutoFit/>
          </a:bodyPr>
          <a:lstStyle/>
          <a:p>
            <a:r>
              <a:rPr sz="2100" i="0" b="0">
                <a:solidFill>
                  <a:srgbClr val="FFFFFF"/>
                </a:solidFill>
                <a:latin typeface="Calibri"/>
              </a:rPr>
              <a:t>Medication errors are preventable; prevent them at prescribing, dispensing and administration.</a:t>
            </a:r>
          </a:p>
        </p:txBody>
      </p:sp>
      <p:pic>
        <p:nvPicPr>
          <p:cNvPr id="14" name="Picture 13" descr="port-said-university.png"/>
          <p:cNvPicPr>
            <a:picLocks noChangeAspect="1"/>
          </p:cNvPicPr>
          <p:nvPr/>
        </p:nvPicPr>
        <p:blipFill>
          <a:blip r:embed="rId2"/>
          <a:stretch>
            <a:fillRect/>
          </a:stretch>
        </p:blipFill>
        <p:spPr>
          <a:xfrm>
            <a:off x="10378440" y="6144768"/>
            <a:ext cx="548640" cy="548640"/>
          </a:xfrm>
          <a:prstGeom prst="rect">
            <a:avLst/>
          </a:prstGeom>
        </p:spPr>
      </p:pic>
      <p:pic>
        <p:nvPicPr>
          <p:cNvPr id="15" name="Picture 14" descr="faculty-of-pharmacy.png"/>
          <p:cNvPicPr>
            <a:picLocks noChangeAspect="1"/>
          </p:cNvPicPr>
          <p:nvPr/>
        </p:nvPicPr>
        <p:blipFill>
          <a:blip r:embed="rId3"/>
          <a:stretch>
            <a:fillRect/>
          </a:stretch>
        </p:blipFill>
        <p:spPr>
          <a:xfrm>
            <a:off x="11036808" y="6144768"/>
            <a:ext cx="548640" cy="548640"/>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