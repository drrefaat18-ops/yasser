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Why randomise?.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Randomisation assigns trial participants to groups by chance. Each participant has a known chance of each group. The chance is equal in a 1:1 trial and unequal in a 2:1 trial. Nobody can predict the next assignment. Think of it as tossing a fair coin for each patient. The doctor, the patient and the researcher cannot choose the group. The third row is the key. We can adjust for factors we know about, but only randomisation balances factors we do not know about. This is why the RCT is the best design to prove that a drug works (Chapter 3).</a:t>
            </a:r>
          </a:p>
          <a:p/>
          <a:p>
            <a:r>
              <a:t>About 90 s.  Next: Why randomise?.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Randomisation assigns trial participants to groups by chance. Each participant has a known chance of each group. The chance is equal in a 1:1 trial and unequal in a 2:1 trial. Nobody can predict the next assignment. Think of it as tossing a fair coin for each patient. The doctor, the patient and the researcher cannot choose the group. The third row is the key. We can adjust for factors we know about, but only randomisation balances factors we do not know about. This is why the RCT is the best design to prove that a drug works (Chapter 3).</a:t>
            </a:r>
          </a:p>
          <a:p/>
          <a:p>
            <a:r>
              <a:t>About 60 s.  Next: Methods of Randomisation.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trials use a 1:1 ratio because it gives the most statistical power for a given number of patients. Sometimes a trial uses 2:1 or 3:1 instead: A 2:1 ratio loses only a little power. A 3:1 ratio loses much more, so the trial needs more patients to answer the same question.</a:t>
            </a:r>
          </a:p>
          <a:p/>
          <a:p>
            <a:r>
              <a:t>About 30 s.  Next: A closer look at unequal allocation.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trials use a 1:1 ratio because it gives the most statistical power for a given number of patients. Sometimes a trial uses 2:1 or 3:1 instead: A 2:1 ratio loses only a little power. A 3:1 ratio loses much more, so the trial needs more patients to answer the same question.</a:t>
            </a:r>
          </a:p>
          <a:p/>
          <a:p>
            <a:r>
              <a:t>About 60 s.  Next: Methods of Randomisation.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trials use a 1:1 ratio because it gives the most statistical power for a given number of patients. Sometimes a trial uses 2:1 or 3:1 instead: A 2:1 ratio loses only a little power. A 3:1 ratio loses much more, so the trial needs more patients to answer the same question.</a:t>
            </a:r>
          </a:p>
          <a:p/>
          <a:p>
            <a:r>
              <a:t>About 30 s.  Next: Allocation Concealment.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Randomisation fails if people can see the list in advance. Allocation concealment keeps the next assignment hidden until the patient is enrolled. Common methods are central telephone or web randomisation and sealed, opaque, numbered envelopes. Concealment is different from blinding. Concealment protects the moment of assignment. Blinding protects everything after assignment.</a:t>
            </a:r>
          </a:p>
          <a:p/>
          <a:p>
            <a:r>
              <a:t>About 60 s.  Next: Blinding.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Blinding (masking) means that people in the trial do not know which treatment a participant receives. It stops their knowledge from changing their behaviour or their judgement. Blinding matters most when the outcome is subjective, such as pain or mood. It matters less for hard outcomes such as death. To blind a trial, the drug and placebo must look, taste and feel the same. When drugs differ in form, trials use a double-dummy design: each patient takes one active drug and one placebo that looks like the other drug.</a:t>
            </a:r>
          </a:p>
          <a:p/>
          <a:p>
            <a:r>
              <a:t>About 90 s.  Next: Efficacy and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Efficacy and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Randomised trials have limits. These are limits of the trial setting, not of randomisation itself. When you use a trial to answer a question, check whether its patients resemble yours. An elderly patient with kidney disease may have been excluded from the trial you are reading.</a:t>
            </a:r>
          </a:p>
          <a:p/>
          <a:p>
            <a:r>
              <a:t>About 60 s.  Next: Efficacy and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Randomised trials have limits. These are limits of the trial setting, not of randomisation itself. When you use a trial to answer a question, check whether its patients resemble yours. An elderly patient with kidney disease may have been excluded from the trial you are reading.</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Randomisation removes selection bias and balances groups. A, C and D are not its purpose.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Blocks keep numbers equal as patients join. B can drift in small trials; C and D do not.</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Randomising within strata is stratified randomisation. A, B and D do not split by a factor first.</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Double blind hides the treatment from the patient and the treating team. A is single blind, C open label, B not a standard level.</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Strict patients in a controlled setting test efficacy. A uses real-life patients; C and D are other terms.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Block randomisation (for example blocks of four) keeps the arms equal. (b) Pain is a subjective outcome; knowing the treatment could change what patients report. (c) Add the same menthol smell to the placebo gel so both look and smell alike.</a:t>
            </a:r>
          </a:p>
          <a:p/>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B3C25"/>
                </a:solidFill>
                <a:latin typeface="Cambria"/>
              </a:rPr>
              <a:t>04</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2E5E1"/>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2E5E1"/>
                </a:solidFill>
                <a:latin typeface="Calibri"/>
              </a:rPr>
              <a:t>DRUG INFORMATION  ·  SECTION 4</a:t>
            </a:r>
          </a:p>
          <a:p>
            <a:pPr>
              <a:spcBef>
                <a:spcPts val="1400"/>
              </a:spcBef>
            </a:pPr>
            <a:r>
              <a:rPr sz="4400" i="0" b="1">
                <a:solidFill>
                  <a:srgbClr val="FFFFFF"/>
                </a:solidFill>
                <a:latin typeface="Cambria"/>
              </a:rPr>
              <a:t>Randomisation and Blinding</a:t>
            </a:r>
          </a:p>
          <a:p>
            <a:pPr>
              <a:spcBef>
                <a:spcPts val="1600"/>
              </a:spcBef>
            </a:pPr>
            <a:r>
              <a:rPr sz="2000" i="1" b="0">
                <a:solidFill>
                  <a:srgbClr val="F2E5E1"/>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2E5E1"/>
                </a:solidFill>
                <a:latin typeface="Calibri"/>
              </a:rPr>
              <a:t>45 minutes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02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6629400" cy="1142237"/>
          </a:xfrm>
          <a:prstGeom prst="rect">
            <a:avLst/>
          </a:prstGeom>
          <a:noFill/>
        </p:spPr>
        <p:txBody>
          <a:bodyPr wrap="square" anchor="t" lIns="0" rIns="0" tIns="0" bIns="0">
            <a:spAutoFit/>
          </a:bodyPr>
          <a:lstStyle/>
          <a:p>
            <a:r>
              <a:rPr sz="2100" i="0" b="0">
                <a:solidFill>
                  <a:srgbClr val="2B211C"/>
                </a:solidFill>
                <a:latin typeface="Calibri"/>
              </a:rPr>
              <a:t>Define randomisation and explain why trials use it.</a:t>
            </a:r>
          </a:p>
        </p:txBody>
      </p:sp>
      <p:sp>
        <p:nvSpPr>
          <p:cNvPr id="10" name="Oval 9"/>
          <p:cNvSpPr/>
          <p:nvPr/>
        </p:nvSpPr>
        <p:spPr>
          <a:xfrm>
            <a:off x="548640"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779014"/>
            <a:ext cx="6629400" cy="1142237"/>
          </a:xfrm>
          <a:prstGeom prst="rect">
            <a:avLst/>
          </a:prstGeom>
          <a:noFill/>
        </p:spPr>
        <p:txBody>
          <a:bodyPr wrap="square" anchor="t" lIns="0" rIns="0" tIns="0" bIns="0">
            <a:spAutoFit/>
          </a:bodyPr>
          <a:lstStyle/>
          <a:p>
            <a:r>
              <a:rPr sz="2100" i="0" b="0">
                <a:solidFill>
                  <a:srgbClr val="2B211C"/>
                </a:solidFill>
                <a:latin typeface="Calibri"/>
              </a:rPr>
              <a:t>Compare simple, block, stratified and unequal randomisation.</a:t>
            </a:r>
          </a:p>
        </p:txBody>
      </p:sp>
      <p:sp>
        <p:nvSpPr>
          <p:cNvPr id="12" name="Oval 11"/>
          <p:cNvSpPr/>
          <p:nvPr/>
        </p:nvSpPr>
        <p:spPr>
          <a:xfrm>
            <a:off x="548640" y="394868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966971"/>
            <a:ext cx="6629400" cy="1142237"/>
          </a:xfrm>
          <a:prstGeom prst="rect">
            <a:avLst/>
          </a:prstGeom>
          <a:noFill/>
        </p:spPr>
        <p:txBody>
          <a:bodyPr wrap="square" anchor="t" lIns="0" rIns="0" tIns="0" bIns="0">
            <a:spAutoFit/>
          </a:bodyPr>
          <a:lstStyle/>
          <a:p>
            <a:r>
              <a:rPr sz="2100" i="0" b="0">
                <a:solidFill>
                  <a:srgbClr val="2B211C"/>
                </a:solidFill>
                <a:latin typeface="Calibri"/>
              </a:rPr>
              <a:t>Explain allocation concealment and the levels of blinding.</a:t>
            </a:r>
          </a:p>
        </p:txBody>
      </p:sp>
      <p:sp>
        <p:nvSpPr>
          <p:cNvPr id="14" name="Oval 13"/>
          <p:cNvSpPr/>
          <p:nvPr/>
        </p:nvSpPr>
        <p:spPr>
          <a:xfrm>
            <a:off x="548640" y="513664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5154929"/>
            <a:ext cx="6629400" cy="808863"/>
          </a:xfrm>
          <a:prstGeom prst="rect">
            <a:avLst/>
          </a:prstGeom>
          <a:noFill/>
        </p:spPr>
        <p:txBody>
          <a:bodyPr wrap="square" anchor="t" lIns="0" rIns="0" tIns="0" bIns="0">
            <a:spAutoFit/>
          </a:bodyPr>
          <a:lstStyle/>
          <a:p>
            <a:r>
              <a:rPr sz="2100" i="0" b="0">
                <a:solidFill>
                  <a:srgbClr val="2B211C"/>
                </a:solidFill>
                <a:latin typeface="Calibri"/>
              </a:rPr>
              <a:t>Tell efficacy trials from effectiveness trials.</a:t>
            </a:r>
          </a:p>
        </p:txBody>
      </p:sp>
      <p:sp>
        <p:nvSpPr>
          <p:cNvPr id="16" name="Rounded Rectangle 15"/>
          <p:cNvSpPr/>
          <p:nvPr/>
        </p:nvSpPr>
        <p:spPr>
          <a:xfrm>
            <a:off x="8366760" y="1600200"/>
            <a:ext cx="3273552" cy="4526280"/>
          </a:xfrm>
          <a:prstGeom prst="roundRect">
            <a:avLst>
              <a:gd name="adj" fmla="val 5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03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2B211C"/>
                </a:solidFill>
                <a:latin typeface="Calibri"/>
              </a:rPr>
              <a:t>What Is Randomisation?</a:t>
            </a:r>
          </a:p>
        </p:txBody>
      </p:sp>
      <p:sp>
        <p:nvSpPr>
          <p:cNvPr id="10" name="Oval 9"/>
          <p:cNvSpPr/>
          <p:nvPr/>
        </p:nvSpPr>
        <p:spPr>
          <a:xfrm>
            <a:off x="548640"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2B211C"/>
                </a:solidFill>
                <a:latin typeface="Calibri"/>
              </a:rPr>
              <a:t>Methods of Randomisation</a:t>
            </a:r>
          </a:p>
        </p:txBody>
      </p:sp>
      <p:sp>
        <p:nvSpPr>
          <p:cNvPr id="12" name="Oval 11"/>
          <p:cNvSpPr/>
          <p:nvPr/>
        </p:nvSpPr>
        <p:spPr>
          <a:xfrm>
            <a:off x="548640" y="33136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331972"/>
            <a:ext cx="4678527" cy="824737"/>
          </a:xfrm>
          <a:prstGeom prst="rect">
            <a:avLst/>
          </a:prstGeom>
          <a:noFill/>
        </p:spPr>
        <p:txBody>
          <a:bodyPr wrap="square" anchor="t" lIns="0" rIns="0" tIns="0" bIns="0">
            <a:spAutoFit/>
          </a:bodyPr>
          <a:lstStyle/>
          <a:p>
            <a:r>
              <a:rPr sz="2200" i="0" b="0">
                <a:solidFill>
                  <a:srgbClr val="2B211C"/>
                </a:solidFill>
                <a:latin typeface="Calibri"/>
              </a:rPr>
              <a:t>Allocation Concealment</a:t>
            </a:r>
          </a:p>
        </p:txBody>
      </p:sp>
      <p:sp>
        <p:nvSpPr>
          <p:cNvPr id="14" name="Oval 13"/>
          <p:cNvSpPr/>
          <p:nvPr/>
        </p:nvSpPr>
        <p:spPr>
          <a:xfrm>
            <a:off x="6370167"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2B211C"/>
                </a:solidFill>
                <a:latin typeface="Calibri"/>
              </a:rPr>
              <a:t>Blinding</a:t>
            </a:r>
          </a:p>
        </p:txBody>
      </p:sp>
      <p:sp>
        <p:nvSpPr>
          <p:cNvPr id="16" name="Oval 15"/>
          <p:cNvSpPr/>
          <p:nvPr/>
        </p:nvSpPr>
        <p:spPr>
          <a:xfrm>
            <a:off x="6370167"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5</a:t>
            </a:r>
          </a:p>
        </p:txBody>
      </p:sp>
      <p:sp>
        <p:nvSpPr>
          <p:cNvPr id="17" name="TextBox 16"/>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2B211C"/>
                </a:solidFill>
                <a:latin typeface="Calibri"/>
              </a:rPr>
              <a:t>Efficacy and Effectiveness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Why randomise?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04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1">
                <a:solidFill>
                  <a:srgbClr val="2B211C"/>
                </a:solidFill>
                <a:latin typeface="Calibri"/>
              </a:rPr>
              <a:t>Randomisation</a:t>
            </a:r>
            <a:r>
              <a:rPr sz="2100" i="0" b="0">
                <a:solidFill>
                  <a:srgbClr val="2B211C"/>
                </a:solidFill>
                <a:latin typeface="Calibri"/>
              </a:rPr>
              <a:t> assigns trial participants to groups by chance. Each participant has a </a:t>
            </a:r>
            <a:r>
              <a:rPr sz="2100" i="0" b="1">
                <a:solidFill>
                  <a:srgbClr val="2B211C"/>
                </a:solidFill>
                <a:latin typeface="Calibri"/>
              </a:rPr>
              <a:t>known</a:t>
            </a:r>
            <a:r>
              <a:rPr sz="2100" i="0" b="0">
                <a:solidFill>
                  <a:srgbClr val="2B211C"/>
                </a:solidFill>
                <a:latin typeface="Calibri"/>
              </a:rPr>
              <a:t> chance of each group. The chance is equal in a 1:1 trial and unequal in a 2:1 trial. Nobody can </a:t>
            </a:r>
            <a:r>
              <a:rPr sz="2100" i="0" b="1">
                <a:solidFill>
                  <a:srgbClr val="2B211C"/>
                </a:solidFill>
                <a:latin typeface="Calibri"/>
              </a:rPr>
              <a:t>predict</a:t>
            </a:r>
            <a:r>
              <a:rPr sz="2100" i="0" b="0">
                <a:solidFill>
                  <a:srgbClr val="2B211C"/>
                </a:solidFill>
                <a:latin typeface="Calibri"/>
              </a:rPr>
              <a:t> the next assignment.</a:t>
            </a:r>
          </a:p>
          <a:p>
            <a:pPr>
              <a:spcAft>
                <a:spcPts val="800"/>
              </a:spcAft>
            </a:pPr>
            <a:r>
              <a:rPr sz="2100" i="0" b="0">
                <a:solidFill>
                  <a:srgbClr val="2B211C"/>
                </a:solidFill>
                <a:latin typeface="Calibri"/>
              </a:rPr>
              <a:t>Think of it as tossing a fair coin for each patient. The doctor, the patient and the researcher cannot choose the group.</a:t>
            </a:r>
          </a:p>
          <a:p>
            <a:pPr>
              <a:spcAft>
                <a:spcPts val="800"/>
              </a:spcAft>
            </a:pPr>
            <a:r>
              <a:rPr sz="2100" i="0" b="0">
                <a:solidFill>
                  <a:srgbClr val="2B211C"/>
                </a:solidFill>
                <a:latin typeface="Calibri"/>
              </a:rPr>
              <a:t>The third row is the key. We can adjust for factors we know about, but only randomisation balances factors we do not know about. This is why the RCT is the best design to prove that a drug works (Chapter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Why randomise?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05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200400"/>
        </p:xfrm>
        <a:graphic>
          <a:graphicData uri="http://schemas.openxmlformats.org/drawingml/2006/table">
            <a:tbl>
              <a:tblPr firstRow="0" bandRow="0">
                <a:tableStyleId>{5C22544A-7EE6-4342-B048-85BDC9FD1C3A}</a:tableStyleId>
              </a:tblPr>
              <a:tblGrid>
                <a:gridCol w="3550212"/>
                <a:gridCol w="7544202"/>
              </a:tblGrid>
              <a:tr h="640080">
                <a:tc>
                  <a:txBody>
                    <a:bodyPr/>
                    <a:lstStyle/>
                    <a:p>
                      <a:r>
                        <a:rPr sz="1700" i="0" b="1">
                          <a:solidFill>
                            <a:srgbClr val="FFFFFF"/>
                          </a:solidFill>
                          <a:latin typeface="Calibri"/>
                        </a:rPr>
                        <a:t>Benefit</a:t>
                      </a:r>
                    </a:p>
                  </a:txBody>
                  <a:tcPr marL="109728" marR="109728" marT="45720" marB="45720" anchor="ctr">
                    <a:solidFill>
                      <a:srgbClr val="A4472B"/>
                    </a:solidFill>
                  </a:tcPr>
                </a:tc>
                <a:tc>
                  <a:txBody>
                    <a:bodyPr/>
                    <a:lstStyle/>
                    <a:p>
                      <a:r>
                        <a:rPr sz="1700" i="0" b="1">
                          <a:solidFill>
                            <a:srgbClr val="FFFFFF"/>
                          </a:solidFill>
                          <a:latin typeface="Calibri"/>
                        </a:rPr>
                        <a:t>What it means</a:t>
                      </a:r>
                    </a:p>
                  </a:txBody>
                  <a:tcPr marL="109728" marR="109728" marT="45720" marB="45720" anchor="ctr">
                    <a:solidFill>
                      <a:srgbClr val="A4472B"/>
                    </a:solidFill>
                  </a:tcPr>
                </a:tc>
              </a:tr>
              <a:tr h="640080">
                <a:tc>
                  <a:txBody>
                    <a:bodyPr/>
                    <a:lstStyle/>
                    <a:p>
                      <a:r>
                        <a:rPr sz="1800" i="0" b="1">
                          <a:solidFill>
                            <a:srgbClr val="2B211C"/>
                          </a:solidFill>
                          <a:latin typeface="Calibri"/>
                        </a:rPr>
                        <a:t>Removes selection bias</a:t>
                      </a:r>
                    </a:p>
                  </a:txBody>
                  <a:tcPr marL="109728" marR="109728" marT="45720" marB="45720" anchor="ctr">
                    <a:solidFill>
                      <a:srgbClr val="FFFFFF"/>
                    </a:solidFill>
                  </a:tcPr>
                </a:tc>
                <a:tc>
                  <a:txBody>
                    <a:bodyPr/>
                    <a:lstStyle/>
                    <a:p>
                      <a:r>
                        <a:rPr sz="1800" i="0" b="0">
                          <a:solidFill>
                            <a:srgbClr val="2B211C"/>
                          </a:solidFill>
                          <a:latin typeface="Calibri"/>
                        </a:rPr>
                        <a:t>The doctor cannot put healthier patients in the new-drug group</a:t>
                      </a:r>
                    </a:p>
                  </a:txBody>
                  <a:tcPr marL="109728" marR="109728" marT="45720" marB="45720" anchor="ctr">
                    <a:solidFill>
                      <a:srgbClr val="FFFFFF"/>
                    </a:solidFill>
                  </a:tcPr>
                </a:tc>
              </a:tr>
              <a:tr h="640080">
                <a:tc>
                  <a:txBody>
                    <a:bodyPr/>
                    <a:lstStyle/>
                    <a:p>
                      <a:r>
                        <a:rPr sz="1800" i="0" b="1">
                          <a:solidFill>
                            <a:srgbClr val="2B211C"/>
                          </a:solidFill>
                          <a:latin typeface="Calibri"/>
                        </a:rPr>
                        <a:t>Makes groups comparable</a:t>
                      </a:r>
                    </a:p>
                  </a:txBody>
                  <a:tcPr marL="109728" marR="109728" marT="45720" marB="45720" anchor="ctr">
                    <a:solidFill>
                      <a:srgbClr val="FAF4F2"/>
                    </a:solidFill>
                  </a:tcPr>
                </a:tc>
                <a:tc>
                  <a:txBody>
                    <a:bodyPr/>
                    <a:lstStyle/>
                    <a:p>
                      <a:r>
                        <a:rPr sz="1800" i="0" b="0">
                          <a:solidFill>
                            <a:srgbClr val="2B211C"/>
                          </a:solidFill>
                          <a:latin typeface="Calibri"/>
                        </a:rPr>
                        <a:t>Age, sex and illness severity end up similar in each arm</a:t>
                      </a:r>
                    </a:p>
                  </a:txBody>
                  <a:tcPr marL="109728" marR="109728" marT="45720" marB="45720" anchor="ctr">
                    <a:solidFill>
                      <a:srgbClr val="FAF4F2"/>
                    </a:solidFill>
                  </a:tcPr>
                </a:tc>
              </a:tr>
              <a:tr h="640080">
                <a:tc>
                  <a:txBody>
                    <a:bodyPr/>
                    <a:lstStyle/>
                    <a:p>
                      <a:r>
                        <a:rPr sz="1800" i="0" b="1">
                          <a:solidFill>
                            <a:srgbClr val="2B211C"/>
                          </a:solidFill>
                          <a:latin typeface="Calibri"/>
                        </a:rPr>
                        <a:t>Balances unknown factors</a:t>
                      </a:r>
                    </a:p>
                  </a:txBody>
                  <a:tcPr marL="109728" marR="109728" marT="45720" marB="45720" anchor="ctr">
                    <a:solidFill>
                      <a:srgbClr val="FFFFFF"/>
                    </a:solidFill>
                  </a:tcPr>
                </a:tc>
                <a:tc>
                  <a:txBody>
                    <a:bodyPr/>
                    <a:lstStyle/>
                    <a:p>
                      <a:r>
                        <a:rPr sz="1800" i="0" b="0">
                          <a:solidFill>
                            <a:srgbClr val="2B211C"/>
                          </a:solidFill>
                          <a:latin typeface="Calibri"/>
                        </a:rPr>
                        <a:t>Even factors nobody measured are spread evenly</a:t>
                      </a:r>
                    </a:p>
                  </a:txBody>
                  <a:tcPr marL="109728" marR="109728" marT="45720" marB="45720" anchor="ctr">
                    <a:solidFill>
                      <a:srgbClr val="FFFFFF"/>
                    </a:solidFill>
                  </a:tcPr>
                </a:tc>
              </a:tr>
              <a:tr h="640080">
                <a:tc>
                  <a:txBody>
                    <a:bodyPr/>
                    <a:lstStyle/>
                    <a:p>
                      <a:r>
                        <a:rPr sz="1800" i="0" b="1">
                          <a:solidFill>
                            <a:srgbClr val="2B211C"/>
                          </a:solidFill>
                          <a:latin typeface="Calibri"/>
                        </a:rPr>
                        <a:t>Allows valid statistics</a:t>
                      </a:r>
                    </a:p>
                  </a:txBody>
                  <a:tcPr marL="109728" marR="109728" marT="45720" marB="45720" anchor="ctr">
                    <a:solidFill>
                      <a:srgbClr val="FAF4F2"/>
                    </a:solidFill>
                  </a:tcPr>
                </a:tc>
                <a:tc>
                  <a:txBody>
                    <a:bodyPr/>
                    <a:lstStyle/>
                    <a:p>
                      <a:r>
                        <a:rPr sz="1800" i="0" b="0">
                          <a:solidFill>
                            <a:srgbClr val="2B211C"/>
                          </a:solidFill>
                          <a:latin typeface="Calibri"/>
                        </a:rPr>
                        <a:t>Differences in outcome can be blamed on the treatment, not on chance or choice</a:t>
                      </a:r>
                    </a:p>
                  </a:txBody>
                  <a:tcPr marL="109728" marR="109728" marT="45720" marB="45720" anchor="ctr">
                    <a:solidFill>
                      <a:srgbClr val="FA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Methods of Randomisation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06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200400"/>
        </p:xfrm>
        <a:graphic>
          <a:graphicData uri="http://schemas.openxmlformats.org/drawingml/2006/table">
            <a:tbl>
              <a:tblPr firstRow="0" bandRow="0">
                <a:tableStyleId>{5C22544A-7EE6-4342-B048-85BDC9FD1C3A}</a:tableStyleId>
              </a:tblPr>
              <a:tblGrid>
                <a:gridCol w="1440833"/>
                <a:gridCol w="3265888"/>
                <a:gridCol w="3121805"/>
                <a:gridCol w="3265888"/>
              </a:tblGrid>
              <a:tr h="640080">
                <a:tc>
                  <a:txBody>
                    <a:bodyPr/>
                    <a:lstStyle/>
                    <a:p>
                      <a:r>
                        <a:rPr sz="1400" i="0" b="1">
                          <a:solidFill>
                            <a:srgbClr val="FFFFFF"/>
                          </a:solidFill>
                          <a:latin typeface="Calibri"/>
                        </a:rPr>
                        <a:t>Method</a:t>
                      </a:r>
                    </a:p>
                  </a:txBody>
                  <a:tcPr marL="109728" marR="109728" marT="45720" marB="45720" anchor="ctr">
                    <a:solidFill>
                      <a:srgbClr val="A4472B"/>
                    </a:solidFill>
                  </a:tcPr>
                </a:tc>
                <a:tc>
                  <a:txBody>
                    <a:bodyPr/>
                    <a:lstStyle/>
                    <a:p>
                      <a:r>
                        <a:rPr sz="1400" i="0" b="1">
                          <a:solidFill>
                            <a:srgbClr val="FFFFFF"/>
                          </a:solidFill>
                          <a:latin typeface="Calibri"/>
                        </a:rPr>
                        <a:t>How it works</a:t>
                      </a:r>
                    </a:p>
                  </a:txBody>
                  <a:tcPr marL="109728" marR="109728" marT="45720" marB="45720" anchor="ctr">
                    <a:solidFill>
                      <a:srgbClr val="A4472B"/>
                    </a:solidFill>
                  </a:tcPr>
                </a:tc>
                <a:tc>
                  <a:txBody>
                    <a:bodyPr/>
                    <a:lstStyle/>
                    <a:p>
                      <a:r>
                        <a:rPr sz="1400" i="0" b="1">
                          <a:solidFill>
                            <a:srgbClr val="FFFFFF"/>
                          </a:solidFill>
                          <a:latin typeface="Calibri"/>
                        </a:rPr>
                        <a:t>When to use</a:t>
                      </a:r>
                    </a:p>
                  </a:txBody>
                  <a:tcPr marL="109728" marR="109728" marT="45720" marB="45720" anchor="ctr">
                    <a:solidFill>
                      <a:srgbClr val="A4472B"/>
                    </a:solidFill>
                  </a:tcPr>
                </a:tc>
                <a:tc>
                  <a:txBody>
                    <a:bodyPr/>
                    <a:lstStyle/>
                    <a:p>
                      <a:r>
                        <a:rPr sz="1400" i="0" b="1">
                          <a:solidFill>
                            <a:srgbClr val="FFFFFF"/>
                          </a:solidFill>
                          <a:latin typeface="Calibri"/>
                        </a:rPr>
                        <a:t>Weakness</a:t>
                      </a:r>
                    </a:p>
                  </a:txBody>
                  <a:tcPr marL="109728" marR="109728" marT="45720" marB="45720" anchor="ctr">
                    <a:solidFill>
                      <a:srgbClr val="A4472B"/>
                    </a:solidFill>
                  </a:tcPr>
                </a:tc>
              </a:tr>
              <a:tr h="640080">
                <a:tc>
                  <a:txBody>
                    <a:bodyPr/>
                    <a:lstStyle/>
                    <a:p>
                      <a:r>
                        <a:rPr sz="1500" i="0" b="1">
                          <a:solidFill>
                            <a:srgbClr val="2B211C"/>
                          </a:solidFill>
                          <a:latin typeface="Calibri"/>
                        </a:rPr>
                        <a:t>Simple</a:t>
                      </a:r>
                    </a:p>
                  </a:txBody>
                  <a:tcPr marL="109728" marR="109728" marT="45720" marB="45720" anchor="ctr">
                    <a:solidFill>
                      <a:srgbClr val="FFFFFF"/>
                    </a:solidFill>
                  </a:tcPr>
                </a:tc>
                <a:tc>
                  <a:txBody>
                    <a:bodyPr/>
                    <a:lstStyle/>
                    <a:p>
                      <a:r>
                        <a:rPr sz="1500" i="0" b="0">
                          <a:solidFill>
                            <a:srgbClr val="2B211C"/>
                          </a:solidFill>
                          <a:latin typeface="Calibri"/>
                        </a:rPr>
                        <a:t>Each patient is assigned by a random list or computer, like a coin toss</a:t>
                      </a:r>
                    </a:p>
                  </a:txBody>
                  <a:tcPr marL="109728" marR="109728" marT="45720" marB="45720" anchor="ctr">
                    <a:solidFill>
                      <a:srgbClr val="FFFFFF"/>
                    </a:solidFill>
                  </a:tcPr>
                </a:tc>
                <a:tc>
                  <a:txBody>
                    <a:bodyPr/>
                    <a:lstStyle/>
                    <a:p>
                      <a:r>
                        <a:rPr sz="1500" i="0" b="0">
                          <a:solidFill>
                            <a:srgbClr val="2B211C"/>
                          </a:solidFill>
                          <a:latin typeface="Calibri"/>
                        </a:rPr>
                        <a:t>Large trials</a:t>
                      </a:r>
                    </a:p>
                  </a:txBody>
                  <a:tcPr marL="109728" marR="109728" marT="45720" marB="45720" anchor="ctr">
                    <a:solidFill>
                      <a:srgbClr val="FFFFFF"/>
                    </a:solidFill>
                  </a:tcPr>
                </a:tc>
                <a:tc>
                  <a:txBody>
                    <a:bodyPr/>
                    <a:lstStyle/>
                    <a:p>
                      <a:r>
                        <a:rPr sz="1500" i="0" b="0">
                          <a:solidFill>
                            <a:srgbClr val="2B211C"/>
                          </a:solidFill>
                          <a:latin typeface="Calibri"/>
                        </a:rPr>
                        <a:t>Small trials may end up with unequal groups</a:t>
                      </a:r>
                    </a:p>
                  </a:txBody>
                  <a:tcPr marL="109728" marR="109728" marT="45720" marB="45720" anchor="ctr">
                    <a:solidFill>
                      <a:srgbClr val="FFFFFF"/>
                    </a:solidFill>
                  </a:tcPr>
                </a:tc>
              </a:tr>
              <a:tr h="640080">
                <a:tc>
                  <a:txBody>
                    <a:bodyPr/>
                    <a:lstStyle/>
                    <a:p>
                      <a:r>
                        <a:rPr sz="1500" i="0" b="1">
                          <a:solidFill>
                            <a:srgbClr val="2B211C"/>
                          </a:solidFill>
                          <a:latin typeface="Calibri"/>
                        </a:rPr>
                        <a:t>Block</a:t>
                      </a:r>
                    </a:p>
                  </a:txBody>
                  <a:tcPr marL="109728" marR="109728" marT="45720" marB="45720" anchor="ctr">
                    <a:solidFill>
                      <a:srgbClr val="FAF4F2"/>
                    </a:solidFill>
                  </a:tcPr>
                </a:tc>
                <a:tc>
                  <a:txBody>
                    <a:bodyPr/>
                    <a:lstStyle/>
                    <a:p>
                      <a:r>
                        <a:rPr sz="1500" i="0" b="0">
                          <a:solidFill>
                            <a:srgbClr val="2B211C"/>
                          </a:solidFill>
                          <a:latin typeface="Calibri"/>
                        </a:rPr>
                        <a:t>Patients are randomised in small blocks (for example 4), each with equal numbers per group</a:t>
                      </a:r>
                    </a:p>
                  </a:txBody>
                  <a:tcPr marL="109728" marR="109728" marT="45720" marB="45720" anchor="ctr">
                    <a:solidFill>
                      <a:srgbClr val="FAF4F2"/>
                    </a:solidFill>
                  </a:tcPr>
                </a:tc>
                <a:tc>
                  <a:txBody>
                    <a:bodyPr/>
                    <a:lstStyle/>
                    <a:p>
                      <a:r>
                        <a:rPr sz="1500" i="0" b="0">
                          <a:solidFill>
                            <a:srgbClr val="2B211C"/>
                          </a:solidFill>
                          <a:latin typeface="Calibri"/>
                        </a:rPr>
                        <a:t>Small trials; keeps group sizes equal over time</a:t>
                      </a:r>
                    </a:p>
                  </a:txBody>
                  <a:tcPr marL="109728" marR="109728" marT="45720" marB="45720" anchor="ctr">
                    <a:solidFill>
                      <a:srgbClr val="FAF4F2"/>
                    </a:solidFill>
                  </a:tcPr>
                </a:tc>
                <a:tc>
                  <a:txBody>
                    <a:bodyPr/>
                    <a:lstStyle/>
                    <a:p>
                      <a:r>
                        <a:rPr sz="1500" i="0" b="0">
                          <a:solidFill>
                            <a:srgbClr val="2B211C"/>
                          </a:solidFill>
                          <a:latin typeface="Calibri"/>
                        </a:rPr>
                        <a:t>If the block size is known, the last assignment in a block can be guessed</a:t>
                      </a:r>
                    </a:p>
                  </a:txBody>
                  <a:tcPr marL="109728" marR="109728" marT="45720" marB="45720" anchor="ctr">
                    <a:solidFill>
                      <a:srgbClr val="FAF4F2"/>
                    </a:solidFill>
                  </a:tcPr>
                </a:tc>
              </a:tr>
              <a:tr h="640080">
                <a:tc>
                  <a:txBody>
                    <a:bodyPr/>
                    <a:lstStyle/>
                    <a:p>
                      <a:r>
                        <a:rPr sz="1500" i="0" b="1">
                          <a:solidFill>
                            <a:srgbClr val="2B211C"/>
                          </a:solidFill>
                          <a:latin typeface="Calibri"/>
                        </a:rPr>
                        <a:t>Stratified</a:t>
                      </a:r>
                    </a:p>
                  </a:txBody>
                  <a:tcPr marL="109728" marR="109728" marT="45720" marB="45720" anchor="ctr">
                    <a:solidFill>
                      <a:srgbClr val="FFFFFF"/>
                    </a:solidFill>
                  </a:tcPr>
                </a:tc>
                <a:tc>
                  <a:txBody>
                    <a:bodyPr/>
                    <a:lstStyle/>
                    <a:p>
                      <a:r>
                        <a:rPr sz="1500" i="0" b="0">
                          <a:solidFill>
                            <a:srgbClr val="2B211C"/>
                          </a:solidFill>
                          <a:latin typeface="Calibri"/>
                        </a:rPr>
                        <a:t>Patients are first split into strata by a key factor (for example diabetes yes/no), then randomised within each stratum</a:t>
                      </a:r>
                    </a:p>
                  </a:txBody>
                  <a:tcPr marL="109728" marR="109728" marT="45720" marB="45720" anchor="ctr">
                    <a:solidFill>
                      <a:srgbClr val="FFFFFF"/>
                    </a:solidFill>
                  </a:tcPr>
                </a:tc>
                <a:tc>
                  <a:txBody>
                    <a:bodyPr/>
                    <a:lstStyle/>
                    <a:p>
                      <a:r>
                        <a:rPr sz="1500" i="0" b="0">
                          <a:solidFill>
                            <a:srgbClr val="2B211C"/>
                          </a:solidFill>
                          <a:latin typeface="Calibri"/>
                        </a:rPr>
                        <a:t>When one factor strongly affects outcome</a:t>
                      </a:r>
                    </a:p>
                  </a:txBody>
                  <a:tcPr marL="109728" marR="109728" marT="45720" marB="45720" anchor="ctr">
                    <a:solidFill>
                      <a:srgbClr val="FFFFFF"/>
                    </a:solidFill>
                  </a:tcPr>
                </a:tc>
                <a:tc>
                  <a:txBody>
                    <a:bodyPr/>
                    <a:lstStyle/>
                    <a:p>
                      <a:r>
                        <a:rPr sz="1500" i="0" b="0">
                          <a:solidFill>
                            <a:srgbClr val="2B211C"/>
                          </a:solidFill>
                          <a:latin typeface="Calibri"/>
                        </a:rPr>
                        <a:t>Too many strata make it complicated</a:t>
                      </a:r>
                    </a:p>
                  </a:txBody>
                  <a:tcPr marL="109728" marR="109728" marT="45720" marB="45720" anchor="ctr">
                    <a:solidFill>
                      <a:srgbClr val="FFFFFF"/>
                    </a:solidFill>
                  </a:tcPr>
                </a:tc>
              </a:tr>
              <a:tr h="640080">
                <a:tc>
                  <a:txBody>
                    <a:bodyPr/>
                    <a:lstStyle/>
                    <a:p>
                      <a:r>
                        <a:rPr sz="1500" i="0" b="1">
                          <a:solidFill>
                            <a:srgbClr val="2B211C"/>
                          </a:solidFill>
                          <a:latin typeface="Calibri"/>
                        </a:rPr>
                        <a:t>Unequal allocation</a:t>
                      </a:r>
                    </a:p>
                  </a:txBody>
                  <a:tcPr marL="109728" marR="109728" marT="45720" marB="45720" anchor="ctr">
                    <a:solidFill>
                      <a:srgbClr val="FAF4F2"/>
                    </a:solidFill>
                  </a:tcPr>
                </a:tc>
                <a:tc>
                  <a:txBody>
                    <a:bodyPr/>
                    <a:lstStyle/>
                    <a:p>
                      <a:r>
                        <a:rPr sz="1500" i="0" b="0">
                          <a:solidFill>
                            <a:srgbClr val="2B211C"/>
                          </a:solidFill>
                          <a:latin typeface="Calibri"/>
                        </a:rPr>
                        <a:t>More patients go to one arm, for example 2:1</a:t>
                      </a:r>
                    </a:p>
                  </a:txBody>
                  <a:tcPr marL="109728" marR="109728" marT="45720" marB="45720" anchor="ctr">
                    <a:solidFill>
                      <a:srgbClr val="FAF4F2"/>
                    </a:solidFill>
                  </a:tcPr>
                </a:tc>
                <a:tc>
                  <a:txBody>
                    <a:bodyPr/>
                    <a:lstStyle/>
                    <a:p>
                      <a:r>
                        <a:rPr sz="1500" i="0" b="0">
                          <a:solidFill>
                            <a:srgbClr val="2B211C"/>
                          </a:solidFill>
                          <a:latin typeface="Calibri"/>
                        </a:rPr>
                        <a:t>A costly drug, or to give more patients the new treatment</a:t>
                      </a:r>
                    </a:p>
                  </a:txBody>
                  <a:tcPr marL="109728" marR="109728" marT="45720" marB="45720" anchor="ctr">
                    <a:solidFill>
                      <a:srgbClr val="FAF4F2"/>
                    </a:solidFill>
                  </a:tcPr>
                </a:tc>
                <a:tc>
                  <a:txBody>
                    <a:bodyPr/>
                    <a:lstStyle/>
                    <a:p>
                      <a:r>
                        <a:rPr sz="1500" i="0" b="0">
                          <a:solidFill>
                            <a:srgbClr val="2B211C"/>
                          </a:solidFill>
                          <a:latin typeface="Calibri"/>
                        </a:rPr>
                        <a:t>Loses some statistical power</a:t>
                      </a:r>
                    </a:p>
                  </a:txBody>
                  <a:tcPr marL="109728" marR="109728" marT="45720" marB="45720" anchor="ctr">
                    <a:solidFill>
                      <a:srgbClr val="FAF4F2"/>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A closer look at unequal allocation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07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2B211C"/>
                </a:solidFill>
                <a:latin typeface="Calibri"/>
              </a:rPr>
              <a:t>Most trials use a 1:1 ratio because it gives the most statistical power for a given number of patients. Sometimes a trial uses 2:1 or 3:1 instead:</a:t>
            </a:r>
          </a:p>
          <a:p>
            <a:pPr>
              <a:spcAft>
                <a:spcPts val="800"/>
              </a:spcAft>
            </a:pPr>
            <a:r>
              <a:rPr sz="1700" i="0" b="0">
                <a:solidFill>
                  <a:srgbClr val="2B211C"/>
                </a:solidFill>
                <a:latin typeface="Calibri"/>
              </a:rPr>
              <a:t>A 2:1 ratio loses only a little power. A 3:1 ratio loses much more, so the trial needs more patients to answer the same question.</a:t>
            </a:r>
          </a:p>
        </p:txBody>
      </p:sp>
      <p:sp>
        <p:nvSpPr>
          <p:cNvPr id="9" name="Oval 8"/>
          <p:cNvSpPr/>
          <p:nvPr/>
        </p:nvSpPr>
        <p:spPr>
          <a:xfrm>
            <a:off x="5394959"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5989320" y="1591056"/>
            <a:ext cx="5653735" cy="1142237"/>
          </a:xfrm>
          <a:prstGeom prst="rect">
            <a:avLst/>
          </a:prstGeom>
          <a:noFill/>
        </p:spPr>
        <p:txBody>
          <a:bodyPr wrap="square" anchor="t" lIns="0" rIns="0" tIns="0" bIns="0">
            <a:spAutoFit/>
          </a:bodyPr>
          <a:lstStyle/>
          <a:p>
            <a:r>
              <a:rPr sz="2100" i="0" b="1">
                <a:solidFill>
                  <a:srgbClr val="2B211C"/>
                </a:solidFill>
                <a:latin typeface="Calibri"/>
              </a:rPr>
              <a:t>Cost:</a:t>
            </a:r>
            <a:r>
              <a:rPr sz="2100" i="0" b="0">
                <a:solidFill>
                  <a:srgbClr val="2B211C"/>
                </a:solidFill>
                <a:latin typeface="Calibri"/>
              </a:rPr>
              <a:t> if one treatment is very expensive, fewer patients can receive it.</a:t>
            </a:r>
          </a:p>
        </p:txBody>
      </p:sp>
      <p:sp>
        <p:nvSpPr>
          <p:cNvPr id="11" name="Oval 10"/>
          <p:cNvSpPr/>
          <p:nvPr/>
        </p:nvSpPr>
        <p:spPr>
          <a:xfrm>
            <a:off x="5394959"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5989320" y="2779014"/>
            <a:ext cx="5653735" cy="1142237"/>
          </a:xfrm>
          <a:prstGeom prst="rect">
            <a:avLst/>
          </a:prstGeom>
          <a:noFill/>
        </p:spPr>
        <p:txBody>
          <a:bodyPr wrap="square" anchor="t" lIns="0" rIns="0" tIns="0" bIns="0">
            <a:spAutoFit/>
          </a:bodyPr>
          <a:lstStyle/>
          <a:p>
            <a:r>
              <a:rPr sz="2100" i="0" b="1">
                <a:solidFill>
                  <a:srgbClr val="2B211C"/>
                </a:solidFill>
                <a:latin typeface="Calibri"/>
              </a:rPr>
              <a:t>Experience:</a:t>
            </a:r>
            <a:r>
              <a:rPr sz="2100" i="0" b="0">
                <a:solidFill>
                  <a:srgbClr val="2B211C"/>
                </a:solidFill>
                <a:latin typeface="Calibri"/>
              </a:rPr>
              <a:t> more patients on the new drug gives more safety data.</a:t>
            </a:r>
          </a:p>
        </p:txBody>
      </p:sp>
      <p:sp>
        <p:nvSpPr>
          <p:cNvPr id="13" name="Oval 12"/>
          <p:cNvSpPr/>
          <p:nvPr/>
        </p:nvSpPr>
        <p:spPr>
          <a:xfrm>
            <a:off x="5394959" y="394868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4" name="TextBox 13"/>
          <p:cNvSpPr txBox="1"/>
          <p:nvPr/>
        </p:nvSpPr>
        <p:spPr>
          <a:xfrm>
            <a:off x="5989320" y="3966971"/>
            <a:ext cx="5653735" cy="1475612"/>
          </a:xfrm>
          <a:prstGeom prst="rect">
            <a:avLst/>
          </a:prstGeom>
          <a:noFill/>
        </p:spPr>
        <p:txBody>
          <a:bodyPr wrap="square" anchor="t" lIns="0" rIns="0" tIns="0" bIns="0">
            <a:spAutoFit/>
          </a:bodyPr>
          <a:lstStyle/>
          <a:p>
            <a:r>
              <a:rPr sz="2100" i="0" b="1">
                <a:solidFill>
                  <a:srgbClr val="2B211C"/>
                </a:solidFill>
                <a:latin typeface="Calibri"/>
              </a:rPr>
              <a:t>Recruitment:</a:t>
            </a:r>
            <a:r>
              <a:rPr sz="2100" i="0" b="0">
                <a:solidFill>
                  <a:srgbClr val="2B211C"/>
                </a:solidFill>
                <a:latin typeface="Calibri"/>
              </a:rPr>
              <a:t> patients may join more readily if they have a better chance of the new drug.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Methods of Randomisation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08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Stratified randomisation balances a </a:t>
            </a:r>
            <a:r>
              <a:rPr sz="2600" i="0" b="1">
                <a:solidFill>
                  <a:srgbClr val="2B211C"/>
                </a:solidFill>
                <a:latin typeface="Calibri"/>
              </a:rPr>
              <a:t>known</a:t>
            </a:r>
            <a:r>
              <a:rPr sz="2600" i="0" b="0">
                <a:solidFill>
                  <a:srgbClr val="2B211C"/>
                </a:solidFill>
                <a:latin typeface="Calibri"/>
              </a:rPr>
              <a:t> important factor. Simple randomisation balances factors </a:t>
            </a:r>
            <a:r>
              <a:rPr sz="2600" i="0" b="1">
                <a:solidFill>
                  <a:srgbClr val="2B211C"/>
                </a:solidFill>
                <a:latin typeface="Calibri"/>
              </a:rPr>
              <a:t>on average</a:t>
            </a:r>
            <a:r>
              <a:rPr sz="2600" i="0" b="0">
                <a:solidFill>
                  <a:srgbClr val="2B211C"/>
                </a:solidFill>
                <a:latin typeface="Calibri"/>
              </a:rPr>
              <a:t>, which works well only in large trials.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Allocation Concealment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09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1808988"/>
          </a:xfrm>
          <a:prstGeom prst="rect">
            <a:avLst/>
          </a:prstGeom>
          <a:noFill/>
        </p:spPr>
        <p:txBody>
          <a:bodyPr wrap="square" anchor="t" lIns="0" rIns="0" tIns="0" bIns="0">
            <a:spAutoFit/>
          </a:bodyPr>
          <a:lstStyle/>
          <a:p>
            <a:r>
              <a:rPr sz="2100" i="0" b="0">
                <a:solidFill>
                  <a:srgbClr val="2B211C"/>
                </a:solidFill>
                <a:latin typeface="Calibri"/>
              </a:rPr>
              <a:t>Randomisation fails if people can see the list in advance. </a:t>
            </a:r>
            <a:r>
              <a:rPr sz="2100" i="0" b="1">
                <a:solidFill>
                  <a:srgbClr val="2B211C"/>
                </a:solidFill>
                <a:latin typeface="Calibri"/>
              </a:rPr>
              <a:t>Allocation concealment</a:t>
            </a:r>
            <a:r>
              <a:rPr sz="2100" i="0" b="0">
                <a:solidFill>
                  <a:srgbClr val="2B211C"/>
                </a:solidFill>
                <a:latin typeface="Calibri"/>
              </a:rPr>
              <a:t> keeps the next assignment hidden until the patient is enrolled. Common methods are central telephone or web randomisation and sealed, opaque, numbered envelopes.</a:t>
            </a:r>
          </a:p>
        </p:txBody>
      </p:sp>
      <p:sp>
        <p:nvSpPr>
          <p:cNvPr id="10" name="Oval 9"/>
          <p:cNvSpPr/>
          <p:nvPr/>
        </p:nvSpPr>
        <p:spPr>
          <a:xfrm>
            <a:off x="548640" y="342747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3445764"/>
            <a:ext cx="10500055" cy="1142237"/>
          </a:xfrm>
          <a:prstGeom prst="rect">
            <a:avLst/>
          </a:prstGeom>
          <a:noFill/>
        </p:spPr>
        <p:txBody>
          <a:bodyPr wrap="square" anchor="t" lIns="0" rIns="0" tIns="0" bIns="0">
            <a:spAutoFit/>
          </a:bodyPr>
          <a:lstStyle/>
          <a:p>
            <a:r>
              <a:rPr sz="2100" i="0" b="0">
                <a:solidFill>
                  <a:srgbClr val="2B211C"/>
                </a:solidFill>
                <a:latin typeface="Calibri"/>
              </a:rPr>
              <a:t>Concealment is different from blinding. Concealment protects the moment of </a:t>
            </a:r>
            <a:r>
              <a:rPr sz="2100" i="0" b="1">
                <a:solidFill>
                  <a:srgbClr val="2B211C"/>
                </a:solidFill>
                <a:latin typeface="Calibri"/>
              </a:rPr>
              <a:t>assignment</a:t>
            </a:r>
            <a:r>
              <a:rPr sz="2100" i="0" b="0">
                <a:solidFill>
                  <a:srgbClr val="2B211C"/>
                </a:solidFill>
                <a:latin typeface="Calibri"/>
              </a:rPr>
              <a:t>. Blinding protects everything </a:t>
            </a:r>
            <a:r>
              <a:rPr sz="2100" i="0" b="1">
                <a:solidFill>
                  <a:srgbClr val="2B211C"/>
                </a:solidFill>
                <a:latin typeface="Calibri"/>
              </a:rPr>
              <a:t>after</a:t>
            </a:r>
            <a:r>
              <a:rPr sz="2100" i="0" b="0">
                <a:solidFill>
                  <a:srgbClr val="2B211C"/>
                </a:solidFill>
                <a:latin typeface="Calibri"/>
              </a:rPr>
              <a:t> assignment.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Blinding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10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1">
                <a:solidFill>
                  <a:srgbClr val="2B211C"/>
                </a:solidFill>
                <a:latin typeface="Calibri"/>
              </a:rPr>
              <a:t>Blinding</a:t>
            </a:r>
            <a:r>
              <a:rPr sz="1700" i="0" b="0">
                <a:solidFill>
                  <a:srgbClr val="2B211C"/>
                </a:solidFill>
                <a:latin typeface="Calibri"/>
              </a:rPr>
              <a:t> (masking) means that people in the trial do not know which treatment a participant receives. It stops their knowledge from changing their behaviour or their judgement.</a:t>
            </a:r>
          </a:p>
          <a:p>
            <a:pPr>
              <a:spcAft>
                <a:spcPts val="800"/>
              </a:spcAft>
            </a:pPr>
            <a:r>
              <a:rPr sz="1700" i="0" b="0">
                <a:solidFill>
                  <a:srgbClr val="2B211C"/>
                </a:solidFill>
                <a:latin typeface="Calibri"/>
              </a:rPr>
              <a:t>Blinding matters most when the outcome is </a:t>
            </a:r>
            <a:r>
              <a:rPr sz="1700" i="0" b="1">
                <a:solidFill>
                  <a:srgbClr val="2B211C"/>
                </a:solidFill>
                <a:latin typeface="Calibri"/>
              </a:rPr>
              <a:t>subjective</a:t>
            </a:r>
            <a:r>
              <a:rPr sz="1700" i="0" b="0">
                <a:solidFill>
                  <a:srgbClr val="2B211C"/>
                </a:solidFill>
                <a:latin typeface="Calibri"/>
              </a:rPr>
              <a:t>, such as pain or mood. It matters less for hard outcomes such as death. To blind a trial, the drug and placebo must look, taste and feel the same. When drugs differ in form, trials use a </a:t>
            </a:r>
            <a:r>
              <a:rPr sz="1700" i="0" b="1">
                <a:solidFill>
                  <a:srgbClr val="2B211C"/>
                </a:solidFill>
                <a:latin typeface="Calibri"/>
              </a:rPr>
              <a:t>double-dummy</a:t>
            </a:r>
            <a:r>
              <a:rPr sz="1700" i="0" b="0">
                <a:solidFill>
                  <a:srgbClr val="2B211C"/>
                </a:solidFill>
                <a:latin typeface="Calibri"/>
              </a:rPr>
              <a:t> design: each patient takes one active drug and one placebo that looks like the other drug.</a:t>
            </a:r>
          </a:p>
        </p:txBody>
      </p:sp>
      <p:graphicFrame>
        <p:nvGraphicFramePr>
          <p:cNvPr id="9" name="Table 8"/>
          <p:cNvGraphicFramePr>
            <a:graphicFrameLocks noGrp="1"/>
          </p:cNvGraphicFramePr>
          <p:nvPr/>
        </p:nvGraphicFramePr>
        <p:xfrm>
          <a:off x="5394959" y="1554480"/>
          <a:ext cx="6248094" cy="3200400"/>
        </p:xfrm>
        <a:graphic>
          <a:graphicData uri="http://schemas.openxmlformats.org/drawingml/2006/table">
            <a:tbl>
              <a:tblPr firstRow="0" bandRow="0">
                <a:tableStyleId>{5C22544A-7EE6-4342-B048-85BDC9FD1C3A}</a:tableStyleId>
              </a:tblPr>
              <a:tblGrid>
                <a:gridCol w="1420021"/>
                <a:gridCol w="4828073"/>
              </a:tblGrid>
              <a:tr h="640080">
                <a:tc>
                  <a:txBody>
                    <a:bodyPr/>
                    <a:lstStyle/>
                    <a:p>
                      <a:r>
                        <a:rPr sz="1900" i="0" b="1">
                          <a:solidFill>
                            <a:srgbClr val="FFFFFF"/>
                          </a:solidFill>
                          <a:latin typeface="Calibri"/>
                        </a:rPr>
                        <a:t>Level</a:t>
                      </a:r>
                    </a:p>
                  </a:txBody>
                  <a:tcPr marL="109728" marR="109728" marT="45720" marB="45720" anchor="ctr">
                    <a:solidFill>
                      <a:srgbClr val="A4472B"/>
                    </a:solidFill>
                  </a:tcPr>
                </a:tc>
                <a:tc>
                  <a:txBody>
                    <a:bodyPr/>
                    <a:lstStyle/>
                    <a:p>
                      <a:r>
                        <a:rPr sz="1900" i="0" b="1">
                          <a:solidFill>
                            <a:srgbClr val="FFFFFF"/>
                          </a:solidFill>
                          <a:latin typeface="Calibri"/>
                        </a:rPr>
                        <a:t>Who does not know</a:t>
                      </a:r>
                    </a:p>
                  </a:txBody>
                  <a:tcPr marL="109728" marR="109728" marT="45720" marB="45720" anchor="ctr">
                    <a:solidFill>
                      <a:srgbClr val="A4472B"/>
                    </a:solidFill>
                  </a:tcPr>
                </a:tc>
              </a:tr>
              <a:tr h="640080">
                <a:tc>
                  <a:txBody>
                    <a:bodyPr/>
                    <a:lstStyle/>
                    <a:p>
                      <a:r>
                        <a:rPr sz="2000" i="0" b="1">
                          <a:solidFill>
                            <a:srgbClr val="2B211C"/>
                          </a:solidFill>
                          <a:latin typeface="Calibri"/>
                        </a:rPr>
                        <a:t>Open label</a:t>
                      </a:r>
                    </a:p>
                  </a:txBody>
                  <a:tcPr marL="109728" marR="109728" marT="45720" marB="45720" anchor="ctr">
                    <a:solidFill>
                      <a:srgbClr val="FFFFFF"/>
                    </a:solidFill>
                  </a:tcPr>
                </a:tc>
                <a:tc>
                  <a:txBody>
                    <a:bodyPr/>
                    <a:lstStyle/>
                    <a:p>
                      <a:r>
                        <a:rPr sz="2000" i="0" b="0">
                          <a:solidFill>
                            <a:srgbClr val="2B211C"/>
                          </a:solidFill>
                          <a:latin typeface="Calibri"/>
                        </a:rPr>
                        <a:t>Nobody is blinded</a:t>
                      </a:r>
                    </a:p>
                  </a:txBody>
                  <a:tcPr marL="109728" marR="109728" marT="45720" marB="45720" anchor="ctr">
                    <a:solidFill>
                      <a:srgbClr val="FFFFFF"/>
                    </a:solidFill>
                  </a:tcPr>
                </a:tc>
              </a:tr>
              <a:tr h="640080">
                <a:tc>
                  <a:txBody>
                    <a:bodyPr/>
                    <a:lstStyle/>
                    <a:p>
                      <a:r>
                        <a:rPr sz="2000" i="0" b="1">
                          <a:solidFill>
                            <a:srgbClr val="2B211C"/>
                          </a:solidFill>
                          <a:latin typeface="Calibri"/>
                        </a:rPr>
                        <a:t>Single blind</a:t>
                      </a:r>
                    </a:p>
                  </a:txBody>
                  <a:tcPr marL="109728" marR="109728" marT="45720" marB="45720" anchor="ctr">
                    <a:solidFill>
                      <a:srgbClr val="FAF4F2"/>
                    </a:solidFill>
                  </a:tcPr>
                </a:tc>
                <a:tc>
                  <a:txBody>
                    <a:bodyPr/>
                    <a:lstStyle/>
                    <a:p>
                      <a:r>
                        <a:rPr sz="2000" i="0" b="0">
                          <a:solidFill>
                            <a:srgbClr val="2B211C"/>
                          </a:solidFill>
                          <a:latin typeface="Calibri"/>
                        </a:rPr>
                        <a:t>The participant</a:t>
                      </a:r>
                    </a:p>
                  </a:txBody>
                  <a:tcPr marL="109728" marR="109728" marT="45720" marB="45720" anchor="ctr">
                    <a:solidFill>
                      <a:srgbClr val="FAF4F2"/>
                    </a:solidFill>
                  </a:tcPr>
                </a:tc>
              </a:tr>
              <a:tr h="640080">
                <a:tc>
                  <a:txBody>
                    <a:bodyPr/>
                    <a:lstStyle/>
                    <a:p>
                      <a:r>
                        <a:rPr sz="2000" i="0" b="1">
                          <a:solidFill>
                            <a:srgbClr val="2B211C"/>
                          </a:solidFill>
                          <a:latin typeface="Calibri"/>
                        </a:rPr>
                        <a:t>Double blind</a:t>
                      </a:r>
                    </a:p>
                  </a:txBody>
                  <a:tcPr marL="109728" marR="109728" marT="45720" marB="45720" anchor="ctr">
                    <a:solidFill>
                      <a:srgbClr val="FFFFFF"/>
                    </a:solidFill>
                  </a:tcPr>
                </a:tc>
                <a:tc>
                  <a:txBody>
                    <a:bodyPr/>
                    <a:lstStyle/>
                    <a:p>
                      <a:r>
                        <a:rPr sz="2000" i="0" b="0">
                          <a:solidFill>
                            <a:srgbClr val="2B211C"/>
                          </a:solidFill>
                          <a:latin typeface="Calibri"/>
                        </a:rPr>
                        <a:t>The participant and the treating team</a:t>
                      </a:r>
                    </a:p>
                  </a:txBody>
                  <a:tcPr marL="109728" marR="109728" marT="45720" marB="45720" anchor="ctr">
                    <a:solidFill>
                      <a:srgbClr val="FFFFFF"/>
                    </a:solidFill>
                  </a:tcPr>
                </a:tc>
              </a:tr>
              <a:tr h="640080">
                <a:tc>
                  <a:txBody>
                    <a:bodyPr/>
                    <a:lstStyle/>
                    <a:p>
                      <a:r>
                        <a:rPr sz="2000" i="0" b="1">
                          <a:solidFill>
                            <a:srgbClr val="2B211C"/>
                          </a:solidFill>
                          <a:latin typeface="Calibri"/>
                        </a:rPr>
                        <a:t>Triple blind</a:t>
                      </a:r>
                    </a:p>
                  </a:txBody>
                  <a:tcPr marL="109728" marR="109728" marT="45720" marB="45720" anchor="ctr">
                    <a:solidFill>
                      <a:srgbClr val="FAF4F2"/>
                    </a:solidFill>
                  </a:tcPr>
                </a:tc>
                <a:tc>
                  <a:txBody>
                    <a:bodyPr/>
                    <a:lstStyle/>
                    <a:p>
                      <a:r>
                        <a:rPr sz="2000" i="0" b="0">
                          <a:solidFill>
                            <a:srgbClr val="2B211C"/>
                          </a:solidFill>
                          <a:latin typeface="Calibri"/>
                        </a:rPr>
                        <a:t>The participant, the treating team and the outcome assessors or statisticians</a:t>
                      </a:r>
                    </a:p>
                  </a:txBody>
                  <a:tcPr marL="109728" marR="109728" marT="45720" marB="45720" anchor="ctr">
                    <a:solidFill>
                      <a:srgbClr val="FAF4F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E6EEE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6EEEF"/>
                </a:solidFill>
                <a:latin typeface="Calibri"/>
              </a:rPr>
              <a:t>Section 4</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In a hospital trial, the pharmacy prepares identical capsules of the study drug and placebo, labelled only with a code. The pharmacist keeps the code list locked and breaks the code for one patient only if a serious reaction needs it. This is how pharmacists protect both blinding and patient safety.</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Randomisation and Blinding</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11 / 25</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Efficacy and Effectiveness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12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2B211C"/>
                </a:solidFill>
                <a:latin typeface="Calibri"/>
              </a:rPr>
              <a:t>Randomised trials have limits. These are limits of the trial setting, not of randomisation itself.</a:t>
            </a:r>
          </a:p>
          <a:p>
            <a:pPr>
              <a:spcAft>
                <a:spcPts val="800"/>
              </a:spcAft>
            </a:pPr>
            <a:r>
              <a:rPr sz="2100" i="0" b="0">
                <a:solidFill>
                  <a:srgbClr val="2B211C"/>
                </a:solidFill>
                <a:latin typeface="Calibri"/>
              </a:rPr>
              <a:t>When you use a trial to answer a question, check whether its patients resemble yours. An elderly patient with kidney disease may have been excluded from the trial you are reading.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Efficacy and Effectiveness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13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3840480"/>
        </p:xfrm>
        <a:graphic>
          <a:graphicData uri="http://schemas.openxmlformats.org/drawingml/2006/table">
            <a:tbl>
              <a:tblPr firstRow="0" bandRow="0">
                <a:tableStyleId>{5C22544A-7EE6-4342-B048-85BDC9FD1C3A}</a:tableStyleId>
              </a:tblPr>
              <a:tblGrid>
                <a:gridCol w="1957837"/>
                <a:gridCol w="4381827"/>
                <a:gridCol w="4754749"/>
              </a:tblGrid>
              <a:tr h="640080">
                <a:tc>
                  <a:txBody>
                    <a:bodyPr/>
                    <a:lstStyle/>
                    <a:p/>
                  </a:txBody>
                  <a:tcPr marL="109728" marR="109728" marT="45720" marB="45720" anchor="ctr">
                    <a:solidFill>
                      <a:srgbClr val="A4472B"/>
                    </a:solidFill>
                  </a:tcPr>
                </a:tc>
                <a:tc>
                  <a:txBody>
                    <a:bodyPr/>
                    <a:lstStyle/>
                    <a:p>
                      <a:r>
                        <a:rPr sz="1700" i="0" b="1">
                          <a:solidFill>
                            <a:srgbClr val="FFFFFF"/>
                          </a:solidFill>
                          <a:latin typeface="Calibri"/>
                        </a:rPr>
                        <a:t>Efficacy trial</a:t>
                      </a:r>
                    </a:p>
                  </a:txBody>
                  <a:tcPr marL="109728" marR="109728" marT="45720" marB="45720" anchor="ctr">
                    <a:solidFill>
                      <a:srgbClr val="A4472B"/>
                    </a:solidFill>
                  </a:tcPr>
                </a:tc>
                <a:tc>
                  <a:txBody>
                    <a:bodyPr/>
                    <a:lstStyle/>
                    <a:p>
                      <a:r>
                        <a:rPr sz="1700" i="0" b="1">
                          <a:solidFill>
                            <a:srgbClr val="FFFFFF"/>
                          </a:solidFill>
                          <a:latin typeface="Calibri"/>
                        </a:rPr>
                        <a:t>Effectiveness trial</a:t>
                      </a:r>
                    </a:p>
                  </a:txBody>
                  <a:tcPr marL="109728" marR="109728" marT="45720" marB="45720" anchor="ctr">
                    <a:solidFill>
                      <a:srgbClr val="A4472B"/>
                    </a:solidFill>
                  </a:tcPr>
                </a:tc>
              </a:tr>
              <a:tr h="640080">
                <a:tc>
                  <a:txBody>
                    <a:bodyPr/>
                    <a:lstStyle/>
                    <a:p>
                      <a:r>
                        <a:rPr sz="1800" i="0" b="1">
                          <a:solidFill>
                            <a:srgbClr val="2B211C"/>
                          </a:solidFill>
                          <a:latin typeface="Calibri"/>
                        </a:rPr>
                        <a:t>Question</a:t>
                      </a:r>
                    </a:p>
                  </a:txBody>
                  <a:tcPr marL="109728" marR="109728" marT="45720" marB="45720" anchor="ctr">
                    <a:solidFill>
                      <a:srgbClr val="FFFFFF"/>
                    </a:solidFill>
                  </a:tcPr>
                </a:tc>
                <a:tc>
                  <a:txBody>
                    <a:bodyPr/>
                    <a:lstStyle/>
                    <a:p>
                      <a:r>
                        <a:rPr sz="1800" i="0" b="0">
                          <a:solidFill>
                            <a:srgbClr val="2B211C"/>
                          </a:solidFill>
                          <a:latin typeface="Calibri"/>
                        </a:rPr>
                        <a:t>Can the drug work in ideal conditions?</a:t>
                      </a:r>
                    </a:p>
                  </a:txBody>
                  <a:tcPr marL="109728" marR="109728" marT="45720" marB="45720" anchor="ctr">
                    <a:solidFill>
                      <a:srgbClr val="FFFFFF"/>
                    </a:solidFill>
                  </a:tcPr>
                </a:tc>
                <a:tc>
                  <a:txBody>
                    <a:bodyPr/>
                    <a:lstStyle/>
                    <a:p>
                      <a:r>
                        <a:rPr sz="1800" i="0" b="0">
                          <a:solidFill>
                            <a:srgbClr val="2B211C"/>
                          </a:solidFill>
                          <a:latin typeface="Calibri"/>
                        </a:rPr>
                        <a:t>Does the drug work in everyday practice?</a:t>
                      </a:r>
                    </a:p>
                  </a:txBody>
                  <a:tcPr marL="109728" marR="109728" marT="45720" marB="45720" anchor="ctr">
                    <a:solidFill>
                      <a:srgbClr val="FFFFFF"/>
                    </a:solidFill>
                  </a:tcPr>
                </a:tc>
              </a:tr>
              <a:tr h="640080">
                <a:tc>
                  <a:txBody>
                    <a:bodyPr/>
                    <a:lstStyle/>
                    <a:p>
                      <a:r>
                        <a:rPr sz="1800" i="0" b="1">
                          <a:solidFill>
                            <a:srgbClr val="2B211C"/>
                          </a:solidFill>
                          <a:latin typeface="Calibri"/>
                        </a:rPr>
                        <a:t>Patients</a:t>
                      </a:r>
                    </a:p>
                  </a:txBody>
                  <a:tcPr marL="109728" marR="109728" marT="45720" marB="45720" anchor="ctr">
                    <a:solidFill>
                      <a:srgbClr val="FAF4F2"/>
                    </a:solidFill>
                  </a:tcPr>
                </a:tc>
                <a:tc>
                  <a:txBody>
                    <a:bodyPr/>
                    <a:lstStyle/>
                    <a:p>
                      <a:r>
                        <a:rPr sz="1800" i="0" b="0">
                          <a:solidFill>
                            <a:srgbClr val="2B211C"/>
                          </a:solidFill>
                          <a:latin typeface="Calibri"/>
                        </a:rPr>
                        <a:t>Strict inclusion and exclusion criteria</a:t>
                      </a:r>
                    </a:p>
                  </a:txBody>
                  <a:tcPr marL="109728" marR="109728" marT="45720" marB="45720" anchor="ctr">
                    <a:solidFill>
                      <a:srgbClr val="FAF4F2"/>
                    </a:solidFill>
                  </a:tcPr>
                </a:tc>
                <a:tc>
                  <a:txBody>
                    <a:bodyPr/>
                    <a:lstStyle/>
                    <a:p>
                      <a:r>
                        <a:rPr sz="1800" i="0" b="0">
                          <a:solidFill>
                            <a:srgbClr val="2B211C"/>
                          </a:solidFill>
                          <a:latin typeface="Calibri"/>
                        </a:rPr>
                        <a:t>Broad, real-life patients</a:t>
                      </a:r>
                    </a:p>
                  </a:txBody>
                  <a:tcPr marL="109728" marR="109728" marT="45720" marB="45720" anchor="ctr">
                    <a:solidFill>
                      <a:srgbClr val="FAF4F2"/>
                    </a:solidFill>
                  </a:tcPr>
                </a:tc>
              </a:tr>
              <a:tr h="640080">
                <a:tc>
                  <a:txBody>
                    <a:bodyPr/>
                    <a:lstStyle/>
                    <a:p>
                      <a:r>
                        <a:rPr sz="1800" i="0" b="1">
                          <a:solidFill>
                            <a:srgbClr val="2B211C"/>
                          </a:solidFill>
                          <a:latin typeface="Calibri"/>
                        </a:rPr>
                        <a:t>Setting</a:t>
                      </a:r>
                    </a:p>
                  </a:txBody>
                  <a:tcPr marL="109728" marR="109728" marT="45720" marB="45720" anchor="ctr">
                    <a:solidFill>
                      <a:srgbClr val="FFFFFF"/>
                    </a:solidFill>
                  </a:tcPr>
                </a:tc>
                <a:tc>
                  <a:txBody>
                    <a:bodyPr/>
                    <a:lstStyle/>
                    <a:p>
                      <a:r>
                        <a:rPr sz="1800" i="0" b="0">
                          <a:solidFill>
                            <a:srgbClr val="2B211C"/>
                          </a:solidFill>
                          <a:latin typeface="Calibri"/>
                        </a:rPr>
                        <a:t>Highly controlled</a:t>
                      </a:r>
                    </a:p>
                  </a:txBody>
                  <a:tcPr marL="109728" marR="109728" marT="45720" marB="45720" anchor="ctr">
                    <a:solidFill>
                      <a:srgbClr val="FFFFFF"/>
                    </a:solidFill>
                  </a:tcPr>
                </a:tc>
                <a:tc>
                  <a:txBody>
                    <a:bodyPr/>
                    <a:lstStyle/>
                    <a:p>
                      <a:r>
                        <a:rPr sz="1800" i="0" b="0">
                          <a:solidFill>
                            <a:srgbClr val="2B211C"/>
                          </a:solidFill>
                          <a:latin typeface="Calibri"/>
                        </a:rPr>
                        <a:t>Normal clinics</a:t>
                      </a:r>
                    </a:p>
                  </a:txBody>
                  <a:tcPr marL="109728" marR="109728" marT="45720" marB="45720" anchor="ctr">
                    <a:solidFill>
                      <a:srgbClr val="FFFFFF"/>
                    </a:solidFill>
                  </a:tcPr>
                </a:tc>
              </a:tr>
              <a:tr h="640080">
                <a:tc>
                  <a:txBody>
                    <a:bodyPr/>
                    <a:lstStyle/>
                    <a:p>
                      <a:r>
                        <a:rPr sz="1800" i="0" b="1">
                          <a:solidFill>
                            <a:srgbClr val="2B211C"/>
                          </a:solidFill>
                          <a:latin typeface="Calibri"/>
                        </a:rPr>
                        <a:t>Size and cost</a:t>
                      </a:r>
                    </a:p>
                  </a:txBody>
                  <a:tcPr marL="109728" marR="109728" marT="45720" marB="45720" anchor="ctr">
                    <a:solidFill>
                      <a:srgbClr val="FAF4F2"/>
                    </a:solidFill>
                  </a:tcPr>
                </a:tc>
                <a:tc>
                  <a:txBody>
                    <a:bodyPr/>
                    <a:lstStyle/>
                    <a:p>
                      <a:r>
                        <a:rPr sz="1800" i="0" b="0">
                          <a:solidFill>
                            <a:srgbClr val="2B211C"/>
                          </a:solidFill>
                          <a:latin typeface="Calibri"/>
                        </a:rPr>
                        <a:t>Smaller</a:t>
                      </a:r>
                    </a:p>
                  </a:txBody>
                  <a:tcPr marL="109728" marR="109728" marT="45720" marB="45720" anchor="ctr">
                    <a:solidFill>
                      <a:srgbClr val="FAF4F2"/>
                    </a:solidFill>
                  </a:tcPr>
                </a:tc>
                <a:tc>
                  <a:txBody>
                    <a:bodyPr/>
                    <a:lstStyle/>
                    <a:p>
                      <a:r>
                        <a:rPr sz="1800" i="0" b="0">
                          <a:solidFill>
                            <a:srgbClr val="2B211C"/>
                          </a:solidFill>
                          <a:latin typeface="Calibri"/>
                        </a:rPr>
                        <a:t>Larger and more expensive</a:t>
                      </a:r>
                    </a:p>
                  </a:txBody>
                  <a:tcPr marL="109728" marR="109728" marT="45720" marB="45720" anchor="ctr">
                    <a:solidFill>
                      <a:srgbClr val="FAF4F2"/>
                    </a:solidFill>
                  </a:tcPr>
                </a:tc>
              </a:tr>
              <a:tr h="640080">
                <a:tc>
                  <a:txBody>
                    <a:bodyPr/>
                    <a:lstStyle/>
                    <a:p>
                      <a:r>
                        <a:rPr sz="1800" i="0" b="1">
                          <a:solidFill>
                            <a:srgbClr val="2B211C"/>
                          </a:solidFill>
                          <a:latin typeface="Calibri"/>
                        </a:rPr>
                        <a:t>Weakness</a:t>
                      </a:r>
                    </a:p>
                  </a:txBody>
                  <a:tcPr marL="109728" marR="109728" marT="45720" marB="45720" anchor="ctr">
                    <a:solidFill>
                      <a:srgbClr val="FFFFFF"/>
                    </a:solidFill>
                  </a:tcPr>
                </a:tc>
                <a:tc>
                  <a:txBody>
                    <a:bodyPr/>
                    <a:lstStyle/>
                    <a:p>
                      <a:r>
                        <a:rPr sz="1800" i="0" b="0">
                          <a:solidFill>
                            <a:srgbClr val="2B211C"/>
                          </a:solidFill>
                          <a:latin typeface="Calibri"/>
                        </a:rPr>
                        <a:t>Results may not apply to your patient</a:t>
                      </a:r>
                    </a:p>
                  </a:txBody>
                  <a:tcPr marL="109728" marR="109728" marT="45720" marB="45720" anchor="ctr">
                    <a:solidFill>
                      <a:srgbClr val="FFFFFF"/>
                    </a:solidFill>
                  </a:tcPr>
                </a:tc>
                <a:tc>
                  <a:txBody>
                    <a:bodyPr/>
                    <a:lstStyle/>
                    <a:p>
                      <a:r>
                        <a:rPr sz="1800" i="0" b="0">
                          <a:solidFill>
                            <a:srgbClr val="2B211C"/>
                          </a:solidFill>
                          <a:latin typeface="Calibri"/>
                        </a:rPr>
                        <a:t>More variation; harder to show a difference</a:t>
                      </a:r>
                    </a:p>
                  </a:txBody>
                  <a:tcPr marL="109728" marR="109728" marT="45720" marB="4572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14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main purpose of randomisation?</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To make the trial cheaper</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To prevent selection bias and balance groups</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To make the trial shorter</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To make blinding unnecessary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15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What is the main purpose of randomisation?</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To make the trial cheaper</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To prevent selection bias and balance groups</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To make the trial shorter</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To make blinding unnecessary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Randomisation removes selection bias and balances groups. A, C and D are not its purpose.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16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small trial wants equal group sizes throughout recruitment. Which method is best?</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Block randomisation</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Simple randomisation</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Unequal allocation</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No randomisation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17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small trial wants equal group sizes throughout recruitment. Which method is best?</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Block randomisation</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Simple randomisation</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Unequal allocation</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No randomisation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Blocks keep numbers equal as patients join. B can drift in small trials; C and D do not.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18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first divides patients by smoking status, then randomises within each group. This is:</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Block randomisation</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Unequal allocation</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Stratified randomisation</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Simple randomisation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19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first divides patients by smoking status, then randomises within each group. This is:</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Block randomisation</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Unequal allocation</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Stratified randomisation</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Simple randomisation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Randomising within strata is stratified randomisation. A, B and D do not split by a factor first.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20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In a double-blind trial, who does NOT know the treatment?</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Only the patient</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Only the statistician</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Nobody is blinded</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 patient and the treating team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21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In a double-blind trial, who does NOT know the treatment?</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Only the patient</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Only the statistician</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Nobody is blinded</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The patient and the treating team</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Double blind hides the treatment from the patient and the treating team. A is single blind, C open label, B not a standard level.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22 / 25</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includes only patients aged 18-65 with no other illness, in a research unit. It is best described as:</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An effectiveness trial</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An efficacy trial</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An open-label trial</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 case-control study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04</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4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4  ·  Randomisation and Blinding</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23 / 25</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includes only patients aged 18-65 with no other illness, in a research unit. It is best described as:</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An effectiveness trial</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An efficacy trial</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An open-label trial</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 case-control study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Strict patients in a controlled setting test efficacy. A uses real-life patients; C and D are other terms.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3D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1E3DF"/>
                </a:solidFill>
                <a:latin typeface="Calibri"/>
              </a:rPr>
              <a:t>Section 4</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new pain gel is tested against placebo gel in 60 patients. (a) Which randomisation method keeps groups equal in this small trial? (b) Why is blinding important here? (c) The new gel smells of menthol. How can the trial stay blind?</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Randomisation and Blinding</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24 / 25</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2E5E1"/>
                </a:solidFill>
                <a:latin typeface="Calibri"/>
              </a:rPr>
              <a:t>SECTION 4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1</a:t>
            </a:r>
          </a:p>
        </p:txBody>
      </p:sp>
      <p:sp>
        <p:nvSpPr>
          <p:cNvPr id="5" name="TextBox 4"/>
          <p:cNvSpPr txBox="1"/>
          <p:nvPr/>
        </p:nvSpPr>
        <p:spPr>
          <a:xfrm>
            <a:off x="1143000" y="1865376"/>
            <a:ext cx="10500055" cy="595502"/>
          </a:xfrm>
          <a:prstGeom prst="rect">
            <a:avLst/>
          </a:prstGeom>
          <a:noFill/>
        </p:spPr>
        <p:txBody>
          <a:bodyPr wrap="square" anchor="t" lIns="0" rIns="0" tIns="0" bIns="0">
            <a:spAutoFit/>
          </a:bodyPr>
          <a:lstStyle/>
          <a:p>
            <a:r>
              <a:rPr sz="2100" i="0" b="0">
                <a:solidFill>
                  <a:srgbClr val="FFFFFF"/>
                </a:solidFill>
                <a:latin typeface="Calibri"/>
              </a:rPr>
              <a:t>Randomisation assigns patients by chance and removes selection bias.</a:t>
            </a:r>
          </a:p>
        </p:txBody>
      </p:sp>
      <p:sp>
        <p:nvSpPr>
          <p:cNvPr id="6" name="Oval 5"/>
          <p:cNvSpPr/>
          <p:nvPr/>
        </p:nvSpPr>
        <p:spPr>
          <a:xfrm>
            <a:off x="548640" y="2488311"/>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2</a:t>
            </a:r>
          </a:p>
        </p:txBody>
      </p:sp>
      <p:sp>
        <p:nvSpPr>
          <p:cNvPr id="7" name="TextBox 6"/>
          <p:cNvSpPr txBox="1"/>
          <p:nvPr/>
        </p:nvSpPr>
        <p:spPr>
          <a:xfrm>
            <a:off x="1143000" y="2506599"/>
            <a:ext cx="10500055" cy="928877"/>
          </a:xfrm>
          <a:prstGeom prst="rect">
            <a:avLst/>
          </a:prstGeom>
          <a:noFill/>
        </p:spPr>
        <p:txBody>
          <a:bodyPr wrap="square" anchor="t" lIns="0" rIns="0" tIns="0" bIns="0">
            <a:spAutoFit/>
          </a:bodyPr>
          <a:lstStyle/>
          <a:p>
            <a:r>
              <a:rPr sz="2100" i="0" b="0">
                <a:solidFill>
                  <a:srgbClr val="FFFFFF"/>
                </a:solidFill>
                <a:latin typeface="Calibri"/>
              </a:rPr>
              <a:t>It balances known and unknown factors, so outcome differences can be blamed on treatment.</a:t>
            </a:r>
          </a:p>
        </p:txBody>
      </p:sp>
      <p:sp>
        <p:nvSpPr>
          <p:cNvPr id="8" name="Oval 7"/>
          <p:cNvSpPr/>
          <p:nvPr/>
        </p:nvSpPr>
        <p:spPr>
          <a:xfrm>
            <a:off x="548640" y="346290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3</a:t>
            </a:r>
          </a:p>
        </p:txBody>
      </p:sp>
      <p:sp>
        <p:nvSpPr>
          <p:cNvPr id="9" name="TextBox 8"/>
          <p:cNvSpPr txBox="1"/>
          <p:nvPr/>
        </p:nvSpPr>
        <p:spPr>
          <a:xfrm>
            <a:off x="1143000" y="3481196"/>
            <a:ext cx="10500055" cy="595502"/>
          </a:xfrm>
          <a:prstGeom prst="rect">
            <a:avLst/>
          </a:prstGeom>
          <a:noFill/>
        </p:spPr>
        <p:txBody>
          <a:bodyPr wrap="square" anchor="t" lIns="0" rIns="0" tIns="0" bIns="0">
            <a:spAutoFit/>
          </a:bodyPr>
          <a:lstStyle/>
          <a:p>
            <a:r>
              <a:rPr sz="2100" i="0" b="0">
                <a:solidFill>
                  <a:srgbClr val="FFFFFF"/>
                </a:solidFill>
                <a:latin typeface="Calibri"/>
              </a:rPr>
              <a:t>Simple, block, stratified and unequal allocation suit different trials.</a:t>
            </a:r>
          </a:p>
        </p:txBody>
      </p:sp>
      <p:sp>
        <p:nvSpPr>
          <p:cNvPr id="10" name="Oval 9"/>
          <p:cNvSpPr/>
          <p:nvPr/>
        </p:nvSpPr>
        <p:spPr>
          <a:xfrm>
            <a:off x="548640" y="4104131"/>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4</a:t>
            </a:r>
          </a:p>
        </p:txBody>
      </p:sp>
      <p:sp>
        <p:nvSpPr>
          <p:cNvPr id="11" name="TextBox 10"/>
          <p:cNvSpPr txBox="1"/>
          <p:nvPr/>
        </p:nvSpPr>
        <p:spPr>
          <a:xfrm>
            <a:off x="1143000" y="4122419"/>
            <a:ext cx="10500055" cy="928877"/>
          </a:xfrm>
          <a:prstGeom prst="rect">
            <a:avLst/>
          </a:prstGeom>
          <a:noFill/>
        </p:spPr>
        <p:txBody>
          <a:bodyPr wrap="square" anchor="t" lIns="0" rIns="0" tIns="0" bIns="0">
            <a:spAutoFit/>
          </a:bodyPr>
          <a:lstStyle/>
          <a:p>
            <a:r>
              <a:rPr sz="2100" i="0" b="0">
                <a:solidFill>
                  <a:srgbClr val="FFFFFF"/>
                </a:solidFill>
                <a:latin typeface="Calibri"/>
              </a:rPr>
              <a:t>Allocation concealment hides the next assignment; blinding hides the treatment afterwards.</a:t>
            </a:r>
          </a:p>
        </p:txBody>
      </p:sp>
      <p:sp>
        <p:nvSpPr>
          <p:cNvPr id="12" name="Oval 11"/>
          <p:cNvSpPr/>
          <p:nvPr/>
        </p:nvSpPr>
        <p:spPr>
          <a:xfrm>
            <a:off x="548640" y="5078729"/>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5</a:t>
            </a:r>
          </a:p>
        </p:txBody>
      </p:sp>
      <p:sp>
        <p:nvSpPr>
          <p:cNvPr id="13" name="TextBox 12"/>
          <p:cNvSpPr txBox="1"/>
          <p:nvPr/>
        </p:nvSpPr>
        <p:spPr>
          <a:xfrm>
            <a:off x="1143000" y="5097017"/>
            <a:ext cx="10500055" cy="928877"/>
          </a:xfrm>
          <a:prstGeom prst="rect">
            <a:avLst/>
          </a:prstGeom>
          <a:noFill/>
        </p:spPr>
        <p:txBody>
          <a:bodyPr wrap="square" anchor="t" lIns="0" rIns="0" tIns="0" bIns="0">
            <a:spAutoFit/>
          </a:bodyPr>
          <a:lstStyle/>
          <a:p>
            <a:r>
              <a:rPr sz="2100" i="0" b="0">
                <a:solidFill>
                  <a:srgbClr val="FFFFFF"/>
                </a:solidFill>
                <a:latin typeface="Calibri"/>
              </a:rPr>
              <a:t>Efficacy trials test ideal conditions; effectiveness trials test real practice.</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