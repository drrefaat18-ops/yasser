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Three Types of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a:p/>
          <a:p>
            <a:r>
              <a:t>About 90 s.  Next: Three Types of Source.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a:p/>
          <a:p>
            <a:r>
              <a:t>About 60 s.  Next: Tertiary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How to judge a tertiary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Which reference for which question?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Which reference for which question? (2/2).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Tertiary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a:p/>
          <a:p>
            <a:r>
              <a:t>About 30 s.  Next: Secondary Sources.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a:p/>
          <a:p>
            <a:r>
              <a:t>About 60 s.  Next: Five tips for a better PubMed search.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a:p/>
          <a:p>
            <a:r>
              <a:t>About 120 s.  Next: Primary Sources (added).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a:p/>
          <a:p>
            <a:r>
              <a:t>About 30 s.  Next: Primary Sources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Micromedex summarises evidence, so it is tertiary. A, B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Print editions lag behind new evidence. A, C and D are not typical.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Stockley's is the standard interaction reference. B covers IV compatibility, C pregnancy, D older adults.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PMC is a free full-text archive. A, B and C describe other sources.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new drug may be missing from an older source. A, C and D do not affect quality.</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An IV compatibility question. (b) Trissel's Handbook on Injectable Drugs (or the product labelling). (c) Do not mix them: ceftriaxone and calcium can form a precipitate. In neonates, calcium-containing IV solutions must not be given with ceftriaxone at all. In older patients, flush the line well between them.</a:t>
            </a:r>
          </a:p>
          <a:p/>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2</a:t>
            </a:r>
          </a:p>
          <a:p>
            <a:pPr>
              <a:spcBef>
                <a:spcPts val="1400"/>
              </a:spcBef>
            </a:pPr>
            <a:r>
              <a:rPr sz="4400" i="0" b="1">
                <a:solidFill>
                  <a:srgbClr val="FFFFFF"/>
                </a:solidFill>
                <a:latin typeface="Cambria"/>
              </a:rPr>
              <a:t>Drug Information Sources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Classify a source as tertiary, secondary or primary.</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List the advantages and disadvantages of each type.</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Choose a named reference for a given type of question.</a:t>
            </a:r>
          </a:p>
        </p:txBody>
      </p:sp>
      <p:sp>
        <p:nvSpPr>
          <p:cNvPr id="14" name="Oval 13"/>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Judge the quality of a tertiary source.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Three Types of Source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Tertiary Sources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Secondary Sources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Primary Sources (added)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Drug information sources come in three layers.</a:t>
            </a:r>
          </a:p>
          <a:p>
            <a:pPr>
              <a:spcAft>
                <a:spcPts val="800"/>
              </a:spcAft>
            </a:pPr>
            <a:r>
              <a:rPr sz="2100" i="0" b="0">
                <a:solidFill>
                  <a:srgbClr val="2B211C"/>
                </a:solidFill>
                <a:latin typeface="Calibri"/>
              </a:rPr>
              <a:t>A simple way to remember: </a:t>
            </a:r>
            <a:r>
              <a:rPr sz="2100" i="0" b="1">
                <a:solidFill>
                  <a:srgbClr val="2B211C"/>
                </a:solidFill>
                <a:latin typeface="Calibri"/>
              </a:rPr>
              <a:t>tertiary tells you, secondary finds for you, primary proves it</a:t>
            </a:r>
            <a:r>
              <a:rPr sz="2100" i="0" b="0">
                <a:solidFill>
                  <a:srgbClr val="2B211C"/>
                </a:solidFill>
                <a:latin typeface="Calibri"/>
              </a:rPr>
              <a:t>.</a:t>
            </a:r>
          </a:p>
          <a:p>
            <a:pPr>
              <a:spcAft>
                <a:spcPts val="800"/>
              </a:spcAft>
            </a:pPr>
            <a:r>
              <a:rPr sz="2100" i="0" b="0">
                <a:solidFill>
                  <a:srgbClr val="2B211C"/>
                </a:solidFill>
                <a:latin typeface="Calibri"/>
              </a:rPr>
              <a:t>Most searches start with a tertiary source, move to a secondary database, and end with primary articles. This is a </a:t>
            </a:r>
            <a:r>
              <a:rPr sz="2100" i="0" b="1">
                <a:solidFill>
                  <a:srgbClr val="2B211C"/>
                </a:solidFill>
                <a:latin typeface="Calibri"/>
              </a:rPr>
              <a:t>usual strategy, not a fixed rule</a:t>
            </a:r>
            <a:r>
              <a:rPr sz="2100" i="0" b="0">
                <a:solidFill>
                  <a:srgbClr val="2B211C"/>
                </a:solidFill>
                <a:latin typeface="Calibri"/>
              </a:rPr>
              <a:t>. Some questions are answered fully by a tertiary source, such as a standard adult dose. Others, such as a new drug or a rare interaction, need primary papers. Go further whenever the answer is incomplete, out of date or high-stakes.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2560320"/>
        </p:xfrm>
        <a:graphic>
          <a:graphicData uri="http://schemas.openxmlformats.org/drawingml/2006/table">
            <a:tbl>
              <a:tblPr firstRow="0" bandRow="0">
                <a:tableStyleId>{5C22544A-7EE6-4342-B048-85BDC9FD1C3A}</a:tableStyleId>
              </a:tblPr>
              <a:tblGrid>
                <a:gridCol w="1259366"/>
                <a:gridCol w="3238369"/>
                <a:gridCol w="4077947"/>
                <a:gridCol w="2518732"/>
              </a:tblGrid>
              <a:tr h="640080">
                <a:tc>
                  <a:txBody>
                    <a:bodyPr/>
                    <a:lstStyle/>
                    <a:p>
                      <a:r>
                        <a:rPr sz="1700" i="0" b="1">
                          <a:solidFill>
                            <a:srgbClr val="FFFFFF"/>
                          </a:solidFill>
                          <a:latin typeface="Calibri"/>
                        </a:rPr>
                        <a:t>Type</a:t>
                      </a:r>
                    </a:p>
                  </a:txBody>
                  <a:tcPr marL="109728" marR="109728" marT="45720" marB="45720" anchor="ctr">
                    <a:solidFill>
                      <a:srgbClr val="A4472B"/>
                    </a:solidFill>
                  </a:tcPr>
                </a:tc>
                <a:tc>
                  <a:txBody>
                    <a:bodyPr/>
                    <a:lstStyle/>
                    <a:p>
                      <a:r>
                        <a:rPr sz="1700" i="0" b="1">
                          <a:solidFill>
                            <a:srgbClr val="FFFFFF"/>
                          </a:solidFill>
                          <a:latin typeface="Calibri"/>
                        </a:rPr>
                        <a:t>What it is</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Best for</a:t>
                      </a:r>
                    </a:p>
                  </a:txBody>
                  <a:tcPr marL="109728" marR="109728" marT="45720" marB="45720" anchor="ctr">
                    <a:solidFill>
                      <a:srgbClr val="A4472B"/>
                    </a:solidFill>
                  </a:tcPr>
                </a:tc>
              </a:tr>
              <a:tr h="640080">
                <a:tc>
                  <a:txBody>
                    <a:bodyPr/>
                    <a:lstStyle/>
                    <a:p>
                      <a:r>
                        <a:rPr sz="1800" i="0" b="1">
                          <a:solidFill>
                            <a:srgbClr val="2B211C"/>
                          </a:solidFill>
                          <a:latin typeface="Calibri"/>
                        </a:rPr>
                        <a:t>Tertiary</a:t>
                      </a:r>
                    </a:p>
                  </a:txBody>
                  <a:tcPr marL="109728" marR="109728" marT="45720" marB="45720" anchor="ctr">
                    <a:solidFill>
                      <a:srgbClr val="FFFFFF"/>
                    </a:solidFill>
                  </a:tcPr>
                </a:tc>
                <a:tc>
                  <a:txBody>
                    <a:bodyPr/>
                    <a:lstStyle/>
                    <a:p>
                      <a:r>
                        <a:rPr sz="1800" i="0" b="0">
                          <a:solidFill>
                            <a:srgbClr val="2B211C"/>
                          </a:solidFill>
                          <a:latin typeface="Calibri"/>
                        </a:rPr>
                        <a:t>Summaries written by experts from many studies</a:t>
                      </a:r>
                    </a:p>
                  </a:txBody>
                  <a:tcPr marL="109728" marR="109728" marT="45720" marB="45720" anchor="ctr">
                    <a:solidFill>
                      <a:srgbClr val="FFFFFF"/>
                    </a:solidFill>
                  </a:tcPr>
                </a:tc>
                <a:tc>
                  <a:txBody>
                    <a:bodyPr/>
                    <a:lstStyle/>
                    <a:p>
                      <a:r>
                        <a:rPr sz="1800" i="0" b="0">
                          <a:solidFill>
                            <a:srgbClr val="2B211C"/>
                          </a:solidFill>
                          <a:latin typeface="Calibri"/>
                        </a:rPr>
                        <a:t>Textbooks, BNF, Martindale, Micromedex, Lexicomp, UpToDate, review articles</a:t>
                      </a:r>
                    </a:p>
                  </a:txBody>
                  <a:tcPr marL="109728" marR="109728" marT="45720" marB="45720" anchor="ctr">
                    <a:solidFill>
                      <a:srgbClr val="FFFFFF"/>
                    </a:solidFill>
                  </a:tcPr>
                </a:tc>
                <a:tc>
                  <a:txBody>
                    <a:bodyPr/>
                    <a:lstStyle/>
                    <a:p>
                      <a:r>
                        <a:rPr sz="1800" i="0" b="0">
                          <a:solidFill>
                            <a:srgbClr val="2B211C"/>
                          </a:solidFill>
                          <a:latin typeface="Calibri"/>
                        </a:rPr>
                        <a:t>Fast, general answers</a:t>
                      </a:r>
                    </a:p>
                  </a:txBody>
                  <a:tcPr marL="109728" marR="109728" marT="45720" marB="45720" anchor="ctr">
                    <a:solidFill>
                      <a:srgbClr val="FFFFFF"/>
                    </a:solidFill>
                  </a:tcPr>
                </a:tc>
              </a:tr>
              <a:tr h="640080">
                <a:tc>
                  <a:txBody>
                    <a:bodyPr/>
                    <a:lstStyle/>
                    <a:p>
                      <a:r>
                        <a:rPr sz="1800" i="0" b="1">
                          <a:solidFill>
                            <a:srgbClr val="2B211C"/>
                          </a:solidFill>
                          <a:latin typeface="Calibri"/>
                        </a:rPr>
                        <a:t>Secondary</a:t>
                      </a:r>
                    </a:p>
                  </a:txBody>
                  <a:tcPr marL="109728" marR="109728" marT="45720" marB="45720" anchor="ctr">
                    <a:solidFill>
                      <a:srgbClr val="FAF4F2"/>
                    </a:solidFill>
                  </a:tcPr>
                </a:tc>
                <a:tc>
                  <a:txBody>
                    <a:bodyPr/>
                    <a:lstStyle/>
                    <a:p>
                      <a:r>
                        <a:rPr sz="1800" i="0" b="0">
                          <a:solidFill>
                            <a:srgbClr val="2B211C"/>
                          </a:solidFill>
                          <a:latin typeface="Calibri"/>
                        </a:rPr>
                        <a:t>Databases that index or abstract articles</a:t>
                      </a:r>
                    </a:p>
                  </a:txBody>
                  <a:tcPr marL="109728" marR="109728" marT="45720" marB="45720" anchor="ctr">
                    <a:solidFill>
                      <a:srgbClr val="FAF4F2"/>
                    </a:solidFill>
                  </a:tcPr>
                </a:tc>
                <a:tc>
                  <a:txBody>
                    <a:bodyPr/>
                    <a:lstStyle/>
                    <a:p>
                      <a:r>
                        <a:rPr sz="1800" i="0" b="0">
                          <a:solidFill>
                            <a:srgbClr val="2B211C"/>
                          </a:solidFill>
                          <a:latin typeface="Calibri"/>
                        </a:rPr>
                        <a:t>PubMed/MEDLINE, Embase, Google Scholar</a:t>
                      </a:r>
                    </a:p>
                  </a:txBody>
                  <a:tcPr marL="109728" marR="109728" marT="45720" marB="45720" anchor="ctr">
                    <a:solidFill>
                      <a:srgbClr val="FAF4F2"/>
                    </a:solidFill>
                  </a:tcPr>
                </a:tc>
                <a:tc>
                  <a:txBody>
                    <a:bodyPr/>
                    <a:lstStyle/>
                    <a:p>
                      <a:r>
                        <a:rPr sz="1800" i="0" b="0">
                          <a:solidFill>
                            <a:srgbClr val="2B211C"/>
                          </a:solidFill>
                          <a:latin typeface="Calibri"/>
                        </a:rPr>
                        <a:t>Finding the original studies</a:t>
                      </a:r>
                    </a:p>
                  </a:txBody>
                  <a:tcPr marL="109728" marR="109728" marT="45720" marB="45720" anchor="ctr">
                    <a:solidFill>
                      <a:srgbClr val="FAF4F2"/>
                    </a:solidFill>
                  </a:tcPr>
                </a:tc>
              </a:tr>
              <a:tr h="640080">
                <a:tc>
                  <a:txBody>
                    <a:bodyPr/>
                    <a:lstStyle/>
                    <a:p>
                      <a:r>
                        <a:rPr sz="1800" i="0" b="1">
                          <a:solidFill>
                            <a:srgbClr val="2B211C"/>
                          </a:solidFill>
                          <a:latin typeface="Calibri"/>
                        </a:rPr>
                        <a:t>Primary</a:t>
                      </a:r>
                    </a:p>
                  </a:txBody>
                  <a:tcPr marL="109728" marR="109728" marT="45720" marB="45720" anchor="ctr">
                    <a:solidFill>
                      <a:srgbClr val="FFFFFF"/>
                    </a:solidFill>
                  </a:tcPr>
                </a:tc>
                <a:tc>
                  <a:txBody>
                    <a:bodyPr/>
                    <a:lstStyle/>
                    <a:p>
                      <a:r>
                        <a:rPr sz="1800" i="0" b="0">
                          <a:solidFill>
                            <a:srgbClr val="2B211C"/>
                          </a:solidFill>
                          <a:latin typeface="Calibri"/>
                        </a:rPr>
                        <a:t>The original research itself</a:t>
                      </a:r>
                    </a:p>
                  </a:txBody>
                  <a:tcPr marL="109728" marR="109728" marT="45720" marB="45720" anchor="ctr">
                    <a:solidFill>
                      <a:srgbClr val="FFFFFF"/>
                    </a:solidFill>
                  </a:tcPr>
                </a:tc>
                <a:tc>
                  <a:txBody>
                    <a:bodyPr/>
                    <a:lstStyle/>
                    <a:p>
                      <a:r>
                        <a:rPr sz="1800" i="0" b="0">
                          <a:solidFill>
                            <a:srgbClr val="2B211C"/>
                          </a:solidFill>
                          <a:latin typeface="Calibri"/>
                        </a:rPr>
                        <a:t>Clinical trials, cohort studies, case reports</a:t>
                      </a:r>
                    </a:p>
                  </a:txBody>
                  <a:tcPr marL="109728" marR="109728" marT="45720" marB="45720" anchor="ctr">
                    <a:solidFill>
                      <a:srgbClr val="FFFFFF"/>
                    </a:solidFill>
                  </a:tcPr>
                </a:tc>
                <a:tc>
                  <a:txBody>
                    <a:bodyPr/>
                    <a:lstStyle/>
                    <a:p>
                      <a:r>
                        <a:rPr sz="1800" i="0" b="0">
                          <a:solidFill>
                            <a:srgbClr val="2B211C"/>
                          </a:solidFill>
                          <a:latin typeface="Calibri"/>
                        </a:rPr>
                        <a:t>The newest, most detailed evidence</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Tertiary sources summarise a topic in a short, easy form. The best ones are written by experts and peer reviewed.</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5438438"/>
                <a:gridCol w="5655976"/>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Complete, short overview</a:t>
                      </a:r>
                    </a:p>
                  </a:txBody>
                  <a:tcPr marL="109728" marR="109728" marT="45720" marB="45720" anchor="ctr">
                    <a:solidFill>
                      <a:srgbClr val="FFFFFF"/>
                    </a:solidFill>
                  </a:tcPr>
                </a:tc>
                <a:tc>
                  <a:txBody>
                    <a:bodyPr/>
                    <a:lstStyle/>
                    <a:p>
                      <a:r>
                        <a:rPr sz="2000" i="0" b="0">
                          <a:solidFill>
                            <a:srgbClr val="2B211C"/>
                          </a:solidFill>
                          <a:latin typeface="Calibri"/>
                        </a:rPr>
                        <a:t>Lag time: print editions can be out of date</a:t>
                      </a:r>
                    </a:p>
                  </a:txBody>
                  <a:tcPr marL="109728" marR="109728" marT="45720" marB="45720" anchor="ctr">
                    <a:solidFill>
                      <a:srgbClr val="FFFFFF"/>
                    </a:solidFill>
                  </a:tcPr>
                </a:tc>
              </a:tr>
              <a:tr h="640080">
                <a:tc>
                  <a:txBody>
                    <a:bodyPr/>
                    <a:lstStyle/>
                    <a:p>
                      <a:r>
                        <a:rPr sz="2000" i="0" b="1">
                          <a:solidFill>
                            <a:srgbClr val="2B211C"/>
                          </a:solidFill>
                          <a:latin typeface="Calibri"/>
                        </a:rPr>
                        <a:t>Convenient and easy to use</a:t>
                      </a:r>
                    </a:p>
                  </a:txBody>
                  <a:tcPr marL="109728" marR="109728" marT="45720" marB="45720" anchor="ctr">
                    <a:solidFill>
                      <a:srgbClr val="FAF4F2"/>
                    </a:solidFill>
                  </a:tcPr>
                </a:tc>
                <a:tc>
                  <a:txBody>
                    <a:bodyPr/>
                    <a:lstStyle/>
                    <a:p>
                      <a:r>
                        <a:rPr sz="2000" i="0" b="0">
                          <a:solidFill>
                            <a:srgbClr val="2B211C"/>
                          </a:solidFill>
                          <a:latin typeface="Calibri"/>
                        </a:rPr>
                        <a:t>Author bias is possible</a:t>
                      </a:r>
                    </a:p>
                  </a:txBody>
                  <a:tcPr marL="109728" marR="109728" marT="45720" marB="45720" anchor="ctr">
                    <a:solidFill>
                      <a:srgbClr val="FAF4F2"/>
                    </a:solidFill>
                  </a:tcPr>
                </a:tc>
              </a:tr>
              <a:tr h="640080">
                <a:tc>
                  <a:txBody>
                    <a:bodyPr/>
                    <a:lstStyle/>
                    <a:p>
                      <a:r>
                        <a:rPr sz="2000" i="0" b="1">
                          <a:solidFill>
                            <a:srgbClr val="2B211C"/>
                          </a:solidFill>
                          <a:latin typeface="Calibri"/>
                        </a:rPr>
                        <a:t>Familiar to most pharmacists</a:t>
                      </a:r>
                    </a:p>
                  </a:txBody>
                  <a:tcPr marL="109728" marR="109728" marT="45720" marB="45720" anchor="ctr">
                    <a:solidFill>
                      <a:srgbClr val="FFFFFF"/>
                    </a:solidFill>
                  </a:tcPr>
                </a:tc>
                <a:tc>
                  <a:txBody>
                    <a:bodyPr/>
                    <a:lstStyle/>
                    <a:p>
                      <a:r>
                        <a:rPr sz="2000" i="0" b="0">
                          <a:solidFill>
                            <a:srgbClr val="2B211C"/>
                          </a:solidFill>
                          <a:latin typeface="Calibri"/>
                        </a:rPr>
                        <a:t>May be incomplete or wrong</a:t>
                      </a:r>
                    </a:p>
                  </a:txBody>
                  <a:tcPr marL="109728" marR="109728" marT="45720" marB="45720" anchor="ctr">
                    <a:solidFill>
                      <a:srgbClr val="FFFFFF"/>
                    </a:solidFill>
                  </a:tcPr>
                </a:tc>
              </a:tr>
              <a:tr h="640080">
                <a:tc>
                  <a:txBody>
                    <a:bodyPr/>
                    <a:lstStyle/>
                    <a:p>
                      <a:r>
                        <a:rPr sz="2000" i="0" b="1">
                          <a:solidFill>
                            <a:srgbClr val="2B211C"/>
                          </a:solidFill>
                          <a:latin typeface="Calibri"/>
                        </a:rPr>
                        <a:t>Online versions are fast and updated often</a:t>
                      </a:r>
                    </a:p>
                  </a:txBody>
                  <a:tcPr marL="109728" marR="109728" marT="45720" marB="45720" anchor="ctr">
                    <a:solidFill>
                      <a:srgbClr val="FAF4F2"/>
                    </a:solidFill>
                  </a:tcPr>
                </a:tc>
                <a:tc>
                  <a:txBody>
                    <a:bodyPr/>
                    <a:lstStyle/>
                    <a:p>
                      <a:r>
                        <a:rPr sz="2000" i="0" b="0">
                          <a:solidFill>
                            <a:srgbClr val="2B211C"/>
                          </a:solidFill>
                          <a:latin typeface="Calibri"/>
                        </a:rPr>
                        <a:t>Access to good databases usually costs money</a:t>
                      </a:r>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judge a tertiary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723900"/>
          </a:xfrm>
          <a:prstGeom prst="rect">
            <a:avLst/>
          </a:prstGeom>
          <a:noFill/>
        </p:spPr>
        <p:txBody>
          <a:bodyPr wrap="square" anchor="t" lIns="0" rIns="0" tIns="0" bIns="0">
            <a:spAutoFit/>
          </a:bodyPr>
          <a:lstStyle/>
          <a:p>
            <a:r>
              <a:rPr sz="2100" i="0" b="0">
                <a:solidFill>
                  <a:srgbClr val="2B211C"/>
                </a:solidFill>
                <a:latin typeface="Calibri"/>
              </a:rPr>
              <a:t>Does the author have the right expertise?</a:t>
            </a:r>
          </a:p>
        </p:txBody>
      </p:sp>
      <p:sp>
        <p:nvSpPr>
          <p:cNvPr id="10" name="Oval 9"/>
          <p:cNvSpPr/>
          <p:nvPr/>
        </p:nvSpPr>
        <p:spPr>
          <a:xfrm>
            <a:off x="548640" y="234238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60676"/>
            <a:ext cx="10500055" cy="723900"/>
          </a:xfrm>
          <a:prstGeom prst="rect">
            <a:avLst/>
          </a:prstGeom>
          <a:noFill/>
        </p:spPr>
        <p:txBody>
          <a:bodyPr wrap="square" anchor="t" lIns="0" rIns="0" tIns="0" bIns="0">
            <a:spAutoFit/>
          </a:bodyPr>
          <a:lstStyle/>
          <a:p>
            <a:r>
              <a:rPr sz="2100" i="0" b="0">
                <a:solidFill>
                  <a:srgbClr val="2B211C"/>
                </a:solidFill>
                <a:latin typeface="Calibri"/>
              </a:rPr>
              <a:t>Is it recent enough for the question?</a:t>
            </a:r>
          </a:p>
        </p:txBody>
      </p:sp>
      <p:sp>
        <p:nvSpPr>
          <p:cNvPr id="12" name="Oval 11"/>
          <p:cNvSpPr/>
          <p:nvPr/>
        </p:nvSpPr>
        <p:spPr>
          <a:xfrm>
            <a:off x="548640" y="311200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130296"/>
            <a:ext cx="10500055" cy="723900"/>
          </a:xfrm>
          <a:prstGeom prst="rect">
            <a:avLst/>
          </a:prstGeom>
          <a:noFill/>
        </p:spPr>
        <p:txBody>
          <a:bodyPr wrap="square" anchor="t" lIns="0" rIns="0" tIns="0" bIns="0">
            <a:spAutoFit/>
          </a:bodyPr>
          <a:lstStyle/>
          <a:p>
            <a:r>
              <a:rPr sz="2100" i="0" b="0">
                <a:solidFill>
                  <a:srgbClr val="2B211C"/>
                </a:solidFill>
                <a:latin typeface="Calibri"/>
              </a:rPr>
              <a:t>Are statements supported by references?</a:t>
            </a:r>
          </a:p>
        </p:txBody>
      </p:sp>
      <p:sp>
        <p:nvSpPr>
          <p:cNvPr id="14" name="Oval 13"/>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3899915"/>
            <a:ext cx="10500055" cy="723900"/>
          </a:xfrm>
          <a:prstGeom prst="rect">
            <a:avLst/>
          </a:prstGeom>
          <a:noFill/>
        </p:spPr>
        <p:txBody>
          <a:bodyPr wrap="square" anchor="t" lIns="0" rIns="0" tIns="0" bIns="0">
            <a:spAutoFit/>
          </a:bodyPr>
          <a:lstStyle/>
          <a:p>
            <a:r>
              <a:rPr sz="2100" i="0" b="0">
                <a:solidFill>
                  <a:srgbClr val="2B211C"/>
                </a:solidFill>
                <a:latin typeface="Calibri"/>
              </a:rPr>
              <a:t>Does it cover the question?</a:t>
            </a:r>
          </a:p>
        </p:txBody>
      </p:sp>
      <p:sp>
        <p:nvSpPr>
          <p:cNvPr id="16" name="Oval 15"/>
          <p:cNvSpPr/>
          <p:nvPr/>
        </p:nvSpPr>
        <p:spPr>
          <a:xfrm>
            <a:off x="548640" y="465124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4669536"/>
            <a:ext cx="10500055" cy="723900"/>
          </a:xfrm>
          <a:prstGeom prst="rect">
            <a:avLst/>
          </a:prstGeom>
          <a:noFill/>
        </p:spPr>
        <p:txBody>
          <a:bodyPr wrap="square" anchor="t" lIns="0" rIns="0" tIns="0" bIns="0">
            <a:spAutoFit/>
          </a:bodyPr>
          <a:lstStyle/>
          <a:p>
            <a:r>
              <a:rPr sz="2100" i="0" b="0">
                <a:solidFill>
                  <a:srgbClr val="2B211C"/>
                </a:solidFill>
                <a:latin typeface="Calibri"/>
              </a:rPr>
              <a:t>Is it free of obvious bias or errors?</a:t>
            </a:r>
          </a:p>
        </p:txBody>
      </p:sp>
      <p:sp>
        <p:nvSpPr>
          <p:cNvPr id="18" name="Oval 17"/>
          <p:cNvSpPr/>
          <p:nvPr/>
        </p:nvSpPr>
        <p:spPr>
          <a:xfrm>
            <a:off x="548640" y="542086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1143000" y="5439156"/>
            <a:ext cx="10500055" cy="723900"/>
          </a:xfrm>
          <a:prstGeom prst="rect">
            <a:avLst/>
          </a:prstGeom>
          <a:noFill/>
        </p:spPr>
        <p:txBody>
          <a:bodyPr wrap="square" anchor="t" lIns="0" rIns="0" tIns="0" bIns="0">
            <a:spAutoFit/>
          </a:bodyPr>
          <a:lstStyle/>
          <a:p>
            <a:r>
              <a:rPr sz="2100" i="0" b="0">
                <a:solidFill>
                  <a:srgbClr val="2B211C"/>
                </a:solidFill>
                <a:latin typeface="Calibri"/>
              </a:rPr>
              <a:t>Is it clear and easy to 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Which reference for which question?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568288"/>
                <a:gridCol w="6526126"/>
              </a:tblGrid>
              <a:tr h="577215">
                <a:tc>
                  <a:txBody>
                    <a:bodyPr/>
                    <a:lstStyle/>
                    <a:p>
                      <a:r>
                        <a:rPr sz="1700" i="0" b="1">
                          <a:solidFill>
                            <a:srgbClr val="FFFFFF"/>
                          </a:solidFill>
                          <a:latin typeface="Calibri"/>
                        </a:rPr>
                        <a:t>Question type</a:t>
                      </a:r>
                    </a:p>
                  </a:txBody>
                  <a:tcPr marL="109728" marR="109728" marT="45720" marB="45720" anchor="ctr">
                    <a:solidFill>
                      <a:srgbClr val="A4472B"/>
                    </a:solidFill>
                  </a:tcPr>
                </a:tc>
                <a:tc>
                  <a:txBody>
                    <a:bodyPr/>
                    <a:lstStyle/>
                    <a:p>
                      <a:r>
                        <a:rPr sz="1700" i="0" b="1">
                          <a:solidFill>
                            <a:srgbClr val="FFFFFF"/>
                          </a:solidFill>
                          <a:latin typeface="Calibri"/>
                        </a:rPr>
                        <a:t>Good tertiary sources</a:t>
                      </a:r>
                    </a:p>
                  </a:txBody>
                  <a:tcPr marL="109728" marR="109728" marT="45720" marB="45720" anchor="ctr">
                    <a:solidFill>
                      <a:srgbClr val="A4472B"/>
                    </a:solidFill>
                  </a:tcPr>
                </a:tc>
              </a:tr>
              <a:tr h="577215">
                <a:tc>
                  <a:txBody>
                    <a:bodyPr/>
                    <a:lstStyle/>
                    <a:p>
                      <a:r>
                        <a:rPr sz="1800" i="0" b="1">
                          <a:solidFill>
                            <a:srgbClr val="2B211C"/>
                          </a:solidFill>
                          <a:latin typeface="Calibri"/>
                        </a:rPr>
                        <a:t>General product information, doses</a:t>
                      </a:r>
                    </a:p>
                  </a:txBody>
                  <a:tcPr marL="109728" marR="109728" marT="45720" marB="45720" anchor="ctr">
                    <a:solidFill>
                      <a:srgbClr val="FFFFFF"/>
                    </a:solidFill>
                  </a:tcPr>
                </a:tc>
                <a:tc>
                  <a:txBody>
                    <a:bodyPr/>
                    <a:lstStyle/>
                    <a:p>
                      <a:r>
                        <a:rPr sz="1800" i="0" b="0">
                          <a:solidFill>
                            <a:srgbClr val="2B211C"/>
                          </a:solidFill>
                          <a:latin typeface="Calibri"/>
                        </a:rPr>
                        <a:t>BNF, Martindale, AHFS Drug Information, Lexicomp</a:t>
                      </a:r>
                    </a:p>
                  </a:txBody>
                  <a:tcPr marL="109728" marR="109728" marT="45720" marB="45720" anchor="ctr">
                    <a:solidFill>
                      <a:srgbClr val="FFFFFF"/>
                    </a:solidFill>
                  </a:tcPr>
                </a:tc>
              </a:tr>
              <a:tr h="577215">
                <a:tc>
                  <a:txBody>
                    <a:bodyPr/>
                    <a:lstStyle/>
                    <a:p>
                      <a:r>
                        <a:rPr sz="1800" i="0" b="1">
                          <a:solidFill>
                            <a:srgbClr val="2B211C"/>
                          </a:solidFill>
                          <a:latin typeface="Calibri"/>
                        </a:rPr>
                        <a:t>Adverse effects</a:t>
                      </a:r>
                    </a:p>
                  </a:txBody>
                  <a:tcPr marL="109728" marR="109728" marT="45720" marB="45720" anchor="ctr">
                    <a:solidFill>
                      <a:srgbClr val="FAF4F2"/>
                    </a:solidFill>
                  </a:tcPr>
                </a:tc>
                <a:tc>
                  <a:txBody>
                    <a:bodyPr/>
                    <a:lstStyle/>
                    <a:p>
                      <a:r>
                        <a:rPr sz="1800" i="0" b="0">
                          <a:solidFill>
                            <a:srgbClr val="2B211C"/>
                          </a:solidFill>
                          <a:latin typeface="Calibri"/>
                        </a:rPr>
                        <a:t>Meyler's Side Effects of Drugs, Micromedex</a:t>
                      </a:r>
                    </a:p>
                  </a:txBody>
                  <a:tcPr marL="109728" marR="109728" marT="45720" marB="45720" anchor="ctr">
                    <a:solidFill>
                      <a:srgbClr val="FAF4F2"/>
                    </a:solidFill>
                  </a:tcPr>
                </a:tc>
              </a:tr>
              <a:tr h="577215">
                <a:tc>
                  <a:txBody>
                    <a:bodyPr/>
                    <a:lstStyle/>
                    <a:p>
                      <a:r>
                        <a:rPr sz="1800" i="0" b="1">
                          <a:solidFill>
                            <a:srgbClr val="2B211C"/>
                          </a:solidFill>
                          <a:latin typeface="Calibri"/>
                        </a:rPr>
                        <a:t>Drug interactions</a:t>
                      </a:r>
                    </a:p>
                  </a:txBody>
                  <a:tcPr marL="109728" marR="109728" marT="45720" marB="45720" anchor="ctr">
                    <a:solidFill>
                      <a:srgbClr val="FFFFFF"/>
                    </a:solidFill>
                  </a:tcPr>
                </a:tc>
                <a:tc>
                  <a:txBody>
                    <a:bodyPr/>
                    <a:lstStyle/>
                    <a:p>
                      <a:r>
                        <a:rPr sz="1800" i="0" b="0">
                          <a:solidFill>
                            <a:srgbClr val="2B211C"/>
                          </a:solidFill>
                          <a:latin typeface="Calibri"/>
                        </a:rPr>
                        <a:t>Stockley's Drug Interactions, Lexicomp Interactions</a:t>
                      </a:r>
                    </a:p>
                  </a:txBody>
                  <a:tcPr marL="109728" marR="109728" marT="45720" marB="45720" anchor="ctr">
                    <a:solidFill>
                      <a:srgbClr val="FFFFFF"/>
                    </a:solidFill>
                  </a:tcPr>
                </a:tc>
              </a:tr>
              <a:tr h="577215">
                <a:tc>
                  <a:txBody>
                    <a:bodyPr/>
                    <a:lstStyle/>
                    <a:p>
                      <a:r>
                        <a:rPr sz="1800" i="0" b="1">
                          <a:solidFill>
                            <a:srgbClr val="2B211C"/>
                          </a:solidFill>
                          <a:latin typeface="Calibri"/>
                        </a:rPr>
                        <a:t>Pregnancy and breastfeeding</a:t>
                      </a:r>
                    </a:p>
                  </a:txBody>
                  <a:tcPr marL="109728" marR="109728" marT="45720" marB="45720" anchor="ctr">
                    <a:solidFill>
                      <a:srgbClr val="FAF4F2"/>
                    </a:solidFill>
                  </a:tcPr>
                </a:tc>
                <a:tc>
                  <a:txBody>
                    <a:bodyPr/>
                    <a:lstStyle/>
                    <a:p>
                      <a:r>
                        <a:rPr sz="1800" i="0" b="0">
                          <a:solidFill>
                            <a:srgbClr val="2B211C"/>
                          </a:solidFill>
                          <a:latin typeface="Calibri"/>
                        </a:rPr>
                        <a:t>Briggs' Drugs in Pregnancy and Lactation, LactMed</a:t>
                      </a:r>
                    </a:p>
                  </a:txBody>
                  <a:tcPr marL="109728" marR="109728" marT="45720" marB="45720" anchor="ctr">
                    <a:solidFill>
                      <a:srgbClr val="FAF4F2"/>
                    </a:solidFill>
                  </a:tcPr>
                </a:tc>
              </a:tr>
              <a:tr h="577215">
                <a:tc>
                  <a:txBody>
                    <a:bodyPr/>
                    <a:lstStyle/>
                    <a:p>
                      <a:r>
                        <a:rPr sz="1800" i="0" b="1">
                          <a:solidFill>
                            <a:srgbClr val="2B211C"/>
                          </a:solidFill>
                          <a:latin typeface="Calibri"/>
                        </a:rPr>
                        <a:t>Children</a:t>
                      </a:r>
                    </a:p>
                  </a:txBody>
                  <a:tcPr marL="109728" marR="109728" marT="45720" marB="45720" anchor="ctr">
                    <a:solidFill>
                      <a:srgbClr val="FFFFFF"/>
                    </a:solidFill>
                  </a:tcPr>
                </a:tc>
                <a:tc>
                  <a:txBody>
                    <a:bodyPr/>
                    <a:lstStyle/>
                    <a:p>
                      <a:r>
                        <a:rPr sz="1800" i="0" b="0">
                          <a:solidFill>
                            <a:srgbClr val="2B211C"/>
                          </a:solidFill>
                          <a:latin typeface="Calibri"/>
                        </a:rPr>
                        <a:t>BNF for Children</a:t>
                      </a:r>
                    </a:p>
                  </a:txBody>
                  <a:tcPr marL="109728" marR="109728" marT="45720" marB="45720" anchor="ctr">
                    <a:solidFill>
                      <a:srgbClr val="FFFFFF"/>
                    </a:solidFill>
                  </a:tcPr>
                </a:tc>
              </a:tr>
              <a:tr h="577215">
                <a:tc>
                  <a:txBody>
                    <a:bodyPr/>
                    <a:lstStyle/>
                    <a:p>
                      <a:r>
                        <a:rPr sz="1800" i="0" b="1">
                          <a:solidFill>
                            <a:srgbClr val="2B211C"/>
                          </a:solidFill>
                          <a:latin typeface="Calibri"/>
                        </a:rPr>
                        <a:t>Older adults</a:t>
                      </a:r>
                    </a:p>
                  </a:txBody>
                  <a:tcPr marL="109728" marR="109728" marT="45720" marB="45720" anchor="ctr">
                    <a:solidFill>
                      <a:srgbClr val="FAF4F2"/>
                    </a:solidFill>
                  </a:tcPr>
                </a:tc>
                <a:tc>
                  <a:txBody>
                    <a:bodyPr/>
                    <a:lstStyle/>
                    <a:p>
                      <a:r>
                        <a:rPr sz="1800" i="0" b="0">
                          <a:solidFill>
                            <a:srgbClr val="2B211C"/>
                          </a:solidFill>
                          <a:latin typeface="Calibri"/>
                        </a:rPr>
                        <a:t>Beers Criteria (American Geriatrics Society)</a:t>
                      </a:r>
                    </a:p>
                  </a:txBody>
                  <a:tcPr marL="109728" marR="109728" marT="45720" marB="45720" anchor="ctr">
                    <a:solidFill>
                      <a:srgbClr val="FAF4F2"/>
                    </a:solidFill>
                  </a:tcPr>
                </a:tc>
              </a:tr>
              <a:tr h="577215">
                <a:tc>
                  <a:txBody>
                    <a:bodyPr/>
                    <a:lstStyle/>
                    <a:p>
                      <a:r>
                        <a:rPr sz="1800" i="0" b="1">
                          <a:solidFill>
                            <a:srgbClr val="2B211C"/>
                          </a:solidFill>
                          <a:latin typeface="Calibri"/>
                        </a:rPr>
                        <a:t>Herbal and dietary supplements</a:t>
                      </a:r>
                    </a:p>
                  </a:txBody>
                  <a:tcPr marL="109728" marR="109728" marT="45720" marB="45720" anchor="ctr">
                    <a:solidFill>
                      <a:srgbClr val="FFFFFF"/>
                    </a:solidFill>
                  </a:tcPr>
                </a:tc>
                <a:tc>
                  <a:txBody>
                    <a:bodyPr/>
                    <a:lstStyle/>
                    <a:p>
                      <a:r>
                        <a:rPr sz="1800" i="0" b="0">
                          <a:solidFill>
                            <a:srgbClr val="2B211C"/>
                          </a:solidFill>
                          <a:latin typeface="Calibri"/>
                        </a:rPr>
                        <a:t>Natural Medicines database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Which reference for which question?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2560320"/>
        </p:xfrm>
        <a:graphic>
          <a:graphicData uri="http://schemas.openxmlformats.org/drawingml/2006/table">
            <a:tbl>
              <a:tblPr firstRow="0" bandRow="0">
                <a:tableStyleId>{5C22544A-7EE6-4342-B048-85BDC9FD1C3A}</a:tableStyleId>
              </a:tblPr>
              <a:tblGrid>
                <a:gridCol w="4459519"/>
                <a:gridCol w="6634895"/>
              </a:tblGrid>
              <a:tr h="640080">
                <a:tc>
                  <a:txBody>
                    <a:bodyPr/>
                    <a:lstStyle/>
                    <a:p>
                      <a:r>
                        <a:rPr sz="1900" i="0" b="1">
                          <a:solidFill>
                            <a:srgbClr val="FFFFFF"/>
                          </a:solidFill>
                          <a:latin typeface="Calibri"/>
                        </a:rPr>
                        <a:t>Question type</a:t>
                      </a:r>
                    </a:p>
                  </a:txBody>
                  <a:tcPr marL="109728" marR="109728" marT="45720" marB="45720" anchor="ctr">
                    <a:solidFill>
                      <a:srgbClr val="A4472B"/>
                    </a:solidFill>
                  </a:tcPr>
                </a:tc>
                <a:tc>
                  <a:txBody>
                    <a:bodyPr/>
                    <a:lstStyle/>
                    <a:p>
                      <a:r>
                        <a:rPr sz="1900" i="0" b="1">
                          <a:solidFill>
                            <a:srgbClr val="FFFFFF"/>
                          </a:solidFill>
                          <a:latin typeface="Calibri"/>
                        </a:rPr>
                        <a:t>Good tertiary sources</a:t>
                      </a:r>
                    </a:p>
                  </a:txBody>
                  <a:tcPr marL="109728" marR="109728" marT="45720" marB="45720" anchor="ctr">
                    <a:solidFill>
                      <a:srgbClr val="A4472B"/>
                    </a:solidFill>
                  </a:tcPr>
                </a:tc>
              </a:tr>
              <a:tr h="640080">
                <a:tc>
                  <a:txBody>
                    <a:bodyPr/>
                    <a:lstStyle/>
                    <a:p>
                      <a:r>
                        <a:rPr sz="2000" i="0" b="1">
                          <a:solidFill>
                            <a:srgbClr val="2B211C"/>
                          </a:solidFill>
                          <a:latin typeface="Calibri"/>
                        </a:rPr>
                        <a:t>IV compatibility and formulations</a:t>
                      </a:r>
                    </a:p>
                  </a:txBody>
                  <a:tcPr marL="109728" marR="109728" marT="45720" marB="45720" anchor="ctr">
                    <a:solidFill>
                      <a:srgbClr val="FFFFFF"/>
                    </a:solidFill>
                  </a:tcPr>
                </a:tc>
                <a:tc>
                  <a:txBody>
                    <a:bodyPr/>
                    <a:lstStyle/>
                    <a:p>
                      <a:r>
                        <a:rPr sz="2000" i="0" b="0">
                          <a:solidFill>
                            <a:srgbClr val="2B211C"/>
                          </a:solidFill>
                          <a:latin typeface="Calibri"/>
                        </a:rPr>
                        <a:t>Trissel's Handbook on Injectable Drugs</a:t>
                      </a:r>
                    </a:p>
                  </a:txBody>
                  <a:tcPr marL="109728" marR="109728" marT="45720" marB="45720" anchor="ctr">
                    <a:solidFill>
                      <a:srgbClr val="FFFFFF"/>
                    </a:solidFill>
                  </a:tcPr>
                </a:tc>
              </a:tr>
              <a:tr h="640080">
                <a:tc>
                  <a:txBody>
                    <a:bodyPr/>
                    <a:lstStyle/>
                    <a:p>
                      <a:r>
                        <a:rPr sz="2000" i="0" b="1">
                          <a:solidFill>
                            <a:srgbClr val="2B211C"/>
                          </a:solidFill>
                          <a:latin typeface="Calibri"/>
                        </a:rPr>
                        <a:t>Pharmacokinetics, toxicology</a:t>
                      </a:r>
                    </a:p>
                  </a:txBody>
                  <a:tcPr marL="109728" marR="109728" marT="45720" marB="45720" anchor="ctr">
                    <a:solidFill>
                      <a:srgbClr val="FAF4F2"/>
                    </a:solidFill>
                  </a:tcPr>
                </a:tc>
                <a:tc>
                  <a:txBody>
                    <a:bodyPr/>
                    <a:lstStyle/>
                    <a:p>
                      <a:r>
                        <a:rPr sz="2000" i="0" b="0">
                          <a:solidFill>
                            <a:srgbClr val="2B211C"/>
                          </a:solidFill>
                          <a:latin typeface="Calibri"/>
                        </a:rPr>
                        <a:t>Goodman &amp; Gilman, Goldfrank's Toxicologic Emergencies</a:t>
                      </a:r>
                    </a:p>
                  </a:txBody>
                  <a:tcPr marL="109728" marR="109728" marT="45720" marB="45720" anchor="ctr">
                    <a:solidFill>
                      <a:srgbClr val="FAF4F2"/>
                    </a:solidFill>
                  </a:tcPr>
                </a:tc>
              </a:tr>
              <a:tr h="640080">
                <a:tc>
                  <a:txBody>
                    <a:bodyPr/>
                    <a:lstStyle/>
                    <a:p>
                      <a:r>
                        <a:rPr sz="2000" i="0" b="1">
                          <a:solidFill>
                            <a:srgbClr val="2B211C"/>
                          </a:solidFill>
                          <a:latin typeface="Calibri"/>
                        </a:rPr>
                        <a:t>Official product labelling</a:t>
                      </a:r>
                    </a:p>
                  </a:txBody>
                  <a:tcPr marL="109728" marR="109728" marT="45720" marB="45720" anchor="ctr">
                    <a:solidFill>
                      <a:srgbClr val="FFFFFF"/>
                    </a:solidFill>
                  </a:tcPr>
                </a:tc>
                <a:tc>
                  <a:txBody>
                    <a:bodyPr/>
                    <a:lstStyle/>
                    <a:p>
                      <a:r>
                        <a:rPr sz="2000" i="0" b="0">
                          <a:solidFill>
                            <a:srgbClr val="2B211C"/>
                          </a:solidFill>
                          <a:latin typeface="Calibri"/>
                        </a:rPr>
                        <a:t>DailyMed, Drugs@FDA, EDA product information</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Official labelling (the leaflet, DailyMed, Drugs@FDA) is not a summary of all evidence. It is the approved product information. Use it for licensed doses and warnings. TOXNET, found in older notes, was closed in 2019.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Secondary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Secondary sources are </a:t>
            </a:r>
            <a:r>
              <a:rPr sz="1800" i="0" b="1">
                <a:solidFill>
                  <a:srgbClr val="2B211C"/>
                </a:solidFill>
                <a:latin typeface="Calibri"/>
              </a:rPr>
              <a:t>indexing</a:t>
            </a:r>
            <a:r>
              <a:rPr sz="1800" i="0" b="0">
                <a:solidFill>
                  <a:srgbClr val="2B211C"/>
                </a:solidFill>
                <a:latin typeface="Calibri"/>
              </a:rPr>
              <a:t> or </a:t>
            </a:r>
            <a:r>
              <a:rPr sz="1800" i="0" b="1">
                <a:solidFill>
                  <a:srgbClr val="2B211C"/>
                </a:solidFill>
                <a:latin typeface="Calibri"/>
              </a:rPr>
              <a:t>abstracting</a:t>
            </a:r>
            <a:r>
              <a:rPr sz="1800" i="0" b="0">
                <a:solidFill>
                  <a:srgbClr val="2B211C"/>
                </a:solidFill>
                <a:latin typeface="Calibri"/>
              </a:rPr>
              <a:t> databases. Indexing gives the citation. Abstracting also gives the abstract. Many link to the full text.</a:t>
            </a:r>
          </a:p>
        </p:txBody>
      </p:sp>
      <p:graphicFrame>
        <p:nvGraphicFramePr>
          <p:cNvPr id="9" name="Table 8"/>
          <p:cNvGraphicFramePr>
            <a:graphicFrameLocks noGrp="1"/>
          </p:cNvGraphicFramePr>
          <p:nvPr/>
        </p:nvGraphicFramePr>
        <p:xfrm>
          <a:off x="548640" y="2532887"/>
          <a:ext cx="11094414" cy="2560320"/>
        </p:xfrm>
        <a:graphic>
          <a:graphicData uri="http://schemas.openxmlformats.org/drawingml/2006/table">
            <a:tbl>
              <a:tblPr firstRow="0" bandRow="0">
                <a:tableStyleId>{5C22544A-7EE6-4342-B048-85BDC9FD1C3A}</a:tableStyleId>
              </a:tblPr>
              <a:tblGrid>
                <a:gridCol w="4689391"/>
                <a:gridCol w="6405023"/>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Very current</a:t>
                      </a:r>
                    </a:p>
                  </a:txBody>
                  <a:tcPr marL="109728" marR="109728" marT="45720" marB="45720" anchor="ctr">
                    <a:solidFill>
                      <a:srgbClr val="FFFFFF"/>
                    </a:solidFill>
                  </a:tcPr>
                </a:tc>
                <a:tc>
                  <a:txBody>
                    <a:bodyPr/>
                    <a:lstStyle/>
                    <a:p>
                      <a:r>
                        <a:rPr sz="2000" i="0" b="0">
                          <a:solidFill>
                            <a:srgbClr val="2B211C"/>
                          </a:solidFill>
                          <a:latin typeface="Calibri"/>
                        </a:rPr>
                        <a:t>Need search skills</a:t>
                      </a:r>
                    </a:p>
                  </a:txBody>
                  <a:tcPr marL="109728" marR="109728" marT="45720" marB="45720" anchor="ctr">
                    <a:solidFill>
                      <a:srgbClr val="FFFFFF"/>
                    </a:solidFill>
                  </a:tcPr>
                </a:tc>
              </a:tr>
              <a:tr h="640080">
                <a:tc>
                  <a:txBody>
                    <a:bodyPr/>
                    <a:lstStyle/>
                    <a:p>
                      <a:r>
                        <a:rPr sz="2000" i="0" b="1">
                          <a:solidFill>
                            <a:srgbClr val="2B211C"/>
                          </a:solidFill>
                          <a:latin typeface="Calibri"/>
                        </a:rPr>
                        <a:t>Point to a huge number of studies</a:t>
                      </a:r>
                    </a:p>
                  </a:txBody>
                  <a:tcPr marL="109728" marR="109728" marT="45720" marB="45720" anchor="ctr">
                    <a:solidFill>
                      <a:srgbClr val="FAF4F2"/>
                    </a:solidFill>
                  </a:tcPr>
                </a:tc>
                <a:tc>
                  <a:txBody>
                    <a:bodyPr/>
                    <a:lstStyle/>
                    <a:p>
                      <a:r>
                        <a:rPr sz="2000" i="0" b="0">
                          <a:solidFill>
                            <a:srgbClr val="2B211C"/>
                          </a:solidFill>
                          <a:latin typeface="Calibri"/>
                        </a:rPr>
                        <a:t>Results must be filtered for quality</a:t>
                      </a:r>
                    </a:p>
                  </a:txBody>
                  <a:tcPr marL="109728" marR="109728" marT="45720" marB="45720" anchor="ctr">
                    <a:solidFill>
                      <a:srgbClr val="FAF4F2"/>
                    </a:solidFill>
                  </a:tcPr>
                </a:tc>
              </a:tr>
              <a:tr h="640080">
                <a:tc>
                  <a:txBody>
                    <a:bodyPr/>
                    <a:lstStyle/>
                    <a:p>
                      <a:r>
                        <a:rPr sz="2000" i="0" b="1">
                          <a:solidFill>
                            <a:srgbClr val="2B211C"/>
                          </a:solidFill>
                          <a:latin typeface="Calibri"/>
                        </a:rPr>
                        <a:t>Simple searches are possible</a:t>
                      </a:r>
                    </a:p>
                  </a:txBody>
                  <a:tcPr marL="109728" marR="109728" marT="45720" marB="45720" anchor="ctr">
                    <a:solidFill>
                      <a:srgbClr val="FFFFFF"/>
                    </a:solidFill>
                  </a:tcPr>
                </a:tc>
                <a:tc>
                  <a:txBody>
                    <a:bodyPr/>
                    <a:lstStyle/>
                    <a:p>
                      <a:r>
                        <a:rPr sz="2000" i="0" b="0">
                          <a:solidFill>
                            <a:srgbClr val="2B211C"/>
                          </a:solidFill>
                          <a:latin typeface="Calibri"/>
                        </a:rPr>
                        <a:t>An abstract is not enough; read the full article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Five tips for a better PubMed search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PubMed</a:t>
            </a:r>
            <a:r>
              <a:rPr sz="1700" i="0" b="0">
                <a:solidFill>
                  <a:srgbClr val="2B211C"/>
                </a:solidFill>
                <a:latin typeface="Calibri"/>
              </a:rPr>
              <a:t> is the free search engine for MEDLINE, run by the US National Library of Medicine. </a:t>
            </a:r>
            <a:r>
              <a:rPr sz="1700" i="0" b="1">
                <a:solidFill>
                  <a:srgbClr val="2B211C"/>
                </a:solidFill>
                <a:latin typeface="Calibri"/>
              </a:rPr>
              <a:t>PubMed Central (PMC)</a:t>
            </a:r>
            <a:r>
              <a:rPr sz="1700" i="0" b="0">
                <a:solidFill>
                  <a:srgbClr val="2B211C"/>
                </a:solidFill>
                <a:latin typeface="Calibri"/>
              </a:rPr>
              <a:t> is different: it is a free </a:t>
            </a:r>
            <a:r>
              <a:rPr sz="1700" i="0" b="1">
                <a:solidFill>
                  <a:srgbClr val="2B211C"/>
                </a:solidFill>
                <a:latin typeface="Calibri"/>
              </a:rPr>
              <a:t>full-text archive</a:t>
            </a:r>
            <a:r>
              <a:rPr sz="1700" i="0" b="0">
                <a:solidFill>
                  <a:srgbClr val="2B211C"/>
                </a:solidFill>
                <a:latin typeface="Calibri"/>
              </a:rPr>
              <a:t> of more than ten million articles. You search in PubMed and often read the full paper in PMC.</a:t>
            </a:r>
          </a:p>
          <a:p>
            <a:pPr>
              <a:spcAft>
                <a:spcPts val="800"/>
              </a:spcAft>
            </a:pPr>
            <a:r>
              <a:rPr sz="1700" i="0" b="1">
                <a:solidFill>
                  <a:srgbClr val="2B211C"/>
                </a:solidFill>
                <a:latin typeface="Calibri"/>
              </a:rPr>
              <a:t>Google Scholar</a:t>
            </a:r>
            <a:r>
              <a:rPr sz="1700" i="0" b="0">
                <a:solidFill>
                  <a:srgbClr val="2B211C"/>
                </a:solidFill>
                <a:latin typeface="Calibri"/>
              </a:rPr>
              <a:t> searches scholarly papers, theses and books. It is broad but less precise than PubMed.</a:t>
            </a:r>
          </a:p>
          <a:p>
            <a:pPr>
              <a:spcAft>
                <a:spcPts val="800"/>
              </a:spcAft>
            </a:pPr>
            <a:r>
              <a:rPr sz="1700" i="0" b="0">
                <a:solidFill>
                  <a:srgbClr val="2B211C"/>
                </a:solidFill>
                <a:latin typeface="Calibri"/>
              </a:rPr>
              <a:t>A good search takes a few minutes. A search that returns thousands of papers needs more terms; a search that returns none needs fewer.</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877823"/>
          </a:xfrm>
          <a:prstGeom prst="rect">
            <a:avLst/>
          </a:prstGeom>
          <a:noFill/>
        </p:spPr>
        <p:txBody>
          <a:bodyPr wrap="square" anchor="t" lIns="0" rIns="0" tIns="0" bIns="0">
            <a:spAutoFit/>
          </a:bodyPr>
          <a:lstStyle/>
          <a:p>
            <a:r>
              <a:rPr sz="2100" i="0" b="0">
                <a:solidFill>
                  <a:srgbClr val="2B211C"/>
                </a:solidFill>
                <a:latin typeface="Calibri"/>
              </a:rPr>
              <a:t>Write the question in parts: patient, drug, comparison, outcome.</a:t>
            </a:r>
          </a:p>
        </p:txBody>
      </p:sp>
      <p:sp>
        <p:nvSpPr>
          <p:cNvPr id="11" name="Oval 10"/>
          <p:cNvSpPr/>
          <p:nvPr/>
        </p:nvSpPr>
        <p:spPr>
          <a:xfrm>
            <a:off x="5394959" y="249631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514600"/>
            <a:ext cx="5653735" cy="877823"/>
          </a:xfrm>
          <a:prstGeom prst="rect">
            <a:avLst/>
          </a:prstGeom>
          <a:noFill/>
        </p:spPr>
        <p:txBody>
          <a:bodyPr wrap="square" anchor="t" lIns="0" rIns="0" tIns="0" bIns="0">
            <a:spAutoFit/>
          </a:bodyPr>
          <a:lstStyle/>
          <a:p>
            <a:r>
              <a:rPr sz="2100" i="0" b="0">
                <a:solidFill>
                  <a:srgbClr val="2B211C"/>
                </a:solidFill>
                <a:latin typeface="Calibri"/>
              </a:rPr>
              <a:t>Use the drug's generic name, not the brand name.</a:t>
            </a:r>
          </a:p>
        </p:txBody>
      </p:sp>
      <p:sp>
        <p:nvSpPr>
          <p:cNvPr id="13" name="Oval 12"/>
          <p:cNvSpPr/>
          <p:nvPr/>
        </p:nvSpPr>
        <p:spPr>
          <a:xfrm>
            <a:off x="5394959" y="34198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438144"/>
            <a:ext cx="5653735" cy="544448"/>
          </a:xfrm>
          <a:prstGeom prst="rect">
            <a:avLst/>
          </a:prstGeom>
          <a:noFill/>
        </p:spPr>
        <p:txBody>
          <a:bodyPr wrap="square" anchor="t" lIns="0" rIns="0" tIns="0" bIns="0">
            <a:spAutoFit/>
          </a:bodyPr>
          <a:lstStyle/>
          <a:p>
            <a:r>
              <a:rPr sz="2100" i="0" b="0">
                <a:solidFill>
                  <a:srgbClr val="2B211C"/>
                </a:solidFill>
                <a:latin typeface="Calibri"/>
              </a:rPr>
              <a:t>Join terms with AND; add synonyms with OR.</a:t>
            </a:r>
          </a:p>
        </p:txBody>
      </p:sp>
      <p:sp>
        <p:nvSpPr>
          <p:cNvPr id="15" name="Oval 14"/>
          <p:cNvSpPr/>
          <p:nvPr/>
        </p:nvSpPr>
        <p:spPr>
          <a:xfrm>
            <a:off x="5394959" y="401002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4028313"/>
            <a:ext cx="5653735" cy="1211199"/>
          </a:xfrm>
          <a:prstGeom prst="rect">
            <a:avLst/>
          </a:prstGeom>
          <a:noFill/>
        </p:spPr>
        <p:txBody>
          <a:bodyPr wrap="square" anchor="t" lIns="0" rIns="0" tIns="0" bIns="0">
            <a:spAutoFit/>
          </a:bodyPr>
          <a:lstStyle/>
          <a:p>
            <a:r>
              <a:rPr sz="2100" i="0" b="0">
                <a:solidFill>
                  <a:srgbClr val="2B211C"/>
                </a:solidFill>
                <a:latin typeface="Calibri"/>
              </a:rPr>
              <a:t>Use filters: article type (for example, randomised controlled trial or systematic review), date, humans, English.</a:t>
            </a:r>
          </a:p>
        </p:txBody>
      </p:sp>
      <p:sp>
        <p:nvSpPr>
          <p:cNvPr id="17" name="Oval 16"/>
          <p:cNvSpPr/>
          <p:nvPr/>
        </p:nvSpPr>
        <p:spPr>
          <a:xfrm>
            <a:off x="5394959" y="52669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5989320" y="5285232"/>
            <a:ext cx="5653735" cy="877823"/>
          </a:xfrm>
          <a:prstGeom prst="rect">
            <a:avLst/>
          </a:prstGeom>
          <a:noFill/>
        </p:spPr>
        <p:txBody>
          <a:bodyPr wrap="square" anchor="t" lIns="0" rIns="0" tIns="0" bIns="0">
            <a:spAutoFit/>
          </a:bodyPr>
          <a:lstStyle/>
          <a:p>
            <a:r>
              <a:rPr sz="2100" i="0" b="0">
                <a:solidFill>
                  <a:srgbClr val="2B211C"/>
                </a:solidFill>
                <a:latin typeface="Calibri"/>
              </a:rPr>
              <a:t>Read the abstract to select papers, then read the full text before you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Primary sources report original research: clinical trials, cohort and case-control studies, and case reports. They appear in journals such as The Lancet, BMJ and NEJM.</a:t>
            </a:r>
          </a:p>
          <a:p>
            <a:pPr>
              <a:spcAft>
                <a:spcPts val="800"/>
              </a:spcAft>
            </a:pPr>
            <a:r>
              <a:rPr sz="1800" i="0" b="0">
                <a:solidFill>
                  <a:srgbClr val="2B211C"/>
                </a:solidFill>
                <a:latin typeface="Calibri"/>
              </a:rPr>
              <a:t>Chapter 3 explains the study designs you will meet in primary sources.</a:t>
            </a:r>
          </a:p>
        </p:txBody>
      </p:sp>
      <p:graphicFrame>
        <p:nvGraphicFramePr>
          <p:cNvPr id="9" name="Table 8"/>
          <p:cNvGraphicFramePr>
            <a:graphicFrameLocks noGrp="1"/>
          </p:cNvGraphicFramePr>
          <p:nvPr/>
        </p:nvGraphicFramePr>
        <p:xfrm>
          <a:off x="548640" y="2939796"/>
          <a:ext cx="11094414" cy="2560320"/>
        </p:xfrm>
        <a:graphic>
          <a:graphicData uri="http://schemas.openxmlformats.org/drawingml/2006/table">
            <a:tbl>
              <a:tblPr firstRow="0" bandRow="0">
                <a:tableStyleId>{5C22544A-7EE6-4342-B048-85BDC9FD1C3A}</a:tableStyleId>
              </a:tblPr>
              <a:tblGrid>
                <a:gridCol w="4853806"/>
                <a:gridCol w="6240608"/>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The newest evidence</a:t>
                      </a:r>
                    </a:p>
                  </a:txBody>
                  <a:tcPr marL="109728" marR="109728" marT="45720" marB="45720" anchor="ctr">
                    <a:solidFill>
                      <a:srgbClr val="FFFFFF"/>
                    </a:solidFill>
                  </a:tcPr>
                </a:tc>
                <a:tc>
                  <a:txBody>
                    <a:bodyPr/>
                    <a:lstStyle/>
                    <a:p>
                      <a:r>
                        <a:rPr sz="2000" i="0" b="0">
                          <a:solidFill>
                            <a:srgbClr val="2B211C"/>
                          </a:solidFill>
                          <a:latin typeface="Calibri"/>
                        </a:rPr>
                        <a:t>You need skill to judge quality (Chapter 6)</a:t>
                      </a:r>
                    </a:p>
                  </a:txBody>
                  <a:tcPr marL="109728" marR="109728" marT="45720" marB="45720" anchor="ctr">
                    <a:solidFill>
                      <a:srgbClr val="FFFFFF"/>
                    </a:solidFill>
                  </a:tcPr>
                </a:tc>
              </a:tr>
              <a:tr h="640080">
                <a:tc>
                  <a:txBody>
                    <a:bodyPr/>
                    <a:lstStyle/>
                    <a:p>
                      <a:r>
                        <a:rPr sz="2000" i="0" b="1">
                          <a:solidFill>
                            <a:srgbClr val="2B211C"/>
                          </a:solidFill>
                          <a:latin typeface="Calibri"/>
                        </a:rPr>
                        <a:t>Full detail on methods and results</a:t>
                      </a:r>
                    </a:p>
                  </a:txBody>
                  <a:tcPr marL="109728" marR="109728" marT="45720" marB="45720" anchor="ctr">
                    <a:solidFill>
                      <a:srgbClr val="FAF4F2"/>
                    </a:solidFill>
                  </a:tcPr>
                </a:tc>
                <a:tc>
                  <a:txBody>
                    <a:bodyPr/>
                    <a:lstStyle/>
                    <a:p>
                      <a:r>
                        <a:rPr sz="2000" i="0" b="0">
                          <a:solidFill>
                            <a:srgbClr val="2B211C"/>
                          </a:solidFill>
                          <a:latin typeface="Calibri"/>
                        </a:rPr>
                        <a:t>One study may not be the whole truth</a:t>
                      </a:r>
                    </a:p>
                  </a:txBody>
                  <a:tcPr marL="109728" marR="109728" marT="45720" marB="45720" anchor="ctr">
                    <a:solidFill>
                      <a:srgbClr val="FAF4F2"/>
                    </a:solidFill>
                  </a:tcPr>
                </a:tc>
              </a:tr>
              <a:tr h="640080">
                <a:tc>
                  <a:txBody>
                    <a:bodyPr/>
                    <a:lstStyle/>
                    <a:p>
                      <a:r>
                        <a:rPr sz="2000" i="0" b="1">
                          <a:solidFill>
                            <a:srgbClr val="2B211C"/>
                          </a:solidFill>
                          <a:latin typeface="Calibri"/>
                        </a:rPr>
                        <a:t>Lets you check what reviews say</a:t>
                      </a:r>
                    </a:p>
                  </a:txBody>
                  <a:tcPr marL="109728" marR="109728" marT="45720" marB="45720" anchor="ctr">
                    <a:solidFill>
                      <a:srgbClr val="FFFFFF"/>
                    </a:solidFill>
                  </a:tcPr>
                </a:tc>
                <a:tc>
                  <a:txBody>
                    <a:bodyPr/>
                    <a:lstStyle/>
                    <a:p>
                      <a:r>
                        <a:rPr sz="2000" i="0" b="0">
                          <a:solidFill>
                            <a:srgbClr val="2B211C"/>
                          </a:solidFill>
                          <a:latin typeface="Calibri"/>
                        </a:rPr>
                        <a:t>Studies can conflict; some are never published</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PubMed = secondary (search tool). PMC = full-text archive. Micromedex and Lexicomp = tertiary.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breastfeeding mother is prescribed sertraline and asks if it is safe for her baby. Start with a tertiary source: </a:t>
            </a:r>
            <a:r>
              <a:rPr sz="2200" i="0" b="1">
                <a:solidFill>
                  <a:srgbClr val="2B211C"/>
                </a:solidFill>
                <a:latin typeface="Calibri"/>
              </a:rPr>
              <a:t>LactMed</a:t>
            </a:r>
            <a:r>
              <a:rPr sz="2200" i="0" b="0">
                <a:solidFill>
                  <a:srgbClr val="2B211C"/>
                </a:solidFill>
                <a:latin typeface="Calibri"/>
              </a:rPr>
              <a:t> or </a:t>
            </a:r>
            <a:r>
              <a:rPr sz="2200" i="0" b="1">
                <a:solidFill>
                  <a:srgbClr val="2B211C"/>
                </a:solidFill>
                <a:latin typeface="Calibri"/>
              </a:rPr>
              <a:t>Briggs</a:t>
            </a:r>
            <a:r>
              <a:rPr sz="2200" i="0" b="0">
                <a:solidFill>
                  <a:srgbClr val="2B211C"/>
                </a:solidFill>
                <a:latin typeface="Calibri"/>
              </a:rPr>
              <a:t>. Both say sertraline passes into milk in low amounts and is a preferred antidepressant in breastfeeding. If the baby were premature or unwell, you would search </a:t>
            </a:r>
            <a:r>
              <a:rPr sz="2200" i="0" b="1">
                <a:solidFill>
                  <a:srgbClr val="2B211C"/>
                </a:solidFill>
                <a:latin typeface="Calibri"/>
              </a:rPr>
              <a:t>PubMed</a:t>
            </a:r>
            <a:r>
              <a:rPr sz="2200" i="0" b="0">
                <a:solidFill>
                  <a:srgbClr val="2B211C"/>
                </a:solidFill>
                <a:latin typeface="Calibri"/>
              </a:rPr>
              <a:t> for recent case series and read them in full.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Drug Information Sources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Primary source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Secondary source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Tertiary source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Full-text archive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Primary source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Secondary source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Tertiary source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Micromedex summarises evidence, so it is tertiary. A, B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hard to use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may be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has no references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contains only abstracts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hard to use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may be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has no references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contains only abstracts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Print editions lag behind new evidence. A, C and D are not typical.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Stockley's Drug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Trissel's Handbook on Injectable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Briggs' Drugs in Pregnancy and Lactation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Beers Criteria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Stockley's Drug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Trissel's Handbook on Injectable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Briggs' Drugs in Pregnancy and Lactation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Beers Criteria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Stockley's is the standard interaction reference. B covers IV compatibility, C pregnancy, D older adults.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a tertiary textbook</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indexes only abstracts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the official drug label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a free full-text archive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a tertiary textbook</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indexes only abstracts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the official drug label</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It is a free 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PMC is a free full-text archive. A, B and C describe other sources.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Is the book easy to carry?</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Is it recent enough to include the new drug?</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Is it printed in colour?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Is it written by one author?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2  ·  Drug Information Sources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Is the book easy to carry?</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Is it recent enough to include the new drug?</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Is it printed in colour?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Is it written by one author?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new drug may be missing from an older source. A, C and D do not affect quality.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nurse asks whether ceftriaxone can be given through the same IV line as calcium gluconate. (a) Classify the question. (b) Which source do you open first? (c) What will you tell the nurse?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Drug Information Sources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Tertiary sources summarise, secondary sources find studies, primary sources are the studies.</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Start with a tertiary source, but go further when the answer is incomplete or high-stakes.</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Match the reference to the question (Table 2.3).</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PubMed indexes articles; PMC stores full texts.</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Judge every source for expertise, date, references and bias.</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