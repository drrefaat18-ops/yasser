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will cover, in order.</a:t>
            </a:r>
          </a:p>
          <a:p/>
          <a:p>
            <a:r>
              <a:t>About 30 s.  Next: Three Types of Source.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Drug information sources come in three layers. A simple way to remember: tertiary tells you, secondary finds for you, primary proves it. Most searches start with a tertiary source, move to a secondary database, and end with primary articles. This is a usual strategy, not a fixed rule. Some questions are answered fully by a tertiary source, such as a standard adult dose. Others, such as a new drug or a rare interaction, need primary papers. Go further whenever the answer is incomplete, out of date or high-stakes.</a:t>
            </a:r>
          </a:p>
          <a:p/>
          <a:p>
            <a:r>
              <a:t>About 90 s.  Next: Three Types of Source.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Drug information sources come in three layers. A simple way to remember: tertiary tells you, secondary finds for you, primary proves it. Most searches start with a tertiary source, move to a secondary database, and end with primary articles. This is a usual strategy, not a fixed rule. Some questions are answered fully by a tertiary source, such as a standard adult dose. Others, such as a new drug or a rare interaction, need primary papers. Go further whenever the answer is incomplete, out of date or high-stakes.</a:t>
            </a:r>
          </a:p>
          <a:p/>
          <a:p>
            <a:r>
              <a:t>About 60 s.  Next: Tertiary Sources.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Tertiary sources summarise a topic in a short, easy form. The best ones are written by experts and peer reviewed.</a:t>
            </a:r>
          </a:p>
          <a:p/>
          <a:p>
            <a:r>
              <a:t>About 30 s.  Next: How to judge a tertiary source.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Tertiary sources summarise a topic in a short, easy form. The best ones are written by experts and peer reviewed.</a:t>
            </a:r>
          </a:p>
          <a:p/>
          <a:p>
            <a:r>
              <a:t>About 30 s.  Next: Which reference for which question? (1/2).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Tertiary sources summarise a topic in a short, easy form. The best ones are written by experts and peer reviewed.</a:t>
            </a:r>
          </a:p>
          <a:p/>
          <a:p>
            <a:r>
              <a:t>About 30 s.  Next: Which reference for which question? (2/2).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Tertiary sources summarise a topic in a short, easy form. The best ones are written by experts and peer reviewed.</a:t>
            </a:r>
          </a:p>
          <a:p/>
          <a:p>
            <a:r>
              <a:t>About 30 s.  Next: Tertiary Sources.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Tertiary sources summarise a topic in a short, easy form. The best ones are written by experts and peer reviewed.</a:t>
            </a:r>
          </a:p>
          <a:p/>
          <a:p>
            <a:r>
              <a:t>About 30 s.  Next: Secondary Sources.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Secondary sources are indexing or abstracting databases. Indexing gives the citation. Abstracting also gives the abstract. Many link to the full text. PubMed is the free search engine for MEDLINE, run by the US National Library of Medicine. PubMed Central (PMC) is different: it is a free full-text archive of more than ten million articles. You search in PubMed and often read the full paper in PMC. Google Scholar searches scholarly papers, theses and books. It is broad but less precise than PubMed. A good search takes a few minutes. A search that returns thousands of papers needs more terms; a search that returns none needs fewer.</a:t>
            </a:r>
          </a:p>
          <a:p/>
          <a:p>
            <a:r>
              <a:t>About 60 s.  Next: Five tips for a better PubMed search.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Secondary sources are indexing or abstracting databases. Indexing gives the citation. Abstracting also gives the abstract. Many link to the full text. PubMed is the free search engine for MEDLINE, run by the US National Library of Medicine. PubMed Central (PMC) is different: it is a free full-text archive of more than ten million articles. You search in PubMed and often read the full paper in PMC. Google Scholar searches scholarly papers, theses and books. It is broad but less precise than PubMed. A good search takes a few minutes. A search that returns thousands of papers needs more terms; a search that returns none needs fewer.</a:t>
            </a:r>
          </a:p>
          <a:p/>
          <a:p>
            <a:r>
              <a:t>About 120 s.  Next: Primary Sources (added).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sources report original research: clinical trials, cohort and case-control studies, and case reports. They appear in journals such as The Lancet, BMJ and NEJM. Chapter 3 explains the study designs you will meet in primary sources.</a:t>
            </a:r>
          </a:p>
          <a:p/>
          <a:p>
            <a:r>
              <a:t>About 30 s.  Next: Primary Sources (added).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sources report original research: clinical trials, cohort and case-control studies, and case reports. They appear in journals such as The Lancet, BMJ and NEJM. Chapter 3 explains the study designs you will meet in primary sources.</a:t>
            </a:r>
          </a:p>
          <a:p/>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with the class: what would you ask, check and say?</a:t>
            </a:r>
          </a:p>
          <a:p/>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Micromedex summarises evidence, so it is tertiary. A, B and D are wrong.</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Print editions lag behind new evidence. A, C and D are not typical.</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Stockley's is the standard interaction reference. B covers IV compatibility, C pregnancy, D older adults.</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PMC is a free full-text archive. A, B and C describe other sources.</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A new drug may be missing from an older source. A, C and D do not affect quality.</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answer: (a) An IV compatibility question. (b) Trissel's Handbook on Injectable Drugs (or the product labelling). (c) Do not mix them: ceftriaxone and calcium can form a precipitate. In neonates, calcium-containing IV solutions must not be given with ceftriaxone at all. In older patients, flush the line well between them.</a:t>
            </a:r>
          </a:p>
          <a:p/>
          <a:p>
            <a:r>
              <a:t>About 30 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In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Roadmap.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A4472B"/>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589520" y="1097280"/>
            <a:ext cx="4754880" cy="5120640"/>
          </a:xfrm>
          <a:prstGeom prst="rect">
            <a:avLst/>
          </a:prstGeom>
          <a:noFill/>
        </p:spPr>
        <p:txBody>
          <a:bodyPr wrap="square" anchor="ctr" lIns="0" rIns="0" tIns="0" bIns="0">
            <a:spAutoFit/>
          </a:bodyPr>
          <a:lstStyle/>
          <a:p>
            <a:pPr algn="r"/>
            <a:r>
              <a:rPr sz="28000" i="0" b="1">
                <a:solidFill>
                  <a:srgbClr val="8B3C25"/>
                </a:solidFill>
                <a:latin typeface="Cambria"/>
              </a:rPr>
              <a:t>02</a:t>
            </a:r>
          </a:p>
        </p:txBody>
      </p:sp>
      <p:pic>
        <p:nvPicPr>
          <p:cNvPr id="4" name="Picture 3" descr="port-said-university.png"/>
          <p:cNvPicPr>
            <a:picLocks noChangeAspect="1"/>
          </p:cNvPicPr>
          <p:nvPr/>
        </p:nvPicPr>
        <p:blipFill>
          <a:blip r:embed="rId3"/>
          <a:stretch>
            <a:fillRect/>
          </a:stretch>
        </p:blipFill>
        <p:spPr>
          <a:xfrm>
            <a:off x="548640" y="502920"/>
            <a:ext cx="960120" cy="960120"/>
          </a:xfrm>
          <a:prstGeom prst="rect">
            <a:avLst/>
          </a:prstGeom>
        </p:spPr>
      </p:pic>
      <p:pic>
        <p:nvPicPr>
          <p:cNvPr id="5" name="Picture 4" descr="faculty-of-pharmacy.png"/>
          <p:cNvPicPr>
            <a:picLocks noChangeAspect="1"/>
          </p:cNvPicPr>
          <p:nvPr/>
        </p:nvPicPr>
        <p:blipFill>
          <a:blip r:embed="rId4"/>
          <a:stretch>
            <a:fillRect/>
          </a:stretch>
        </p:blipFill>
        <p:spPr>
          <a:xfrm>
            <a:off x="1691640" y="502920"/>
            <a:ext cx="960120" cy="960120"/>
          </a:xfrm>
          <a:prstGeom prst="rect">
            <a:avLst/>
          </a:prstGeom>
        </p:spPr>
      </p:pic>
      <p:sp>
        <p:nvSpPr>
          <p:cNvPr id="6" name="TextBox 5"/>
          <p:cNvSpPr txBox="1"/>
          <p:nvPr/>
        </p:nvSpPr>
        <p:spPr>
          <a:xfrm>
            <a:off x="2971800" y="658368"/>
            <a:ext cx="6400800" cy="731520"/>
          </a:xfrm>
          <a:prstGeom prst="rect">
            <a:avLst/>
          </a:prstGeom>
          <a:noFill/>
        </p:spPr>
        <p:txBody>
          <a:bodyPr wrap="square" anchor="ctr" lIns="0" rIns="0" tIns="0" bIns="0">
            <a:spAutoFit/>
          </a:bodyPr>
          <a:lstStyle/>
          <a:p>
            <a:r>
              <a:rPr sz="1800" i="0" b="1">
                <a:solidFill>
                  <a:srgbClr val="FFFFFF"/>
                </a:solidFill>
                <a:latin typeface="Cambria"/>
              </a:rPr>
              <a:t>Faculty of Pharmacy</a:t>
            </a:r>
          </a:p>
          <a:p>
            <a:r>
              <a:rPr sz="1200" i="0" b="1" spc="200">
                <a:solidFill>
                  <a:srgbClr val="F2E5E1"/>
                </a:solidFill>
                <a:latin typeface="Calibri"/>
              </a:rPr>
              <a:t>PORT SAID UNIVERSITY</a:t>
            </a:r>
          </a:p>
        </p:txBody>
      </p:sp>
      <p:sp>
        <p:nvSpPr>
          <p:cNvPr id="7" name="TextBox 6"/>
          <p:cNvSpPr txBox="1"/>
          <p:nvPr/>
        </p:nvSpPr>
        <p:spPr>
          <a:xfrm>
            <a:off x="548640" y="2514600"/>
            <a:ext cx="6766560" cy="3108960"/>
          </a:xfrm>
          <a:prstGeom prst="rect">
            <a:avLst/>
          </a:prstGeom>
          <a:noFill/>
        </p:spPr>
        <p:txBody>
          <a:bodyPr wrap="square" anchor="t" lIns="0" rIns="0" tIns="0" bIns="0">
            <a:spAutoFit/>
          </a:bodyPr>
          <a:lstStyle/>
          <a:p>
            <a:r>
              <a:rPr sz="1400" i="0" b="1" spc="200">
                <a:solidFill>
                  <a:srgbClr val="F2E5E1"/>
                </a:solidFill>
                <a:latin typeface="Calibri"/>
              </a:rPr>
              <a:t>DRUG INFORMATION  ·  SECTION 2</a:t>
            </a:r>
          </a:p>
          <a:p>
            <a:pPr>
              <a:spcBef>
                <a:spcPts val="1400"/>
              </a:spcBef>
            </a:pPr>
            <a:r>
              <a:rPr sz="4400" i="0" b="1">
                <a:solidFill>
                  <a:srgbClr val="FFFFFF"/>
                </a:solidFill>
                <a:latin typeface="Cambria"/>
              </a:rPr>
              <a:t>Drug Information Sources</a:t>
            </a:r>
          </a:p>
          <a:p>
            <a:pPr>
              <a:spcBef>
                <a:spcPts val="1600"/>
              </a:spcBef>
            </a:pPr>
            <a:r>
              <a:rPr sz="2000" i="1" b="0">
                <a:solidFill>
                  <a:srgbClr val="F2E5E1"/>
                </a:solidFill>
                <a:latin typeface="Cambria"/>
              </a:rPr>
              <a:t>A Practical Section Guide</a:t>
            </a:r>
          </a:p>
        </p:txBody>
      </p:sp>
      <p:sp>
        <p:nvSpPr>
          <p:cNvPr id="8" name="TextBox 7"/>
          <p:cNvSpPr txBox="1"/>
          <p:nvPr/>
        </p:nvSpPr>
        <p:spPr>
          <a:xfrm>
            <a:off x="548640" y="5989320"/>
            <a:ext cx="8229600" cy="457200"/>
          </a:xfrm>
          <a:prstGeom prst="rect">
            <a:avLst/>
          </a:prstGeom>
          <a:noFill/>
        </p:spPr>
        <p:txBody>
          <a:bodyPr wrap="square" anchor="t" lIns="0" rIns="0" tIns="0" bIns="0">
            <a:spAutoFit/>
          </a:bodyPr>
          <a:lstStyle/>
          <a:p>
            <a:r>
              <a:rPr sz="1300" i="0" b="0">
                <a:solidFill>
                  <a:srgbClr val="F2E5E1"/>
                </a:solidFill>
                <a:latin typeface="Calibri"/>
              </a:rPr>
              <a:t>45 minutes  ·  5 questions  ·  1 practice case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EDE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A4472B"/>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02</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2F6F7A"/>
                </a:solidFill>
                <a:latin typeface="Calibri"/>
              </a:rPr>
              <a:t>SECTION 2</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A4472B"/>
                </a:solidFill>
                <a:latin typeface="Cambria"/>
              </a:rPr>
              <a:t>In This Section</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2  ·  Drug Information Sources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02 / 27</a:t>
            </a:r>
          </a:p>
        </p:txBody>
      </p:sp>
      <p:pic>
        <p:nvPicPr>
          <p:cNvPr id="10" name="Picture 9" descr="logo"/>
          <p:cNvPicPr>
            <a:picLocks noChangeAspect="1"/>
          </p:cNvPicPr>
          <p:nvPr/>
        </p:nvPicPr>
        <p:blipFill>
          <a:blip r:embed="rId3"/>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157276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14" name="TextBox 13"/>
          <p:cNvSpPr txBox="1"/>
          <p:nvPr/>
        </p:nvSpPr>
        <p:spPr>
          <a:xfrm>
            <a:off x="1143000" y="1591056"/>
            <a:ext cx="6629400" cy="1142237"/>
          </a:xfrm>
          <a:prstGeom prst="rect">
            <a:avLst/>
          </a:prstGeom>
          <a:noFill/>
        </p:spPr>
        <p:txBody>
          <a:bodyPr wrap="square" anchor="t" lIns="0" rIns="0" tIns="0" bIns="0">
            <a:spAutoFit/>
          </a:bodyPr>
          <a:lstStyle/>
          <a:p>
            <a:r>
              <a:rPr sz="2100" i="0" b="0">
                <a:solidFill>
                  <a:srgbClr val="2B211C"/>
                </a:solidFill>
                <a:latin typeface="Calibri"/>
              </a:rPr>
              <a:t>Classify a source as tertiary, secondary or primary.</a:t>
            </a:r>
          </a:p>
        </p:txBody>
      </p:sp>
      <p:sp>
        <p:nvSpPr>
          <p:cNvPr id="15" name="Oval 14"/>
          <p:cNvSpPr/>
          <p:nvPr/>
        </p:nvSpPr>
        <p:spPr>
          <a:xfrm>
            <a:off x="548640" y="2760726"/>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6" name="TextBox 15"/>
          <p:cNvSpPr txBox="1"/>
          <p:nvPr/>
        </p:nvSpPr>
        <p:spPr>
          <a:xfrm>
            <a:off x="1143000" y="2779014"/>
            <a:ext cx="6629400" cy="1142237"/>
          </a:xfrm>
          <a:prstGeom prst="rect">
            <a:avLst/>
          </a:prstGeom>
          <a:noFill/>
        </p:spPr>
        <p:txBody>
          <a:bodyPr wrap="square" anchor="t" lIns="0" rIns="0" tIns="0" bIns="0">
            <a:spAutoFit/>
          </a:bodyPr>
          <a:lstStyle/>
          <a:p>
            <a:r>
              <a:rPr sz="2100" i="0" b="0">
                <a:solidFill>
                  <a:srgbClr val="2B211C"/>
                </a:solidFill>
                <a:latin typeface="Calibri"/>
              </a:rPr>
              <a:t>List the advantages and disadvantages of each type.</a:t>
            </a:r>
          </a:p>
        </p:txBody>
      </p:sp>
      <p:sp>
        <p:nvSpPr>
          <p:cNvPr id="17" name="Oval 16"/>
          <p:cNvSpPr/>
          <p:nvPr/>
        </p:nvSpPr>
        <p:spPr>
          <a:xfrm>
            <a:off x="548640" y="3948683"/>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3</a:t>
            </a:r>
          </a:p>
        </p:txBody>
      </p:sp>
      <p:sp>
        <p:nvSpPr>
          <p:cNvPr id="18" name="TextBox 17"/>
          <p:cNvSpPr txBox="1"/>
          <p:nvPr/>
        </p:nvSpPr>
        <p:spPr>
          <a:xfrm>
            <a:off x="1143000" y="3966971"/>
            <a:ext cx="6629400" cy="1142237"/>
          </a:xfrm>
          <a:prstGeom prst="rect">
            <a:avLst/>
          </a:prstGeom>
          <a:noFill/>
        </p:spPr>
        <p:txBody>
          <a:bodyPr wrap="square" anchor="t" lIns="0" rIns="0" tIns="0" bIns="0">
            <a:spAutoFit/>
          </a:bodyPr>
          <a:lstStyle/>
          <a:p>
            <a:r>
              <a:rPr sz="2100" i="0" b="0">
                <a:solidFill>
                  <a:srgbClr val="2B211C"/>
                </a:solidFill>
                <a:latin typeface="Calibri"/>
              </a:rPr>
              <a:t>Choose a named reference for a given type of question.</a:t>
            </a:r>
          </a:p>
        </p:txBody>
      </p:sp>
      <p:sp>
        <p:nvSpPr>
          <p:cNvPr id="19" name="Oval 18"/>
          <p:cNvSpPr/>
          <p:nvPr/>
        </p:nvSpPr>
        <p:spPr>
          <a:xfrm>
            <a:off x="548640" y="5136641"/>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4</a:t>
            </a:r>
          </a:p>
        </p:txBody>
      </p:sp>
      <p:sp>
        <p:nvSpPr>
          <p:cNvPr id="20" name="TextBox 19"/>
          <p:cNvSpPr txBox="1"/>
          <p:nvPr/>
        </p:nvSpPr>
        <p:spPr>
          <a:xfrm>
            <a:off x="1143000" y="5154929"/>
            <a:ext cx="6629400" cy="808863"/>
          </a:xfrm>
          <a:prstGeom prst="rect">
            <a:avLst/>
          </a:prstGeom>
          <a:noFill/>
        </p:spPr>
        <p:txBody>
          <a:bodyPr wrap="square" anchor="t" lIns="0" rIns="0" tIns="0" bIns="0">
            <a:spAutoFit/>
          </a:bodyPr>
          <a:lstStyle/>
          <a:p>
            <a:r>
              <a:rPr sz="2100" i="0" b="0">
                <a:solidFill>
                  <a:srgbClr val="2B211C"/>
                </a:solidFill>
                <a:latin typeface="Calibri"/>
              </a:rPr>
              <a:t>Judge the quality of a tertiary source.</a:t>
            </a:r>
          </a:p>
        </p:txBody>
      </p:sp>
      <p:sp>
        <p:nvSpPr>
          <p:cNvPr id="21" name="Rounded Rectangle 20"/>
          <p:cNvSpPr/>
          <p:nvPr/>
        </p:nvSpPr>
        <p:spPr>
          <a:xfrm>
            <a:off x="8366760" y="1600200"/>
            <a:ext cx="3273552" cy="4526280"/>
          </a:xfrm>
          <a:prstGeom prst="roundRect">
            <a:avLst>
              <a:gd name="adj" fmla="val 5000"/>
            </a:avLst>
          </a:prstGeom>
          <a:solidFill>
            <a:srgbClr val="FAF4F2">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628644" y="1664208"/>
            <a:ext cx="2749783"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41080" y="1874519"/>
            <a:ext cx="2743200" cy="4023360"/>
          </a:xfrm>
          <a:prstGeom prst="rect">
            <a:avLst/>
          </a:prstGeom>
          <a:noFill/>
        </p:spPr>
        <p:txBody>
          <a:bodyPr wrap="square" anchor="t" lIns="0" rIns="0" tIns="0" bIns="0">
            <a:spAutoFit/>
          </a:bodyPr>
          <a:lstStyle/>
          <a:p>
            <a:pPr>
              <a:spcBef>
                <a:spcPts val="0"/>
              </a:spcBef>
            </a:pPr>
            <a:r>
              <a:rPr sz="5400" i="0" b="1">
                <a:solidFill>
                  <a:srgbClr val="A4472B"/>
                </a:solidFill>
                <a:latin typeface="Cambria"/>
              </a:rPr>
              <a:t>45</a:t>
            </a:r>
          </a:p>
          <a:p>
            <a:r>
              <a:rPr sz="1200" i="0" b="1" spc="150">
                <a:solidFill>
                  <a:srgbClr val="6E625B"/>
                </a:solidFill>
                <a:latin typeface="Calibri"/>
              </a:rPr>
              <a:t>MINUTES</a:t>
            </a:r>
          </a:p>
          <a:p>
            <a:pPr>
              <a:spcBef>
                <a:spcPts val="1600"/>
              </a:spcBef>
            </a:pPr>
            <a:r>
              <a:rPr sz="5400" i="0" b="1">
                <a:solidFill>
                  <a:srgbClr val="A4472B"/>
                </a:solidFill>
                <a:latin typeface="Cambria"/>
              </a:rPr>
              <a:t>5</a:t>
            </a:r>
          </a:p>
          <a:p>
            <a:r>
              <a:rPr sz="1200" i="0" b="1" spc="150">
                <a:solidFill>
                  <a:srgbClr val="6E625B"/>
                </a:solidFill>
                <a:latin typeface="Calibri"/>
              </a:rPr>
              <a:t>QUESTIONS</a:t>
            </a:r>
          </a:p>
          <a:p>
            <a:pPr>
              <a:spcBef>
                <a:spcPts val="1600"/>
              </a:spcBef>
            </a:pPr>
            <a:r>
              <a:rPr sz="5400" i="0" b="1">
                <a:solidFill>
                  <a:srgbClr val="A4472B"/>
                </a:solidFill>
                <a:latin typeface="Cambria"/>
              </a:rPr>
              <a:t>1</a:t>
            </a:r>
          </a:p>
          <a:p>
            <a:r>
              <a:rPr sz="1200" i="0" b="1" spc="150">
                <a:solidFill>
                  <a:srgbClr val="6E625B"/>
                </a:solidFill>
                <a:latin typeface="Calibri"/>
              </a:rPr>
              <a:t>PRACTICE CASE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EDEA"/>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A4472B"/>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02</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2F6F7A"/>
                </a:solidFill>
                <a:latin typeface="Calibri"/>
              </a:rPr>
              <a:t>SECTION 2</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A4472B"/>
                </a:solidFill>
                <a:latin typeface="Cambria"/>
              </a:rPr>
              <a:t>Roadmap</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2  ·  Drug Information Sources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03 / 27</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157276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14" name="TextBox 13"/>
          <p:cNvSpPr txBox="1"/>
          <p:nvPr/>
        </p:nvSpPr>
        <p:spPr>
          <a:xfrm>
            <a:off x="1143000" y="1591056"/>
            <a:ext cx="10500055" cy="824737"/>
          </a:xfrm>
          <a:prstGeom prst="rect">
            <a:avLst/>
          </a:prstGeom>
          <a:noFill/>
        </p:spPr>
        <p:txBody>
          <a:bodyPr wrap="square" anchor="t" lIns="0" rIns="0" tIns="0" bIns="0">
            <a:spAutoFit/>
          </a:bodyPr>
          <a:lstStyle/>
          <a:p>
            <a:r>
              <a:rPr sz="2200" i="0" b="0">
                <a:solidFill>
                  <a:srgbClr val="2B211C"/>
                </a:solidFill>
                <a:latin typeface="Calibri"/>
              </a:rPr>
              <a:t>Three Types of Source</a:t>
            </a:r>
          </a:p>
        </p:txBody>
      </p:sp>
      <p:sp>
        <p:nvSpPr>
          <p:cNvPr id="15" name="Oval 14"/>
          <p:cNvSpPr/>
          <p:nvPr/>
        </p:nvSpPr>
        <p:spPr>
          <a:xfrm>
            <a:off x="548640" y="2443226"/>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6" name="TextBox 15"/>
          <p:cNvSpPr txBox="1"/>
          <p:nvPr/>
        </p:nvSpPr>
        <p:spPr>
          <a:xfrm>
            <a:off x="1143000" y="2461514"/>
            <a:ext cx="10500055" cy="824737"/>
          </a:xfrm>
          <a:prstGeom prst="rect">
            <a:avLst/>
          </a:prstGeom>
          <a:noFill/>
        </p:spPr>
        <p:txBody>
          <a:bodyPr wrap="square" anchor="t" lIns="0" rIns="0" tIns="0" bIns="0">
            <a:spAutoFit/>
          </a:bodyPr>
          <a:lstStyle/>
          <a:p>
            <a:r>
              <a:rPr sz="2200" i="0" b="0">
                <a:solidFill>
                  <a:srgbClr val="2B211C"/>
                </a:solidFill>
                <a:latin typeface="Calibri"/>
              </a:rPr>
              <a:t>Tertiary Sources</a:t>
            </a:r>
          </a:p>
        </p:txBody>
      </p:sp>
      <p:sp>
        <p:nvSpPr>
          <p:cNvPr id="17" name="Oval 16"/>
          <p:cNvSpPr/>
          <p:nvPr/>
        </p:nvSpPr>
        <p:spPr>
          <a:xfrm>
            <a:off x="548640" y="3313684"/>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3</a:t>
            </a:r>
          </a:p>
        </p:txBody>
      </p:sp>
      <p:sp>
        <p:nvSpPr>
          <p:cNvPr id="18" name="TextBox 17"/>
          <p:cNvSpPr txBox="1"/>
          <p:nvPr/>
        </p:nvSpPr>
        <p:spPr>
          <a:xfrm>
            <a:off x="1143000" y="3331972"/>
            <a:ext cx="10500055" cy="824737"/>
          </a:xfrm>
          <a:prstGeom prst="rect">
            <a:avLst/>
          </a:prstGeom>
          <a:noFill/>
        </p:spPr>
        <p:txBody>
          <a:bodyPr wrap="square" anchor="t" lIns="0" rIns="0" tIns="0" bIns="0">
            <a:spAutoFit/>
          </a:bodyPr>
          <a:lstStyle/>
          <a:p>
            <a:r>
              <a:rPr sz="2200" i="0" b="0">
                <a:solidFill>
                  <a:srgbClr val="2B211C"/>
                </a:solidFill>
                <a:latin typeface="Calibri"/>
              </a:rPr>
              <a:t>Secondary Sources</a:t>
            </a:r>
          </a:p>
        </p:txBody>
      </p:sp>
      <p:sp>
        <p:nvSpPr>
          <p:cNvPr id="19" name="Oval 18"/>
          <p:cNvSpPr/>
          <p:nvPr/>
        </p:nvSpPr>
        <p:spPr>
          <a:xfrm>
            <a:off x="548640" y="4184141"/>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4</a:t>
            </a:r>
          </a:p>
        </p:txBody>
      </p:sp>
      <p:sp>
        <p:nvSpPr>
          <p:cNvPr id="20" name="TextBox 19"/>
          <p:cNvSpPr txBox="1"/>
          <p:nvPr/>
        </p:nvSpPr>
        <p:spPr>
          <a:xfrm>
            <a:off x="1143000" y="4202430"/>
            <a:ext cx="10500055" cy="824737"/>
          </a:xfrm>
          <a:prstGeom prst="rect">
            <a:avLst/>
          </a:prstGeom>
          <a:noFill/>
        </p:spPr>
        <p:txBody>
          <a:bodyPr wrap="square" anchor="t" lIns="0" rIns="0" tIns="0" bIns="0">
            <a:spAutoFit/>
          </a:bodyPr>
          <a:lstStyle/>
          <a:p>
            <a:r>
              <a:rPr sz="2200" i="0" b="0">
                <a:solidFill>
                  <a:srgbClr val="2B211C"/>
                </a:solidFill>
                <a:latin typeface="Calibri"/>
              </a:rPr>
              <a:t>Primary Sources (added)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EDEA"/>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A4472B"/>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02</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2F6F7A"/>
                </a:solidFill>
                <a:latin typeface="Calibri"/>
              </a:rPr>
              <a:t>SECTION 2</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A4472B"/>
                </a:solidFill>
                <a:latin typeface="Cambria"/>
              </a:rPr>
              <a:t>Three Types of Source</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2  ·  Drug Information Sources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04 / 27</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1591056"/>
            <a:ext cx="64008" cy="2932176"/>
          </a:xfrm>
          <a:prstGeom prst="roundRect">
            <a:avLst>
              <a:gd name="adj" fmla="val 50000"/>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554480"/>
            <a:ext cx="10865815" cy="4617720"/>
          </a:xfrm>
          <a:prstGeom prst="rect">
            <a:avLst/>
          </a:prstGeom>
          <a:noFill/>
        </p:spPr>
        <p:txBody>
          <a:bodyPr wrap="square" anchor="t" lIns="0" rIns="0" tIns="0" bIns="0">
            <a:spAutoFit/>
          </a:bodyPr>
          <a:lstStyle/>
          <a:p>
            <a:pPr>
              <a:spcAft>
                <a:spcPts val="800"/>
              </a:spcAft>
            </a:pPr>
            <a:r>
              <a:rPr sz="2100" i="0" b="0">
                <a:solidFill>
                  <a:srgbClr val="2B211C"/>
                </a:solidFill>
                <a:latin typeface="Calibri"/>
              </a:rPr>
              <a:t>Drug information sources come in three layers.</a:t>
            </a:r>
          </a:p>
          <a:p>
            <a:pPr>
              <a:spcAft>
                <a:spcPts val="800"/>
              </a:spcAft>
            </a:pPr>
            <a:r>
              <a:rPr sz="2100" i="0" b="0">
                <a:solidFill>
                  <a:srgbClr val="2B211C"/>
                </a:solidFill>
                <a:latin typeface="Calibri"/>
              </a:rPr>
              <a:t>A simple way to remember: </a:t>
            </a:r>
            <a:r>
              <a:rPr sz="2100" i="0" b="1">
                <a:solidFill>
                  <a:srgbClr val="2B211C"/>
                </a:solidFill>
                <a:latin typeface="Calibri"/>
              </a:rPr>
              <a:t>tertiary tells you, secondary finds for you, primary proves it</a:t>
            </a:r>
            <a:r>
              <a:rPr sz="2100" i="0" b="0">
                <a:solidFill>
                  <a:srgbClr val="2B211C"/>
                </a:solidFill>
                <a:latin typeface="Calibri"/>
              </a:rPr>
              <a:t>.</a:t>
            </a:r>
          </a:p>
          <a:p>
            <a:pPr>
              <a:spcAft>
                <a:spcPts val="800"/>
              </a:spcAft>
            </a:pPr>
            <a:r>
              <a:rPr sz="2100" i="0" b="0">
                <a:solidFill>
                  <a:srgbClr val="2B211C"/>
                </a:solidFill>
                <a:latin typeface="Calibri"/>
              </a:rPr>
              <a:t>Most searches start with a tertiary source, move to a secondary database, and end with primary articles. This is a </a:t>
            </a:r>
            <a:r>
              <a:rPr sz="2100" i="0" b="1">
                <a:solidFill>
                  <a:srgbClr val="2B211C"/>
                </a:solidFill>
                <a:latin typeface="Calibri"/>
              </a:rPr>
              <a:t>usual strategy, not a fixed rule</a:t>
            </a:r>
            <a:r>
              <a:rPr sz="2100" i="0" b="0">
                <a:solidFill>
                  <a:srgbClr val="2B211C"/>
                </a:solidFill>
                <a:latin typeface="Calibri"/>
              </a:rPr>
              <a:t>. Some questions are answered fully by a tertiary source, such as a standard adult dose. Others, such as a new drug or a rare interaction, need primary papers. Go further whenever the answer is incomplete, out of date or high-stakes.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EDEA"/>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A4472B"/>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02</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2F6F7A"/>
                </a:solidFill>
                <a:latin typeface="Calibri"/>
              </a:rPr>
              <a:t>SECTION 2</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A4472B"/>
                </a:solidFill>
                <a:latin typeface="Cambria"/>
              </a:rPr>
              <a:t>Three Types of Source</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2  ·  Drug Information Sources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05 / 27</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48640" y="1554480"/>
          <a:ext cx="11094413" cy="2560320"/>
        </p:xfrm>
        <a:graphic>
          <a:graphicData uri="http://schemas.openxmlformats.org/drawingml/2006/table">
            <a:tbl>
              <a:tblPr firstRow="0" bandRow="0">
                <a:tableStyleId>{5C22544A-7EE6-4342-B048-85BDC9FD1C3A}</a:tableStyleId>
              </a:tblPr>
              <a:tblGrid>
                <a:gridCol w="1468754"/>
                <a:gridCol w="3238369"/>
                <a:gridCol w="3868558"/>
                <a:gridCol w="2518732"/>
              </a:tblGrid>
              <a:tr h="640080">
                <a:tc>
                  <a:txBody>
                    <a:bodyPr/>
                    <a:lstStyle/>
                    <a:p>
                      <a:r>
                        <a:rPr sz="1700" i="0" b="1">
                          <a:solidFill>
                            <a:srgbClr val="FFFFFF"/>
                          </a:solidFill>
                          <a:latin typeface="Calibri"/>
                        </a:rPr>
                        <a:t>Type</a:t>
                      </a:r>
                    </a:p>
                  </a:txBody>
                  <a:tcPr marL="109728" marR="109728" marT="45720" marB="45720" anchor="ctr">
                    <a:solidFill>
                      <a:srgbClr val="A4472B"/>
                    </a:solidFill>
                  </a:tcPr>
                </a:tc>
                <a:tc>
                  <a:txBody>
                    <a:bodyPr/>
                    <a:lstStyle/>
                    <a:p>
                      <a:r>
                        <a:rPr sz="1700" i="0" b="1">
                          <a:solidFill>
                            <a:srgbClr val="FFFFFF"/>
                          </a:solidFill>
                          <a:latin typeface="Calibri"/>
                        </a:rPr>
                        <a:t>What it is</a:t>
                      </a:r>
                    </a:p>
                  </a:txBody>
                  <a:tcPr marL="109728" marR="109728" marT="45720" marB="45720" anchor="ctr">
                    <a:solidFill>
                      <a:srgbClr val="A4472B"/>
                    </a:solidFill>
                  </a:tcPr>
                </a:tc>
                <a:tc>
                  <a:txBody>
                    <a:bodyPr/>
                    <a:lstStyle/>
                    <a:p>
                      <a:r>
                        <a:rPr sz="1700" i="0" b="1">
                          <a:solidFill>
                            <a:srgbClr val="FFFFFF"/>
                          </a:solidFill>
                          <a:latin typeface="Calibri"/>
                        </a:rPr>
                        <a:t>Examples</a:t>
                      </a:r>
                    </a:p>
                  </a:txBody>
                  <a:tcPr marL="109728" marR="109728" marT="45720" marB="45720" anchor="ctr">
                    <a:solidFill>
                      <a:srgbClr val="A4472B"/>
                    </a:solidFill>
                  </a:tcPr>
                </a:tc>
                <a:tc>
                  <a:txBody>
                    <a:bodyPr/>
                    <a:lstStyle/>
                    <a:p>
                      <a:r>
                        <a:rPr sz="1700" i="0" b="1">
                          <a:solidFill>
                            <a:srgbClr val="FFFFFF"/>
                          </a:solidFill>
                          <a:latin typeface="Calibri"/>
                        </a:rPr>
                        <a:t>Best for</a:t>
                      </a:r>
                    </a:p>
                  </a:txBody>
                  <a:tcPr marL="109728" marR="109728" marT="45720" marB="45720" anchor="ctr">
                    <a:solidFill>
                      <a:srgbClr val="A4472B"/>
                    </a:solidFill>
                  </a:tcPr>
                </a:tc>
              </a:tr>
              <a:tr h="640080">
                <a:tc>
                  <a:txBody>
                    <a:bodyPr/>
                    <a:lstStyle/>
                    <a:p>
                      <a:r>
                        <a:rPr sz="1800" i="0" b="1">
                          <a:solidFill>
                            <a:srgbClr val="2B211C"/>
                          </a:solidFill>
                          <a:latin typeface="Calibri"/>
                        </a:rPr>
                        <a:t>Tertiary</a:t>
                      </a:r>
                    </a:p>
                  </a:txBody>
                  <a:tcPr marL="109728" marR="109728" marT="45720" marB="45720" anchor="ctr">
                    <a:solidFill>
                      <a:srgbClr val="FFFFFF"/>
                    </a:solidFill>
                  </a:tcPr>
                </a:tc>
                <a:tc>
                  <a:txBody>
                    <a:bodyPr/>
                    <a:lstStyle/>
                    <a:p>
                      <a:r>
                        <a:rPr sz="1800" i="0" b="0">
                          <a:solidFill>
                            <a:srgbClr val="2B211C"/>
                          </a:solidFill>
                          <a:latin typeface="Calibri"/>
                        </a:rPr>
                        <a:t>Summaries written by experts from many studies</a:t>
                      </a:r>
                    </a:p>
                  </a:txBody>
                  <a:tcPr marL="109728" marR="109728" marT="45720" marB="45720" anchor="ctr">
                    <a:solidFill>
                      <a:srgbClr val="FFFFFF"/>
                    </a:solidFill>
                  </a:tcPr>
                </a:tc>
                <a:tc>
                  <a:txBody>
                    <a:bodyPr/>
                    <a:lstStyle/>
                    <a:p>
                      <a:r>
                        <a:rPr sz="1800" i="0" b="0">
                          <a:solidFill>
                            <a:srgbClr val="2B211C"/>
                          </a:solidFill>
                          <a:latin typeface="Calibri"/>
                        </a:rPr>
                        <a:t>Textbooks, BNF, Martindale, Micromedex, Lexicomp, UpToDate, review articles</a:t>
                      </a:r>
                    </a:p>
                  </a:txBody>
                  <a:tcPr marL="109728" marR="109728" marT="45720" marB="45720" anchor="ctr">
                    <a:solidFill>
                      <a:srgbClr val="FFFFFF"/>
                    </a:solidFill>
                  </a:tcPr>
                </a:tc>
                <a:tc>
                  <a:txBody>
                    <a:bodyPr/>
                    <a:lstStyle/>
                    <a:p>
                      <a:r>
                        <a:rPr sz="1800" i="0" b="0">
                          <a:solidFill>
                            <a:srgbClr val="2B211C"/>
                          </a:solidFill>
                          <a:latin typeface="Calibri"/>
                        </a:rPr>
                        <a:t>Fast, general answers</a:t>
                      </a:r>
                    </a:p>
                  </a:txBody>
                  <a:tcPr marL="109728" marR="109728" marT="45720" marB="45720" anchor="ctr">
                    <a:solidFill>
                      <a:srgbClr val="FFFFFF"/>
                    </a:solidFill>
                  </a:tcPr>
                </a:tc>
              </a:tr>
              <a:tr h="640080">
                <a:tc>
                  <a:txBody>
                    <a:bodyPr/>
                    <a:lstStyle/>
                    <a:p>
                      <a:r>
                        <a:rPr sz="1800" i="0" b="1">
                          <a:solidFill>
                            <a:srgbClr val="2B211C"/>
                          </a:solidFill>
                          <a:latin typeface="Calibri"/>
                        </a:rPr>
                        <a:t>Secondary</a:t>
                      </a:r>
                    </a:p>
                  </a:txBody>
                  <a:tcPr marL="109728" marR="109728" marT="45720" marB="45720" anchor="ctr">
                    <a:solidFill>
                      <a:srgbClr val="FAF4F2"/>
                    </a:solidFill>
                  </a:tcPr>
                </a:tc>
                <a:tc>
                  <a:txBody>
                    <a:bodyPr/>
                    <a:lstStyle/>
                    <a:p>
                      <a:r>
                        <a:rPr sz="1800" i="0" b="0">
                          <a:solidFill>
                            <a:srgbClr val="2B211C"/>
                          </a:solidFill>
                          <a:latin typeface="Calibri"/>
                        </a:rPr>
                        <a:t>Databases that index or abstract articles</a:t>
                      </a:r>
                    </a:p>
                  </a:txBody>
                  <a:tcPr marL="109728" marR="109728" marT="45720" marB="45720" anchor="ctr">
                    <a:solidFill>
                      <a:srgbClr val="FAF4F2"/>
                    </a:solidFill>
                  </a:tcPr>
                </a:tc>
                <a:tc>
                  <a:txBody>
                    <a:bodyPr/>
                    <a:lstStyle/>
                    <a:p>
                      <a:r>
                        <a:rPr sz="1800" i="0" b="0">
                          <a:solidFill>
                            <a:srgbClr val="2B211C"/>
                          </a:solidFill>
                          <a:latin typeface="Calibri"/>
                        </a:rPr>
                        <a:t>PubMed/MEDLINE, Embase, Google Scholar</a:t>
                      </a:r>
                    </a:p>
                  </a:txBody>
                  <a:tcPr marL="109728" marR="109728" marT="45720" marB="45720" anchor="ctr">
                    <a:solidFill>
                      <a:srgbClr val="FAF4F2"/>
                    </a:solidFill>
                  </a:tcPr>
                </a:tc>
                <a:tc>
                  <a:txBody>
                    <a:bodyPr/>
                    <a:lstStyle/>
                    <a:p>
                      <a:r>
                        <a:rPr sz="1800" i="0" b="0">
                          <a:solidFill>
                            <a:srgbClr val="2B211C"/>
                          </a:solidFill>
                          <a:latin typeface="Calibri"/>
                        </a:rPr>
                        <a:t>Finding the original studies</a:t>
                      </a:r>
                    </a:p>
                  </a:txBody>
                  <a:tcPr marL="109728" marR="109728" marT="45720" marB="45720" anchor="ctr">
                    <a:solidFill>
                      <a:srgbClr val="FAF4F2"/>
                    </a:solidFill>
                  </a:tcPr>
                </a:tc>
              </a:tr>
              <a:tr h="640080">
                <a:tc>
                  <a:txBody>
                    <a:bodyPr/>
                    <a:lstStyle/>
                    <a:p>
                      <a:r>
                        <a:rPr sz="1800" i="0" b="1">
                          <a:solidFill>
                            <a:srgbClr val="2B211C"/>
                          </a:solidFill>
                          <a:latin typeface="Calibri"/>
                        </a:rPr>
                        <a:t>Primary</a:t>
                      </a:r>
                    </a:p>
                  </a:txBody>
                  <a:tcPr marL="109728" marR="109728" marT="45720" marB="45720" anchor="ctr">
                    <a:solidFill>
                      <a:srgbClr val="FFFFFF"/>
                    </a:solidFill>
                  </a:tcPr>
                </a:tc>
                <a:tc>
                  <a:txBody>
                    <a:bodyPr/>
                    <a:lstStyle/>
                    <a:p>
                      <a:r>
                        <a:rPr sz="1800" i="0" b="0">
                          <a:solidFill>
                            <a:srgbClr val="2B211C"/>
                          </a:solidFill>
                          <a:latin typeface="Calibri"/>
                        </a:rPr>
                        <a:t>The original research itself</a:t>
                      </a:r>
                    </a:p>
                  </a:txBody>
                  <a:tcPr marL="109728" marR="109728" marT="45720" marB="45720" anchor="ctr">
                    <a:solidFill>
                      <a:srgbClr val="FFFFFF"/>
                    </a:solidFill>
                  </a:tcPr>
                </a:tc>
                <a:tc>
                  <a:txBody>
                    <a:bodyPr/>
                    <a:lstStyle/>
                    <a:p>
                      <a:r>
                        <a:rPr sz="1800" i="0" b="0">
                          <a:solidFill>
                            <a:srgbClr val="2B211C"/>
                          </a:solidFill>
                          <a:latin typeface="Calibri"/>
                        </a:rPr>
                        <a:t>Clinical trials, cohort studies, case reports</a:t>
                      </a:r>
                    </a:p>
                  </a:txBody>
                  <a:tcPr marL="109728" marR="109728" marT="45720" marB="45720" anchor="ctr">
                    <a:solidFill>
                      <a:srgbClr val="FFFFFF"/>
                    </a:solidFill>
                  </a:tcPr>
                </a:tc>
                <a:tc>
                  <a:txBody>
                    <a:bodyPr/>
                    <a:lstStyle/>
                    <a:p>
                      <a:r>
                        <a:rPr sz="1800" i="0" b="0">
                          <a:solidFill>
                            <a:srgbClr val="2B211C"/>
                          </a:solidFill>
                          <a:latin typeface="Calibri"/>
                        </a:rPr>
                        <a:t>The newest, most detailed evidence</a:t>
                      </a:r>
                    </a:p>
                  </a:txBody>
                  <a:tcPr marL="109728" marR="109728" marT="45720" marB="45720"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EDEA"/>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A4472B"/>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02</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2F6F7A"/>
                </a:solidFill>
                <a:latin typeface="Calibri"/>
              </a:rPr>
              <a:t>SECTION 2</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A4472B"/>
                </a:solidFill>
                <a:latin typeface="Cambria"/>
              </a:rPr>
              <a:t>Tertiary Sources</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2  ·  Drug Information Sources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06 / 27</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1591056"/>
            <a:ext cx="64008" cy="594360"/>
          </a:xfrm>
          <a:prstGeom prst="roundRect">
            <a:avLst>
              <a:gd name="adj" fmla="val 50000"/>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554480"/>
            <a:ext cx="10865815" cy="795528"/>
          </a:xfrm>
          <a:prstGeom prst="rect">
            <a:avLst/>
          </a:prstGeom>
          <a:noFill/>
        </p:spPr>
        <p:txBody>
          <a:bodyPr wrap="square" anchor="t" lIns="0" rIns="0" tIns="0" bIns="0">
            <a:spAutoFit/>
          </a:bodyPr>
          <a:lstStyle/>
          <a:p>
            <a:pPr>
              <a:spcAft>
                <a:spcPts val="800"/>
              </a:spcAft>
            </a:pPr>
            <a:r>
              <a:rPr sz="1800" i="0" b="0">
                <a:solidFill>
                  <a:srgbClr val="2B211C"/>
                </a:solidFill>
                <a:latin typeface="Calibri"/>
              </a:rPr>
              <a:t>Tertiary sources summarise a topic in a short, easy form. The best ones are written by experts and peer reviewed.</a:t>
            </a:r>
          </a:p>
        </p:txBody>
      </p:sp>
      <p:graphicFrame>
        <p:nvGraphicFramePr>
          <p:cNvPr id="15" name="Table 14"/>
          <p:cNvGraphicFramePr>
            <a:graphicFrameLocks noGrp="1"/>
          </p:cNvGraphicFramePr>
          <p:nvPr/>
        </p:nvGraphicFramePr>
        <p:xfrm>
          <a:off x="548640" y="2532887"/>
          <a:ext cx="11094414" cy="3200400"/>
        </p:xfrm>
        <a:graphic>
          <a:graphicData uri="http://schemas.openxmlformats.org/drawingml/2006/table">
            <a:tbl>
              <a:tblPr firstRow="0" bandRow="0">
                <a:tableStyleId>{5C22544A-7EE6-4342-B048-85BDC9FD1C3A}</a:tableStyleId>
              </a:tblPr>
              <a:tblGrid>
                <a:gridCol w="5438438"/>
                <a:gridCol w="5655976"/>
              </a:tblGrid>
              <a:tr h="640080">
                <a:tc>
                  <a:txBody>
                    <a:bodyPr/>
                    <a:lstStyle/>
                    <a:p>
                      <a:r>
                        <a:rPr sz="1900" i="0" b="1">
                          <a:solidFill>
                            <a:srgbClr val="FFFFFF"/>
                          </a:solidFill>
                          <a:latin typeface="Calibri"/>
                        </a:rPr>
                        <a:t>Advantages</a:t>
                      </a:r>
                    </a:p>
                  </a:txBody>
                  <a:tcPr marL="109728" marR="109728" marT="45720" marB="45720" anchor="ctr">
                    <a:solidFill>
                      <a:srgbClr val="A4472B"/>
                    </a:solidFill>
                  </a:tcPr>
                </a:tc>
                <a:tc>
                  <a:txBody>
                    <a:bodyPr/>
                    <a:lstStyle/>
                    <a:p>
                      <a:r>
                        <a:rPr sz="1900" i="0" b="1">
                          <a:solidFill>
                            <a:srgbClr val="FFFFFF"/>
                          </a:solidFill>
                          <a:latin typeface="Calibri"/>
                        </a:rPr>
                        <a:t>Disadvantages</a:t>
                      </a:r>
                    </a:p>
                  </a:txBody>
                  <a:tcPr marL="109728" marR="109728" marT="45720" marB="45720" anchor="ctr">
                    <a:solidFill>
                      <a:srgbClr val="A4472B"/>
                    </a:solidFill>
                  </a:tcPr>
                </a:tc>
              </a:tr>
              <a:tr h="640080">
                <a:tc>
                  <a:txBody>
                    <a:bodyPr/>
                    <a:lstStyle/>
                    <a:p>
                      <a:r>
                        <a:rPr sz="2000" i="0" b="1">
                          <a:solidFill>
                            <a:srgbClr val="2B211C"/>
                          </a:solidFill>
                          <a:latin typeface="Calibri"/>
                        </a:rPr>
                        <a:t>Complete, short overview</a:t>
                      </a:r>
                    </a:p>
                  </a:txBody>
                  <a:tcPr marL="109728" marR="109728" marT="45720" marB="45720" anchor="ctr">
                    <a:solidFill>
                      <a:srgbClr val="FFFFFF"/>
                    </a:solidFill>
                  </a:tcPr>
                </a:tc>
                <a:tc>
                  <a:txBody>
                    <a:bodyPr/>
                    <a:lstStyle/>
                    <a:p>
                      <a:r>
                        <a:rPr sz="2000" i="0" b="0">
                          <a:solidFill>
                            <a:srgbClr val="2B211C"/>
                          </a:solidFill>
                          <a:latin typeface="Calibri"/>
                        </a:rPr>
                        <a:t>Lag time: print editions can be out of date</a:t>
                      </a:r>
                    </a:p>
                  </a:txBody>
                  <a:tcPr marL="109728" marR="109728" marT="45720" marB="45720" anchor="ctr">
                    <a:solidFill>
                      <a:srgbClr val="FFFFFF"/>
                    </a:solidFill>
                  </a:tcPr>
                </a:tc>
              </a:tr>
              <a:tr h="640080">
                <a:tc>
                  <a:txBody>
                    <a:bodyPr/>
                    <a:lstStyle/>
                    <a:p>
                      <a:r>
                        <a:rPr sz="2000" i="0" b="1">
                          <a:solidFill>
                            <a:srgbClr val="2B211C"/>
                          </a:solidFill>
                          <a:latin typeface="Calibri"/>
                        </a:rPr>
                        <a:t>Convenient and easy to use</a:t>
                      </a:r>
                    </a:p>
                  </a:txBody>
                  <a:tcPr marL="109728" marR="109728" marT="45720" marB="45720" anchor="ctr">
                    <a:solidFill>
                      <a:srgbClr val="FAF4F2"/>
                    </a:solidFill>
                  </a:tcPr>
                </a:tc>
                <a:tc>
                  <a:txBody>
                    <a:bodyPr/>
                    <a:lstStyle/>
                    <a:p>
                      <a:r>
                        <a:rPr sz="2000" i="0" b="0">
                          <a:solidFill>
                            <a:srgbClr val="2B211C"/>
                          </a:solidFill>
                          <a:latin typeface="Calibri"/>
                        </a:rPr>
                        <a:t>Author bias is possible</a:t>
                      </a:r>
                    </a:p>
                  </a:txBody>
                  <a:tcPr marL="109728" marR="109728" marT="45720" marB="45720" anchor="ctr">
                    <a:solidFill>
                      <a:srgbClr val="FAF4F2"/>
                    </a:solidFill>
                  </a:tcPr>
                </a:tc>
              </a:tr>
              <a:tr h="640080">
                <a:tc>
                  <a:txBody>
                    <a:bodyPr/>
                    <a:lstStyle/>
                    <a:p>
                      <a:r>
                        <a:rPr sz="2000" i="0" b="1">
                          <a:solidFill>
                            <a:srgbClr val="2B211C"/>
                          </a:solidFill>
                          <a:latin typeface="Calibri"/>
                        </a:rPr>
                        <a:t>Familiar to most pharmacists</a:t>
                      </a:r>
                    </a:p>
                  </a:txBody>
                  <a:tcPr marL="109728" marR="109728" marT="45720" marB="45720" anchor="ctr">
                    <a:solidFill>
                      <a:srgbClr val="FFFFFF"/>
                    </a:solidFill>
                  </a:tcPr>
                </a:tc>
                <a:tc>
                  <a:txBody>
                    <a:bodyPr/>
                    <a:lstStyle/>
                    <a:p>
                      <a:r>
                        <a:rPr sz="2000" i="0" b="0">
                          <a:solidFill>
                            <a:srgbClr val="2B211C"/>
                          </a:solidFill>
                          <a:latin typeface="Calibri"/>
                        </a:rPr>
                        <a:t>May be incomplete or wrong</a:t>
                      </a:r>
                    </a:p>
                  </a:txBody>
                  <a:tcPr marL="109728" marR="109728" marT="45720" marB="45720" anchor="ctr">
                    <a:solidFill>
                      <a:srgbClr val="FFFFFF"/>
                    </a:solidFill>
                  </a:tcPr>
                </a:tc>
              </a:tr>
              <a:tr h="640080">
                <a:tc>
                  <a:txBody>
                    <a:bodyPr/>
                    <a:lstStyle/>
                    <a:p>
                      <a:r>
                        <a:rPr sz="2000" i="0" b="1">
                          <a:solidFill>
                            <a:srgbClr val="2B211C"/>
                          </a:solidFill>
                          <a:latin typeface="Calibri"/>
                        </a:rPr>
                        <a:t>Online versions are fast and updated often</a:t>
                      </a:r>
                    </a:p>
                  </a:txBody>
                  <a:tcPr marL="109728" marR="109728" marT="45720" marB="45720" anchor="ctr">
                    <a:solidFill>
                      <a:srgbClr val="FAF4F2"/>
                    </a:solidFill>
                  </a:tcPr>
                </a:tc>
                <a:tc>
                  <a:txBody>
                    <a:bodyPr/>
                    <a:lstStyle/>
                    <a:p>
                      <a:r>
                        <a:rPr sz="2000" i="0" b="0">
                          <a:solidFill>
                            <a:srgbClr val="2B211C"/>
                          </a:solidFill>
                          <a:latin typeface="Calibri"/>
                        </a:rPr>
                        <a:t>Access to good databases usually costs money</a:t>
                      </a:r>
                    </a:p>
                  </a:txBody>
                  <a:tcPr marL="109728" marR="109728" marT="45720" marB="45720" anchor="ctr">
                    <a:solidFill>
                      <a:srgbClr val="FAF4F2"/>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EDEA"/>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A4472B"/>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02</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2F6F7A"/>
                </a:solidFill>
                <a:latin typeface="Calibri"/>
              </a:rPr>
              <a:t>SECTION 2</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A4472B"/>
                </a:solidFill>
                <a:latin typeface="Cambria"/>
              </a:rPr>
              <a:t>How to judge a tertiary source</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2  ·  Drug Information Sources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07 / 27</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157276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14" name="TextBox 13"/>
          <p:cNvSpPr txBox="1"/>
          <p:nvPr/>
        </p:nvSpPr>
        <p:spPr>
          <a:xfrm>
            <a:off x="1143000" y="1591056"/>
            <a:ext cx="10500055" cy="723900"/>
          </a:xfrm>
          <a:prstGeom prst="rect">
            <a:avLst/>
          </a:prstGeom>
          <a:noFill/>
        </p:spPr>
        <p:txBody>
          <a:bodyPr wrap="square" anchor="t" lIns="0" rIns="0" tIns="0" bIns="0">
            <a:spAutoFit/>
          </a:bodyPr>
          <a:lstStyle/>
          <a:p>
            <a:r>
              <a:rPr sz="2100" i="0" b="0">
                <a:solidFill>
                  <a:srgbClr val="2B211C"/>
                </a:solidFill>
                <a:latin typeface="Calibri"/>
              </a:rPr>
              <a:t>Does the author have the right expertise?</a:t>
            </a:r>
          </a:p>
        </p:txBody>
      </p:sp>
      <p:sp>
        <p:nvSpPr>
          <p:cNvPr id="15" name="Oval 14"/>
          <p:cNvSpPr/>
          <p:nvPr/>
        </p:nvSpPr>
        <p:spPr>
          <a:xfrm>
            <a:off x="548640" y="234238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6" name="TextBox 15"/>
          <p:cNvSpPr txBox="1"/>
          <p:nvPr/>
        </p:nvSpPr>
        <p:spPr>
          <a:xfrm>
            <a:off x="1143000" y="2360676"/>
            <a:ext cx="10500055" cy="723900"/>
          </a:xfrm>
          <a:prstGeom prst="rect">
            <a:avLst/>
          </a:prstGeom>
          <a:noFill/>
        </p:spPr>
        <p:txBody>
          <a:bodyPr wrap="square" anchor="t" lIns="0" rIns="0" tIns="0" bIns="0">
            <a:spAutoFit/>
          </a:bodyPr>
          <a:lstStyle/>
          <a:p>
            <a:r>
              <a:rPr sz="2100" i="0" b="0">
                <a:solidFill>
                  <a:srgbClr val="2B211C"/>
                </a:solidFill>
                <a:latin typeface="Calibri"/>
              </a:rPr>
              <a:t>Is it recent enough for the question?</a:t>
            </a:r>
          </a:p>
        </p:txBody>
      </p:sp>
      <p:sp>
        <p:nvSpPr>
          <p:cNvPr id="17" name="Oval 16"/>
          <p:cNvSpPr/>
          <p:nvPr/>
        </p:nvSpPr>
        <p:spPr>
          <a:xfrm>
            <a:off x="548640" y="311200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3</a:t>
            </a:r>
          </a:p>
        </p:txBody>
      </p:sp>
      <p:sp>
        <p:nvSpPr>
          <p:cNvPr id="18" name="TextBox 17"/>
          <p:cNvSpPr txBox="1"/>
          <p:nvPr/>
        </p:nvSpPr>
        <p:spPr>
          <a:xfrm>
            <a:off x="1143000" y="3130296"/>
            <a:ext cx="10500055" cy="723900"/>
          </a:xfrm>
          <a:prstGeom prst="rect">
            <a:avLst/>
          </a:prstGeom>
          <a:noFill/>
        </p:spPr>
        <p:txBody>
          <a:bodyPr wrap="square" anchor="t" lIns="0" rIns="0" tIns="0" bIns="0">
            <a:spAutoFit/>
          </a:bodyPr>
          <a:lstStyle/>
          <a:p>
            <a:r>
              <a:rPr sz="2100" i="0" b="0">
                <a:solidFill>
                  <a:srgbClr val="2B211C"/>
                </a:solidFill>
                <a:latin typeface="Calibri"/>
              </a:rPr>
              <a:t>Are statements supported by references?</a:t>
            </a:r>
          </a:p>
        </p:txBody>
      </p:sp>
      <p:sp>
        <p:nvSpPr>
          <p:cNvPr id="19" name="Oval 18"/>
          <p:cNvSpPr/>
          <p:nvPr/>
        </p:nvSpPr>
        <p:spPr>
          <a:xfrm>
            <a:off x="548640" y="3881627"/>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4</a:t>
            </a:r>
          </a:p>
        </p:txBody>
      </p:sp>
      <p:sp>
        <p:nvSpPr>
          <p:cNvPr id="20" name="TextBox 19"/>
          <p:cNvSpPr txBox="1"/>
          <p:nvPr/>
        </p:nvSpPr>
        <p:spPr>
          <a:xfrm>
            <a:off x="1143000" y="3899915"/>
            <a:ext cx="10500055" cy="723900"/>
          </a:xfrm>
          <a:prstGeom prst="rect">
            <a:avLst/>
          </a:prstGeom>
          <a:noFill/>
        </p:spPr>
        <p:txBody>
          <a:bodyPr wrap="square" anchor="t" lIns="0" rIns="0" tIns="0" bIns="0">
            <a:spAutoFit/>
          </a:bodyPr>
          <a:lstStyle/>
          <a:p>
            <a:r>
              <a:rPr sz="2100" i="0" b="0">
                <a:solidFill>
                  <a:srgbClr val="2B211C"/>
                </a:solidFill>
                <a:latin typeface="Calibri"/>
              </a:rPr>
              <a:t>Does it cover the question?</a:t>
            </a:r>
          </a:p>
        </p:txBody>
      </p:sp>
      <p:sp>
        <p:nvSpPr>
          <p:cNvPr id="21" name="Oval 20"/>
          <p:cNvSpPr/>
          <p:nvPr/>
        </p:nvSpPr>
        <p:spPr>
          <a:xfrm>
            <a:off x="548640" y="4651247"/>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5</a:t>
            </a:r>
          </a:p>
        </p:txBody>
      </p:sp>
      <p:sp>
        <p:nvSpPr>
          <p:cNvPr id="22" name="TextBox 21"/>
          <p:cNvSpPr txBox="1"/>
          <p:nvPr/>
        </p:nvSpPr>
        <p:spPr>
          <a:xfrm>
            <a:off x="1143000" y="4669536"/>
            <a:ext cx="10500055" cy="723900"/>
          </a:xfrm>
          <a:prstGeom prst="rect">
            <a:avLst/>
          </a:prstGeom>
          <a:noFill/>
        </p:spPr>
        <p:txBody>
          <a:bodyPr wrap="square" anchor="t" lIns="0" rIns="0" tIns="0" bIns="0">
            <a:spAutoFit/>
          </a:bodyPr>
          <a:lstStyle/>
          <a:p>
            <a:r>
              <a:rPr sz="2100" i="0" b="0">
                <a:solidFill>
                  <a:srgbClr val="2B211C"/>
                </a:solidFill>
                <a:latin typeface="Calibri"/>
              </a:rPr>
              <a:t>Is it free of obvious bias or errors?</a:t>
            </a:r>
          </a:p>
        </p:txBody>
      </p:sp>
      <p:sp>
        <p:nvSpPr>
          <p:cNvPr id="23" name="Oval 22"/>
          <p:cNvSpPr/>
          <p:nvPr/>
        </p:nvSpPr>
        <p:spPr>
          <a:xfrm>
            <a:off x="548640" y="5420867"/>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6</a:t>
            </a:r>
          </a:p>
        </p:txBody>
      </p:sp>
      <p:sp>
        <p:nvSpPr>
          <p:cNvPr id="24" name="TextBox 23"/>
          <p:cNvSpPr txBox="1"/>
          <p:nvPr/>
        </p:nvSpPr>
        <p:spPr>
          <a:xfrm>
            <a:off x="1143000" y="5439156"/>
            <a:ext cx="10500055" cy="723900"/>
          </a:xfrm>
          <a:prstGeom prst="rect">
            <a:avLst/>
          </a:prstGeom>
          <a:noFill/>
        </p:spPr>
        <p:txBody>
          <a:bodyPr wrap="square" anchor="t" lIns="0" rIns="0" tIns="0" bIns="0">
            <a:spAutoFit/>
          </a:bodyPr>
          <a:lstStyle/>
          <a:p>
            <a:r>
              <a:rPr sz="2100" i="0" b="0">
                <a:solidFill>
                  <a:srgbClr val="2B211C"/>
                </a:solidFill>
                <a:latin typeface="Calibri"/>
              </a:rPr>
              <a:t>Is it clear and easy to use?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EDEA"/>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A4472B"/>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02</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2F6F7A"/>
                </a:solidFill>
                <a:latin typeface="Calibri"/>
              </a:rPr>
              <a:t>SECTION 2</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A4472B"/>
                </a:solidFill>
                <a:latin typeface="Cambria"/>
              </a:rPr>
              <a:t>Which reference for which question? (1/2)</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2  ·  Drug Information Sources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08 / 27</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48640" y="1554480"/>
          <a:ext cx="11094414" cy="4617720"/>
        </p:xfrm>
        <a:graphic>
          <a:graphicData uri="http://schemas.openxmlformats.org/drawingml/2006/table">
            <a:tbl>
              <a:tblPr firstRow="0" bandRow="0">
                <a:tableStyleId>{5C22544A-7EE6-4342-B048-85BDC9FD1C3A}</a:tableStyleId>
              </a:tblPr>
              <a:tblGrid>
                <a:gridCol w="4568288"/>
                <a:gridCol w="6526126"/>
              </a:tblGrid>
              <a:tr h="577215">
                <a:tc>
                  <a:txBody>
                    <a:bodyPr/>
                    <a:lstStyle/>
                    <a:p>
                      <a:r>
                        <a:rPr sz="1700" i="0" b="1">
                          <a:solidFill>
                            <a:srgbClr val="FFFFFF"/>
                          </a:solidFill>
                          <a:latin typeface="Calibri"/>
                        </a:rPr>
                        <a:t>Question type</a:t>
                      </a:r>
                    </a:p>
                  </a:txBody>
                  <a:tcPr marL="109728" marR="109728" marT="45720" marB="45720" anchor="ctr">
                    <a:solidFill>
                      <a:srgbClr val="A4472B"/>
                    </a:solidFill>
                  </a:tcPr>
                </a:tc>
                <a:tc>
                  <a:txBody>
                    <a:bodyPr/>
                    <a:lstStyle/>
                    <a:p>
                      <a:r>
                        <a:rPr sz="1700" i="0" b="1">
                          <a:solidFill>
                            <a:srgbClr val="FFFFFF"/>
                          </a:solidFill>
                          <a:latin typeface="Calibri"/>
                        </a:rPr>
                        <a:t>Good tertiary sources</a:t>
                      </a:r>
                    </a:p>
                  </a:txBody>
                  <a:tcPr marL="109728" marR="109728" marT="45720" marB="45720" anchor="ctr">
                    <a:solidFill>
                      <a:srgbClr val="A4472B"/>
                    </a:solidFill>
                  </a:tcPr>
                </a:tc>
              </a:tr>
              <a:tr h="577215">
                <a:tc>
                  <a:txBody>
                    <a:bodyPr/>
                    <a:lstStyle/>
                    <a:p>
                      <a:r>
                        <a:rPr sz="1800" i="0" b="1">
                          <a:solidFill>
                            <a:srgbClr val="2B211C"/>
                          </a:solidFill>
                          <a:latin typeface="Calibri"/>
                        </a:rPr>
                        <a:t>General product information, doses</a:t>
                      </a:r>
                    </a:p>
                  </a:txBody>
                  <a:tcPr marL="109728" marR="109728" marT="45720" marB="45720" anchor="ctr">
                    <a:solidFill>
                      <a:srgbClr val="FFFFFF"/>
                    </a:solidFill>
                  </a:tcPr>
                </a:tc>
                <a:tc>
                  <a:txBody>
                    <a:bodyPr/>
                    <a:lstStyle/>
                    <a:p>
                      <a:r>
                        <a:rPr sz="1800" i="0" b="0">
                          <a:solidFill>
                            <a:srgbClr val="2B211C"/>
                          </a:solidFill>
                          <a:latin typeface="Calibri"/>
                        </a:rPr>
                        <a:t>BNF, Martindale, AHFS Drug Information, Lexicomp</a:t>
                      </a:r>
                    </a:p>
                  </a:txBody>
                  <a:tcPr marL="109728" marR="109728" marT="45720" marB="45720" anchor="ctr">
                    <a:solidFill>
                      <a:srgbClr val="FFFFFF"/>
                    </a:solidFill>
                  </a:tcPr>
                </a:tc>
              </a:tr>
              <a:tr h="577215">
                <a:tc>
                  <a:txBody>
                    <a:bodyPr/>
                    <a:lstStyle/>
                    <a:p>
                      <a:r>
                        <a:rPr sz="1800" i="0" b="1">
                          <a:solidFill>
                            <a:srgbClr val="2B211C"/>
                          </a:solidFill>
                          <a:latin typeface="Calibri"/>
                        </a:rPr>
                        <a:t>Adverse effects</a:t>
                      </a:r>
                    </a:p>
                  </a:txBody>
                  <a:tcPr marL="109728" marR="109728" marT="45720" marB="45720" anchor="ctr">
                    <a:solidFill>
                      <a:srgbClr val="FAF4F2"/>
                    </a:solidFill>
                  </a:tcPr>
                </a:tc>
                <a:tc>
                  <a:txBody>
                    <a:bodyPr/>
                    <a:lstStyle/>
                    <a:p>
                      <a:r>
                        <a:rPr sz="1800" i="0" b="0">
                          <a:solidFill>
                            <a:srgbClr val="2B211C"/>
                          </a:solidFill>
                          <a:latin typeface="Calibri"/>
                        </a:rPr>
                        <a:t>Meyler's Side Effects of Drugs, Micromedex</a:t>
                      </a:r>
                    </a:p>
                  </a:txBody>
                  <a:tcPr marL="109728" marR="109728" marT="45720" marB="45720" anchor="ctr">
                    <a:solidFill>
                      <a:srgbClr val="FAF4F2"/>
                    </a:solidFill>
                  </a:tcPr>
                </a:tc>
              </a:tr>
              <a:tr h="577215">
                <a:tc>
                  <a:txBody>
                    <a:bodyPr/>
                    <a:lstStyle/>
                    <a:p>
                      <a:r>
                        <a:rPr sz="1800" i="0" b="1">
                          <a:solidFill>
                            <a:srgbClr val="2B211C"/>
                          </a:solidFill>
                          <a:latin typeface="Calibri"/>
                        </a:rPr>
                        <a:t>Drug interactions</a:t>
                      </a:r>
                    </a:p>
                  </a:txBody>
                  <a:tcPr marL="109728" marR="109728" marT="45720" marB="45720" anchor="ctr">
                    <a:solidFill>
                      <a:srgbClr val="FFFFFF"/>
                    </a:solidFill>
                  </a:tcPr>
                </a:tc>
                <a:tc>
                  <a:txBody>
                    <a:bodyPr/>
                    <a:lstStyle/>
                    <a:p>
                      <a:r>
                        <a:rPr sz="1800" i="0" b="0">
                          <a:solidFill>
                            <a:srgbClr val="2B211C"/>
                          </a:solidFill>
                          <a:latin typeface="Calibri"/>
                        </a:rPr>
                        <a:t>Stockley's Drug Interactions, Lexicomp Interactions</a:t>
                      </a:r>
                    </a:p>
                  </a:txBody>
                  <a:tcPr marL="109728" marR="109728" marT="45720" marB="45720" anchor="ctr">
                    <a:solidFill>
                      <a:srgbClr val="FFFFFF"/>
                    </a:solidFill>
                  </a:tcPr>
                </a:tc>
              </a:tr>
              <a:tr h="577215">
                <a:tc>
                  <a:txBody>
                    <a:bodyPr/>
                    <a:lstStyle/>
                    <a:p>
                      <a:r>
                        <a:rPr sz="1800" i="0" b="1">
                          <a:solidFill>
                            <a:srgbClr val="2B211C"/>
                          </a:solidFill>
                          <a:latin typeface="Calibri"/>
                        </a:rPr>
                        <a:t>Pregnancy and breastfeeding</a:t>
                      </a:r>
                    </a:p>
                  </a:txBody>
                  <a:tcPr marL="109728" marR="109728" marT="45720" marB="45720" anchor="ctr">
                    <a:solidFill>
                      <a:srgbClr val="FAF4F2"/>
                    </a:solidFill>
                  </a:tcPr>
                </a:tc>
                <a:tc>
                  <a:txBody>
                    <a:bodyPr/>
                    <a:lstStyle/>
                    <a:p>
                      <a:r>
                        <a:rPr sz="1800" i="0" b="0">
                          <a:solidFill>
                            <a:srgbClr val="2B211C"/>
                          </a:solidFill>
                          <a:latin typeface="Calibri"/>
                        </a:rPr>
                        <a:t>Briggs' Drugs in Pregnancy and Lactation, LactMed</a:t>
                      </a:r>
                    </a:p>
                  </a:txBody>
                  <a:tcPr marL="109728" marR="109728" marT="45720" marB="45720" anchor="ctr">
                    <a:solidFill>
                      <a:srgbClr val="FAF4F2"/>
                    </a:solidFill>
                  </a:tcPr>
                </a:tc>
              </a:tr>
              <a:tr h="577215">
                <a:tc>
                  <a:txBody>
                    <a:bodyPr/>
                    <a:lstStyle/>
                    <a:p>
                      <a:r>
                        <a:rPr sz="1800" i="0" b="1">
                          <a:solidFill>
                            <a:srgbClr val="2B211C"/>
                          </a:solidFill>
                          <a:latin typeface="Calibri"/>
                        </a:rPr>
                        <a:t>Children</a:t>
                      </a:r>
                    </a:p>
                  </a:txBody>
                  <a:tcPr marL="109728" marR="109728" marT="45720" marB="45720" anchor="ctr">
                    <a:solidFill>
                      <a:srgbClr val="FFFFFF"/>
                    </a:solidFill>
                  </a:tcPr>
                </a:tc>
                <a:tc>
                  <a:txBody>
                    <a:bodyPr/>
                    <a:lstStyle/>
                    <a:p>
                      <a:r>
                        <a:rPr sz="1800" i="0" b="0">
                          <a:solidFill>
                            <a:srgbClr val="2B211C"/>
                          </a:solidFill>
                          <a:latin typeface="Calibri"/>
                        </a:rPr>
                        <a:t>BNF for Children</a:t>
                      </a:r>
                    </a:p>
                  </a:txBody>
                  <a:tcPr marL="109728" marR="109728" marT="45720" marB="45720" anchor="ctr">
                    <a:solidFill>
                      <a:srgbClr val="FFFFFF"/>
                    </a:solidFill>
                  </a:tcPr>
                </a:tc>
              </a:tr>
              <a:tr h="577215">
                <a:tc>
                  <a:txBody>
                    <a:bodyPr/>
                    <a:lstStyle/>
                    <a:p>
                      <a:r>
                        <a:rPr sz="1800" i="0" b="1">
                          <a:solidFill>
                            <a:srgbClr val="2B211C"/>
                          </a:solidFill>
                          <a:latin typeface="Calibri"/>
                        </a:rPr>
                        <a:t>Older adults</a:t>
                      </a:r>
                    </a:p>
                  </a:txBody>
                  <a:tcPr marL="109728" marR="109728" marT="45720" marB="45720" anchor="ctr">
                    <a:solidFill>
                      <a:srgbClr val="FAF4F2"/>
                    </a:solidFill>
                  </a:tcPr>
                </a:tc>
                <a:tc>
                  <a:txBody>
                    <a:bodyPr/>
                    <a:lstStyle/>
                    <a:p>
                      <a:r>
                        <a:rPr sz="1800" i="0" b="0">
                          <a:solidFill>
                            <a:srgbClr val="2B211C"/>
                          </a:solidFill>
                          <a:latin typeface="Calibri"/>
                        </a:rPr>
                        <a:t>Beers Criteria (American Geriatrics Society)</a:t>
                      </a:r>
                    </a:p>
                  </a:txBody>
                  <a:tcPr marL="109728" marR="109728" marT="45720" marB="45720" anchor="ctr">
                    <a:solidFill>
                      <a:srgbClr val="FAF4F2"/>
                    </a:solidFill>
                  </a:tcPr>
                </a:tc>
              </a:tr>
              <a:tr h="577215">
                <a:tc>
                  <a:txBody>
                    <a:bodyPr/>
                    <a:lstStyle/>
                    <a:p>
                      <a:r>
                        <a:rPr sz="1800" i="0" b="1">
                          <a:solidFill>
                            <a:srgbClr val="2B211C"/>
                          </a:solidFill>
                          <a:latin typeface="Calibri"/>
                        </a:rPr>
                        <a:t>Herbal and dietary supplements</a:t>
                      </a:r>
                    </a:p>
                  </a:txBody>
                  <a:tcPr marL="109728" marR="109728" marT="45720" marB="45720" anchor="ctr">
                    <a:solidFill>
                      <a:srgbClr val="FFFFFF"/>
                    </a:solidFill>
                  </a:tcPr>
                </a:tc>
                <a:tc>
                  <a:txBody>
                    <a:bodyPr/>
                    <a:lstStyle/>
                    <a:p>
                      <a:r>
                        <a:rPr sz="1800" i="0" b="0">
                          <a:solidFill>
                            <a:srgbClr val="2B211C"/>
                          </a:solidFill>
                          <a:latin typeface="Calibri"/>
                        </a:rPr>
                        <a:t>Natural Medicines database</a:t>
                      </a:r>
                    </a:p>
                  </a:txBody>
                  <a:tcPr marL="109728" marR="109728" marT="45720" marB="45720"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EDEA"/>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A4472B"/>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02</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2F6F7A"/>
                </a:solidFill>
                <a:latin typeface="Calibri"/>
              </a:rPr>
              <a:t>SECTION 2</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A4472B"/>
                </a:solidFill>
                <a:latin typeface="Cambria"/>
              </a:rPr>
              <a:t>Which reference for which question? (2/2)</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2  ·  Drug Information Sources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09 / 27</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48640" y="1554480"/>
          <a:ext cx="11094414" cy="2560320"/>
        </p:xfrm>
        <a:graphic>
          <a:graphicData uri="http://schemas.openxmlformats.org/drawingml/2006/table">
            <a:tbl>
              <a:tblPr firstRow="0" bandRow="0">
                <a:tableStyleId>{5C22544A-7EE6-4342-B048-85BDC9FD1C3A}</a:tableStyleId>
              </a:tblPr>
              <a:tblGrid>
                <a:gridCol w="4459519"/>
                <a:gridCol w="6634895"/>
              </a:tblGrid>
              <a:tr h="640080">
                <a:tc>
                  <a:txBody>
                    <a:bodyPr/>
                    <a:lstStyle/>
                    <a:p>
                      <a:r>
                        <a:rPr sz="1900" i="0" b="1">
                          <a:solidFill>
                            <a:srgbClr val="FFFFFF"/>
                          </a:solidFill>
                          <a:latin typeface="Calibri"/>
                        </a:rPr>
                        <a:t>Question type</a:t>
                      </a:r>
                    </a:p>
                  </a:txBody>
                  <a:tcPr marL="109728" marR="109728" marT="45720" marB="45720" anchor="ctr">
                    <a:solidFill>
                      <a:srgbClr val="A4472B"/>
                    </a:solidFill>
                  </a:tcPr>
                </a:tc>
                <a:tc>
                  <a:txBody>
                    <a:bodyPr/>
                    <a:lstStyle/>
                    <a:p>
                      <a:r>
                        <a:rPr sz="1900" i="0" b="1">
                          <a:solidFill>
                            <a:srgbClr val="FFFFFF"/>
                          </a:solidFill>
                          <a:latin typeface="Calibri"/>
                        </a:rPr>
                        <a:t>Good tertiary sources</a:t>
                      </a:r>
                    </a:p>
                  </a:txBody>
                  <a:tcPr marL="109728" marR="109728" marT="45720" marB="45720" anchor="ctr">
                    <a:solidFill>
                      <a:srgbClr val="A4472B"/>
                    </a:solidFill>
                  </a:tcPr>
                </a:tc>
              </a:tr>
              <a:tr h="640080">
                <a:tc>
                  <a:txBody>
                    <a:bodyPr/>
                    <a:lstStyle/>
                    <a:p>
                      <a:r>
                        <a:rPr sz="2000" i="0" b="1">
                          <a:solidFill>
                            <a:srgbClr val="2B211C"/>
                          </a:solidFill>
                          <a:latin typeface="Calibri"/>
                        </a:rPr>
                        <a:t>IV compatibility and formulations</a:t>
                      </a:r>
                    </a:p>
                  </a:txBody>
                  <a:tcPr marL="109728" marR="109728" marT="45720" marB="45720" anchor="ctr">
                    <a:solidFill>
                      <a:srgbClr val="FFFFFF"/>
                    </a:solidFill>
                  </a:tcPr>
                </a:tc>
                <a:tc>
                  <a:txBody>
                    <a:bodyPr/>
                    <a:lstStyle/>
                    <a:p>
                      <a:r>
                        <a:rPr sz="2000" i="0" b="0">
                          <a:solidFill>
                            <a:srgbClr val="2B211C"/>
                          </a:solidFill>
                          <a:latin typeface="Calibri"/>
                        </a:rPr>
                        <a:t>Trissel's Handbook on Injectable Drugs</a:t>
                      </a:r>
                    </a:p>
                  </a:txBody>
                  <a:tcPr marL="109728" marR="109728" marT="45720" marB="45720" anchor="ctr">
                    <a:solidFill>
                      <a:srgbClr val="FFFFFF"/>
                    </a:solidFill>
                  </a:tcPr>
                </a:tc>
              </a:tr>
              <a:tr h="640080">
                <a:tc>
                  <a:txBody>
                    <a:bodyPr/>
                    <a:lstStyle/>
                    <a:p>
                      <a:r>
                        <a:rPr sz="2000" i="0" b="1">
                          <a:solidFill>
                            <a:srgbClr val="2B211C"/>
                          </a:solidFill>
                          <a:latin typeface="Calibri"/>
                        </a:rPr>
                        <a:t>Pharmacokinetics, toxicology</a:t>
                      </a:r>
                    </a:p>
                  </a:txBody>
                  <a:tcPr marL="109728" marR="109728" marT="45720" marB="45720" anchor="ctr">
                    <a:solidFill>
                      <a:srgbClr val="FAF4F2"/>
                    </a:solidFill>
                  </a:tcPr>
                </a:tc>
                <a:tc>
                  <a:txBody>
                    <a:bodyPr/>
                    <a:lstStyle/>
                    <a:p>
                      <a:r>
                        <a:rPr sz="2000" i="0" b="0">
                          <a:solidFill>
                            <a:srgbClr val="2B211C"/>
                          </a:solidFill>
                          <a:latin typeface="Calibri"/>
                        </a:rPr>
                        <a:t>Goodman &amp; Gilman, Goldfrank's Toxicologic Emergencies</a:t>
                      </a:r>
                    </a:p>
                  </a:txBody>
                  <a:tcPr marL="109728" marR="109728" marT="45720" marB="45720" anchor="ctr">
                    <a:solidFill>
                      <a:srgbClr val="FAF4F2"/>
                    </a:solidFill>
                  </a:tcPr>
                </a:tc>
              </a:tr>
              <a:tr h="640080">
                <a:tc>
                  <a:txBody>
                    <a:bodyPr/>
                    <a:lstStyle/>
                    <a:p>
                      <a:r>
                        <a:rPr sz="2000" i="0" b="1">
                          <a:solidFill>
                            <a:srgbClr val="2B211C"/>
                          </a:solidFill>
                          <a:latin typeface="Calibri"/>
                        </a:rPr>
                        <a:t>Official product labelling</a:t>
                      </a:r>
                    </a:p>
                  </a:txBody>
                  <a:tcPr marL="109728" marR="109728" marT="45720" marB="45720" anchor="ctr">
                    <a:solidFill>
                      <a:srgbClr val="FFFFFF"/>
                    </a:solidFill>
                  </a:tcPr>
                </a:tc>
                <a:tc>
                  <a:txBody>
                    <a:bodyPr/>
                    <a:lstStyle/>
                    <a:p>
                      <a:r>
                        <a:rPr sz="2000" i="0" b="0">
                          <a:solidFill>
                            <a:srgbClr val="2B211C"/>
                          </a:solidFill>
                          <a:latin typeface="Calibri"/>
                        </a:rPr>
                        <a:t>DailyMed, Drugs@FDA, EDA product information</a:t>
                      </a:r>
                    </a:p>
                  </a:txBody>
                  <a:tcPr marL="109728" marR="109728" marT="45720" marB="45720"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EDEA"/>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A4472B"/>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02</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2F6F7A"/>
                </a:solidFill>
                <a:latin typeface="Calibri"/>
              </a:rPr>
              <a:t>SECTION 2</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A4472B"/>
                </a:solidFill>
                <a:latin typeface="Cambria"/>
              </a:rPr>
              <a:t>Tertiary Sources</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2  ·  Drug Information Sources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10 / 27</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645919" y="2103120"/>
            <a:ext cx="8899855" cy="2431288"/>
          </a:xfrm>
          <a:prstGeom prst="roundRect">
            <a:avLst>
              <a:gd name="adj" fmla="val 6000"/>
            </a:avLst>
          </a:prstGeom>
          <a:solidFill>
            <a:srgbClr val="FBEAEA">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965960" y="2167127"/>
            <a:ext cx="825977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920239" y="2331720"/>
            <a:ext cx="1074420" cy="347472"/>
          </a:xfrm>
          <a:prstGeom prst="roundRect">
            <a:avLst>
              <a:gd name="adj" fmla="val 50000"/>
            </a:avLst>
          </a:prstGeom>
          <a:solidFill>
            <a:srgbClr val="B3261E"/>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CAUTION</a:t>
            </a:r>
          </a:p>
        </p:txBody>
      </p:sp>
      <p:sp>
        <p:nvSpPr>
          <p:cNvPr id="16" name="TextBox 15"/>
          <p:cNvSpPr txBox="1"/>
          <p:nvPr/>
        </p:nvSpPr>
        <p:spPr>
          <a:xfrm>
            <a:off x="1920239" y="2788920"/>
            <a:ext cx="8351215" cy="1562608"/>
          </a:xfrm>
          <a:prstGeom prst="rect">
            <a:avLst/>
          </a:prstGeom>
          <a:noFill/>
        </p:spPr>
        <p:txBody>
          <a:bodyPr wrap="square" anchor="t" lIns="0" rIns="0" tIns="0" bIns="0">
            <a:spAutoFit/>
          </a:bodyPr>
          <a:lstStyle/>
          <a:p>
            <a:pPr>
              <a:spcBef>
                <a:spcPts val="0"/>
              </a:spcBef>
            </a:pPr>
            <a:r>
              <a:rPr sz="2200" i="0" b="0">
                <a:solidFill>
                  <a:srgbClr val="2B211C"/>
                </a:solidFill>
                <a:latin typeface="Calibri"/>
              </a:rPr>
              <a:t>Official labelling (the leaflet, DailyMed, Drugs@FDA) is not a summary of all evidence. It is the approved product information. Use it for licensed doses and warnings. TOXNET, found in older notes, was closed in 2019.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EDEA"/>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A4472B"/>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02</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2F6F7A"/>
                </a:solidFill>
                <a:latin typeface="Calibri"/>
              </a:rPr>
              <a:t>SECTION 2</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A4472B"/>
                </a:solidFill>
                <a:latin typeface="Cambria"/>
              </a:rPr>
              <a:t>Secondary Sources</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2  ·  Drug Information Sources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11 / 27</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1591056"/>
            <a:ext cx="64008" cy="594360"/>
          </a:xfrm>
          <a:prstGeom prst="roundRect">
            <a:avLst>
              <a:gd name="adj" fmla="val 50000"/>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554480"/>
            <a:ext cx="10865815" cy="795528"/>
          </a:xfrm>
          <a:prstGeom prst="rect">
            <a:avLst/>
          </a:prstGeom>
          <a:noFill/>
        </p:spPr>
        <p:txBody>
          <a:bodyPr wrap="square" anchor="t" lIns="0" rIns="0" tIns="0" bIns="0">
            <a:spAutoFit/>
          </a:bodyPr>
          <a:lstStyle/>
          <a:p>
            <a:pPr>
              <a:spcAft>
                <a:spcPts val="800"/>
              </a:spcAft>
            </a:pPr>
            <a:r>
              <a:rPr sz="1800" i="0" b="0">
                <a:solidFill>
                  <a:srgbClr val="2B211C"/>
                </a:solidFill>
                <a:latin typeface="Calibri"/>
              </a:rPr>
              <a:t>Secondary sources are </a:t>
            </a:r>
            <a:r>
              <a:rPr sz="1800" i="0" b="1">
                <a:solidFill>
                  <a:srgbClr val="2B211C"/>
                </a:solidFill>
                <a:latin typeface="Calibri"/>
              </a:rPr>
              <a:t>indexing</a:t>
            </a:r>
            <a:r>
              <a:rPr sz="1800" i="0" b="0">
                <a:solidFill>
                  <a:srgbClr val="2B211C"/>
                </a:solidFill>
                <a:latin typeface="Calibri"/>
              </a:rPr>
              <a:t> or </a:t>
            </a:r>
            <a:r>
              <a:rPr sz="1800" i="0" b="1">
                <a:solidFill>
                  <a:srgbClr val="2B211C"/>
                </a:solidFill>
                <a:latin typeface="Calibri"/>
              </a:rPr>
              <a:t>abstracting</a:t>
            </a:r>
            <a:r>
              <a:rPr sz="1800" i="0" b="0">
                <a:solidFill>
                  <a:srgbClr val="2B211C"/>
                </a:solidFill>
                <a:latin typeface="Calibri"/>
              </a:rPr>
              <a:t> databases. Indexing gives the citation. Abstracting also gives the abstract. Many link to the full text.</a:t>
            </a:r>
          </a:p>
        </p:txBody>
      </p:sp>
      <p:graphicFrame>
        <p:nvGraphicFramePr>
          <p:cNvPr id="15" name="Table 14"/>
          <p:cNvGraphicFramePr>
            <a:graphicFrameLocks noGrp="1"/>
          </p:cNvGraphicFramePr>
          <p:nvPr/>
        </p:nvGraphicFramePr>
        <p:xfrm>
          <a:off x="548640" y="2532887"/>
          <a:ext cx="11094414" cy="2560320"/>
        </p:xfrm>
        <a:graphic>
          <a:graphicData uri="http://schemas.openxmlformats.org/drawingml/2006/table">
            <a:tbl>
              <a:tblPr firstRow="0" bandRow="0">
                <a:tableStyleId>{5C22544A-7EE6-4342-B048-85BDC9FD1C3A}</a:tableStyleId>
              </a:tblPr>
              <a:tblGrid>
                <a:gridCol w="4689391"/>
                <a:gridCol w="6405023"/>
              </a:tblGrid>
              <a:tr h="640080">
                <a:tc>
                  <a:txBody>
                    <a:bodyPr/>
                    <a:lstStyle/>
                    <a:p>
                      <a:r>
                        <a:rPr sz="1900" i="0" b="1">
                          <a:solidFill>
                            <a:srgbClr val="FFFFFF"/>
                          </a:solidFill>
                          <a:latin typeface="Calibri"/>
                        </a:rPr>
                        <a:t>Advantages</a:t>
                      </a:r>
                    </a:p>
                  </a:txBody>
                  <a:tcPr marL="109728" marR="109728" marT="45720" marB="45720" anchor="ctr">
                    <a:solidFill>
                      <a:srgbClr val="A4472B"/>
                    </a:solidFill>
                  </a:tcPr>
                </a:tc>
                <a:tc>
                  <a:txBody>
                    <a:bodyPr/>
                    <a:lstStyle/>
                    <a:p>
                      <a:r>
                        <a:rPr sz="1900" i="0" b="1">
                          <a:solidFill>
                            <a:srgbClr val="FFFFFF"/>
                          </a:solidFill>
                          <a:latin typeface="Calibri"/>
                        </a:rPr>
                        <a:t>Disadvantages</a:t>
                      </a:r>
                    </a:p>
                  </a:txBody>
                  <a:tcPr marL="109728" marR="109728" marT="45720" marB="45720" anchor="ctr">
                    <a:solidFill>
                      <a:srgbClr val="A4472B"/>
                    </a:solidFill>
                  </a:tcPr>
                </a:tc>
              </a:tr>
              <a:tr h="640080">
                <a:tc>
                  <a:txBody>
                    <a:bodyPr/>
                    <a:lstStyle/>
                    <a:p>
                      <a:r>
                        <a:rPr sz="2000" i="0" b="1">
                          <a:solidFill>
                            <a:srgbClr val="2B211C"/>
                          </a:solidFill>
                          <a:latin typeface="Calibri"/>
                        </a:rPr>
                        <a:t>Very current</a:t>
                      </a:r>
                    </a:p>
                  </a:txBody>
                  <a:tcPr marL="109728" marR="109728" marT="45720" marB="45720" anchor="ctr">
                    <a:solidFill>
                      <a:srgbClr val="FFFFFF"/>
                    </a:solidFill>
                  </a:tcPr>
                </a:tc>
                <a:tc>
                  <a:txBody>
                    <a:bodyPr/>
                    <a:lstStyle/>
                    <a:p>
                      <a:r>
                        <a:rPr sz="2000" i="0" b="0">
                          <a:solidFill>
                            <a:srgbClr val="2B211C"/>
                          </a:solidFill>
                          <a:latin typeface="Calibri"/>
                        </a:rPr>
                        <a:t>Need search skills</a:t>
                      </a:r>
                    </a:p>
                  </a:txBody>
                  <a:tcPr marL="109728" marR="109728" marT="45720" marB="45720" anchor="ctr">
                    <a:solidFill>
                      <a:srgbClr val="FFFFFF"/>
                    </a:solidFill>
                  </a:tcPr>
                </a:tc>
              </a:tr>
              <a:tr h="640080">
                <a:tc>
                  <a:txBody>
                    <a:bodyPr/>
                    <a:lstStyle/>
                    <a:p>
                      <a:r>
                        <a:rPr sz="2000" i="0" b="1">
                          <a:solidFill>
                            <a:srgbClr val="2B211C"/>
                          </a:solidFill>
                          <a:latin typeface="Calibri"/>
                        </a:rPr>
                        <a:t>Point to a huge number of studies</a:t>
                      </a:r>
                    </a:p>
                  </a:txBody>
                  <a:tcPr marL="109728" marR="109728" marT="45720" marB="45720" anchor="ctr">
                    <a:solidFill>
                      <a:srgbClr val="FAF4F2"/>
                    </a:solidFill>
                  </a:tcPr>
                </a:tc>
                <a:tc>
                  <a:txBody>
                    <a:bodyPr/>
                    <a:lstStyle/>
                    <a:p>
                      <a:r>
                        <a:rPr sz="2000" i="0" b="0">
                          <a:solidFill>
                            <a:srgbClr val="2B211C"/>
                          </a:solidFill>
                          <a:latin typeface="Calibri"/>
                        </a:rPr>
                        <a:t>Results must be filtered for quality</a:t>
                      </a:r>
                    </a:p>
                  </a:txBody>
                  <a:tcPr marL="109728" marR="109728" marT="45720" marB="45720" anchor="ctr">
                    <a:solidFill>
                      <a:srgbClr val="FAF4F2"/>
                    </a:solidFill>
                  </a:tcPr>
                </a:tc>
              </a:tr>
              <a:tr h="640080">
                <a:tc>
                  <a:txBody>
                    <a:bodyPr/>
                    <a:lstStyle/>
                    <a:p>
                      <a:r>
                        <a:rPr sz="2000" i="0" b="1">
                          <a:solidFill>
                            <a:srgbClr val="2B211C"/>
                          </a:solidFill>
                          <a:latin typeface="Calibri"/>
                        </a:rPr>
                        <a:t>Simple searches are possible</a:t>
                      </a:r>
                    </a:p>
                  </a:txBody>
                  <a:tcPr marL="109728" marR="109728" marT="45720" marB="45720" anchor="ctr">
                    <a:solidFill>
                      <a:srgbClr val="FFFFFF"/>
                    </a:solidFill>
                  </a:tcPr>
                </a:tc>
                <a:tc>
                  <a:txBody>
                    <a:bodyPr/>
                    <a:lstStyle/>
                    <a:p>
                      <a:r>
                        <a:rPr sz="2000" i="0" b="0">
                          <a:solidFill>
                            <a:srgbClr val="2B211C"/>
                          </a:solidFill>
                          <a:latin typeface="Calibri"/>
                        </a:rPr>
                        <a:t>An abstract is not enough; read the full article</a:t>
                      </a:r>
                    </a:p>
                  </a:txBody>
                  <a:tcPr marL="109728" marR="109728" marT="45720" marB="45720" anchor="ct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EDEA"/>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A4472B"/>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02</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2F6F7A"/>
                </a:solidFill>
                <a:latin typeface="Calibri"/>
              </a:rPr>
              <a:t>SECTION 2</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A4472B"/>
                </a:solidFill>
                <a:latin typeface="Cambria"/>
              </a:rPr>
              <a:t>Five tips for a better PubMed search</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2  ·  Drug Information Sources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12 / 27</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1591056"/>
            <a:ext cx="64008" cy="4016756"/>
          </a:xfrm>
          <a:prstGeom prst="roundRect">
            <a:avLst>
              <a:gd name="adj" fmla="val 50000"/>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554480"/>
            <a:ext cx="4251960" cy="4617720"/>
          </a:xfrm>
          <a:prstGeom prst="rect">
            <a:avLst/>
          </a:prstGeom>
          <a:noFill/>
        </p:spPr>
        <p:txBody>
          <a:bodyPr wrap="square" anchor="t" lIns="0" rIns="0" tIns="0" bIns="0">
            <a:spAutoFit/>
          </a:bodyPr>
          <a:lstStyle/>
          <a:p>
            <a:pPr>
              <a:spcAft>
                <a:spcPts val="800"/>
              </a:spcAft>
            </a:pPr>
            <a:r>
              <a:rPr sz="1700" i="0" b="1">
                <a:solidFill>
                  <a:srgbClr val="2B211C"/>
                </a:solidFill>
                <a:latin typeface="Calibri"/>
              </a:rPr>
              <a:t>PubMed</a:t>
            </a:r>
            <a:r>
              <a:rPr sz="1700" i="0" b="0">
                <a:solidFill>
                  <a:srgbClr val="2B211C"/>
                </a:solidFill>
                <a:latin typeface="Calibri"/>
              </a:rPr>
              <a:t> is the free search engine for MEDLINE, run by the US National Library of Medicine. </a:t>
            </a:r>
            <a:r>
              <a:rPr sz="1700" i="0" b="1">
                <a:solidFill>
                  <a:srgbClr val="2B211C"/>
                </a:solidFill>
                <a:latin typeface="Calibri"/>
              </a:rPr>
              <a:t>PubMed Central (PMC)</a:t>
            </a:r>
            <a:r>
              <a:rPr sz="1700" i="0" b="0">
                <a:solidFill>
                  <a:srgbClr val="2B211C"/>
                </a:solidFill>
                <a:latin typeface="Calibri"/>
              </a:rPr>
              <a:t> is different: it is a free </a:t>
            </a:r>
            <a:r>
              <a:rPr sz="1700" i="0" b="1">
                <a:solidFill>
                  <a:srgbClr val="2B211C"/>
                </a:solidFill>
                <a:latin typeface="Calibri"/>
              </a:rPr>
              <a:t>full-text archive</a:t>
            </a:r>
            <a:r>
              <a:rPr sz="1700" i="0" b="0">
                <a:solidFill>
                  <a:srgbClr val="2B211C"/>
                </a:solidFill>
                <a:latin typeface="Calibri"/>
              </a:rPr>
              <a:t> of more than ten million articles. You search in PubMed and often read the full paper in PMC.</a:t>
            </a:r>
          </a:p>
          <a:p>
            <a:pPr>
              <a:spcAft>
                <a:spcPts val="800"/>
              </a:spcAft>
            </a:pPr>
            <a:r>
              <a:rPr sz="1700" i="0" b="1">
                <a:solidFill>
                  <a:srgbClr val="2B211C"/>
                </a:solidFill>
                <a:latin typeface="Calibri"/>
              </a:rPr>
              <a:t>Google Scholar</a:t>
            </a:r>
            <a:r>
              <a:rPr sz="1700" i="0" b="0">
                <a:solidFill>
                  <a:srgbClr val="2B211C"/>
                </a:solidFill>
                <a:latin typeface="Calibri"/>
              </a:rPr>
              <a:t> searches scholarly papers, theses and books. It is broad but less precise than PubMed.</a:t>
            </a:r>
          </a:p>
          <a:p>
            <a:pPr>
              <a:spcAft>
                <a:spcPts val="800"/>
              </a:spcAft>
            </a:pPr>
            <a:r>
              <a:rPr sz="1700" i="0" b="0">
                <a:solidFill>
                  <a:srgbClr val="2B211C"/>
                </a:solidFill>
                <a:latin typeface="Calibri"/>
              </a:rPr>
              <a:t>A good search takes a few minutes. A search that returns thousands of papers needs more terms; a search that returns none needs fewer.</a:t>
            </a:r>
          </a:p>
        </p:txBody>
      </p:sp>
      <p:sp>
        <p:nvSpPr>
          <p:cNvPr id="15" name="Oval 14"/>
          <p:cNvSpPr/>
          <p:nvPr/>
        </p:nvSpPr>
        <p:spPr>
          <a:xfrm>
            <a:off x="5394959" y="157276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16" name="TextBox 15"/>
          <p:cNvSpPr txBox="1"/>
          <p:nvPr/>
        </p:nvSpPr>
        <p:spPr>
          <a:xfrm>
            <a:off x="5989320" y="1591056"/>
            <a:ext cx="5653735" cy="877823"/>
          </a:xfrm>
          <a:prstGeom prst="rect">
            <a:avLst/>
          </a:prstGeom>
          <a:noFill/>
        </p:spPr>
        <p:txBody>
          <a:bodyPr wrap="square" anchor="t" lIns="0" rIns="0" tIns="0" bIns="0">
            <a:spAutoFit/>
          </a:bodyPr>
          <a:lstStyle/>
          <a:p>
            <a:r>
              <a:rPr sz="2100" i="0" b="0">
                <a:solidFill>
                  <a:srgbClr val="2B211C"/>
                </a:solidFill>
                <a:latin typeface="Calibri"/>
              </a:rPr>
              <a:t>Write the question in parts: patient, drug, comparison, outcome.</a:t>
            </a:r>
          </a:p>
        </p:txBody>
      </p:sp>
      <p:sp>
        <p:nvSpPr>
          <p:cNvPr id="17" name="Oval 16"/>
          <p:cNvSpPr/>
          <p:nvPr/>
        </p:nvSpPr>
        <p:spPr>
          <a:xfrm>
            <a:off x="5394959" y="2496312"/>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8" name="TextBox 17"/>
          <p:cNvSpPr txBox="1"/>
          <p:nvPr/>
        </p:nvSpPr>
        <p:spPr>
          <a:xfrm>
            <a:off x="5989320" y="2514600"/>
            <a:ext cx="5653735" cy="877823"/>
          </a:xfrm>
          <a:prstGeom prst="rect">
            <a:avLst/>
          </a:prstGeom>
          <a:noFill/>
        </p:spPr>
        <p:txBody>
          <a:bodyPr wrap="square" anchor="t" lIns="0" rIns="0" tIns="0" bIns="0">
            <a:spAutoFit/>
          </a:bodyPr>
          <a:lstStyle/>
          <a:p>
            <a:r>
              <a:rPr sz="2100" i="0" b="0">
                <a:solidFill>
                  <a:srgbClr val="2B211C"/>
                </a:solidFill>
                <a:latin typeface="Calibri"/>
              </a:rPr>
              <a:t>Use the drug's generic name, not the brand name.</a:t>
            </a:r>
          </a:p>
        </p:txBody>
      </p:sp>
      <p:sp>
        <p:nvSpPr>
          <p:cNvPr id="19" name="Oval 18"/>
          <p:cNvSpPr/>
          <p:nvPr/>
        </p:nvSpPr>
        <p:spPr>
          <a:xfrm>
            <a:off x="5394959" y="3419856"/>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3</a:t>
            </a:r>
          </a:p>
        </p:txBody>
      </p:sp>
      <p:sp>
        <p:nvSpPr>
          <p:cNvPr id="20" name="TextBox 19"/>
          <p:cNvSpPr txBox="1"/>
          <p:nvPr/>
        </p:nvSpPr>
        <p:spPr>
          <a:xfrm>
            <a:off x="5989320" y="3438144"/>
            <a:ext cx="5653735" cy="544448"/>
          </a:xfrm>
          <a:prstGeom prst="rect">
            <a:avLst/>
          </a:prstGeom>
          <a:noFill/>
        </p:spPr>
        <p:txBody>
          <a:bodyPr wrap="square" anchor="t" lIns="0" rIns="0" tIns="0" bIns="0">
            <a:spAutoFit/>
          </a:bodyPr>
          <a:lstStyle/>
          <a:p>
            <a:r>
              <a:rPr sz="2100" i="0" b="0">
                <a:solidFill>
                  <a:srgbClr val="2B211C"/>
                </a:solidFill>
                <a:latin typeface="Calibri"/>
              </a:rPr>
              <a:t>Join terms with AND; add synonyms with OR.</a:t>
            </a:r>
          </a:p>
        </p:txBody>
      </p:sp>
      <p:sp>
        <p:nvSpPr>
          <p:cNvPr id="21" name="Oval 20"/>
          <p:cNvSpPr/>
          <p:nvPr/>
        </p:nvSpPr>
        <p:spPr>
          <a:xfrm>
            <a:off x="5394959" y="4010024"/>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4</a:t>
            </a:r>
          </a:p>
        </p:txBody>
      </p:sp>
      <p:sp>
        <p:nvSpPr>
          <p:cNvPr id="22" name="TextBox 21"/>
          <p:cNvSpPr txBox="1"/>
          <p:nvPr/>
        </p:nvSpPr>
        <p:spPr>
          <a:xfrm>
            <a:off x="5989320" y="4028313"/>
            <a:ext cx="5653735" cy="1211199"/>
          </a:xfrm>
          <a:prstGeom prst="rect">
            <a:avLst/>
          </a:prstGeom>
          <a:noFill/>
        </p:spPr>
        <p:txBody>
          <a:bodyPr wrap="square" anchor="t" lIns="0" rIns="0" tIns="0" bIns="0">
            <a:spAutoFit/>
          </a:bodyPr>
          <a:lstStyle/>
          <a:p>
            <a:r>
              <a:rPr sz="2100" i="0" b="0">
                <a:solidFill>
                  <a:srgbClr val="2B211C"/>
                </a:solidFill>
                <a:latin typeface="Calibri"/>
              </a:rPr>
              <a:t>Use filters: article type (for example, randomised controlled trial or systematic review), date, humans, English.</a:t>
            </a:r>
          </a:p>
        </p:txBody>
      </p:sp>
      <p:sp>
        <p:nvSpPr>
          <p:cNvPr id="23" name="Oval 22"/>
          <p:cNvSpPr/>
          <p:nvPr/>
        </p:nvSpPr>
        <p:spPr>
          <a:xfrm>
            <a:off x="5394959" y="5266944"/>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5</a:t>
            </a:r>
          </a:p>
        </p:txBody>
      </p:sp>
      <p:sp>
        <p:nvSpPr>
          <p:cNvPr id="24" name="TextBox 23"/>
          <p:cNvSpPr txBox="1"/>
          <p:nvPr/>
        </p:nvSpPr>
        <p:spPr>
          <a:xfrm>
            <a:off x="5989320" y="5285232"/>
            <a:ext cx="5653735" cy="877823"/>
          </a:xfrm>
          <a:prstGeom prst="rect">
            <a:avLst/>
          </a:prstGeom>
          <a:noFill/>
        </p:spPr>
        <p:txBody>
          <a:bodyPr wrap="square" anchor="t" lIns="0" rIns="0" tIns="0" bIns="0">
            <a:spAutoFit/>
          </a:bodyPr>
          <a:lstStyle/>
          <a:p>
            <a:r>
              <a:rPr sz="2100" i="0" b="0">
                <a:solidFill>
                  <a:srgbClr val="2B211C"/>
                </a:solidFill>
                <a:latin typeface="Calibri"/>
              </a:rPr>
              <a:t>Read the abstract to select papers, then read the full text before you answer.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EDEA"/>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A4472B"/>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02</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2F6F7A"/>
                </a:solidFill>
                <a:latin typeface="Calibri"/>
              </a:rPr>
              <a:t>SECTION 2</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A4472B"/>
                </a:solidFill>
                <a:latin typeface="Cambria"/>
              </a:rPr>
              <a:t>Primary Sources (added)</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2  ·  Drug Information Sources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13 / 27</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1591056"/>
            <a:ext cx="64008" cy="1019555"/>
          </a:xfrm>
          <a:prstGeom prst="roundRect">
            <a:avLst>
              <a:gd name="adj" fmla="val 50000"/>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554480"/>
            <a:ext cx="10865815" cy="1202436"/>
          </a:xfrm>
          <a:prstGeom prst="rect">
            <a:avLst/>
          </a:prstGeom>
          <a:noFill/>
        </p:spPr>
        <p:txBody>
          <a:bodyPr wrap="square" anchor="t" lIns="0" rIns="0" tIns="0" bIns="0">
            <a:spAutoFit/>
          </a:bodyPr>
          <a:lstStyle/>
          <a:p>
            <a:pPr>
              <a:spcAft>
                <a:spcPts val="800"/>
              </a:spcAft>
            </a:pPr>
            <a:r>
              <a:rPr sz="1800" i="0" b="0">
                <a:solidFill>
                  <a:srgbClr val="2B211C"/>
                </a:solidFill>
                <a:latin typeface="Calibri"/>
              </a:rPr>
              <a:t>Primary sources report original research: clinical trials, cohort and case-control studies, and case reports. They appear in journals such as The Lancet, BMJ and NEJM.</a:t>
            </a:r>
          </a:p>
          <a:p>
            <a:pPr>
              <a:spcAft>
                <a:spcPts val="800"/>
              </a:spcAft>
            </a:pPr>
            <a:r>
              <a:rPr sz="1800" i="0" b="0">
                <a:solidFill>
                  <a:srgbClr val="2B211C"/>
                </a:solidFill>
                <a:latin typeface="Calibri"/>
              </a:rPr>
              <a:t>Chapter 3 explains the study designs you will meet in primary sources.</a:t>
            </a:r>
          </a:p>
        </p:txBody>
      </p:sp>
      <p:graphicFrame>
        <p:nvGraphicFramePr>
          <p:cNvPr id="15" name="Table 14"/>
          <p:cNvGraphicFramePr>
            <a:graphicFrameLocks noGrp="1"/>
          </p:cNvGraphicFramePr>
          <p:nvPr/>
        </p:nvGraphicFramePr>
        <p:xfrm>
          <a:off x="548640" y="2939796"/>
          <a:ext cx="11094414" cy="2560320"/>
        </p:xfrm>
        <a:graphic>
          <a:graphicData uri="http://schemas.openxmlformats.org/drawingml/2006/table">
            <a:tbl>
              <a:tblPr firstRow="0" bandRow="0">
                <a:tableStyleId>{5C22544A-7EE6-4342-B048-85BDC9FD1C3A}</a:tableStyleId>
              </a:tblPr>
              <a:tblGrid>
                <a:gridCol w="4853806"/>
                <a:gridCol w="6240608"/>
              </a:tblGrid>
              <a:tr h="640080">
                <a:tc>
                  <a:txBody>
                    <a:bodyPr/>
                    <a:lstStyle/>
                    <a:p>
                      <a:r>
                        <a:rPr sz="1900" i="0" b="1">
                          <a:solidFill>
                            <a:srgbClr val="FFFFFF"/>
                          </a:solidFill>
                          <a:latin typeface="Calibri"/>
                        </a:rPr>
                        <a:t>Advantages</a:t>
                      </a:r>
                    </a:p>
                  </a:txBody>
                  <a:tcPr marL="109728" marR="109728" marT="45720" marB="45720" anchor="ctr">
                    <a:solidFill>
                      <a:srgbClr val="A4472B"/>
                    </a:solidFill>
                  </a:tcPr>
                </a:tc>
                <a:tc>
                  <a:txBody>
                    <a:bodyPr/>
                    <a:lstStyle/>
                    <a:p>
                      <a:r>
                        <a:rPr sz="1900" i="0" b="1">
                          <a:solidFill>
                            <a:srgbClr val="FFFFFF"/>
                          </a:solidFill>
                          <a:latin typeface="Calibri"/>
                        </a:rPr>
                        <a:t>Disadvantages</a:t>
                      </a:r>
                    </a:p>
                  </a:txBody>
                  <a:tcPr marL="109728" marR="109728" marT="45720" marB="45720" anchor="ctr">
                    <a:solidFill>
                      <a:srgbClr val="A4472B"/>
                    </a:solidFill>
                  </a:tcPr>
                </a:tc>
              </a:tr>
              <a:tr h="640080">
                <a:tc>
                  <a:txBody>
                    <a:bodyPr/>
                    <a:lstStyle/>
                    <a:p>
                      <a:r>
                        <a:rPr sz="2000" i="0" b="1">
                          <a:solidFill>
                            <a:srgbClr val="2B211C"/>
                          </a:solidFill>
                          <a:latin typeface="Calibri"/>
                        </a:rPr>
                        <a:t>The newest evidence</a:t>
                      </a:r>
                    </a:p>
                  </a:txBody>
                  <a:tcPr marL="109728" marR="109728" marT="45720" marB="45720" anchor="ctr">
                    <a:solidFill>
                      <a:srgbClr val="FFFFFF"/>
                    </a:solidFill>
                  </a:tcPr>
                </a:tc>
                <a:tc>
                  <a:txBody>
                    <a:bodyPr/>
                    <a:lstStyle/>
                    <a:p>
                      <a:r>
                        <a:rPr sz="2000" i="0" b="0">
                          <a:solidFill>
                            <a:srgbClr val="2B211C"/>
                          </a:solidFill>
                          <a:latin typeface="Calibri"/>
                        </a:rPr>
                        <a:t>You need skill to judge quality (Chapter 6)</a:t>
                      </a:r>
                    </a:p>
                  </a:txBody>
                  <a:tcPr marL="109728" marR="109728" marT="45720" marB="45720" anchor="ctr">
                    <a:solidFill>
                      <a:srgbClr val="FFFFFF"/>
                    </a:solidFill>
                  </a:tcPr>
                </a:tc>
              </a:tr>
              <a:tr h="640080">
                <a:tc>
                  <a:txBody>
                    <a:bodyPr/>
                    <a:lstStyle/>
                    <a:p>
                      <a:r>
                        <a:rPr sz="2000" i="0" b="1">
                          <a:solidFill>
                            <a:srgbClr val="2B211C"/>
                          </a:solidFill>
                          <a:latin typeface="Calibri"/>
                        </a:rPr>
                        <a:t>Full detail on methods and results</a:t>
                      </a:r>
                    </a:p>
                  </a:txBody>
                  <a:tcPr marL="109728" marR="109728" marT="45720" marB="45720" anchor="ctr">
                    <a:solidFill>
                      <a:srgbClr val="FAF4F2"/>
                    </a:solidFill>
                  </a:tcPr>
                </a:tc>
                <a:tc>
                  <a:txBody>
                    <a:bodyPr/>
                    <a:lstStyle/>
                    <a:p>
                      <a:r>
                        <a:rPr sz="2000" i="0" b="0">
                          <a:solidFill>
                            <a:srgbClr val="2B211C"/>
                          </a:solidFill>
                          <a:latin typeface="Calibri"/>
                        </a:rPr>
                        <a:t>One study may not be the whole truth</a:t>
                      </a:r>
                    </a:p>
                  </a:txBody>
                  <a:tcPr marL="109728" marR="109728" marT="45720" marB="45720" anchor="ctr">
                    <a:solidFill>
                      <a:srgbClr val="FAF4F2"/>
                    </a:solidFill>
                  </a:tcPr>
                </a:tc>
              </a:tr>
              <a:tr h="640080">
                <a:tc>
                  <a:txBody>
                    <a:bodyPr/>
                    <a:lstStyle/>
                    <a:p>
                      <a:r>
                        <a:rPr sz="2000" i="0" b="1">
                          <a:solidFill>
                            <a:srgbClr val="2B211C"/>
                          </a:solidFill>
                          <a:latin typeface="Calibri"/>
                        </a:rPr>
                        <a:t>Lets you check what reviews say</a:t>
                      </a:r>
                    </a:p>
                  </a:txBody>
                  <a:tcPr marL="109728" marR="109728" marT="45720" marB="45720" anchor="ctr">
                    <a:solidFill>
                      <a:srgbClr val="FFFFFF"/>
                    </a:solidFill>
                  </a:tcPr>
                </a:tc>
                <a:tc>
                  <a:txBody>
                    <a:bodyPr/>
                    <a:lstStyle/>
                    <a:p>
                      <a:r>
                        <a:rPr sz="2000" i="0" b="0">
                          <a:solidFill>
                            <a:srgbClr val="2B211C"/>
                          </a:solidFill>
                          <a:latin typeface="Calibri"/>
                        </a:rPr>
                        <a:t>Studies can conflict; some are never published</a:t>
                      </a:r>
                    </a:p>
                  </a:txBody>
                  <a:tcPr marL="109728" marR="109728" marT="45720" marB="45720"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EDEA"/>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A4472B"/>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02</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2F6F7A"/>
                </a:solidFill>
                <a:latin typeface="Calibri"/>
              </a:rPr>
              <a:t>SECTION 2</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A4472B"/>
                </a:solidFill>
                <a:latin typeface="Cambria"/>
              </a:rPr>
              <a:t>Primary Sources (added)</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2  ·  Drug Information Sources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14 / 27</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645919" y="2103120"/>
            <a:ext cx="8899855" cy="2377440"/>
          </a:xfrm>
          <a:prstGeom prst="roundRect">
            <a:avLst>
              <a:gd name="adj" fmla="val 6000"/>
            </a:avLst>
          </a:prstGeom>
          <a:solidFill>
            <a:srgbClr val="F6E5DE">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965960" y="2167127"/>
            <a:ext cx="825977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920239" y="2331720"/>
            <a:ext cx="1188720" cy="347472"/>
          </a:xfrm>
          <a:prstGeom prst="roundRect">
            <a:avLst>
              <a:gd name="adj" fmla="val 50000"/>
            </a:avLst>
          </a:prstGeom>
          <a:solidFill>
            <a:srgbClr val="A4472B"/>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EXAM TIP</a:t>
            </a:r>
          </a:p>
        </p:txBody>
      </p:sp>
      <p:sp>
        <p:nvSpPr>
          <p:cNvPr id="16" name="TextBox 15"/>
          <p:cNvSpPr txBox="1"/>
          <p:nvPr/>
        </p:nvSpPr>
        <p:spPr>
          <a:xfrm>
            <a:off x="1920239" y="2788920"/>
            <a:ext cx="8351215" cy="1508760"/>
          </a:xfrm>
          <a:prstGeom prst="rect">
            <a:avLst/>
          </a:prstGeom>
          <a:noFill/>
        </p:spPr>
        <p:txBody>
          <a:bodyPr wrap="square" anchor="t" lIns="0" rIns="0" tIns="0" bIns="0">
            <a:spAutoFit/>
          </a:bodyPr>
          <a:lstStyle/>
          <a:p>
            <a:pPr>
              <a:spcBef>
                <a:spcPts val="0"/>
              </a:spcBef>
            </a:pPr>
            <a:r>
              <a:rPr sz="2600" i="0" b="0">
                <a:solidFill>
                  <a:srgbClr val="2B211C"/>
                </a:solidFill>
                <a:latin typeface="Calibri"/>
              </a:rPr>
              <a:t>PubMed = secondary (search tool). PMC = full-text archive. Micromedex and Lexicomp = tertiary.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EDEA"/>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10" name="Rounded Rectangle 9"/>
          <p:cNvSpPr/>
          <p:nvPr/>
        </p:nvSpPr>
        <p:spPr>
          <a:xfrm>
            <a:off x="4251960" y="548640"/>
            <a:ext cx="7635240" cy="57150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0" y="612647"/>
            <a:ext cx="6995159"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931920" cy="6858000"/>
          </a:xfrm>
          <a:prstGeom prst="rect">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2926080" cy="2377440"/>
          </a:xfrm>
          <a:prstGeom prst="rect">
            <a:avLst/>
          </a:prstGeom>
          <a:noFill/>
        </p:spPr>
        <p:txBody>
          <a:bodyPr wrap="square" anchor="t" lIns="0" rIns="0" tIns="0" bIns="0">
            <a:spAutoFit/>
          </a:bodyPr>
          <a:lstStyle/>
          <a:p>
            <a:r>
              <a:rPr sz="13000" i="0" b="1">
                <a:solidFill>
                  <a:srgbClr val="E6EEEF"/>
                </a:solidFill>
                <a:latin typeface="Cambria"/>
              </a:rPr>
              <a:t>℞</a:t>
            </a:r>
          </a:p>
        </p:txBody>
      </p:sp>
      <p:sp>
        <p:nvSpPr>
          <p:cNvPr id="5" name="TextBox 4"/>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At the Pharmacy</a:t>
            </a:r>
          </a:p>
          <a:p>
            <a:r>
              <a:rPr sz="1400" i="0" b="1" spc="150">
                <a:solidFill>
                  <a:srgbClr val="E6EEEF"/>
                </a:solidFill>
                <a:latin typeface="Calibri"/>
              </a:rPr>
              <a:t>Section 2</a:t>
            </a:r>
          </a:p>
        </p:txBody>
      </p:sp>
      <p:sp>
        <p:nvSpPr>
          <p:cNvPr id="6" name="TextBox 5"/>
          <p:cNvSpPr txBox="1"/>
          <p:nvPr/>
        </p:nvSpPr>
        <p:spPr>
          <a:xfrm>
            <a:off x="4526280" y="822960"/>
            <a:ext cx="7132320" cy="5120640"/>
          </a:xfrm>
          <a:prstGeom prst="rect">
            <a:avLst/>
          </a:prstGeom>
          <a:noFill/>
        </p:spPr>
        <p:txBody>
          <a:bodyPr wrap="square" anchor="ctr" lIns="0" rIns="0" tIns="0" bIns="0">
            <a:spAutoFit/>
          </a:bodyPr>
          <a:lstStyle/>
          <a:p>
            <a:pPr>
              <a:spcBef>
                <a:spcPts val="0"/>
              </a:spcBef>
            </a:pPr>
            <a:r>
              <a:rPr sz="2200" i="0" b="0">
                <a:solidFill>
                  <a:srgbClr val="2B211C"/>
                </a:solidFill>
                <a:latin typeface="Calibri"/>
              </a:rPr>
              <a:t>A breastfeeding mother is prescribed sertraline and asks if it is safe for her baby. Start with a tertiary source: </a:t>
            </a:r>
            <a:r>
              <a:rPr sz="2200" i="0" b="1">
                <a:solidFill>
                  <a:srgbClr val="2B211C"/>
                </a:solidFill>
                <a:latin typeface="Calibri"/>
              </a:rPr>
              <a:t>LactMed</a:t>
            </a:r>
            <a:r>
              <a:rPr sz="2200" i="0" b="0">
                <a:solidFill>
                  <a:srgbClr val="2B211C"/>
                </a:solidFill>
                <a:latin typeface="Calibri"/>
              </a:rPr>
              <a:t> or </a:t>
            </a:r>
            <a:r>
              <a:rPr sz="2200" i="0" b="1">
                <a:solidFill>
                  <a:srgbClr val="2B211C"/>
                </a:solidFill>
                <a:latin typeface="Calibri"/>
              </a:rPr>
              <a:t>Briggs</a:t>
            </a:r>
            <a:r>
              <a:rPr sz="2200" i="0" b="0">
                <a:solidFill>
                  <a:srgbClr val="2B211C"/>
                </a:solidFill>
                <a:latin typeface="Calibri"/>
              </a:rPr>
              <a:t>. Both say sertraline passes into milk in low amounts and is a preferred antidepressant in breastfeeding. If the baby were premature or unwell, you would search </a:t>
            </a:r>
            <a:r>
              <a:rPr sz="2200" i="0" b="1">
                <a:solidFill>
                  <a:srgbClr val="2B211C"/>
                </a:solidFill>
                <a:latin typeface="Calibri"/>
              </a:rPr>
              <a:t>PubMed</a:t>
            </a:r>
            <a:r>
              <a:rPr sz="2200" i="0" b="0">
                <a:solidFill>
                  <a:srgbClr val="2B211C"/>
                </a:solidFill>
                <a:latin typeface="Calibri"/>
              </a:rPr>
              <a:t> for recent case series and read them in full.</a:t>
            </a:r>
          </a:p>
        </p:txBody>
      </p:sp>
      <p:sp>
        <p:nvSpPr>
          <p:cNvPr id="7" name="TextBox 6"/>
          <p:cNvSpPr txBox="1"/>
          <p:nvPr/>
        </p:nvSpPr>
        <p:spPr>
          <a:xfrm>
            <a:off x="452628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Drug Information Sources</a:t>
            </a:r>
          </a:p>
        </p:txBody>
      </p:sp>
      <p:sp>
        <p:nvSpPr>
          <p:cNvPr id="8" name="TextBox 7"/>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15 / 27</a:t>
            </a:r>
          </a:p>
        </p:txBody>
      </p:sp>
      <p:pic>
        <p:nvPicPr>
          <p:cNvPr id="9" name="Picture 8" descr="logo"/>
          <p:cNvPicPr>
            <a:picLocks noChangeAspect="1"/>
          </p:cNvPicPr>
          <p:nvPr/>
        </p:nvPicPr>
        <p:blipFill>
          <a:blip r:embed="rId4"/>
          <a:stretch>
            <a:fillRect/>
          </a:stretch>
        </p:blipFill>
        <p:spPr>
          <a:xfrm>
            <a:off x="11247120" y="6309360"/>
            <a:ext cx="384048" cy="384048"/>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EDEA"/>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A4472B"/>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02</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2F6F7A"/>
                </a:solidFill>
                <a:latin typeface="Calibri"/>
              </a:rPr>
              <a:t>SECTION 2  ·  QUESTION 1 OF 5</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A4472B"/>
                </a:solidFill>
                <a:latin typeface="Cambria"/>
              </a:rPr>
              <a:t>Your turn</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2  ·  Drug Information Sources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16 / 27</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Micromedex is best described as a:</a:t>
            </a:r>
          </a:p>
        </p:txBody>
      </p:sp>
      <p:sp>
        <p:nvSpPr>
          <p:cNvPr id="14" name="Rounded Rectangle 13"/>
          <p:cNvSpPr/>
          <p:nvPr/>
        </p:nvSpPr>
        <p:spPr>
          <a:xfrm>
            <a:off x="548640" y="2697480"/>
            <a:ext cx="11094415" cy="640080"/>
          </a:xfrm>
          <a:prstGeom prst="roundRect">
            <a:avLst>
              <a:gd name="adj" fmla="val 18000"/>
            </a:avLst>
          </a:prstGeom>
          <a:solidFill>
            <a:srgbClr val="FAF4F2">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6" name="TextBox 15"/>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Primary source</a:t>
            </a:r>
          </a:p>
        </p:txBody>
      </p:sp>
      <p:sp>
        <p:nvSpPr>
          <p:cNvPr id="17" name="Rounded Rectangle 16"/>
          <p:cNvSpPr/>
          <p:nvPr/>
        </p:nvSpPr>
        <p:spPr>
          <a:xfrm>
            <a:off x="548640" y="3465576"/>
            <a:ext cx="11094415" cy="640080"/>
          </a:xfrm>
          <a:prstGeom prst="roundRect">
            <a:avLst>
              <a:gd name="adj" fmla="val 18000"/>
            </a:avLst>
          </a:prstGeom>
          <a:solidFill>
            <a:srgbClr val="FAF4F2">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9" name="TextBox 18"/>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Secondary source</a:t>
            </a:r>
          </a:p>
        </p:txBody>
      </p:sp>
      <p:sp>
        <p:nvSpPr>
          <p:cNvPr id="20" name="Rounded Rectangle 19"/>
          <p:cNvSpPr/>
          <p:nvPr/>
        </p:nvSpPr>
        <p:spPr>
          <a:xfrm>
            <a:off x="548640" y="4233672"/>
            <a:ext cx="11094415" cy="640080"/>
          </a:xfrm>
          <a:prstGeom prst="roundRect">
            <a:avLst>
              <a:gd name="adj" fmla="val 18000"/>
            </a:avLst>
          </a:prstGeom>
          <a:solidFill>
            <a:srgbClr val="FAF4F2">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22" name="TextBox 21"/>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Tertiary source</a:t>
            </a:r>
          </a:p>
        </p:txBody>
      </p:sp>
      <p:sp>
        <p:nvSpPr>
          <p:cNvPr id="23" name="Rounded Rectangle 22"/>
          <p:cNvSpPr/>
          <p:nvPr/>
        </p:nvSpPr>
        <p:spPr>
          <a:xfrm>
            <a:off x="548640" y="5001768"/>
            <a:ext cx="11094415" cy="640080"/>
          </a:xfrm>
          <a:prstGeom prst="roundRect">
            <a:avLst>
              <a:gd name="adj" fmla="val 18000"/>
            </a:avLst>
          </a:prstGeom>
          <a:solidFill>
            <a:srgbClr val="FAF4F2">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5" name="TextBox 24"/>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Full-text archive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EDE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A4472B"/>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02</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2F6F7A"/>
                </a:solidFill>
                <a:latin typeface="Calibri"/>
              </a:rPr>
              <a:t>SECTION 2  ·  QUESTION 1 OF 5  ·  ANSWER</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A4472B"/>
                </a:solidFill>
                <a:latin typeface="Cambria"/>
              </a:rPr>
              <a:t>Check your answer</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2  ·  Drug Information Sources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17 / 27</a:t>
            </a:r>
          </a:p>
        </p:txBody>
      </p:sp>
      <p:pic>
        <p:nvPicPr>
          <p:cNvPr id="10" name="Picture 9" descr="logo"/>
          <p:cNvPicPr>
            <a:picLocks noChangeAspect="1"/>
          </p:cNvPicPr>
          <p:nvPr/>
        </p:nvPicPr>
        <p:blipFill>
          <a:blip r:embed="rId3"/>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Micromedex is best described as a:</a:t>
            </a:r>
          </a:p>
        </p:txBody>
      </p:sp>
      <p:sp>
        <p:nvSpPr>
          <p:cNvPr id="14" name="Rounded Rectangle 13"/>
          <p:cNvSpPr/>
          <p:nvPr/>
        </p:nvSpPr>
        <p:spPr>
          <a:xfrm>
            <a:off x="548640" y="2606040"/>
            <a:ext cx="11094415" cy="548640"/>
          </a:xfrm>
          <a:prstGeom prst="roundRect">
            <a:avLst>
              <a:gd name="adj" fmla="val 18000"/>
            </a:avLst>
          </a:prstGeom>
          <a:solidFill>
            <a:srgbClr val="F5F4F4">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2670048"/>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35852"/>
                </a:solidFill>
                <a:latin typeface="Calibri"/>
              </a:rPr>
              <a:t>A</a:t>
            </a:r>
          </a:p>
        </p:txBody>
      </p:sp>
      <p:sp>
        <p:nvSpPr>
          <p:cNvPr id="16" name="TextBox 15"/>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35852"/>
                </a:solidFill>
                <a:latin typeface="Calibri"/>
              </a:rPr>
              <a:t>Primary source</a:t>
            </a:r>
          </a:p>
        </p:txBody>
      </p:sp>
      <p:sp>
        <p:nvSpPr>
          <p:cNvPr id="17" name="Rounded Rectangle 16"/>
          <p:cNvSpPr/>
          <p:nvPr/>
        </p:nvSpPr>
        <p:spPr>
          <a:xfrm>
            <a:off x="548640" y="3282696"/>
            <a:ext cx="11094415" cy="548640"/>
          </a:xfrm>
          <a:prstGeom prst="roundRect">
            <a:avLst>
              <a:gd name="adj" fmla="val 18000"/>
            </a:avLst>
          </a:prstGeom>
          <a:solidFill>
            <a:srgbClr val="F5F4F4">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3346703"/>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35852"/>
                </a:solidFill>
                <a:latin typeface="Calibri"/>
              </a:rPr>
              <a:t>B</a:t>
            </a:r>
          </a:p>
        </p:txBody>
      </p:sp>
      <p:sp>
        <p:nvSpPr>
          <p:cNvPr id="19" name="TextBox 18"/>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35852"/>
                </a:solidFill>
                <a:latin typeface="Calibri"/>
              </a:rPr>
              <a:t>Secondary source</a:t>
            </a:r>
          </a:p>
        </p:txBody>
      </p:sp>
      <p:sp>
        <p:nvSpPr>
          <p:cNvPr id="20" name="Rounded Rectangle 19"/>
          <p:cNvSpPr/>
          <p:nvPr/>
        </p:nvSpPr>
        <p:spPr>
          <a:xfrm>
            <a:off x="548640" y="3959352"/>
            <a:ext cx="11094415" cy="548640"/>
          </a:xfrm>
          <a:prstGeom prst="roundRect">
            <a:avLst>
              <a:gd name="adj" fmla="val 18000"/>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C</a:t>
            </a:r>
          </a:p>
        </p:txBody>
      </p:sp>
      <p:sp>
        <p:nvSpPr>
          <p:cNvPr id="22" name="TextBox 21"/>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Tertiary source</a:t>
            </a:r>
          </a:p>
        </p:txBody>
      </p:sp>
      <p:sp>
        <p:nvSpPr>
          <p:cNvPr id="23" name="Rounded Rectangle 22"/>
          <p:cNvSpPr/>
          <p:nvPr/>
        </p:nvSpPr>
        <p:spPr>
          <a:xfrm>
            <a:off x="548640" y="4636008"/>
            <a:ext cx="11094415" cy="548640"/>
          </a:xfrm>
          <a:prstGeom prst="roundRect">
            <a:avLst>
              <a:gd name="adj" fmla="val 18000"/>
            </a:avLst>
          </a:prstGeom>
          <a:solidFill>
            <a:srgbClr val="F5F4F4">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3232" y="4700016"/>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35852"/>
                </a:solidFill>
                <a:latin typeface="Calibri"/>
              </a:rPr>
              <a:t>D</a:t>
            </a:r>
          </a:p>
        </p:txBody>
      </p:sp>
      <p:sp>
        <p:nvSpPr>
          <p:cNvPr id="25" name="TextBox 24"/>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35852"/>
                </a:solidFill>
                <a:latin typeface="Calibri"/>
              </a:rPr>
              <a:t>Full-text archive</a:t>
            </a:r>
          </a:p>
        </p:txBody>
      </p:sp>
      <p:sp>
        <p:nvSpPr>
          <p:cNvPr id="26" name="TextBox 25"/>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Micromedex summarises evidence, so it is tertiary. A, B and D are wrong.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EDEA"/>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A4472B"/>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02</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2F6F7A"/>
                </a:solidFill>
                <a:latin typeface="Calibri"/>
              </a:rPr>
              <a:t>SECTION 2  ·  QUESTION 2 OF 5</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A4472B"/>
                </a:solidFill>
                <a:latin typeface="Cambria"/>
              </a:rPr>
              <a:t>Your turn</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2  ·  Drug Information Sources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18 / 27</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What is the main disadvantage of a printed textbook?</a:t>
            </a:r>
          </a:p>
        </p:txBody>
      </p:sp>
      <p:sp>
        <p:nvSpPr>
          <p:cNvPr id="14" name="Rounded Rectangle 13"/>
          <p:cNvSpPr/>
          <p:nvPr/>
        </p:nvSpPr>
        <p:spPr>
          <a:xfrm>
            <a:off x="548640" y="2697480"/>
            <a:ext cx="11094415" cy="640080"/>
          </a:xfrm>
          <a:prstGeom prst="roundRect">
            <a:avLst>
              <a:gd name="adj" fmla="val 18000"/>
            </a:avLst>
          </a:prstGeom>
          <a:solidFill>
            <a:srgbClr val="FAF4F2">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6" name="TextBox 15"/>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It is hard to use</a:t>
            </a:r>
          </a:p>
        </p:txBody>
      </p:sp>
      <p:sp>
        <p:nvSpPr>
          <p:cNvPr id="17" name="Rounded Rectangle 16"/>
          <p:cNvSpPr/>
          <p:nvPr/>
        </p:nvSpPr>
        <p:spPr>
          <a:xfrm>
            <a:off x="548640" y="3465576"/>
            <a:ext cx="11094415" cy="640080"/>
          </a:xfrm>
          <a:prstGeom prst="roundRect">
            <a:avLst>
              <a:gd name="adj" fmla="val 18000"/>
            </a:avLst>
          </a:prstGeom>
          <a:solidFill>
            <a:srgbClr val="FAF4F2">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9" name="TextBox 18"/>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It may be out of date</a:t>
            </a:r>
          </a:p>
        </p:txBody>
      </p:sp>
      <p:sp>
        <p:nvSpPr>
          <p:cNvPr id="20" name="Rounded Rectangle 19"/>
          <p:cNvSpPr/>
          <p:nvPr/>
        </p:nvSpPr>
        <p:spPr>
          <a:xfrm>
            <a:off x="548640" y="4233672"/>
            <a:ext cx="11094415" cy="640080"/>
          </a:xfrm>
          <a:prstGeom prst="roundRect">
            <a:avLst>
              <a:gd name="adj" fmla="val 18000"/>
            </a:avLst>
          </a:prstGeom>
          <a:solidFill>
            <a:srgbClr val="FAF4F2">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22" name="TextBox 21"/>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It has no references</a:t>
            </a:r>
          </a:p>
        </p:txBody>
      </p:sp>
      <p:sp>
        <p:nvSpPr>
          <p:cNvPr id="23" name="Rounded Rectangle 22"/>
          <p:cNvSpPr/>
          <p:nvPr/>
        </p:nvSpPr>
        <p:spPr>
          <a:xfrm>
            <a:off x="548640" y="5001768"/>
            <a:ext cx="11094415" cy="640080"/>
          </a:xfrm>
          <a:prstGeom prst="roundRect">
            <a:avLst>
              <a:gd name="adj" fmla="val 18000"/>
            </a:avLst>
          </a:prstGeom>
          <a:solidFill>
            <a:srgbClr val="FAF4F2">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5" name="TextBox 24"/>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It contains only abstracts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EDE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A4472B"/>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02</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2F6F7A"/>
                </a:solidFill>
                <a:latin typeface="Calibri"/>
              </a:rPr>
              <a:t>SECTION 2  ·  QUESTION 2 OF 5  ·  ANSWER</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A4472B"/>
                </a:solidFill>
                <a:latin typeface="Cambria"/>
              </a:rPr>
              <a:t>Check your answer</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2  ·  Drug Information Sources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19 / 27</a:t>
            </a:r>
          </a:p>
        </p:txBody>
      </p:sp>
      <p:pic>
        <p:nvPicPr>
          <p:cNvPr id="10" name="Picture 9" descr="logo"/>
          <p:cNvPicPr>
            <a:picLocks noChangeAspect="1"/>
          </p:cNvPicPr>
          <p:nvPr/>
        </p:nvPicPr>
        <p:blipFill>
          <a:blip r:embed="rId3"/>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What is the main disadvantage of a printed textbook?</a:t>
            </a:r>
          </a:p>
        </p:txBody>
      </p:sp>
      <p:sp>
        <p:nvSpPr>
          <p:cNvPr id="14" name="Rounded Rectangle 13"/>
          <p:cNvSpPr/>
          <p:nvPr/>
        </p:nvSpPr>
        <p:spPr>
          <a:xfrm>
            <a:off x="548640" y="2606040"/>
            <a:ext cx="11094415" cy="548640"/>
          </a:xfrm>
          <a:prstGeom prst="roundRect">
            <a:avLst>
              <a:gd name="adj" fmla="val 18000"/>
            </a:avLst>
          </a:prstGeom>
          <a:solidFill>
            <a:srgbClr val="F5F4F4">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2670048"/>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35852"/>
                </a:solidFill>
                <a:latin typeface="Calibri"/>
              </a:rPr>
              <a:t>A</a:t>
            </a:r>
          </a:p>
        </p:txBody>
      </p:sp>
      <p:sp>
        <p:nvSpPr>
          <p:cNvPr id="16" name="TextBox 15"/>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35852"/>
                </a:solidFill>
                <a:latin typeface="Calibri"/>
              </a:rPr>
              <a:t>It is hard to use</a:t>
            </a:r>
          </a:p>
        </p:txBody>
      </p:sp>
      <p:sp>
        <p:nvSpPr>
          <p:cNvPr id="17" name="Rounded Rectangle 16"/>
          <p:cNvSpPr/>
          <p:nvPr/>
        </p:nvSpPr>
        <p:spPr>
          <a:xfrm>
            <a:off x="548640" y="3282696"/>
            <a:ext cx="11094415" cy="548640"/>
          </a:xfrm>
          <a:prstGeom prst="roundRect">
            <a:avLst>
              <a:gd name="adj" fmla="val 18000"/>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B</a:t>
            </a:r>
          </a:p>
        </p:txBody>
      </p:sp>
      <p:sp>
        <p:nvSpPr>
          <p:cNvPr id="19" name="TextBox 18"/>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It may be out of date</a:t>
            </a:r>
          </a:p>
        </p:txBody>
      </p:sp>
      <p:sp>
        <p:nvSpPr>
          <p:cNvPr id="20" name="Rounded Rectangle 19"/>
          <p:cNvSpPr/>
          <p:nvPr/>
        </p:nvSpPr>
        <p:spPr>
          <a:xfrm>
            <a:off x="548640" y="3959352"/>
            <a:ext cx="11094415" cy="548640"/>
          </a:xfrm>
          <a:prstGeom prst="roundRect">
            <a:avLst>
              <a:gd name="adj" fmla="val 18000"/>
            </a:avLst>
          </a:prstGeom>
          <a:solidFill>
            <a:srgbClr val="F5F4F4">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 y="4023360"/>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35852"/>
                </a:solidFill>
                <a:latin typeface="Calibri"/>
              </a:rPr>
              <a:t>C</a:t>
            </a:r>
          </a:p>
        </p:txBody>
      </p:sp>
      <p:sp>
        <p:nvSpPr>
          <p:cNvPr id="22" name="TextBox 21"/>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35852"/>
                </a:solidFill>
                <a:latin typeface="Calibri"/>
              </a:rPr>
              <a:t>It has no references</a:t>
            </a:r>
          </a:p>
        </p:txBody>
      </p:sp>
      <p:sp>
        <p:nvSpPr>
          <p:cNvPr id="23" name="Rounded Rectangle 22"/>
          <p:cNvSpPr/>
          <p:nvPr/>
        </p:nvSpPr>
        <p:spPr>
          <a:xfrm>
            <a:off x="548640" y="4636008"/>
            <a:ext cx="11094415" cy="548640"/>
          </a:xfrm>
          <a:prstGeom prst="roundRect">
            <a:avLst>
              <a:gd name="adj" fmla="val 18000"/>
            </a:avLst>
          </a:prstGeom>
          <a:solidFill>
            <a:srgbClr val="F5F4F4">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3232" y="4700016"/>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35852"/>
                </a:solidFill>
                <a:latin typeface="Calibri"/>
              </a:rPr>
              <a:t>D</a:t>
            </a:r>
          </a:p>
        </p:txBody>
      </p:sp>
      <p:sp>
        <p:nvSpPr>
          <p:cNvPr id="25" name="TextBox 24"/>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35852"/>
                </a:solidFill>
                <a:latin typeface="Calibri"/>
              </a:rPr>
              <a:t>It contains only abstracts</a:t>
            </a:r>
          </a:p>
        </p:txBody>
      </p:sp>
      <p:sp>
        <p:nvSpPr>
          <p:cNvPr id="26" name="TextBox 25"/>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Print editions lag behind new evidence. A, C and D are not typical.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EDEA"/>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A4472B"/>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02</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2F6F7A"/>
                </a:solidFill>
                <a:latin typeface="Calibri"/>
              </a:rPr>
              <a:t>SECTION 2  ·  QUESTION 3 OF 5</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A4472B"/>
                </a:solidFill>
                <a:latin typeface="Cambria"/>
              </a:rPr>
              <a:t>Your turn</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2  ·  Drug Information Sources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20 / 27</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doctor asks about an interaction between clarithromycin and simvastatin. Which reference is most suitable?</a:t>
            </a:r>
          </a:p>
        </p:txBody>
      </p:sp>
      <p:sp>
        <p:nvSpPr>
          <p:cNvPr id="14" name="Rounded Rectangle 13"/>
          <p:cNvSpPr/>
          <p:nvPr/>
        </p:nvSpPr>
        <p:spPr>
          <a:xfrm>
            <a:off x="548640" y="2697480"/>
            <a:ext cx="11094415" cy="640080"/>
          </a:xfrm>
          <a:prstGeom prst="roundRect">
            <a:avLst>
              <a:gd name="adj" fmla="val 18000"/>
            </a:avLst>
          </a:prstGeom>
          <a:solidFill>
            <a:srgbClr val="FAF4F2">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6" name="TextBox 15"/>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Stockley's Drug Interactions</a:t>
            </a:r>
          </a:p>
        </p:txBody>
      </p:sp>
      <p:sp>
        <p:nvSpPr>
          <p:cNvPr id="17" name="Rounded Rectangle 16"/>
          <p:cNvSpPr/>
          <p:nvPr/>
        </p:nvSpPr>
        <p:spPr>
          <a:xfrm>
            <a:off x="548640" y="3465576"/>
            <a:ext cx="11094415" cy="640080"/>
          </a:xfrm>
          <a:prstGeom prst="roundRect">
            <a:avLst>
              <a:gd name="adj" fmla="val 18000"/>
            </a:avLst>
          </a:prstGeom>
          <a:solidFill>
            <a:srgbClr val="FAF4F2">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9" name="TextBox 18"/>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Trissel's Handbook on Injectable Drugs</a:t>
            </a:r>
          </a:p>
        </p:txBody>
      </p:sp>
      <p:sp>
        <p:nvSpPr>
          <p:cNvPr id="20" name="Rounded Rectangle 19"/>
          <p:cNvSpPr/>
          <p:nvPr/>
        </p:nvSpPr>
        <p:spPr>
          <a:xfrm>
            <a:off x="548640" y="4233672"/>
            <a:ext cx="11094415" cy="640080"/>
          </a:xfrm>
          <a:prstGeom prst="roundRect">
            <a:avLst>
              <a:gd name="adj" fmla="val 18000"/>
            </a:avLst>
          </a:prstGeom>
          <a:solidFill>
            <a:srgbClr val="FAF4F2">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22" name="TextBox 21"/>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Briggs' Drugs in Pregnancy and Lactation</a:t>
            </a:r>
          </a:p>
        </p:txBody>
      </p:sp>
      <p:sp>
        <p:nvSpPr>
          <p:cNvPr id="23" name="Rounded Rectangle 22"/>
          <p:cNvSpPr/>
          <p:nvPr/>
        </p:nvSpPr>
        <p:spPr>
          <a:xfrm>
            <a:off x="548640" y="5001768"/>
            <a:ext cx="11094415" cy="640080"/>
          </a:xfrm>
          <a:prstGeom prst="roundRect">
            <a:avLst>
              <a:gd name="adj" fmla="val 18000"/>
            </a:avLst>
          </a:prstGeom>
          <a:solidFill>
            <a:srgbClr val="FAF4F2">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5" name="TextBox 24"/>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Beers Criteria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EDE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A4472B"/>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02</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2F6F7A"/>
                </a:solidFill>
                <a:latin typeface="Calibri"/>
              </a:rPr>
              <a:t>SECTION 2  ·  QUESTION 3 OF 5  ·  ANSWER</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A4472B"/>
                </a:solidFill>
                <a:latin typeface="Cambria"/>
              </a:rPr>
              <a:t>Check your answer</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2  ·  Drug Information Sources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21 / 27</a:t>
            </a:r>
          </a:p>
        </p:txBody>
      </p:sp>
      <p:pic>
        <p:nvPicPr>
          <p:cNvPr id="10" name="Picture 9" descr="logo"/>
          <p:cNvPicPr>
            <a:picLocks noChangeAspect="1"/>
          </p:cNvPicPr>
          <p:nvPr/>
        </p:nvPicPr>
        <p:blipFill>
          <a:blip r:embed="rId3"/>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doctor asks about an interaction between clarithromycin and simvastatin. Which reference is most suitable?</a:t>
            </a:r>
          </a:p>
        </p:txBody>
      </p:sp>
      <p:sp>
        <p:nvSpPr>
          <p:cNvPr id="14" name="Rounded Rectangle 13"/>
          <p:cNvSpPr/>
          <p:nvPr/>
        </p:nvSpPr>
        <p:spPr>
          <a:xfrm>
            <a:off x="548640" y="2606040"/>
            <a:ext cx="11094415" cy="548640"/>
          </a:xfrm>
          <a:prstGeom prst="roundRect">
            <a:avLst>
              <a:gd name="adj" fmla="val 18000"/>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A</a:t>
            </a:r>
          </a:p>
        </p:txBody>
      </p:sp>
      <p:sp>
        <p:nvSpPr>
          <p:cNvPr id="16" name="TextBox 15"/>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Stockley's Drug Interactions</a:t>
            </a:r>
          </a:p>
        </p:txBody>
      </p:sp>
      <p:sp>
        <p:nvSpPr>
          <p:cNvPr id="17" name="Rounded Rectangle 16"/>
          <p:cNvSpPr/>
          <p:nvPr/>
        </p:nvSpPr>
        <p:spPr>
          <a:xfrm>
            <a:off x="548640" y="3282696"/>
            <a:ext cx="11094415" cy="548640"/>
          </a:xfrm>
          <a:prstGeom prst="roundRect">
            <a:avLst>
              <a:gd name="adj" fmla="val 18000"/>
            </a:avLst>
          </a:prstGeom>
          <a:solidFill>
            <a:srgbClr val="F5F4F4">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3346703"/>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35852"/>
                </a:solidFill>
                <a:latin typeface="Calibri"/>
              </a:rPr>
              <a:t>B</a:t>
            </a:r>
          </a:p>
        </p:txBody>
      </p:sp>
      <p:sp>
        <p:nvSpPr>
          <p:cNvPr id="19" name="TextBox 18"/>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35852"/>
                </a:solidFill>
                <a:latin typeface="Calibri"/>
              </a:rPr>
              <a:t>Trissel's Handbook on Injectable Drugs</a:t>
            </a:r>
          </a:p>
        </p:txBody>
      </p:sp>
      <p:sp>
        <p:nvSpPr>
          <p:cNvPr id="20" name="Rounded Rectangle 19"/>
          <p:cNvSpPr/>
          <p:nvPr/>
        </p:nvSpPr>
        <p:spPr>
          <a:xfrm>
            <a:off x="548640" y="3959352"/>
            <a:ext cx="11094415" cy="548640"/>
          </a:xfrm>
          <a:prstGeom prst="roundRect">
            <a:avLst>
              <a:gd name="adj" fmla="val 18000"/>
            </a:avLst>
          </a:prstGeom>
          <a:solidFill>
            <a:srgbClr val="F5F4F4">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 y="4023360"/>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35852"/>
                </a:solidFill>
                <a:latin typeface="Calibri"/>
              </a:rPr>
              <a:t>C</a:t>
            </a:r>
          </a:p>
        </p:txBody>
      </p:sp>
      <p:sp>
        <p:nvSpPr>
          <p:cNvPr id="22" name="TextBox 21"/>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35852"/>
                </a:solidFill>
                <a:latin typeface="Calibri"/>
              </a:rPr>
              <a:t>Briggs' Drugs in Pregnancy and Lactation</a:t>
            </a:r>
          </a:p>
        </p:txBody>
      </p:sp>
      <p:sp>
        <p:nvSpPr>
          <p:cNvPr id="23" name="Rounded Rectangle 22"/>
          <p:cNvSpPr/>
          <p:nvPr/>
        </p:nvSpPr>
        <p:spPr>
          <a:xfrm>
            <a:off x="548640" y="4636008"/>
            <a:ext cx="11094415" cy="548640"/>
          </a:xfrm>
          <a:prstGeom prst="roundRect">
            <a:avLst>
              <a:gd name="adj" fmla="val 18000"/>
            </a:avLst>
          </a:prstGeom>
          <a:solidFill>
            <a:srgbClr val="F5F4F4">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3232" y="4700016"/>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35852"/>
                </a:solidFill>
                <a:latin typeface="Calibri"/>
              </a:rPr>
              <a:t>D</a:t>
            </a:r>
          </a:p>
        </p:txBody>
      </p:sp>
      <p:sp>
        <p:nvSpPr>
          <p:cNvPr id="25" name="TextBox 24"/>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35852"/>
                </a:solidFill>
                <a:latin typeface="Calibri"/>
              </a:rPr>
              <a:t>Beers Criteria</a:t>
            </a:r>
          </a:p>
        </p:txBody>
      </p:sp>
      <p:sp>
        <p:nvSpPr>
          <p:cNvPr id="26" name="TextBox 25"/>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Stockley's is the standard interaction reference. B covers IV compatibility, C pregnancy, D older adults.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EDEA"/>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A4472B"/>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02</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2F6F7A"/>
                </a:solidFill>
                <a:latin typeface="Calibri"/>
              </a:rPr>
              <a:t>SECTION 2  ·  QUESTION 4 OF 5</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A4472B"/>
                </a:solidFill>
                <a:latin typeface="Cambria"/>
              </a:rPr>
              <a:t>Your turn</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2  ·  Drug Information Sources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22 / 27</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statement about PubMed Central (PMC) is correct?</a:t>
            </a:r>
          </a:p>
        </p:txBody>
      </p:sp>
      <p:sp>
        <p:nvSpPr>
          <p:cNvPr id="14" name="Rounded Rectangle 13"/>
          <p:cNvSpPr/>
          <p:nvPr/>
        </p:nvSpPr>
        <p:spPr>
          <a:xfrm>
            <a:off x="548640" y="2697480"/>
            <a:ext cx="11094415" cy="640080"/>
          </a:xfrm>
          <a:prstGeom prst="roundRect">
            <a:avLst>
              <a:gd name="adj" fmla="val 18000"/>
            </a:avLst>
          </a:prstGeom>
          <a:solidFill>
            <a:srgbClr val="FAF4F2">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6" name="TextBox 15"/>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It is a tertiary textbook</a:t>
            </a:r>
          </a:p>
        </p:txBody>
      </p:sp>
      <p:sp>
        <p:nvSpPr>
          <p:cNvPr id="17" name="Rounded Rectangle 16"/>
          <p:cNvSpPr/>
          <p:nvPr/>
        </p:nvSpPr>
        <p:spPr>
          <a:xfrm>
            <a:off x="548640" y="3465576"/>
            <a:ext cx="11094415" cy="640080"/>
          </a:xfrm>
          <a:prstGeom prst="roundRect">
            <a:avLst>
              <a:gd name="adj" fmla="val 18000"/>
            </a:avLst>
          </a:prstGeom>
          <a:solidFill>
            <a:srgbClr val="FAF4F2">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9" name="TextBox 18"/>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It indexes only abstracts</a:t>
            </a:r>
          </a:p>
        </p:txBody>
      </p:sp>
      <p:sp>
        <p:nvSpPr>
          <p:cNvPr id="20" name="Rounded Rectangle 19"/>
          <p:cNvSpPr/>
          <p:nvPr/>
        </p:nvSpPr>
        <p:spPr>
          <a:xfrm>
            <a:off x="548640" y="4233672"/>
            <a:ext cx="11094415" cy="640080"/>
          </a:xfrm>
          <a:prstGeom prst="roundRect">
            <a:avLst>
              <a:gd name="adj" fmla="val 18000"/>
            </a:avLst>
          </a:prstGeom>
          <a:solidFill>
            <a:srgbClr val="FAF4F2">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22" name="TextBox 21"/>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It is the official drug label</a:t>
            </a:r>
          </a:p>
        </p:txBody>
      </p:sp>
      <p:sp>
        <p:nvSpPr>
          <p:cNvPr id="23" name="Rounded Rectangle 22"/>
          <p:cNvSpPr/>
          <p:nvPr/>
        </p:nvSpPr>
        <p:spPr>
          <a:xfrm>
            <a:off x="548640" y="5001768"/>
            <a:ext cx="11094415" cy="640080"/>
          </a:xfrm>
          <a:prstGeom prst="roundRect">
            <a:avLst>
              <a:gd name="adj" fmla="val 18000"/>
            </a:avLst>
          </a:prstGeom>
          <a:solidFill>
            <a:srgbClr val="FAF4F2">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5" name="TextBox 24"/>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It is a free full-text archive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EDE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A4472B"/>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02</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2F6F7A"/>
                </a:solidFill>
                <a:latin typeface="Calibri"/>
              </a:rPr>
              <a:t>SECTION 2  ·  QUESTION 4 OF 5  ·  ANSWER</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A4472B"/>
                </a:solidFill>
                <a:latin typeface="Cambria"/>
              </a:rPr>
              <a:t>Check your answer</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2  ·  Drug Information Sources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23 / 27</a:t>
            </a:r>
          </a:p>
        </p:txBody>
      </p:sp>
      <p:pic>
        <p:nvPicPr>
          <p:cNvPr id="10" name="Picture 9" descr="logo"/>
          <p:cNvPicPr>
            <a:picLocks noChangeAspect="1"/>
          </p:cNvPicPr>
          <p:nvPr/>
        </p:nvPicPr>
        <p:blipFill>
          <a:blip r:embed="rId3"/>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statement about PubMed Central (PMC) is correct?</a:t>
            </a:r>
          </a:p>
        </p:txBody>
      </p:sp>
      <p:sp>
        <p:nvSpPr>
          <p:cNvPr id="14" name="Rounded Rectangle 13"/>
          <p:cNvSpPr/>
          <p:nvPr/>
        </p:nvSpPr>
        <p:spPr>
          <a:xfrm>
            <a:off x="548640" y="2606040"/>
            <a:ext cx="11094415" cy="548640"/>
          </a:xfrm>
          <a:prstGeom prst="roundRect">
            <a:avLst>
              <a:gd name="adj" fmla="val 18000"/>
            </a:avLst>
          </a:prstGeom>
          <a:solidFill>
            <a:srgbClr val="F5F4F4">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2670048"/>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35852"/>
                </a:solidFill>
                <a:latin typeface="Calibri"/>
              </a:rPr>
              <a:t>A</a:t>
            </a:r>
          </a:p>
        </p:txBody>
      </p:sp>
      <p:sp>
        <p:nvSpPr>
          <p:cNvPr id="16" name="TextBox 15"/>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35852"/>
                </a:solidFill>
                <a:latin typeface="Calibri"/>
              </a:rPr>
              <a:t>It is a tertiary textbook</a:t>
            </a:r>
          </a:p>
        </p:txBody>
      </p:sp>
      <p:sp>
        <p:nvSpPr>
          <p:cNvPr id="17" name="Rounded Rectangle 16"/>
          <p:cNvSpPr/>
          <p:nvPr/>
        </p:nvSpPr>
        <p:spPr>
          <a:xfrm>
            <a:off x="548640" y="3282696"/>
            <a:ext cx="11094415" cy="548640"/>
          </a:xfrm>
          <a:prstGeom prst="roundRect">
            <a:avLst>
              <a:gd name="adj" fmla="val 18000"/>
            </a:avLst>
          </a:prstGeom>
          <a:solidFill>
            <a:srgbClr val="F5F4F4">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3346703"/>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35852"/>
                </a:solidFill>
                <a:latin typeface="Calibri"/>
              </a:rPr>
              <a:t>B</a:t>
            </a:r>
          </a:p>
        </p:txBody>
      </p:sp>
      <p:sp>
        <p:nvSpPr>
          <p:cNvPr id="19" name="TextBox 18"/>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35852"/>
                </a:solidFill>
                <a:latin typeface="Calibri"/>
              </a:rPr>
              <a:t>It indexes only abstracts</a:t>
            </a:r>
          </a:p>
        </p:txBody>
      </p:sp>
      <p:sp>
        <p:nvSpPr>
          <p:cNvPr id="20" name="Rounded Rectangle 19"/>
          <p:cNvSpPr/>
          <p:nvPr/>
        </p:nvSpPr>
        <p:spPr>
          <a:xfrm>
            <a:off x="548640" y="3959352"/>
            <a:ext cx="11094415" cy="548640"/>
          </a:xfrm>
          <a:prstGeom prst="roundRect">
            <a:avLst>
              <a:gd name="adj" fmla="val 18000"/>
            </a:avLst>
          </a:prstGeom>
          <a:solidFill>
            <a:srgbClr val="F5F4F4">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 y="4023360"/>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35852"/>
                </a:solidFill>
                <a:latin typeface="Calibri"/>
              </a:rPr>
              <a:t>C</a:t>
            </a:r>
          </a:p>
        </p:txBody>
      </p:sp>
      <p:sp>
        <p:nvSpPr>
          <p:cNvPr id="22" name="TextBox 21"/>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35852"/>
                </a:solidFill>
                <a:latin typeface="Calibri"/>
              </a:rPr>
              <a:t>It is the official drug label</a:t>
            </a:r>
          </a:p>
        </p:txBody>
      </p:sp>
      <p:sp>
        <p:nvSpPr>
          <p:cNvPr id="23" name="Rounded Rectangle 22"/>
          <p:cNvSpPr/>
          <p:nvPr/>
        </p:nvSpPr>
        <p:spPr>
          <a:xfrm>
            <a:off x="548640" y="4636008"/>
            <a:ext cx="11094415" cy="548640"/>
          </a:xfrm>
          <a:prstGeom prst="roundRect">
            <a:avLst>
              <a:gd name="adj" fmla="val 18000"/>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3232" y="4700016"/>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D</a:t>
            </a:r>
          </a:p>
        </p:txBody>
      </p:sp>
      <p:sp>
        <p:nvSpPr>
          <p:cNvPr id="25" name="TextBox 24"/>
          <p:cNvSpPr txBox="1"/>
          <p:nvPr/>
        </p:nvSpPr>
        <p:spPr>
          <a:xfrm>
            <a:off x="1371600" y="4636008"/>
            <a:ext cx="10088575" cy="548640"/>
          </a:xfrm>
          <a:prstGeom prst="rect">
            <a:avLst/>
          </a:prstGeom>
          <a:noFill/>
        </p:spPr>
        <p:txBody>
          <a:bodyPr wrap="square" anchor="ctr" lIns="0" rIns="0" tIns="0" bIns="0">
            <a:spAutoFit/>
          </a:bodyPr>
          <a:lstStyle/>
          <a:p>
            <a:r>
              <a:rPr sz="1900" i="0" b="1">
                <a:solidFill>
                  <a:srgbClr val="FFFFFF"/>
                </a:solidFill>
                <a:latin typeface="Calibri"/>
              </a:rPr>
              <a:t>It is a free full-text archive</a:t>
            </a:r>
          </a:p>
        </p:txBody>
      </p:sp>
      <p:sp>
        <p:nvSpPr>
          <p:cNvPr id="26" name="TextBox 25"/>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PMC is a free full-text archive. A, B and C describe other sources.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EDEA"/>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A4472B"/>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02</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2F6F7A"/>
                </a:solidFill>
                <a:latin typeface="Calibri"/>
              </a:rPr>
              <a:t>SECTION 2  ·  QUESTION 5 OF 5</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A4472B"/>
                </a:solidFill>
                <a:latin typeface="Cambria"/>
              </a:rPr>
              <a:t>Your turn</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2  ·  Drug Information Sources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24 / 27</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When judging a tertiary source, which question matters MOST for a new drug?</a:t>
            </a:r>
          </a:p>
        </p:txBody>
      </p:sp>
      <p:sp>
        <p:nvSpPr>
          <p:cNvPr id="14" name="Rounded Rectangle 13"/>
          <p:cNvSpPr/>
          <p:nvPr/>
        </p:nvSpPr>
        <p:spPr>
          <a:xfrm>
            <a:off x="548640" y="2697480"/>
            <a:ext cx="11094415" cy="640080"/>
          </a:xfrm>
          <a:prstGeom prst="roundRect">
            <a:avLst>
              <a:gd name="adj" fmla="val 18000"/>
            </a:avLst>
          </a:prstGeom>
          <a:solidFill>
            <a:srgbClr val="FAF4F2">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6" name="TextBox 15"/>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Is the book easy to carry?</a:t>
            </a:r>
          </a:p>
        </p:txBody>
      </p:sp>
      <p:sp>
        <p:nvSpPr>
          <p:cNvPr id="17" name="Rounded Rectangle 16"/>
          <p:cNvSpPr/>
          <p:nvPr/>
        </p:nvSpPr>
        <p:spPr>
          <a:xfrm>
            <a:off x="548640" y="3465576"/>
            <a:ext cx="11094415" cy="640080"/>
          </a:xfrm>
          <a:prstGeom prst="roundRect">
            <a:avLst>
              <a:gd name="adj" fmla="val 18000"/>
            </a:avLst>
          </a:prstGeom>
          <a:solidFill>
            <a:srgbClr val="FAF4F2">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9" name="TextBox 18"/>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Is it recent enough to include the new drug?</a:t>
            </a:r>
          </a:p>
        </p:txBody>
      </p:sp>
      <p:sp>
        <p:nvSpPr>
          <p:cNvPr id="20" name="Rounded Rectangle 19"/>
          <p:cNvSpPr/>
          <p:nvPr/>
        </p:nvSpPr>
        <p:spPr>
          <a:xfrm>
            <a:off x="548640" y="4233672"/>
            <a:ext cx="11094415" cy="640080"/>
          </a:xfrm>
          <a:prstGeom prst="roundRect">
            <a:avLst>
              <a:gd name="adj" fmla="val 18000"/>
            </a:avLst>
          </a:prstGeom>
          <a:solidFill>
            <a:srgbClr val="FAF4F2">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22" name="TextBox 21"/>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Is it printed in colour?</a:t>
            </a:r>
          </a:p>
        </p:txBody>
      </p:sp>
      <p:sp>
        <p:nvSpPr>
          <p:cNvPr id="23" name="Rounded Rectangle 22"/>
          <p:cNvSpPr/>
          <p:nvPr/>
        </p:nvSpPr>
        <p:spPr>
          <a:xfrm>
            <a:off x="548640" y="5001768"/>
            <a:ext cx="11094415" cy="640080"/>
          </a:xfrm>
          <a:prstGeom prst="roundRect">
            <a:avLst>
              <a:gd name="adj" fmla="val 18000"/>
            </a:avLst>
          </a:prstGeom>
          <a:solidFill>
            <a:srgbClr val="FAF4F2">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5" name="TextBox 24"/>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Is it written by one author?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EDE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A4472B"/>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02</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2F6F7A"/>
                </a:solidFill>
                <a:latin typeface="Calibri"/>
              </a:rPr>
              <a:t>SECTION 2  ·  QUESTION 5 OF 5  ·  ANSWER</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A4472B"/>
                </a:solidFill>
                <a:latin typeface="Cambria"/>
              </a:rPr>
              <a:t>Check your answer</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2  ·  Drug Information Sources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25 / 27</a:t>
            </a:r>
          </a:p>
        </p:txBody>
      </p:sp>
      <p:pic>
        <p:nvPicPr>
          <p:cNvPr id="10" name="Picture 9" descr="logo"/>
          <p:cNvPicPr>
            <a:picLocks noChangeAspect="1"/>
          </p:cNvPicPr>
          <p:nvPr/>
        </p:nvPicPr>
        <p:blipFill>
          <a:blip r:embed="rId3"/>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When judging a tertiary source, which question matters MOST for a new drug?</a:t>
            </a:r>
          </a:p>
        </p:txBody>
      </p:sp>
      <p:sp>
        <p:nvSpPr>
          <p:cNvPr id="14" name="Rounded Rectangle 13"/>
          <p:cNvSpPr/>
          <p:nvPr/>
        </p:nvSpPr>
        <p:spPr>
          <a:xfrm>
            <a:off x="548640" y="2606040"/>
            <a:ext cx="11094415" cy="548640"/>
          </a:xfrm>
          <a:prstGeom prst="roundRect">
            <a:avLst>
              <a:gd name="adj" fmla="val 18000"/>
            </a:avLst>
          </a:prstGeom>
          <a:solidFill>
            <a:srgbClr val="F5F4F4">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2670048"/>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35852"/>
                </a:solidFill>
                <a:latin typeface="Calibri"/>
              </a:rPr>
              <a:t>A</a:t>
            </a:r>
          </a:p>
        </p:txBody>
      </p:sp>
      <p:sp>
        <p:nvSpPr>
          <p:cNvPr id="16" name="TextBox 15"/>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35852"/>
                </a:solidFill>
                <a:latin typeface="Calibri"/>
              </a:rPr>
              <a:t>Is the book easy to carry?</a:t>
            </a:r>
          </a:p>
        </p:txBody>
      </p:sp>
      <p:sp>
        <p:nvSpPr>
          <p:cNvPr id="17" name="Rounded Rectangle 16"/>
          <p:cNvSpPr/>
          <p:nvPr/>
        </p:nvSpPr>
        <p:spPr>
          <a:xfrm>
            <a:off x="548640" y="3282696"/>
            <a:ext cx="11094415" cy="548640"/>
          </a:xfrm>
          <a:prstGeom prst="roundRect">
            <a:avLst>
              <a:gd name="adj" fmla="val 18000"/>
            </a:avLst>
          </a:prstGeom>
          <a:solidFill>
            <a:srgbClr val="2F6F7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B</a:t>
            </a:r>
          </a:p>
        </p:txBody>
      </p:sp>
      <p:sp>
        <p:nvSpPr>
          <p:cNvPr id="19" name="TextBox 18"/>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Is it recent enough to include the new drug?</a:t>
            </a:r>
          </a:p>
        </p:txBody>
      </p:sp>
      <p:sp>
        <p:nvSpPr>
          <p:cNvPr id="20" name="Rounded Rectangle 19"/>
          <p:cNvSpPr/>
          <p:nvPr/>
        </p:nvSpPr>
        <p:spPr>
          <a:xfrm>
            <a:off x="548640" y="3959352"/>
            <a:ext cx="11094415" cy="548640"/>
          </a:xfrm>
          <a:prstGeom prst="roundRect">
            <a:avLst>
              <a:gd name="adj" fmla="val 18000"/>
            </a:avLst>
          </a:prstGeom>
          <a:solidFill>
            <a:srgbClr val="F5F4F4">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 y="4023360"/>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35852"/>
                </a:solidFill>
                <a:latin typeface="Calibri"/>
              </a:rPr>
              <a:t>C</a:t>
            </a:r>
          </a:p>
        </p:txBody>
      </p:sp>
      <p:sp>
        <p:nvSpPr>
          <p:cNvPr id="22" name="TextBox 21"/>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35852"/>
                </a:solidFill>
                <a:latin typeface="Calibri"/>
              </a:rPr>
              <a:t>Is it printed in colour?</a:t>
            </a:r>
          </a:p>
        </p:txBody>
      </p:sp>
      <p:sp>
        <p:nvSpPr>
          <p:cNvPr id="23" name="Rounded Rectangle 22"/>
          <p:cNvSpPr/>
          <p:nvPr/>
        </p:nvSpPr>
        <p:spPr>
          <a:xfrm>
            <a:off x="548640" y="4636008"/>
            <a:ext cx="11094415" cy="548640"/>
          </a:xfrm>
          <a:prstGeom prst="roundRect">
            <a:avLst>
              <a:gd name="adj" fmla="val 18000"/>
            </a:avLst>
          </a:prstGeom>
          <a:solidFill>
            <a:srgbClr val="F5F4F4">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3232" y="4700016"/>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35852"/>
                </a:solidFill>
                <a:latin typeface="Calibri"/>
              </a:rPr>
              <a:t>D</a:t>
            </a:r>
          </a:p>
        </p:txBody>
      </p:sp>
      <p:sp>
        <p:nvSpPr>
          <p:cNvPr id="25" name="TextBox 24"/>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35852"/>
                </a:solidFill>
                <a:latin typeface="Calibri"/>
              </a:rPr>
              <a:t>Is it written by one author?</a:t>
            </a:r>
          </a:p>
        </p:txBody>
      </p:sp>
      <p:sp>
        <p:nvSpPr>
          <p:cNvPr id="26" name="TextBox 25"/>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A new drug may be missing from an older source. A, C and D do not affect quality.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EDEA"/>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10" name="Rounded Rectangle 9"/>
          <p:cNvSpPr/>
          <p:nvPr/>
        </p:nvSpPr>
        <p:spPr>
          <a:xfrm>
            <a:off x="4251960" y="548640"/>
            <a:ext cx="7635240" cy="57150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0" y="612647"/>
            <a:ext cx="6995159"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931920" cy="6858000"/>
          </a:xfrm>
          <a:prstGeom prst="rect">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2926080" cy="2377440"/>
          </a:xfrm>
          <a:prstGeom prst="rect">
            <a:avLst/>
          </a:prstGeom>
          <a:noFill/>
        </p:spPr>
        <p:txBody>
          <a:bodyPr wrap="square" anchor="t" lIns="0" rIns="0" tIns="0" bIns="0">
            <a:spAutoFit/>
          </a:bodyPr>
          <a:lstStyle/>
          <a:p>
            <a:r>
              <a:rPr sz="13000" i="0" b="1">
                <a:solidFill>
                  <a:srgbClr val="F1E3DF"/>
                </a:solidFill>
                <a:latin typeface="Cambria"/>
              </a:rPr>
              <a:t>?</a:t>
            </a:r>
          </a:p>
        </p:txBody>
      </p:sp>
      <p:sp>
        <p:nvSpPr>
          <p:cNvPr id="5" name="TextBox 4"/>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Practice Case</a:t>
            </a:r>
          </a:p>
          <a:p>
            <a:r>
              <a:rPr sz="1400" i="0" b="1" spc="150">
                <a:solidFill>
                  <a:srgbClr val="F1E3DF"/>
                </a:solidFill>
                <a:latin typeface="Calibri"/>
              </a:rPr>
              <a:t>Section 2</a:t>
            </a:r>
          </a:p>
        </p:txBody>
      </p:sp>
      <p:sp>
        <p:nvSpPr>
          <p:cNvPr id="6" name="TextBox 5"/>
          <p:cNvSpPr txBox="1"/>
          <p:nvPr/>
        </p:nvSpPr>
        <p:spPr>
          <a:xfrm>
            <a:off x="4526280" y="822960"/>
            <a:ext cx="7132320" cy="5120640"/>
          </a:xfrm>
          <a:prstGeom prst="rect">
            <a:avLst/>
          </a:prstGeom>
          <a:noFill/>
        </p:spPr>
        <p:txBody>
          <a:bodyPr wrap="square" anchor="ctr" lIns="0" rIns="0" tIns="0" bIns="0">
            <a:spAutoFit/>
          </a:bodyPr>
          <a:lstStyle/>
          <a:p>
            <a:pPr>
              <a:spcBef>
                <a:spcPts val="0"/>
              </a:spcBef>
            </a:pPr>
            <a:r>
              <a:rPr sz="2200" i="0" b="0">
                <a:solidFill>
                  <a:srgbClr val="2B211C"/>
                </a:solidFill>
                <a:latin typeface="Calibri"/>
              </a:rPr>
              <a:t>A nurse asks whether ceftriaxone can be given through the same IV line as calcium gluconate. (a) Classify the question. (b) Which source do you open first? (c) What will you tell the nurse?</a:t>
            </a:r>
          </a:p>
        </p:txBody>
      </p:sp>
      <p:sp>
        <p:nvSpPr>
          <p:cNvPr id="7" name="TextBox 6"/>
          <p:cNvSpPr txBox="1"/>
          <p:nvPr/>
        </p:nvSpPr>
        <p:spPr>
          <a:xfrm>
            <a:off x="452628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Drug Information Sources</a:t>
            </a:r>
          </a:p>
        </p:txBody>
      </p:sp>
      <p:sp>
        <p:nvSpPr>
          <p:cNvPr id="8" name="TextBox 7"/>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26 / 27</a:t>
            </a:r>
          </a:p>
        </p:txBody>
      </p:sp>
      <p:pic>
        <p:nvPicPr>
          <p:cNvPr id="9" name="Picture 8" descr="logo"/>
          <p:cNvPicPr>
            <a:picLocks noChangeAspect="1"/>
          </p:cNvPicPr>
          <p:nvPr/>
        </p:nvPicPr>
        <p:blipFill>
          <a:blip r:embed="rId4"/>
          <a:stretch>
            <a:fillRect/>
          </a:stretch>
        </p:blipFill>
        <p:spPr>
          <a:xfrm>
            <a:off x="11247120" y="6309360"/>
            <a:ext cx="384048" cy="384048"/>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A4472B"/>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502920"/>
            <a:ext cx="7315200" cy="365760"/>
          </a:xfrm>
          <a:prstGeom prst="rect">
            <a:avLst/>
          </a:prstGeom>
          <a:noFill/>
        </p:spPr>
        <p:txBody>
          <a:bodyPr wrap="square" anchor="t" lIns="0" rIns="0" tIns="0" bIns="0">
            <a:spAutoFit/>
          </a:bodyPr>
          <a:lstStyle/>
          <a:p>
            <a:r>
              <a:rPr sz="1300" i="0" b="1" spc="200">
                <a:solidFill>
                  <a:srgbClr val="F2E5E1"/>
                </a:solidFill>
                <a:latin typeface="Calibri"/>
              </a:rPr>
              <a:t>SECTION 2  ·  SUMMARY</a:t>
            </a:r>
          </a:p>
        </p:txBody>
      </p:sp>
      <p:sp>
        <p:nvSpPr>
          <p:cNvPr id="4" name="TextBox 3"/>
          <p:cNvSpPr txBox="1"/>
          <p:nvPr/>
        </p:nvSpPr>
        <p:spPr>
          <a:xfrm>
            <a:off x="548640" y="822960"/>
            <a:ext cx="9144000" cy="731520"/>
          </a:xfrm>
          <a:prstGeom prst="rect">
            <a:avLst/>
          </a:prstGeom>
          <a:noFill/>
        </p:spPr>
        <p:txBody>
          <a:bodyPr wrap="square" anchor="t" lIns="0" rIns="0" tIns="0" bIns="0">
            <a:spAutoFit/>
          </a:bodyPr>
          <a:lstStyle/>
          <a:p>
            <a:r>
              <a:rPr sz="3600" i="0" b="1">
                <a:solidFill>
                  <a:srgbClr val="FFFFFF"/>
                </a:solidFill>
                <a:latin typeface="Cambria"/>
              </a:rPr>
              <a:t>Key Takeaways</a:t>
            </a:r>
          </a:p>
        </p:txBody>
      </p:sp>
      <p:sp>
        <p:nvSpPr>
          <p:cNvPr id="5" name="Oval 4"/>
          <p:cNvSpPr/>
          <p:nvPr/>
        </p:nvSpPr>
        <p:spPr>
          <a:xfrm>
            <a:off x="548640" y="1847088"/>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1</a:t>
            </a:r>
          </a:p>
        </p:txBody>
      </p:sp>
      <p:sp>
        <p:nvSpPr>
          <p:cNvPr id="6" name="TextBox 5"/>
          <p:cNvSpPr txBox="1"/>
          <p:nvPr/>
        </p:nvSpPr>
        <p:spPr>
          <a:xfrm>
            <a:off x="1143000" y="1865376"/>
            <a:ext cx="10500055" cy="995552"/>
          </a:xfrm>
          <a:prstGeom prst="rect">
            <a:avLst/>
          </a:prstGeom>
          <a:noFill/>
        </p:spPr>
        <p:txBody>
          <a:bodyPr wrap="square" anchor="t" lIns="0" rIns="0" tIns="0" bIns="0">
            <a:spAutoFit/>
          </a:bodyPr>
          <a:lstStyle/>
          <a:p>
            <a:r>
              <a:rPr sz="2100" i="0" b="0">
                <a:solidFill>
                  <a:srgbClr val="FFFFFF"/>
                </a:solidFill>
                <a:latin typeface="Calibri"/>
              </a:rPr>
              <a:t>Tertiary sources summarise, secondary sources find studies, primary sources are the studies.</a:t>
            </a:r>
          </a:p>
        </p:txBody>
      </p:sp>
      <p:sp>
        <p:nvSpPr>
          <p:cNvPr id="7" name="Oval 6"/>
          <p:cNvSpPr/>
          <p:nvPr/>
        </p:nvSpPr>
        <p:spPr>
          <a:xfrm>
            <a:off x="548640" y="2888361"/>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2</a:t>
            </a:r>
          </a:p>
        </p:txBody>
      </p:sp>
      <p:sp>
        <p:nvSpPr>
          <p:cNvPr id="8" name="TextBox 7"/>
          <p:cNvSpPr txBox="1"/>
          <p:nvPr/>
        </p:nvSpPr>
        <p:spPr>
          <a:xfrm>
            <a:off x="1143000" y="2906649"/>
            <a:ext cx="10500055" cy="995552"/>
          </a:xfrm>
          <a:prstGeom prst="rect">
            <a:avLst/>
          </a:prstGeom>
          <a:noFill/>
        </p:spPr>
        <p:txBody>
          <a:bodyPr wrap="square" anchor="t" lIns="0" rIns="0" tIns="0" bIns="0">
            <a:spAutoFit/>
          </a:bodyPr>
          <a:lstStyle/>
          <a:p>
            <a:r>
              <a:rPr sz="2100" i="0" b="0">
                <a:solidFill>
                  <a:srgbClr val="FFFFFF"/>
                </a:solidFill>
                <a:latin typeface="Calibri"/>
              </a:rPr>
              <a:t>Start with a tertiary source, but go further when the answer is incomplete or high-stakes.</a:t>
            </a:r>
          </a:p>
        </p:txBody>
      </p:sp>
      <p:sp>
        <p:nvSpPr>
          <p:cNvPr id="9" name="Oval 8"/>
          <p:cNvSpPr/>
          <p:nvPr/>
        </p:nvSpPr>
        <p:spPr>
          <a:xfrm>
            <a:off x="548640" y="3929633"/>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3</a:t>
            </a:r>
          </a:p>
        </p:txBody>
      </p:sp>
      <p:sp>
        <p:nvSpPr>
          <p:cNvPr id="10" name="TextBox 9"/>
          <p:cNvSpPr txBox="1"/>
          <p:nvPr/>
        </p:nvSpPr>
        <p:spPr>
          <a:xfrm>
            <a:off x="1143000" y="3947922"/>
            <a:ext cx="10500055" cy="662178"/>
          </a:xfrm>
          <a:prstGeom prst="rect">
            <a:avLst/>
          </a:prstGeom>
          <a:noFill/>
        </p:spPr>
        <p:txBody>
          <a:bodyPr wrap="square" anchor="t" lIns="0" rIns="0" tIns="0" bIns="0">
            <a:spAutoFit/>
          </a:bodyPr>
          <a:lstStyle/>
          <a:p>
            <a:r>
              <a:rPr sz="2100" i="0" b="0">
                <a:solidFill>
                  <a:srgbClr val="FFFFFF"/>
                </a:solidFill>
                <a:latin typeface="Calibri"/>
              </a:rPr>
              <a:t>Match the reference to the question (Table 2.3).</a:t>
            </a:r>
          </a:p>
        </p:txBody>
      </p:sp>
      <p:sp>
        <p:nvSpPr>
          <p:cNvPr id="11" name="Oval 10"/>
          <p:cNvSpPr/>
          <p:nvPr/>
        </p:nvSpPr>
        <p:spPr>
          <a:xfrm>
            <a:off x="548640" y="4637532"/>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4</a:t>
            </a:r>
          </a:p>
        </p:txBody>
      </p:sp>
      <p:sp>
        <p:nvSpPr>
          <p:cNvPr id="12" name="TextBox 11"/>
          <p:cNvSpPr txBox="1"/>
          <p:nvPr/>
        </p:nvSpPr>
        <p:spPr>
          <a:xfrm>
            <a:off x="1143000" y="4655820"/>
            <a:ext cx="10500055" cy="662178"/>
          </a:xfrm>
          <a:prstGeom prst="rect">
            <a:avLst/>
          </a:prstGeom>
          <a:noFill/>
        </p:spPr>
        <p:txBody>
          <a:bodyPr wrap="square" anchor="t" lIns="0" rIns="0" tIns="0" bIns="0">
            <a:spAutoFit/>
          </a:bodyPr>
          <a:lstStyle/>
          <a:p>
            <a:r>
              <a:rPr sz="2100" i="0" b="0">
                <a:solidFill>
                  <a:srgbClr val="FFFFFF"/>
                </a:solidFill>
                <a:latin typeface="Calibri"/>
              </a:rPr>
              <a:t>PubMed indexes articles; PMC stores full texts.</a:t>
            </a:r>
          </a:p>
        </p:txBody>
      </p:sp>
      <p:sp>
        <p:nvSpPr>
          <p:cNvPr id="13" name="Oval 12"/>
          <p:cNvSpPr/>
          <p:nvPr/>
        </p:nvSpPr>
        <p:spPr>
          <a:xfrm>
            <a:off x="548640" y="5345430"/>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5</a:t>
            </a:r>
          </a:p>
        </p:txBody>
      </p:sp>
      <p:sp>
        <p:nvSpPr>
          <p:cNvPr id="14" name="TextBox 13"/>
          <p:cNvSpPr txBox="1"/>
          <p:nvPr/>
        </p:nvSpPr>
        <p:spPr>
          <a:xfrm>
            <a:off x="1143000" y="5363718"/>
            <a:ext cx="10500055" cy="662178"/>
          </a:xfrm>
          <a:prstGeom prst="rect">
            <a:avLst/>
          </a:prstGeom>
          <a:noFill/>
        </p:spPr>
        <p:txBody>
          <a:bodyPr wrap="square" anchor="t" lIns="0" rIns="0" tIns="0" bIns="0">
            <a:spAutoFit/>
          </a:bodyPr>
          <a:lstStyle/>
          <a:p>
            <a:r>
              <a:rPr sz="2100" i="0" b="0">
                <a:solidFill>
                  <a:srgbClr val="FFFFFF"/>
                </a:solidFill>
                <a:latin typeface="Calibri"/>
              </a:rPr>
              <a:t>Judge every source for expertise, date, references and bias.</a:t>
            </a:r>
          </a:p>
        </p:txBody>
      </p:sp>
      <p:pic>
        <p:nvPicPr>
          <p:cNvPr id="15" name="Picture 14" descr="port-said-university.png"/>
          <p:cNvPicPr>
            <a:picLocks noChangeAspect="1"/>
          </p:cNvPicPr>
          <p:nvPr/>
        </p:nvPicPr>
        <p:blipFill>
          <a:blip r:embed="rId3"/>
          <a:stretch>
            <a:fillRect/>
          </a:stretch>
        </p:blipFill>
        <p:spPr>
          <a:xfrm>
            <a:off x="10378440" y="6144768"/>
            <a:ext cx="548640" cy="548640"/>
          </a:xfrm>
          <a:prstGeom prst="rect">
            <a:avLst/>
          </a:prstGeom>
        </p:spPr>
      </p:pic>
      <p:pic>
        <p:nvPicPr>
          <p:cNvPr id="16" name="Picture 15" descr="faculty-of-pharmacy.png"/>
          <p:cNvPicPr>
            <a:picLocks noChangeAspect="1"/>
          </p:cNvPicPr>
          <p:nvPr/>
        </p:nvPicPr>
        <p:blipFill>
          <a:blip r:embed="rId4"/>
          <a:stretch>
            <a:fillRect/>
          </a:stretch>
        </p:blipFill>
        <p:spPr>
          <a:xfrm>
            <a:off x="11036808" y="6144768"/>
            <a:ext cx="548640"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