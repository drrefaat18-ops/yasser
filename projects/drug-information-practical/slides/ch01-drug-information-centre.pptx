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What Is Drug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 information is knowledge about medicines that helps people use them well. It covers doses, effects, adverse effects, interactions, and use in special groups. A drug information service is the work pharmacists do to give accurate, unbiased and useful answers about medicines. The questions come from doctors, nurses, other pharmacists, patients and the public. Every pharmacist gives drug information. You will do it in the community pharmacy, the hospital ward and the clinic. The skill is the same everywhere: understand the real question, find good evidence, and give a clear answer.</a:t>
            </a:r>
          </a:p>
          <a:p/>
          <a:p>
            <a:r>
              <a:t>About 90 s.  Next: The Drug Information Centre.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drug information centre (DIC) is a unit run by trained pharmacists and other health professionals. Its job is to answer questions about medicines and to support safe use.</a:t>
            </a:r>
          </a:p>
          <a:p/>
          <a:p>
            <a:r>
              <a:t>About 30 s.  Next: What a DIC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drug information centre (DIC) is a unit run by trained pharmacists and other health professionals. Its job is to answer questions about medicines and to support safe use.</a:t>
            </a:r>
          </a:p>
          <a:p/>
          <a:p>
            <a:r>
              <a:t>About 30 s.  Next: What a DIC needs.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drug information centre (DIC) is a unit run by trained pharmacists and other health professionals. Its job is to answer questions about medicines and to support safe use.</a:t>
            </a:r>
          </a:p>
          <a:p/>
          <a:p>
            <a:r>
              <a:t>About 30 s.  Next: Why Drug Information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teams face three problems when they look for drug information: So the demand for fast, reliable and accurate drug information keeps growing. A pharmacist who answers well prevents errors and saves time for the whole team.</a:t>
            </a:r>
          </a:p>
          <a:p/>
          <a:p>
            <a:r>
              <a:t>About 60 s.  Next: Why Drug Information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teams face three problems when they look for drug information: So the demand for fast, reliable and accurate drug information keeps growing. A pharmacist who answers well prevents errors and saves time for the whole team.</a:t>
            </a:r>
          </a:p>
          <a:p/>
          <a:p>
            <a:r>
              <a:t>About 30 s.  Next: Answering a Request: The Systematic Approach.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answer follows seven steps. Step 3 is the one most often skipped. A person may ask "Is drug X available as a liquid?" when the real problem is that the patient cannot swallow tablets. The right answer may then be a different drug.</a:t>
            </a:r>
          </a:p>
          <a:p/>
          <a:p>
            <a:r>
              <a:t>About 30 s.  Next: Answering a Request: The Systematic Approach.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answer follows seven steps. Step 3 is the one most often skipped. A person may ask "Is drug X available as a liquid?" when the real problem is that the patient cannot swallow tablets. The right answer may then be a different drug.</a:t>
            </a:r>
          </a:p>
          <a:p/>
          <a:p>
            <a:r>
              <a:t>About 60 s.  Next: Answering a Request: The Systematic Approach.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answer follows seven steps. Step 3 is the one most often skipped. A person may ask "Is drug X available as a liquid?" when the real problem is that the patient cannot swallow tablets. The right answer may then be a different drug.</a:t>
            </a:r>
          </a:p>
          <a:p/>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60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This is the definition; it includes answers to the public. A, C and D are other activities.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A DIC gives information; it does not make medicines. A, B and D are core DIC work.</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Companies promote their own products, so their information may be biased. B, C and D are not always true.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Asking why reveals the real problem, such as swallowing difficulty or a feeding tube. A, B and D come later.</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The request ends with follow-up and documentation. A, B and C come earlier.</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Age, kidney function (eGFR), liver function, heart failure or other illness, planned contrast scans or surgery, and other drugs. (b) Often the real question is whether metformin is safe with reduced kidney function or before an iodinated contrast scan. (c) Give a clear answer with its source, check that the doctor received it, and record the request.</a:t>
            </a:r>
          </a:p>
          <a:p/>
          <a:p>
            <a:r>
              <a:t>About 60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In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B3C25"/>
                </a:solidFill>
                <a:latin typeface="Cambria"/>
              </a:rPr>
              <a:t>01</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2E5E1"/>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2E5E1"/>
                </a:solidFill>
                <a:latin typeface="Calibri"/>
              </a:rPr>
              <a:t>DRUG INFORMATION  ·  SECTION 1</a:t>
            </a:r>
          </a:p>
          <a:p>
            <a:pPr>
              <a:spcBef>
                <a:spcPts val="1400"/>
              </a:spcBef>
            </a:pPr>
            <a:r>
              <a:rPr sz="4400" i="0" b="1">
                <a:solidFill>
                  <a:srgbClr val="FFFFFF"/>
                </a:solidFill>
                <a:latin typeface="Cambria"/>
              </a:rPr>
              <a:t>The Drug Information Centre</a:t>
            </a:r>
          </a:p>
          <a:p>
            <a:pPr>
              <a:spcBef>
                <a:spcPts val="1600"/>
              </a:spcBef>
            </a:pPr>
            <a:r>
              <a:rPr sz="2000" i="1" b="0">
                <a:solidFill>
                  <a:srgbClr val="F2E5E1"/>
                </a:solidFill>
                <a:latin typeface="Cambria"/>
              </a:rPr>
              <a:t>A Practical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2E5E1"/>
                </a:solidFill>
                <a:latin typeface="Calibri"/>
              </a:rPr>
              <a:t>45 minutes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In This Section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02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6629400" cy="1108710"/>
          </a:xfrm>
          <a:prstGeom prst="rect">
            <a:avLst/>
          </a:prstGeom>
          <a:noFill/>
        </p:spPr>
        <p:txBody>
          <a:bodyPr wrap="square" anchor="t" lIns="0" rIns="0" tIns="0" bIns="0">
            <a:spAutoFit/>
          </a:bodyPr>
          <a:lstStyle/>
          <a:p>
            <a:r>
              <a:rPr sz="2100" i="0" b="0">
                <a:solidFill>
                  <a:srgbClr val="2B211C"/>
                </a:solidFill>
                <a:latin typeface="Calibri"/>
              </a:rPr>
              <a:t>Define drug information and a drug information service.</a:t>
            </a:r>
          </a:p>
        </p:txBody>
      </p:sp>
      <p:sp>
        <p:nvSpPr>
          <p:cNvPr id="10" name="Oval 9"/>
          <p:cNvSpPr/>
          <p:nvPr/>
        </p:nvSpPr>
        <p:spPr>
          <a:xfrm>
            <a:off x="548640" y="272719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745486"/>
            <a:ext cx="6629400" cy="1108710"/>
          </a:xfrm>
          <a:prstGeom prst="rect">
            <a:avLst/>
          </a:prstGeom>
          <a:noFill/>
        </p:spPr>
        <p:txBody>
          <a:bodyPr wrap="square" anchor="t" lIns="0" rIns="0" tIns="0" bIns="0">
            <a:spAutoFit/>
          </a:bodyPr>
          <a:lstStyle/>
          <a:p>
            <a:r>
              <a:rPr sz="2100" i="0" b="0">
                <a:solidFill>
                  <a:srgbClr val="2B211C"/>
                </a:solidFill>
                <a:latin typeface="Calibri"/>
              </a:rPr>
              <a:t>Describe what a drug information centre (DIC) does and what it needs.</a:t>
            </a:r>
          </a:p>
        </p:txBody>
      </p:sp>
      <p:sp>
        <p:nvSpPr>
          <p:cNvPr id="12" name="Oval 11"/>
          <p:cNvSpPr/>
          <p:nvPr/>
        </p:nvSpPr>
        <p:spPr>
          <a:xfrm>
            <a:off x="548640" y="3881627"/>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899915"/>
            <a:ext cx="6629400" cy="1108710"/>
          </a:xfrm>
          <a:prstGeom prst="rect">
            <a:avLst/>
          </a:prstGeom>
          <a:noFill/>
        </p:spPr>
        <p:txBody>
          <a:bodyPr wrap="square" anchor="t" lIns="0" rIns="0" tIns="0" bIns="0">
            <a:spAutoFit/>
          </a:bodyPr>
          <a:lstStyle/>
          <a:p>
            <a:r>
              <a:rPr sz="2100" i="0" b="0">
                <a:solidFill>
                  <a:srgbClr val="2B211C"/>
                </a:solidFill>
                <a:latin typeface="Calibri"/>
              </a:rPr>
              <a:t>Explain why pharmacists need reliable drug information.</a:t>
            </a:r>
          </a:p>
        </p:txBody>
      </p:sp>
      <p:sp>
        <p:nvSpPr>
          <p:cNvPr id="14" name="Oval 13"/>
          <p:cNvSpPr/>
          <p:nvPr/>
        </p:nvSpPr>
        <p:spPr>
          <a:xfrm>
            <a:off x="548640" y="5036057"/>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1143000" y="5054346"/>
            <a:ext cx="6629400" cy="1108710"/>
          </a:xfrm>
          <a:prstGeom prst="rect">
            <a:avLst/>
          </a:prstGeom>
          <a:noFill/>
        </p:spPr>
        <p:txBody>
          <a:bodyPr wrap="square" anchor="t" lIns="0" rIns="0" tIns="0" bIns="0">
            <a:spAutoFit/>
          </a:bodyPr>
          <a:lstStyle/>
          <a:p>
            <a:r>
              <a:rPr sz="2100" i="0" b="0">
                <a:solidFill>
                  <a:srgbClr val="2B211C"/>
                </a:solidFill>
                <a:latin typeface="Calibri"/>
              </a:rPr>
              <a:t>Apply the seven steps of the systematic approach to a drug information request.</a:t>
            </a:r>
          </a:p>
        </p:txBody>
      </p:sp>
      <p:sp>
        <p:nvSpPr>
          <p:cNvPr id="16" name="Rounded Rectangle 15"/>
          <p:cNvSpPr/>
          <p:nvPr/>
        </p:nvSpPr>
        <p:spPr>
          <a:xfrm>
            <a:off x="8366760" y="1600200"/>
            <a:ext cx="3273552" cy="4526280"/>
          </a:xfrm>
          <a:prstGeom prst="roundRect">
            <a:avLst>
              <a:gd name="adj" fmla="val 5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03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10500055" cy="824737"/>
          </a:xfrm>
          <a:prstGeom prst="rect">
            <a:avLst/>
          </a:prstGeom>
          <a:noFill/>
        </p:spPr>
        <p:txBody>
          <a:bodyPr wrap="square" anchor="t" lIns="0" rIns="0" tIns="0" bIns="0">
            <a:spAutoFit/>
          </a:bodyPr>
          <a:lstStyle/>
          <a:p>
            <a:r>
              <a:rPr sz="2200" i="0" b="0">
                <a:solidFill>
                  <a:srgbClr val="2B211C"/>
                </a:solidFill>
                <a:latin typeface="Calibri"/>
              </a:rPr>
              <a:t>What Is Drug Information?</a:t>
            </a:r>
          </a:p>
        </p:txBody>
      </p:sp>
      <p:sp>
        <p:nvSpPr>
          <p:cNvPr id="10" name="Oval 9"/>
          <p:cNvSpPr/>
          <p:nvPr/>
        </p:nvSpPr>
        <p:spPr>
          <a:xfrm>
            <a:off x="548640" y="24432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461514"/>
            <a:ext cx="10500055" cy="824737"/>
          </a:xfrm>
          <a:prstGeom prst="rect">
            <a:avLst/>
          </a:prstGeom>
          <a:noFill/>
        </p:spPr>
        <p:txBody>
          <a:bodyPr wrap="square" anchor="t" lIns="0" rIns="0" tIns="0" bIns="0">
            <a:spAutoFit/>
          </a:bodyPr>
          <a:lstStyle/>
          <a:p>
            <a:r>
              <a:rPr sz="2200" i="0" b="0">
                <a:solidFill>
                  <a:srgbClr val="2B211C"/>
                </a:solidFill>
                <a:latin typeface="Calibri"/>
              </a:rPr>
              <a:t>The Drug Information Centre</a:t>
            </a:r>
          </a:p>
        </p:txBody>
      </p:sp>
      <p:sp>
        <p:nvSpPr>
          <p:cNvPr id="12" name="Oval 11"/>
          <p:cNvSpPr/>
          <p:nvPr/>
        </p:nvSpPr>
        <p:spPr>
          <a:xfrm>
            <a:off x="548640" y="331368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331972"/>
            <a:ext cx="10500055" cy="824737"/>
          </a:xfrm>
          <a:prstGeom prst="rect">
            <a:avLst/>
          </a:prstGeom>
          <a:noFill/>
        </p:spPr>
        <p:txBody>
          <a:bodyPr wrap="square" anchor="t" lIns="0" rIns="0" tIns="0" bIns="0">
            <a:spAutoFit/>
          </a:bodyPr>
          <a:lstStyle/>
          <a:p>
            <a:r>
              <a:rPr sz="2200" i="0" b="0">
                <a:solidFill>
                  <a:srgbClr val="2B211C"/>
                </a:solidFill>
                <a:latin typeface="Calibri"/>
              </a:rPr>
              <a:t>Why Drug Information Matters</a:t>
            </a:r>
          </a:p>
        </p:txBody>
      </p:sp>
      <p:sp>
        <p:nvSpPr>
          <p:cNvPr id="14" name="Oval 13"/>
          <p:cNvSpPr/>
          <p:nvPr/>
        </p:nvSpPr>
        <p:spPr>
          <a:xfrm>
            <a:off x="548640" y="4184141"/>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1143000" y="4202430"/>
            <a:ext cx="10500055" cy="824737"/>
          </a:xfrm>
          <a:prstGeom prst="rect">
            <a:avLst/>
          </a:prstGeom>
          <a:noFill/>
        </p:spPr>
        <p:txBody>
          <a:bodyPr wrap="square" anchor="t" lIns="0" rIns="0" tIns="0" bIns="0">
            <a:spAutoFit/>
          </a:bodyPr>
          <a:lstStyle/>
          <a:p>
            <a:r>
              <a:rPr sz="2200" i="0" b="0">
                <a:solidFill>
                  <a:srgbClr val="2B211C"/>
                </a:solidFill>
                <a:latin typeface="Calibri"/>
              </a:rPr>
              <a:t>Answering a Request: The Systematic Approach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What Is Drug Information?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04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10500055" cy="1475612"/>
          </a:xfrm>
          <a:prstGeom prst="rect">
            <a:avLst/>
          </a:prstGeom>
          <a:noFill/>
        </p:spPr>
        <p:txBody>
          <a:bodyPr wrap="square" anchor="t" lIns="0" rIns="0" tIns="0" bIns="0">
            <a:spAutoFit/>
          </a:bodyPr>
          <a:lstStyle/>
          <a:p>
            <a:r>
              <a:rPr sz="2100" i="0" b="1">
                <a:solidFill>
                  <a:srgbClr val="2B211C"/>
                </a:solidFill>
                <a:latin typeface="Calibri"/>
              </a:rPr>
              <a:t>Drug information</a:t>
            </a:r>
            <a:r>
              <a:rPr sz="2100" i="0" b="0">
                <a:solidFill>
                  <a:srgbClr val="2B211C"/>
                </a:solidFill>
                <a:latin typeface="Calibri"/>
              </a:rPr>
              <a:t> is knowledge about medicines that helps people use them well. It covers doses, effects, adverse effects, interactions, and use in special groups.</a:t>
            </a:r>
          </a:p>
        </p:txBody>
      </p:sp>
      <p:sp>
        <p:nvSpPr>
          <p:cNvPr id="10" name="Oval 9"/>
          <p:cNvSpPr/>
          <p:nvPr/>
        </p:nvSpPr>
        <p:spPr>
          <a:xfrm>
            <a:off x="548640" y="3094100"/>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3112388"/>
            <a:ext cx="10500055" cy="1475612"/>
          </a:xfrm>
          <a:prstGeom prst="rect">
            <a:avLst/>
          </a:prstGeom>
          <a:noFill/>
        </p:spPr>
        <p:txBody>
          <a:bodyPr wrap="square" anchor="t" lIns="0" rIns="0" tIns="0" bIns="0">
            <a:spAutoFit/>
          </a:bodyPr>
          <a:lstStyle/>
          <a:p>
            <a:r>
              <a:rPr sz="2100" i="0" b="0">
                <a:solidFill>
                  <a:srgbClr val="2B211C"/>
                </a:solidFill>
                <a:latin typeface="Calibri"/>
              </a:rPr>
              <a:t>A </a:t>
            </a:r>
            <a:r>
              <a:rPr sz="2100" i="0" b="1">
                <a:solidFill>
                  <a:srgbClr val="2B211C"/>
                </a:solidFill>
                <a:latin typeface="Calibri"/>
              </a:rPr>
              <a:t>drug information service</a:t>
            </a:r>
            <a:r>
              <a:rPr sz="2100" i="0" b="0">
                <a:solidFill>
                  <a:srgbClr val="2B211C"/>
                </a:solidFill>
                <a:latin typeface="Calibri"/>
              </a:rPr>
              <a:t> is the work pharmacists do to give accurate, unbiased and useful answers about medicines. The questions come from doctors, nurses, other pharmacists, patients and the public.</a:t>
            </a:r>
          </a:p>
        </p:txBody>
      </p:sp>
      <p:sp>
        <p:nvSpPr>
          <p:cNvPr id="12" name="Oval 11"/>
          <p:cNvSpPr/>
          <p:nvPr/>
        </p:nvSpPr>
        <p:spPr>
          <a:xfrm>
            <a:off x="548640" y="4615433"/>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4633722"/>
            <a:ext cx="10500055" cy="1475612"/>
          </a:xfrm>
          <a:prstGeom prst="rect">
            <a:avLst/>
          </a:prstGeom>
          <a:noFill/>
        </p:spPr>
        <p:txBody>
          <a:bodyPr wrap="square" anchor="t" lIns="0" rIns="0" tIns="0" bIns="0">
            <a:spAutoFit/>
          </a:bodyPr>
          <a:lstStyle/>
          <a:p>
            <a:r>
              <a:rPr sz="2100" i="0" b="0">
                <a:solidFill>
                  <a:srgbClr val="2B211C"/>
                </a:solidFill>
                <a:latin typeface="Calibri"/>
              </a:rPr>
              <a:t>Every pharmacist gives drug information. You will do it in the community pharmacy, the hospital ward and the clinic. The skill is the same everywhere: understand the real question, find good evidence, and give a clear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Drug Information Centre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05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A </a:t>
            </a:r>
            <a:r>
              <a:rPr sz="1800" i="0" b="1">
                <a:solidFill>
                  <a:srgbClr val="2B211C"/>
                </a:solidFill>
                <a:latin typeface="Calibri"/>
              </a:rPr>
              <a:t>drug information centre (DIC)</a:t>
            </a:r>
            <a:r>
              <a:rPr sz="1800" i="0" b="0">
                <a:solidFill>
                  <a:srgbClr val="2B211C"/>
                </a:solidFill>
                <a:latin typeface="Calibri"/>
              </a:rPr>
              <a:t> is a unit run by trained pharmacists and other health professionals. Its job is to answer questions about medicines and to support safe use.</a:t>
            </a:r>
          </a:p>
        </p:txBody>
      </p:sp>
      <p:graphicFrame>
        <p:nvGraphicFramePr>
          <p:cNvPr id="9" name="Table 8"/>
          <p:cNvGraphicFramePr>
            <a:graphicFrameLocks noGrp="1"/>
          </p:cNvGraphicFramePr>
          <p:nvPr/>
        </p:nvGraphicFramePr>
        <p:xfrm>
          <a:off x="548640" y="2532887"/>
          <a:ext cx="11094414" cy="3200400"/>
        </p:xfrm>
        <a:graphic>
          <a:graphicData uri="http://schemas.openxmlformats.org/drawingml/2006/table">
            <a:tbl>
              <a:tblPr firstRow="0" bandRow="0">
                <a:tableStyleId>{5C22544A-7EE6-4342-B048-85BDC9FD1C3A}</a:tableStyleId>
              </a:tblPr>
              <a:tblGrid>
                <a:gridCol w="2521457"/>
                <a:gridCol w="8572957"/>
              </a:tblGrid>
              <a:tr h="640080">
                <a:tc>
                  <a:txBody>
                    <a:bodyPr/>
                    <a:lstStyle/>
                    <a:p>
                      <a:r>
                        <a:rPr sz="1700" i="0" b="1">
                          <a:solidFill>
                            <a:srgbClr val="FFFFFF"/>
                          </a:solidFill>
                          <a:latin typeface="Calibri"/>
                        </a:rPr>
                        <a:t>Feature</a:t>
                      </a:r>
                    </a:p>
                  </a:txBody>
                  <a:tcPr marL="109728" marR="109728" marT="45720" marB="45720" anchor="ctr">
                    <a:solidFill>
                      <a:srgbClr val="A4472B"/>
                    </a:solidFill>
                  </a:tcPr>
                </a:tc>
                <a:tc>
                  <a:txBody>
                    <a:bodyPr/>
                    <a:lstStyle/>
                    <a:p>
                      <a:r>
                        <a:rPr sz="1700" i="0" b="1">
                          <a:solidFill>
                            <a:srgbClr val="FFFFFF"/>
                          </a:solidFill>
                          <a:latin typeface="Calibri"/>
                        </a:rPr>
                        <a:t>Details</a:t>
                      </a:r>
                    </a:p>
                  </a:txBody>
                  <a:tcPr marL="109728" marR="109728" marT="45720" marB="45720" anchor="ctr">
                    <a:solidFill>
                      <a:srgbClr val="A4472B"/>
                    </a:solidFill>
                  </a:tcPr>
                </a:tc>
              </a:tr>
              <a:tr h="640080">
                <a:tc>
                  <a:txBody>
                    <a:bodyPr/>
                    <a:lstStyle/>
                    <a:p>
                      <a:r>
                        <a:rPr sz="1800" i="0" b="1">
                          <a:solidFill>
                            <a:srgbClr val="2B211C"/>
                          </a:solidFill>
                          <a:latin typeface="Calibri"/>
                        </a:rPr>
                        <a:t>First centre</a:t>
                      </a:r>
                    </a:p>
                  </a:txBody>
                  <a:tcPr marL="109728" marR="109728" marT="45720" marB="45720" anchor="ctr">
                    <a:solidFill>
                      <a:srgbClr val="FFFFFF"/>
                    </a:solidFill>
                  </a:tcPr>
                </a:tc>
                <a:tc>
                  <a:txBody>
                    <a:bodyPr/>
                    <a:lstStyle/>
                    <a:p>
                      <a:r>
                        <a:rPr sz="1800" i="0" b="0">
                          <a:solidFill>
                            <a:srgbClr val="2B211C"/>
                          </a:solidFill>
                          <a:latin typeface="Calibri"/>
                        </a:rPr>
                        <a:t>University of Kentucky Medical Center, USA, 1962</a:t>
                      </a:r>
                    </a:p>
                  </a:txBody>
                  <a:tcPr marL="109728" marR="109728" marT="45720" marB="45720" anchor="ctr">
                    <a:solidFill>
                      <a:srgbClr val="FFFFFF"/>
                    </a:solidFill>
                  </a:tcPr>
                </a:tc>
              </a:tr>
              <a:tr h="640080">
                <a:tc>
                  <a:txBody>
                    <a:bodyPr/>
                    <a:lstStyle/>
                    <a:p>
                      <a:r>
                        <a:rPr sz="1800" i="0" b="1">
                          <a:solidFill>
                            <a:srgbClr val="2B211C"/>
                          </a:solidFill>
                          <a:latin typeface="Calibri"/>
                        </a:rPr>
                        <a:t>Today</a:t>
                      </a:r>
                    </a:p>
                  </a:txBody>
                  <a:tcPr marL="109728" marR="109728" marT="45720" marB="45720" anchor="ctr">
                    <a:solidFill>
                      <a:srgbClr val="FAF4F2"/>
                    </a:solidFill>
                  </a:tcPr>
                </a:tc>
                <a:tc>
                  <a:txBody>
                    <a:bodyPr/>
                    <a:lstStyle/>
                    <a:p>
                      <a:r>
                        <a:rPr sz="1800" i="0" b="0">
                          <a:solidFill>
                            <a:srgbClr val="2B211C"/>
                          </a:solidFill>
                          <a:latin typeface="Calibri"/>
                        </a:rPr>
                        <a:t>Fewer stand-alone centres; most hospitals give drug information through their pharmacists</a:t>
                      </a:r>
                    </a:p>
                  </a:txBody>
                  <a:tcPr marL="109728" marR="109728" marT="45720" marB="45720" anchor="ctr">
                    <a:solidFill>
                      <a:srgbClr val="FAF4F2"/>
                    </a:solidFill>
                  </a:tcPr>
                </a:tc>
              </a:tr>
              <a:tr h="640080">
                <a:tc>
                  <a:txBody>
                    <a:bodyPr/>
                    <a:lstStyle/>
                    <a:p>
                      <a:r>
                        <a:rPr sz="1800" i="0" b="1">
                          <a:solidFill>
                            <a:srgbClr val="2B211C"/>
                          </a:solidFill>
                          <a:latin typeface="Calibri"/>
                        </a:rPr>
                        <a:t>In Egypt</a:t>
                      </a:r>
                    </a:p>
                  </a:txBody>
                  <a:tcPr marL="109728" marR="109728" marT="45720" marB="45720" anchor="ctr">
                    <a:solidFill>
                      <a:srgbClr val="FFFFFF"/>
                    </a:solidFill>
                  </a:tcPr>
                </a:tc>
                <a:tc>
                  <a:txBody>
                    <a:bodyPr/>
                    <a:lstStyle/>
                    <a:p>
                      <a:r>
                        <a:rPr sz="1800" i="0" b="0">
                          <a:solidFill>
                            <a:srgbClr val="2B211C"/>
                          </a:solidFill>
                          <a:latin typeface="Calibri"/>
                        </a:rPr>
                        <a:t>The Egyptian Drug Authority (EDA) runs drug information and pharmacovigilance services</a:t>
                      </a:r>
                    </a:p>
                  </a:txBody>
                  <a:tcPr marL="109728" marR="109728" marT="45720" marB="45720" anchor="ctr">
                    <a:solidFill>
                      <a:srgbClr val="FFFFFF"/>
                    </a:solidFill>
                  </a:tcPr>
                </a:tc>
              </a:tr>
              <a:tr h="640080">
                <a:tc>
                  <a:txBody>
                    <a:bodyPr/>
                    <a:lstStyle/>
                    <a:p>
                      <a:r>
                        <a:rPr sz="1800" i="0" b="1">
                          <a:solidFill>
                            <a:srgbClr val="2B211C"/>
                          </a:solidFill>
                          <a:latin typeface="Calibri"/>
                        </a:rPr>
                        <a:t>WHO view</a:t>
                      </a:r>
                    </a:p>
                  </a:txBody>
                  <a:tcPr marL="109728" marR="109728" marT="45720" marB="45720" anchor="ctr">
                    <a:solidFill>
                      <a:srgbClr val="FAF4F2"/>
                    </a:solidFill>
                  </a:tcPr>
                </a:tc>
                <a:tc>
                  <a:txBody>
                    <a:bodyPr/>
                    <a:lstStyle/>
                    <a:p>
                      <a:r>
                        <a:rPr sz="1800" i="0" b="0">
                          <a:solidFill>
                            <a:srgbClr val="2B211C"/>
                          </a:solidFill>
                          <a:latin typeface="Calibri"/>
                        </a:rPr>
                        <a:t>Independent drug information is a core part of national medicines policy</a:t>
                      </a:r>
                    </a:p>
                  </a:txBody>
                  <a:tcPr marL="109728" marR="109728" marT="45720" marB="45720" anchor="ctr">
                    <a:solidFill>
                      <a:srgbClr val="FA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What a DIC does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06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840480"/>
        </p:xfrm>
        <a:graphic>
          <a:graphicData uri="http://schemas.openxmlformats.org/drawingml/2006/table">
            <a:tbl>
              <a:tblPr firstRow="0" bandRow="0">
                <a:tableStyleId>{5C22544A-7EE6-4342-B048-85BDC9FD1C3A}</a:tableStyleId>
              </a:tblPr>
              <a:tblGrid>
                <a:gridCol w="3153149"/>
                <a:gridCol w="7941265"/>
              </a:tblGrid>
              <a:tr h="640080">
                <a:tc>
                  <a:txBody>
                    <a:bodyPr/>
                    <a:lstStyle/>
                    <a:p>
                      <a:r>
                        <a:rPr sz="1700" i="0" b="1">
                          <a:solidFill>
                            <a:srgbClr val="FFFFFF"/>
                          </a:solidFill>
                          <a:latin typeface="Calibri"/>
                        </a:rPr>
                        <a:t>Activity</a:t>
                      </a:r>
                    </a:p>
                  </a:txBody>
                  <a:tcPr marL="109728" marR="109728" marT="45720" marB="45720" anchor="ctr">
                    <a:solidFill>
                      <a:srgbClr val="A4472B"/>
                    </a:solidFill>
                  </a:tcPr>
                </a:tc>
                <a:tc>
                  <a:txBody>
                    <a:bodyPr/>
                    <a:lstStyle/>
                    <a:p>
                      <a:r>
                        <a:rPr sz="1700" i="0" b="1">
                          <a:solidFill>
                            <a:srgbClr val="FFFFFF"/>
                          </a:solidFill>
                          <a:latin typeface="Calibri"/>
                        </a:rPr>
                        <a:t>Example</a:t>
                      </a:r>
                    </a:p>
                  </a:txBody>
                  <a:tcPr marL="109728" marR="109728" marT="45720" marB="45720" anchor="ctr">
                    <a:solidFill>
                      <a:srgbClr val="A4472B"/>
                    </a:solidFill>
                  </a:tcPr>
                </a:tc>
              </a:tr>
              <a:tr h="640080">
                <a:tc>
                  <a:txBody>
                    <a:bodyPr/>
                    <a:lstStyle/>
                    <a:p>
                      <a:r>
                        <a:rPr sz="1800" i="0" b="1">
                          <a:solidFill>
                            <a:srgbClr val="2B211C"/>
                          </a:solidFill>
                          <a:latin typeface="Calibri"/>
                        </a:rPr>
                        <a:t>Answers questions</a:t>
                      </a:r>
                    </a:p>
                  </a:txBody>
                  <a:tcPr marL="109728" marR="109728" marT="45720" marB="45720" anchor="ctr">
                    <a:solidFill>
                      <a:srgbClr val="FFFFFF"/>
                    </a:solidFill>
                  </a:tcPr>
                </a:tc>
                <a:tc>
                  <a:txBody>
                    <a:bodyPr/>
                    <a:lstStyle/>
                    <a:p>
                      <a:r>
                        <a:rPr sz="1800" i="0" b="0">
                          <a:solidFill>
                            <a:srgbClr val="2B211C"/>
                          </a:solidFill>
                          <a:latin typeface="Calibri"/>
                        </a:rPr>
                        <a:t>"Can this patient take ibuprofen with warfarin?"</a:t>
                      </a:r>
                    </a:p>
                  </a:txBody>
                  <a:tcPr marL="109728" marR="109728" marT="45720" marB="45720" anchor="ctr">
                    <a:solidFill>
                      <a:srgbClr val="FFFFFF"/>
                    </a:solidFill>
                  </a:tcPr>
                </a:tc>
              </a:tr>
              <a:tr h="640080">
                <a:tc>
                  <a:txBody>
                    <a:bodyPr/>
                    <a:lstStyle/>
                    <a:p>
                      <a:r>
                        <a:rPr sz="1800" i="0" b="1">
                          <a:solidFill>
                            <a:srgbClr val="2B211C"/>
                          </a:solidFill>
                          <a:latin typeface="Calibri"/>
                        </a:rPr>
                        <a:t>Supports committees</a:t>
                      </a:r>
                    </a:p>
                  </a:txBody>
                  <a:tcPr marL="109728" marR="109728" marT="45720" marB="45720" anchor="ctr">
                    <a:solidFill>
                      <a:srgbClr val="FAF4F2"/>
                    </a:solidFill>
                  </a:tcPr>
                </a:tc>
                <a:tc>
                  <a:txBody>
                    <a:bodyPr/>
                    <a:lstStyle/>
                    <a:p>
                      <a:r>
                        <a:rPr sz="1800" i="0" b="0">
                          <a:solidFill>
                            <a:srgbClr val="2B211C"/>
                          </a:solidFill>
                          <a:latin typeface="Calibri"/>
                        </a:rPr>
                        <a:t>Evidence reviews for the Drug and Therapeutics Committee (DTC)</a:t>
                      </a:r>
                    </a:p>
                  </a:txBody>
                  <a:tcPr marL="109728" marR="109728" marT="45720" marB="45720" anchor="ctr">
                    <a:solidFill>
                      <a:srgbClr val="FAF4F2"/>
                    </a:solidFill>
                  </a:tcPr>
                </a:tc>
              </a:tr>
              <a:tr h="640080">
                <a:tc>
                  <a:txBody>
                    <a:bodyPr/>
                    <a:lstStyle/>
                    <a:p>
                      <a:r>
                        <a:rPr sz="1800" i="0" b="1">
                          <a:solidFill>
                            <a:srgbClr val="2B211C"/>
                          </a:solidFill>
                          <a:latin typeface="Calibri"/>
                        </a:rPr>
                        <a:t>Teaches</a:t>
                      </a:r>
                    </a:p>
                  </a:txBody>
                  <a:tcPr marL="109728" marR="109728" marT="45720" marB="45720" anchor="ctr">
                    <a:solidFill>
                      <a:srgbClr val="FFFFFF"/>
                    </a:solidFill>
                  </a:tcPr>
                </a:tc>
                <a:tc>
                  <a:txBody>
                    <a:bodyPr/>
                    <a:lstStyle/>
                    <a:p>
                      <a:r>
                        <a:rPr sz="1800" i="0" b="0">
                          <a:solidFill>
                            <a:srgbClr val="2B211C"/>
                          </a:solidFill>
                          <a:latin typeface="Calibri"/>
                        </a:rPr>
                        <a:t>Newsletters, bulletins, training for staff and students</a:t>
                      </a:r>
                    </a:p>
                  </a:txBody>
                  <a:tcPr marL="109728" marR="109728" marT="45720" marB="45720" anchor="ctr">
                    <a:solidFill>
                      <a:srgbClr val="FFFFFF"/>
                    </a:solidFill>
                  </a:tcPr>
                </a:tc>
              </a:tr>
              <a:tr h="640080">
                <a:tc>
                  <a:txBody>
                    <a:bodyPr/>
                    <a:lstStyle/>
                    <a:p>
                      <a:r>
                        <a:rPr sz="1800" i="0" b="1">
                          <a:solidFill>
                            <a:srgbClr val="2B211C"/>
                          </a:solidFill>
                          <a:latin typeface="Calibri"/>
                        </a:rPr>
                        <a:t>Supports safety</a:t>
                      </a:r>
                    </a:p>
                  </a:txBody>
                  <a:tcPr marL="109728" marR="109728" marT="45720" marB="45720" anchor="ctr">
                    <a:solidFill>
                      <a:srgbClr val="FAF4F2"/>
                    </a:solidFill>
                  </a:tcPr>
                </a:tc>
                <a:tc>
                  <a:txBody>
                    <a:bodyPr/>
                    <a:lstStyle/>
                    <a:p>
                      <a:r>
                        <a:rPr sz="1800" i="0" b="0">
                          <a:solidFill>
                            <a:srgbClr val="2B211C"/>
                          </a:solidFill>
                          <a:latin typeface="Calibri"/>
                        </a:rPr>
                        <a:t>Collects and reviews adverse drug reaction reports</a:t>
                      </a:r>
                    </a:p>
                  </a:txBody>
                  <a:tcPr marL="109728" marR="109728" marT="45720" marB="45720" anchor="ctr">
                    <a:solidFill>
                      <a:srgbClr val="FAF4F2"/>
                    </a:solidFill>
                  </a:tcPr>
                </a:tc>
              </a:tr>
              <a:tr h="640080">
                <a:tc>
                  <a:txBody>
                    <a:bodyPr/>
                    <a:lstStyle/>
                    <a:p>
                      <a:r>
                        <a:rPr sz="1800" i="0" b="1">
                          <a:solidFill>
                            <a:srgbClr val="2B211C"/>
                          </a:solidFill>
                          <a:latin typeface="Calibri"/>
                        </a:rPr>
                        <a:t>Supports research</a:t>
                      </a:r>
                    </a:p>
                  </a:txBody>
                  <a:tcPr marL="109728" marR="109728" marT="45720" marB="45720" anchor="ctr">
                    <a:solidFill>
                      <a:srgbClr val="FFFFFF"/>
                    </a:solidFill>
                  </a:tcPr>
                </a:tc>
                <a:tc>
                  <a:txBody>
                    <a:bodyPr/>
                    <a:lstStyle/>
                    <a:p>
                      <a:r>
                        <a:rPr sz="1800" i="0" b="0">
                          <a:solidFill>
                            <a:srgbClr val="2B211C"/>
                          </a:solidFill>
                          <a:latin typeface="Calibri"/>
                        </a:rPr>
                        <a:t>Literature searches and help with study design</a:t>
                      </a:r>
                    </a:p>
                  </a:txBody>
                  <a:tcPr marL="109728" marR="109728" marT="45720" marB="4572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What a DIC needs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07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10500055" cy="808863"/>
          </a:xfrm>
          <a:prstGeom prst="rect">
            <a:avLst/>
          </a:prstGeom>
          <a:noFill/>
        </p:spPr>
        <p:txBody>
          <a:bodyPr wrap="square" anchor="t" lIns="0" rIns="0" tIns="0" bIns="0">
            <a:spAutoFit/>
          </a:bodyPr>
          <a:lstStyle/>
          <a:p>
            <a:r>
              <a:rPr sz="2100" i="0" b="1">
                <a:solidFill>
                  <a:srgbClr val="2B211C"/>
                </a:solidFill>
                <a:latin typeface="Calibri"/>
              </a:rPr>
              <a:t>Team:</a:t>
            </a:r>
            <a:r>
              <a:rPr sz="2100" i="0" b="0">
                <a:solidFill>
                  <a:srgbClr val="2B211C"/>
                </a:solidFill>
                <a:latin typeface="Calibri"/>
              </a:rPr>
              <a:t> trained pharmacists with good search and writing skills.</a:t>
            </a:r>
          </a:p>
        </p:txBody>
      </p:sp>
      <p:sp>
        <p:nvSpPr>
          <p:cNvPr id="10" name="Oval 9"/>
          <p:cNvSpPr/>
          <p:nvPr/>
        </p:nvSpPr>
        <p:spPr>
          <a:xfrm>
            <a:off x="548640" y="2427351"/>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445639"/>
            <a:ext cx="10500055" cy="808863"/>
          </a:xfrm>
          <a:prstGeom prst="rect">
            <a:avLst/>
          </a:prstGeom>
          <a:noFill/>
        </p:spPr>
        <p:txBody>
          <a:bodyPr wrap="square" anchor="t" lIns="0" rIns="0" tIns="0" bIns="0">
            <a:spAutoFit/>
          </a:bodyPr>
          <a:lstStyle/>
          <a:p>
            <a:r>
              <a:rPr sz="2100" i="0" b="1">
                <a:solidFill>
                  <a:srgbClr val="2B211C"/>
                </a:solidFill>
                <a:latin typeface="Calibri"/>
              </a:rPr>
              <a:t>Place and hardware:</a:t>
            </a:r>
            <a:r>
              <a:rPr sz="2100" i="0" b="0">
                <a:solidFill>
                  <a:srgbClr val="2B211C"/>
                </a:solidFill>
                <a:latin typeface="Calibri"/>
              </a:rPr>
              <a:t> a quiet room, computers and internet access.</a:t>
            </a:r>
          </a:p>
        </p:txBody>
      </p:sp>
      <p:sp>
        <p:nvSpPr>
          <p:cNvPr id="12" name="Oval 11"/>
          <p:cNvSpPr/>
          <p:nvPr/>
        </p:nvSpPr>
        <p:spPr>
          <a:xfrm>
            <a:off x="548640" y="328193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300222"/>
            <a:ext cx="10500055" cy="808863"/>
          </a:xfrm>
          <a:prstGeom prst="rect">
            <a:avLst/>
          </a:prstGeom>
          <a:noFill/>
        </p:spPr>
        <p:txBody>
          <a:bodyPr wrap="square" anchor="t" lIns="0" rIns="0" tIns="0" bIns="0">
            <a:spAutoFit/>
          </a:bodyPr>
          <a:lstStyle/>
          <a:p>
            <a:r>
              <a:rPr sz="2100" i="0" b="1">
                <a:solidFill>
                  <a:srgbClr val="2B211C"/>
                </a:solidFill>
                <a:latin typeface="Calibri"/>
              </a:rPr>
              <a:t>Communication:</a:t>
            </a:r>
            <a:r>
              <a:rPr sz="2100" i="0" b="0">
                <a:solidFill>
                  <a:srgbClr val="2B211C"/>
                </a:solidFill>
                <a:latin typeface="Calibri"/>
              </a:rPr>
              <a:t> phone, email and a way to document every request.</a:t>
            </a:r>
          </a:p>
        </p:txBody>
      </p:sp>
      <p:sp>
        <p:nvSpPr>
          <p:cNvPr id="14" name="Oval 13"/>
          <p:cNvSpPr/>
          <p:nvPr/>
        </p:nvSpPr>
        <p:spPr>
          <a:xfrm>
            <a:off x="548640" y="413651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1143000" y="4154805"/>
            <a:ext cx="10500055" cy="808863"/>
          </a:xfrm>
          <a:prstGeom prst="rect">
            <a:avLst/>
          </a:prstGeom>
          <a:noFill/>
        </p:spPr>
        <p:txBody>
          <a:bodyPr wrap="square" anchor="t" lIns="0" rIns="0" tIns="0" bIns="0">
            <a:spAutoFit/>
          </a:bodyPr>
          <a:lstStyle/>
          <a:p>
            <a:r>
              <a:rPr sz="2100" i="0" b="1">
                <a:solidFill>
                  <a:srgbClr val="2B211C"/>
                </a:solidFill>
                <a:latin typeface="Calibri"/>
              </a:rPr>
              <a:t>Sources:</a:t>
            </a:r>
            <a:r>
              <a:rPr sz="2100" i="0" b="0">
                <a:solidFill>
                  <a:srgbClr val="2B211C"/>
                </a:solidFill>
                <a:latin typeface="Calibri"/>
              </a:rPr>
              <a:t> current references, kept up to date (Chapter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Why Drug Information Matters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08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202436"/>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Health teams face three problems when they look for drug information:</a:t>
            </a:r>
          </a:p>
          <a:p>
            <a:pPr>
              <a:spcAft>
                <a:spcPts val="800"/>
              </a:spcAft>
            </a:pPr>
            <a:r>
              <a:rPr sz="1800" i="0" b="0">
                <a:solidFill>
                  <a:srgbClr val="2B211C"/>
                </a:solidFill>
                <a:latin typeface="Calibri"/>
              </a:rPr>
              <a:t>So the demand for </a:t>
            </a:r>
            <a:r>
              <a:rPr sz="1800" i="0" b="1">
                <a:solidFill>
                  <a:srgbClr val="2B211C"/>
                </a:solidFill>
                <a:latin typeface="Calibri"/>
              </a:rPr>
              <a:t>fast, reliable and accurate</a:t>
            </a:r>
            <a:r>
              <a:rPr sz="1800" i="0" b="0">
                <a:solidFill>
                  <a:srgbClr val="2B211C"/>
                </a:solidFill>
                <a:latin typeface="Calibri"/>
              </a:rPr>
              <a:t> drug information keeps growing. A pharmacist who answers well prevents errors and saves time for the whole team.</a:t>
            </a:r>
          </a:p>
        </p:txBody>
      </p:sp>
      <p:sp>
        <p:nvSpPr>
          <p:cNvPr id="9" name="Oval 8"/>
          <p:cNvSpPr/>
          <p:nvPr/>
        </p:nvSpPr>
        <p:spPr>
          <a:xfrm>
            <a:off x="548640" y="295808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0" name="TextBox 9"/>
          <p:cNvSpPr txBox="1"/>
          <p:nvPr/>
        </p:nvSpPr>
        <p:spPr>
          <a:xfrm>
            <a:off x="1143000" y="2976372"/>
            <a:ext cx="10500055" cy="808863"/>
          </a:xfrm>
          <a:prstGeom prst="rect">
            <a:avLst/>
          </a:prstGeom>
          <a:noFill/>
        </p:spPr>
        <p:txBody>
          <a:bodyPr wrap="square" anchor="t" lIns="0" rIns="0" tIns="0" bIns="0">
            <a:spAutoFit/>
          </a:bodyPr>
          <a:lstStyle/>
          <a:p>
            <a:r>
              <a:rPr sz="2100" i="0" b="0">
                <a:solidFill>
                  <a:srgbClr val="2B211C"/>
                </a:solidFill>
                <a:latin typeface="Calibri"/>
              </a:rPr>
              <a:t>Textbooks take time to search, cost money and can be out of date.</a:t>
            </a:r>
          </a:p>
        </p:txBody>
      </p:sp>
      <p:sp>
        <p:nvSpPr>
          <p:cNvPr id="11" name="Oval 10"/>
          <p:cNvSpPr/>
          <p:nvPr/>
        </p:nvSpPr>
        <p:spPr>
          <a:xfrm>
            <a:off x="548640" y="381266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2" name="TextBox 11"/>
          <p:cNvSpPr txBox="1"/>
          <p:nvPr/>
        </p:nvSpPr>
        <p:spPr>
          <a:xfrm>
            <a:off x="1143000" y="3830955"/>
            <a:ext cx="10500055" cy="808863"/>
          </a:xfrm>
          <a:prstGeom prst="rect">
            <a:avLst/>
          </a:prstGeom>
          <a:noFill/>
        </p:spPr>
        <p:txBody>
          <a:bodyPr wrap="square" anchor="t" lIns="0" rIns="0" tIns="0" bIns="0">
            <a:spAutoFit/>
          </a:bodyPr>
          <a:lstStyle/>
          <a:p>
            <a:r>
              <a:rPr sz="2100" i="0" b="0">
                <a:solidFill>
                  <a:srgbClr val="2B211C"/>
                </a:solidFill>
                <a:latin typeface="Calibri"/>
              </a:rPr>
              <a:t>Many free websites are not reliable.</a:t>
            </a:r>
          </a:p>
        </p:txBody>
      </p:sp>
      <p:sp>
        <p:nvSpPr>
          <p:cNvPr id="13" name="Oval 12"/>
          <p:cNvSpPr/>
          <p:nvPr/>
        </p:nvSpPr>
        <p:spPr>
          <a:xfrm>
            <a:off x="548640" y="4667249"/>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4" name="TextBox 13"/>
          <p:cNvSpPr txBox="1"/>
          <p:nvPr/>
        </p:nvSpPr>
        <p:spPr>
          <a:xfrm>
            <a:off x="1143000" y="4685538"/>
            <a:ext cx="10500055" cy="808863"/>
          </a:xfrm>
          <a:prstGeom prst="rect">
            <a:avLst/>
          </a:prstGeom>
          <a:noFill/>
        </p:spPr>
        <p:txBody>
          <a:bodyPr wrap="square" anchor="t" lIns="0" rIns="0" tIns="0" bIns="0">
            <a:spAutoFit/>
          </a:bodyPr>
          <a:lstStyle/>
          <a:p>
            <a:r>
              <a:rPr sz="2100" i="0" b="0">
                <a:solidFill>
                  <a:srgbClr val="2B211C"/>
                </a:solidFill>
                <a:latin typeface="Calibri"/>
              </a:rPr>
              <a:t>Information from drug companies may be biased.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Why Drug Information Matters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09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It is tempting to use the easiest and most familiar source every time. Doing so can miss new evidence. Match the source to the question.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2700" i="0" b="1">
                <a:solidFill>
                  <a:srgbClr val="2B211C"/>
                </a:solidFill>
                <a:latin typeface="Cambria"/>
              </a:rPr>
              <a:t>Answering a Request: The Systematic Approach</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10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A good answer follows seven steps.</a:t>
            </a:r>
          </a:p>
        </p:txBody>
      </p:sp>
      <p:pic>
        <p:nvPicPr>
          <p:cNvPr id="9" name="Picture 8" descr="Seven numbered boxes in two rows joined by arrows: requester, background, real question, classify, search, answer, follow up and document. Step 3, the real question, is highlighted as the step most often skipped."/>
          <p:cNvPicPr>
            <a:picLocks noChangeAspect="1"/>
          </p:cNvPicPr>
          <p:nvPr/>
        </p:nvPicPr>
        <p:blipFill>
          <a:blip r:embed="rId4"/>
          <a:stretch>
            <a:fillRect/>
          </a:stretch>
        </p:blipFill>
        <p:spPr>
          <a:xfrm>
            <a:off x="1808812" y="2235708"/>
            <a:ext cx="8574071" cy="3525011"/>
          </a:xfrm>
          <a:prstGeom prst="rect">
            <a:avLst/>
          </a:prstGeom>
        </p:spPr>
      </p:pic>
      <p:sp>
        <p:nvSpPr>
          <p:cNvPr id="10" name="TextBox 9"/>
          <p:cNvSpPr txBox="1"/>
          <p:nvPr/>
        </p:nvSpPr>
        <p:spPr>
          <a:xfrm>
            <a:off x="548640" y="5852158"/>
            <a:ext cx="11094415" cy="365760"/>
          </a:xfrm>
          <a:prstGeom prst="rect">
            <a:avLst/>
          </a:prstGeom>
          <a:noFill/>
        </p:spPr>
        <p:txBody>
          <a:bodyPr wrap="square" anchor="t" lIns="0" rIns="0" tIns="0" bIns="0">
            <a:spAutoFit/>
          </a:bodyPr>
          <a:lstStyle/>
          <a:p>
            <a:pPr algn="ctr"/>
            <a:r>
              <a:rPr sz="1300" i="1" b="0">
                <a:solidFill>
                  <a:srgbClr val="6E625B"/>
                </a:solidFill>
                <a:latin typeface="Calibri"/>
              </a:rPr>
              <a:t>The seven-step systematic approach to a drug information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2700" i="0" b="1">
                <a:solidFill>
                  <a:srgbClr val="2B211C"/>
                </a:solidFill>
                <a:latin typeface="Cambria"/>
              </a:rPr>
              <a:t>Answering a Request: The Systematic Approach</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11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Step 3 is the one most often skipped. A person may ask "Is drug X available as a liquid?" when the real problem is that the patient cannot swallow tablets. The right answer may then be a different drug.</a:t>
            </a:r>
          </a:p>
        </p:txBody>
      </p:sp>
      <p:graphicFrame>
        <p:nvGraphicFramePr>
          <p:cNvPr id="9" name="Table 8"/>
          <p:cNvGraphicFramePr>
            <a:graphicFrameLocks noGrp="1"/>
          </p:cNvGraphicFramePr>
          <p:nvPr/>
        </p:nvGraphicFramePr>
        <p:xfrm>
          <a:off x="548640" y="2830068"/>
          <a:ext cx="11094413" cy="3342128"/>
        </p:xfrm>
        <a:graphic>
          <a:graphicData uri="http://schemas.openxmlformats.org/drawingml/2006/table">
            <a:tbl>
              <a:tblPr firstRow="0" bandRow="0">
                <a:tableStyleId>{5C22544A-7EE6-4342-B048-85BDC9FD1C3A}</a:tableStyleId>
              </a:tblPr>
              <a:tblGrid>
                <a:gridCol w="2596565"/>
                <a:gridCol w="3855505"/>
                <a:gridCol w="4642343"/>
              </a:tblGrid>
              <a:tr h="417766">
                <a:tc>
                  <a:txBody>
                    <a:bodyPr/>
                    <a:lstStyle/>
                    <a:p>
                      <a:r>
                        <a:rPr sz="1300" i="0" b="1">
                          <a:solidFill>
                            <a:srgbClr val="FFFFFF"/>
                          </a:solidFill>
                          <a:latin typeface="Calibri"/>
                        </a:rPr>
                        <a:t>Step</a:t>
                      </a:r>
                    </a:p>
                  </a:txBody>
                  <a:tcPr marL="109728" marR="109728" marT="45720" marB="45720" anchor="ctr">
                    <a:solidFill>
                      <a:srgbClr val="A4472B"/>
                    </a:solidFill>
                  </a:tcPr>
                </a:tc>
                <a:tc>
                  <a:txBody>
                    <a:bodyPr/>
                    <a:lstStyle/>
                    <a:p>
                      <a:r>
                        <a:rPr sz="1300" i="0" b="1">
                          <a:solidFill>
                            <a:srgbClr val="FFFFFF"/>
                          </a:solidFill>
                          <a:latin typeface="Calibri"/>
                        </a:rPr>
                        <a:t>What you do</a:t>
                      </a:r>
                    </a:p>
                  </a:txBody>
                  <a:tcPr marL="109728" marR="109728" marT="45720" marB="45720" anchor="ctr">
                    <a:solidFill>
                      <a:srgbClr val="A4472B"/>
                    </a:solidFill>
                  </a:tcPr>
                </a:tc>
                <a:tc>
                  <a:txBody>
                    <a:bodyPr/>
                    <a:lstStyle/>
                    <a:p>
                      <a:r>
                        <a:rPr sz="1300" i="0" b="1">
                          <a:solidFill>
                            <a:srgbClr val="FFFFFF"/>
                          </a:solidFill>
                          <a:latin typeface="Calibri"/>
                        </a:rPr>
                        <a:t>Ask yourself</a:t>
                      </a:r>
                    </a:p>
                  </a:txBody>
                  <a:tcPr marL="109728" marR="109728" marT="45720" marB="45720" anchor="ctr">
                    <a:solidFill>
                      <a:srgbClr val="A4472B"/>
                    </a:solidFill>
                  </a:tcPr>
                </a:tc>
              </a:tr>
              <a:tr h="417766">
                <a:tc>
                  <a:txBody>
                    <a:bodyPr/>
                    <a:lstStyle/>
                    <a:p>
                      <a:r>
                        <a:rPr sz="1400" i="0" b="1">
                          <a:solidFill>
                            <a:srgbClr val="2B211C"/>
                          </a:solidFill>
                          <a:latin typeface="Calibri"/>
                        </a:rPr>
                        <a:t>1. Requester</a:t>
                      </a:r>
                    </a:p>
                  </a:txBody>
                  <a:tcPr marL="109728" marR="109728" marT="45720" marB="45720" anchor="ctr">
                    <a:solidFill>
                      <a:srgbClr val="FFFFFF"/>
                    </a:solidFill>
                  </a:tcPr>
                </a:tc>
                <a:tc>
                  <a:txBody>
                    <a:bodyPr/>
                    <a:lstStyle/>
                    <a:p>
                      <a:r>
                        <a:rPr sz="1400" i="0" b="0">
                          <a:solidFill>
                            <a:srgbClr val="2B211C"/>
                          </a:solidFill>
                          <a:latin typeface="Calibri"/>
                        </a:rPr>
                        <a:t>Note who is asking and how to reach them</a:t>
                      </a:r>
                    </a:p>
                  </a:txBody>
                  <a:tcPr marL="109728" marR="109728" marT="45720" marB="45720" anchor="ctr">
                    <a:solidFill>
                      <a:srgbClr val="FFFFFF"/>
                    </a:solidFill>
                  </a:tcPr>
                </a:tc>
                <a:tc>
                  <a:txBody>
                    <a:bodyPr/>
                    <a:lstStyle/>
                    <a:p>
                      <a:r>
                        <a:rPr sz="1400" i="0" b="0">
                          <a:solidFill>
                            <a:srgbClr val="2B211C"/>
                          </a:solidFill>
                          <a:latin typeface="Calibri"/>
                        </a:rPr>
                        <a:t>Doctor, nurse, patient? How urgent?</a:t>
                      </a:r>
                    </a:p>
                  </a:txBody>
                  <a:tcPr marL="109728" marR="109728" marT="45720" marB="45720" anchor="ctr">
                    <a:solidFill>
                      <a:srgbClr val="FFFFFF"/>
                    </a:solidFill>
                  </a:tcPr>
                </a:tc>
              </a:tr>
              <a:tr h="417766">
                <a:tc>
                  <a:txBody>
                    <a:bodyPr/>
                    <a:lstStyle/>
                    <a:p>
                      <a:r>
                        <a:rPr sz="1400" i="0" b="1">
                          <a:solidFill>
                            <a:srgbClr val="2B211C"/>
                          </a:solidFill>
                          <a:latin typeface="Calibri"/>
                        </a:rPr>
                        <a:t>2. Background</a:t>
                      </a:r>
                    </a:p>
                  </a:txBody>
                  <a:tcPr marL="109728" marR="109728" marT="45720" marB="45720" anchor="ctr">
                    <a:solidFill>
                      <a:srgbClr val="FAF4F2"/>
                    </a:solidFill>
                  </a:tcPr>
                </a:tc>
                <a:tc>
                  <a:txBody>
                    <a:bodyPr/>
                    <a:lstStyle/>
                    <a:p>
                      <a:r>
                        <a:rPr sz="1400" i="0" b="0">
                          <a:solidFill>
                            <a:srgbClr val="2B211C"/>
                          </a:solidFill>
                          <a:latin typeface="Calibri"/>
                        </a:rPr>
                        <a:t>Collect patient and drug details</a:t>
                      </a:r>
                    </a:p>
                  </a:txBody>
                  <a:tcPr marL="109728" marR="109728" marT="45720" marB="45720" anchor="ctr">
                    <a:solidFill>
                      <a:srgbClr val="FAF4F2"/>
                    </a:solidFill>
                  </a:tcPr>
                </a:tc>
                <a:tc>
                  <a:txBody>
                    <a:bodyPr/>
                    <a:lstStyle/>
                    <a:p>
                      <a:r>
                        <a:rPr sz="1400" i="0" b="0">
                          <a:solidFill>
                            <a:srgbClr val="2B211C"/>
                          </a:solidFill>
                          <a:latin typeface="Calibri"/>
                        </a:rPr>
                        <a:t>Age, weight, kidney and liver function, other drugs</a:t>
                      </a:r>
                    </a:p>
                  </a:txBody>
                  <a:tcPr marL="109728" marR="109728" marT="45720" marB="45720" anchor="ctr">
                    <a:solidFill>
                      <a:srgbClr val="FAF4F2"/>
                    </a:solidFill>
                  </a:tcPr>
                </a:tc>
              </a:tr>
              <a:tr h="417766">
                <a:tc>
                  <a:txBody>
                    <a:bodyPr/>
                    <a:lstStyle/>
                    <a:p>
                      <a:r>
                        <a:rPr sz="1400" i="0" b="1">
                          <a:solidFill>
                            <a:srgbClr val="2B211C"/>
                          </a:solidFill>
                          <a:latin typeface="Calibri"/>
                        </a:rPr>
                        <a:t>3. Real question</a:t>
                      </a:r>
                    </a:p>
                  </a:txBody>
                  <a:tcPr marL="109728" marR="109728" marT="45720" marB="45720" anchor="ctr">
                    <a:solidFill>
                      <a:srgbClr val="FFFFFF"/>
                    </a:solidFill>
                  </a:tcPr>
                </a:tc>
                <a:tc>
                  <a:txBody>
                    <a:bodyPr/>
                    <a:lstStyle/>
                    <a:p>
                      <a:r>
                        <a:rPr sz="1400" i="0" b="0">
                          <a:solidFill>
                            <a:srgbClr val="2B211C"/>
                          </a:solidFill>
                          <a:latin typeface="Calibri"/>
                        </a:rPr>
                        <a:t>Find the true need behind the question</a:t>
                      </a:r>
                    </a:p>
                  </a:txBody>
                  <a:tcPr marL="109728" marR="109728" marT="45720" marB="45720" anchor="ctr">
                    <a:solidFill>
                      <a:srgbClr val="FFFFFF"/>
                    </a:solidFill>
                  </a:tcPr>
                </a:tc>
                <a:tc>
                  <a:txBody>
                    <a:bodyPr/>
                    <a:lstStyle/>
                    <a:p>
                      <a:r>
                        <a:rPr sz="1400" i="0" b="0">
                          <a:solidFill>
                            <a:srgbClr val="2B211C"/>
                          </a:solidFill>
                          <a:latin typeface="Calibri"/>
                        </a:rPr>
                        <a:t>What will the person do with my answer?</a:t>
                      </a:r>
                    </a:p>
                  </a:txBody>
                  <a:tcPr marL="109728" marR="109728" marT="45720" marB="45720" anchor="ctr">
                    <a:solidFill>
                      <a:srgbClr val="FFFFFF"/>
                    </a:solidFill>
                  </a:tcPr>
                </a:tc>
              </a:tr>
              <a:tr h="417766">
                <a:tc>
                  <a:txBody>
                    <a:bodyPr/>
                    <a:lstStyle/>
                    <a:p>
                      <a:r>
                        <a:rPr sz="1400" i="0" b="1">
                          <a:solidFill>
                            <a:srgbClr val="2B211C"/>
                          </a:solidFill>
                          <a:latin typeface="Calibri"/>
                        </a:rPr>
                        <a:t>4. Classify</a:t>
                      </a:r>
                    </a:p>
                  </a:txBody>
                  <a:tcPr marL="109728" marR="109728" marT="45720" marB="45720" anchor="ctr">
                    <a:solidFill>
                      <a:srgbClr val="FAF4F2"/>
                    </a:solidFill>
                  </a:tcPr>
                </a:tc>
                <a:tc>
                  <a:txBody>
                    <a:bodyPr/>
                    <a:lstStyle/>
                    <a:p>
                      <a:r>
                        <a:rPr sz="1400" i="0" b="0">
                          <a:solidFill>
                            <a:srgbClr val="2B211C"/>
                          </a:solidFill>
                          <a:latin typeface="Calibri"/>
                        </a:rPr>
                        <a:t>Name the type of question</a:t>
                      </a:r>
                    </a:p>
                  </a:txBody>
                  <a:tcPr marL="109728" marR="109728" marT="45720" marB="45720" anchor="ctr">
                    <a:solidFill>
                      <a:srgbClr val="FAF4F2"/>
                    </a:solidFill>
                  </a:tcPr>
                </a:tc>
                <a:tc>
                  <a:txBody>
                    <a:bodyPr/>
                    <a:lstStyle/>
                    <a:p>
                      <a:r>
                        <a:rPr sz="1400" i="0" b="0">
                          <a:solidFill>
                            <a:srgbClr val="2B211C"/>
                          </a:solidFill>
                          <a:latin typeface="Calibri"/>
                        </a:rPr>
                        <a:t>Dose, interaction, ADR, pregnancy, availability?</a:t>
                      </a:r>
                    </a:p>
                  </a:txBody>
                  <a:tcPr marL="109728" marR="109728" marT="45720" marB="45720" anchor="ctr">
                    <a:solidFill>
                      <a:srgbClr val="FAF4F2"/>
                    </a:solidFill>
                  </a:tcPr>
                </a:tc>
              </a:tr>
              <a:tr h="417766">
                <a:tc>
                  <a:txBody>
                    <a:bodyPr/>
                    <a:lstStyle/>
                    <a:p>
                      <a:r>
                        <a:rPr sz="1400" i="0" b="1">
                          <a:solidFill>
                            <a:srgbClr val="2B211C"/>
                          </a:solidFill>
                          <a:latin typeface="Calibri"/>
                        </a:rPr>
                        <a:t>5. Search</a:t>
                      </a:r>
                    </a:p>
                  </a:txBody>
                  <a:tcPr marL="109728" marR="109728" marT="45720" marB="45720" anchor="ctr">
                    <a:solidFill>
                      <a:srgbClr val="FFFFFF"/>
                    </a:solidFill>
                  </a:tcPr>
                </a:tc>
                <a:tc>
                  <a:txBody>
                    <a:bodyPr/>
                    <a:lstStyle/>
                    <a:p>
                      <a:r>
                        <a:rPr sz="1400" i="0" b="0">
                          <a:solidFill>
                            <a:srgbClr val="2B211C"/>
                          </a:solidFill>
                          <a:latin typeface="Calibri"/>
                        </a:rPr>
                        <a:t>Look in the right sources, tertiary first</a:t>
                      </a:r>
                    </a:p>
                  </a:txBody>
                  <a:tcPr marL="109728" marR="109728" marT="45720" marB="45720" anchor="ctr">
                    <a:solidFill>
                      <a:srgbClr val="FFFFFF"/>
                    </a:solidFill>
                  </a:tcPr>
                </a:tc>
                <a:tc>
                  <a:txBody>
                    <a:bodyPr/>
                    <a:lstStyle/>
                    <a:p>
                      <a:r>
                        <a:rPr sz="1400" i="0" b="0">
                          <a:solidFill>
                            <a:srgbClr val="2B211C"/>
                          </a:solidFill>
                          <a:latin typeface="Calibri"/>
                        </a:rPr>
                        <a:t>Is the evidence current and complete?</a:t>
                      </a:r>
                    </a:p>
                  </a:txBody>
                  <a:tcPr marL="109728" marR="109728" marT="45720" marB="45720" anchor="ctr">
                    <a:solidFill>
                      <a:srgbClr val="FFFFFF"/>
                    </a:solidFill>
                  </a:tcPr>
                </a:tc>
              </a:tr>
              <a:tr h="417766">
                <a:tc>
                  <a:txBody>
                    <a:bodyPr/>
                    <a:lstStyle/>
                    <a:p>
                      <a:r>
                        <a:rPr sz="1400" i="0" b="1">
                          <a:solidFill>
                            <a:srgbClr val="2B211C"/>
                          </a:solidFill>
                          <a:latin typeface="Calibri"/>
                        </a:rPr>
                        <a:t>6. Answer</a:t>
                      </a:r>
                    </a:p>
                  </a:txBody>
                  <a:tcPr marL="109728" marR="109728" marT="45720" marB="45720" anchor="ctr">
                    <a:solidFill>
                      <a:srgbClr val="FAF4F2"/>
                    </a:solidFill>
                  </a:tcPr>
                </a:tc>
                <a:tc>
                  <a:txBody>
                    <a:bodyPr/>
                    <a:lstStyle/>
                    <a:p>
                      <a:r>
                        <a:rPr sz="1400" i="0" b="0">
                          <a:solidFill>
                            <a:srgbClr val="2B211C"/>
                          </a:solidFill>
                          <a:latin typeface="Calibri"/>
                        </a:rPr>
                        <a:t>Give a clear, specific, referenced reply</a:t>
                      </a:r>
                    </a:p>
                  </a:txBody>
                  <a:tcPr marL="109728" marR="109728" marT="45720" marB="45720" anchor="ctr">
                    <a:solidFill>
                      <a:srgbClr val="FAF4F2"/>
                    </a:solidFill>
                  </a:tcPr>
                </a:tc>
                <a:tc>
                  <a:txBody>
                    <a:bodyPr/>
                    <a:lstStyle/>
                    <a:p>
                      <a:r>
                        <a:rPr sz="1400" i="0" b="0">
                          <a:solidFill>
                            <a:srgbClr val="2B211C"/>
                          </a:solidFill>
                          <a:latin typeface="Calibri"/>
                        </a:rPr>
                        <a:t>Is it right for this patient?</a:t>
                      </a:r>
                    </a:p>
                  </a:txBody>
                  <a:tcPr marL="109728" marR="109728" marT="45720" marB="45720" anchor="ctr">
                    <a:solidFill>
                      <a:srgbClr val="FAF4F2"/>
                    </a:solidFill>
                  </a:tcPr>
                </a:tc>
              </a:tr>
              <a:tr h="417766">
                <a:tc>
                  <a:txBody>
                    <a:bodyPr/>
                    <a:lstStyle/>
                    <a:p>
                      <a:r>
                        <a:rPr sz="1400" i="0" b="1">
                          <a:solidFill>
                            <a:srgbClr val="2B211C"/>
                          </a:solidFill>
                          <a:latin typeface="Calibri"/>
                        </a:rPr>
                        <a:t>7. Follow up and document</a:t>
                      </a:r>
                    </a:p>
                  </a:txBody>
                  <a:tcPr marL="109728" marR="109728" marT="45720" marB="45720" anchor="ctr">
                    <a:solidFill>
                      <a:srgbClr val="FFFFFF"/>
                    </a:solidFill>
                  </a:tcPr>
                </a:tc>
                <a:tc>
                  <a:txBody>
                    <a:bodyPr/>
                    <a:lstStyle/>
                    <a:p>
                      <a:r>
                        <a:rPr sz="1400" i="0" b="0">
                          <a:solidFill>
                            <a:srgbClr val="2B211C"/>
                          </a:solidFill>
                          <a:latin typeface="Calibri"/>
                        </a:rPr>
                        <a:t>Check the outcome; record the request</a:t>
                      </a:r>
                    </a:p>
                  </a:txBody>
                  <a:tcPr marL="109728" marR="109728" marT="45720" marB="45720" anchor="ctr">
                    <a:solidFill>
                      <a:srgbClr val="FFFFFF"/>
                    </a:solidFill>
                  </a:tcPr>
                </a:tc>
                <a:tc>
                  <a:txBody>
                    <a:bodyPr/>
                    <a:lstStyle/>
                    <a:p>
                      <a:r>
                        <a:rPr sz="1400" i="0" b="0">
                          <a:solidFill>
                            <a:srgbClr val="2B211C"/>
                          </a:solidFill>
                          <a:latin typeface="Calibri"/>
                        </a:rPr>
                        <a:t>Did it work? Can others learn from it?</a:t>
                      </a:r>
                    </a:p>
                  </a:txBody>
                  <a:tcPr marL="109728" marR="109728" marT="45720" marB="4572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2700" i="0" b="1">
                <a:solidFill>
                  <a:srgbClr val="2B211C"/>
                </a:solidFill>
                <a:latin typeface="Cambria"/>
              </a:rPr>
              <a:t>Answering a Request: The Systematic Approach</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12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Learn the seven steps in order: requester, background, real question, classify, search, answer, follow 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E6EEE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6EEEF"/>
                </a:solidFill>
                <a:latin typeface="Calibri"/>
              </a:rPr>
              <a:t>Section 1</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000" i="0" b="0">
                <a:solidFill>
                  <a:srgbClr val="2B211C"/>
                </a:solidFill>
                <a:latin typeface="Calibri"/>
              </a:rPr>
              <a:t>A mother asks whether she can give her 4-year-old child paracetamol and ibuprofen together. </a:t>
            </a:r>
            <a:r>
              <a:rPr sz="2000" i="0" b="1">
                <a:solidFill>
                  <a:srgbClr val="2B211C"/>
                </a:solidFill>
                <a:latin typeface="Calibri"/>
              </a:rPr>
              <a:t>Background:</a:t>
            </a:r>
            <a:r>
              <a:rPr sz="2000" i="0" b="0">
                <a:solidFill>
                  <a:srgbClr val="2B211C"/>
                </a:solidFill>
                <a:latin typeface="Calibri"/>
              </a:rPr>
              <a:t> the child weighs 16 kg, has a fever of 39 °C and takes no other drugs. </a:t>
            </a:r>
            <a:r>
              <a:rPr sz="2000" i="0" b="1">
                <a:solidFill>
                  <a:srgbClr val="2B211C"/>
                </a:solidFill>
                <a:latin typeface="Calibri"/>
              </a:rPr>
              <a:t>Real question:</a:t>
            </a:r>
            <a:r>
              <a:rPr sz="2000" i="0" b="0">
                <a:solidFill>
                  <a:srgbClr val="2B211C"/>
                </a:solidFill>
                <a:latin typeface="Calibri"/>
              </a:rPr>
              <a:t> how to control fever safely. </a:t>
            </a:r>
            <a:r>
              <a:rPr sz="2000" i="0" b="1">
                <a:solidFill>
                  <a:srgbClr val="2B211C"/>
                </a:solidFill>
                <a:latin typeface="Calibri"/>
              </a:rPr>
              <a:t>Answer:</a:t>
            </a:r>
            <a:r>
              <a:rPr sz="2000" i="0" b="0">
                <a:solidFill>
                  <a:srgbClr val="2B211C"/>
                </a:solidFill>
                <a:latin typeface="Calibri"/>
              </a:rPr>
              <a:t> use one drug at the correct weight-based dose first. Paracetamol is 15 mg/kg every 4-6 hours (maximum four doses a day). Switch or alternate only if the fever does not respond, and keep a written dose record. Advise a doctor's review if the fever lasts more than three days. </a:t>
            </a:r>
            <a:r>
              <a:rPr sz="2000" i="0" b="1">
                <a:solidFill>
                  <a:srgbClr val="2B211C"/>
                </a:solidFill>
                <a:latin typeface="Calibri"/>
              </a:rPr>
              <a:t>Document</a:t>
            </a:r>
            <a:r>
              <a:rPr sz="2000" i="0" b="0">
                <a:solidFill>
                  <a:srgbClr val="2B211C"/>
                </a:solidFill>
                <a:latin typeface="Calibri"/>
              </a:rPr>
              <a:t> the request.</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The Drug Information Centre</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13 / 25</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1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14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is the best definition of a drug information service?</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Selling medicines with written leaflets</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Giving accurate, unbiased answers about medicines to health professionals and the public</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Advertising new medicines to doctors</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Testing new medicines in patients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1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15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is the best definition of a drug information service?</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Selling medicines with written leaflets</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Giving accurate, unbiased answers about medicines to health professionals and the public</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Advertising new medicines to doctors</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Testing new medicines in patients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This is the definition; it includes answers to the public. A, C and D are other activities.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2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16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is NOT a usual activity of a drug information centre?</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Answering questions about interactions</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Supporting the Drug and Therapeutics Committee</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Manufacturing medicines</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Collecting adverse drug reaction reports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2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17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is NOT a usual activity of a drug information centre?</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Answering questions about interactions</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Supporting the Drug and Therapeutics Committee</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Manufacturing medicines</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Collecting adverse drug reaction reports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 DIC gives information; it does not make medicines. A, B and D are core DIC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3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18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Why is information from drug companies used with care?</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It may be biased</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It is always out of date</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It is never referenced</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It is too expensive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3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19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Why is information from drug companies used with care?</a:t>
            </a:r>
          </a:p>
        </p:txBody>
      </p:sp>
      <p:sp>
        <p:nvSpPr>
          <p:cNvPr id="9" name="Rounded Rectangle 8"/>
          <p:cNvSpPr/>
          <p:nvPr/>
        </p:nvSpPr>
        <p:spPr>
          <a:xfrm>
            <a:off x="548640" y="2606040"/>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It may be biased</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It is always out of date</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It is never referenced</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It is too expensive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Companies promote their own products, so their information may be biased. B, C and D are not always true.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4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20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nurse asks, "Can I crush this tablet?" Which step helps you most to find the real need?</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Classifying the question as a formulation question</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Searching the internet</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Asking why the tablet needs to be crushed</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Documenting the request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4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21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nurse asks, "Can I crush this tablet?" Which step helps you most to find the real need?</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Classifying the question as a formulation question</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Searching the internet</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Asking why the tablet needs to be crushed</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Documenting the request</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Asking why reveals the real problem, such as swallowing difficulty or a feeding tube. A, B and D come later.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5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22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is the last step of the systematic approach?</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Searching tertiary sources</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Collecting background</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Classifying the question</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Follow up and documentation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  ·  QUESTION 5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1  ·  The Drug Information Centre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23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is the last step of the systematic approach?</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Searching tertiary sources</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Collecting background</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Classifying the question</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Follow up and documentation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The request ends with follow-up and documentation. A, B and C come earlier.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3D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1E3DF"/>
                </a:solidFill>
                <a:latin typeface="Calibri"/>
              </a:rPr>
              <a:t>Section 1</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doctor phones the pharmacy: "Is metformin safe in my patient?" (a) Which background details do you need? (b) What might the real question be? (c) How do you finish the request?</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The Drug Information Centre</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24 / 25</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2E5E1"/>
                </a:solidFill>
                <a:latin typeface="Calibri"/>
              </a:rPr>
              <a:t>SECTION 1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1</a:t>
            </a:r>
          </a:p>
        </p:txBody>
      </p:sp>
      <p:sp>
        <p:nvSpPr>
          <p:cNvPr id="5" name="TextBox 4"/>
          <p:cNvSpPr txBox="1"/>
          <p:nvPr/>
        </p:nvSpPr>
        <p:spPr>
          <a:xfrm>
            <a:off x="1143000" y="1865376"/>
            <a:ext cx="10500055" cy="995552"/>
          </a:xfrm>
          <a:prstGeom prst="rect">
            <a:avLst/>
          </a:prstGeom>
          <a:noFill/>
        </p:spPr>
        <p:txBody>
          <a:bodyPr wrap="square" anchor="t" lIns="0" rIns="0" tIns="0" bIns="0">
            <a:spAutoFit/>
          </a:bodyPr>
          <a:lstStyle/>
          <a:p>
            <a:r>
              <a:rPr sz="2100" i="0" b="0">
                <a:solidFill>
                  <a:srgbClr val="FFFFFF"/>
                </a:solidFill>
                <a:latin typeface="Calibri"/>
              </a:rPr>
              <a:t>Drug information is knowledge that helps people use medicines well; every pharmacist provides it.</a:t>
            </a:r>
          </a:p>
        </p:txBody>
      </p:sp>
      <p:sp>
        <p:nvSpPr>
          <p:cNvPr id="6" name="Oval 5"/>
          <p:cNvSpPr/>
          <p:nvPr/>
        </p:nvSpPr>
        <p:spPr>
          <a:xfrm>
            <a:off x="548640" y="2888361"/>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2</a:t>
            </a:r>
          </a:p>
        </p:txBody>
      </p:sp>
      <p:sp>
        <p:nvSpPr>
          <p:cNvPr id="7" name="TextBox 6"/>
          <p:cNvSpPr txBox="1"/>
          <p:nvPr/>
        </p:nvSpPr>
        <p:spPr>
          <a:xfrm>
            <a:off x="1143000" y="2906649"/>
            <a:ext cx="10500055" cy="995552"/>
          </a:xfrm>
          <a:prstGeom prst="rect">
            <a:avLst/>
          </a:prstGeom>
          <a:noFill/>
        </p:spPr>
        <p:txBody>
          <a:bodyPr wrap="square" anchor="t" lIns="0" rIns="0" tIns="0" bIns="0">
            <a:spAutoFit/>
          </a:bodyPr>
          <a:lstStyle/>
          <a:p>
            <a:r>
              <a:rPr sz="2100" i="0" b="0">
                <a:solidFill>
                  <a:srgbClr val="FFFFFF"/>
                </a:solidFill>
                <a:latin typeface="Calibri"/>
              </a:rPr>
              <a:t>A DIC answers questions, supports committees, teaches and supports drug safety.</a:t>
            </a:r>
          </a:p>
        </p:txBody>
      </p:sp>
      <p:sp>
        <p:nvSpPr>
          <p:cNvPr id="8" name="Oval 7"/>
          <p:cNvSpPr/>
          <p:nvPr/>
        </p:nvSpPr>
        <p:spPr>
          <a:xfrm>
            <a:off x="548640" y="3929633"/>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3</a:t>
            </a:r>
          </a:p>
        </p:txBody>
      </p:sp>
      <p:sp>
        <p:nvSpPr>
          <p:cNvPr id="9" name="TextBox 8"/>
          <p:cNvSpPr txBox="1"/>
          <p:nvPr/>
        </p:nvSpPr>
        <p:spPr>
          <a:xfrm>
            <a:off x="1143000" y="3947922"/>
            <a:ext cx="10500055" cy="662178"/>
          </a:xfrm>
          <a:prstGeom prst="rect">
            <a:avLst/>
          </a:prstGeom>
          <a:noFill/>
        </p:spPr>
        <p:txBody>
          <a:bodyPr wrap="square" anchor="t" lIns="0" rIns="0" tIns="0" bIns="0">
            <a:spAutoFit/>
          </a:bodyPr>
          <a:lstStyle/>
          <a:p>
            <a:r>
              <a:rPr sz="2100" i="0" b="0">
                <a:solidFill>
                  <a:srgbClr val="FFFFFF"/>
                </a:solidFill>
                <a:latin typeface="Calibri"/>
              </a:rPr>
              <a:t>A DIC needs a team, a place, communication tools and current sources.</a:t>
            </a:r>
          </a:p>
        </p:txBody>
      </p:sp>
      <p:sp>
        <p:nvSpPr>
          <p:cNvPr id="10" name="Oval 9"/>
          <p:cNvSpPr/>
          <p:nvPr/>
        </p:nvSpPr>
        <p:spPr>
          <a:xfrm>
            <a:off x="548640" y="4637532"/>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4</a:t>
            </a:r>
          </a:p>
        </p:txBody>
      </p:sp>
      <p:sp>
        <p:nvSpPr>
          <p:cNvPr id="11" name="TextBox 10"/>
          <p:cNvSpPr txBox="1"/>
          <p:nvPr/>
        </p:nvSpPr>
        <p:spPr>
          <a:xfrm>
            <a:off x="1143000" y="4655820"/>
            <a:ext cx="10500055" cy="662178"/>
          </a:xfrm>
          <a:prstGeom prst="rect">
            <a:avLst/>
          </a:prstGeom>
          <a:noFill/>
        </p:spPr>
        <p:txBody>
          <a:bodyPr wrap="square" anchor="t" lIns="0" rIns="0" tIns="0" bIns="0">
            <a:spAutoFit/>
          </a:bodyPr>
          <a:lstStyle/>
          <a:p>
            <a:r>
              <a:rPr sz="2100" i="0" b="0">
                <a:solidFill>
                  <a:srgbClr val="FFFFFF"/>
                </a:solidFill>
                <a:latin typeface="Calibri"/>
              </a:rPr>
              <a:t>Use the seven-step approach for every request; do not skip the real question.</a:t>
            </a:r>
          </a:p>
        </p:txBody>
      </p:sp>
      <p:sp>
        <p:nvSpPr>
          <p:cNvPr id="12" name="Oval 11"/>
          <p:cNvSpPr/>
          <p:nvPr/>
        </p:nvSpPr>
        <p:spPr>
          <a:xfrm>
            <a:off x="548640" y="5345430"/>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5</a:t>
            </a:r>
          </a:p>
        </p:txBody>
      </p:sp>
      <p:sp>
        <p:nvSpPr>
          <p:cNvPr id="13" name="TextBox 12"/>
          <p:cNvSpPr txBox="1"/>
          <p:nvPr/>
        </p:nvSpPr>
        <p:spPr>
          <a:xfrm>
            <a:off x="1143000" y="5363718"/>
            <a:ext cx="10500055" cy="662178"/>
          </a:xfrm>
          <a:prstGeom prst="rect">
            <a:avLst/>
          </a:prstGeom>
          <a:noFill/>
        </p:spPr>
        <p:txBody>
          <a:bodyPr wrap="square" anchor="t" lIns="0" rIns="0" tIns="0" bIns="0">
            <a:spAutoFit/>
          </a:bodyPr>
          <a:lstStyle/>
          <a:p>
            <a:r>
              <a:rPr sz="2100" i="0" b="0">
                <a:solidFill>
                  <a:srgbClr val="FFFFFF"/>
                </a:solidFill>
                <a:latin typeface="Calibri"/>
              </a:rPr>
              <a:t>Always document the request and follow up.</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