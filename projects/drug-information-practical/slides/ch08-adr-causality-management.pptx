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notesMaster" Target="notesMasters/notesMaster1.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we will cover, in order.</a:t>
            </a:r>
          </a:p>
          <a:p/>
          <a:p>
            <a:r>
              <a:t>About 30 s.  Next: Causality: Did the Drug Do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Causality is the likelihood that a medicine caused an event. Most ADRs cannot be proved, so we grade how likely the link is. Four questions do most of the work: Other clues are a known association (the ADR is already described), a dose-response relationship (worse with a higher dose), and objective evidence such as a drug level or a laboratory test. Rechallenge is strong evidence but is often unsafe. Never rechallenge on purpose after a serious reaction such as anaphylaxis.</a:t>
            </a:r>
          </a:p>
          <a:p/>
          <a:p>
            <a:r>
              <a:t>About 90 s.  Next: Three Ways to Assess Causality.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Naranjo algorithm asks ten questions. Add the scores for the answers. Worked example. A man starts enalapril and, two weeks later, develops a dry cough. Scores: Q1 yes (+1); Q2 yes (+2); Q3 the cough stops after enalapril is stopped (+1); Q4 not rechallenged (0); Q5 no other cause (+2); Q6-Q10 not done or not known (0). Total 6 = probable.</a:t>
            </a:r>
          </a:p>
          <a:p/>
          <a:p>
            <a:r>
              <a:t>About 30 s.  Next: The Naranjo Algorithm (2/2).</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Naranjo algorithm asks ten questions. Add the scores for the answers. Worked example. A man starts enalapril and, two weeks later, develops a dry cough. Scores: Q1 yes (+1); Q2 yes (+2); Q3 the cough stops after enalapril is stopped (+1); Q4 not rechallenged (0); Q5 no other cause (+2); Q6-Q10 not done or not known (0). Total 6 = probable.</a:t>
            </a:r>
          </a:p>
          <a:p/>
          <a:p>
            <a:r>
              <a:t>About 30 s.  Next: The Naranjo Algorithm.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Naranjo algorithm asks ten questions. Add the scores for the answers. Worked example. A man starts enalapril and, two weeks later, develops a dry cough. Scores: Q1 yes (+1); Q2 yes (+2); Q3 the cough stops after enalapril is stopped (+1); Q4 not rechallenged (0); Q5 no other cause (+2); Q6-Q10 not done or not known (0). Total 6 = probable.</a:t>
            </a:r>
          </a:p>
          <a:p/>
          <a:p>
            <a:r>
              <a:t>About 60 s.  Next: The Naranjo Algorithm.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Naranjo algorithm asks ten questions. Add the scores for the answers. Worked example. A man starts enalapril and, two weeks later, develops a dry cough. Scores: Q1 yes (+1); Q2 yes (+2); Q3 the cough stops after enalapril is stopped (+1); Q4 not rechallenged (0); Q5 no other cause (+2); Q6-Q10 not done or not known (0). Total 6 = probable.</a:t>
            </a:r>
          </a:p>
          <a:p/>
          <a:p>
            <a:r>
              <a:t>About 30 s.  Next: Severity Is Not Seriousness.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two words sound alike but mean different things. Severity describes the intensity of the reaction: Seriousness is a regulatory term based on the outcome. An ADR is serious if it: A severe headache is intense but usually not serious. Serious reactions must be reported quickly (Chapter 9).</a:t>
            </a:r>
          </a:p>
          <a:p/>
          <a:p>
            <a:r>
              <a:t>About 30 s.  Next: Severity Is Not Seriousness.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two words sound alike but mean different things. Severity describes the intensity of the reaction: Seriousness is a regulatory term based on the outcome. An ADR is serious if it: A severe headache is intense but usually not serious. Serious reactions must be reported quickly (Chapter 9).</a:t>
            </a:r>
          </a:p>
          <a:p/>
          <a:p>
            <a:r>
              <a:t>About 60 s.  Next: Managing a Suspected ADR.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with the class: what would you ask, check and say?</a:t>
            </a:r>
          </a:p>
          <a:p/>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C: Good time link, positive dechallenge and no other cause: probable. A needs a clear case (often rechallenge); B would have other causes; D lacks data.</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 1 to 4 is possible. B is 5-8, C is 9 or more, D is 0 or less.</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C: Hospital admission makes an ADR serious. A, B and D may be intense but are not serious.</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B: Patient care comes first in anaphylaxis. A, C and D come later.</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D: "No" to other causes scores +2. A, B and C each score +1.</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Model answer: (a) Q1 known interaction/toxicity +1; Q2 after the drug +2; Q3 improved on withdrawal +1; Q5 no other cause +2; Q7 toxic level +1; others 0. Total 7. (b) Probable. (c) Withhold digoxin, check potassium, kidney function and ECG, monitor; stop or change clarithromycin; restart digoxin at a lower dose only if needed; record, report and warn about the interaction.</a:t>
            </a:r>
          </a:p>
          <a:p/>
          <a:p>
            <a:r>
              <a:t>About 60 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In This Section.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Roadmap.</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The WHO-UMC Categories.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The Naranjo Algorithm (1/2).</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Managing a Suspected ADR.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60 s.  Next: Managing a Suspected ADR.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16.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notesSlide" Target="../notesSlides/notesSlide1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4.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4.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notesSlide" Target="../notesSlides/notesSlide18.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notesSlide" Target="../notesSlides/notesSlide19.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4.png"/><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4.png"/><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4.png"/><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4.png"/><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4.png"/><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4.png"/><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image" Target="../media/image5.png"/><Relationship Id="rId5" Type="http://schemas.openxmlformats.org/officeDocument/2006/relationships/notesSlide" Target="../notesSlides/notesSlide2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notesSlide" Target="../notesSlides/notesSlide2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notesSlide" Target="../notesSlides/notesSlide2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4.png"/><Relationship Id="rId4" Type="http://schemas.openxmlformats.org/officeDocument/2006/relationships/image" Target="../media/image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notesSlide" Target="../notesSlides/notesSlide2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4.png"/><Relationship Id="rId4" Type="http://schemas.openxmlformats.org/officeDocument/2006/relationships/image" Target="../media/image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notesSlide" Target="../notesSlides/notesSlide2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4.png"/><Relationship Id="rId4" Type="http://schemas.openxmlformats.org/officeDocument/2006/relationships/image" Target="../media/image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notesSlide" Target="../notesSlides/notesSlide2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4.png"/><Relationship Id="rId4" Type="http://schemas.openxmlformats.org/officeDocument/2006/relationships/image" Target="../media/image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notesSlide" Target="../notesSlides/notesSlide2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4.png"/><Relationship Id="rId4" Type="http://schemas.openxmlformats.org/officeDocument/2006/relationships/image" Target="../media/image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notesSlide" Target="../notesSlides/notesSlide2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4.png"/><Relationship Id="rId4" Type="http://schemas.openxmlformats.org/officeDocument/2006/relationships/image" Target="../media/image3.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2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A4472B"/>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589520" y="1097280"/>
            <a:ext cx="4754880" cy="5120640"/>
          </a:xfrm>
          <a:prstGeom prst="rect">
            <a:avLst/>
          </a:prstGeom>
          <a:noFill/>
        </p:spPr>
        <p:txBody>
          <a:bodyPr wrap="square" anchor="ctr" lIns="0" rIns="0" tIns="0" bIns="0">
            <a:spAutoFit/>
          </a:bodyPr>
          <a:lstStyle/>
          <a:p>
            <a:pPr algn="r"/>
            <a:r>
              <a:rPr sz="28000" i="0" b="1">
                <a:solidFill>
                  <a:srgbClr val="8B3C25"/>
                </a:solidFill>
                <a:latin typeface="Cambria"/>
              </a:rPr>
              <a:t>08</a:t>
            </a:r>
          </a:p>
        </p:txBody>
      </p:sp>
      <p:pic>
        <p:nvPicPr>
          <p:cNvPr id="4" name="Picture 3" descr="port-said-university.png"/>
          <p:cNvPicPr>
            <a:picLocks noChangeAspect="1"/>
          </p:cNvPicPr>
          <p:nvPr/>
        </p:nvPicPr>
        <p:blipFill>
          <a:blip r:embed="rId3"/>
          <a:stretch>
            <a:fillRect/>
          </a:stretch>
        </p:blipFill>
        <p:spPr>
          <a:xfrm>
            <a:off x="548640" y="502920"/>
            <a:ext cx="960120" cy="960120"/>
          </a:xfrm>
          <a:prstGeom prst="rect">
            <a:avLst/>
          </a:prstGeom>
        </p:spPr>
      </p:pic>
      <p:pic>
        <p:nvPicPr>
          <p:cNvPr id="5" name="Picture 4" descr="faculty-of-pharmacy.png"/>
          <p:cNvPicPr>
            <a:picLocks noChangeAspect="1"/>
          </p:cNvPicPr>
          <p:nvPr/>
        </p:nvPicPr>
        <p:blipFill>
          <a:blip r:embed="rId4"/>
          <a:stretch>
            <a:fillRect/>
          </a:stretch>
        </p:blipFill>
        <p:spPr>
          <a:xfrm>
            <a:off x="1691640" y="502920"/>
            <a:ext cx="960120" cy="960120"/>
          </a:xfrm>
          <a:prstGeom prst="rect">
            <a:avLst/>
          </a:prstGeom>
        </p:spPr>
      </p:pic>
      <p:sp>
        <p:nvSpPr>
          <p:cNvPr id="6" name="TextBox 5"/>
          <p:cNvSpPr txBox="1"/>
          <p:nvPr/>
        </p:nvSpPr>
        <p:spPr>
          <a:xfrm>
            <a:off x="2971800" y="658368"/>
            <a:ext cx="6400800" cy="731520"/>
          </a:xfrm>
          <a:prstGeom prst="rect">
            <a:avLst/>
          </a:prstGeom>
          <a:noFill/>
        </p:spPr>
        <p:txBody>
          <a:bodyPr wrap="square" anchor="ctr" lIns="0" rIns="0" tIns="0" bIns="0">
            <a:spAutoFit/>
          </a:bodyPr>
          <a:lstStyle/>
          <a:p>
            <a:r>
              <a:rPr sz="1800" i="0" b="1">
                <a:solidFill>
                  <a:srgbClr val="FFFFFF"/>
                </a:solidFill>
                <a:latin typeface="Cambria"/>
              </a:rPr>
              <a:t>Faculty of Pharmacy</a:t>
            </a:r>
          </a:p>
          <a:p>
            <a:r>
              <a:rPr sz="1200" i="0" b="1" spc="200">
                <a:solidFill>
                  <a:srgbClr val="F2E5E1"/>
                </a:solidFill>
                <a:latin typeface="Calibri"/>
              </a:rPr>
              <a:t>PORT SAID UNIVERSITY</a:t>
            </a:r>
          </a:p>
        </p:txBody>
      </p:sp>
      <p:sp>
        <p:nvSpPr>
          <p:cNvPr id="7" name="TextBox 6"/>
          <p:cNvSpPr txBox="1"/>
          <p:nvPr/>
        </p:nvSpPr>
        <p:spPr>
          <a:xfrm>
            <a:off x="548640" y="2514600"/>
            <a:ext cx="6766560" cy="3108960"/>
          </a:xfrm>
          <a:prstGeom prst="rect">
            <a:avLst/>
          </a:prstGeom>
          <a:noFill/>
        </p:spPr>
        <p:txBody>
          <a:bodyPr wrap="square" anchor="t" lIns="0" rIns="0" tIns="0" bIns="0">
            <a:spAutoFit/>
          </a:bodyPr>
          <a:lstStyle/>
          <a:p>
            <a:r>
              <a:rPr sz="1400" i="0" b="1" spc="200">
                <a:solidFill>
                  <a:srgbClr val="F2E5E1"/>
                </a:solidFill>
                <a:latin typeface="Calibri"/>
              </a:rPr>
              <a:t>DRUG INFORMATION  ·  SECTION 8</a:t>
            </a:r>
          </a:p>
          <a:p>
            <a:pPr>
              <a:spcBef>
                <a:spcPts val="1400"/>
              </a:spcBef>
            </a:pPr>
            <a:r>
              <a:rPr sz="4400" i="0" b="1">
                <a:solidFill>
                  <a:srgbClr val="FFFFFF"/>
                </a:solidFill>
                <a:latin typeface="Cambria"/>
              </a:rPr>
              <a:t>ADR Causality and Management</a:t>
            </a:r>
          </a:p>
          <a:p>
            <a:pPr>
              <a:spcBef>
                <a:spcPts val="1600"/>
              </a:spcBef>
            </a:pPr>
            <a:r>
              <a:rPr sz="2000" i="1" b="0">
                <a:solidFill>
                  <a:srgbClr val="F2E5E1"/>
                </a:solidFill>
                <a:latin typeface="Cambria"/>
              </a:rPr>
              <a:t>A Practical Section Guide</a:t>
            </a:r>
          </a:p>
        </p:txBody>
      </p:sp>
      <p:sp>
        <p:nvSpPr>
          <p:cNvPr id="8" name="TextBox 7"/>
          <p:cNvSpPr txBox="1"/>
          <p:nvPr/>
        </p:nvSpPr>
        <p:spPr>
          <a:xfrm>
            <a:off x="548640" y="5989320"/>
            <a:ext cx="8229600" cy="457200"/>
          </a:xfrm>
          <a:prstGeom prst="rect">
            <a:avLst/>
          </a:prstGeom>
          <a:noFill/>
        </p:spPr>
        <p:txBody>
          <a:bodyPr wrap="square" anchor="t" lIns="0" rIns="0" tIns="0" bIns="0">
            <a:spAutoFit/>
          </a:bodyPr>
          <a:lstStyle/>
          <a:p>
            <a:r>
              <a:rPr sz="1300" i="0" b="0">
                <a:solidFill>
                  <a:srgbClr val="F2E5E1"/>
                </a:solidFill>
                <a:latin typeface="Calibri"/>
              </a:rPr>
              <a:t>45 minutes  ·  5 questions  ·  1 practice case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A4472B"/>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08</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2F6F7A"/>
                </a:solidFill>
                <a:latin typeface="Calibri"/>
              </a:rPr>
              <a:t>SECTION 8</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A4472B"/>
                </a:solidFill>
                <a:latin typeface="Cambria"/>
              </a:rPr>
              <a:t>In This Section</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8  ·  ADR Causality and Management</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02 / 28</a:t>
            </a:r>
          </a:p>
        </p:txBody>
      </p:sp>
      <p:pic>
        <p:nvPicPr>
          <p:cNvPr id="10" name="Picture 9" descr="logo"/>
          <p:cNvPicPr>
            <a:picLocks noChangeAspect="1"/>
          </p:cNvPicPr>
          <p:nvPr/>
        </p:nvPicPr>
        <p:blipFill>
          <a:blip r:embed="rId3"/>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48640" y="1572768"/>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1</a:t>
            </a:r>
          </a:p>
        </p:txBody>
      </p:sp>
      <p:sp>
        <p:nvSpPr>
          <p:cNvPr id="14" name="TextBox 13"/>
          <p:cNvSpPr txBox="1"/>
          <p:nvPr/>
        </p:nvSpPr>
        <p:spPr>
          <a:xfrm>
            <a:off x="1143000" y="1591056"/>
            <a:ext cx="6629400" cy="1142237"/>
          </a:xfrm>
          <a:prstGeom prst="rect">
            <a:avLst/>
          </a:prstGeom>
          <a:noFill/>
        </p:spPr>
        <p:txBody>
          <a:bodyPr wrap="square" anchor="t" lIns="0" rIns="0" tIns="0" bIns="0">
            <a:spAutoFit/>
          </a:bodyPr>
          <a:lstStyle/>
          <a:p>
            <a:r>
              <a:rPr sz="2100" i="0" b="0">
                <a:solidFill>
                  <a:srgbClr val="2B211C"/>
                </a:solidFill>
                <a:latin typeface="Calibri"/>
              </a:rPr>
              <a:t>Assess whether a drug caused an event using the WHO-UMC categories.</a:t>
            </a:r>
          </a:p>
        </p:txBody>
      </p:sp>
      <p:sp>
        <p:nvSpPr>
          <p:cNvPr id="15" name="Oval 14"/>
          <p:cNvSpPr/>
          <p:nvPr/>
        </p:nvSpPr>
        <p:spPr>
          <a:xfrm>
            <a:off x="548640" y="2760726"/>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2</a:t>
            </a:r>
          </a:p>
        </p:txBody>
      </p:sp>
      <p:sp>
        <p:nvSpPr>
          <p:cNvPr id="16" name="TextBox 15"/>
          <p:cNvSpPr txBox="1"/>
          <p:nvPr/>
        </p:nvSpPr>
        <p:spPr>
          <a:xfrm>
            <a:off x="1143000" y="2779014"/>
            <a:ext cx="6629400" cy="808863"/>
          </a:xfrm>
          <a:prstGeom prst="rect">
            <a:avLst/>
          </a:prstGeom>
          <a:noFill/>
        </p:spPr>
        <p:txBody>
          <a:bodyPr wrap="square" anchor="t" lIns="0" rIns="0" tIns="0" bIns="0">
            <a:spAutoFit/>
          </a:bodyPr>
          <a:lstStyle/>
          <a:p>
            <a:r>
              <a:rPr sz="2100" i="0" b="0">
                <a:solidFill>
                  <a:srgbClr val="2B211C"/>
                </a:solidFill>
                <a:latin typeface="Calibri"/>
              </a:rPr>
              <a:t>Score a suspected ADR with the Naranjo algorithm.</a:t>
            </a:r>
          </a:p>
        </p:txBody>
      </p:sp>
      <p:sp>
        <p:nvSpPr>
          <p:cNvPr id="17" name="Oval 16"/>
          <p:cNvSpPr/>
          <p:nvPr/>
        </p:nvSpPr>
        <p:spPr>
          <a:xfrm>
            <a:off x="548640" y="3615309"/>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3</a:t>
            </a:r>
          </a:p>
        </p:txBody>
      </p:sp>
      <p:sp>
        <p:nvSpPr>
          <p:cNvPr id="18" name="TextBox 17"/>
          <p:cNvSpPr txBox="1"/>
          <p:nvPr/>
        </p:nvSpPr>
        <p:spPr>
          <a:xfrm>
            <a:off x="1143000" y="3633597"/>
            <a:ext cx="6629400" cy="1142237"/>
          </a:xfrm>
          <a:prstGeom prst="rect">
            <a:avLst/>
          </a:prstGeom>
          <a:noFill/>
        </p:spPr>
        <p:txBody>
          <a:bodyPr wrap="square" anchor="t" lIns="0" rIns="0" tIns="0" bIns="0">
            <a:spAutoFit/>
          </a:bodyPr>
          <a:lstStyle/>
          <a:p>
            <a:r>
              <a:rPr sz="2100" i="0" b="0">
                <a:solidFill>
                  <a:srgbClr val="2B211C"/>
                </a:solidFill>
                <a:latin typeface="Calibri"/>
              </a:rPr>
              <a:t>Distinguish the severity of an ADR from its seriousness.</a:t>
            </a:r>
          </a:p>
        </p:txBody>
      </p:sp>
      <p:sp>
        <p:nvSpPr>
          <p:cNvPr id="19" name="Oval 18"/>
          <p:cNvSpPr/>
          <p:nvPr/>
        </p:nvSpPr>
        <p:spPr>
          <a:xfrm>
            <a:off x="548640" y="4803266"/>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4</a:t>
            </a:r>
          </a:p>
        </p:txBody>
      </p:sp>
      <p:sp>
        <p:nvSpPr>
          <p:cNvPr id="20" name="TextBox 19"/>
          <p:cNvSpPr txBox="1"/>
          <p:nvPr/>
        </p:nvSpPr>
        <p:spPr>
          <a:xfrm>
            <a:off x="1143000" y="4821555"/>
            <a:ext cx="6629400" cy="1142237"/>
          </a:xfrm>
          <a:prstGeom prst="rect">
            <a:avLst/>
          </a:prstGeom>
          <a:noFill/>
        </p:spPr>
        <p:txBody>
          <a:bodyPr wrap="square" anchor="t" lIns="0" rIns="0" tIns="0" bIns="0">
            <a:spAutoFit/>
          </a:bodyPr>
          <a:lstStyle/>
          <a:p>
            <a:r>
              <a:rPr sz="2100" i="0" b="0">
                <a:solidFill>
                  <a:srgbClr val="2B211C"/>
                </a:solidFill>
                <a:latin typeface="Calibri"/>
              </a:rPr>
              <a:t>Manage a suspected ADR step by step, starting with the patient.</a:t>
            </a:r>
          </a:p>
        </p:txBody>
      </p:sp>
      <p:sp>
        <p:nvSpPr>
          <p:cNvPr id="21" name="Rounded Rectangle 20"/>
          <p:cNvSpPr/>
          <p:nvPr/>
        </p:nvSpPr>
        <p:spPr>
          <a:xfrm>
            <a:off x="8366760" y="1600200"/>
            <a:ext cx="3273552" cy="4526280"/>
          </a:xfrm>
          <a:prstGeom prst="roundRect">
            <a:avLst>
              <a:gd name="adj" fmla="val 5000"/>
            </a:avLst>
          </a:prstGeom>
          <a:solidFill>
            <a:srgbClr val="FAF4F2">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8628644" y="1664208"/>
            <a:ext cx="2749783"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41080" y="1874519"/>
            <a:ext cx="2743200" cy="4023360"/>
          </a:xfrm>
          <a:prstGeom prst="rect">
            <a:avLst/>
          </a:prstGeom>
          <a:noFill/>
        </p:spPr>
        <p:txBody>
          <a:bodyPr wrap="square" anchor="t" lIns="0" rIns="0" tIns="0" bIns="0">
            <a:spAutoFit/>
          </a:bodyPr>
          <a:lstStyle/>
          <a:p>
            <a:pPr>
              <a:spcBef>
                <a:spcPts val="0"/>
              </a:spcBef>
            </a:pPr>
            <a:r>
              <a:rPr sz="5400" i="0" b="1">
                <a:solidFill>
                  <a:srgbClr val="A4472B"/>
                </a:solidFill>
                <a:latin typeface="Cambria"/>
              </a:rPr>
              <a:t>45</a:t>
            </a:r>
          </a:p>
          <a:p>
            <a:r>
              <a:rPr sz="1200" i="0" b="1" spc="150">
                <a:solidFill>
                  <a:srgbClr val="6E625B"/>
                </a:solidFill>
                <a:latin typeface="Calibri"/>
              </a:rPr>
              <a:t>MINUTES</a:t>
            </a:r>
          </a:p>
          <a:p>
            <a:pPr>
              <a:spcBef>
                <a:spcPts val="1600"/>
              </a:spcBef>
            </a:pPr>
            <a:r>
              <a:rPr sz="5400" i="0" b="1">
                <a:solidFill>
                  <a:srgbClr val="A4472B"/>
                </a:solidFill>
                <a:latin typeface="Cambria"/>
              </a:rPr>
              <a:t>5</a:t>
            </a:r>
          </a:p>
          <a:p>
            <a:r>
              <a:rPr sz="1200" i="0" b="1" spc="150">
                <a:solidFill>
                  <a:srgbClr val="6E625B"/>
                </a:solidFill>
                <a:latin typeface="Calibri"/>
              </a:rPr>
              <a:t>QUESTIONS</a:t>
            </a:r>
          </a:p>
          <a:p>
            <a:pPr>
              <a:spcBef>
                <a:spcPts val="1600"/>
              </a:spcBef>
            </a:pPr>
            <a:r>
              <a:rPr sz="5400" i="0" b="1">
                <a:solidFill>
                  <a:srgbClr val="A4472B"/>
                </a:solidFill>
                <a:latin typeface="Cambria"/>
              </a:rPr>
              <a:t>1</a:t>
            </a:r>
          </a:p>
          <a:p>
            <a:r>
              <a:rPr sz="1200" i="0" b="1" spc="150">
                <a:solidFill>
                  <a:srgbClr val="6E625B"/>
                </a:solidFill>
                <a:latin typeface="Calibri"/>
              </a:rPr>
              <a:t>PRACTICE CASE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A4472B"/>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08</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2F6F7A"/>
                </a:solidFill>
                <a:latin typeface="Calibri"/>
              </a:rPr>
              <a:t>SECTION 8</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A4472B"/>
                </a:solidFill>
                <a:latin typeface="Cambria"/>
              </a:rPr>
              <a:t>Roadmap</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8  ·  ADR Causality and Management</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03 / 28</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48640" y="1572768"/>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1</a:t>
            </a:r>
          </a:p>
        </p:txBody>
      </p:sp>
      <p:sp>
        <p:nvSpPr>
          <p:cNvPr id="14" name="TextBox 13"/>
          <p:cNvSpPr txBox="1"/>
          <p:nvPr/>
        </p:nvSpPr>
        <p:spPr>
          <a:xfrm>
            <a:off x="1143000" y="1591056"/>
            <a:ext cx="4678527" cy="824737"/>
          </a:xfrm>
          <a:prstGeom prst="rect">
            <a:avLst/>
          </a:prstGeom>
          <a:noFill/>
        </p:spPr>
        <p:txBody>
          <a:bodyPr wrap="square" anchor="t" lIns="0" rIns="0" tIns="0" bIns="0">
            <a:spAutoFit/>
          </a:bodyPr>
          <a:lstStyle/>
          <a:p>
            <a:r>
              <a:rPr sz="2200" i="0" b="0">
                <a:solidFill>
                  <a:srgbClr val="2B211C"/>
                </a:solidFill>
                <a:latin typeface="Calibri"/>
              </a:rPr>
              <a:t>Causality: Did the Drug Do It?</a:t>
            </a:r>
          </a:p>
        </p:txBody>
      </p:sp>
      <p:sp>
        <p:nvSpPr>
          <p:cNvPr id="15" name="Oval 14"/>
          <p:cNvSpPr/>
          <p:nvPr/>
        </p:nvSpPr>
        <p:spPr>
          <a:xfrm>
            <a:off x="548640" y="2443226"/>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2</a:t>
            </a:r>
          </a:p>
        </p:txBody>
      </p:sp>
      <p:sp>
        <p:nvSpPr>
          <p:cNvPr id="16" name="TextBox 15"/>
          <p:cNvSpPr txBox="1"/>
          <p:nvPr/>
        </p:nvSpPr>
        <p:spPr>
          <a:xfrm>
            <a:off x="1143000" y="2461514"/>
            <a:ext cx="4678527" cy="824737"/>
          </a:xfrm>
          <a:prstGeom prst="rect">
            <a:avLst/>
          </a:prstGeom>
          <a:noFill/>
        </p:spPr>
        <p:txBody>
          <a:bodyPr wrap="square" anchor="t" lIns="0" rIns="0" tIns="0" bIns="0">
            <a:spAutoFit/>
          </a:bodyPr>
          <a:lstStyle/>
          <a:p>
            <a:r>
              <a:rPr sz="2200" i="0" b="0">
                <a:solidFill>
                  <a:srgbClr val="2B211C"/>
                </a:solidFill>
                <a:latin typeface="Calibri"/>
              </a:rPr>
              <a:t>Three Ways to Assess Causality</a:t>
            </a:r>
          </a:p>
        </p:txBody>
      </p:sp>
      <p:sp>
        <p:nvSpPr>
          <p:cNvPr id="17" name="Oval 16"/>
          <p:cNvSpPr/>
          <p:nvPr/>
        </p:nvSpPr>
        <p:spPr>
          <a:xfrm>
            <a:off x="548640" y="3313684"/>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3</a:t>
            </a:r>
          </a:p>
        </p:txBody>
      </p:sp>
      <p:sp>
        <p:nvSpPr>
          <p:cNvPr id="18" name="TextBox 17"/>
          <p:cNvSpPr txBox="1"/>
          <p:nvPr/>
        </p:nvSpPr>
        <p:spPr>
          <a:xfrm>
            <a:off x="1143000" y="3331972"/>
            <a:ext cx="4678527" cy="824737"/>
          </a:xfrm>
          <a:prstGeom prst="rect">
            <a:avLst/>
          </a:prstGeom>
          <a:noFill/>
        </p:spPr>
        <p:txBody>
          <a:bodyPr wrap="square" anchor="t" lIns="0" rIns="0" tIns="0" bIns="0">
            <a:spAutoFit/>
          </a:bodyPr>
          <a:lstStyle/>
          <a:p>
            <a:r>
              <a:rPr sz="2200" i="0" b="0">
                <a:solidFill>
                  <a:srgbClr val="2B211C"/>
                </a:solidFill>
                <a:latin typeface="Calibri"/>
              </a:rPr>
              <a:t>The WHO-UMC Categories</a:t>
            </a:r>
          </a:p>
        </p:txBody>
      </p:sp>
      <p:sp>
        <p:nvSpPr>
          <p:cNvPr id="19" name="Oval 18"/>
          <p:cNvSpPr/>
          <p:nvPr/>
        </p:nvSpPr>
        <p:spPr>
          <a:xfrm>
            <a:off x="6370167" y="1572768"/>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4</a:t>
            </a:r>
          </a:p>
        </p:txBody>
      </p:sp>
      <p:sp>
        <p:nvSpPr>
          <p:cNvPr id="20" name="TextBox 19"/>
          <p:cNvSpPr txBox="1"/>
          <p:nvPr/>
        </p:nvSpPr>
        <p:spPr>
          <a:xfrm>
            <a:off x="6964527" y="1591056"/>
            <a:ext cx="4678527" cy="824737"/>
          </a:xfrm>
          <a:prstGeom prst="rect">
            <a:avLst/>
          </a:prstGeom>
          <a:noFill/>
        </p:spPr>
        <p:txBody>
          <a:bodyPr wrap="square" anchor="t" lIns="0" rIns="0" tIns="0" bIns="0">
            <a:spAutoFit/>
          </a:bodyPr>
          <a:lstStyle/>
          <a:p>
            <a:r>
              <a:rPr sz="2200" i="0" b="0">
                <a:solidFill>
                  <a:srgbClr val="2B211C"/>
                </a:solidFill>
                <a:latin typeface="Calibri"/>
              </a:rPr>
              <a:t>The Naranjo Algorithm</a:t>
            </a:r>
          </a:p>
        </p:txBody>
      </p:sp>
      <p:sp>
        <p:nvSpPr>
          <p:cNvPr id="21" name="Oval 20"/>
          <p:cNvSpPr/>
          <p:nvPr/>
        </p:nvSpPr>
        <p:spPr>
          <a:xfrm>
            <a:off x="6370167" y="2443226"/>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5</a:t>
            </a:r>
          </a:p>
        </p:txBody>
      </p:sp>
      <p:sp>
        <p:nvSpPr>
          <p:cNvPr id="22" name="TextBox 21"/>
          <p:cNvSpPr txBox="1"/>
          <p:nvPr/>
        </p:nvSpPr>
        <p:spPr>
          <a:xfrm>
            <a:off x="6964527" y="2461514"/>
            <a:ext cx="4678527" cy="824737"/>
          </a:xfrm>
          <a:prstGeom prst="rect">
            <a:avLst/>
          </a:prstGeom>
          <a:noFill/>
        </p:spPr>
        <p:txBody>
          <a:bodyPr wrap="square" anchor="t" lIns="0" rIns="0" tIns="0" bIns="0">
            <a:spAutoFit/>
          </a:bodyPr>
          <a:lstStyle/>
          <a:p>
            <a:r>
              <a:rPr sz="2200" i="0" b="0">
                <a:solidFill>
                  <a:srgbClr val="2B211C"/>
                </a:solidFill>
                <a:latin typeface="Calibri"/>
              </a:rPr>
              <a:t>Severity Is Not Seriousness</a:t>
            </a:r>
          </a:p>
        </p:txBody>
      </p:sp>
      <p:sp>
        <p:nvSpPr>
          <p:cNvPr id="23" name="Oval 22"/>
          <p:cNvSpPr/>
          <p:nvPr/>
        </p:nvSpPr>
        <p:spPr>
          <a:xfrm>
            <a:off x="6370167" y="3313684"/>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6</a:t>
            </a:r>
          </a:p>
        </p:txBody>
      </p:sp>
      <p:sp>
        <p:nvSpPr>
          <p:cNvPr id="24" name="TextBox 23"/>
          <p:cNvSpPr txBox="1"/>
          <p:nvPr/>
        </p:nvSpPr>
        <p:spPr>
          <a:xfrm>
            <a:off x="6964527" y="3331972"/>
            <a:ext cx="4678527" cy="824737"/>
          </a:xfrm>
          <a:prstGeom prst="rect">
            <a:avLst/>
          </a:prstGeom>
          <a:noFill/>
        </p:spPr>
        <p:txBody>
          <a:bodyPr wrap="square" anchor="t" lIns="0" rIns="0" tIns="0" bIns="0">
            <a:spAutoFit/>
          </a:bodyPr>
          <a:lstStyle/>
          <a:p>
            <a:r>
              <a:rPr sz="2200" i="0" b="0">
                <a:solidFill>
                  <a:srgbClr val="2B211C"/>
                </a:solidFill>
                <a:latin typeface="Calibri"/>
              </a:rPr>
              <a:t>Managing a Suspected ADR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A4472B"/>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08</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2F6F7A"/>
                </a:solidFill>
                <a:latin typeface="Calibri"/>
              </a:rPr>
              <a:t>SECTION 8</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A4472B"/>
                </a:solidFill>
                <a:latin typeface="Cambria"/>
              </a:rPr>
              <a:t>Causality: Did the Drug Do It?</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8  ·  ADR Causality and Management</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04 / 28</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48640" y="1591056"/>
            <a:ext cx="64008" cy="3753357"/>
          </a:xfrm>
          <a:prstGeom prst="roundRect">
            <a:avLst>
              <a:gd name="adj" fmla="val 50000"/>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1554480"/>
            <a:ext cx="4251960" cy="4617720"/>
          </a:xfrm>
          <a:prstGeom prst="rect">
            <a:avLst/>
          </a:prstGeom>
          <a:noFill/>
        </p:spPr>
        <p:txBody>
          <a:bodyPr wrap="square" anchor="t" lIns="0" rIns="0" tIns="0" bIns="0">
            <a:spAutoFit/>
          </a:bodyPr>
          <a:lstStyle/>
          <a:p>
            <a:pPr>
              <a:spcAft>
                <a:spcPts val="800"/>
              </a:spcAft>
            </a:pPr>
            <a:r>
              <a:rPr sz="1700" i="0" b="1">
                <a:solidFill>
                  <a:srgbClr val="2B211C"/>
                </a:solidFill>
                <a:latin typeface="Calibri"/>
              </a:rPr>
              <a:t>Causality</a:t>
            </a:r>
            <a:r>
              <a:rPr sz="1700" i="0" b="0">
                <a:solidFill>
                  <a:srgbClr val="2B211C"/>
                </a:solidFill>
                <a:latin typeface="Calibri"/>
              </a:rPr>
              <a:t> is the likelihood that a medicine caused an event. Most ADRs cannot be proved, so we grade how likely the link is. Four questions do most of the work:</a:t>
            </a:r>
          </a:p>
          <a:p>
            <a:pPr>
              <a:spcAft>
                <a:spcPts val="800"/>
              </a:spcAft>
            </a:pPr>
            <a:r>
              <a:rPr sz="1700" i="0" b="0">
                <a:solidFill>
                  <a:srgbClr val="2B211C"/>
                </a:solidFill>
                <a:latin typeface="Calibri"/>
              </a:rPr>
              <a:t>Other clues are a known association (the ADR is already described), a dose-response relationship (worse with a higher dose), and objective evidence such as a drug level or a laboratory test.</a:t>
            </a:r>
          </a:p>
          <a:p>
            <a:pPr>
              <a:spcAft>
                <a:spcPts val="800"/>
              </a:spcAft>
            </a:pPr>
            <a:r>
              <a:rPr sz="1700" i="0" b="0">
                <a:solidFill>
                  <a:srgbClr val="2B211C"/>
                </a:solidFill>
                <a:latin typeface="Calibri"/>
              </a:rPr>
              <a:t>Rechallenge is strong evidence but is often unsafe. Never rechallenge on purpose after a serious reaction such as anaphylaxis.</a:t>
            </a:r>
          </a:p>
        </p:txBody>
      </p:sp>
      <p:sp>
        <p:nvSpPr>
          <p:cNvPr id="15" name="Oval 14"/>
          <p:cNvSpPr/>
          <p:nvPr/>
        </p:nvSpPr>
        <p:spPr>
          <a:xfrm>
            <a:off x="5394959" y="1572768"/>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1</a:t>
            </a:r>
          </a:p>
        </p:txBody>
      </p:sp>
      <p:sp>
        <p:nvSpPr>
          <p:cNvPr id="16" name="TextBox 15"/>
          <p:cNvSpPr txBox="1"/>
          <p:nvPr/>
        </p:nvSpPr>
        <p:spPr>
          <a:xfrm>
            <a:off x="5989320" y="1591056"/>
            <a:ext cx="5653735" cy="1108710"/>
          </a:xfrm>
          <a:prstGeom prst="rect">
            <a:avLst/>
          </a:prstGeom>
          <a:noFill/>
        </p:spPr>
        <p:txBody>
          <a:bodyPr wrap="square" anchor="t" lIns="0" rIns="0" tIns="0" bIns="0">
            <a:spAutoFit/>
          </a:bodyPr>
          <a:lstStyle/>
          <a:p>
            <a:r>
              <a:rPr sz="2100" i="0" b="1">
                <a:solidFill>
                  <a:srgbClr val="2B211C"/>
                </a:solidFill>
                <a:latin typeface="Calibri"/>
              </a:rPr>
              <a:t>Time:</a:t>
            </a:r>
            <a:r>
              <a:rPr sz="2100" i="0" b="0">
                <a:solidFill>
                  <a:srgbClr val="2B211C"/>
                </a:solidFill>
                <a:latin typeface="Calibri"/>
              </a:rPr>
              <a:t> did the event start after the drug, in a plausible time?</a:t>
            </a:r>
          </a:p>
        </p:txBody>
      </p:sp>
      <p:sp>
        <p:nvSpPr>
          <p:cNvPr id="17" name="Oval 16"/>
          <p:cNvSpPr/>
          <p:nvPr/>
        </p:nvSpPr>
        <p:spPr>
          <a:xfrm>
            <a:off x="5394959" y="2727198"/>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2</a:t>
            </a:r>
          </a:p>
        </p:txBody>
      </p:sp>
      <p:sp>
        <p:nvSpPr>
          <p:cNvPr id="18" name="TextBox 17"/>
          <p:cNvSpPr txBox="1"/>
          <p:nvPr/>
        </p:nvSpPr>
        <p:spPr>
          <a:xfrm>
            <a:off x="5989320" y="2745486"/>
            <a:ext cx="5653735" cy="1108710"/>
          </a:xfrm>
          <a:prstGeom prst="rect">
            <a:avLst/>
          </a:prstGeom>
          <a:noFill/>
        </p:spPr>
        <p:txBody>
          <a:bodyPr wrap="square" anchor="t" lIns="0" rIns="0" tIns="0" bIns="0">
            <a:spAutoFit/>
          </a:bodyPr>
          <a:lstStyle/>
          <a:p>
            <a:r>
              <a:rPr sz="2100" i="0" b="1">
                <a:solidFill>
                  <a:srgbClr val="2B211C"/>
                </a:solidFill>
                <a:latin typeface="Calibri"/>
              </a:rPr>
              <a:t>Other causes:</a:t>
            </a:r>
            <a:r>
              <a:rPr sz="2100" i="0" b="0">
                <a:solidFill>
                  <a:srgbClr val="2B211C"/>
                </a:solidFill>
                <a:latin typeface="Calibri"/>
              </a:rPr>
              <a:t> could the disease or another drug explain it?</a:t>
            </a:r>
          </a:p>
        </p:txBody>
      </p:sp>
      <p:sp>
        <p:nvSpPr>
          <p:cNvPr id="19" name="Oval 18"/>
          <p:cNvSpPr/>
          <p:nvPr/>
        </p:nvSpPr>
        <p:spPr>
          <a:xfrm>
            <a:off x="5394959" y="3881627"/>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3</a:t>
            </a:r>
          </a:p>
        </p:txBody>
      </p:sp>
      <p:sp>
        <p:nvSpPr>
          <p:cNvPr id="20" name="TextBox 19"/>
          <p:cNvSpPr txBox="1"/>
          <p:nvPr/>
        </p:nvSpPr>
        <p:spPr>
          <a:xfrm>
            <a:off x="5989320" y="3899915"/>
            <a:ext cx="5653735" cy="1108710"/>
          </a:xfrm>
          <a:prstGeom prst="rect">
            <a:avLst/>
          </a:prstGeom>
          <a:noFill/>
        </p:spPr>
        <p:txBody>
          <a:bodyPr wrap="square" anchor="t" lIns="0" rIns="0" tIns="0" bIns="0">
            <a:spAutoFit/>
          </a:bodyPr>
          <a:lstStyle/>
          <a:p>
            <a:r>
              <a:rPr sz="2100" i="0" b="1">
                <a:solidFill>
                  <a:srgbClr val="2B211C"/>
                </a:solidFill>
                <a:latin typeface="Calibri"/>
              </a:rPr>
              <a:t>Dechallenge:</a:t>
            </a:r>
            <a:r>
              <a:rPr sz="2100" i="0" b="0">
                <a:solidFill>
                  <a:srgbClr val="2B211C"/>
                </a:solidFill>
                <a:latin typeface="Calibri"/>
              </a:rPr>
              <a:t> did the event improve when the drug was stopped or the dose lowered?</a:t>
            </a:r>
          </a:p>
        </p:txBody>
      </p:sp>
      <p:sp>
        <p:nvSpPr>
          <p:cNvPr id="21" name="Oval 20"/>
          <p:cNvSpPr/>
          <p:nvPr/>
        </p:nvSpPr>
        <p:spPr>
          <a:xfrm>
            <a:off x="5394959" y="5036057"/>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4</a:t>
            </a:r>
          </a:p>
        </p:txBody>
      </p:sp>
      <p:sp>
        <p:nvSpPr>
          <p:cNvPr id="22" name="TextBox 21"/>
          <p:cNvSpPr txBox="1"/>
          <p:nvPr/>
        </p:nvSpPr>
        <p:spPr>
          <a:xfrm>
            <a:off x="5989320" y="5054346"/>
            <a:ext cx="5653735" cy="1108710"/>
          </a:xfrm>
          <a:prstGeom prst="rect">
            <a:avLst/>
          </a:prstGeom>
          <a:noFill/>
        </p:spPr>
        <p:txBody>
          <a:bodyPr wrap="square" anchor="t" lIns="0" rIns="0" tIns="0" bIns="0">
            <a:spAutoFit/>
          </a:bodyPr>
          <a:lstStyle/>
          <a:p>
            <a:r>
              <a:rPr sz="2100" i="0" b="1">
                <a:solidFill>
                  <a:srgbClr val="2B211C"/>
                </a:solidFill>
                <a:latin typeface="Calibri"/>
              </a:rPr>
              <a:t>Rechallenge:</a:t>
            </a:r>
            <a:r>
              <a:rPr sz="2100" i="0" b="0">
                <a:solidFill>
                  <a:srgbClr val="2B211C"/>
                </a:solidFill>
                <a:latin typeface="Calibri"/>
              </a:rPr>
              <a:t> did it come back when the drug was given again?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A4472B"/>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08</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2F6F7A"/>
                </a:solidFill>
                <a:latin typeface="Calibri"/>
              </a:rPr>
              <a:t>SECTION 8</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A4472B"/>
                </a:solidFill>
                <a:latin typeface="Cambria"/>
              </a:rPr>
              <a:t>Three Ways to Assess Causality</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8  ·  ADR Causality and Management</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05 / 28</a:t>
            </a:r>
          </a:p>
        </p:txBody>
      </p:sp>
      <p:pic>
        <p:nvPicPr>
          <p:cNvPr id="10" name="Picture 9" descr="logo"/>
          <p:cNvPicPr>
            <a:picLocks noChangeAspect="1"/>
          </p:cNvPicPr>
          <p:nvPr/>
        </p:nvPicPr>
        <p:blipFill>
          <a:blip r:embed="rId3"/>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3" name="Table 12"/>
          <p:cNvGraphicFramePr>
            <a:graphicFrameLocks noGrp="1"/>
          </p:cNvGraphicFramePr>
          <p:nvPr/>
        </p:nvGraphicFramePr>
        <p:xfrm>
          <a:off x="548640" y="1554480"/>
          <a:ext cx="11094413" cy="2560320"/>
        </p:xfrm>
        <a:graphic>
          <a:graphicData uri="http://schemas.openxmlformats.org/drawingml/2006/table">
            <a:tbl>
              <a:tblPr firstRow="0" bandRow="0">
                <a:tableStyleId>{5C22544A-7EE6-4342-B048-85BDC9FD1C3A}</a:tableStyleId>
              </a:tblPr>
              <a:tblGrid>
                <a:gridCol w="3025749"/>
                <a:gridCol w="3678362"/>
                <a:gridCol w="2195151"/>
                <a:gridCol w="2195151"/>
              </a:tblGrid>
              <a:tr h="640080">
                <a:tc>
                  <a:txBody>
                    <a:bodyPr/>
                    <a:lstStyle/>
                    <a:p>
                      <a:r>
                        <a:rPr sz="1700" i="0" b="1">
                          <a:solidFill>
                            <a:srgbClr val="FFFFFF"/>
                          </a:solidFill>
                          <a:latin typeface="Calibri"/>
                        </a:rPr>
                        <a:t>Method</a:t>
                      </a:r>
                    </a:p>
                  </a:txBody>
                  <a:tcPr marL="109728" marR="109728" marT="45720" marB="45720" anchor="ctr">
                    <a:solidFill>
                      <a:srgbClr val="A4472B"/>
                    </a:solidFill>
                  </a:tcPr>
                </a:tc>
                <a:tc>
                  <a:txBody>
                    <a:bodyPr/>
                    <a:lstStyle/>
                    <a:p>
                      <a:r>
                        <a:rPr sz="1700" i="0" b="1">
                          <a:solidFill>
                            <a:srgbClr val="FFFFFF"/>
                          </a:solidFill>
                          <a:latin typeface="Calibri"/>
                        </a:rPr>
                        <a:t>How it works</a:t>
                      </a:r>
                    </a:p>
                  </a:txBody>
                  <a:tcPr marL="109728" marR="109728" marT="45720" marB="45720" anchor="ctr">
                    <a:solidFill>
                      <a:srgbClr val="A4472B"/>
                    </a:solidFill>
                  </a:tcPr>
                </a:tc>
                <a:tc>
                  <a:txBody>
                    <a:bodyPr/>
                    <a:lstStyle/>
                    <a:p>
                      <a:r>
                        <a:rPr sz="1700" i="0" b="1">
                          <a:solidFill>
                            <a:srgbClr val="FFFFFF"/>
                          </a:solidFill>
                          <a:latin typeface="Calibri"/>
                        </a:rPr>
                        <a:t>Strength</a:t>
                      </a:r>
                    </a:p>
                  </a:txBody>
                  <a:tcPr marL="109728" marR="109728" marT="45720" marB="45720" anchor="ctr">
                    <a:solidFill>
                      <a:srgbClr val="A4472B"/>
                    </a:solidFill>
                  </a:tcPr>
                </a:tc>
                <a:tc>
                  <a:txBody>
                    <a:bodyPr/>
                    <a:lstStyle/>
                    <a:p>
                      <a:r>
                        <a:rPr sz="1700" i="0" b="1">
                          <a:solidFill>
                            <a:srgbClr val="FFFFFF"/>
                          </a:solidFill>
                          <a:latin typeface="Calibri"/>
                        </a:rPr>
                        <a:t>Weakness</a:t>
                      </a:r>
                    </a:p>
                  </a:txBody>
                  <a:tcPr marL="109728" marR="109728" marT="45720" marB="45720" anchor="ctr">
                    <a:solidFill>
                      <a:srgbClr val="A4472B"/>
                    </a:solidFill>
                  </a:tcPr>
                </a:tc>
              </a:tr>
              <a:tr h="640080">
                <a:tc>
                  <a:txBody>
                    <a:bodyPr/>
                    <a:lstStyle/>
                    <a:p>
                      <a:r>
                        <a:rPr sz="1800" i="0" b="1">
                          <a:solidFill>
                            <a:srgbClr val="2B211C"/>
                          </a:solidFill>
                          <a:latin typeface="Calibri"/>
                        </a:rPr>
                        <a:t>Expert judgement (global introspection)</a:t>
                      </a:r>
                    </a:p>
                  </a:txBody>
                  <a:tcPr marL="109728" marR="109728" marT="45720" marB="45720" anchor="ctr">
                    <a:solidFill>
                      <a:srgbClr val="FFFFFF"/>
                    </a:solidFill>
                  </a:tcPr>
                </a:tc>
                <a:tc>
                  <a:txBody>
                    <a:bodyPr/>
                    <a:lstStyle/>
                    <a:p>
                      <a:r>
                        <a:rPr sz="1800" i="0" b="0">
                          <a:solidFill>
                            <a:srgbClr val="2B211C"/>
                          </a:solidFill>
                          <a:latin typeface="Calibri"/>
                        </a:rPr>
                        <a:t>An experienced clinician decides, without a fixed tool</a:t>
                      </a:r>
                    </a:p>
                  </a:txBody>
                  <a:tcPr marL="109728" marR="109728" marT="45720" marB="45720" anchor="ctr">
                    <a:solidFill>
                      <a:srgbClr val="FFFFFF"/>
                    </a:solidFill>
                  </a:tcPr>
                </a:tc>
                <a:tc>
                  <a:txBody>
                    <a:bodyPr/>
                    <a:lstStyle/>
                    <a:p>
                      <a:r>
                        <a:rPr sz="1800" i="0" b="0">
                          <a:solidFill>
                            <a:srgbClr val="2B211C"/>
                          </a:solidFill>
                          <a:latin typeface="Calibri"/>
                        </a:rPr>
                        <a:t>Fast; uses clinical knowledge</a:t>
                      </a:r>
                    </a:p>
                  </a:txBody>
                  <a:tcPr marL="109728" marR="109728" marT="45720" marB="45720" anchor="ctr">
                    <a:solidFill>
                      <a:srgbClr val="FFFFFF"/>
                    </a:solidFill>
                  </a:tcPr>
                </a:tc>
                <a:tc>
                  <a:txBody>
                    <a:bodyPr/>
                    <a:lstStyle/>
                    <a:p>
                      <a:r>
                        <a:rPr sz="1800" i="0" b="0">
                          <a:solidFill>
                            <a:srgbClr val="2B211C"/>
                          </a:solidFill>
                          <a:latin typeface="Calibri"/>
                        </a:rPr>
                        <a:t>Different experts disagree</a:t>
                      </a:r>
                    </a:p>
                  </a:txBody>
                  <a:tcPr marL="109728" marR="109728" marT="45720" marB="45720" anchor="ctr">
                    <a:solidFill>
                      <a:srgbClr val="FFFFFF"/>
                    </a:solidFill>
                  </a:tcPr>
                </a:tc>
              </a:tr>
              <a:tr h="640080">
                <a:tc>
                  <a:txBody>
                    <a:bodyPr/>
                    <a:lstStyle/>
                    <a:p>
                      <a:r>
                        <a:rPr sz="1800" i="0" b="1">
                          <a:solidFill>
                            <a:srgbClr val="2B211C"/>
                          </a:solidFill>
                          <a:latin typeface="Calibri"/>
                        </a:rPr>
                        <a:t>Algorithm</a:t>
                      </a:r>
                    </a:p>
                  </a:txBody>
                  <a:tcPr marL="109728" marR="109728" marT="45720" marB="45720" anchor="ctr">
                    <a:solidFill>
                      <a:srgbClr val="FAF4F2"/>
                    </a:solidFill>
                  </a:tcPr>
                </a:tc>
                <a:tc>
                  <a:txBody>
                    <a:bodyPr/>
                    <a:lstStyle/>
                    <a:p>
                      <a:r>
                        <a:rPr sz="1800" i="0" b="0">
                          <a:solidFill>
                            <a:srgbClr val="2B211C"/>
                          </a:solidFill>
                          <a:latin typeface="Calibri"/>
                        </a:rPr>
                        <a:t>Fixed questions with scores (for example Naranjo)</a:t>
                      </a:r>
                    </a:p>
                  </a:txBody>
                  <a:tcPr marL="109728" marR="109728" marT="45720" marB="45720" anchor="ctr">
                    <a:solidFill>
                      <a:srgbClr val="FAF4F2"/>
                    </a:solidFill>
                  </a:tcPr>
                </a:tc>
                <a:tc>
                  <a:txBody>
                    <a:bodyPr/>
                    <a:lstStyle/>
                    <a:p>
                      <a:r>
                        <a:rPr sz="1800" i="0" b="0">
                          <a:solidFill>
                            <a:srgbClr val="2B211C"/>
                          </a:solidFill>
                          <a:latin typeface="Calibri"/>
                        </a:rPr>
                        <a:t>Reproducible; easy to teach</a:t>
                      </a:r>
                    </a:p>
                  </a:txBody>
                  <a:tcPr marL="109728" marR="109728" marT="45720" marB="45720" anchor="ctr">
                    <a:solidFill>
                      <a:srgbClr val="FAF4F2"/>
                    </a:solidFill>
                  </a:tcPr>
                </a:tc>
                <a:tc>
                  <a:txBody>
                    <a:bodyPr/>
                    <a:lstStyle/>
                    <a:p>
                      <a:r>
                        <a:rPr sz="1800" i="0" b="0">
                          <a:solidFill>
                            <a:srgbClr val="2B211C"/>
                          </a:solidFill>
                          <a:latin typeface="Calibri"/>
                        </a:rPr>
                        <a:t>Rigid; can miss context</a:t>
                      </a:r>
                    </a:p>
                  </a:txBody>
                  <a:tcPr marL="109728" marR="109728" marT="45720" marB="45720" anchor="ctr">
                    <a:solidFill>
                      <a:srgbClr val="FAF4F2"/>
                    </a:solidFill>
                  </a:tcPr>
                </a:tc>
              </a:tr>
              <a:tr h="640080">
                <a:tc>
                  <a:txBody>
                    <a:bodyPr/>
                    <a:lstStyle/>
                    <a:p>
                      <a:r>
                        <a:rPr sz="1800" i="0" b="1">
                          <a:solidFill>
                            <a:srgbClr val="2B211C"/>
                          </a:solidFill>
                          <a:latin typeface="Calibri"/>
                        </a:rPr>
                        <a:t>Probabilistic (Bayesian) methods</a:t>
                      </a:r>
                    </a:p>
                  </a:txBody>
                  <a:tcPr marL="109728" marR="109728" marT="45720" marB="45720" anchor="ctr">
                    <a:solidFill>
                      <a:srgbClr val="FFFFFF"/>
                    </a:solidFill>
                  </a:tcPr>
                </a:tc>
                <a:tc>
                  <a:txBody>
                    <a:bodyPr/>
                    <a:lstStyle/>
                    <a:p>
                      <a:r>
                        <a:rPr sz="1800" i="0" b="0">
                          <a:solidFill>
                            <a:srgbClr val="2B211C"/>
                          </a:solidFill>
                          <a:latin typeface="Calibri"/>
                        </a:rPr>
                        <a:t>Statistics combine prior knowledge with case details</a:t>
                      </a:r>
                    </a:p>
                  </a:txBody>
                  <a:tcPr marL="109728" marR="109728" marT="45720" marB="45720" anchor="ctr">
                    <a:solidFill>
                      <a:srgbClr val="FFFFFF"/>
                    </a:solidFill>
                  </a:tcPr>
                </a:tc>
                <a:tc>
                  <a:txBody>
                    <a:bodyPr/>
                    <a:lstStyle/>
                    <a:p>
                      <a:r>
                        <a:rPr sz="1800" i="0" b="0">
                          <a:solidFill>
                            <a:srgbClr val="2B211C"/>
                          </a:solidFill>
                          <a:latin typeface="Calibri"/>
                        </a:rPr>
                        <a:t>Most precise</a:t>
                      </a:r>
                    </a:p>
                  </a:txBody>
                  <a:tcPr marL="109728" marR="109728" marT="45720" marB="45720" anchor="ctr">
                    <a:solidFill>
                      <a:srgbClr val="FFFFFF"/>
                    </a:solidFill>
                  </a:tcPr>
                </a:tc>
                <a:tc>
                  <a:txBody>
                    <a:bodyPr/>
                    <a:lstStyle/>
                    <a:p>
                      <a:r>
                        <a:rPr sz="1800" i="0" b="0">
                          <a:solidFill>
                            <a:srgbClr val="2B211C"/>
                          </a:solidFill>
                          <a:latin typeface="Calibri"/>
                        </a:rPr>
                        <a:t>Complex; used by experts only</a:t>
                      </a:r>
                    </a:p>
                  </a:txBody>
                  <a:tcPr marL="109728" marR="109728" marT="45720" marB="45720" anchor="ctr">
                    <a:solidFill>
                      <a:srgbClr val="FFFFFF"/>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A4472B"/>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08</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2F6F7A"/>
                </a:solidFill>
                <a:latin typeface="Calibri"/>
              </a:rPr>
              <a:t>SECTION 8</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A4472B"/>
                </a:solidFill>
                <a:latin typeface="Cambria"/>
              </a:rPr>
              <a:t>The WHO-UMC Categories</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8  ·  ADR Causality and Management</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06 / 28</a:t>
            </a:r>
          </a:p>
        </p:txBody>
      </p:sp>
      <p:pic>
        <p:nvPicPr>
          <p:cNvPr id="10" name="Picture 9" descr="logo"/>
          <p:cNvPicPr>
            <a:picLocks noChangeAspect="1"/>
          </p:cNvPicPr>
          <p:nvPr/>
        </p:nvPicPr>
        <p:blipFill>
          <a:blip r:embed="rId3"/>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3" name="Table 12"/>
          <p:cNvGraphicFramePr>
            <a:graphicFrameLocks noGrp="1"/>
          </p:cNvGraphicFramePr>
          <p:nvPr/>
        </p:nvGraphicFramePr>
        <p:xfrm>
          <a:off x="548640" y="1554480"/>
          <a:ext cx="11094412" cy="4480560"/>
        </p:xfrm>
        <a:graphic>
          <a:graphicData uri="http://schemas.openxmlformats.org/drawingml/2006/table">
            <a:tbl>
              <a:tblPr firstRow="0" bandRow="0">
                <a:tableStyleId>{5C22544A-7EE6-4342-B048-85BDC9FD1C3A}</a:tableStyleId>
              </a:tblPr>
              <a:tblGrid>
                <a:gridCol w="2150958"/>
                <a:gridCol w="3591007"/>
                <a:gridCol w="2037749"/>
                <a:gridCol w="1657349"/>
                <a:gridCol w="1657349"/>
              </a:tblGrid>
              <a:tr h="640080">
                <a:tc>
                  <a:txBody>
                    <a:bodyPr/>
                    <a:lstStyle/>
                    <a:p>
                      <a:r>
                        <a:rPr sz="1600" i="0" b="1">
                          <a:solidFill>
                            <a:srgbClr val="FFFFFF"/>
                          </a:solidFill>
                          <a:latin typeface="Calibri"/>
                        </a:rPr>
                        <a:t>Category</a:t>
                      </a:r>
                    </a:p>
                  </a:txBody>
                  <a:tcPr marL="109728" marR="109728" marT="45720" marB="45720" anchor="ctr">
                    <a:solidFill>
                      <a:srgbClr val="A4472B"/>
                    </a:solidFill>
                  </a:tcPr>
                </a:tc>
                <a:tc>
                  <a:txBody>
                    <a:bodyPr/>
                    <a:lstStyle/>
                    <a:p>
                      <a:r>
                        <a:rPr sz="1600" i="0" b="1">
                          <a:solidFill>
                            <a:srgbClr val="FFFFFF"/>
                          </a:solidFill>
                          <a:latin typeface="Calibri"/>
                        </a:rPr>
                        <a:t>Time link</a:t>
                      </a:r>
                    </a:p>
                  </a:txBody>
                  <a:tcPr marL="109728" marR="109728" marT="45720" marB="45720" anchor="ctr">
                    <a:solidFill>
                      <a:srgbClr val="A4472B"/>
                    </a:solidFill>
                  </a:tcPr>
                </a:tc>
                <a:tc>
                  <a:txBody>
                    <a:bodyPr/>
                    <a:lstStyle/>
                    <a:p>
                      <a:r>
                        <a:rPr sz="1600" i="0" b="1">
                          <a:solidFill>
                            <a:srgbClr val="FFFFFF"/>
                          </a:solidFill>
                          <a:latin typeface="Calibri"/>
                        </a:rPr>
                        <a:t>Other causes</a:t>
                      </a:r>
                    </a:p>
                  </a:txBody>
                  <a:tcPr marL="109728" marR="109728" marT="45720" marB="45720" anchor="ctr">
                    <a:solidFill>
                      <a:srgbClr val="A4472B"/>
                    </a:solidFill>
                  </a:tcPr>
                </a:tc>
                <a:tc>
                  <a:txBody>
                    <a:bodyPr/>
                    <a:lstStyle/>
                    <a:p>
                      <a:r>
                        <a:rPr sz="1600" i="0" b="1">
                          <a:solidFill>
                            <a:srgbClr val="FFFFFF"/>
                          </a:solidFill>
                          <a:latin typeface="Calibri"/>
                        </a:rPr>
                        <a:t>Dechallenge</a:t>
                      </a:r>
                    </a:p>
                  </a:txBody>
                  <a:tcPr marL="109728" marR="109728" marT="45720" marB="45720" anchor="ctr">
                    <a:solidFill>
                      <a:srgbClr val="A4472B"/>
                    </a:solidFill>
                  </a:tcPr>
                </a:tc>
                <a:tc>
                  <a:txBody>
                    <a:bodyPr/>
                    <a:lstStyle/>
                    <a:p>
                      <a:r>
                        <a:rPr sz="1600" i="0" b="1">
                          <a:solidFill>
                            <a:srgbClr val="FFFFFF"/>
                          </a:solidFill>
                          <a:latin typeface="Calibri"/>
                        </a:rPr>
                        <a:t>Rechallenge</a:t>
                      </a:r>
                    </a:p>
                  </a:txBody>
                  <a:tcPr marL="109728" marR="109728" marT="45720" marB="45720" anchor="ctr">
                    <a:solidFill>
                      <a:srgbClr val="A4472B"/>
                    </a:solidFill>
                  </a:tcPr>
                </a:tc>
              </a:tr>
              <a:tr h="640080">
                <a:tc>
                  <a:txBody>
                    <a:bodyPr/>
                    <a:lstStyle/>
                    <a:p>
                      <a:r>
                        <a:rPr sz="1700" i="0" b="1">
                          <a:solidFill>
                            <a:srgbClr val="2B211C"/>
                          </a:solidFill>
                          <a:latin typeface="Calibri"/>
                        </a:rPr>
                        <a:t>Certain</a:t>
                      </a:r>
                    </a:p>
                  </a:txBody>
                  <a:tcPr marL="109728" marR="109728" marT="45720" marB="45720" anchor="ctr">
                    <a:solidFill>
                      <a:srgbClr val="FFFFFF"/>
                    </a:solidFill>
                  </a:tcPr>
                </a:tc>
                <a:tc>
                  <a:txBody>
                    <a:bodyPr/>
                    <a:lstStyle/>
                    <a:p>
                      <a:r>
                        <a:rPr sz="1700" i="0" b="0">
                          <a:solidFill>
                            <a:srgbClr val="2B211C"/>
                          </a:solidFill>
                          <a:latin typeface="Calibri"/>
                        </a:rPr>
                        <a:t>Plausible</a:t>
                      </a:r>
                    </a:p>
                  </a:txBody>
                  <a:tcPr marL="109728" marR="109728" marT="45720" marB="45720" anchor="ctr">
                    <a:solidFill>
                      <a:srgbClr val="FFFFFF"/>
                    </a:solidFill>
                  </a:tcPr>
                </a:tc>
                <a:tc>
                  <a:txBody>
                    <a:bodyPr/>
                    <a:lstStyle/>
                    <a:p>
                      <a:r>
                        <a:rPr sz="1700" i="0" b="0">
                          <a:solidFill>
                            <a:srgbClr val="2B211C"/>
                          </a:solidFill>
                          <a:latin typeface="Calibri"/>
                        </a:rPr>
                        <a:t>Ruled out</a:t>
                      </a:r>
                    </a:p>
                  </a:txBody>
                  <a:tcPr marL="109728" marR="109728" marT="45720" marB="45720" anchor="ctr">
                    <a:solidFill>
                      <a:srgbClr val="FFFFFF"/>
                    </a:solidFill>
                  </a:tcPr>
                </a:tc>
                <a:tc>
                  <a:txBody>
                    <a:bodyPr/>
                    <a:lstStyle/>
                    <a:p>
                      <a:r>
                        <a:rPr sz="1700" i="0" b="0">
                          <a:solidFill>
                            <a:srgbClr val="2B211C"/>
                          </a:solidFill>
                          <a:latin typeface="Calibri"/>
                        </a:rPr>
                        <a:t>Positive</a:t>
                      </a:r>
                    </a:p>
                  </a:txBody>
                  <a:tcPr marL="109728" marR="109728" marT="45720" marB="45720" anchor="ctr">
                    <a:solidFill>
                      <a:srgbClr val="FFFFFF"/>
                    </a:solidFill>
                  </a:tcPr>
                </a:tc>
                <a:tc>
                  <a:txBody>
                    <a:bodyPr/>
                    <a:lstStyle/>
                    <a:p>
                      <a:r>
                        <a:rPr sz="1700" i="0" b="0">
                          <a:solidFill>
                            <a:srgbClr val="2B211C"/>
                          </a:solidFill>
                          <a:latin typeface="Calibri"/>
                        </a:rPr>
                        <a:t>Positive, if needed</a:t>
                      </a:r>
                    </a:p>
                  </a:txBody>
                  <a:tcPr marL="109728" marR="109728" marT="45720" marB="45720" anchor="ctr">
                    <a:solidFill>
                      <a:srgbClr val="FFFFFF"/>
                    </a:solidFill>
                  </a:tcPr>
                </a:tc>
              </a:tr>
              <a:tr h="640080">
                <a:tc>
                  <a:txBody>
                    <a:bodyPr/>
                    <a:lstStyle/>
                    <a:p>
                      <a:r>
                        <a:rPr sz="1700" i="0" b="1">
                          <a:solidFill>
                            <a:srgbClr val="2B211C"/>
                          </a:solidFill>
                          <a:latin typeface="Calibri"/>
                        </a:rPr>
                        <a:t>Probable / likely</a:t>
                      </a:r>
                    </a:p>
                  </a:txBody>
                  <a:tcPr marL="109728" marR="109728" marT="45720" marB="45720" anchor="ctr">
                    <a:solidFill>
                      <a:srgbClr val="FAF4F2"/>
                    </a:solidFill>
                  </a:tcPr>
                </a:tc>
                <a:tc>
                  <a:txBody>
                    <a:bodyPr/>
                    <a:lstStyle/>
                    <a:p>
                      <a:r>
                        <a:rPr sz="1700" i="0" b="0">
                          <a:solidFill>
                            <a:srgbClr val="2B211C"/>
                          </a:solidFill>
                          <a:latin typeface="Calibri"/>
                        </a:rPr>
                        <a:t>Reasonable</a:t>
                      </a:r>
                    </a:p>
                  </a:txBody>
                  <a:tcPr marL="109728" marR="109728" marT="45720" marB="45720" anchor="ctr">
                    <a:solidFill>
                      <a:srgbClr val="FAF4F2"/>
                    </a:solidFill>
                  </a:tcPr>
                </a:tc>
                <a:tc>
                  <a:txBody>
                    <a:bodyPr/>
                    <a:lstStyle/>
                    <a:p>
                      <a:r>
                        <a:rPr sz="1700" i="0" b="0">
                          <a:solidFill>
                            <a:srgbClr val="2B211C"/>
                          </a:solidFill>
                          <a:latin typeface="Calibri"/>
                        </a:rPr>
                        <a:t>Unlikely</a:t>
                      </a:r>
                    </a:p>
                  </a:txBody>
                  <a:tcPr marL="109728" marR="109728" marT="45720" marB="45720" anchor="ctr">
                    <a:solidFill>
                      <a:srgbClr val="FAF4F2"/>
                    </a:solidFill>
                  </a:tcPr>
                </a:tc>
                <a:tc>
                  <a:txBody>
                    <a:bodyPr/>
                    <a:lstStyle/>
                    <a:p>
                      <a:r>
                        <a:rPr sz="1700" i="0" b="0">
                          <a:solidFill>
                            <a:srgbClr val="2B211C"/>
                          </a:solidFill>
                          <a:latin typeface="Calibri"/>
                        </a:rPr>
                        <a:t>Positive</a:t>
                      </a:r>
                    </a:p>
                  </a:txBody>
                  <a:tcPr marL="109728" marR="109728" marT="45720" marB="45720" anchor="ctr">
                    <a:solidFill>
                      <a:srgbClr val="FAF4F2"/>
                    </a:solidFill>
                  </a:tcPr>
                </a:tc>
                <a:tc>
                  <a:txBody>
                    <a:bodyPr/>
                    <a:lstStyle/>
                    <a:p>
                      <a:r>
                        <a:rPr sz="1700" i="0" b="0">
                          <a:solidFill>
                            <a:srgbClr val="2B211C"/>
                          </a:solidFill>
                          <a:latin typeface="Calibri"/>
                        </a:rPr>
                        <a:t>Not required</a:t>
                      </a:r>
                    </a:p>
                  </a:txBody>
                  <a:tcPr marL="109728" marR="109728" marT="45720" marB="45720" anchor="ctr">
                    <a:solidFill>
                      <a:srgbClr val="FAF4F2"/>
                    </a:solidFill>
                  </a:tcPr>
                </a:tc>
              </a:tr>
              <a:tr h="640080">
                <a:tc>
                  <a:txBody>
                    <a:bodyPr/>
                    <a:lstStyle/>
                    <a:p>
                      <a:r>
                        <a:rPr sz="1700" i="0" b="1">
                          <a:solidFill>
                            <a:srgbClr val="2B211C"/>
                          </a:solidFill>
                          <a:latin typeface="Calibri"/>
                        </a:rPr>
                        <a:t>Possible</a:t>
                      </a:r>
                    </a:p>
                  </a:txBody>
                  <a:tcPr marL="109728" marR="109728" marT="45720" marB="45720" anchor="ctr">
                    <a:solidFill>
                      <a:srgbClr val="FFFFFF"/>
                    </a:solidFill>
                  </a:tcPr>
                </a:tc>
                <a:tc>
                  <a:txBody>
                    <a:bodyPr/>
                    <a:lstStyle/>
                    <a:p>
                      <a:r>
                        <a:rPr sz="1700" i="0" b="0">
                          <a:solidFill>
                            <a:srgbClr val="2B211C"/>
                          </a:solidFill>
                          <a:latin typeface="Calibri"/>
                        </a:rPr>
                        <a:t>Reasonable</a:t>
                      </a:r>
                    </a:p>
                  </a:txBody>
                  <a:tcPr marL="109728" marR="109728" marT="45720" marB="45720" anchor="ctr">
                    <a:solidFill>
                      <a:srgbClr val="FFFFFF"/>
                    </a:solidFill>
                  </a:tcPr>
                </a:tc>
                <a:tc>
                  <a:txBody>
                    <a:bodyPr/>
                    <a:lstStyle/>
                    <a:p>
                      <a:r>
                        <a:rPr sz="1700" i="0" b="0">
                          <a:solidFill>
                            <a:srgbClr val="2B211C"/>
                          </a:solidFill>
                          <a:latin typeface="Calibri"/>
                        </a:rPr>
                        <a:t>Could explain it</a:t>
                      </a:r>
                    </a:p>
                  </a:txBody>
                  <a:tcPr marL="109728" marR="109728" marT="45720" marB="45720" anchor="ctr">
                    <a:solidFill>
                      <a:srgbClr val="FFFFFF"/>
                    </a:solidFill>
                  </a:tcPr>
                </a:tc>
                <a:tc>
                  <a:txBody>
                    <a:bodyPr/>
                    <a:lstStyle/>
                    <a:p>
                      <a:r>
                        <a:rPr sz="1700" i="0" b="0">
                          <a:solidFill>
                            <a:srgbClr val="2B211C"/>
                          </a:solidFill>
                          <a:latin typeface="Calibri"/>
                        </a:rPr>
                        <a:t>Unclear or not done</a:t>
                      </a:r>
                    </a:p>
                  </a:txBody>
                  <a:tcPr marL="109728" marR="109728" marT="45720" marB="45720" anchor="ctr">
                    <a:solidFill>
                      <a:srgbClr val="FFFFFF"/>
                    </a:solidFill>
                  </a:tcPr>
                </a:tc>
                <a:tc>
                  <a:txBody>
                    <a:bodyPr/>
                    <a:lstStyle/>
                    <a:p>
                      <a:r>
                        <a:rPr sz="1700" i="0" b="0">
                          <a:solidFill>
                            <a:srgbClr val="2B211C"/>
                          </a:solidFill>
                          <a:latin typeface="Calibri"/>
                        </a:rPr>
                        <a:t>Not required</a:t>
                      </a:r>
                    </a:p>
                  </a:txBody>
                  <a:tcPr marL="109728" marR="109728" marT="45720" marB="45720" anchor="ctr">
                    <a:solidFill>
                      <a:srgbClr val="FFFFFF"/>
                    </a:solidFill>
                  </a:tcPr>
                </a:tc>
              </a:tr>
              <a:tr h="640080">
                <a:tc>
                  <a:txBody>
                    <a:bodyPr/>
                    <a:lstStyle/>
                    <a:p>
                      <a:r>
                        <a:rPr sz="1700" i="0" b="1">
                          <a:solidFill>
                            <a:srgbClr val="2B211C"/>
                          </a:solidFill>
                          <a:latin typeface="Calibri"/>
                        </a:rPr>
                        <a:t>Unlikely</a:t>
                      </a:r>
                    </a:p>
                  </a:txBody>
                  <a:tcPr marL="109728" marR="109728" marT="45720" marB="45720" anchor="ctr">
                    <a:solidFill>
                      <a:srgbClr val="FAF4F2"/>
                    </a:solidFill>
                  </a:tcPr>
                </a:tc>
                <a:tc>
                  <a:txBody>
                    <a:bodyPr/>
                    <a:lstStyle/>
                    <a:p>
                      <a:r>
                        <a:rPr sz="1700" i="0" b="0">
                          <a:solidFill>
                            <a:srgbClr val="2B211C"/>
                          </a:solidFill>
                          <a:latin typeface="Calibri"/>
                        </a:rPr>
                        <a:t>Improbable</a:t>
                      </a:r>
                    </a:p>
                  </a:txBody>
                  <a:tcPr marL="109728" marR="109728" marT="45720" marB="45720" anchor="ctr">
                    <a:solidFill>
                      <a:srgbClr val="FAF4F2"/>
                    </a:solidFill>
                  </a:tcPr>
                </a:tc>
                <a:tc>
                  <a:txBody>
                    <a:bodyPr/>
                    <a:lstStyle/>
                    <a:p>
                      <a:r>
                        <a:rPr sz="1700" i="0" b="0">
                          <a:solidFill>
                            <a:srgbClr val="2B211C"/>
                          </a:solidFill>
                          <a:latin typeface="Calibri"/>
                        </a:rPr>
                        <a:t>Plausible explanations exist</a:t>
                      </a:r>
                    </a:p>
                  </a:txBody>
                  <a:tcPr marL="109728" marR="109728" marT="45720" marB="45720" anchor="ctr">
                    <a:solidFill>
                      <a:srgbClr val="FAF4F2"/>
                    </a:solidFill>
                  </a:tcPr>
                </a:tc>
                <a:tc>
                  <a:txBody>
                    <a:bodyPr/>
                    <a:lstStyle/>
                    <a:p>
                      <a:r>
                        <a:rPr sz="1700" i="0" b="0">
                          <a:solidFill>
                            <a:srgbClr val="2B211C"/>
                          </a:solidFill>
                          <a:latin typeface="Calibri"/>
                        </a:rPr>
                        <a:t>—</a:t>
                      </a:r>
                    </a:p>
                  </a:txBody>
                  <a:tcPr marL="109728" marR="109728" marT="45720" marB="45720" anchor="ctr">
                    <a:solidFill>
                      <a:srgbClr val="FAF4F2"/>
                    </a:solidFill>
                  </a:tcPr>
                </a:tc>
                <a:tc>
                  <a:txBody>
                    <a:bodyPr/>
                    <a:lstStyle/>
                    <a:p>
                      <a:r>
                        <a:rPr sz="1700" i="0" b="0">
                          <a:solidFill>
                            <a:srgbClr val="2B211C"/>
                          </a:solidFill>
                          <a:latin typeface="Calibri"/>
                        </a:rPr>
                        <a:t>—</a:t>
                      </a:r>
                    </a:p>
                  </a:txBody>
                  <a:tcPr marL="109728" marR="109728" marT="45720" marB="45720" anchor="ctr">
                    <a:solidFill>
                      <a:srgbClr val="FAF4F2"/>
                    </a:solidFill>
                  </a:tcPr>
                </a:tc>
              </a:tr>
              <a:tr h="640080">
                <a:tc>
                  <a:txBody>
                    <a:bodyPr/>
                    <a:lstStyle/>
                    <a:p>
                      <a:r>
                        <a:rPr sz="1700" i="0" b="1">
                          <a:solidFill>
                            <a:srgbClr val="2B211C"/>
                          </a:solidFill>
                          <a:latin typeface="Calibri"/>
                        </a:rPr>
                        <a:t>Conditional / unclassified</a:t>
                      </a:r>
                    </a:p>
                  </a:txBody>
                  <a:tcPr marL="109728" marR="109728" marT="45720" marB="45720" anchor="ctr">
                    <a:solidFill>
                      <a:srgbClr val="FFFFFF"/>
                    </a:solidFill>
                  </a:tcPr>
                </a:tc>
                <a:tc>
                  <a:txBody>
                    <a:bodyPr/>
                    <a:lstStyle/>
                    <a:p>
                      <a:r>
                        <a:rPr sz="1700" i="0" b="0">
                          <a:solidFill>
                            <a:srgbClr val="2B211C"/>
                          </a:solidFill>
                          <a:latin typeface="Calibri"/>
                        </a:rPr>
                        <a:t>More data are needed and are being sought</a:t>
                      </a:r>
                    </a:p>
                  </a:txBody>
                  <a:tcPr marL="109728" marR="109728" marT="45720" marB="45720" anchor="ctr">
                    <a:solidFill>
                      <a:srgbClr val="FFFFFF"/>
                    </a:solidFill>
                  </a:tcPr>
                </a:tc>
                <a:tc>
                  <a:txBody>
                    <a:bodyPr/>
                    <a:lstStyle/>
                    <a:p/>
                  </a:txBody>
                  <a:tcPr marL="109728" marR="109728" marT="45720" marB="45720" anchor="ctr">
                    <a:solidFill>
                      <a:srgbClr val="FFFFFF"/>
                    </a:solidFill>
                  </a:tcPr>
                </a:tc>
                <a:tc>
                  <a:txBody>
                    <a:bodyPr/>
                    <a:lstStyle/>
                    <a:p/>
                  </a:txBody>
                  <a:tcPr marL="109728" marR="109728" marT="45720" marB="45720" anchor="ctr">
                    <a:solidFill>
                      <a:srgbClr val="FFFFFF"/>
                    </a:solidFill>
                  </a:tcPr>
                </a:tc>
                <a:tc>
                  <a:txBody>
                    <a:bodyPr/>
                    <a:lstStyle/>
                    <a:p/>
                  </a:txBody>
                  <a:tcPr marL="109728" marR="109728" marT="45720" marB="45720" anchor="ctr">
                    <a:solidFill>
                      <a:srgbClr val="FFFFFF"/>
                    </a:solidFill>
                  </a:tcPr>
                </a:tc>
              </a:tr>
              <a:tr h="640080">
                <a:tc>
                  <a:txBody>
                    <a:bodyPr/>
                    <a:lstStyle/>
                    <a:p>
                      <a:r>
                        <a:rPr sz="1700" i="0" b="1">
                          <a:solidFill>
                            <a:srgbClr val="2B211C"/>
                          </a:solidFill>
                          <a:latin typeface="Calibri"/>
                        </a:rPr>
                        <a:t>Unassessable</a:t>
                      </a:r>
                    </a:p>
                  </a:txBody>
                  <a:tcPr marL="109728" marR="109728" marT="45720" marB="45720" anchor="ctr">
                    <a:solidFill>
                      <a:srgbClr val="FAF4F2"/>
                    </a:solidFill>
                  </a:tcPr>
                </a:tc>
                <a:tc>
                  <a:txBody>
                    <a:bodyPr/>
                    <a:lstStyle/>
                    <a:p>
                      <a:r>
                        <a:rPr sz="1700" i="0" b="0">
                          <a:solidFill>
                            <a:srgbClr val="2B211C"/>
                          </a:solidFill>
                          <a:latin typeface="Calibri"/>
                        </a:rPr>
                        <a:t>Information is missing or contradictory and cannot be completed</a:t>
                      </a:r>
                    </a:p>
                  </a:txBody>
                  <a:tcPr marL="109728" marR="109728" marT="45720" marB="45720" anchor="ctr">
                    <a:solidFill>
                      <a:srgbClr val="FAF4F2"/>
                    </a:solidFill>
                  </a:tcPr>
                </a:tc>
                <a:tc>
                  <a:txBody>
                    <a:bodyPr/>
                    <a:lstStyle/>
                    <a:p/>
                  </a:txBody>
                  <a:tcPr marL="109728" marR="109728" marT="45720" marB="45720" anchor="ctr">
                    <a:solidFill>
                      <a:srgbClr val="FAF4F2"/>
                    </a:solidFill>
                  </a:tcPr>
                </a:tc>
                <a:tc>
                  <a:txBody>
                    <a:bodyPr/>
                    <a:lstStyle/>
                    <a:p/>
                  </a:txBody>
                  <a:tcPr marL="109728" marR="109728" marT="45720" marB="45720" anchor="ctr">
                    <a:solidFill>
                      <a:srgbClr val="FAF4F2"/>
                    </a:solidFill>
                  </a:tcPr>
                </a:tc>
                <a:tc>
                  <a:txBody>
                    <a:bodyPr/>
                    <a:lstStyle/>
                    <a:p/>
                  </a:txBody>
                  <a:tcPr marL="109728" marR="109728" marT="45720" marB="45720" anchor="ctr">
                    <a:solidFill>
                      <a:srgbClr val="FAF4F2"/>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A4472B"/>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08</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2F6F7A"/>
                </a:solidFill>
                <a:latin typeface="Calibri"/>
              </a:rPr>
              <a:t>SECTION 8</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A4472B"/>
                </a:solidFill>
                <a:latin typeface="Cambria"/>
              </a:rPr>
              <a:t>The Naranjo Algorithm (1/2)</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8  ·  ADR Causality and Management</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07 / 28</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48640" y="1591056"/>
            <a:ext cx="64008" cy="315468"/>
          </a:xfrm>
          <a:prstGeom prst="roundRect">
            <a:avLst>
              <a:gd name="adj" fmla="val 50000"/>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1554480"/>
            <a:ext cx="10865815" cy="498348"/>
          </a:xfrm>
          <a:prstGeom prst="rect">
            <a:avLst/>
          </a:prstGeom>
          <a:noFill/>
        </p:spPr>
        <p:txBody>
          <a:bodyPr wrap="square" anchor="t" lIns="0" rIns="0" tIns="0" bIns="0">
            <a:spAutoFit/>
          </a:bodyPr>
          <a:lstStyle/>
          <a:p>
            <a:pPr>
              <a:spcAft>
                <a:spcPts val="800"/>
              </a:spcAft>
            </a:pPr>
            <a:r>
              <a:rPr sz="1800" i="0" b="0">
                <a:solidFill>
                  <a:srgbClr val="2B211C"/>
                </a:solidFill>
                <a:latin typeface="Calibri"/>
              </a:rPr>
              <a:t>The Naranjo algorithm asks ten questions. Add the scores for the answers.</a:t>
            </a:r>
          </a:p>
        </p:txBody>
      </p:sp>
      <p:graphicFrame>
        <p:nvGraphicFramePr>
          <p:cNvPr id="15" name="Table 14"/>
          <p:cNvGraphicFramePr>
            <a:graphicFrameLocks noGrp="1"/>
          </p:cNvGraphicFramePr>
          <p:nvPr/>
        </p:nvGraphicFramePr>
        <p:xfrm>
          <a:off x="548640" y="2235708"/>
          <a:ext cx="11094413" cy="3936488"/>
        </p:xfrm>
        <a:graphic>
          <a:graphicData uri="http://schemas.openxmlformats.org/drawingml/2006/table">
            <a:tbl>
              <a:tblPr firstRow="0" bandRow="0">
                <a:tableStyleId>{5C22544A-7EE6-4342-B048-85BDC9FD1C3A}</a:tableStyleId>
              </a:tblPr>
              <a:tblGrid>
                <a:gridCol w="853416"/>
                <a:gridCol w="6448036"/>
                <a:gridCol w="1043064"/>
                <a:gridCol w="948240"/>
                <a:gridCol w="1801657"/>
              </a:tblGrid>
              <a:tr h="492061">
                <a:tc>
                  <a:txBody>
                    <a:bodyPr/>
                    <a:lstStyle/>
                    <a:p>
                      <a:r>
                        <a:rPr sz="1700" i="0" b="1">
                          <a:solidFill>
                            <a:srgbClr val="FFFFFF"/>
                          </a:solidFill>
                          <a:latin typeface="Calibri"/>
                        </a:rPr>
                        <a:t>#</a:t>
                      </a:r>
                    </a:p>
                  </a:txBody>
                  <a:tcPr marL="109728" marR="109728" marT="45720" marB="45720" anchor="ctr">
                    <a:solidFill>
                      <a:srgbClr val="A4472B"/>
                    </a:solidFill>
                  </a:tcPr>
                </a:tc>
                <a:tc>
                  <a:txBody>
                    <a:bodyPr/>
                    <a:lstStyle/>
                    <a:p>
                      <a:r>
                        <a:rPr sz="1700" i="0" b="1">
                          <a:solidFill>
                            <a:srgbClr val="FFFFFF"/>
                          </a:solidFill>
                          <a:latin typeface="Calibri"/>
                        </a:rPr>
                        <a:t>Question</a:t>
                      </a:r>
                    </a:p>
                  </a:txBody>
                  <a:tcPr marL="109728" marR="109728" marT="45720" marB="45720" anchor="ctr">
                    <a:solidFill>
                      <a:srgbClr val="A4472B"/>
                    </a:solidFill>
                  </a:tcPr>
                </a:tc>
                <a:tc>
                  <a:txBody>
                    <a:bodyPr/>
                    <a:lstStyle/>
                    <a:p>
                      <a:r>
                        <a:rPr sz="1700" i="0" b="1">
                          <a:solidFill>
                            <a:srgbClr val="FFFFFF"/>
                          </a:solidFill>
                          <a:latin typeface="Calibri"/>
                        </a:rPr>
                        <a:t>Yes</a:t>
                      </a:r>
                    </a:p>
                  </a:txBody>
                  <a:tcPr marL="109728" marR="109728" marT="45720" marB="45720" anchor="ctr">
                    <a:solidFill>
                      <a:srgbClr val="A4472B"/>
                    </a:solidFill>
                  </a:tcPr>
                </a:tc>
                <a:tc>
                  <a:txBody>
                    <a:bodyPr/>
                    <a:lstStyle/>
                    <a:p>
                      <a:r>
                        <a:rPr sz="1700" i="0" b="1">
                          <a:solidFill>
                            <a:srgbClr val="FFFFFF"/>
                          </a:solidFill>
                          <a:latin typeface="Calibri"/>
                        </a:rPr>
                        <a:t>No</a:t>
                      </a:r>
                    </a:p>
                  </a:txBody>
                  <a:tcPr marL="109728" marR="109728" marT="45720" marB="45720" anchor="ctr">
                    <a:solidFill>
                      <a:srgbClr val="A4472B"/>
                    </a:solidFill>
                  </a:tcPr>
                </a:tc>
                <a:tc>
                  <a:txBody>
                    <a:bodyPr/>
                    <a:lstStyle/>
                    <a:p>
                      <a:r>
                        <a:rPr sz="1700" i="0" b="1">
                          <a:solidFill>
                            <a:srgbClr val="FFFFFF"/>
                          </a:solidFill>
                          <a:latin typeface="Calibri"/>
                        </a:rPr>
                        <a:t>Do not know</a:t>
                      </a:r>
                    </a:p>
                  </a:txBody>
                  <a:tcPr marL="109728" marR="109728" marT="45720" marB="45720" anchor="ctr">
                    <a:solidFill>
                      <a:srgbClr val="A4472B"/>
                    </a:solidFill>
                  </a:tcPr>
                </a:tc>
              </a:tr>
              <a:tr h="492061">
                <a:tc>
                  <a:txBody>
                    <a:bodyPr/>
                    <a:lstStyle/>
                    <a:p>
                      <a:r>
                        <a:rPr sz="1800" i="0" b="1">
                          <a:solidFill>
                            <a:srgbClr val="2B211C"/>
                          </a:solidFill>
                          <a:latin typeface="Calibri"/>
                        </a:rPr>
                        <a:t>1</a:t>
                      </a:r>
                    </a:p>
                  </a:txBody>
                  <a:tcPr marL="109728" marR="109728" marT="45720" marB="45720" anchor="ctr">
                    <a:solidFill>
                      <a:srgbClr val="FFFFFF"/>
                    </a:solidFill>
                  </a:tcPr>
                </a:tc>
                <a:tc>
                  <a:txBody>
                    <a:bodyPr/>
                    <a:lstStyle/>
                    <a:p>
                      <a:r>
                        <a:rPr sz="1800" i="0" b="0">
                          <a:solidFill>
                            <a:srgbClr val="2B211C"/>
                          </a:solidFill>
                          <a:latin typeface="Calibri"/>
                        </a:rPr>
                        <a:t>Are there previous conclusive reports of this reaction?</a:t>
                      </a:r>
                    </a:p>
                  </a:txBody>
                  <a:tcPr marL="109728" marR="109728" marT="45720" marB="45720" anchor="ctr">
                    <a:solidFill>
                      <a:srgbClr val="FFFFFF"/>
                    </a:solidFill>
                  </a:tcPr>
                </a:tc>
                <a:tc>
                  <a:txBody>
                    <a:bodyPr/>
                    <a:lstStyle/>
                    <a:p>
                      <a:r>
                        <a:rPr sz="1800" i="0" b="0">
                          <a:solidFill>
                            <a:srgbClr val="2B211C"/>
                          </a:solidFill>
                          <a:latin typeface="Calibri"/>
                        </a:rPr>
                        <a:t>+1</a:t>
                      </a:r>
                    </a:p>
                  </a:txBody>
                  <a:tcPr marL="109728" marR="109728" marT="45720" marB="45720" anchor="ctr">
                    <a:solidFill>
                      <a:srgbClr val="FFFFFF"/>
                    </a:solidFill>
                  </a:tcPr>
                </a:tc>
                <a:tc>
                  <a:txBody>
                    <a:bodyPr/>
                    <a:lstStyle/>
                    <a:p>
                      <a:r>
                        <a:rPr sz="1800" i="0" b="0">
                          <a:solidFill>
                            <a:srgbClr val="2B211C"/>
                          </a:solidFill>
                          <a:latin typeface="Calibri"/>
                        </a:rPr>
                        <a:t>0</a:t>
                      </a:r>
                    </a:p>
                  </a:txBody>
                  <a:tcPr marL="109728" marR="109728" marT="45720" marB="45720" anchor="ctr">
                    <a:solidFill>
                      <a:srgbClr val="FFFFFF"/>
                    </a:solidFill>
                  </a:tcPr>
                </a:tc>
                <a:tc>
                  <a:txBody>
                    <a:bodyPr/>
                    <a:lstStyle/>
                    <a:p>
                      <a:r>
                        <a:rPr sz="1800" i="0" b="0">
                          <a:solidFill>
                            <a:srgbClr val="2B211C"/>
                          </a:solidFill>
                          <a:latin typeface="Calibri"/>
                        </a:rPr>
                        <a:t>0</a:t>
                      </a:r>
                    </a:p>
                  </a:txBody>
                  <a:tcPr marL="109728" marR="109728" marT="45720" marB="45720" anchor="ctr">
                    <a:solidFill>
                      <a:srgbClr val="FFFFFF"/>
                    </a:solidFill>
                  </a:tcPr>
                </a:tc>
              </a:tr>
              <a:tr h="492061">
                <a:tc>
                  <a:txBody>
                    <a:bodyPr/>
                    <a:lstStyle/>
                    <a:p>
                      <a:r>
                        <a:rPr sz="1800" i="0" b="1">
                          <a:solidFill>
                            <a:srgbClr val="2B211C"/>
                          </a:solidFill>
                          <a:latin typeface="Calibri"/>
                        </a:rPr>
                        <a:t>2</a:t>
                      </a:r>
                    </a:p>
                  </a:txBody>
                  <a:tcPr marL="109728" marR="109728" marT="45720" marB="45720" anchor="ctr">
                    <a:solidFill>
                      <a:srgbClr val="FAF4F2"/>
                    </a:solidFill>
                  </a:tcPr>
                </a:tc>
                <a:tc>
                  <a:txBody>
                    <a:bodyPr/>
                    <a:lstStyle/>
                    <a:p>
                      <a:r>
                        <a:rPr sz="1800" i="0" b="0">
                          <a:solidFill>
                            <a:srgbClr val="2B211C"/>
                          </a:solidFill>
                          <a:latin typeface="Calibri"/>
                        </a:rPr>
                        <a:t>Did the event appear after the drug was given?</a:t>
                      </a:r>
                    </a:p>
                  </a:txBody>
                  <a:tcPr marL="109728" marR="109728" marT="45720" marB="45720" anchor="ctr">
                    <a:solidFill>
                      <a:srgbClr val="FAF4F2"/>
                    </a:solidFill>
                  </a:tcPr>
                </a:tc>
                <a:tc>
                  <a:txBody>
                    <a:bodyPr/>
                    <a:lstStyle/>
                    <a:p>
                      <a:r>
                        <a:rPr sz="1800" i="0" b="0">
                          <a:solidFill>
                            <a:srgbClr val="2B211C"/>
                          </a:solidFill>
                          <a:latin typeface="Calibri"/>
                        </a:rPr>
                        <a:t>+2</a:t>
                      </a:r>
                    </a:p>
                  </a:txBody>
                  <a:tcPr marL="109728" marR="109728" marT="45720" marB="45720" anchor="ctr">
                    <a:solidFill>
                      <a:srgbClr val="FAF4F2"/>
                    </a:solidFill>
                  </a:tcPr>
                </a:tc>
                <a:tc>
                  <a:txBody>
                    <a:bodyPr/>
                    <a:lstStyle/>
                    <a:p>
                      <a:r>
                        <a:rPr sz="1800" i="0" b="0">
                          <a:solidFill>
                            <a:srgbClr val="2B211C"/>
                          </a:solidFill>
                          <a:latin typeface="Calibri"/>
                        </a:rPr>
                        <a:t>−1</a:t>
                      </a:r>
                    </a:p>
                  </a:txBody>
                  <a:tcPr marL="109728" marR="109728" marT="45720" marB="45720" anchor="ctr">
                    <a:solidFill>
                      <a:srgbClr val="FAF4F2"/>
                    </a:solidFill>
                  </a:tcPr>
                </a:tc>
                <a:tc>
                  <a:txBody>
                    <a:bodyPr/>
                    <a:lstStyle/>
                    <a:p>
                      <a:r>
                        <a:rPr sz="1800" i="0" b="0">
                          <a:solidFill>
                            <a:srgbClr val="2B211C"/>
                          </a:solidFill>
                          <a:latin typeface="Calibri"/>
                        </a:rPr>
                        <a:t>0</a:t>
                      </a:r>
                    </a:p>
                  </a:txBody>
                  <a:tcPr marL="109728" marR="109728" marT="45720" marB="45720" anchor="ctr">
                    <a:solidFill>
                      <a:srgbClr val="FAF4F2"/>
                    </a:solidFill>
                  </a:tcPr>
                </a:tc>
              </a:tr>
              <a:tr h="492061">
                <a:tc>
                  <a:txBody>
                    <a:bodyPr/>
                    <a:lstStyle/>
                    <a:p>
                      <a:r>
                        <a:rPr sz="1800" i="0" b="1">
                          <a:solidFill>
                            <a:srgbClr val="2B211C"/>
                          </a:solidFill>
                          <a:latin typeface="Calibri"/>
                        </a:rPr>
                        <a:t>3</a:t>
                      </a:r>
                    </a:p>
                  </a:txBody>
                  <a:tcPr marL="109728" marR="109728" marT="45720" marB="45720" anchor="ctr">
                    <a:solidFill>
                      <a:srgbClr val="FFFFFF"/>
                    </a:solidFill>
                  </a:tcPr>
                </a:tc>
                <a:tc>
                  <a:txBody>
                    <a:bodyPr/>
                    <a:lstStyle/>
                    <a:p>
                      <a:r>
                        <a:rPr sz="1800" i="0" b="0">
                          <a:solidFill>
                            <a:srgbClr val="2B211C"/>
                          </a:solidFill>
                          <a:latin typeface="Calibri"/>
                        </a:rPr>
                        <a:t>Did it improve when the drug was stopped or an antagonist given?</a:t>
                      </a:r>
                    </a:p>
                  </a:txBody>
                  <a:tcPr marL="109728" marR="109728" marT="45720" marB="45720" anchor="ctr">
                    <a:solidFill>
                      <a:srgbClr val="FFFFFF"/>
                    </a:solidFill>
                  </a:tcPr>
                </a:tc>
                <a:tc>
                  <a:txBody>
                    <a:bodyPr/>
                    <a:lstStyle/>
                    <a:p>
                      <a:r>
                        <a:rPr sz="1800" i="0" b="0">
                          <a:solidFill>
                            <a:srgbClr val="2B211C"/>
                          </a:solidFill>
                          <a:latin typeface="Calibri"/>
                        </a:rPr>
                        <a:t>+1</a:t>
                      </a:r>
                    </a:p>
                  </a:txBody>
                  <a:tcPr marL="109728" marR="109728" marT="45720" marB="45720" anchor="ctr">
                    <a:solidFill>
                      <a:srgbClr val="FFFFFF"/>
                    </a:solidFill>
                  </a:tcPr>
                </a:tc>
                <a:tc>
                  <a:txBody>
                    <a:bodyPr/>
                    <a:lstStyle/>
                    <a:p>
                      <a:r>
                        <a:rPr sz="1800" i="0" b="0">
                          <a:solidFill>
                            <a:srgbClr val="2B211C"/>
                          </a:solidFill>
                          <a:latin typeface="Calibri"/>
                        </a:rPr>
                        <a:t>0</a:t>
                      </a:r>
                    </a:p>
                  </a:txBody>
                  <a:tcPr marL="109728" marR="109728" marT="45720" marB="45720" anchor="ctr">
                    <a:solidFill>
                      <a:srgbClr val="FFFFFF"/>
                    </a:solidFill>
                  </a:tcPr>
                </a:tc>
                <a:tc>
                  <a:txBody>
                    <a:bodyPr/>
                    <a:lstStyle/>
                    <a:p>
                      <a:r>
                        <a:rPr sz="1800" i="0" b="0">
                          <a:solidFill>
                            <a:srgbClr val="2B211C"/>
                          </a:solidFill>
                          <a:latin typeface="Calibri"/>
                        </a:rPr>
                        <a:t>0</a:t>
                      </a:r>
                    </a:p>
                  </a:txBody>
                  <a:tcPr marL="109728" marR="109728" marT="45720" marB="45720" anchor="ctr">
                    <a:solidFill>
                      <a:srgbClr val="FFFFFF"/>
                    </a:solidFill>
                  </a:tcPr>
                </a:tc>
              </a:tr>
              <a:tr h="492061">
                <a:tc>
                  <a:txBody>
                    <a:bodyPr/>
                    <a:lstStyle/>
                    <a:p>
                      <a:r>
                        <a:rPr sz="1800" i="0" b="1">
                          <a:solidFill>
                            <a:srgbClr val="2B211C"/>
                          </a:solidFill>
                          <a:latin typeface="Calibri"/>
                        </a:rPr>
                        <a:t>4</a:t>
                      </a:r>
                    </a:p>
                  </a:txBody>
                  <a:tcPr marL="109728" marR="109728" marT="45720" marB="45720" anchor="ctr">
                    <a:solidFill>
                      <a:srgbClr val="FAF4F2"/>
                    </a:solidFill>
                  </a:tcPr>
                </a:tc>
                <a:tc>
                  <a:txBody>
                    <a:bodyPr/>
                    <a:lstStyle/>
                    <a:p>
                      <a:r>
                        <a:rPr sz="1800" i="0" b="0">
                          <a:solidFill>
                            <a:srgbClr val="2B211C"/>
                          </a:solidFill>
                          <a:latin typeface="Calibri"/>
                        </a:rPr>
                        <a:t>Did it reappear when the drug was given again?</a:t>
                      </a:r>
                    </a:p>
                  </a:txBody>
                  <a:tcPr marL="109728" marR="109728" marT="45720" marB="45720" anchor="ctr">
                    <a:solidFill>
                      <a:srgbClr val="FAF4F2"/>
                    </a:solidFill>
                  </a:tcPr>
                </a:tc>
                <a:tc>
                  <a:txBody>
                    <a:bodyPr/>
                    <a:lstStyle/>
                    <a:p>
                      <a:r>
                        <a:rPr sz="1800" i="0" b="0">
                          <a:solidFill>
                            <a:srgbClr val="2B211C"/>
                          </a:solidFill>
                          <a:latin typeface="Calibri"/>
                        </a:rPr>
                        <a:t>+2</a:t>
                      </a:r>
                    </a:p>
                  </a:txBody>
                  <a:tcPr marL="109728" marR="109728" marT="45720" marB="45720" anchor="ctr">
                    <a:solidFill>
                      <a:srgbClr val="FAF4F2"/>
                    </a:solidFill>
                  </a:tcPr>
                </a:tc>
                <a:tc>
                  <a:txBody>
                    <a:bodyPr/>
                    <a:lstStyle/>
                    <a:p>
                      <a:r>
                        <a:rPr sz="1800" i="0" b="0">
                          <a:solidFill>
                            <a:srgbClr val="2B211C"/>
                          </a:solidFill>
                          <a:latin typeface="Calibri"/>
                        </a:rPr>
                        <a:t>−1</a:t>
                      </a:r>
                    </a:p>
                  </a:txBody>
                  <a:tcPr marL="109728" marR="109728" marT="45720" marB="45720" anchor="ctr">
                    <a:solidFill>
                      <a:srgbClr val="FAF4F2"/>
                    </a:solidFill>
                  </a:tcPr>
                </a:tc>
                <a:tc>
                  <a:txBody>
                    <a:bodyPr/>
                    <a:lstStyle/>
                    <a:p>
                      <a:r>
                        <a:rPr sz="1800" i="0" b="0">
                          <a:solidFill>
                            <a:srgbClr val="2B211C"/>
                          </a:solidFill>
                          <a:latin typeface="Calibri"/>
                        </a:rPr>
                        <a:t>0</a:t>
                      </a:r>
                    </a:p>
                  </a:txBody>
                  <a:tcPr marL="109728" marR="109728" marT="45720" marB="45720" anchor="ctr">
                    <a:solidFill>
                      <a:srgbClr val="FAF4F2"/>
                    </a:solidFill>
                  </a:tcPr>
                </a:tc>
              </a:tr>
              <a:tr h="492061">
                <a:tc>
                  <a:txBody>
                    <a:bodyPr/>
                    <a:lstStyle/>
                    <a:p>
                      <a:r>
                        <a:rPr sz="1800" i="0" b="1">
                          <a:solidFill>
                            <a:srgbClr val="2B211C"/>
                          </a:solidFill>
                          <a:latin typeface="Calibri"/>
                        </a:rPr>
                        <a:t>5</a:t>
                      </a:r>
                    </a:p>
                  </a:txBody>
                  <a:tcPr marL="109728" marR="109728" marT="45720" marB="45720" anchor="ctr">
                    <a:solidFill>
                      <a:srgbClr val="FFFFFF"/>
                    </a:solidFill>
                  </a:tcPr>
                </a:tc>
                <a:tc>
                  <a:txBody>
                    <a:bodyPr/>
                    <a:lstStyle/>
                    <a:p>
                      <a:r>
                        <a:rPr sz="1800" i="0" b="0">
                          <a:solidFill>
                            <a:srgbClr val="2B211C"/>
                          </a:solidFill>
                          <a:latin typeface="Calibri"/>
                        </a:rPr>
                        <a:t>Are there other causes that could have caused it?</a:t>
                      </a:r>
                    </a:p>
                  </a:txBody>
                  <a:tcPr marL="109728" marR="109728" marT="45720" marB="45720" anchor="ctr">
                    <a:solidFill>
                      <a:srgbClr val="FFFFFF"/>
                    </a:solidFill>
                  </a:tcPr>
                </a:tc>
                <a:tc>
                  <a:txBody>
                    <a:bodyPr/>
                    <a:lstStyle/>
                    <a:p>
                      <a:r>
                        <a:rPr sz="1800" i="0" b="0">
                          <a:solidFill>
                            <a:srgbClr val="2B211C"/>
                          </a:solidFill>
                          <a:latin typeface="Calibri"/>
                        </a:rPr>
                        <a:t>−1</a:t>
                      </a:r>
                    </a:p>
                  </a:txBody>
                  <a:tcPr marL="109728" marR="109728" marT="45720" marB="45720" anchor="ctr">
                    <a:solidFill>
                      <a:srgbClr val="FFFFFF"/>
                    </a:solidFill>
                  </a:tcPr>
                </a:tc>
                <a:tc>
                  <a:txBody>
                    <a:bodyPr/>
                    <a:lstStyle/>
                    <a:p>
                      <a:r>
                        <a:rPr sz="1800" i="0" b="0">
                          <a:solidFill>
                            <a:srgbClr val="2B211C"/>
                          </a:solidFill>
                          <a:latin typeface="Calibri"/>
                        </a:rPr>
                        <a:t>+2</a:t>
                      </a:r>
                    </a:p>
                  </a:txBody>
                  <a:tcPr marL="109728" marR="109728" marT="45720" marB="45720" anchor="ctr">
                    <a:solidFill>
                      <a:srgbClr val="FFFFFF"/>
                    </a:solidFill>
                  </a:tcPr>
                </a:tc>
                <a:tc>
                  <a:txBody>
                    <a:bodyPr/>
                    <a:lstStyle/>
                    <a:p>
                      <a:r>
                        <a:rPr sz="1800" i="0" b="0">
                          <a:solidFill>
                            <a:srgbClr val="2B211C"/>
                          </a:solidFill>
                          <a:latin typeface="Calibri"/>
                        </a:rPr>
                        <a:t>0</a:t>
                      </a:r>
                    </a:p>
                  </a:txBody>
                  <a:tcPr marL="109728" marR="109728" marT="45720" marB="45720" anchor="ctr">
                    <a:solidFill>
                      <a:srgbClr val="FFFFFF"/>
                    </a:solidFill>
                  </a:tcPr>
                </a:tc>
              </a:tr>
              <a:tr h="492061">
                <a:tc>
                  <a:txBody>
                    <a:bodyPr/>
                    <a:lstStyle/>
                    <a:p>
                      <a:r>
                        <a:rPr sz="1800" i="0" b="1">
                          <a:solidFill>
                            <a:srgbClr val="2B211C"/>
                          </a:solidFill>
                          <a:latin typeface="Calibri"/>
                        </a:rPr>
                        <a:t>6</a:t>
                      </a:r>
                    </a:p>
                  </a:txBody>
                  <a:tcPr marL="109728" marR="109728" marT="45720" marB="45720" anchor="ctr">
                    <a:solidFill>
                      <a:srgbClr val="FAF4F2"/>
                    </a:solidFill>
                  </a:tcPr>
                </a:tc>
                <a:tc>
                  <a:txBody>
                    <a:bodyPr/>
                    <a:lstStyle/>
                    <a:p>
                      <a:r>
                        <a:rPr sz="1800" i="0" b="0">
                          <a:solidFill>
                            <a:srgbClr val="2B211C"/>
                          </a:solidFill>
                          <a:latin typeface="Calibri"/>
                        </a:rPr>
                        <a:t>Did it reappear when a placebo was given?</a:t>
                      </a:r>
                    </a:p>
                  </a:txBody>
                  <a:tcPr marL="109728" marR="109728" marT="45720" marB="45720" anchor="ctr">
                    <a:solidFill>
                      <a:srgbClr val="FAF4F2"/>
                    </a:solidFill>
                  </a:tcPr>
                </a:tc>
                <a:tc>
                  <a:txBody>
                    <a:bodyPr/>
                    <a:lstStyle/>
                    <a:p>
                      <a:r>
                        <a:rPr sz="1800" i="0" b="0">
                          <a:solidFill>
                            <a:srgbClr val="2B211C"/>
                          </a:solidFill>
                          <a:latin typeface="Calibri"/>
                        </a:rPr>
                        <a:t>−1</a:t>
                      </a:r>
                    </a:p>
                  </a:txBody>
                  <a:tcPr marL="109728" marR="109728" marT="45720" marB="45720" anchor="ctr">
                    <a:solidFill>
                      <a:srgbClr val="FAF4F2"/>
                    </a:solidFill>
                  </a:tcPr>
                </a:tc>
                <a:tc>
                  <a:txBody>
                    <a:bodyPr/>
                    <a:lstStyle/>
                    <a:p>
                      <a:r>
                        <a:rPr sz="1800" i="0" b="0">
                          <a:solidFill>
                            <a:srgbClr val="2B211C"/>
                          </a:solidFill>
                          <a:latin typeface="Calibri"/>
                        </a:rPr>
                        <a:t>+1</a:t>
                      </a:r>
                    </a:p>
                  </a:txBody>
                  <a:tcPr marL="109728" marR="109728" marT="45720" marB="45720" anchor="ctr">
                    <a:solidFill>
                      <a:srgbClr val="FAF4F2"/>
                    </a:solidFill>
                  </a:tcPr>
                </a:tc>
                <a:tc>
                  <a:txBody>
                    <a:bodyPr/>
                    <a:lstStyle/>
                    <a:p>
                      <a:r>
                        <a:rPr sz="1800" i="0" b="0">
                          <a:solidFill>
                            <a:srgbClr val="2B211C"/>
                          </a:solidFill>
                          <a:latin typeface="Calibri"/>
                        </a:rPr>
                        <a:t>0</a:t>
                      </a:r>
                    </a:p>
                  </a:txBody>
                  <a:tcPr marL="109728" marR="109728" marT="45720" marB="45720" anchor="ctr">
                    <a:solidFill>
                      <a:srgbClr val="FAF4F2"/>
                    </a:solidFill>
                  </a:tcPr>
                </a:tc>
              </a:tr>
              <a:tr h="492061">
                <a:tc>
                  <a:txBody>
                    <a:bodyPr/>
                    <a:lstStyle/>
                    <a:p>
                      <a:r>
                        <a:rPr sz="1800" i="0" b="1">
                          <a:solidFill>
                            <a:srgbClr val="2B211C"/>
                          </a:solidFill>
                          <a:latin typeface="Calibri"/>
                        </a:rPr>
                        <a:t>7</a:t>
                      </a:r>
                    </a:p>
                  </a:txBody>
                  <a:tcPr marL="109728" marR="109728" marT="45720" marB="45720" anchor="ctr">
                    <a:solidFill>
                      <a:srgbClr val="FFFFFF"/>
                    </a:solidFill>
                  </a:tcPr>
                </a:tc>
                <a:tc>
                  <a:txBody>
                    <a:bodyPr/>
                    <a:lstStyle/>
                    <a:p>
                      <a:r>
                        <a:rPr sz="1800" i="0" b="0">
                          <a:solidFill>
                            <a:srgbClr val="2B211C"/>
                          </a:solidFill>
                          <a:latin typeface="Calibri"/>
                        </a:rPr>
                        <a:t>Was the drug found in blood at toxic levels?</a:t>
                      </a:r>
                    </a:p>
                  </a:txBody>
                  <a:tcPr marL="109728" marR="109728" marT="45720" marB="45720" anchor="ctr">
                    <a:solidFill>
                      <a:srgbClr val="FFFFFF"/>
                    </a:solidFill>
                  </a:tcPr>
                </a:tc>
                <a:tc>
                  <a:txBody>
                    <a:bodyPr/>
                    <a:lstStyle/>
                    <a:p>
                      <a:r>
                        <a:rPr sz="1800" i="0" b="0">
                          <a:solidFill>
                            <a:srgbClr val="2B211C"/>
                          </a:solidFill>
                          <a:latin typeface="Calibri"/>
                        </a:rPr>
                        <a:t>+1</a:t>
                      </a:r>
                    </a:p>
                  </a:txBody>
                  <a:tcPr marL="109728" marR="109728" marT="45720" marB="45720" anchor="ctr">
                    <a:solidFill>
                      <a:srgbClr val="FFFFFF"/>
                    </a:solidFill>
                  </a:tcPr>
                </a:tc>
                <a:tc>
                  <a:txBody>
                    <a:bodyPr/>
                    <a:lstStyle/>
                    <a:p>
                      <a:r>
                        <a:rPr sz="1800" i="0" b="0">
                          <a:solidFill>
                            <a:srgbClr val="2B211C"/>
                          </a:solidFill>
                          <a:latin typeface="Calibri"/>
                        </a:rPr>
                        <a:t>0</a:t>
                      </a:r>
                    </a:p>
                  </a:txBody>
                  <a:tcPr marL="109728" marR="109728" marT="45720" marB="45720" anchor="ctr">
                    <a:solidFill>
                      <a:srgbClr val="FFFFFF"/>
                    </a:solidFill>
                  </a:tcPr>
                </a:tc>
                <a:tc>
                  <a:txBody>
                    <a:bodyPr/>
                    <a:lstStyle/>
                    <a:p>
                      <a:r>
                        <a:rPr sz="1800" i="0" b="0">
                          <a:solidFill>
                            <a:srgbClr val="2B211C"/>
                          </a:solidFill>
                          <a:latin typeface="Calibri"/>
                        </a:rPr>
                        <a:t>0</a:t>
                      </a:r>
                    </a:p>
                  </a:txBody>
                  <a:tcPr marL="109728" marR="109728" marT="45720" marB="45720" anchor="ctr">
                    <a:solidFill>
                      <a:srgbClr val="FFFF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A4472B"/>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08</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2F6F7A"/>
                </a:solidFill>
                <a:latin typeface="Calibri"/>
              </a:rPr>
              <a:t>SECTION 8</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A4472B"/>
                </a:solidFill>
                <a:latin typeface="Cambria"/>
              </a:rPr>
              <a:t>The Naranjo Algorithm (2/2)</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8  ·  ADR Causality and Management</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08 / 28</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3" name="Table 12"/>
          <p:cNvGraphicFramePr>
            <a:graphicFrameLocks noGrp="1"/>
          </p:cNvGraphicFramePr>
          <p:nvPr/>
        </p:nvGraphicFramePr>
        <p:xfrm>
          <a:off x="548640" y="1554480"/>
          <a:ext cx="11094412" cy="2560320"/>
        </p:xfrm>
        <a:graphic>
          <a:graphicData uri="http://schemas.openxmlformats.org/drawingml/2006/table">
            <a:tbl>
              <a:tblPr firstRow="0" bandRow="0">
                <a:tableStyleId>{5C22544A-7EE6-4342-B048-85BDC9FD1C3A}</a:tableStyleId>
              </a:tblPr>
              <a:tblGrid>
                <a:gridCol w="940204"/>
                <a:gridCol w="6393391"/>
                <a:gridCol w="1034225"/>
                <a:gridCol w="940204"/>
                <a:gridCol w="1786388"/>
              </a:tblGrid>
              <a:tr h="640080">
                <a:tc>
                  <a:txBody>
                    <a:bodyPr/>
                    <a:lstStyle/>
                    <a:p>
                      <a:r>
                        <a:rPr sz="1900" i="0" b="1">
                          <a:solidFill>
                            <a:srgbClr val="FFFFFF"/>
                          </a:solidFill>
                          <a:latin typeface="Calibri"/>
                        </a:rPr>
                        <a:t>#</a:t>
                      </a:r>
                    </a:p>
                  </a:txBody>
                  <a:tcPr marL="109728" marR="109728" marT="45720" marB="45720" anchor="ctr">
                    <a:solidFill>
                      <a:srgbClr val="A4472B"/>
                    </a:solidFill>
                  </a:tcPr>
                </a:tc>
                <a:tc>
                  <a:txBody>
                    <a:bodyPr/>
                    <a:lstStyle/>
                    <a:p>
                      <a:r>
                        <a:rPr sz="1900" i="0" b="1">
                          <a:solidFill>
                            <a:srgbClr val="FFFFFF"/>
                          </a:solidFill>
                          <a:latin typeface="Calibri"/>
                        </a:rPr>
                        <a:t>Question</a:t>
                      </a:r>
                    </a:p>
                  </a:txBody>
                  <a:tcPr marL="109728" marR="109728" marT="45720" marB="45720" anchor="ctr">
                    <a:solidFill>
                      <a:srgbClr val="A4472B"/>
                    </a:solidFill>
                  </a:tcPr>
                </a:tc>
                <a:tc>
                  <a:txBody>
                    <a:bodyPr/>
                    <a:lstStyle/>
                    <a:p>
                      <a:r>
                        <a:rPr sz="1900" i="0" b="1">
                          <a:solidFill>
                            <a:srgbClr val="FFFFFF"/>
                          </a:solidFill>
                          <a:latin typeface="Calibri"/>
                        </a:rPr>
                        <a:t>Yes</a:t>
                      </a:r>
                    </a:p>
                  </a:txBody>
                  <a:tcPr marL="109728" marR="109728" marT="45720" marB="45720" anchor="ctr">
                    <a:solidFill>
                      <a:srgbClr val="A4472B"/>
                    </a:solidFill>
                  </a:tcPr>
                </a:tc>
                <a:tc>
                  <a:txBody>
                    <a:bodyPr/>
                    <a:lstStyle/>
                    <a:p>
                      <a:r>
                        <a:rPr sz="1900" i="0" b="1">
                          <a:solidFill>
                            <a:srgbClr val="FFFFFF"/>
                          </a:solidFill>
                          <a:latin typeface="Calibri"/>
                        </a:rPr>
                        <a:t>No</a:t>
                      </a:r>
                    </a:p>
                  </a:txBody>
                  <a:tcPr marL="109728" marR="109728" marT="45720" marB="45720" anchor="ctr">
                    <a:solidFill>
                      <a:srgbClr val="A4472B"/>
                    </a:solidFill>
                  </a:tcPr>
                </a:tc>
                <a:tc>
                  <a:txBody>
                    <a:bodyPr/>
                    <a:lstStyle/>
                    <a:p>
                      <a:r>
                        <a:rPr sz="1900" i="0" b="1">
                          <a:solidFill>
                            <a:srgbClr val="FFFFFF"/>
                          </a:solidFill>
                          <a:latin typeface="Calibri"/>
                        </a:rPr>
                        <a:t>Do not know</a:t>
                      </a:r>
                    </a:p>
                  </a:txBody>
                  <a:tcPr marL="109728" marR="109728" marT="45720" marB="45720" anchor="ctr">
                    <a:solidFill>
                      <a:srgbClr val="A4472B"/>
                    </a:solidFill>
                  </a:tcPr>
                </a:tc>
              </a:tr>
              <a:tr h="640080">
                <a:tc>
                  <a:txBody>
                    <a:bodyPr/>
                    <a:lstStyle/>
                    <a:p>
                      <a:r>
                        <a:rPr sz="2000" i="0" b="1">
                          <a:solidFill>
                            <a:srgbClr val="2B211C"/>
                          </a:solidFill>
                          <a:latin typeface="Calibri"/>
                        </a:rPr>
                        <a:t>8</a:t>
                      </a:r>
                    </a:p>
                  </a:txBody>
                  <a:tcPr marL="109728" marR="109728" marT="45720" marB="45720" anchor="ctr">
                    <a:solidFill>
                      <a:srgbClr val="FFFFFF"/>
                    </a:solidFill>
                  </a:tcPr>
                </a:tc>
                <a:tc>
                  <a:txBody>
                    <a:bodyPr/>
                    <a:lstStyle/>
                    <a:p>
                      <a:r>
                        <a:rPr sz="2000" i="0" b="0">
                          <a:solidFill>
                            <a:srgbClr val="2B211C"/>
                          </a:solidFill>
                          <a:latin typeface="Calibri"/>
                        </a:rPr>
                        <a:t>Was it worse with a higher dose or better with a lower dose?</a:t>
                      </a:r>
                    </a:p>
                  </a:txBody>
                  <a:tcPr marL="109728" marR="109728" marT="45720" marB="45720" anchor="ctr">
                    <a:solidFill>
                      <a:srgbClr val="FFFFFF"/>
                    </a:solidFill>
                  </a:tcPr>
                </a:tc>
                <a:tc>
                  <a:txBody>
                    <a:bodyPr/>
                    <a:lstStyle/>
                    <a:p>
                      <a:r>
                        <a:rPr sz="2000" i="0" b="0">
                          <a:solidFill>
                            <a:srgbClr val="2B211C"/>
                          </a:solidFill>
                          <a:latin typeface="Calibri"/>
                        </a:rPr>
                        <a:t>+1</a:t>
                      </a:r>
                    </a:p>
                  </a:txBody>
                  <a:tcPr marL="109728" marR="109728" marT="45720" marB="45720" anchor="ctr">
                    <a:solidFill>
                      <a:srgbClr val="FFFFFF"/>
                    </a:solidFill>
                  </a:tcPr>
                </a:tc>
                <a:tc>
                  <a:txBody>
                    <a:bodyPr/>
                    <a:lstStyle/>
                    <a:p>
                      <a:r>
                        <a:rPr sz="2000" i="0" b="0">
                          <a:solidFill>
                            <a:srgbClr val="2B211C"/>
                          </a:solidFill>
                          <a:latin typeface="Calibri"/>
                        </a:rPr>
                        <a:t>0</a:t>
                      </a:r>
                    </a:p>
                  </a:txBody>
                  <a:tcPr marL="109728" marR="109728" marT="45720" marB="45720" anchor="ctr">
                    <a:solidFill>
                      <a:srgbClr val="FFFFFF"/>
                    </a:solidFill>
                  </a:tcPr>
                </a:tc>
                <a:tc>
                  <a:txBody>
                    <a:bodyPr/>
                    <a:lstStyle/>
                    <a:p>
                      <a:r>
                        <a:rPr sz="2000" i="0" b="0">
                          <a:solidFill>
                            <a:srgbClr val="2B211C"/>
                          </a:solidFill>
                          <a:latin typeface="Calibri"/>
                        </a:rPr>
                        <a:t>0</a:t>
                      </a:r>
                    </a:p>
                  </a:txBody>
                  <a:tcPr marL="109728" marR="109728" marT="45720" marB="45720" anchor="ctr">
                    <a:solidFill>
                      <a:srgbClr val="FFFFFF"/>
                    </a:solidFill>
                  </a:tcPr>
                </a:tc>
              </a:tr>
              <a:tr h="640080">
                <a:tc>
                  <a:txBody>
                    <a:bodyPr/>
                    <a:lstStyle/>
                    <a:p>
                      <a:r>
                        <a:rPr sz="2000" i="0" b="1">
                          <a:solidFill>
                            <a:srgbClr val="2B211C"/>
                          </a:solidFill>
                          <a:latin typeface="Calibri"/>
                        </a:rPr>
                        <a:t>9</a:t>
                      </a:r>
                    </a:p>
                  </a:txBody>
                  <a:tcPr marL="109728" marR="109728" marT="45720" marB="45720" anchor="ctr">
                    <a:solidFill>
                      <a:srgbClr val="FAF4F2"/>
                    </a:solidFill>
                  </a:tcPr>
                </a:tc>
                <a:tc>
                  <a:txBody>
                    <a:bodyPr/>
                    <a:lstStyle/>
                    <a:p>
                      <a:r>
                        <a:rPr sz="2000" i="0" b="0">
                          <a:solidFill>
                            <a:srgbClr val="2B211C"/>
                          </a:solidFill>
                          <a:latin typeface="Calibri"/>
                        </a:rPr>
                        <a:t>Has the patient had a similar reaction to the same or a similar drug before?</a:t>
                      </a:r>
                    </a:p>
                  </a:txBody>
                  <a:tcPr marL="109728" marR="109728" marT="45720" marB="45720" anchor="ctr">
                    <a:solidFill>
                      <a:srgbClr val="FAF4F2"/>
                    </a:solidFill>
                  </a:tcPr>
                </a:tc>
                <a:tc>
                  <a:txBody>
                    <a:bodyPr/>
                    <a:lstStyle/>
                    <a:p>
                      <a:r>
                        <a:rPr sz="2000" i="0" b="0">
                          <a:solidFill>
                            <a:srgbClr val="2B211C"/>
                          </a:solidFill>
                          <a:latin typeface="Calibri"/>
                        </a:rPr>
                        <a:t>+1</a:t>
                      </a:r>
                    </a:p>
                  </a:txBody>
                  <a:tcPr marL="109728" marR="109728" marT="45720" marB="45720" anchor="ctr">
                    <a:solidFill>
                      <a:srgbClr val="FAF4F2"/>
                    </a:solidFill>
                  </a:tcPr>
                </a:tc>
                <a:tc>
                  <a:txBody>
                    <a:bodyPr/>
                    <a:lstStyle/>
                    <a:p>
                      <a:r>
                        <a:rPr sz="2000" i="0" b="0">
                          <a:solidFill>
                            <a:srgbClr val="2B211C"/>
                          </a:solidFill>
                          <a:latin typeface="Calibri"/>
                        </a:rPr>
                        <a:t>0</a:t>
                      </a:r>
                    </a:p>
                  </a:txBody>
                  <a:tcPr marL="109728" marR="109728" marT="45720" marB="45720" anchor="ctr">
                    <a:solidFill>
                      <a:srgbClr val="FAF4F2"/>
                    </a:solidFill>
                  </a:tcPr>
                </a:tc>
                <a:tc>
                  <a:txBody>
                    <a:bodyPr/>
                    <a:lstStyle/>
                    <a:p>
                      <a:r>
                        <a:rPr sz="2000" i="0" b="0">
                          <a:solidFill>
                            <a:srgbClr val="2B211C"/>
                          </a:solidFill>
                          <a:latin typeface="Calibri"/>
                        </a:rPr>
                        <a:t>0</a:t>
                      </a:r>
                    </a:p>
                  </a:txBody>
                  <a:tcPr marL="109728" marR="109728" marT="45720" marB="45720" anchor="ctr">
                    <a:solidFill>
                      <a:srgbClr val="FAF4F2"/>
                    </a:solidFill>
                  </a:tcPr>
                </a:tc>
              </a:tr>
              <a:tr h="640080">
                <a:tc>
                  <a:txBody>
                    <a:bodyPr/>
                    <a:lstStyle/>
                    <a:p>
                      <a:r>
                        <a:rPr sz="2000" i="0" b="1">
                          <a:solidFill>
                            <a:srgbClr val="2B211C"/>
                          </a:solidFill>
                          <a:latin typeface="Calibri"/>
                        </a:rPr>
                        <a:t>10</a:t>
                      </a:r>
                    </a:p>
                  </a:txBody>
                  <a:tcPr marL="109728" marR="109728" marT="45720" marB="45720" anchor="ctr">
                    <a:solidFill>
                      <a:srgbClr val="FFFFFF"/>
                    </a:solidFill>
                  </a:tcPr>
                </a:tc>
                <a:tc>
                  <a:txBody>
                    <a:bodyPr/>
                    <a:lstStyle/>
                    <a:p>
                      <a:r>
                        <a:rPr sz="2000" i="0" b="0">
                          <a:solidFill>
                            <a:srgbClr val="2B211C"/>
                          </a:solidFill>
                          <a:latin typeface="Calibri"/>
                        </a:rPr>
                        <a:t>Was the event confirmed by objective evidence?</a:t>
                      </a:r>
                    </a:p>
                  </a:txBody>
                  <a:tcPr marL="109728" marR="109728" marT="45720" marB="45720" anchor="ctr">
                    <a:solidFill>
                      <a:srgbClr val="FFFFFF"/>
                    </a:solidFill>
                  </a:tcPr>
                </a:tc>
                <a:tc>
                  <a:txBody>
                    <a:bodyPr/>
                    <a:lstStyle/>
                    <a:p>
                      <a:r>
                        <a:rPr sz="2000" i="0" b="0">
                          <a:solidFill>
                            <a:srgbClr val="2B211C"/>
                          </a:solidFill>
                          <a:latin typeface="Calibri"/>
                        </a:rPr>
                        <a:t>+1</a:t>
                      </a:r>
                    </a:p>
                  </a:txBody>
                  <a:tcPr marL="109728" marR="109728" marT="45720" marB="45720" anchor="ctr">
                    <a:solidFill>
                      <a:srgbClr val="FFFFFF"/>
                    </a:solidFill>
                  </a:tcPr>
                </a:tc>
                <a:tc>
                  <a:txBody>
                    <a:bodyPr/>
                    <a:lstStyle/>
                    <a:p>
                      <a:r>
                        <a:rPr sz="2000" i="0" b="0">
                          <a:solidFill>
                            <a:srgbClr val="2B211C"/>
                          </a:solidFill>
                          <a:latin typeface="Calibri"/>
                        </a:rPr>
                        <a:t>0</a:t>
                      </a:r>
                    </a:p>
                  </a:txBody>
                  <a:tcPr marL="109728" marR="109728" marT="45720" marB="45720" anchor="ctr">
                    <a:solidFill>
                      <a:srgbClr val="FFFFFF"/>
                    </a:solidFill>
                  </a:tcPr>
                </a:tc>
                <a:tc>
                  <a:txBody>
                    <a:bodyPr/>
                    <a:lstStyle/>
                    <a:p>
                      <a:r>
                        <a:rPr sz="2000" i="0" b="0">
                          <a:solidFill>
                            <a:srgbClr val="2B211C"/>
                          </a:solidFill>
                          <a:latin typeface="Calibri"/>
                        </a:rPr>
                        <a:t>0</a:t>
                      </a:r>
                    </a:p>
                  </a:txBody>
                  <a:tcPr marL="109728" marR="109728" marT="45720" marB="45720" anchor="ctr">
                    <a:solidFill>
                      <a:srgbClr val="FFFFF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A4472B"/>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08</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2F6F7A"/>
                </a:solidFill>
                <a:latin typeface="Calibri"/>
              </a:rPr>
              <a:t>SECTION 8</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A4472B"/>
                </a:solidFill>
                <a:latin typeface="Cambria"/>
              </a:rPr>
              <a:t>The Naranjo Algorithm</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8  ·  ADR Causality and Management</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09 / 28</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48640" y="1591056"/>
            <a:ext cx="64008" cy="873252"/>
          </a:xfrm>
          <a:prstGeom prst="roundRect">
            <a:avLst>
              <a:gd name="adj" fmla="val 50000"/>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1554480"/>
            <a:ext cx="10865815" cy="1389888"/>
          </a:xfrm>
          <a:prstGeom prst="rect">
            <a:avLst/>
          </a:prstGeom>
          <a:noFill/>
        </p:spPr>
        <p:txBody>
          <a:bodyPr wrap="square" anchor="t" lIns="0" rIns="0" tIns="0" bIns="0">
            <a:spAutoFit/>
          </a:bodyPr>
          <a:lstStyle/>
          <a:p>
            <a:pPr>
              <a:spcAft>
                <a:spcPts val="800"/>
              </a:spcAft>
            </a:pPr>
            <a:r>
              <a:rPr sz="1800" i="0" b="1">
                <a:solidFill>
                  <a:srgbClr val="2B211C"/>
                </a:solidFill>
                <a:latin typeface="Calibri"/>
              </a:rPr>
              <a:t>Worked example.</a:t>
            </a:r>
            <a:r>
              <a:rPr sz="1800" i="0" b="0">
                <a:solidFill>
                  <a:srgbClr val="2B211C"/>
                </a:solidFill>
                <a:latin typeface="Calibri"/>
              </a:rPr>
              <a:t> A man starts enalapril and, two weeks later, develops a dry cough. Scores: Q1 yes (+1); Q2 yes (+2); Q3 the cough stops after enalapril is stopped (+1); Q4 not rechallenged (0); Q5 no other cause (+2); Q6-Q10 not done or not known (0). Total </a:t>
            </a:r>
            <a:r>
              <a:rPr sz="1800" i="0" b="1">
                <a:solidFill>
                  <a:srgbClr val="2B211C"/>
                </a:solidFill>
                <a:latin typeface="Calibri"/>
              </a:rPr>
              <a:t>6 = probable</a:t>
            </a:r>
            <a:r>
              <a:rPr sz="1800" i="0" b="0">
                <a:solidFill>
                  <a:srgbClr val="2B211C"/>
                </a:solidFill>
                <a:latin typeface="Calibri"/>
              </a:rPr>
              <a:t>.</a:t>
            </a:r>
          </a:p>
        </p:txBody>
      </p:sp>
      <p:graphicFrame>
        <p:nvGraphicFramePr>
          <p:cNvPr id="15" name="Table 14"/>
          <p:cNvGraphicFramePr>
            <a:graphicFrameLocks noGrp="1"/>
          </p:cNvGraphicFramePr>
          <p:nvPr/>
        </p:nvGraphicFramePr>
        <p:xfrm>
          <a:off x="548640" y="3127248"/>
          <a:ext cx="11094414" cy="3044950"/>
        </p:xfrm>
        <a:graphic>
          <a:graphicData uri="http://schemas.openxmlformats.org/drawingml/2006/table">
            <a:tbl>
              <a:tblPr firstRow="0" bandRow="0">
                <a:tableStyleId>{5C22544A-7EE6-4342-B048-85BDC9FD1C3A}</a:tableStyleId>
              </a:tblPr>
              <a:tblGrid>
                <a:gridCol w="6022682"/>
                <a:gridCol w="5071732"/>
              </a:tblGrid>
              <a:tr h="608990">
                <a:tc>
                  <a:txBody>
                    <a:bodyPr/>
                    <a:lstStyle/>
                    <a:p>
                      <a:r>
                        <a:rPr sz="1900" i="0" b="1">
                          <a:solidFill>
                            <a:srgbClr val="FFFFFF"/>
                          </a:solidFill>
                          <a:latin typeface="Calibri"/>
                        </a:rPr>
                        <a:t>Total score</a:t>
                      </a:r>
                    </a:p>
                  </a:txBody>
                  <a:tcPr marL="109728" marR="109728" marT="45720" marB="45720" anchor="ctr">
                    <a:solidFill>
                      <a:srgbClr val="A4472B"/>
                    </a:solidFill>
                  </a:tcPr>
                </a:tc>
                <a:tc>
                  <a:txBody>
                    <a:bodyPr/>
                    <a:lstStyle/>
                    <a:p>
                      <a:r>
                        <a:rPr sz="1900" i="0" b="1">
                          <a:solidFill>
                            <a:srgbClr val="FFFFFF"/>
                          </a:solidFill>
                          <a:latin typeface="Calibri"/>
                        </a:rPr>
                        <a:t>Category</a:t>
                      </a:r>
                    </a:p>
                  </a:txBody>
                  <a:tcPr marL="109728" marR="109728" marT="45720" marB="45720" anchor="ctr">
                    <a:solidFill>
                      <a:srgbClr val="A4472B"/>
                    </a:solidFill>
                  </a:tcPr>
                </a:tc>
              </a:tr>
              <a:tr h="608990">
                <a:tc>
                  <a:txBody>
                    <a:bodyPr/>
                    <a:lstStyle/>
                    <a:p>
                      <a:r>
                        <a:rPr sz="2000" i="0" b="1">
                          <a:solidFill>
                            <a:srgbClr val="2B211C"/>
                          </a:solidFill>
                          <a:latin typeface="Calibri"/>
                        </a:rPr>
                        <a:t>9 or more</a:t>
                      </a:r>
                    </a:p>
                  </a:txBody>
                  <a:tcPr marL="109728" marR="109728" marT="45720" marB="45720" anchor="ctr">
                    <a:solidFill>
                      <a:srgbClr val="FFFFFF"/>
                    </a:solidFill>
                  </a:tcPr>
                </a:tc>
                <a:tc>
                  <a:txBody>
                    <a:bodyPr/>
                    <a:lstStyle/>
                    <a:p>
                      <a:r>
                        <a:rPr sz="2000" i="0" b="0">
                          <a:solidFill>
                            <a:srgbClr val="2B211C"/>
                          </a:solidFill>
                          <a:latin typeface="Calibri"/>
                        </a:rPr>
                        <a:t>Definite</a:t>
                      </a:r>
                    </a:p>
                  </a:txBody>
                  <a:tcPr marL="109728" marR="109728" marT="45720" marB="45720" anchor="ctr">
                    <a:solidFill>
                      <a:srgbClr val="FFFFFF"/>
                    </a:solidFill>
                  </a:tcPr>
                </a:tc>
              </a:tr>
              <a:tr h="608990">
                <a:tc>
                  <a:txBody>
                    <a:bodyPr/>
                    <a:lstStyle/>
                    <a:p>
                      <a:r>
                        <a:rPr sz="2000" i="0" b="1">
                          <a:solidFill>
                            <a:srgbClr val="2B211C"/>
                          </a:solidFill>
                          <a:latin typeface="Calibri"/>
                        </a:rPr>
                        <a:t>5 to 8</a:t>
                      </a:r>
                    </a:p>
                  </a:txBody>
                  <a:tcPr marL="109728" marR="109728" marT="45720" marB="45720" anchor="ctr">
                    <a:solidFill>
                      <a:srgbClr val="FAF4F2"/>
                    </a:solidFill>
                  </a:tcPr>
                </a:tc>
                <a:tc>
                  <a:txBody>
                    <a:bodyPr/>
                    <a:lstStyle/>
                    <a:p>
                      <a:r>
                        <a:rPr sz="2000" i="0" b="0">
                          <a:solidFill>
                            <a:srgbClr val="2B211C"/>
                          </a:solidFill>
                          <a:latin typeface="Calibri"/>
                        </a:rPr>
                        <a:t>Probable</a:t>
                      </a:r>
                    </a:p>
                  </a:txBody>
                  <a:tcPr marL="109728" marR="109728" marT="45720" marB="45720" anchor="ctr">
                    <a:solidFill>
                      <a:srgbClr val="FAF4F2"/>
                    </a:solidFill>
                  </a:tcPr>
                </a:tc>
              </a:tr>
              <a:tr h="608990">
                <a:tc>
                  <a:txBody>
                    <a:bodyPr/>
                    <a:lstStyle/>
                    <a:p>
                      <a:r>
                        <a:rPr sz="2000" i="0" b="1">
                          <a:solidFill>
                            <a:srgbClr val="2B211C"/>
                          </a:solidFill>
                          <a:latin typeface="Calibri"/>
                        </a:rPr>
                        <a:t>1 to 4</a:t>
                      </a:r>
                    </a:p>
                  </a:txBody>
                  <a:tcPr marL="109728" marR="109728" marT="45720" marB="45720" anchor="ctr">
                    <a:solidFill>
                      <a:srgbClr val="FFFFFF"/>
                    </a:solidFill>
                  </a:tcPr>
                </a:tc>
                <a:tc>
                  <a:txBody>
                    <a:bodyPr/>
                    <a:lstStyle/>
                    <a:p>
                      <a:r>
                        <a:rPr sz="2000" i="0" b="0">
                          <a:solidFill>
                            <a:srgbClr val="2B211C"/>
                          </a:solidFill>
                          <a:latin typeface="Calibri"/>
                        </a:rPr>
                        <a:t>Possible</a:t>
                      </a:r>
                    </a:p>
                  </a:txBody>
                  <a:tcPr marL="109728" marR="109728" marT="45720" marB="45720" anchor="ctr">
                    <a:solidFill>
                      <a:srgbClr val="FFFFFF"/>
                    </a:solidFill>
                  </a:tcPr>
                </a:tc>
              </a:tr>
              <a:tr h="608990">
                <a:tc>
                  <a:txBody>
                    <a:bodyPr/>
                    <a:lstStyle/>
                    <a:p>
                      <a:r>
                        <a:rPr sz="2000" i="0" b="1">
                          <a:solidFill>
                            <a:srgbClr val="2B211C"/>
                          </a:solidFill>
                          <a:latin typeface="Calibri"/>
                        </a:rPr>
                        <a:t>0 or less</a:t>
                      </a:r>
                    </a:p>
                  </a:txBody>
                  <a:tcPr marL="109728" marR="109728" marT="45720" marB="45720" anchor="ctr">
                    <a:solidFill>
                      <a:srgbClr val="FAF4F2"/>
                    </a:solidFill>
                  </a:tcPr>
                </a:tc>
                <a:tc>
                  <a:txBody>
                    <a:bodyPr/>
                    <a:lstStyle/>
                    <a:p>
                      <a:r>
                        <a:rPr sz="2000" i="0" b="0">
                          <a:solidFill>
                            <a:srgbClr val="2B211C"/>
                          </a:solidFill>
                          <a:latin typeface="Calibri"/>
                        </a:rPr>
                        <a:t>Doubtful</a:t>
                      </a:r>
                    </a:p>
                  </a:txBody>
                  <a:tcPr marL="109728" marR="109728" marT="45720" marB="45720" anchor="ctr">
                    <a:solidFill>
                      <a:srgbClr val="FAF4F2"/>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A4472B"/>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08</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2F6F7A"/>
                </a:solidFill>
                <a:latin typeface="Calibri"/>
              </a:rPr>
              <a:t>SECTION 8</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A4472B"/>
                </a:solidFill>
                <a:latin typeface="Cambria"/>
              </a:rPr>
              <a:t>The Naranjo Algorithm</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8  ·  ADR Causality and Management</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10 / 28</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645919" y="2103120"/>
            <a:ext cx="8899855" cy="2377440"/>
          </a:xfrm>
          <a:prstGeom prst="roundRect">
            <a:avLst>
              <a:gd name="adj" fmla="val 6000"/>
            </a:avLst>
          </a:prstGeom>
          <a:solidFill>
            <a:srgbClr val="F6E5DE">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965960" y="2167127"/>
            <a:ext cx="825977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1920239" y="2331720"/>
            <a:ext cx="1188720" cy="347472"/>
          </a:xfrm>
          <a:prstGeom prst="roundRect">
            <a:avLst>
              <a:gd name="adj" fmla="val 50000"/>
            </a:avLst>
          </a:prstGeom>
          <a:solidFill>
            <a:srgbClr val="A4472B"/>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i="0" b="1">
                <a:solidFill>
                  <a:srgbClr val="FFFFFF"/>
                </a:solidFill>
                <a:latin typeface="Calibri"/>
              </a:rPr>
              <a:t>EXAM TIP</a:t>
            </a:r>
          </a:p>
        </p:txBody>
      </p:sp>
      <p:sp>
        <p:nvSpPr>
          <p:cNvPr id="16" name="TextBox 15"/>
          <p:cNvSpPr txBox="1"/>
          <p:nvPr/>
        </p:nvSpPr>
        <p:spPr>
          <a:xfrm>
            <a:off x="1920239" y="2788920"/>
            <a:ext cx="8351215" cy="1508760"/>
          </a:xfrm>
          <a:prstGeom prst="rect">
            <a:avLst/>
          </a:prstGeom>
          <a:noFill/>
        </p:spPr>
        <p:txBody>
          <a:bodyPr wrap="square" anchor="t" lIns="0" rIns="0" tIns="0" bIns="0">
            <a:spAutoFit/>
          </a:bodyPr>
          <a:lstStyle/>
          <a:p>
            <a:pPr>
              <a:spcBef>
                <a:spcPts val="0"/>
              </a:spcBef>
            </a:pPr>
            <a:r>
              <a:rPr sz="2300" i="0" b="0">
                <a:solidFill>
                  <a:srgbClr val="2B211C"/>
                </a:solidFill>
                <a:latin typeface="Calibri"/>
              </a:rPr>
              <a:t>Naranjo gives four categories (definite, probable, possible, doubtful). WHO-UMC uses six (certain, probable, possible, unlikely, conditional, unassessable).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A4472B"/>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08</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2F6F7A"/>
                </a:solidFill>
                <a:latin typeface="Calibri"/>
              </a:rPr>
              <a:t>SECTION 8</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A4472B"/>
                </a:solidFill>
                <a:latin typeface="Cambria"/>
              </a:rPr>
              <a:t>Severity Is Not Seriousness</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8  ·  ADR Causality and Management</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11 / 28</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48640" y="1591056"/>
            <a:ext cx="64008" cy="740664"/>
          </a:xfrm>
          <a:prstGeom prst="roundRect">
            <a:avLst>
              <a:gd name="adj" fmla="val 50000"/>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1554480"/>
            <a:ext cx="10865815" cy="905256"/>
          </a:xfrm>
          <a:prstGeom prst="rect">
            <a:avLst/>
          </a:prstGeom>
          <a:noFill/>
        </p:spPr>
        <p:txBody>
          <a:bodyPr wrap="square" anchor="t" lIns="0" rIns="0" tIns="0" bIns="0">
            <a:spAutoFit/>
          </a:bodyPr>
          <a:lstStyle/>
          <a:p>
            <a:pPr>
              <a:spcAft>
                <a:spcPts val="800"/>
              </a:spcAft>
            </a:pPr>
            <a:r>
              <a:rPr sz="1800" i="0" b="0">
                <a:solidFill>
                  <a:srgbClr val="2B211C"/>
                </a:solidFill>
                <a:latin typeface="Calibri"/>
              </a:rPr>
              <a:t>These two words sound alike but mean different things.</a:t>
            </a:r>
          </a:p>
          <a:p>
            <a:pPr>
              <a:spcAft>
                <a:spcPts val="800"/>
              </a:spcAft>
            </a:pPr>
            <a:r>
              <a:rPr sz="1800" i="0" b="1">
                <a:solidFill>
                  <a:srgbClr val="2B211C"/>
                </a:solidFill>
                <a:latin typeface="Calibri"/>
              </a:rPr>
              <a:t>Severity</a:t>
            </a:r>
            <a:r>
              <a:rPr sz="1800" i="0" b="0">
                <a:solidFill>
                  <a:srgbClr val="2B211C"/>
                </a:solidFill>
                <a:latin typeface="Calibri"/>
              </a:rPr>
              <a:t> describes the </a:t>
            </a:r>
            <a:r>
              <a:rPr sz="1800" i="0" b="1">
                <a:solidFill>
                  <a:srgbClr val="2B211C"/>
                </a:solidFill>
                <a:latin typeface="Calibri"/>
              </a:rPr>
              <a:t>intensity</a:t>
            </a:r>
            <a:r>
              <a:rPr sz="1800" i="0" b="0">
                <a:solidFill>
                  <a:srgbClr val="2B211C"/>
                </a:solidFill>
                <a:latin typeface="Calibri"/>
              </a:rPr>
              <a:t> of the reaction:</a:t>
            </a:r>
          </a:p>
        </p:txBody>
      </p:sp>
      <p:graphicFrame>
        <p:nvGraphicFramePr>
          <p:cNvPr id="15" name="Table 14"/>
          <p:cNvGraphicFramePr>
            <a:graphicFrameLocks noGrp="1"/>
          </p:cNvGraphicFramePr>
          <p:nvPr/>
        </p:nvGraphicFramePr>
        <p:xfrm>
          <a:off x="548640" y="2642615"/>
          <a:ext cx="11094414" cy="2560320"/>
        </p:xfrm>
        <a:graphic>
          <a:graphicData uri="http://schemas.openxmlformats.org/drawingml/2006/table">
            <a:tbl>
              <a:tblPr firstRow="0" bandRow="0">
                <a:tableStyleId>{5C22544A-7EE6-4342-B048-85BDC9FD1C3A}</a:tableStyleId>
              </a:tblPr>
              <a:tblGrid>
                <a:gridCol w="2113221"/>
                <a:gridCol w="8981193"/>
              </a:tblGrid>
              <a:tr h="640080">
                <a:tc>
                  <a:txBody>
                    <a:bodyPr/>
                    <a:lstStyle/>
                    <a:p>
                      <a:r>
                        <a:rPr sz="1900" i="0" b="1">
                          <a:solidFill>
                            <a:srgbClr val="FFFFFF"/>
                          </a:solidFill>
                          <a:latin typeface="Calibri"/>
                        </a:rPr>
                        <a:t>Severity</a:t>
                      </a:r>
                    </a:p>
                  </a:txBody>
                  <a:tcPr marL="109728" marR="109728" marT="45720" marB="45720" anchor="ctr">
                    <a:solidFill>
                      <a:srgbClr val="A4472B"/>
                    </a:solidFill>
                  </a:tcPr>
                </a:tc>
                <a:tc>
                  <a:txBody>
                    <a:bodyPr/>
                    <a:lstStyle/>
                    <a:p>
                      <a:r>
                        <a:rPr sz="1900" i="0" b="1">
                          <a:solidFill>
                            <a:srgbClr val="FFFFFF"/>
                          </a:solidFill>
                          <a:latin typeface="Calibri"/>
                        </a:rPr>
                        <a:t>Meaning</a:t>
                      </a:r>
                    </a:p>
                  </a:txBody>
                  <a:tcPr marL="109728" marR="109728" marT="45720" marB="45720" anchor="ctr">
                    <a:solidFill>
                      <a:srgbClr val="A4472B"/>
                    </a:solidFill>
                  </a:tcPr>
                </a:tc>
              </a:tr>
              <a:tr h="640080">
                <a:tc>
                  <a:txBody>
                    <a:bodyPr/>
                    <a:lstStyle/>
                    <a:p>
                      <a:r>
                        <a:rPr sz="2000" i="0" b="1">
                          <a:solidFill>
                            <a:srgbClr val="2B211C"/>
                          </a:solidFill>
                          <a:latin typeface="Calibri"/>
                        </a:rPr>
                        <a:t>Mild</a:t>
                      </a:r>
                    </a:p>
                  </a:txBody>
                  <a:tcPr marL="109728" marR="109728" marT="45720" marB="45720" anchor="ctr">
                    <a:solidFill>
                      <a:srgbClr val="FFFFFF"/>
                    </a:solidFill>
                  </a:tcPr>
                </a:tc>
                <a:tc>
                  <a:txBody>
                    <a:bodyPr/>
                    <a:lstStyle/>
                    <a:p>
                      <a:r>
                        <a:rPr sz="2000" i="0" b="0">
                          <a:solidFill>
                            <a:srgbClr val="2B211C"/>
                          </a:solidFill>
                          <a:latin typeface="Calibri"/>
                        </a:rPr>
                        <a:t>No treatment change needed, or the drug is stopped with no further treatment</a:t>
                      </a:r>
                    </a:p>
                  </a:txBody>
                  <a:tcPr marL="109728" marR="109728" marT="45720" marB="45720" anchor="ctr">
                    <a:solidFill>
                      <a:srgbClr val="FFFFFF"/>
                    </a:solidFill>
                  </a:tcPr>
                </a:tc>
              </a:tr>
              <a:tr h="640080">
                <a:tc>
                  <a:txBody>
                    <a:bodyPr/>
                    <a:lstStyle/>
                    <a:p>
                      <a:r>
                        <a:rPr sz="2000" i="0" b="1">
                          <a:solidFill>
                            <a:srgbClr val="2B211C"/>
                          </a:solidFill>
                          <a:latin typeface="Calibri"/>
                        </a:rPr>
                        <a:t>Moderate</a:t>
                      </a:r>
                    </a:p>
                  </a:txBody>
                  <a:tcPr marL="109728" marR="109728" marT="45720" marB="45720" anchor="ctr">
                    <a:solidFill>
                      <a:srgbClr val="FAF4F2"/>
                    </a:solidFill>
                  </a:tcPr>
                </a:tc>
                <a:tc>
                  <a:txBody>
                    <a:bodyPr/>
                    <a:lstStyle/>
                    <a:p>
                      <a:r>
                        <a:rPr sz="2000" i="0" b="0">
                          <a:solidFill>
                            <a:srgbClr val="2B211C"/>
                          </a:solidFill>
                          <a:latin typeface="Calibri"/>
                        </a:rPr>
                        <a:t>Needs a change in treatment or an antidote, or lengthens the hospital stay</a:t>
                      </a:r>
                    </a:p>
                  </a:txBody>
                  <a:tcPr marL="109728" marR="109728" marT="45720" marB="45720" anchor="ctr">
                    <a:solidFill>
                      <a:srgbClr val="FAF4F2"/>
                    </a:solidFill>
                  </a:tcPr>
                </a:tc>
              </a:tr>
              <a:tr h="640080">
                <a:tc>
                  <a:txBody>
                    <a:bodyPr/>
                    <a:lstStyle/>
                    <a:p>
                      <a:r>
                        <a:rPr sz="2000" i="0" b="1">
                          <a:solidFill>
                            <a:srgbClr val="2B211C"/>
                          </a:solidFill>
                          <a:latin typeface="Calibri"/>
                        </a:rPr>
                        <a:t>Severe</a:t>
                      </a:r>
                    </a:p>
                  </a:txBody>
                  <a:tcPr marL="109728" marR="109728" marT="45720" marB="45720" anchor="ctr">
                    <a:solidFill>
                      <a:srgbClr val="FFFFFF"/>
                    </a:solidFill>
                  </a:tcPr>
                </a:tc>
                <a:tc>
                  <a:txBody>
                    <a:bodyPr/>
                    <a:lstStyle/>
                    <a:p>
                      <a:r>
                        <a:rPr sz="2000" i="0" b="0">
                          <a:solidFill>
                            <a:srgbClr val="2B211C"/>
                          </a:solidFill>
                          <a:latin typeface="Calibri"/>
                        </a:rPr>
                        <a:t>Life-threatening, causes permanent harm, or needs intensive care</a:t>
                      </a:r>
                    </a:p>
                  </a:txBody>
                  <a:tcPr marL="109728" marR="109728" marT="45720" marB="45720" anchor="ctr">
                    <a:solidFill>
                      <a:srgbClr val="FFFFFF"/>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A4472B"/>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08</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2F6F7A"/>
                </a:solidFill>
                <a:latin typeface="Calibri"/>
              </a:rPr>
              <a:t>SECTION 8</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A4472B"/>
                </a:solidFill>
                <a:latin typeface="Cambria"/>
              </a:rPr>
              <a:t>Severity Is Not Seriousness</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8  ·  ADR Causality and Management</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12 / 28</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48640" y="1591056"/>
            <a:ext cx="64008" cy="1019555"/>
          </a:xfrm>
          <a:prstGeom prst="roundRect">
            <a:avLst>
              <a:gd name="adj" fmla="val 50000"/>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1554480"/>
            <a:ext cx="10865815" cy="1202436"/>
          </a:xfrm>
          <a:prstGeom prst="rect">
            <a:avLst/>
          </a:prstGeom>
          <a:noFill/>
        </p:spPr>
        <p:txBody>
          <a:bodyPr wrap="square" anchor="t" lIns="0" rIns="0" tIns="0" bIns="0">
            <a:spAutoFit/>
          </a:bodyPr>
          <a:lstStyle/>
          <a:p>
            <a:pPr>
              <a:spcAft>
                <a:spcPts val="800"/>
              </a:spcAft>
            </a:pPr>
            <a:r>
              <a:rPr sz="1800" i="0" b="1">
                <a:solidFill>
                  <a:srgbClr val="2B211C"/>
                </a:solidFill>
                <a:latin typeface="Calibri"/>
              </a:rPr>
              <a:t>Seriousness</a:t>
            </a:r>
            <a:r>
              <a:rPr sz="1800" i="0" b="0">
                <a:solidFill>
                  <a:srgbClr val="2B211C"/>
                </a:solidFill>
                <a:latin typeface="Calibri"/>
              </a:rPr>
              <a:t> is a regulatory term based on the </a:t>
            </a:r>
            <a:r>
              <a:rPr sz="1800" i="0" b="1">
                <a:solidFill>
                  <a:srgbClr val="2B211C"/>
                </a:solidFill>
                <a:latin typeface="Calibri"/>
              </a:rPr>
              <a:t>outcome</a:t>
            </a:r>
            <a:r>
              <a:rPr sz="1800" i="0" b="0">
                <a:solidFill>
                  <a:srgbClr val="2B211C"/>
                </a:solidFill>
                <a:latin typeface="Calibri"/>
              </a:rPr>
              <a:t>. An ADR is </a:t>
            </a:r>
            <a:r>
              <a:rPr sz="1800" i="0" b="1">
                <a:solidFill>
                  <a:srgbClr val="2B211C"/>
                </a:solidFill>
                <a:latin typeface="Calibri"/>
              </a:rPr>
              <a:t>serious</a:t>
            </a:r>
            <a:r>
              <a:rPr sz="1800" i="0" b="0">
                <a:solidFill>
                  <a:srgbClr val="2B211C"/>
                </a:solidFill>
                <a:latin typeface="Calibri"/>
              </a:rPr>
              <a:t> if it:</a:t>
            </a:r>
          </a:p>
          <a:p>
            <a:pPr>
              <a:spcAft>
                <a:spcPts val="800"/>
              </a:spcAft>
            </a:pPr>
            <a:r>
              <a:rPr sz="1800" i="0" b="0">
                <a:solidFill>
                  <a:srgbClr val="2B211C"/>
                </a:solidFill>
                <a:latin typeface="Calibri"/>
              </a:rPr>
              <a:t>A severe headache is intense but usually not serious. Serious reactions must be reported quickly (Chapter 9).</a:t>
            </a:r>
          </a:p>
        </p:txBody>
      </p:sp>
      <p:sp>
        <p:nvSpPr>
          <p:cNvPr id="15" name="Oval 14"/>
          <p:cNvSpPr/>
          <p:nvPr/>
        </p:nvSpPr>
        <p:spPr>
          <a:xfrm>
            <a:off x="548640" y="2958084"/>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1</a:t>
            </a:r>
          </a:p>
        </p:txBody>
      </p:sp>
      <p:sp>
        <p:nvSpPr>
          <p:cNvPr id="16" name="TextBox 15"/>
          <p:cNvSpPr txBox="1"/>
          <p:nvPr/>
        </p:nvSpPr>
        <p:spPr>
          <a:xfrm>
            <a:off x="1143000" y="2976372"/>
            <a:ext cx="10500055" cy="493014"/>
          </a:xfrm>
          <a:prstGeom prst="rect">
            <a:avLst/>
          </a:prstGeom>
          <a:noFill/>
        </p:spPr>
        <p:txBody>
          <a:bodyPr wrap="square" anchor="t" lIns="0" rIns="0" tIns="0" bIns="0">
            <a:spAutoFit/>
          </a:bodyPr>
          <a:lstStyle/>
          <a:p>
            <a:r>
              <a:rPr sz="2100" i="0" b="0">
                <a:solidFill>
                  <a:srgbClr val="2B211C"/>
                </a:solidFill>
                <a:latin typeface="Calibri"/>
              </a:rPr>
              <a:t>causes death;</a:t>
            </a:r>
          </a:p>
        </p:txBody>
      </p:sp>
      <p:sp>
        <p:nvSpPr>
          <p:cNvPr id="17" name="Oval 16"/>
          <p:cNvSpPr/>
          <p:nvPr/>
        </p:nvSpPr>
        <p:spPr>
          <a:xfrm>
            <a:off x="548640" y="3496818"/>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2</a:t>
            </a:r>
          </a:p>
        </p:txBody>
      </p:sp>
      <p:sp>
        <p:nvSpPr>
          <p:cNvPr id="18" name="TextBox 17"/>
          <p:cNvSpPr txBox="1"/>
          <p:nvPr/>
        </p:nvSpPr>
        <p:spPr>
          <a:xfrm>
            <a:off x="1143000" y="3515106"/>
            <a:ext cx="10500055" cy="493014"/>
          </a:xfrm>
          <a:prstGeom prst="rect">
            <a:avLst/>
          </a:prstGeom>
          <a:noFill/>
        </p:spPr>
        <p:txBody>
          <a:bodyPr wrap="square" anchor="t" lIns="0" rIns="0" tIns="0" bIns="0">
            <a:spAutoFit/>
          </a:bodyPr>
          <a:lstStyle/>
          <a:p>
            <a:r>
              <a:rPr sz="2100" i="0" b="0">
                <a:solidFill>
                  <a:srgbClr val="2B211C"/>
                </a:solidFill>
                <a:latin typeface="Calibri"/>
              </a:rPr>
              <a:t>is life-threatening;</a:t>
            </a:r>
          </a:p>
        </p:txBody>
      </p:sp>
      <p:sp>
        <p:nvSpPr>
          <p:cNvPr id="19" name="Oval 18"/>
          <p:cNvSpPr/>
          <p:nvPr/>
        </p:nvSpPr>
        <p:spPr>
          <a:xfrm>
            <a:off x="548640" y="4035552"/>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3</a:t>
            </a:r>
          </a:p>
        </p:txBody>
      </p:sp>
      <p:sp>
        <p:nvSpPr>
          <p:cNvPr id="20" name="TextBox 19"/>
          <p:cNvSpPr txBox="1"/>
          <p:nvPr/>
        </p:nvSpPr>
        <p:spPr>
          <a:xfrm>
            <a:off x="1143000" y="4053840"/>
            <a:ext cx="10500055" cy="493014"/>
          </a:xfrm>
          <a:prstGeom prst="rect">
            <a:avLst/>
          </a:prstGeom>
          <a:noFill/>
        </p:spPr>
        <p:txBody>
          <a:bodyPr wrap="square" anchor="t" lIns="0" rIns="0" tIns="0" bIns="0">
            <a:spAutoFit/>
          </a:bodyPr>
          <a:lstStyle/>
          <a:p>
            <a:r>
              <a:rPr sz="2100" i="0" b="0">
                <a:solidFill>
                  <a:srgbClr val="2B211C"/>
                </a:solidFill>
                <a:latin typeface="Calibri"/>
              </a:rPr>
              <a:t>requires or prolongs hospital admission;</a:t>
            </a:r>
          </a:p>
        </p:txBody>
      </p:sp>
      <p:sp>
        <p:nvSpPr>
          <p:cNvPr id="21" name="Oval 20"/>
          <p:cNvSpPr/>
          <p:nvPr/>
        </p:nvSpPr>
        <p:spPr>
          <a:xfrm>
            <a:off x="548640" y="4574286"/>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4</a:t>
            </a:r>
          </a:p>
        </p:txBody>
      </p:sp>
      <p:sp>
        <p:nvSpPr>
          <p:cNvPr id="22" name="TextBox 21"/>
          <p:cNvSpPr txBox="1"/>
          <p:nvPr/>
        </p:nvSpPr>
        <p:spPr>
          <a:xfrm>
            <a:off x="1143000" y="4592574"/>
            <a:ext cx="10500055" cy="493014"/>
          </a:xfrm>
          <a:prstGeom prst="rect">
            <a:avLst/>
          </a:prstGeom>
          <a:noFill/>
        </p:spPr>
        <p:txBody>
          <a:bodyPr wrap="square" anchor="t" lIns="0" rIns="0" tIns="0" bIns="0">
            <a:spAutoFit/>
          </a:bodyPr>
          <a:lstStyle/>
          <a:p>
            <a:r>
              <a:rPr sz="2100" i="0" b="0">
                <a:solidFill>
                  <a:srgbClr val="2B211C"/>
                </a:solidFill>
                <a:latin typeface="Calibri"/>
              </a:rPr>
              <a:t>causes persistent or significant disability;</a:t>
            </a:r>
          </a:p>
        </p:txBody>
      </p:sp>
      <p:sp>
        <p:nvSpPr>
          <p:cNvPr id="23" name="Oval 22"/>
          <p:cNvSpPr/>
          <p:nvPr/>
        </p:nvSpPr>
        <p:spPr>
          <a:xfrm>
            <a:off x="548640" y="5113019"/>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5</a:t>
            </a:r>
          </a:p>
        </p:txBody>
      </p:sp>
      <p:sp>
        <p:nvSpPr>
          <p:cNvPr id="24" name="TextBox 23"/>
          <p:cNvSpPr txBox="1"/>
          <p:nvPr/>
        </p:nvSpPr>
        <p:spPr>
          <a:xfrm>
            <a:off x="1143000" y="5131308"/>
            <a:ext cx="10500055" cy="493014"/>
          </a:xfrm>
          <a:prstGeom prst="rect">
            <a:avLst/>
          </a:prstGeom>
          <a:noFill/>
        </p:spPr>
        <p:txBody>
          <a:bodyPr wrap="square" anchor="t" lIns="0" rIns="0" tIns="0" bIns="0">
            <a:spAutoFit/>
          </a:bodyPr>
          <a:lstStyle/>
          <a:p>
            <a:r>
              <a:rPr sz="2100" i="0" b="0">
                <a:solidFill>
                  <a:srgbClr val="2B211C"/>
                </a:solidFill>
                <a:latin typeface="Calibri"/>
              </a:rPr>
              <a:t>causes a congenital anomaly; or</a:t>
            </a:r>
          </a:p>
        </p:txBody>
      </p:sp>
      <p:sp>
        <p:nvSpPr>
          <p:cNvPr id="25" name="Oval 24"/>
          <p:cNvSpPr/>
          <p:nvPr/>
        </p:nvSpPr>
        <p:spPr>
          <a:xfrm>
            <a:off x="548640" y="5651753"/>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6</a:t>
            </a:r>
          </a:p>
        </p:txBody>
      </p:sp>
      <p:sp>
        <p:nvSpPr>
          <p:cNvPr id="26" name="TextBox 25"/>
          <p:cNvSpPr txBox="1"/>
          <p:nvPr/>
        </p:nvSpPr>
        <p:spPr>
          <a:xfrm>
            <a:off x="1143000" y="5670041"/>
            <a:ext cx="10500055" cy="493014"/>
          </a:xfrm>
          <a:prstGeom prst="rect">
            <a:avLst/>
          </a:prstGeom>
          <a:noFill/>
        </p:spPr>
        <p:txBody>
          <a:bodyPr wrap="square" anchor="t" lIns="0" rIns="0" tIns="0" bIns="0">
            <a:spAutoFit/>
          </a:bodyPr>
          <a:lstStyle/>
          <a:p>
            <a:r>
              <a:rPr sz="2100" i="0" b="0">
                <a:solidFill>
                  <a:srgbClr val="2B211C"/>
                </a:solidFill>
                <a:latin typeface="Calibri"/>
              </a:rPr>
              <a:t>is another important medical event.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A4472B"/>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08</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2F6F7A"/>
                </a:solidFill>
                <a:latin typeface="Calibri"/>
              </a:rPr>
              <a:t>SECTION 8</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A4472B"/>
                </a:solidFill>
                <a:latin typeface="Cambria"/>
              </a:rPr>
              <a:t>Managing a Suspected ADR</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8  ·  ADR Causality and Management</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13 / 28</a:t>
            </a:r>
          </a:p>
        </p:txBody>
      </p:sp>
      <p:pic>
        <p:nvPicPr>
          <p:cNvPr id="10" name="Picture 9" descr="logo"/>
          <p:cNvPicPr>
            <a:picLocks noChangeAspect="1"/>
          </p:cNvPicPr>
          <p:nvPr/>
        </p:nvPicPr>
        <p:blipFill>
          <a:blip r:embed="rId3"/>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48640" y="1554480"/>
            <a:ext cx="11094415" cy="4617720"/>
          </a:xfrm>
          <a:prstGeom prst="roundRect">
            <a:avLst>
              <a:gd name="adj" fmla="val 3000"/>
            </a:avLst>
          </a:prstGeom>
          <a:solidFill>
            <a:srgbClr val="FFFFFF"/>
          </a:solidFill>
          <a:ln w="9525">
            <a:solidFill>
              <a:srgbClr val="F1E3D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Five boxes in a vertical flow: patient first (stop, treat, monitor, escalate); evaluate (history, severity, seriousness); causality (WHO-UMC or Naranjo); record and report (EPVC); prevent (education, DTC review, regulator)."/>
          <p:cNvPicPr>
            <a:picLocks noChangeAspect="1"/>
          </p:cNvPicPr>
          <p:nvPr/>
        </p:nvPicPr>
        <p:blipFill>
          <a:blip r:embed="rId4"/>
          <a:stretch>
            <a:fillRect/>
          </a:stretch>
        </p:blipFill>
        <p:spPr>
          <a:xfrm>
            <a:off x="1834828" y="1664207"/>
            <a:ext cx="8522039" cy="3977639"/>
          </a:xfrm>
          <a:prstGeom prst="rect">
            <a:avLst/>
          </a:prstGeom>
        </p:spPr>
      </p:pic>
      <p:sp>
        <p:nvSpPr>
          <p:cNvPr id="15" name="TextBox 14"/>
          <p:cNvSpPr txBox="1"/>
          <p:nvPr/>
        </p:nvSpPr>
        <p:spPr>
          <a:xfrm>
            <a:off x="685800" y="5733287"/>
            <a:ext cx="10820095" cy="365760"/>
          </a:xfrm>
          <a:prstGeom prst="rect">
            <a:avLst/>
          </a:prstGeom>
          <a:noFill/>
        </p:spPr>
        <p:txBody>
          <a:bodyPr wrap="square" anchor="t" lIns="0" rIns="0" tIns="0" bIns="0">
            <a:spAutoFit/>
          </a:bodyPr>
          <a:lstStyle/>
          <a:p>
            <a:pPr algn="ctr"/>
            <a:r>
              <a:rPr sz="1300" i="1" b="0">
                <a:solidFill>
                  <a:srgbClr val="6E625B"/>
                </a:solidFill>
                <a:latin typeface="Calibri"/>
              </a:rPr>
              <a:t>Managing a suspected adverse drug reaction, starting with the patient.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A4472B"/>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08</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2F6F7A"/>
                </a:solidFill>
                <a:latin typeface="Calibri"/>
              </a:rPr>
              <a:t>SECTION 8</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A4472B"/>
                </a:solidFill>
                <a:latin typeface="Cambria"/>
              </a:rPr>
              <a:t>Managing a Suspected ADR</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8  ·  ADR Causality and Management</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14 / 28</a:t>
            </a:r>
          </a:p>
        </p:txBody>
      </p:sp>
      <p:pic>
        <p:nvPicPr>
          <p:cNvPr id="10" name="Picture 9" descr="logo"/>
          <p:cNvPicPr>
            <a:picLocks noChangeAspect="1"/>
          </p:cNvPicPr>
          <p:nvPr/>
        </p:nvPicPr>
        <p:blipFill>
          <a:blip r:embed="rId3"/>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48640" y="1572768"/>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1</a:t>
            </a:r>
          </a:p>
        </p:txBody>
      </p:sp>
      <p:sp>
        <p:nvSpPr>
          <p:cNvPr id="14" name="TextBox 13"/>
          <p:cNvSpPr txBox="1"/>
          <p:nvPr/>
        </p:nvSpPr>
        <p:spPr>
          <a:xfrm>
            <a:off x="1143000" y="1591056"/>
            <a:ext cx="10500055" cy="1049274"/>
          </a:xfrm>
          <a:prstGeom prst="rect">
            <a:avLst/>
          </a:prstGeom>
          <a:noFill/>
        </p:spPr>
        <p:txBody>
          <a:bodyPr wrap="square" anchor="t" lIns="0" rIns="0" tIns="0" bIns="0">
            <a:spAutoFit/>
          </a:bodyPr>
          <a:lstStyle/>
          <a:p>
            <a:r>
              <a:rPr sz="1800" i="0" b="1">
                <a:solidFill>
                  <a:srgbClr val="2B211C"/>
                </a:solidFill>
                <a:latin typeface="Calibri"/>
              </a:rPr>
              <a:t>Look after the patient first.</a:t>
            </a:r>
            <a:r>
              <a:rPr sz="1800" i="0" b="0">
                <a:solidFill>
                  <a:srgbClr val="2B211C"/>
                </a:solidFill>
                <a:latin typeface="Calibri"/>
              </a:rPr>
              <a:t> Assess the patient. Stop or withhold the suspected drug when appropriate. Treat the reaction (for example adrenaline for anaphylaxis), monitor, and call for urgent help if needed.</a:t>
            </a:r>
          </a:p>
        </p:txBody>
      </p:sp>
      <p:sp>
        <p:nvSpPr>
          <p:cNvPr id="15" name="Oval 14"/>
          <p:cNvSpPr/>
          <p:nvPr/>
        </p:nvSpPr>
        <p:spPr>
          <a:xfrm>
            <a:off x="548640" y="2667762"/>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2</a:t>
            </a:r>
          </a:p>
        </p:txBody>
      </p:sp>
      <p:sp>
        <p:nvSpPr>
          <p:cNvPr id="16" name="TextBox 15"/>
          <p:cNvSpPr txBox="1"/>
          <p:nvPr/>
        </p:nvSpPr>
        <p:spPr>
          <a:xfrm>
            <a:off x="1143000" y="2686050"/>
            <a:ext cx="10500055" cy="763524"/>
          </a:xfrm>
          <a:prstGeom prst="rect">
            <a:avLst/>
          </a:prstGeom>
          <a:noFill/>
        </p:spPr>
        <p:txBody>
          <a:bodyPr wrap="square" anchor="t" lIns="0" rIns="0" tIns="0" bIns="0">
            <a:spAutoFit/>
          </a:bodyPr>
          <a:lstStyle/>
          <a:p>
            <a:r>
              <a:rPr sz="1800" i="0" b="1">
                <a:solidFill>
                  <a:srgbClr val="2B211C"/>
                </a:solidFill>
                <a:latin typeface="Calibri"/>
              </a:rPr>
              <a:t>Evaluate the event.</a:t>
            </a:r>
            <a:r>
              <a:rPr sz="1800" i="0" b="0">
                <a:solidFill>
                  <a:srgbClr val="2B211C"/>
                </a:solidFill>
                <a:latin typeface="Calibri"/>
              </a:rPr>
              <a:t> Take a full drug history, including over-the-counter and herbal products. Grade the severity and decide whether it is serious.</a:t>
            </a:r>
          </a:p>
        </p:txBody>
      </p:sp>
      <p:sp>
        <p:nvSpPr>
          <p:cNvPr id="17" name="Oval 16"/>
          <p:cNvSpPr/>
          <p:nvPr/>
        </p:nvSpPr>
        <p:spPr>
          <a:xfrm>
            <a:off x="548640" y="3477006"/>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3</a:t>
            </a:r>
          </a:p>
        </p:txBody>
      </p:sp>
      <p:sp>
        <p:nvSpPr>
          <p:cNvPr id="18" name="TextBox 17"/>
          <p:cNvSpPr txBox="1"/>
          <p:nvPr/>
        </p:nvSpPr>
        <p:spPr>
          <a:xfrm>
            <a:off x="1143000" y="3495294"/>
            <a:ext cx="10500055" cy="763524"/>
          </a:xfrm>
          <a:prstGeom prst="rect">
            <a:avLst/>
          </a:prstGeom>
          <a:noFill/>
        </p:spPr>
        <p:txBody>
          <a:bodyPr wrap="square" anchor="t" lIns="0" rIns="0" tIns="0" bIns="0">
            <a:spAutoFit/>
          </a:bodyPr>
          <a:lstStyle/>
          <a:p>
            <a:r>
              <a:rPr sz="1800" i="0" b="1">
                <a:solidFill>
                  <a:srgbClr val="2B211C"/>
                </a:solidFill>
                <a:latin typeface="Calibri"/>
              </a:rPr>
              <a:t>Establish the cause.</a:t>
            </a:r>
            <a:r>
              <a:rPr sz="1800" i="0" b="0">
                <a:solidFill>
                  <a:srgbClr val="2B211C"/>
                </a:solidFill>
                <a:latin typeface="Calibri"/>
              </a:rPr>
              <a:t> Use WHO-UMC or Naranjo. Check the quality of the product and whether a medication error occurred.</a:t>
            </a:r>
          </a:p>
        </p:txBody>
      </p:sp>
      <p:sp>
        <p:nvSpPr>
          <p:cNvPr id="19" name="Oval 18"/>
          <p:cNvSpPr/>
          <p:nvPr/>
        </p:nvSpPr>
        <p:spPr>
          <a:xfrm>
            <a:off x="548640" y="4286249"/>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4</a:t>
            </a:r>
          </a:p>
        </p:txBody>
      </p:sp>
      <p:sp>
        <p:nvSpPr>
          <p:cNvPr id="20" name="TextBox 19"/>
          <p:cNvSpPr txBox="1"/>
          <p:nvPr/>
        </p:nvSpPr>
        <p:spPr>
          <a:xfrm>
            <a:off x="1143000" y="4304538"/>
            <a:ext cx="10500055" cy="763524"/>
          </a:xfrm>
          <a:prstGeom prst="rect">
            <a:avLst/>
          </a:prstGeom>
          <a:noFill/>
        </p:spPr>
        <p:txBody>
          <a:bodyPr wrap="square" anchor="t" lIns="0" rIns="0" tIns="0" bIns="0">
            <a:spAutoFit/>
          </a:bodyPr>
          <a:lstStyle/>
          <a:p>
            <a:r>
              <a:rPr sz="1800" i="0" b="1">
                <a:solidFill>
                  <a:srgbClr val="2B211C"/>
                </a:solidFill>
                <a:latin typeface="Calibri"/>
              </a:rPr>
              <a:t>Act and follow up.</a:t>
            </a:r>
            <a:r>
              <a:rPr sz="1800" i="0" b="0">
                <a:solidFill>
                  <a:srgbClr val="2B211C"/>
                </a:solidFill>
                <a:latin typeface="Calibri"/>
              </a:rPr>
              <a:t> Record the reaction in the patient's notes and allergy record. Tell the patient which drug to avoid. Report the ADR (Chapter 9).</a:t>
            </a:r>
          </a:p>
        </p:txBody>
      </p:sp>
      <p:sp>
        <p:nvSpPr>
          <p:cNvPr id="21" name="Oval 20"/>
          <p:cNvSpPr/>
          <p:nvPr/>
        </p:nvSpPr>
        <p:spPr>
          <a:xfrm>
            <a:off x="548640" y="5095493"/>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5</a:t>
            </a:r>
          </a:p>
        </p:txBody>
      </p:sp>
      <p:sp>
        <p:nvSpPr>
          <p:cNvPr id="22" name="TextBox 21"/>
          <p:cNvSpPr txBox="1"/>
          <p:nvPr/>
        </p:nvSpPr>
        <p:spPr>
          <a:xfrm>
            <a:off x="1143000" y="5113781"/>
            <a:ext cx="10500055" cy="1049274"/>
          </a:xfrm>
          <a:prstGeom prst="rect">
            <a:avLst/>
          </a:prstGeom>
          <a:noFill/>
        </p:spPr>
        <p:txBody>
          <a:bodyPr wrap="square" anchor="t" lIns="0" rIns="0" tIns="0" bIns="0">
            <a:spAutoFit/>
          </a:bodyPr>
          <a:lstStyle/>
          <a:p>
            <a:r>
              <a:rPr sz="1800" i="0" b="1">
                <a:solidFill>
                  <a:srgbClr val="2B211C"/>
                </a:solidFill>
                <a:latin typeface="Calibri"/>
              </a:rPr>
              <a:t>Prevent recurrence.</a:t>
            </a:r>
            <a:r>
              <a:rPr sz="1800" i="0" b="0">
                <a:solidFill>
                  <a:srgbClr val="2B211C"/>
                </a:solidFill>
                <a:latin typeface="Calibri"/>
              </a:rPr>
              <a:t> For serious or repeated reactions, educate prescribers, review the formulary or treatment guideline through the Drug and Therapeutics Committee, and inform the regulator and the manufacturer.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A4472B"/>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08</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2F6F7A"/>
                </a:solidFill>
                <a:latin typeface="Calibri"/>
              </a:rPr>
              <a:t>SECTION 8</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A4472B"/>
                </a:solidFill>
                <a:latin typeface="Cambria"/>
              </a:rPr>
              <a:t>Managing a Suspected ADR</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8  ·  ADR Causality and Management</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15 / 28</a:t>
            </a:r>
          </a:p>
        </p:txBody>
      </p:sp>
      <p:pic>
        <p:nvPicPr>
          <p:cNvPr id="10" name="Picture 9" descr="logo"/>
          <p:cNvPicPr>
            <a:picLocks noChangeAspect="1"/>
          </p:cNvPicPr>
          <p:nvPr/>
        </p:nvPicPr>
        <p:blipFill>
          <a:blip r:embed="rId3"/>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645919" y="2103120"/>
            <a:ext cx="8899855" cy="2377440"/>
          </a:xfrm>
          <a:prstGeom prst="roundRect">
            <a:avLst>
              <a:gd name="adj" fmla="val 6000"/>
            </a:avLst>
          </a:prstGeom>
          <a:solidFill>
            <a:srgbClr val="FBEAEA">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965960" y="2167127"/>
            <a:ext cx="825977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1920239" y="2331720"/>
            <a:ext cx="1074420" cy="347472"/>
          </a:xfrm>
          <a:prstGeom prst="roundRect">
            <a:avLst>
              <a:gd name="adj" fmla="val 50000"/>
            </a:avLst>
          </a:prstGeom>
          <a:solidFill>
            <a:srgbClr val="B3261E"/>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i="0" b="1">
                <a:solidFill>
                  <a:srgbClr val="FFFFFF"/>
                </a:solidFill>
                <a:latin typeface="Calibri"/>
              </a:rPr>
              <a:t>CAUTION</a:t>
            </a:r>
          </a:p>
        </p:txBody>
      </p:sp>
      <p:sp>
        <p:nvSpPr>
          <p:cNvPr id="16" name="TextBox 15"/>
          <p:cNvSpPr txBox="1"/>
          <p:nvPr/>
        </p:nvSpPr>
        <p:spPr>
          <a:xfrm>
            <a:off x="1920239" y="2788920"/>
            <a:ext cx="8351215" cy="1508760"/>
          </a:xfrm>
          <a:prstGeom prst="rect">
            <a:avLst/>
          </a:prstGeom>
          <a:noFill/>
        </p:spPr>
        <p:txBody>
          <a:bodyPr wrap="square" anchor="t" lIns="0" rIns="0" tIns="0" bIns="0">
            <a:spAutoFit/>
          </a:bodyPr>
          <a:lstStyle/>
          <a:p>
            <a:pPr>
              <a:spcBef>
                <a:spcPts val="0"/>
              </a:spcBef>
            </a:pPr>
            <a:r>
              <a:rPr sz="2600" i="0" b="0">
                <a:solidFill>
                  <a:srgbClr val="2B211C"/>
                </a:solidFill>
                <a:latin typeface="Calibri"/>
              </a:rPr>
              <a:t>Mouth ulcers, blistering or a rash with fever after a new drug may be Stevens-Johnson syndrome. Stop the drug and refer urgently.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10" name="Rounded Rectangle 9"/>
          <p:cNvSpPr/>
          <p:nvPr/>
        </p:nvSpPr>
        <p:spPr>
          <a:xfrm>
            <a:off x="4251960" y="548640"/>
            <a:ext cx="7635240" cy="57150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572000" y="612647"/>
            <a:ext cx="6995159"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931920" cy="6858000"/>
          </a:xfrm>
          <a:prstGeom prst="rect">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88720"/>
            <a:ext cx="2926080" cy="2377440"/>
          </a:xfrm>
          <a:prstGeom prst="rect">
            <a:avLst/>
          </a:prstGeom>
          <a:noFill/>
        </p:spPr>
        <p:txBody>
          <a:bodyPr wrap="square" anchor="t" lIns="0" rIns="0" tIns="0" bIns="0">
            <a:spAutoFit/>
          </a:bodyPr>
          <a:lstStyle/>
          <a:p>
            <a:r>
              <a:rPr sz="13000" i="0" b="1">
                <a:solidFill>
                  <a:srgbClr val="E6EEEF"/>
                </a:solidFill>
                <a:latin typeface="Cambria"/>
              </a:rPr>
              <a:t>℞</a:t>
            </a:r>
          </a:p>
        </p:txBody>
      </p:sp>
      <p:sp>
        <p:nvSpPr>
          <p:cNvPr id="5" name="TextBox 4"/>
          <p:cNvSpPr txBox="1"/>
          <p:nvPr/>
        </p:nvSpPr>
        <p:spPr>
          <a:xfrm>
            <a:off x="548640" y="3977639"/>
            <a:ext cx="3017520" cy="1280160"/>
          </a:xfrm>
          <a:prstGeom prst="rect">
            <a:avLst/>
          </a:prstGeom>
          <a:noFill/>
        </p:spPr>
        <p:txBody>
          <a:bodyPr wrap="square" anchor="t" lIns="0" rIns="0" tIns="0" bIns="0">
            <a:spAutoFit/>
          </a:bodyPr>
          <a:lstStyle/>
          <a:p>
            <a:r>
              <a:rPr sz="3000" i="0" b="1">
                <a:solidFill>
                  <a:srgbClr val="FFFFFF"/>
                </a:solidFill>
                <a:latin typeface="Cambria"/>
              </a:rPr>
              <a:t>At the Pharmacy</a:t>
            </a:r>
          </a:p>
          <a:p>
            <a:r>
              <a:rPr sz="1400" i="0" b="1" spc="150">
                <a:solidFill>
                  <a:srgbClr val="E6EEEF"/>
                </a:solidFill>
                <a:latin typeface="Calibri"/>
              </a:rPr>
              <a:t>Section 8</a:t>
            </a:r>
          </a:p>
        </p:txBody>
      </p:sp>
      <p:sp>
        <p:nvSpPr>
          <p:cNvPr id="6" name="TextBox 5"/>
          <p:cNvSpPr txBox="1"/>
          <p:nvPr/>
        </p:nvSpPr>
        <p:spPr>
          <a:xfrm>
            <a:off x="4526280" y="822960"/>
            <a:ext cx="7132320" cy="5120640"/>
          </a:xfrm>
          <a:prstGeom prst="rect">
            <a:avLst/>
          </a:prstGeom>
          <a:noFill/>
        </p:spPr>
        <p:txBody>
          <a:bodyPr wrap="square" anchor="ctr" lIns="0" rIns="0" tIns="0" bIns="0">
            <a:spAutoFit/>
          </a:bodyPr>
          <a:lstStyle/>
          <a:p>
            <a:pPr>
              <a:spcBef>
                <a:spcPts val="0"/>
              </a:spcBef>
            </a:pPr>
            <a:r>
              <a:rPr sz="2200" i="0" b="0">
                <a:solidFill>
                  <a:srgbClr val="2B211C"/>
                </a:solidFill>
                <a:latin typeface="Calibri"/>
              </a:rPr>
              <a:t>A woman returns two days after starting co-trimoxazole with a widespread rash and mouth ulcers. You recognise a possible serious skin reaction. You tell her to stop the tablet and send her to the emergency department at once. Later you complete the causality assessment, record the allergy, and report the case to the EDA.</a:t>
            </a:r>
          </a:p>
        </p:txBody>
      </p:sp>
      <p:sp>
        <p:nvSpPr>
          <p:cNvPr id="7" name="TextBox 6"/>
          <p:cNvSpPr txBox="1"/>
          <p:nvPr/>
        </p:nvSpPr>
        <p:spPr>
          <a:xfrm>
            <a:off x="452628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ADR Causality and Management</a:t>
            </a:r>
          </a:p>
        </p:txBody>
      </p:sp>
      <p:sp>
        <p:nvSpPr>
          <p:cNvPr id="8" name="TextBox 7"/>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16 / 28</a:t>
            </a:r>
          </a:p>
        </p:txBody>
      </p:sp>
      <p:pic>
        <p:nvPicPr>
          <p:cNvPr id="9" name="Picture 8" descr="logo"/>
          <p:cNvPicPr>
            <a:picLocks noChangeAspect="1"/>
          </p:cNvPicPr>
          <p:nvPr/>
        </p:nvPicPr>
        <p:blipFill>
          <a:blip r:embed="rId4"/>
          <a:stretch>
            <a:fillRect/>
          </a:stretch>
        </p:blipFill>
        <p:spPr>
          <a:xfrm>
            <a:off x="11247120" y="6309360"/>
            <a:ext cx="384048" cy="384048"/>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A4472B"/>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08</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2F6F7A"/>
                </a:solidFill>
                <a:latin typeface="Calibri"/>
              </a:rPr>
              <a:t>SECTION 8  ·  QUESTION 1 OF 5</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A4472B"/>
                </a:solidFill>
                <a:latin typeface="Cambria"/>
              </a:rPr>
              <a:t>Your turn</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8  ·  ADR Causality and Management</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17 / 28</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554480"/>
            <a:ext cx="11094415" cy="1005840"/>
          </a:xfrm>
          <a:prstGeom prst="rect">
            <a:avLst/>
          </a:prstGeom>
          <a:noFill/>
        </p:spPr>
        <p:txBody>
          <a:bodyPr wrap="square" anchor="t" lIns="0" rIns="0" tIns="0" bIns="0">
            <a:spAutoFit/>
          </a:bodyPr>
          <a:lstStyle/>
          <a:p>
            <a:r>
              <a:rPr sz="2100" i="0" b="1">
                <a:solidFill>
                  <a:srgbClr val="2B211C"/>
                </a:solidFill>
                <a:latin typeface="Calibri"/>
              </a:rPr>
              <a:t>A rash starts two days after a new drug, clears when it is stopped, and no other cause is found. It was not rechallenged. WHO-UMC category?</a:t>
            </a:r>
          </a:p>
        </p:txBody>
      </p:sp>
      <p:sp>
        <p:nvSpPr>
          <p:cNvPr id="14" name="Rounded Rectangle 13"/>
          <p:cNvSpPr/>
          <p:nvPr/>
        </p:nvSpPr>
        <p:spPr>
          <a:xfrm>
            <a:off x="548640" y="2697480"/>
            <a:ext cx="11094415" cy="640080"/>
          </a:xfrm>
          <a:prstGeom prst="roundRect">
            <a:avLst>
              <a:gd name="adj" fmla="val 18000"/>
            </a:avLst>
          </a:prstGeom>
          <a:solidFill>
            <a:srgbClr val="FAF4F2">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6" name="TextBox 15"/>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Certain</a:t>
            </a:r>
          </a:p>
        </p:txBody>
      </p:sp>
      <p:sp>
        <p:nvSpPr>
          <p:cNvPr id="17" name="Rounded Rectangle 16"/>
          <p:cNvSpPr/>
          <p:nvPr/>
        </p:nvSpPr>
        <p:spPr>
          <a:xfrm>
            <a:off x="548640" y="3465576"/>
            <a:ext cx="11094415" cy="640080"/>
          </a:xfrm>
          <a:prstGeom prst="roundRect">
            <a:avLst>
              <a:gd name="adj" fmla="val 18000"/>
            </a:avLst>
          </a:prstGeom>
          <a:solidFill>
            <a:srgbClr val="FAF4F2">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9" name="TextBox 18"/>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Possible</a:t>
            </a:r>
          </a:p>
        </p:txBody>
      </p:sp>
      <p:sp>
        <p:nvSpPr>
          <p:cNvPr id="20" name="Rounded Rectangle 19"/>
          <p:cNvSpPr/>
          <p:nvPr/>
        </p:nvSpPr>
        <p:spPr>
          <a:xfrm>
            <a:off x="548640" y="4233672"/>
            <a:ext cx="11094415" cy="640080"/>
          </a:xfrm>
          <a:prstGeom prst="roundRect">
            <a:avLst>
              <a:gd name="adj" fmla="val 18000"/>
            </a:avLst>
          </a:prstGeom>
          <a:solidFill>
            <a:srgbClr val="FAF4F2">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22" name="TextBox 21"/>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Probable</a:t>
            </a:r>
          </a:p>
        </p:txBody>
      </p:sp>
      <p:sp>
        <p:nvSpPr>
          <p:cNvPr id="23" name="Rounded Rectangle 22"/>
          <p:cNvSpPr/>
          <p:nvPr/>
        </p:nvSpPr>
        <p:spPr>
          <a:xfrm>
            <a:off x="548640" y="5001768"/>
            <a:ext cx="11094415" cy="640080"/>
          </a:xfrm>
          <a:prstGeom prst="roundRect">
            <a:avLst>
              <a:gd name="adj" fmla="val 18000"/>
            </a:avLst>
          </a:prstGeom>
          <a:solidFill>
            <a:srgbClr val="FAF4F2">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5" name="TextBox 24"/>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Unassessable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A4472B"/>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08</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2F6F7A"/>
                </a:solidFill>
                <a:latin typeface="Calibri"/>
              </a:rPr>
              <a:t>SECTION 8  ·  QUESTION 1 OF 5  ·  ANSWER</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A4472B"/>
                </a:solidFill>
                <a:latin typeface="Cambria"/>
              </a:rPr>
              <a:t>Check your answer</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8  ·  ADR Causality and Management</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18 / 28</a:t>
            </a:r>
          </a:p>
        </p:txBody>
      </p:sp>
      <p:pic>
        <p:nvPicPr>
          <p:cNvPr id="10" name="Picture 9" descr="logo"/>
          <p:cNvPicPr>
            <a:picLocks noChangeAspect="1"/>
          </p:cNvPicPr>
          <p:nvPr/>
        </p:nvPicPr>
        <p:blipFill>
          <a:blip r:embed="rId3"/>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554480"/>
            <a:ext cx="11094415" cy="1005840"/>
          </a:xfrm>
          <a:prstGeom prst="rect">
            <a:avLst/>
          </a:prstGeom>
          <a:noFill/>
        </p:spPr>
        <p:txBody>
          <a:bodyPr wrap="square" anchor="t" lIns="0" rIns="0" tIns="0" bIns="0">
            <a:spAutoFit/>
          </a:bodyPr>
          <a:lstStyle/>
          <a:p>
            <a:r>
              <a:rPr sz="2100" i="0" b="1">
                <a:solidFill>
                  <a:srgbClr val="2B211C"/>
                </a:solidFill>
                <a:latin typeface="Calibri"/>
              </a:rPr>
              <a:t>A rash starts two days after a new drug, clears when it is stopped, and no other cause is found. It was not rechallenged. WHO-UMC category?</a:t>
            </a:r>
          </a:p>
        </p:txBody>
      </p:sp>
      <p:sp>
        <p:nvSpPr>
          <p:cNvPr id="14" name="Rounded Rectangle 13"/>
          <p:cNvSpPr/>
          <p:nvPr/>
        </p:nvSpPr>
        <p:spPr>
          <a:xfrm>
            <a:off x="548640" y="2606040"/>
            <a:ext cx="11094415" cy="548640"/>
          </a:xfrm>
          <a:prstGeom prst="roundRect">
            <a:avLst>
              <a:gd name="adj" fmla="val 18000"/>
            </a:avLst>
          </a:prstGeom>
          <a:solidFill>
            <a:srgbClr val="F5F4F4">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13232" y="2670048"/>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35852"/>
                </a:solidFill>
                <a:latin typeface="Calibri"/>
              </a:rPr>
              <a:t>A</a:t>
            </a:r>
          </a:p>
        </p:txBody>
      </p:sp>
      <p:sp>
        <p:nvSpPr>
          <p:cNvPr id="16" name="TextBox 15"/>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635852"/>
                </a:solidFill>
                <a:latin typeface="Calibri"/>
              </a:rPr>
              <a:t>Certain</a:t>
            </a:r>
          </a:p>
        </p:txBody>
      </p:sp>
      <p:sp>
        <p:nvSpPr>
          <p:cNvPr id="17" name="Rounded Rectangle 16"/>
          <p:cNvSpPr/>
          <p:nvPr/>
        </p:nvSpPr>
        <p:spPr>
          <a:xfrm>
            <a:off x="548640" y="3282696"/>
            <a:ext cx="11094415" cy="548640"/>
          </a:xfrm>
          <a:prstGeom prst="roundRect">
            <a:avLst>
              <a:gd name="adj" fmla="val 18000"/>
            </a:avLst>
          </a:prstGeom>
          <a:solidFill>
            <a:srgbClr val="F5F4F4">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13232" y="3346703"/>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35852"/>
                </a:solidFill>
                <a:latin typeface="Calibri"/>
              </a:rPr>
              <a:t>B</a:t>
            </a:r>
          </a:p>
        </p:txBody>
      </p:sp>
      <p:sp>
        <p:nvSpPr>
          <p:cNvPr id="19" name="TextBox 18"/>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635852"/>
                </a:solidFill>
                <a:latin typeface="Calibri"/>
              </a:rPr>
              <a:t>Possible</a:t>
            </a:r>
          </a:p>
        </p:txBody>
      </p:sp>
      <p:sp>
        <p:nvSpPr>
          <p:cNvPr id="20" name="Rounded Rectangle 19"/>
          <p:cNvSpPr/>
          <p:nvPr/>
        </p:nvSpPr>
        <p:spPr>
          <a:xfrm>
            <a:off x="548640" y="3959352"/>
            <a:ext cx="11094415" cy="548640"/>
          </a:xfrm>
          <a:prstGeom prst="roundRect">
            <a:avLst>
              <a:gd name="adj" fmla="val 18000"/>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13232" y="4023360"/>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C</a:t>
            </a:r>
          </a:p>
        </p:txBody>
      </p:sp>
      <p:sp>
        <p:nvSpPr>
          <p:cNvPr id="22" name="TextBox 21"/>
          <p:cNvSpPr txBox="1"/>
          <p:nvPr/>
        </p:nvSpPr>
        <p:spPr>
          <a:xfrm>
            <a:off x="1371600" y="3959352"/>
            <a:ext cx="10088575" cy="548640"/>
          </a:xfrm>
          <a:prstGeom prst="rect">
            <a:avLst/>
          </a:prstGeom>
          <a:noFill/>
        </p:spPr>
        <p:txBody>
          <a:bodyPr wrap="square" anchor="ctr" lIns="0" rIns="0" tIns="0" bIns="0">
            <a:spAutoFit/>
          </a:bodyPr>
          <a:lstStyle/>
          <a:p>
            <a:r>
              <a:rPr sz="1900" i="0" b="1">
                <a:solidFill>
                  <a:srgbClr val="FFFFFF"/>
                </a:solidFill>
                <a:latin typeface="Calibri"/>
              </a:rPr>
              <a:t>Probable</a:t>
            </a:r>
          </a:p>
        </p:txBody>
      </p:sp>
      <p:sp>
        <p:nvSpPr>
          <p:cNvPr id="23" name="Rounded Rectangle 22"/>
          <p:cNvSpPr/>
          <p:nvPr/>
        </p:nvSpPr>
        <p:spPr>
          <a:xfrm>
            <a:off x="548640" y="4636008"/>
            <a:ext cx="11094415" cy="548640"/>
          </a:xfrm>
          <a:prstGeom prst="roundRect">
            <a:avLst>
              <a:gd name="adj" fmla="val 18000"/>
            </a:avLst>
          </a:prstGeom>
          <a:solidFill>
            <a:srgbClr val="F5F4F4">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13232" y="4700016"/>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35852"/>
                </a:solidFill>
                <a:latin typeface="Calibri"/>
              </a:rPr>
              <a:t>D</a:t>
            </a:r>
          </a:p>
        </p:txBody>
      </p:sp>
      <p:sp>
        <p:nvSpPr>
          <p:cNvPr id="25" name="TextBox 24"/>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635852"/>
                </a:solidFill>
                <a:latin typeface="Calibri"/>
              </a:rPr>
              <a:t>Unassessable</a:t>
            </a:r>
          </a:p>
        </p:txBody>
      </p:sp>
      <p:sp>
        <p:nvSpPr>
          <p:cNvPr id="26" name="TextBox 25"/>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Good time link, positive dechallenge and no other cause: probable. A needs a clear case (often rechallenge); B would have other causes; D lacks data.</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A4472B"/>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08</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2F6F7A"/>
                </a:solidFill>
                <a:latin typeface="Calibri"/>
              </a:rPr>
              <a:t>SECTION 8  ·  QUESTION 2 OF 5</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A4472B"/>
                </a:solidFill>
                <a:latin typeface="Cambria"/>
              </a:rPr>
              <a:t>Your turn</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8  ·  ADR Causality and Management</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19 / 28</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A Naranjo total of 3 means the ADR is:</a:t>
            </a:r>
          </a:p>
        </p:txBody>
      </p:sp>
      <p:sp>
        <p:nvSpPr>
          <p:cNvPr id="14" name="Rounded Rectangle 13"/>
          <p:cNvSpPr/>
          <p:nvPr/>
        </p:nvSpPr>
        <p:spPr>
          <a:xfrm>
            <a:off x="548640" y="2697480"/>
            <a:ext cx="11094415" cy="640080"/>
          </a:xfrm>
          <a:prstGeom prst="roundRect">
            <a:avLst>
              <a:gd name="adj" fmla="val 18000"/>
            </a:avLst>
          </a:prstGeom>
          <a:solidFill>
            <a:srgbClr val="FAF4F2">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6" name="TextBox 15"/>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Possible</a:t>
            </a:r>
          </a:p>
        </p:txBody>
      </p:sp>
      <p:sp>
        <p:nvSpPr>
          <p:cNvPr id="17" name="Rounded Rectangle 16"/>
          <p:cNvSpPr/>
          <p:nvPr/>
        </p:nvSpPr>
        <p:spPr>
          <a:xfrm>
            <a:off x="548640" y="3465576"/>
            <a:ext cx="11094415" cy="640080"/>
          </a:xfrm>
          <a:prstGeom prst="roundRect">
            <a:avLst>
              <a:gd name="adj" fmla="val 18000"/>
            </a:avLst>
          </a:prstGeom>
          <a:solidFill>
            <a:srgbClr val="FAF4F2">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9" name="TextBox 18"/>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Probable</a:t>
            </a:r>
          </a:p>
        </p:txBody>
      </p:sp>
      <p:sp>
        <p:nvSpPr>
          <p:cNvPr id="20" name="Rounded Rectangle 19"/>
          <p:cNvSpPr/>
          <p:nvPr/>
        </p:nvSpPr>
        <p:spPr>
          <a:xfrm>
            <a:off x="548640" y="4233672"/>
            <a:ext cx="11094415" cy="640080"/>
          </a:xfrm>
          <a:prstGeom prst="roundRect">
            <a:avLst>
              <a:gd name="adj" fmla="val 18000"/>
            </a:avLst>
          </a:prstGeom>
          <a:solidFill>
            <a:srgbClr val="FAF4F2">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22" name="TextBox 21"/>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Definite</a:t>
            </a:r>
          </a:p>
        </p:txBody>
      </p:sp>
      <p:sp>
        <p:nvSpPr>
          <p:cNvPr id="23" name="Rounded Rectangle 22"/>
          <p:cNvSpPr/>
          <p:nvPr/>
        </p:nvSpPr>
        <p:spPr>
          <a:xfrm>
            <a:off x="548640" y="5001768"/>
            <a:ext cx="11094415" cy="640080"/>
          </a:xfrm>
          <a:prstGeom prst="roundRect">
            <a:avLst>
              <a:gd name="adj" fmla="val 18000"/>
            </a:avLst>
          </a:prstGeom>
          <a:solidFill>
            <a:srgbClr val="FAF4F2">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5" name="TextBox 24"/>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Doubtful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A4472B"/>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08</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2F6F7A"/>
                </a:solidFill>
                <a:latin typeface="Calibri"/>
              </a:rPr>
              <a:t>SECTION 8  ·  QUESTION 2 OF 5  ·  ANSWER</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A4472B"/>
                </a:solidFill>
                <a:latin typeface="Cambria"/>
              </a:rPr>
              <a:t>Check your answer</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8  ·  ADR Causality and Management</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20 / 28</a:t>
            </a:r>
          </a:p>
        </p:txBody>
      </p:sp>
      <p:pic>
        <p:nvPicPr>
          <p:cNvPr id="10" name="Picture 9" descr="logo"/>
          <p:cNvPicPr>
            <a:picLocks noChangeAspect="1"/>
          </p:cNvPicPr>
          <p:nvPr/>
        </p:nvPicPr>
        <p:blipFill>
          <a:blip r:embed="rId3"/>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A Naranjo total of 3 means the ADR is:</a:t>
            </a:r>
          </a:p>
        </p:txBody>
      </p:sp>
      <p:sp>
        <p:nvSpPr>
          <p:cNvPr id="14" name="Rounded Rectangle 13"/>
          <p:cNvSpPr/>
          <p:nvPr/>
        </p:nvSpPr>
        <p:spPr>
          <a:xfrm>
            <a:off x="548640" y="2606040"/>
            <a:ext cx="11094415" cy="548640"/>
          </a:xfrm>
          <a:prstGeom prst="roundRect">
            <a:avLst>
              <a:gd name="adj" fmla="val 18000"/>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13232" y="2670048"/>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A</a:t>
            </a:r>
          </a:p>
        </p:txBody>
      </p:sp>
      <p:sp>
        <p:nvSpPr>
          <p:cNvPr id="16" name="TextBox 15"/>
          <p:cNvSpPr txBox="1"/>
          <p:nvPr/>
        </p:nvSpPr>
        <p:spPr>
          <a:xfrm>
            <a:off x="1371600" y="2606040"/>
            <a:ext cx="10088575" cy="548640"/>
          </a:xfrm>
          <a:prstGeom prst="rect">
            <a:avLst/>
          </a:prstGeom>
          <a:noFill/>
        </p:spPr>
        <p:txBody>
          <a:bodyPr wrap="square" anchor="ctr" lIns="0" rIns="0" tIns="0" bIns="0">
            <a:spAutoFit/>
          </a:bodyPr>
          <a:lstStyle/>
          <a:p>
            <a:r>
              <a:rPr sz="1900" i="0" b="1">
                <a:solidFill>
                  <a:srgbClr val="FFFFFF"/>
                </a:solidFill>
                <a:latin typeface="Calibri"/>
              </a:rPr>
              <a:t>Possible</a:t>
            </a:r>
          </a:p>
        </p:txBody>
      </p:sp>
      <p:sp>
        <p:nvSpPr>
          <p:cNvPr id="17" name="Rounded Rectangle 16"/>
          <p:cNvSpPr/>
          <p:nvPr/>
        </p:nvSpPr>
        <p:spPr>
          <a:xfrm>
            <a:off x="548640" y="3282696"/>
            <a:ext cx="11094415" cy="548640"/>
          </a:xfrm>
          <a:prstGeom prst="roundRect">
            <a:avLst>
              <a:gd name="adj" fmla="val 18000"/>
            </a:avLst>
          </a:prstGeom>
          <a:solidFill>
            <a:srgbClr val="F5F4F4">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13232" y="3346703"/>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35852"/>
                </a:solidFill>
                <a:latin typeface="Calibri"/>
              </a:rPr>
              <a:t>B</a:t>
            </a:r>
          </a:p>
        </p:txBody>
      </p:sp>
      <p:sp>
        <p:nvSpPr>
          <p:cNvPr id="19" name="TextBox 18"/>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635852"/>
                </a:solidFill>
                <a:latin typeface="Calibri"/>
              </a:rPr>
              <a:t>Probable</a:t>
            </a:r>
          </a:p>
        </p:txBody>
      </p:sp>
      <p:sp>
        <p:nvSpPr>
          <p:cNvPr id="20" name="Rounded Rectangle 19"/>
          <p:cNvSpPr/>
          <p:nvPr/>
        </p:nvSpPr>
        <p:spPr>
          <a:xfrm>
            <a:off x="548640" y="3959352"/>
            <a:ext cx="11094415" cy="548640"/>
          </a:xfrm>
          <a:prstGeom prst="roundRect">
            <a:avLst>
              <a:gd name="adj" fmla="val 18000"/>
            </a:avLst>
          </a:prstGeom>
          <a:solidFill>
            <a:srgbClr val="F5F4F4">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13232" y="4023360"/>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35852"/>
                </a:solidFill>
                <a:latin typeface="Calibri"/>
              </a:rPr>
              <a:t>C</a:t>
            </a:r>
          </a:p>
        </p:txBody>
      </p:sp>
      <p:sp>
        <p:nvSpPr>
          <p:cNvPr id="22" name="TextBox 21"/>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635852"/>
                </a:solidFill>
                <a:latin typeface="Calibri"/>
              </a:rPr>
              <a:t>Definite</a:t>
            </a:r>
          </a:p>
        </p:txBody>
      </p:sp>
      <p:sp>
        <p:nvSpPr>
          <p:cNvPr id="23" name="Rounded Rectangle 22"/>
          <p:cNvSpPr/>
          <p:nvPr/>
        </p:nvSpPr>
        <p:spPr>
          <a:xfrm>
            <a:off x="548640" y="4636008"/>
            <a:ext cx="11094415" cy="548640"/>
          </a:xfrm>
          <a:prstGeom prst="roundRect">
            <a:avLst>
              <a:gd name="adj" fmla="val 18000"/>
            </a:avLst>
          </a:prstGeom>
          <a:solidFill>
            <a:srgbClr val="F5F4F4">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13232" y="4700016"/>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35852"/>
                </a:solidFill>
                <a:latin typeface="Calibri"/>
              </a:rPr>
              <a:t>D</a:t>
            </a:r>
          </a:p>
        </p:txBody>
      </p:sp>
      <p:sp>
        <p:nvSpPr>
          <p:cNvPr id="25" name="TextBox 24"/>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635852"/>
                </a:solidFill>
                <a:latin typeface="Calibri"/>
              </a:rPr>
              <a:t>Doubtful</a:t>
            </a:r>
          </a:p>
        </p:txBody>
      </p:sp>
      <p:sp>
        <p:nvSpPr>
          <p:cNvPr id="26" name="TextBox 25"/>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1 to 4 is possible. B is 5-8, C is 9 or more, D is 0 or less.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A4472B"/>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08</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2F6F7A"/>
                </a:solidFill>
                <a:latin typeface="Calibri"/>
              </a:rPr>
              <a:t>SECTION 8  ·  QUESTION 3 OF 5</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A4472B"/>
                </a:solidFill>
                <a:latin typeface="Cambria"/>
              </a:rPr>
              <a:t>Your turn</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8  ·  ADR Causality and Management</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21 / 28</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Which reaction is "serious" in the regulatory sense?</a:t>
            </a:r>
          </a:p>
        </p:txBody>
      </p:sp>
      <p:sp>
        <p:nvSpPr>
          <p:cNvPr id="14" name="Rounded Rectangle 13"/>
          <p:cNvSpPr/>
          <p:nvPr/>
        </p:nvSpPr>
        <p:spPr>
          <a:xfrm>
            <a:off x="548640" y="2697480"/>
            <a:ext cx="11094415" cy="640080"/>
          </a:xfrm>
          <a:prstGeom prst="roundRect">
            <a:avLst>
              <a:gd name="adj" fmla="val 18000"/>
            </a:avLst>
          </a:prstGeom>
          <a:solidFill>
            <a:srgbClr val="FAF4F2">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6" name="TextBox 15"/>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Severe nausea managed at home</a:t>
            </a:r>
          </a:p>
        </p:txBody>
      </p:sp>
      <p:sp>
        <p:nvSpPr>
          <p:cNvPr id="17" name="Rounded Rectangle 16"/>
          <p:cNvSpPr/>
          <p:nvPr/>
        </p:nvSpPr>
        <p:spPr>
          <a:xfrm>
            <a:off x="548640" y="3465576"/>
            <a:ext cx="11094415" cy="640080"/>
          </a:xfrm>
          <a:prstGeom prst="roundRect">
            <a:avLst>
              <a:gd name="adj" fmla="val 18000"/>
            </a:avLst>
          </a:prstGeom>
          <a:solidFill>
            <a:srgbClr val="FAF4F2">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9" name="TextBox 18"/>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Mild headache</a:t>
            </a:r>
          </a:p>
        </p:txBody>
      </p:sp>
      <p:sp>
        <p:nvSpPr>
          <p:cNvPr id="20" name="Rounded Rectangle 19"/>
          <p:cNvSpPr/>
          <p:nvPr/>
        </p:nvSpPr>
        <p:spPr>
          <a:xfrm>
            <a:off x="548640" y="4233672"/>
            <a:ext cx="11094415" cy="640080"/>
          </a:xfrm>
          <a:prstGeom prst="roundRect">
            <a:avLst>
              <a:gd name="adj" fmla="val 18000"/>
            </a:avLst>
          </a:prstGeom>
          <a:solidFill>
            <a:srgbClr val="FAF4F2">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22" name="TextBox 21"/>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A reaction needing hospital admission</a:t>
            </a:r>
          </a:p>
        </p:txBody>
      </p:sp>
      <p:sp>
        <p:nvSpPr>
          <p:cNvPr id="23" name="Rounded Rectangle 22"/>
          <p:cNvSpPr/>
          <p:nvPr/>
        </p:nvSpPr>
        <p:spPr>
          <a:xfrm>
            <a:off x="548640" y="5001768"/>
            <a:ext cx="11094415" cy="640080"/>
          </a:xfrm>
          <a:prstGeom prst="roundRect">
            <a:avLst>
              <a:gd name="adj" fmla="val 18000"/>
            </a:avLst>
          </a:prstGeom>
          <a:solidFill>
            <a:srgbClr val="FAF4F2">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5" name="TextBox 24"/>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Moderate drowsiness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A4472B"/>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08</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2F6F7A"/>
                </a:solidFill>
                <a:latin typeface="Calibri"/>
              </a:rPr>
              <a:t>SECTION 8  ·  QUESTION 3 OF 5  ·  ANSWER</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A4472B"/>
                </a:solidFill>
                <a:latin typeface="Cambria"/>
              </a:rPr>
              <a:t>Check your answer</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8  ·  ADR Causality and Management</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22 / 28</a:t>
            </a:r>
          </a:p>
        </p:txBody>
      </p:sp>
      <p:pic>
        <p:nvPicPr>
          <p:cNvPr id="10" name="Picture 9" descr="logo"/>
          <p:cNvPicPr>
            <a:picLocks noChangeAspect="1"/>
          </p:cNvPicPr>
          <p:nvPr/>
        </p:nvPicPr>
        <p:blipFill>
          <a:blip r:embed="rId3"/>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Which reaction is "serious" in the regulatory sense?</a:t>
            </a:r>
          </a:p>
        </p:txBody>
      </p:sp>
      <p:sp>
        <p:nvSpPr>
          <p:cNvPr id="14" name="Rounded Rectangle 13"/>
          <p:cNvSpPr/>
          <p:nvPr/>
        </p:nvSpPr>
        <p:spPr>
          <a:xfrm>
            <a:off x="548640" y="2606040"/>
            <a:ext cx="11094415" cy="548640"/>
          </a:xfrm>
          <a:prstGeom prst="roundRect">
            <a:avLst>
              <a:gd name="adj" fmla="val 18000"/>
            </a:avLst>
          </a:prstGeom>
          <a:solidFill>
            <a:srgbClr val="F5F4F4">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13232" y="2670048"/>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35852"/>
                </a:solidFill>
                <a:latin typeface="Calibri"/>
              </a:rPr>
              <a:t>A</a:t>
            </a:r>
          </a:p>
        </p:txBody>
      </p:sp>
      <p:sp>
        <p:nvSpPr>
          <p:cNvPr id="16" name="TextBox 15"/>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635852"/>
                </a:solidFill>
                <a:latin typeface="Calibri"/>
              </a:rPr>
              <a:t>Severe nausea managed at home</a:t>
            </a:r>
          </a:p>
        </p:txBody>
      </p:sp>
      <p:sp>
        <p:nvSpPr>
          <p:cNvPr id="17" name="Rounded Rectangle 16"/>
          <p:cNvSpPr/>
          <p:nvPr/>
        </p:nvSpPr>
        <p:spPr>
          <a:xfrm>
            <a:off x="548640" y="3282696"/>
            <a:ext cx="11094415" cy="548640"/>
          </a:xfrm>
          <a:prstGeom prst="roundRect">
            <a:avLst>
              <a:gd name="adj" fmla="val 18000"/>
            </a:avLst>
          </a:prstGeom>
          <a:solidFill>
            <a:srgbClr val="F5F4F4">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13232" y="3346703"/>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35852"/>
                </a:solidFill>
                <a:latin typeface="Calibri"/>
              </a:rPr>
              <a:t>B</a:t>
            </a:r>
          </a:p>
        </p:txBody>
      </p:sp>
      <p:sp>
        <p:nvSpPr>
          <p:cNvPr id="19" name="TextBox 18"/>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635852"/>
                </a:solidFill>
                <a:latin typeface="Calibri"/>
              </a:rPr>
              <a:t>Mild headache</a:t>
            </a:r>
          </a:p>
        </p:txBody>
      </p:sp>
      <p:sp>
        <p:nvSpPr>
          <p:cNvPr id="20" name="Rounded Rectangle 19"/>
          <p:cNvSpPr/>
          <p:nvPr/>
        </p:nvSpPr>
        <p:spPr>
          <a:xfrm>
            <a:off x="548640" y="3959352"/>
            <a:ext cx="11094415" cy="548640"/>
          </a:xfrm>
          <a:prstGeom prst="roundRect">
            <a:avLst>
              <a:gd name="adj" fmla="val 18000"/>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13232" y="4023360"/>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C</a:t>
            </a:r>
          </a:p>
        </p:txBody>
      </p:sp>
      <p:sp>
        <p:nvSpPr>
          <p:cNvPr id="22" name="TextBox 21"/>
          <p:cNvSpPr txBox="1"/>
          <p:nvPr/>
        </p:nvSpPr>
        <p:spPr>
          <a:xfrm>
            <a:off x="1371600" y="3959352"/>
            <a:ext cx="10088575" cy="548640"/>
          </a:xfrm>
          <a:prstGeom prst="rect">
            <a:avLst/>
          </a:prstGeom>
          <a:noFill/>
        </p:spPr>
        <p:txBody>
          <a:bodyPr wrap="square" anchor="ctr" lIns="0" rIns="0" tIns="0" bIns="0">
            <a:spAutoFit/>
          </a:bodyPr>
          <a:lstStyle/>
          <a:p>
            <a:r>
              <a:rPr sz="1900" i="0" b="1">
                <a:solidFill>
                  <a:srgbClr val="FFFFFF"/>
                </a:solidFill>
                <a:latin typeface="Calibri"/>
              </a:rPr>
              <a:t>A reaction needing hospital admission</a:t>
            </a:r>
          </a:p>
        </p:txBody>
      </p:sp>
      <p:sp>
        <p:nvSpPr>
          <p:cNvPr id="23" name="Rounded Rectangle 22"/>
          <p:cNvSpPr/>
          <p:nvPr/>
        </p:nvSpPr>
        <p:spPr>
          <a:xfrm>
            <a:off x="548640" y="4636008"/>
            <a:ext cx="11094415" cy="548640"/>
          </a:xfrm>
          <a:prstGeom prst="roundRect">
            <a:avLst>
              <a:gd name="adj" fmla="val 18000"/>
            </a:avLst>
          </a:prstGeom>
          <a:solidFill>
            <a:srgbClr val="F5F4F4">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13232" y="4700016"/>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35852"/>
                </a:solidFill>
                <a:latin typeface="Calibri"/>
              </a:rPr>
              <a:t>D</a:t>
            </a:r>
          </a:p>
        </p:txBody>
      </p:sp>
      <p:sp>
        <p:nvSpPr>
          <p:cNvPr id="25" name="TextBox 24"/>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635852"/>
                </a:solidFill>
                <a:latin typeface="Calibri"/>
              </a:rPr>
              <a:t>Moderate drowsiness</a:t>
            </a:r>
          </a:p>
        </p:txBody>
      </p:sp>
      <p:sp>
        <p:nvSpPr>
          <p:cNvPr id="26" name="TextBox 25"/>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Hospital admission makes an ADR serious. A, B and D may be intense but are not serious.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A4472B"/>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08</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2F6F7A"/>
                </a:solidFill>
                <a:latin typeface="Calibri"/>
              </a:rPr>
              <a:t>SECTION 8  ·  QUESTION 4 OF 5</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A4472B"/>
                </a:solidFill>
                <a:latin typeface="Cambria"/>
              </a:rPr>
              <a:t>Your turn</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8  ·  ADR Causality and Management</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23 / 28</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A patient collapses with wheezing and a swollen face minutes after an injection. What is the FIRST step?</a:t>
            </a:r>
          </a:p>
        </p:txBody>
      </p:sp>
      <p:sp>
        <p:nvSpPr>
          <p:cNvPr id="14" name="Rounded Rectangle 13"/>
          <p:cNvSpPr/>
          <p:nvPr/>
        </p:nvSpPr>
        <p:spPr>
          <a:xfrm>
            <a:off x="548640" y="2697480"/>
            <a:ext cx="11094415" cy="640080"/>
          </a:xfrm>
          <a:prstGeom prst="roundRect">
            <a:avLst>
              <a:gd name="adj" fmla="val 18000"/>
            </a:avLst>
          </a:prstGeom>
          <a:solidFill>
            <a:srgbClr val="FAF4F2">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6" name="TextBox 15"/>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Complete the Naranjo algorithm</a:t>
            </a:r>
          </a:p>
        </p:txBody>
      </p:sp>
      <p:sp>
        <p:nvSpPr>
          <p:cNvPr id="17" name="Rounded Rectangle 16"/>
          <p:cNvSpPr/>
          <p:nvPr/>
        </p:nvSpPr>
        <p:spPr>
          <a:xfrm>
            <a:off x="548640" y="3465576"/>
            <a:ext cx="11094415" cy="640080"/>
          </a:xfrm>
          <a:prstGeom prst="roundRect">
            <a:avLst>
              <a:gd name="adj" fmla="val 18000"/>
            </a:avLst>
          </a:prstGeom>
          <a:solidFill>
            <a:srgbClr val="FAF4F2">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9" name="TextBox 18"/>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Look after the patient: stop the drug, give adrenaline, call for help</a:t>
            </a:r>
          </a:p>
        </p:txBody>
      </p:sp>
      <p:sp>
        <p:nvSpPr>
          <p:cNvPr id="20" name="Rounded Rectangle 19"/>
          <p:cNvSpPr/>
          <p:nvPr/>
        </p:nvSpPr>
        <p:spPr>
          <a:xfrm>
            <a:off x="548640" y="4233672"/>
            <a:ext cx="11094415" cy="640080"/>
          </a:xfrm>
          <a:prstGeom prst="roundRect">
            <a:avLst>
              <a:gd name="adj" fmla="val 18000"/>
            </a:avLst>
          </a:prstGeom>
          <a:solidFill>
            <a:srgbClr val="FAF4F2">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22" name="TextBox 21"/>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Report to the EDA</a:t>
            </a:r>
          </a:p>
        </p:txBody>
      </p:sp>
      <p:sp>
        <p:nvSpPr>
          <p:cNvPr id="23" name="Rounded Rectangle 22"/>
          <p:cNvSpPr/>
          <p:nvPr/>
        </p:nvSpPr>
        <p:spPr>
          <a:xfrm>
            <a:off x="548640" y="5001768"/>
            <a:ext cx="11094415" cy="640080"/>
          </a:xfrm>
          <a:prstGeom prst="roundRect">
            <a:avLst>
              <a:gd name="adj" fmla="val 18000"/>
            </a:avLst>
          </a:prstGeom>
          <a:solidFill>
            <a:srgbClr val="FAF4F2">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5" name="TextBox 24"/>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Review the formulary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A4472B"/>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08</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2F6F7A"/>
                </a:solidFill>
                <a:latin typeface="Calibri"/>
              </a:rPr>
              <a:t>SECTION 8  ·  QUESTION 4 OF 5  ·  ANSWER</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A4472B"/>
                </a:solidFill>
                <a:latin typeface="Cambria"/>
              </a:rPr>
              <a:t>Check your answer</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8  ·  ADR Causality and Management</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24 / 28</a:t>
            </a:r>
          </a:p>
        </p:txBody>
      </p:sp>
      <p:pic>
        <p:nvPicPr>
          <p:cNvPr id="10" name="Picture 9" descr="logo"/>
          <p:cNvPicPr>
            <a:picLocks noChangeAspect="1"/>
          </p:cNvPicPr>
          <p:nvPr/>
        </p:nvPicPr>
        <p:blipFill>
          <a:blip r:embed="rId3"/>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A patient collapses with wheezing and a swollen face minutes after an injection. What is the FIRST step?</a:t>
            </a:r>
          </a:p>
        </p:txBody>
      </p:sp>
      <p:sp>
        <p:nvSpPr>
          <p:cNvPr id="14" name="Rounded Rectangle 13"/>
          <p:cNvSpPr/>
          <p:nvPr/>
        </p:nvSpPr>
        <p:spPr>
          <a:xfrm>
            <a:off x="548640" y="2606040"/>
            <a:ext cx="11094415" cy="548640"/>
          </a:xfrm>
          <a:prstGeom prst="roundRect">
            <a:avLst>
              <a:gd name="adj" fmla="val 18000"/>
            </a:avLst>
          </a:prstGeom>
          <a:solidFill>
            <a:srgbClr val="F5F4F4">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13232" y="2670048"/>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35852"/>
                </a:solidFill>
                <a:latin typeface="Calibri"/>
              </a:rPr>
              <a:t>A</a:t>
            </a:r>
          </a:p>
        </p:txBody>
      </p:sp>
      <p:sp>
        <p:nvSpPr>
          <p:cNvPr id="16" name="TextBox 15"/>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635852"/>
                </a:solidFill>
                <a:latin typeface="Calibri"/>
              </a:rPr>
              <a:t>Complete the Naranjo algorithm</a:t>
            </a:r>
          </a:p>
        </p:txBody>
      </p:sp>
      <p:sp>
        <p:nvSpPr>
          <p:cNvPr id="17" name="Rounded Rectangle 16"/>
          <p:cNvSpPr/>
          <p:nvPr/>
        </p:nvSpPr>
        <p:spPr>
          <a:xfrm>
            <a:off x="548640" y="3282696"/>
            <a:ext cx="11094415" cy="548640"/>
          </a:xfrm>
          <a:prstGeom prst="roundRect">
            <a:avLst>
              <a:gd name="adj" fmla="val 18000"/>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13232" y="3346703"/>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B</a:t>
            </a:r>
          </a:p>
        </p:txBody>
      </p:sp>
      <p:sp>
        <p:nvSpPr>
          <p:cNvPr id="19" name="TextBox 18"/>
          <p:cNvSpPr txBox="1"/>
          <p:nvPr/>
        </p:nvSpPr>
        <p:spPr>
          <a:xfrm>
            <a:off x="1371600" y="3282696"/>
            <a:ext cx="10088575" cy="548640"/>
          </a:xfrm>
          <a:prstGeom prst="rect">
            <a:avLst/>
          </a:prstGeom>
          <a:noFill/>
        </p:spPr>
        <p:txBody>
          <a:bodyPr wrap="square" anchor="ctr" lIns="0" rIns="0" tIns="0" bIns="0">
            <a:spAutoFit/>
          </a:bodyPr>
          <a:lstStyle/>
          <a:p>
            <a:r>
              <a:rPr sz="1900" i="0" b="1">
                <a:solidFill>
                  <a:srgbClr val="FFFFFF"/>
                </a:solidFill>
                <a:latin typeface="Calibri"/>
              </a:rPr>
              <a:t>Look after the patient: stop the drug, give adrenaline, call for help</a:t>
            </a:r>
          </a:p>
        </p:txBody>
      </p:sp>
      <p:sp>
        <p:nvSpPr>
          <p:cNvPr id="20" name="Rounded Rectangle 19"/>
          <p:cNvSpPr/>
          <p:nvPr/>
        </p:nvSpPr>
        <p:spPr>
          <a:xfrm>
            <a:off x="548640" y="3959352"/>
            <a:ext cx="11094415" cy="548640"/>
          </a:xfrm>
          <a:prstGeom prst="roundRect">
            <a:avLst>
              <a:gd name="adj" fmla="val 18000"/>
            </a:avLst>
          </a:prstGeom>
          <a:solidFill>
            <a:srgbClr val="F5F4F4">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13232" y="4023360"/>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35852"/>
                </a:solidFill>
                <a:latin typeface="Calibri"/>
              </a:rPr>
              <a:t>C</a:t>
            </a:r>
          </a:p>
        </p:txBody>
      </p:sp>
      <p:sp>
        <p:nvSpPr>
          <p:cNvPr id="22" name="TextBox 21"/>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635852"/>
                </a:solidFill>
                <a:latin typeface="Calibri"/>
              </a:rPr>
              <a:t>Report to the EDA</a:t>
            </a:r>
          </a:p>
        </p:txBody>
      </p:sp>
      <p:sp>
        <p:nvSpPr>
          <p:cNvPr id="23" name="Rounded Rectangle 22"/>
          <p:cNvSpPr/>
          <p:nvPr/>
        </p:nvSpPr>
        <p:spPr>
          <a:xfrm>
            <a:off x="548640" y="4636008"/>
            <a:ext cx="11094415" cy="548640"/>
          </a:xfrm>
          <a:prstGeom prst="roundRect">
            <a:avLst>
              <a:gd name="adj" fmla="val 18000"/>
            </a:avLst>
          </a:prstGeom>
          <a:solidFill>
            <a:srgbClr val="F5F4F4">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13232" y="4700016"/>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35852"/>
                </a:solidFill>
                <a:latin typeface="Calibri"/>
              </a:rPr>
              <a:t>D</a:t>
            </a:r>
          </a:p>
        </p:txBody>
      </p:sp>
      <p:sp>
        <p:nvSpPr>
          <p:cNvPr id="25" name="TextBox 24"/>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635852"/>
                </a:solidFill>
                <a:latin typeface="Calibri"/>
              </a:rPr>
              <a:t>Review the formulary</a:t>
            </a:r>
          </a:p>
        </p:txBody>
      </p:sp>
      <p:sp>
        <p:nvSpPr>
          <p:cNvPr id="26" name="TextBox 25"/>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Patient care comes first in anaphylaxis. A, C and D come later.</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A4472B"/>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08</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2F6F7A"/>
                </a:solidFill>
                <a:latin typeface="Calibri"/>
              </a:rPr>
              <a:t>SECTION 8  ·  QUESTION 5 OF 5</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A4472B"/>
                </a:solidFill>
                <a:latin typeface="Cambria"/>
              </a:rPr>
              <a:t>Your turn</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8  ·  ADR Causality and Management</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25 / 28</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In the Naranjo algorithm, which answer adds +2 points?</a:t>
            </a:r>
          </a:p>
        </p:txBody>
      </p:sp>
      <p:sp>
        <p:nvSpPr>
          <p:cNvPr id="14" name="Rounded Rectangle 13"/>
          <p:cNvSpPr/>
          <p:nvPr/>
        </p:nvSpPr>
        <p:spPr>
          <a:xfrm>
            <a:off x="548640" y="2697480"/>
            <a:ext cx="11094415" cy="640080"/>
          </a:xfrm>
          <a:prstGeom prst="roundRect">
            <a:avLst>
              <a:gd name="adj" fmla="val 18000"/>
            </a:avLst>
          </a:prstGeom>
          <a:solidFill>
            <a:srgbClr val="FAF4F2">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6" name="TextBox 15"/>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The patient had a similar reaction before</a:t>
            </a:r>
          </a:p>
        </p:txBody>
      </p:sp>
      <p:sp>
        <p:nvSpPr>
          <p:cNvPr id="17" name="Rounded Rectangle 16"/>
          <p:cNvSpPr/>
          <p:nvPr/>
        </p:nvSpPr>
        <p:spPr>
          <a:xfrm>
            <a:off x="548640" y="3465576"/>
            <a:ext cx="11094415" cy="640080"/>
          </a:xfrm>
          <a:prstGeom prst="roundRect">
            <a:avLst>
              <a:gd name="adj" fmla="val 18000"/>
            </a:avLst>
          </a:prstGeom>
          <a:solidFill>
            <a:srgbClr val="FAF4F2">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9" name="TextBox 18"/>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The drug was found at toxic levels</a:t>
            </a:r>
          </a:p>
        </p:txBody>
      </p:sp>
      <p:sp>
        <p:nvSpPr>
          <p:cNvPr id="20" name="Rounded Rectangle 19"/>
          <p:cNvSpPr/>
          <p:nvPr/>
        </p:nvSpPr>
        <p:spPr>
          <a:xfrm>
            <a:off x="548640" y="4233672"/>
            <a:ext cx="11094415" cy="640080"/>
          </a:xfrm>
          <a:prstGeom prst="roundRect">
            <a:avLst>
              <a:gd name="adj" fmla="val 18000"/>
            </a:avLst>
          </a:prstGeom>
          <a:solidFill>
            <a:srgbClr val="FAF4F2">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22" name="TextBox 21"/>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The reaction improved when the drug was stopped</a:t>
            </a:r>
          </a:p>
        </p:txBody>
      </p:sp>
      <p:sp>
        <p:nvSpPr>
          <p:cNvPr id="23" name="Rounded Rectangle 22"/>
          <p:cNvSpPr/>
          <p:nvPr/>
        </p:nvSpPr>
        <p:spPr>
          <a:xfrm>
            <a:off x="548640" y="5001768"/>
            <a:ext cx="11094415" cy="640080"/>
          </a:xfrm>
          <a:prstGeom prst="roundRect">
            <a:avLst>
              <a:gd name="adj" fmla="val 18000"/>
            </a:avLst>
          </a:prstGeom>
          <a:solidFill>
            <a:srgbClr val="FAF4F2">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5" name="TextBox 24"/>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There are no other causes that could explain it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A4472B"/>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08</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2F6F7A"/>
                </a:solidFill>
                <a:latin typeface="Calibri"/>
              </a:rPr>
              <a:t>SECTION 8  ·  QUESTION 5 OF 5  ·  ANSWER</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A4472B"/>
                </a:solidFill>
                <a:latin typeface="Cambria"/>
              </a:rPr>
              <a:t>Check your answer</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8  ·  ADR Causality and Management</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26 / 28</a:t>
            </a:r>
          </a:p>
        </p:txBody>
      </p:sp>
      <p:pic>
        <p:nvPicPr>
          <p:cNvPr id="10" name="Picture 9" descr="logo"/>
          <p:cNvPicPr>
            <a:picLocks noChangeAspect="1"/>
          </p:cNvPicPr>
          <p:nvPr/>
        </p:nvPicPr>
        <p:blipFill>
          <a:blip r:embed="rId3"/>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In the Naranjo algorithm, which answer adds +2 points?</a:t>
            </a:r>
          </a:p>
        </p:txBody>
      </p:sp>
      <p:sp>
        <p:nvSpPr>
          <p:cNvPr id="14" name="Rounded Rectangle 13"/>
          <p:cNvSpPr/>
          <p:nvPr/>
        </p:nvSpPr>
        <p:spPr>
          <a:xfrm>
            <a:off x="548640" y="2606040"/>
            <a:ext cx="11094415" cy="548640"/>
          </a:xfrm>
          <a:prstGeom prst="roundRect">
            <a:avLst>
              <a:gd name="adj" fmla="val 18000"/>
            </a:avLst>
          </a:prstGeom>
          <a:solidFill>
            <a:srgbClr val="F5F4F4">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13232" y="2670048"/>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35852"/>
                </a:solidFill>
                <a:latin typeface="Calibri"/>
              </a:rPr>
              <a:t>A</a:t>
            </a:r>
          </a:p>
        </p:txBody>
      </p:sp>
      <p:sp>
        <p:nvSpPr>
          <p:cNvPr id="16" name="TextBox 15"/>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635852"/>
                </a:solidFill>
                <a:latin typeface="Calibri"/>
              </a:rPr>
              <a:t>The patient had a similar reaction before</a:t>
            </a:r>
          </a:p>
        </p:txBody>
      </p:sp>
      <p:sp>
        <p:nvSpPr>
          <p:cNvPr id="17" name="Rounded Rectangle 16"/>
          <p:cNvSpPr/>
          <p:nvPr/>
        </p:nvSpPr>
        <p:spPr>
          <a:xfrm>
            <a:off x="548640" y="3282696"/>
            <a:ext cx="11094415" cy="548640"/>
          </a:xfrm>
          <a:prstGeom prst="roundRect">
            <a:avLst>
              <a:gd name="adj" fmla="val 18000"/>
            </a:avLst>
          </a:prstGeom>
          <a:solidFill>
            <a:srgbClr val="F5F4F4">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13232" y="3346703"/>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35852"/>
                </a:solidFill>
                <a:latin typeface="Calibri"/>
              </a:rPr>
              <a:t>B</a:t>
            </a:r>
          </a:p>
        </p:txBody>
      </p:sp>
      <p:sp>
        <p:nvSpPr>
          <p:cNvPr id="19" name="TextBox 18"/>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635852"/>
                </a:solidFill>
                <a:latin typeface="Calibri"/>
              </a:rPr>
              <a:t>The drug was found at toxic levels</a:t>
            </a:r>
          </a:p>
        </p:txBody>
      </p:sp>
      <p:sp>
        <p:nvSpPr>
          <p:cNvPr id="20" name="Rounded Rectangle 19"/>
          <p:cNvSpPr/>
          <p:nvPr/>
        </p:nvSpPr>
        <p:spPr>
          <a:xfrm>
            <a:off x="548640" y="3959352"/>
            <a:ext cx="11094415" cy="548640"/>
          </a:xfrm>
          <a:prstGeom prst="roundRect">
            <a:avLst>
              <a:gd name="adj" fmla="val 18000"/>
            </a:avLst>
          </a:prstGeom>
          <a:solidFill>
            <a:srgbClr val="F5F4F4">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13232" y="4023360"/>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35852"/>
                </a:solidFill>
                <a:latin typeface="Calibri"/>
              </a:rPr>
              <a:t>C</a:t>
            </a:r>
          </a:p>
        </p:txBody>
      </p:sp>
      <p:sp>
        <p:nvSpPr>
          <p:cNvPr id="22" name="TextBox 21"/>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635852"/>
                </a:solidFill>
                <a:latin typeface="Calibri"/>
              </a:rPr>
              <a:t>The reaction improved when the drug was stopped</a:t>
            </a:r>
          </a:p>
        </p:txBody>
      </p:sp>
      <p:sp>
        <p:nvSpPr>
          <p:cNvPr id="23" name="Rounded Rectangle 22"/>
          <p:cNvSpPr/>
          <p:nvPr/>
        </p:nvSpPr>
        <p:spPr>
          <a:xfrm>
            <a:off x="548640" y="4636008"/>
            <a:ext cx="11094415" cy="548640"/>
          </a:xfrm>
          <a:prstGeom prst="roundRect">
            <a:avLst>
              <a:gd name="adj" fmla="val 18000"/>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13232" y="4700016"/>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D</a:t>
            </a:r>
          </a:p>
        </p:txBody>
      </p:sp>
      <p:sp>
        <p:nvSpPr>
          <p:cNvPr id="25" name="TextBox 24"/>
          <p:cNvSpPr txBox="1"/>
          <p:nvPr/>
        </p:nvSpPr>
        <p:spPr>
          <a:xfrm>
            <a:off x="1371600" y="4636008"/>
            <a:ext cx="10088575" cy="548640"/>
          </a:xfrm>
          <a:prstGeom prst="rect">
            <a:avLst/>
          </a:prstGeom>
          <a:noFill/>
        </p:spPr>
        <p:txBody>
          <a:bodyPr wrap="square" anchor="ctr" lIns="0" rIns="0" tIns="0" bIns="0">
            <a:spAutoFit/>
          </a:bodyPr>
          <a:lstStyle/>
          <a:p>
            <a:r>
              <a:rPr sz="1900" i="0" b="1">
                <a:solidFill>
                  <a:srgbClr val="FFFFFF"/>
                </a:solidFill>
                <a:latin typeface="Calibri"/>
              </a:rPr>
              <a:t>There are no other causes that could explain it</a:t>
            </a:r>
          </a:p>
        </p:txBody>
      </p:sp>
      <p:sp>
        <p:nvSpPr>
          <p:cNvPr id="26" name="TextBox 25"/>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"No" to other causes scores +2. A, B and C each score +1.</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10" name="Rounded Rectangle 9"/>
          <p:cNvSpPr/>
          <p:nvPr/>
        </p:nvSpPr>
        <p:spPr>
          <a:xfrm>
            <a:off x="4251960" y="548640"/>
            <a:ext cx="7635240" cy="57150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572000" y="612647"/>
            <a:ext cx="6995159"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931920" cy="6858000"/>
          </a:xfrm>
          <a:prstGeom prst="rect">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88720"/>
            <a:ext cx="2926080" cy="2377440"/>
          </a:xfrm>
          <a:prstGeom prst="rect">
            <a:avLst/>
          </a:prstGeom>
          <a:noFill/>
        </p:spPr>
        <p:txBody>
          <a:bodyPr wrap="square" anchor="t" lIns="0" rIns="0" tIns="0" bIns="0">
            <a:spAutoFit/>
          </a:bodyPr>
          <a:lstStyle/>
          <a:p>
            <a:r>
              <a:rPr sz="13000" i="0" b="1">
                <a:solidFill>
                  <a:srgbClr val="F1E3DF"/>
                </a:solidFill>
                <a:latin typeface="Cambria"/>
              </a:rPr>
              <a:t>?</a:t>
            </a:r>
          </a:p>
        </p:txBody>
      </p:sp>
      <p:sp>
        <p:nvSpPr>
          <p:cNvPr id="5" name="TextBox 4"/>
          <p:cNvSpPr txBox="1"/>
          <p:nvPr/>
        </p:nvSpPr>
        <p:spPr>
          <a:xfrm>
            <a:off x="548640" y="3977639"/>
            <a:ext cx="3017520" cy="1280160"/>
          </a:xfrm>
          <a:prstGeom prst="rect">
            <a:avLst/>
          </a:prstGeom>
          <a:noFill/>
        </p:spPr>
        <p:txBody>
          <a:bodyPr wrap="square" anchor="t" lIns="0" rIns="0" tIns="0" bIns="0">
            <a:spAutoFit/>
          </a:bodyPr>
          <a:lstStyle/>
          <a:p>
            <a:r>
              <a:rPr sz="3000" i="0" b="1">
                <a:solidFill>
                  <a:srgbClr val="FFFFFF"/>
                </a:solidFill>
                <a:latin typeface="Cambria"/>
              </a:rPr>
              <a:t>Practice Case</a:t>
            </a:r>
          </a:p>
          <a:p>
            <a:r>
              <a:rPr sz="1400" i="0" b="1" spc="150">
                <a:solidFill>
                  <a:srgbClr val="F1E3DF"/>
                </a:solidFill>
                <a:latin typeface="Calibri"/>
              </a:rPr>
              <a:t>Section 8</a:t>
            </a:r>
          </a:p>
        </p:txBody>
      </p:sp>
      <p:sp>
        <p:nvSpPr>
          <p:cNvPr id="6" name="TextBox 5"/>
          <p:cNvSpPr txBox="1"/>
          <p:nvPr/>
        </p:nvSpPr>
        <p:spPr>
          <a:xfrm>
            <a:off x="4526280" y="822960"/>
            <a:ext cx="7132320" cy="5120640"/>
          </a:xfrm>
          <a:prstGeom prst="rect">
            <a:avLst/>
          </a:prstGeom>
          <a:noFill/>
        </p:spPr>
        <p:txBody>
          <a:bodyPr wrap="square" anchor="ctr" lIns="0" rIns="0" tIns="0" bIns="0">
            <a:spAutoFit/>
          </a:bodyPr>
          <a:lstStyle/>
          <a:p>
            <a:pPr>
              <a:spcBef>
                <a:spcPts val="0"/>
              </a:spcBef>
            </a:pPr>
            <a:r>
              <a:rPr sz="2200" i="0" b="0">
                <a:solidFill>
                  <a:srgbClr val="2B211C"/>
                </a:solidFill>
                <a:latin typeface="Calibri"/>
              </a:rPr>
              <a:t>A 70-year-old man on digoxin develops nausea and yellow vision a week after clarithromycin is added. His digoxin level is high. Both symptoms settle after digoxin is withheld. He has no other illness to explain them. (a) Score the reaction with Naranjo (state your answer to each relevant question). (b) What is the category? (c) List the management steps.</a:t>
            </a:r>
          </a:p>
        </p:txBody>
      </p:sp>
      <p:sp>
        <p:nvSpPr>
          <p:cNvPr id="7" name="TextBox 6"/>
          <p:cNvSpPr txBox="1"/>
          <p:nvPr/>
        </p:nvSpPr>
        <p:spPr>
          <a:xfrm>
            <a:off x="452628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ADR Causality and Management</a:t>
            </a:r>
          </a:p>
        </p:txBody>
      </p:sp>
      <p:sp>
        <p:nvSpPr>
          <p:cNvPr id="8" name="TextBox 7"/>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27 / 28</a:t>
            </a:r>
          </a:p>
        </p:txBody>
      </p:sp>
      <p:pic>
        <p:nvPicPr>
          <p:cNvPr id="9" name="Picture 8" descr="logo"/>
          <p:cNvPicPr>
            <a:picLocks noChangeAspect="1"/>
          </p:cNvPicPr>
          <p:nvPr/>
        </p:nvPicPr>
        <p:blipFill>
          <a:blip r:embed="rId4"/>
          <a:stretch>
            <a:fillRect/>
          </a:stretch>
        </p:blipFill>
        <p:spPr>
          <a:xfrm>
            <a:off x="11247120" y="6309360"/>
            <a:ext cx="384048" cy="384048"/>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A4472B"/>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48640" y="502920"/>
            <a:ext cx="7315200" cy="365760"/>
          </a:xfrm>
          <a:prstGeom prst="rect">
            <a:avLst/>
          </a:prstGeom>
          <a:noFill/>
        </p:spPr>
        <p:txBody>
          <a:bodyPr wrap="square" anchor="t" lIns="0" rIns="0" tIns="0" bIns="0">
            <a:spAutoFit/>
          </a:bodyPr>
          <a:lstStyle/>
          <a:p>
            <a:r>
              <a:rPr sz="1300" i="0" b="1" spc="200">
                <a:solidFill>
                  <a:srgbClr val="F2E5E1"/>
                </a:solidFill>
                <a:latin typeface="Calibri"/>
              </a:rPr>
              <a:t>SECTION 8  ·  SUMMARY</a:t>
            </a:r>
          </a:p>
        </p:txBody>
      </p:sp>
      <p:sp>
        <p:nvSpPr>
          <p:cNvPr id="4" name="TextBox 3"/>
          <p:cNvSpPr txBox="1"/>
          <p:nvPr/>
        </p:nvSpPr>
        <p:spPr>
          <a:xfrm>
            <a:off x="548640" y="822960"/>
            <a:ext cx="9144000" cy="731520"/>
          </a:xfrm>
          <a:prstGeom prst="rect">
            <a:avLst/>
          </a:prstGeom>
          <a:noFill/>
        </p:spPr>
        <p:txBody>
          <a:bodyPr wrap="square" anchor="t" lIns="0" rIns="0" tIns="0" bIns="0">
            <a:spAutoFit/>
          </a:bodyPr>
          <a:lstStyle/>
          <a:p>
            <a:r>
              <a:rPr sz="3600" i="0" b="1">
                <a:solidFill>
                  <a:srgbClr val="FFFFFF"/>
                </a:solidFill>
                <a:latin typeface="Cambria"/>
              </a:rPr>
              <a:t>Key Takeaways</a:t>
            </a:r>
          </a:p>
        </p:txBody>
      </p:sp>
      <p:sp>
        <p:nvSpPr>
          <p:cNvPr id="5" name="Oval 4"/>
          <p:cNvSpPr/>
          <p:nvPr/>
        </p:nvSpPr>
        <p:spPr>
          <a:xfrm>
            <a:off x="548640" y="1847088"/>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1</a:t>
            </a:r>
          </a:p>
        </p:txBody>
      </p:sp>
      <p:sp>
        <p:nvSpPr>
          <p:cNvPr id="6" name="TextBox 5"/>
          <p:cNvSpPr txBox="1"/>
          <p:nvPr/>
        </p:nvSpPr>
        <p:spPr>
          <a:xfrm>
            <a:off x="1143000" y="1865376"/>
            <a:ext cx="10500055" cy="728853"/>
          </a:xfrm>
          <a:prstGeom prst="rect">
            <a:avLst/>
          </a:prstGeom>
          <a:noFill/>
        </p:spPr>
        <p:txBody>
          <a:bodyPr wrap="square" anchor="t" lIns="0" rIns="0" tIns="0" bIns="0">
            <a:spAutoFit/>
          </a:bodyPr>
          <a:lstStyle/>
          <a:p>
            <a:r>
              <a:rPr sz="2100" i="0" b="0">
                <a:solidFill>
                  <a:srgbClr val="FFFFFF"/>
                </a:solidFill>
                <a:latin typeface="Calibri"/>
              </a:rPr>
              <a:t>Causality rests on time, other causes, dechallenge and rechallenge.</a:t>
            </a:r>
          </a:p>
        </p:txBody>
      </p:sp>
      <p:sp>
        <p:nvSpPr>
          <p:cNvPr id="7" name="Oval 6"/>
          <p:cNvSpPr/>
          <p:nvPr/>
        </p:nvSpPr>
        <p:spPr>
          <a:xfrm>
            <a:off x="548640" y="2621661"/>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2</a:t>
            </a:r>
          </a:p>
        </p:txBody>
      </p:sp>
      <p:sp>
        <p:nvSpPr>
          <p:cNvPr id="8" name="TextBox 7"/>
          <p:cNvSpPr txBox="1"/>
          <p:nvPr/>
        </p:nvSpPr>
        <p:spPr>
          <a:xfrm>
            <a:off x="1143000" y="2639949"/>
            <a:ext cx="10500055" cy="728853"/>
          </a:xfrm>
          <a:prstGeom prst="rect">
            <a:avLst/>
          </a:prstGeom>
          <a:noFill/>
        </p:spPr>
        <p:txBody>
          <a:bodyPr wrap="square" anchor="t" lIns="0" rIns="0" tIns="0" bIns="0">
            <a:spAutoFit/>
          </a:bodyPr>
          <a:lstStyle/>
          <a:p>
            <a:r>
              <a:rPr sz="2100" i="0" b="0">
                <a:solidFill>
                  <a:srgbClr val="FFFFFF"/>
                </a:solidFill>
                <a:latin typeface="Calibri"/>
              </a:rPr>
              <a:t>WHO-UMC has six categories; Naranjo scores ten questions into four categories.</a:t>
            </a:r>
          </a:p>
        </p:txBody>
      </p:sp>
      <p:sp>
        <p:nvSpPr>
          <p:cNvPr id="9" name="Oval 8"/>
          <p:cNvSpPr/>
          <p:nvPr/>
        </p:nvSpPr>
        <p:spPr>
          <a:xfrm>
            <a:off x="548640" y="3396234"/>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3</a:t>
            </a:r>
          </a:p>
        </p:txBody>
      </p:sp>
      <p:sp>
        <p:nvSpPr>
          <p:cNvPr id="10" name="TextBox 9"/>
          <p:cNvSpPr txBox="1"/>
          <p:nvPr/>
        </p:nvSpPr>
        <p:spPr>
          <a:xfrm>
            <a:off x="1143000" y="3414522"/>
            <a:ext cx="10500055" cy="1062228"/>
          </a:xfrm>
          <a:prstGeom prst="rect">
            <a:avLst/>
          </a:prstGeom>
          <a:noFill/>
        </p:spPr>
        <p:txBody>
          <a:bodyPr wrap="square" anchor="t" lIns="0" rIns="0" tIns="0" bIns="0">
            <a:spAutoFit/>
          </a:bodyPr>
          <a:lstStyle/>
          <a:p>
            <a:r>
              <a:rPr sz="2100" i="0" b="0">
                <a:solidFill>
                  <a:srgbClr val="FFFFFF"/>
                </a:solidFill>
                <a:latin typeface="Calibri"/>
              </a:rPr>
              <a:t>Severity is intensity; seriousness is the outcome that drives regulatory reporting.</a:t>
            </a:r>
          </a:p>
        </p:txBody>
      </p:sp>
      <p:sp>
        <p:nvSpPr>
          <p:cNvPr id="11" name="Oval 10"/>
          <p:cNvSpPr/>
          <p:nvPr/>
        </p:nvSpPr>
        <p:spPr>
          <a:xfrm>
            <a:off x="548640" y="4504182"/>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4</a:t>
            </a:r>
          </a:p>
        </p:txBody>
      </p:sp>
      <p:sp>
        <p:nvSpPr>
          <p:cNvPr id="12" name="TextBox 11"/>
          <p:cNvSpPr txBox="1"/>
          <p:nvPr/>
        </p:nvSpPr>
        <p:spPr>
          <a:xfrm>
            <a:off x="1143000" y="4522470"/>
            <a:ext cx="10500055" cy="728853"/>
          </a:xfrm>
          <a:prstGeom prst="rect">
            <a:avLst/>
          </a:prstGeom>
          <a:noFill/>
        </p:spPr>
        <p:txBody>
          <a:bodyPr wrap="square" anchor="t" lIns="0" rIns="0" tIns="0" bIns="0">
            <a:spAutoFit/>
          </a:bodyPr>
          <a:lstStyle/>
          <a:p>
            <a:r>
              <a:rPr sz="2100" i="0" b="0">
                <a:solidFill>
                  <a:srgbClr val="FFFFFF"/>
                </a:solidFill>
                <a:latin typeface="Calibri"/>
              </a:rPr>
              <a:t>Always look after the patient first: stop, treat, monitor, escalate.</a:t>
            </a:r>
          </a:p>
        </p:txBody>
      </p:sp>
      <p:sp>
        <p:nvSpPr>
          <p:cNvPr id="13" name="Oval 12"/>
          <p:cNvSpPr/>
          <p:nvPr/>
        </p:nvSpPr>
        <p:spPr>
          <a:xfrm>
            <a:off x="548640" y="5278755"/>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5</a:t>
            </a:r>
          </a:p>
        </p:txBody>
      </p:sp>
      <p:sp>
        <p:nvSpPr>
          <p:cNvPr id="14" name="TextBox 13"/>
          <p:cNvSpPr txBox="1"/>
          <p:nvPr/>
        </p:nvSpPr>
        <p:spPr>
          <a:xfrm>
            <a:off x="1143000" y="5297043"/>
            <a:ext cx="10500055" cy="728853"/>
          </a:xfrm>
          <a:prstGeom prst="rect">
            <a:avLst/>
          </a:prstGeom>
          <a:noFill/>
        </p:spPr>
        <p:txBody>
          <a:bodyPr wrap="square" anchor="t" lIns="0" rIns="0" tIns="0" bIns="0">
            <a:spAutoFit/>
          </a:bodyPr>
          <a:lstStyle/>
          <a:p>
            <a:r>
              <a:rPr sz="2100" i="0" b="0">
                <a:solidFill>
                  <a:srgbClr val="FFFFFF"/>
                </a:solidFill>
                <a:latin typeface="Calibri"/>
              </a:rPr>
              <a:t>Then assess, record, report and prevent.</a:t>
            </a:r>
          </a:p>
        </p:txBody>
      </p:sp>
      <p:pic>
        <p:nvPicPr>
          <p:cNvPr id="15" name="Picture 14" descr="port-said-university.png"/>
          <p:cNvPicPr>
            <a:picLocks noChangeAspect="1"/>
          </p:cNvPicPr>
          <p:nvPr/>
        </p:nvPicPr>
        <p:blipFill>
          <a:blip r:embed="rId3"/>
          <a:stretch>
            <a:fillRect/>
          </a:stretch>
        </p:blipFill>
        <p:spPr>
          <a:xfrm>
            <a:off x="10378440" y="6144768"/>
            <a:ext cx="548640" cy="548640"/>
          </a:xfrm>
          <a:prstGeom prst="rect">
            <a:avLst/>
          </a:prstGeom>
        </p:spPr>
      </p:pic>
      <p:pic>
        <p:nvPicPr>
          <p:cNvPr id="16" name="Picture 15" descr="faculty-of-pharmacy.png"/>
          <p:cNvPicPr>
            <a:picLocks noChangeAspect="1"/>
          </p:cNvPicPr>
          <p:nvPr/>
        </p:nvPicPr>
        <p:blipFill>
          <a:blip r:embed="rId4"/>
          <a:stretch>
            <a:fillRect/>
          </a:stretch>
        </p:blipFill>
        <p:spPr>
          <a:xfrm>
            <a:off x="11036808" y="6144768"/>
            <a:ext cx="548640" cy="54864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