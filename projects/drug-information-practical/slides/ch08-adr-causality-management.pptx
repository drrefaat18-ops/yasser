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Causality is the likelihood that a medicine caused an event. Most ADRs cannot be proved, so we grade how likely the link is. Four questions do most of the work: Other clues are a known association (the ADR is already described), a dose-response relationship (worse with a higher dose), and objective evidence such as a drug level or a laboratory test. Rechallenge is strong evidence but is often unsafe. Never rechallenge on purpose after a serious reaction such as anaphylaxis.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Naranjo algorithm asks ten questions. Add the scores for the answers. Worked example. A man starts enalapril and, two weeks later, develops a dry cough. Scores: Q1 yes (+1); Q2 yes (+2); Q3 the cough stops after enalapril is stopped (+1); Q4 not rechallenged (0); Q5 no other cause (+2); Q6-Q10 not done or not known (0). Total 6 = probable.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words sound alike but mean different things. Severity describes the intensity of the reaction: Seriousness is a regulatory term based on the outcome. An ADR is serious if it: A severe headache is intense but usually not serious. Serious reactions must be reported quickly (Chapter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Good time link, positive dechallenge and no other cause: probable. A needs a clear case (often rechallenge); B would have other causes; D lacks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1 to 4 is possible. B is 5-8, C is 9 or more, D is 0 or 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Hospital admission makes an ADR serious. A, B and D may be intense but are not serious.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Patient care comes first in anaphylaxis. A, C and D come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"No" to other causes scores +2. A, B and C each score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Q1 known interaction/toxicity +1; Q2 after the drug +2; Q3 improved on withdrawal +1; Q5 no other cause +2; Q7 toxic level +1; others 0. Total 7. (b) Probable. (c) Withhold digoxin, check potassium, kidney function and ECG, monitor; stop or change clarithromycin; restart digoxin at a lower dose only if needed; record, report and warn about the interaction.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08</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8</a:t>
            </a:r>
          </a:p>
          <a:p>
            <a:pPr>
              <a:spcBef>
                <a:spcPts val="1400"/>
              </a:spcBef>
            </a:pPr>
            <a:r>
              <a:rPr sz="4400" i="0" b="1">
                <a:solidFill>
                  <a:srgbClr val="FFFFFF"/>
                </a:solidFill>
                <a:latin typeface="Cambria"/>
              </a:rPr>
              <a:t>ADR Causality and Management</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Assess whether a drug caused an event using the WHO-UMC categories.</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Score a suspected ADR with the Naranjo algorithm.</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Distinguish the severity of an ADR from its seriousness.</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Manage a suspected ADR step by step, starting with the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Causality: Did the Drug Do It?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Causality</a:t>
            </a:r>
            <a:r>
              <a:rPr sz="1700" i="0" b="0">
                <a:solidFill>
                  <a:srgbClr val="2B211C"/>
                </a:solidFill>
                <a:latin typeface="Calibri"/>
              </a:rPr>
              <a:t> is the likelihood that a medicine caused an event. Most ADRs cannot be proved, so we grade how likely the link is. Four questions do most of the work:</a:t>
            </a:r>
          </a:p>
          <a:p>
            <a:pPr>
              <a:spcAft>
                <a:spcPts val="800"/>
              </a:spcAft>
            </a:pPr>
            <a:r>
              <a:rPr sz="1700" i="0" b="0">
                <a:solidFill>
                  <a:srgbClr val="2B211C"/>
                </a:solidFill>
                <a:latin typeface="Calibri"/>
              </a:rPr>
              <a:t>Other clues are a known association (the ADR is already described), a dose-response relationship (worse with a higher dose), and objective evidence such as a drug level or a laboratory test.</a:t>
            </a:r>
          </a:p>
          <a:p>
            <a:pPr>
              <a:spcAft>
                <a:spcPts val="800"/>
              </a:spcAft>
            </a:pPr>
            <a:r>
              <a:rPr sz="1700" i="0" b="0">
                <a:solidFill>
                  <a:srgbClr val="2B211C"/>
                </a:solidFill>
                <a:latin typeface="Calibri"/>
              </a:rPr>
              <a:t>Rechallenge is strong evidence but is often unsafe. Never rechallenge on purpose after a serious reaction such as anaphylaxis.</a:t>
            </a:r>
          </a:p>
        </p:txBody>
      </p:sp>
      <p:sp>
        <p:nvSpPr>
          <p:cNvPr id="9" name="Oval 8"/>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5989320" y="1591056"/>
            <a:ext cx="5653735" cy="1108710"/>
          </a:xfrm>
          <a:prstGeom prst="rect">
            <a:avLst/>
          </a:prstGeom>
          <a:noFill/>
        </p:spPr>
        <p:txBody>
          <a:bodyPr wrap="square" anchor="t" lIns="0" rIns="0" tIns="0" bIns="0">
            <a:spAutoFit/>
          </a:bodyPr>
          <a:lstStyle/>
          <a:p>
            <a:r>
              <a:rPr sz="2100" i="0" b="1">
                <a:solidFill>
                  <a:srgbClr val="2B211C"/>
                </a:solidFill>
                <a:latin typeface="Calibri"/>
              </a:rPr>
              <a:t>Time:</a:t>
            </a:r>
            <a:r>
              <a:rPr sz="2100" i="0" b="0">
                <a:solidFill>
                  <a:srgbClr val="2B211C"/>
                </a:solidFill>
                <a:latin typeface="Calibri"/>
              </a:rPr>
              <a:t> did the event start after the drug, in a plausible time?</a:t>
            </a:r>
          </a:p>
        </p:txBody>
      </p:sp>
      <p:sp>
        <p:nvSpPr>
          <p:cNvPr id="11" name="Oval 10"/>
          <p:cNvSpPr/>
          <p:nvPr/>
        </p:nvSpPr>
        <p:spPr>
          <a:xfrm>
            <a:off x="5394959"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5989320" y="2745486"/>
            <a:ext cx="5653735" cy="1108710"/>
          </a:xfrm>
          <a:prstGeom prst="rect">
            <a:avLst/>
          </a:prstGeom>
          <a:noFill/>
        </p:spPr>
        <p:txBody>
          <a:bodyPr wrap="square" anchor="t" lIns="0" rIns="0" tIns="0" bIns="0">
            <a:spAutoFit/>
          </a:bodyPr>
          <a:lstStyle/>
          <a:p>
            <a:r>
              <a:rPr sz="2100" i="0" b="1">
                <a:solidFill>
                  <a:srgbClr val="2B211C"/>
                </a:solidFill>
                <a:latin typeface="Calibri"/>
              </a:rPr>
              <a:t>Other causes:</a:t>
            </a:r>
            <a:r>
              <a:rPr sz="2100" i="0" b="0">
                <a:solidFill>
                  <a:srgbClr val="2B211C"/>
                </a:solidFill>
                <a:latin typeface="Calibri"/>
              </a:rPr>
              <a:t> could the disease or another drug explain it?</a:t>
            </a:r>
          </a:p>
        </p:txBody>
      </p:sp>
      <p:sp>
        <p:nvSpPr>
          <p:cNvPr id="13" name="Oval 12"/>
          <p:cNvSpPr/>
          <p:nvPr/>
        </p:nvSpPr>
        <p:spPr>
          <a:xfrm>
            <a:off x="5394959"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5989320" y="3899915"/>
            <a:ext cx="5653735" cy="1108710"/>
          </a:xfrm>
          <a:prstGeom prst="rect">
            <a:avLst/>
          </a:prstGeom>
          <a:noFill/>
        </p:spPr>
        <p:txBody>
          <a:bodyPr wrap="square" anchor="t" lIns="0" rIns="0" tIns="0" bIns="0">
            <a:spAutoFit/>
          </a:bodyPr>
          <a:lstStyle/>
          <a:p>
            <a:r>
              <a:rPr sz="2100" i="0" b="1">
                <a:solidFill>
                  <a:srgbClr val="2B211C"/>
                </a:solidFill>
                <a:latin typeface="Calibri"/>
              </a:rPr>
              <a:t>Dechallenge:</a:t>
            </a:r>
            <a:r>
              <a:rPr sz="2100" i="0" b="0">
                <a:solidFill>
                  <a:srgbClr val="2B211C"/>
                </a:solidFill>
                <a:latin typeface="Calibri"/>
              </a:rPr>
              <a:t> did the event improve when the drug was stopped or the dose lowered?</a:t>
            </a:r>
          </a:p>
        </p:txBody>
      </p:sp>
      <p:sp>
        <p:nvSpPr>
          <p:cNvPr id="15" name="Oval 14"/>
          <p:cNvSpPr/>
          <p:nvPr/>
        </p:nvSpPr>
        <p:spPr>
          <a:xfrm>
            <a:off x="5394959"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5989320" y="5054346"/>
            <a:ext cx="5653735" cy="1108710"/>
          </a:xfrm>
          <a:prstGeom prst="rect">
            <a:avLst/>
          </a:prstGeom>
          <a:noFill/>
        </p:spPr>
        <p:txBody>
          <a:bodyPr wrap="square" anchor="t" lIns="0" rIns="0" tIns="0" bIns="0">
            <a:spAutoFit/>
          </a:bodyPr>
          <a:lstStyle/>
          <a:p>
            <a:r>
              <a:rPr sz="2100" i="0" b="1">
                <a:solidFill>
                  <a:srgbClr val="2B211C"/>
                </a:solidFill>
                <a:latin typeface="Calibri"/>
              </a:rPr>
              <a:t>Rechallenge:</a:t>
            </a:r>
            <a:r>
              <a:rPr sz="2100" i="0" b="0">
                <a:solidFill>
                  <a:srgbClr val="2B211C"/>
                </a:solidFill>
                <a:latin typeface="Calibri"/>
              </a:rPr>
              <a:t> did it come back when the drug was given again?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Three Ways to Assess Causality</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3025749"/>
                <a:gridCol w="3678362"/>
                <a:gridCol w="2195151"/>
                <a:gridCol w="2195151"/>
              </a:tblGrid>
              <a:tr h="640080">
                <a:tc>
                  <a:txBody>
                    <a:bodyPr/>
                    <a:lstStyle/>
                    <a:p>
                      <a:r>
                        <a:rPr sz="1700" i="0" b="1">
                          <a:solidFill>
                            <a:srgbClr val="FFFFFF"/>
                          </a:solidFill>
                          <a:latin typeface="Calibri"/>
                        </a:rPr>
                        <a:t>Method</a:t>
                      </a:r>
                    </a:p>
                  </a:txBody>
                  <a:tcPr marL="109728" marR="109728" marT="45720" marB="45720" anchor="ctr">
                    <a:solidFill>
                      <a:srgbClr val="A4472B"/>
                    </a:solidFill>
                  </a:tcPr>
                </a:tc>
                <a:tc>
                  <a:txBody>
                    <a:bodyPr/>
                    <a:lstStyle/>
                    <a:p>
                      <a:r>
                        <a:rPr sz="1700" i="0" b="1">
                          <a:solidFill>
                            <a:srgbClr val="FFFFFF"/>
                          </a:solidFill>
                          <a:latin typeface="Calibri"/>
                        </a:rPr>
                        <a:t>How it works</a:t>
                      </a:r>
                    </a:p>
                  </a:txBody>
                  <a:tcPr marL="109728" marR="109728" marT="45720" marB="45720" anchor="ctr">
                    <a:solidFill>
                      <a:srgbClr val="A4472B"/>
                    </a:solidFill>
                  </a:tcPr>
                </a:tc>
                <a:tc>
                  <a:txBody>
                    <a:bodyPr/>
                    <a:lstStyle/>
                    <a:p>
                      <a:r>
                        <a:rPr sz="1700" i="0" b="1">
                          <a:solidFill>
                            <a:srgbClr val="FFFFFF"/>
                          </a:solidFill>
                          <a:latin typeface="Calibri"/>
                        </a:rPr>
                        <a:t>Strength</a:t>
                      </a:r>
                    </a:p>
                  </a:txBody>
                  <a:tcPr marL="109728" marR="109728" marT="45720" marB="45720" anchor="ctr">
                    <a:solidFill>
                      <a:srgbClr val="A4472B"/>
                    </a:solidFill>
                  </a:tcPr>
                </a:tc>
                <a:tc>
                  <a:txBody>
                    <a:bodyPr/>
                    <a:lstStyle/>
                    <a:p>
                      <a:r>
                        <a:rPr sz="1700" i="0" b="1">
                          <a:solidFill>
                            <a:srgbClr val="FFFFFF"/>
                          </a:solidFill>
                          <a:latin typeface="Calibri"/>
                        </a:rPr>
                        <a:t>Weakness</a:t>
                      </a:r>
                    </a:p>
                  </a:txBody>
                  <a:tcPr marL="109728" marR="109728" marT="45720" marB="45720" anchor="ctr">
                    <a:solidFill>
                      <a:srgbClr val="A4472B"/>
                    </a:solidFill>
                  </a:tcPr>
                </a:tc>
              </a:tr>
              <a:tr h="640080">
                <a:tc>
                  <a:txBody>
                    <a:bodyPr/>
                    <a:lstStyle/>
                    <a:p>
                      <a:r>
                        <a:rPr sz="1800" i="0" b="1">
                          <a:solidFill>
                            <a:srgbClr val="2B211C"/>
                          </a:solidFill>
                          <a:latin typeface="Calibri"/>
                        </a:rPr>
                        <a:t>Expert judgement (global introspection)</a:t>
                      </a:r>
                    </a:p>
                  </a:txBody>
                  <a:tcPr marL="109728" marR="109728" marT="45720" marB="45720" anchor="ctr">
                    <a:solidFill>
                      <a:srgbClr val="FFFFFF"/>
                    </a:solidFill>
                  </a:tcPr>
                </a:tc>
                <a:tc>
                  <a:txBody>
                    <a:bodyPr/>
                    <a:lstStyle/>
                    <a:p>
                      <a:r>
                        <a:rPr sz="1800" i="0" b="0">
                          <a:solidFill>
                            <a:srgbClr val="2B211C"/>
                          </a:solidFill>
                          <a:latin typeface="Calibri"/>
                        </a:rPr>
                        <a:t>An experienced clinician decides, without a fixed tool</a:t>
                      </a:r>
                    </a:p>
                  </a:txBody>
                  <a:tcPr marL="109728" marR="109728" marT="45720" marB="45720" anchor="ctr">
                    <a:solidFill>
                      <a:srgbClr val="FFFFFF"/>
                    </a:solidFill>
                  </a:tcPr>
                </a:tc>
                <a:tc>
                  <a:txBody>
                    <a:bodyPr/>
                    <a:lstStyle/>
                    <a:p>
                      <a:r>
                        <a:rPr sz="1800" i="0" b="0">
                          <a:solidFill>
                            <a:srgbClr val="2B211C"/>
                          </a:solidFill>
                          <a:latin typeface="Calibri"/>
                        </a:rPr>
                        <a:t>Fast; uses clinical knowledge</a:t>
                      </a:r>
                    </a:p>
                  </a:txBody>
                  <a:tcPr marL="109728" marR="109728" marT="45720" marB="45720" anchor="ctr">
                    <a:solidFill>
                      <a:srgbClr val="FFFFFF"/>
                    </a:solidFill>
                  </a:tcPr>
                </a:tc>
                <a:tc>
                  <a:txBody>
                    <a:bodyPr/>
                    <a:lstStyle/>
                    <a:p>
                      <a:r>
                        <a:rPr sz="1800" i="0" b="0">
                          <a:solidFill>
                            <a:srgbClr val="2B211C"/>
                          </a:solidFill>
                          <a:latin typeface="Calibri"/>
                        </a:rPr>
                        <a:t>Different experts disagree</a:t>
                      </a:r>
                    </a:p>
                  </a:txBody>
                  <a:tcPr marL="109728" marR="109728" marT="45720" marB="45720" anchor="ctr">
                    <a:solidFill>
                      <a:srgbClr val="FFFFFF"/>
                    </a:solidFill>
                  </a:tcPr>
                </a:tc>
              </a:tr>
              <a:tr h="640080">
                <a:tc>
                  <a:txBody>
                    <a:bodyPr/>
                    <a:lstStyle/>
                    <a:p>
                      <a:r>
                        <a:rPr sz="1800" i="0" b="1">
                          <a:solidFill>
                            <a:srgbClr val="2B211C"/>
                          </a:solidFill>
                          <a:latin typeface="Calibri"/>
                        </a:rPr>
                        <a:t>Algorithm</a:t>
                      </a:r>
                    </a:p>
                  </a:txBody>
                  <a:tcPr marL="109728" marR="109728" marT="45720" marB="45720" anchor="ctr">
                    <a:solidFill>
                      <a:srgbClr val="FAF4F2"/>
                    </a:solidFill>
                  </a:tcPr>
                </a:tc>
                <a:tc>
                  <a:txBody>
                    <a:bodyPr/>
                    <a:lstStyle/>
                    <a:p>
                      <a:r>
                        <a:rPr sz="1800" i="0" b="0">
                          <a:solidFill>
                            <a:srgbClr val="2B211C"/>
                          </a:solidFill>
                          <a:latin typeface="Calibri"/>
                        </a:rPr>
                        <a:t>Fixed questions with scores (for example Naranjo)</a:t>
                      </a:r>
                    </a:p>
                  </a:txBody>
                  <a:tcPr marL="109728" marR="109728" marT="45720" marB="45720" anchor="ctr">
                    <a:solidFill>
                      <a:srgbClr val="FAF4F2"/>
                    </a:solidFill>
                  </a:tcPr>
                </a:tc>
                <a:tc>
                  <a:txBody>
                    <a:bodyPr/>
                    <a:lstStyle/>
                    <a:p>
                      <a:r>
                        <a:rPr sz="1800" i="0" b="0">
                          <a:solidFill>
                            <a:srgbClr val="2B211C"/>
                          </a:solidFill>
                          <a:latin typeface="Calibri"/>
                        </a:rPr>
                        <a:t>Reproducible; easy to teach</a:t>
                      </a:r>
                    </a:p>
                  </a:txBody>
                  <a:tcPr marL="109728" marR="109728" marT="45720" marB="45720" anchor="ctr">
                    <a:solidFill>
                      <a:srgbClr val="FAF4F2"/>
                    </a:solidFill>
                  </a:tcPr>
                </a:tc>
                <a:tc>
                  <a:txBody>
                    <a:bodyPr/>
                    <a:lstStyle/>
                    <a:p>
                      <a:r>
                        <a:rPr sz="1800" i="0" b="0">
                          <a:solidFill>
                            <a:srgbClr val="2B211C"/>
                          </a:solidFill>
                          <a:latin typeface="Calibri"/>
                        </a:rPr>
                        <a:t>Rigid; can miss context</a:t>
                      </a:r>
                    </a:p>
                  </a:txBody>
                  <a:tcPr marL="109728" marR="109728" marT="45720" marB="45720" anchor="ctr">
                    <a:solidFill>
                      <a:srgbClr val="FAF4F2"/>
                    </a:solidFill>
                  </a:tcPr>
                </a:tc>
              </a:tr>
              <a:tr h="640080">
                <a:tc>
                  <a:txBody>
                    <a:bodyPr/>
                    <a:lstStyle/>
                    <a:p>
                      <a:r>
                        <a:rPr sz="1800" i="0" b="1">
                          <a:solidFill>
                            <a:srgbClr val="2B211C"/>
                          </a:solidFill>
                          <a:latin typeface="Calibri"/>
                        </a:rPr>
                        <a:t>Probabilistic (Bayesian) methods</a:t>
                      </a:r>
                    </a:p>
                  </a:txBody>
                  <a:tcPr marL="109728" marR="109728" marT="45720" marB="45720" anchor="ctr">
                    <a:solidFill>
                      <a:srgbClr val="FFFFFF"/>
                    </a:solidFill>
                  </a:tcPr>
                </a:tc>
                <a:tc>
                  <a:txBody>
                    <a:bodyPr/>
                    <a:lstStyle/>
                    <a:p>
                      <a:r>
                        <a:rPr sz="1800" i="0" b="0">
                          <a:solidFill>
                            <a:srgbClr val="2B211C"/>
                          </a:solidFill>
                          <a:latin typeface="Calibri"/>
                        </a:rPr>
                        <a:t>Statistics combine prior knowledge with case details</a:t>
                      </a:r>
                    </a:p>
                  </a:txBody>
                  <a:tcPr marL="109728" marR="109728" marT="45720" marB="45720" anchor="ctr">
                    <a:solidFill>
                      <a:srgbClr val="FFFFFF"/>
                    </a:solidFill>
                  </a:tcPr>
                </a:tc>
                <a:tc>
                  <a:txBody>
                    <a:bodyPr/>
                    <a:lstStyle/>
                    <a:p>
                      <a:r>
                        <a:rPr sz="1800" i="0" b="0">
                          <a:solidFill>
                            <a:srgbClr val="2B211C"/>
                          </a:solidFill>
                          <a:latin typeface="Calibri"/>
                        </a:rPr>
                        <a:t>Most precise</a:t>
                      </a:r>
                    </a:p>
                  </a:txBody>
                  <a:tcPr marL="109728" marR="109728" marT="45720" marB="45720" anchor="ctr">
                    <a:solidFill>
                      <a:srgbClr val="FFFFFF"/>
                    </a:solidFill>
                  </a:tcPr>
                </a:tc>
                <a:tc>
                  <a:txBody>
                    <a:bodyPr/>
                    <a:lstStyle/>
                    <a:p>
                      <a:r>
                        <a:rPr sz="1800" i="0" b="0">
                          <a:solidFill>
                            <a:srgbClr val="2B211C"/>
                          </a:solidFill>
                          <a:latin typeface="Calibri"/>
                        </a:rPr>
                        <a:t>Complex; used by experts only</a:t>
                      </a:r>
                    </a:p>
                  </a:txBody>
                  <a:tcPr marL="109728" marR="109728" marT="45720" marB="4572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WHO-UMC Categories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150958"/>
                <a:gridCol w="3849082"/>
                <a:gridCol w="2037749"/>
                <a:gridCol w="1528312"/>
                <a:gridCol w="1528312"/>
              </a:tblGrid>
              <a:tr h="640080">
                <a:tc>
                  <a:txBody>
                    <a:bodyPr/>
                    <a:lstStyle/>
                    <a:p>
                      <a:r>
                        <a:rPr sz="1500" i="0" b="1">
                          <a:solidFill>
                            <a:srgbClr val="FFFFFF"/>
                          </a:solidFill>
                          <a:latin typeface="Calibri"/>
                        </a:rPr>
                        <a:t>Category</a:t>
                      </a:r>
                    </a:p>
                  </a:txBody>
                  <a:tcPr marL="109728" marR="109728" marT="45720" marB="45720" anchor="ctr">
                    <a:solidFill>
                      <a:srgbClr val="A4472B"/>
                    </a:solidFill>
                  </a:tcPr>
                </a:tc>
                <a:tc>
                  <a:txBody>
                    <a:bodyPr/>
                    <a:lstStyle/>
                    <a:p>
                      <a:r>
                        <a:rPr sz="1500" i="0" b="1">
                          <a:solidFill>
                            <a:srgbClr val="FFFFFF"/>
                          </a:solidFill>
                          <a:latin typeface="Calibri"/>
                        </a:rPr>
                        <a:t>Time link</a:t>
                      </a:r>
                    </a:p>
                  </a:txBody>
                  <a:tcPr marL="109728" marR="109728" marT="45720" marB="45720" anchor="ctr">
                    <a:solidFill>
                      <a:srgbClr val="A4472B"/>
                    </a:solidFill>
                  </a:tcPr>
                </a:tc>
                <a:tc>
                  <a:txBody>
                    <a:bodyPr/>
                    <a:lstStyle/>
                    <a:p>
                      <a:r>
                        <a:rPr sz="1500" i="0" b="1">
                          <a:solidFill>
                            <a:srgbClr val="FFFFFF"/>
                          </a:solidFill>
                          <a:latin typeface="Calibri"/>
                        </a:rPr>
                        <a:t>Other causes</a:t>
                      </a:r>
                    </a:p>
                  </a:txBody>
                  <a:tcPr marL="109728" marR="109728" marT="45720" marB="45720" anchor="ctr">
                    <a:solidFill>
                      <a:srgbClr val="A4472B"/>
                    </a:solidFill>
                  </a:tcPr>
                </a:tc>
                <a:tc>
                  <a:txBody>
                    <a:bodyPr/>
                    <a:lstStyle/>
                    <a:p>
                      <a:r>
                        <a:rPr sz="1500" i="0" b="1">
                          <a:solidFill>
                            <a:srgbClr val="FFFFFF"/>
                          </a:solidFill>
                          <a:latin typeface="Calibri"/>
                        </a:rPr>
                        <a:t>Dechallenge</a:t>
                      </a:r>
                    </a:p>
                  </a:txBody>
                  <a:tcPr marL="109728" marR="109728" marT="45720" marB="45720" anchor="ctr">
                    <a:solidFill>
                      <a:srgbClr val="A4472B"/>
                    </a:solidFill>
                  </a:tcPr>
                </a:tc>
                <a:tc>
                  <a:txBody>
                    <a:bodyPr/>
                    <a:lstStyle/>
                    <a:p>
                      <a:r>
                        <a:rPr sz="1500" i="0" b="1">
                          <a:solidFill>
                            <a:srgbClr val="FFFFFF"/>
                          </a:solidFill>
                          <a:latin typeface="Calibri"/>
                        </a:rPr>
                        <a:t>Rechallenge</a:t>
                      </a:r>
                    </a:p>
                  </a:txBody>
                  <a:tcPr marL="109728" marR="109728" marT="45720" marB="45720" anchor="ctr">
                    <a:solidFill>
                      <a:srgbClr val="A4472B"/>
                    </a:solidFill>
                  </a:tcPr>
                </a:tc>
              </a:tr>
              <a:tr h="640080">
                <a:tc>
                  <a:txBody>
                    <a:bodyPr/>
                    <a:lstStyle/>
                    <a:p>
                      <a:r>
                        <a:rPr sz="1600" i="0" b="1">
                          <a:solidFill>
                            <a:srgbClr val="2B211C"/>
                          </a:solidFill>
                          <a:latin typeface="Calibri"/>
                        </a:rPr>
                        <a:t>Certain</a:t>
                      </a:r>
                    </a:p>
                  </a:txBody>
                  <a:tcPr marL="109728" marR="109728" marT="45720" marB="45720" anchor="ctr">
                    <a:solidFill>
                      <a:srgbClr val="FFFFFF"/>
                    </a:solidFill>
                  </a:tcPr>
                </a:tc>
                <a:tc>
                  <a:txBody>
                    <a:bodyPr/>
                    <a:lstStyle/>
                    <a:p>
                      <a:r>
                        <a:rPr sz="1600" i="0" b="0">
                          <a:solidFill>
                            <a:srgbClr val="2B211C"/>
                          </a:solidFill>
                          <a:latin typeface="Calibri"/>
                        </a:rPr>
                        <a:t>Plausible</a:t>
                      </a:r>
                    </a:p>
                  </a:txBody>
                  <a:tcPr marL="109728" marR="109728" marT="45720" marB="45720" anchor="ctr">
                    <a:solidFill>
                      <a:srgbClr val="FFFFFF"/>
                    </a:solidFill>
                  </a:tcPr>
                </a:tc>
                <a:tc>
                  <a:txBody>
                    <a:bodyPr/>
                    <a:lstStyle/>
                    <a:p>
                      <a:r>
                        <a:rPr sz="1600" i="0" b="0">
                          <a:solidFill>
                            <a:srgbClr val="2B211C"/>
                          </a:solidFill>
                          <a:latin typeface="Calibri"/>
                        </a:rPr>
                        <a:t>Ruled out</a:t>
                      </a:r>
                    </a:p>
                  </a:txBody>
                  <a:tcPr marL="109728" marR="109728" marT="45720" marB="45720" anchor="ctr">
                    <a:solidFill>
                      <a:srgbClr val="FFFFFF"/>
                    </a:solidFill>
                  </a:tcPr>
                </a:tc>
                <a:tc>
                  <a:txBody>
                    <a:bodyPr/>
                    <a:lstStyle/>
                    <a:p>
                      <a:r>
                        <a:rPr sz="1600" i="0" b="0">
                          <a:solidFill>
                            <a:srgbClr val="2B211C"/>
                          </a:solidFill>
                          <a:latin typeface="Calibri"/>
                        </a:rPr>
                        <a:t>Positive</a:t>
                      </a:r>
                    </a:p>
                  </a:txBody>
                  <a:tcPr marL="109728" marR="109728" marT="45720" marB="45720" anchor="ctr">
                    <a:solidFill>
                      <a:srgbClr val="FFFFFF"/>
                    </a:solidFill>
                  </a:tcPr>
                </a:tc>
                <a:tc>
                  <a:txBody>
                    <a:bodyPr/>
                    <a:lstStyle/>
                    <a:p>
                      <a:r>
                        <a:rPr sz="1600" i="0" b="0">
                          <a:solidFill>
                            <a:srgbClr val="2B211C"/>
                          </a:solidFill>
                          <a:latin typeface="Calibri"/>
                        </a:rPr>
                        <a:t>Positive, if needed</a:t>
                      </a:r>
                    </a:p>
                  </a:txBody>
                  <a:tcPr marL="109728" marR="109728" marT="45720" marB="45720" anchor="ctr">
                    <a:solidFill>
                      <a:srgbClr val="FFFFFF"/>
                    </a:solidFill>
                  </a:tcPr>
                </a:tc>
              </a:tr>
              <a:tr h="640080">
                <a:tc>
                  <a:txBody>
                    <a:bodyPr/>
                    <a:lstStyle/>
                    <a:p>
                      <a:r>
                        <a:rPr sz="1600" i="0" b="1">
                          <a:solidFill>
                            <a:srgbClr val="2B211C"/>
                          </a:solidFill>
                          <a:latin typeface="Calibri"/>
                        </a:rPr>
                        <a:t>Probable / likely</a:t>
                      </a:r>
                    </a:p>
                  </a:txBody>
                  <a:tcPr marL="109728" marR="109728" marT="45720" marB="45720" anchor="ctr">
                    <a:solidFill>
                      <a:srgbClr val="FAF4F2"/>
                    </a:solidFill>
                  </a:tcPr>
                </a:tc>
                <a:tc>
                  <a:txBody>
                    <a:bodyPr/>
                    <a:lstStyle/>
                    <a:p>
                      <a:r>
                        <a:rPr sz="1600" i="0" b="0">
                          <a:solidFill>
                            <a:srgbClr val="2B211C"/>
                          </a:solidFill>
                          <a:latin typeface="Calibri"/>
                        </a:rPr>
                        <a:t>Reasonable</a:t>
                      </a:r>
                    </a:p>
                  </a:txBody>
                  <a:tcPr marL="109728" marR="109728" marT="45720" marB="45720" anchor="ctr">
                    <a:solidFill>
                      <a:srgbClr val="FAF4F2"/>
                    </a:solidFill>
                  </a:tcPr>
                </a:tc>
                <a:tc>
                  <a:txBody>
                    <a:bodyPr/>
                    <a:lstStyle/>
                    <a:p>
                      <a:r>
                        <a:rPr sz="1600" i="0" b="0">
                          <a:solidFill>
                            <a:srgbClr val="2B211C"/>
                          </a:solidFill>
                          <a:latin typeface="Calibri"/>
                        </a:rPr>
                        <a:t>Unlikely</a:t>
                      </a:r>
                    </a:p>
                  </a:txBody>
                  <a:tcPr marL="109728" marR="109728" marT="45720" marB="45720" anchor="ctr">
                    <a:solidFill>
                      <a:srgbClr val="FAF4F2"/>
                    </a:solidFill>
                  </a:tcPr>
                </a:tc>
                <a:tc>
                  <a:txBody>
                    <a:bodyPr/>
                    <a:lstStyle/>
                    <a:p>
                      <a:r>
                        <a:rPr sz="1600" i="0" b="0">
                          <a:solidFill>
                            <a:srgbClr val="2B211C"/>
                          </a:solidFill>
                          <a:latin typeface="Calibri"/>
                        </a:rPr>
                        <a:t>Positive</a:t>
                      </a:r>
                    </a:p>
                  </a:txBody>
                  <a:tcPr marL="109728" marR="109728" marT="45720" marB="45720" anchor="ctr">
                    <a:solidFill>
                      <a:srgbClr val="FAF4F2"/>
                    </a:solidFill>
                  </a:tcPr>
                </a:tc>
                <a:tc>
                  <a:txBody>
                    <a:bodyPr/>
                    <a:lstStyle/>
                    <a:p>
                      <a:r>
                        <a:rPr sz="1600" i="0" b="0">
                          <a:solidFill>
                            <a:srgbClr val="2B211C"/>
                          </a:solidFill>
                          <a:latin typeface="Calibri"/>
                        </a:rPr>
                        <a:t>Not required</a:t>
                      </a:r>
                    </a:p>
                  </a:txBody>
                  <a:tcPr marL="109728" marR="109728" marT="45720" marB="45720" anchor="ctr">
                    <a:solidFill>
                      <a:srgbClr val="FAF4F2"/>
                    </a:solidFill>
                  </a:tcPr>
                </a:tc>
              </a:tr>
              <a:tr h="640080">
                <a:tc>
                  <a:txBody>
                    <a:bodyPr/>
                    <a:lstStyle/>
                    <a:p>
                      <a:r>
                        <a:rPr sz="1600" i="0" b="1">
                          <a:solidFill>
                            <a:srgbClr val="2B211C"/>
                          </a:solidFill>
                          <a:latin typeface="Calibri"/>
                        </a:rPr>
                        <a:t>Possible</a:t>
                      </a:r>
                    </a:p>
                  </a:txBody>
                  <a:tcPr marL="109728" marR="109728" marT="45720" marB="45720" anchor="ctr">
                    <a:solidFill>
                      <a:srgbClr val="FFFFFF"/>
                    </a:solidFill>
                  </a:tcPr>
                </a:tc>
                <a:tc>
                  <a:txBody>
                    <a:bodyPr/>
                    <a:lstStyle/>
                    <a:p>
                      <a:r>
                        <a:rPr sz="1600" i="0" b="0">
                          <a:solidFill>
                            <a:srgbClr val="2B211C"/>
                          </a:solidFill>
                          <a:latin typeface="Calibri"/>
                        </a:rPr>
                        <a:t>Reasonable</a:t>
                      </a:r>
                    </a:p>
                  </a:txBody>
                  <a:tcPr marL="109728" marR="109728" marT="45720" marB="45720" anchor="ctr">
                    <a:solidFill>
                      <a:srgbClr val="FFFFFF"/>
                    </a:solidFill>
                  </a:tcPr>
                </a:tc>
                <a:tc>
                  <a:txBody>
                    <a:bodyPr/>
                    <a:lstStyle/>
                    <a:p>
                      <a:r>
                        <a:rPr sz="1600" i="0" b="0">
                          <a:solidFill>
                            <a:srgbClr val="2B211C"/>
                          </a:solidFill>
                          <a:latin typeface="Calibri"/>
                        </a:rPr>
                        <a:t>Could explain it</a:t>
                      </a:r>
                    </a:p>
                  </a:txBody>
                  <a:tcPr marL="109728" marR="109728" marT="45720" marB="45720" anchor="ctr">
                    <a:solidFill>
                      <a:srgbClr val="FFFFFF"/>
                    </a:solidFill>
                  </a:tcPr>
                </a:tc>
                <a:tc>
                  <a:txBody>
                    <a:bodyPr/>
                    <a:lstStyle/>
                    <a:p>
                      <a:r>
                        <a:rPr sz="1600" i="0" b="0">
                          <a:solidFill>
                            <a:srgbClr val="2B211C"/>
                          </a:solidFill>
                          <a:latin typeface="Calibri"/>
                        </a:rPr>
                        <a:t>Unclear or not done</a:t>
                      </a:r>
                    </a:p>
                  </a:txBody>
                  <a:tcPr marL="109728" marR="109728" marT="45720" marB="45720" anchor="ctr">
                    <a:solidFill>
                      <a:srgbClr val="FFFFFF"/>
                    </a:solidFill>
                  </a:tcPr>
                </a:tc>
                <a:tc>
                  <a:txBody>
                    <a:bodyPr/>
                    <a:lstStyle/>
                    <a:p>
                      <a:r>
                        <a:rPr sz="1600" i="0" b="0">
                          <a:solidFill>
                            <a:srgbClr val="2B211C"/>
                          </a:solidFill>
                          <a:latin typeface="Calibri"/>
                        </a:rPr>
                        <a:t>Not required</a:t>
                      </a:r>
                    </a:p>
                  </a:txBody>
                  <a:tcPr marL="109728" marR="109728" marT="45720" marB="45720" anchor="ctr">
                    <a:solidFill>
                      <a:srgbClr val="FFFFFF"/>
                    </a:solidFill>
                  </a:tcPr>
                </a:tc>
              </a:tr>
              <a:tr h="640080">
                <a:tc>
                  <a:txBody>
                    <a:bodyPr/>
                    <a:lstStyle/>
                    <a:p>
                      <a:r>
                        <a:rPr sz="1600" i="0" b="1">
                          <a:solidFill>
                            <a:srgbClr val="2B211C"/>
                          </a:solidFill>
                          <a:latin typeface="Calibri"/>
                        </a:rPr>
                        <a:t>Unlikely</a:t>
                      </a:r>
                    </a:p>
                  </a:txBody>
                  <a:tcPr marL="109728" marR="109728" marT="45720" marB="45720" anchor="ctr">
                    <a:solidFill>
                      <a:srgbClr val="FAF4F2"/>
                    </a:solidFill>
                  </a:tcPr>
                </a:tc>
                <a:tc>
                  <a:txBody>
                    <a:bodyPr/>
                    <a:lstStyle/>
                    <a:p>
                      <a:r>
                        <a:rPr sz="1600" i="0" b="0">
                          <a:solidFill>
                            <a:srgbClr val="2B211C"/>
                          </a:solidFill>
                          <a:latin typeface="Calibri"/>
                        </a:rPr>
                        <a:t>Improbable</a:t>
                      </a:r>
                    </a:p>
                  </a:txBody>
                  <a:tcPr marL="109728" marR="109728" marT="45720" marB="45720" anchor="ctr">
                    <a:solidFill>
                      <a:srgbClr val="FAF4F2"/>
                    </a:solidFill>
                  </a:tcPr>
                </a:tc>
                <a:tc>
                  <a:txBody>
                    <a:bodyPr/>
                    <a:lstStyle/>
                    <a:p>
                      <a:r>
                        <a:rPr sz="1600" i="0" b="0">
                          <a:solidFill>
                            <a:srgbClr val="2B211C"/>
                          </a:solidFill>
                          <a:latin typeface="Calibri"/>
                        </a:rPr>
                        <a:t>Plausible explanations exist</a:t>
                      </a:r>
                    </a:p>
                  </a:txBody>
                  <a:tcPr marL="109728" marR="109728" marT="45720" marB="45720" anchor="ctr">
                    <a:solidFill>
                      <a:srgbClr val="FAF4F2"/>
                    </a:solidFill>
                  </a:tcPr>
                </a:tc>
                <a:tc>
                  <a:txBody>
                    <a:bodyPr/>
                    <a:lstStyle/>
                    <a:p>
                      <a:r>
                        <a:rPr sz="1600" i="0" b="0">
                          <a:solidFill>
                            <a:srgbClr val="2B211C"/>
                          </a:solidFill>
                          <a:latin typeface="Calibri"/>
                        </a:rPr>
                        <a:t>—</a:t>
                      </a:r>
                    </a:p>
                  </a:txBody>
                  <a:tcPr marL="109728" marR="109728" marT="45720" marB="45720" anchor="ctr">
                    <a:solidFill>
                      <a:srgbClr val="FAF4F2"/>
                    </a:solidFill>
                  </a:tcPr>
                </a:tc>
                <a:tc>
                  <a:txBody>
                    <a:bodyPr/>
                    <a:lstStyle/>
                    <a:p>
                      <a:r>
                        <a:rPr sz="1600" i="0" b="0">
                          <a:solidFill>
                            <a:srgbClr val="2B211C"/>
                          </a:solidFill>
                          <a:latin typeface="Calibri"/>
                        </a:rPr>
                        <a:t>—</a:t>
                      </a:r>
                    </a:p>
                  </a:txBody>
                  <a:tcPr marL="109728" marR="109728" marT="45720" marB="45720" anchor="ctr">
                    <a:solidFill>
                      <a:srgbClr val="FAF4F2"/>
                    </a:solidFill>
                  </a:tcPr>
                </a:tc>
              </a:tr>
              <a:tr h="640080">
                <a:tc>
                  <a:txBody>
                    <a:bodyPr/>
                    <a:lstStyle/>
                    <a:p>
                      <a:r>
                        <a:rPr sz="1600" i="0" b="1">
                          <a:solidFill>
                            <a:srgbClr val="2B211C"/>
                          </a:solidFill>
                          <a:latin typeface="Calibri"/>
                        </a:rPr>
                        <a:t>Conditional / unclassified</a:t>
                      </a:r>
                    </a:p>
                  </a:txBody>
                  <a:tcPr marL="109728" marR="109728" marT="45720" marB="45720" anchor="ctr">
                    <a:solidFill>
                      <a:srgbClr val="FFFFFF"/>
                    </a:solidFill>
                  </a:tcPr>
                </a:tc>
                <a:tc>
                  <a:txBody>
                    <a:bodyPr/>
                    <a:lstStyle/>
                    <a:p>
                      <a:r>
                        <a:rPr sz="1600" i="0" b="0">
                          <a:solidFill>
                            <a:srgbClr val="2B211C"/>
                          </a:solidFill>
                          <a:latin typeface="Calibri"/>
                        </a:rPr>
                        <a:t>More data are needed and are being sought</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txBody>
                  <a:tcPr marL="109728" marR="109728" marT="45720" marB="45720" anchor="ctr">
                    <a:solidFill>
                      <a:srgbClr val="FFFFFF"/>
                    </a:solidFill>
                  </a:tcPr>
                </a:tc>
              </a:tr>
              <a:tr h="640080">
                <a:tc>
                  <a:txBody>
                    <a:bodyPr/>
                    <a:lstStyle/>
                    <a:p>
                      <a:r>
                        <a:rPr sz="1600" i="0" b="1">
                          <a:solidFill>
                            <a:srgbClr val="2B211C"/>
                          </a:solidFill>
                          <a:latin typeface="Calibri"/>
                        </a:rPr>
                        <a:t>Unassessable</a:t>
                      </a:r>
                    </a:p>
                  </a:txBody>
                  <a:tcPr marL="109728" marR="109728" marT="45720" marB="45720" anchor="ctr">
                    <a:solidFill>
                      <a:srgbClr val="FAF4F2"/>
                    </a:solidFill>
                  </a:tcPr>
                </a:tc>
                <a:tc>
                  <a:txBody>
                    <a:bodyPr/>
                    <a:lstStyle/>
                    <a:p>
                      <a:r>
                        <a:rPr sz="1600" i="0" b="0">
                          <a:solidFill>
                            <a:srgbClr val="2B211C"/>
                          </a:solidFill>
                          <a:latin typeface="Calibri"/>
                        </a:rPr>
                        <a:t>Information is missing or contradictory and cannot be completed</a:t>
                      </a:r>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c>
                  <a:txBody>
                    <a:bodyPr/>
                    <a:lstStyle/>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Naranjo algorithm asks ten questions. Add the scores for the answers.</a:t>
            </a:r>
          </a:p>
        </p:txBody>
      </p:sp>
      <p:graphicFrame>
        <p:nvGraphicFramePr>
          <p:cNvPr id="9" name="Table 8"/>
          <p:cNvGraphicFramePr>
            <a:graphicFrameLocks noGrp="1"/>
          </p:cNvGraphicFramePr>
          <p:nvPr/>
        </p:nvGraphicFramePr>
        <p:xfrm>
          <a:off x="548640" y="2235708"/>
          <a:ext cx="11094412" cy="3936482"/>
        </p:xfrm>
        <a:graphic>
          <a:graphicData uri="http://schemas.openxmlformats.org/drawingml/2006/table">
            <a:tbl>
              <a:tblPr firstRow="0" bandRow="0">
                <a:tableStyleId>{5C22544A-7EE6-4342-B048-85BDC9FD1C3A}</a:tableStyleId>
              </a:tblPr>
              <a:tblGrid>
                <a:gridCol w="940204"/>
                <a:gridCol w="6393391"/>
                <a:gridCol w="1034225"/>
                <a:gridCol w="940204"/>
                <a:gridCol w="1786388"/>
              </a:tblGrid>
              <a:tr h="357862">
                <a:tc>
                  <a:txBody>
                    <a:bodyPr/>
                    <a:lstStyle/>
                    <a:p>
                      <a:r>
                        <a:rPr sz="1000" i="0" b="1">
                          <a:solidFill>
                            <a:srgbClr val="FFFFFF"/>
                          </a:solidFill>
                          <a:latin typeface="Calibri"/>
                        </a:rPr>
                        <a:t>#</a:t>
                      </a:r>
                    </a:p>
                  </a:txBody>
                  <a:tcPr marL="109728" marR="109728" marT="45720" marB="45720" anchor="ctr">
                    <a:solidFill>
                      <a:srgbClr val="A4472B"/>
                    </a:solidFill>
                  </a:tcPr>
                </a:tc>
                <a:tc>
                  <a:txBody>
                    <a:bodyPr/>
                    <a:lstStyle/>
                    <a:p>
                      <a:r>
                        <a:rPr sz="1000" i="0" b="1">
                          <a:solidFill>
                            <a:srgbClr val="FFFFFF"/>
                          </a:solidFill>
                          <a:latin typeface="Calibri"/>
                        </a:rPr>
                        <a:t>Question</a:t>
                      </a:r>
                    </a:p>
                  </a:txBody>
                  <a:tcPr marL="109728" marR="109728" marT="45720" marB="45720" anchor="ctr">
                    <a:solidFill>
                      <a:srgbClr val="A4472B"/>
                    </a:solidFill>
                  </a:tcPr>
                </a:tc>
                <a:tc>
                  <a:txBody>
                    <a:bodyPr/>
                    <a:lstStyle/>
                    <a:p>
                      <a:r>
                        <a:rPr sz="1000" i="0" b="1">
                          <a:solidFill>
                            <a:srgbClr val="FFFFFF"/>
                          </a:solidFill>
                          <a:latin typeface="Calibri"/>
                        </a:rPr>
                        <a:t>Yes</a:t>
                      </a:r>
                    </a:p>
                  </a:txBody>
                  <a:tcPr marL="109728" marR="109728" marT="45720" marB="45720" anchor="ctr">
                    <a:solidFill>
                      <a:srgbClr val="A4472B"/>
                    </a:solidFill>
                  </a:tcPr>
                </a:tc>
                <a:tc>
                  <a:txBody>
                    <a:bodyPr/>
                    <a:lstStyle/>
                    <a:p>
                      <a:r>
                        <a:rPr sz="1000" i="0" b="1">
                          <a:solidFill>
                            <a:srgbClr val="FFFFFF"/>
                          </a:solidFill>
                          <a:latin typeface="Calibri"/>
                        </a:rPr>
                        <a:t>No</a:t>
                      </a:r>
                    </a:p>
                  </a:txBody>
                  <a:tcPr marL="109728" marR="109728" marT="45720" marB="45720" anchor="ctr">
                    <a:solidFill>
                      <a:srgbClr val="A4472B"/>
                    </a:solidFill>
                  </a:tcPr>
                </a:tc>
                <a:tc>
                  <a:txBody>
                    <a:bodyPr/>
                    <a:lstStyle/>
                    <a:p>
                      <a:r>
                        <a:rPr sz="1000" i="0" b="1">
                          <a:solidFill>
                            <a:srgbClr val="FFFFFF"/>
                          </a:solidFill>
                          <a:latin typeface="Calibri"/>
                        </a:rPr>
                        <a:t>Do not know</a:t>
                      </a:r>
                    </a:p>
                  </a:txBody>
                  <a:tcPr marL="109728" marR="109728" marT="45720" marB="45720" anchor="ctr">
                    <a:solidFill>
                      <a:srgbClr val="A4472B"/>
                    </a:solidFill>
                  </a:tcPr>
                </a:tc>
              </a:tr>
              <a:tr h="357862">
                <a:tc>
                  <a:txBody>
                    <a:bodyPr/>
                    <a:lstStyle/>
                    <a:p>
                      <a:r>
                        <a:rPr sz="1100" i="0" b="1">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Are there previous conclusive reports of this reaction?</a:t>
                      </a:r>
                    </a:p>
                  </a:txBody>
                  <a:tcPr marL="109728" marR="109728" marT="45720" marB="45720" anchor="ctr">
                    <a:solidFill>
                      <a:srgbClr val="FFFFFF"/>
                    </a:solidFill>
                  </a:tcPr>
                </a:tc>
                <a:tc>
                  <a:txBody>
                    <a:bodyPr/>
                    <a:lstStyle/>
                    <a:p>
                      <a:r>
                        <a:rPr sz="1100" i="0" b="0">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r>
              <a:tr h="357862">
                <a:tc>
                  <a:txBody>
                    <a:bodyPr/>
                    <a:lstStyle/>
                    <a:p>
                      <a:r>
                        <a:rPr sz="1100" i="0" b="1">
                          <a:solidFill>
                            <a:srgbClr val="2B211C"/>
                          </a:solidFill>
                          <a:latin typeface="Calibri"/>
                        </a:rPr>
                        <a:t>2</a:t>
                      </a:r>
                    </a:p>
                  </a:txBody>
                  <a:tcPr marL="109728" marR="109728" marT="45720" marB="45720" anchor="ctr">
                    <a:solidFill>
                      <a:srgbClr val="FAF4F2"/>
                    </a:solidFill>
                  </a:tcPr>
                </a:tc>
                <a:tc>
                  <a:txBody>
                    <a:bodyPr/>
                    <a:lstStyle/>
                    <a:p>
                      <a:r>
                        <a:rPr sz="1100" i="0" b="0">
                          <a:solidFill>
                            <a:srgbClr val="2B211C"/>
                          </a:solidFill>
                          <a:latin typeface="Calibri"/>
                        </a:rPr>
                        <a:t>Did the event appear after the drug was given?</a:t>
                      </a:r>
                    </a:p>
                  </a:txBody>
                  <a:tcPr marL="109728" marR="109728" marT="45720" marB="45720" anchor="ctr">
                    <a:solidFill>
                      <a:srgbClr val="FAF4F2"/>
                    </a:solidFill>
                  </a:tcPr>
                </a:tc>
                <a:tc>
                  <a:txBody>
                    <a:bodyPr/>
                    <a:lstStyle/>
                    <a:p>
                      <a:r>
                        <a:rPr sz="1100" i="0" b="0">
                          <a:solidFill>
                            <a:srgbClr val="2B211C"/>
                          </a:solidFill>
                          <a:latin typeface="Calibri"/>
                        </a:rPr>
                        <a:t>+2</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r>
              <a:tr h="357862">
                <a:tc>
                  <a:txBody>
                    <a:bodyPr/>
                    <a:lstStyle/>
                    <a:p>
                      <a:r>
                        <a:rPr sz="1100" i="0" b="1">
                          <a:solidFill>
                            <a:srgbClr val="2B211C"/>
                          </a:solidFill>
                          <a:latin typeface="Calibri"/>
                        </a:rPr>
                        <a:t>3</a:t>
                      </a:r>
                    </a:p>
                  </a:txBody>
                  <a:tcPr marL="109728" marR="109728" marT="45720" marB="45720" anchor="ctr">
                    <a:solidFill>
                      <a:srgbClr val="FFFFFF"/>
                    </a:solidFill>
                  </a:tcPr>
                </a:tc>
                <a:tc>
                  <a:txBody>
                    <a:bodyPr/>
                    <a:lstStyle/>
                    <a:p>
                      <a:r>
                        <a:rPr sz="1100" i="0" b="0">
                          <a:solidFill>
                            <a:srgbClr val="2B211C"/>
                          </a:solidFill>
                          <a:latin typeface="Calibri"/>
                        </a:rPr>
                        <a:t>Did it improve when the drug was stopped or an antagonist given?</a:t>
                      </a:r>
                    </a:p>
                  </a:txBody>
                  <a:tcPr marL="109728" marR="109728" marT="45720" marB="45720" anchor="ctr">
                    <a:solidFill>
                      <a:srgbClr val="FFFFFF"/>
                    </a:solidFill>
                  </a:tcPr>
                </a:tc>
                <a:tc>
                  <a:txBody>
                    <a:bodyPr/>
                    <a:lstStyle/>
                    <a:p>
                      <a:r>
                        <a:rPr sz="1100" i="0" b="0">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r>
              <a:tr h="357862">
                <a:tc>
                  <a:txBody>
                    <a:bodyPr/>
                    <a:lstStyle/>
                    <a:p>
                      <a:r>
                        <a:rPr sz="1100" i="0" b="1">
                          <a:solidFill>
                            <a:srgbClr val="2B211C"/>
                          </a:solidFill>
                          <a:latin typeface="Calibri"/>
                        </a:rPr>
                        <a:t>4</a:t>
                      </a:r>
                    </a:p>
                  </a:txBody>
                  <a:tcPr marL="109728" marR="109728" marT="45720" marB="45720" anchor="ctr">
                    <a:solidFill>
                      <a:srgbClr val="FAF4F2"/>
                    </a:solidFill>
                  </a:tcPr>
                </a:tc>
                <a:tc>
                  <a:txBody>
                    <a:bodyPr/>
                    <a:lstStyle/>
                    <a:p>
                      <a:r>
                        <a:rPr sz="1100" i="0" b="0">
                          <a:solidFill>
                            <a:srgbClr val="2B211C"/>
                          </a:solidFill>
                          <a:latin typeface="Calibri"/>
                        </a:rPr>
                        <a:t>Did it reappear when the drug was given again?</a:t>
                      </a:r>
                    </a:p>
                  </a:txBody>
                  <a:tcPr marL="109728" marR="109728" marT="45720" marB="45720" anchor="ctr">
                    <a:solidFill>
                      <a:srgbClr val="FAF4F2"/>
                    </a:solidFill>
                  </a:tcPr>
                </a:tc>
                <a:tc>
                  <a:txBody>
                    <a:bodyPr/>
                    <a:lstStyle/>
                    <a:p>
                      <a:r>
                        <a:rPr sz="1100" i="0" b="0">
                          <a:solidFill>
                            <a:srgbClr val="2B211C"/>
                          </a:solidFill>
                          <a:latin typeface="Calibri"/>
                        </a:rPr>
                        <a:t>+2</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r>
              <a:tr h="357862">
                <a:tc>
                  <a:txBody>
                    <a:bodyPr/>
                    <a:lstStyle/>
                    <a:p>
                      <a:r>
                        <a:rPr sz="1100" i="0" b="1">
                          <a:solidFill>
                            <a:srgbClr val="2B211C"/>
                          </a:solidFill>
                          <a:latin typeface="Calibri"/>
                        </a:rPr>
                        <a:t>5</a:t>
                      </a:r>
                    </a:p>
                  </a:txBody>
                  <a:tcPr marL="109728" marR="109728" marT="45720" marB="45720" anchor="ctr">
                    <a:solidFill>
                      <a:srgbClr val="FFFFFF"/>
                    </a:solidFill>
                  </a:tcPr>
                </a:tc>
                <a:tc>
                  <a:txBody>
                    <a:bodyPr/>
                    <a:lstStyle/>
                    <a:p>
                      <a:r>
                        <a:rPr sz="1100" i="0" b="0">
                          <a:solidFill>
                            <a:srgbClr val="2B211C"/>
                          </a:solidFill>
                          <a:latin typeface="Calibri"/>
                        </a:rPr>
                        <a:t>Are there other causes that could have caused it?</a:t>
                      </a:r>
                    </a:p>
                  </a:txBody>
                  <a:tcPr marL="109728" marR="109728" marT="45720" marB="45720" anchor="ctr">
                    <a:solidFill>
                      <a:srgbClr val="FFFFFF"/>
                    </a:solidFill>
                  </a:tcPr>
                </a:tc>
                <a:tc>
                  <a:txBody>
                    <a:bodyPr/>
                    <a:lstStyle/>
                    <a:p>
                      <a:r>
                        <a:rPr sz="1100" i="0" b="0">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+2</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r>
              <a:tr h="357862">
                <a:tc>
                  <a:txBody>
                    <a:bodyPr/>
                    <a:lstStyle/>
                    <a:p>
                      <a:r>
                        <a:rPr sz="1100" i="0" b="1">
                          <a:solidFill>
                            <a:srgbClr val="2B211C"/>
                          </a:solidFill>
                          <a:latin typeface="Calibri"/>
                        </a:rPr>
                        <a:t>6</a:t>
                      </a:r>
                    </a:p>
                  </a:txBody>
                  <a:tcPr marL="109728" marR="109728" marT="45720" marB="45720" anchor="ctr">
                    <a:solidFill>
                      <a:srgbClr val="FAF4F2"/>
                    </a:solidFill>
                  </a:tcPr>
                </a:tc>
                <a:tc>
                  <a:txBody>
                    <a:bodyPr/>
                    <a:lstStyle/>
                    <a:p>
                      <a:r>
                        <a:rPr sz="1100" i="0" b="0">
                          <a:solidFill>
                            <a:srgbClr val="2B211C"/>
                          </a:solidFill>
                          <a:latin typeface="Calibri"/>
                        </a:rPr>
                        <a:t>Did it reappear when a placebo was given?</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r>
              <a:tr h="357862">
                <a:tc>
                  <a:txBody>
                    <a:bodyPr/>
                    <a:lstStyle/>
                    <a:p>
                      <a:r>
                        <a:rPr sz="1100" i="0" b="1">
                          <a:solidFill>
                            <a:srgbClr val="2B211C"/>
                          </a:solidFill>
                          <a:latin typeface="Calibri"/>
                        </a:rPr>
                        <a:t>7</a:t>
                      </a:r>
                    </a:p>
                  </a:txBody>
                  <a:tcPr marL="109728" marR="109728" marT="45720" marB="45720" anchor="ctr">
                    <a:solidFill>
                      <a:srgbClr val="FFFFFF"/>
                    </a:solidFill>
                  </a:tcPr>
                </a:tc>
                <a:tc>
                  <a:txBody>
                    <a:bodyPr/>
                    <a:lstStyle/>
                    <a:p>
                      <a:r>
                        <a:rPr sz="1100" i="0" b="0">
                          <a:solidFill>
                            <a:srgbClr val="2B211C"/>
                          </a:solidFill>
                          <a:latin typeface="Calibri"/>
                        </a:rPr>
                        <a:t>Was the drug found in blood at toxic levels?</a:t>
                      </a:r>
                    </a:p>
                  </a:txBody>
                  <a:tcPr marL="109728" marR="109728" marT="45720" marB="45720" anchor="ctr">
                    <a:solidFill>
                      <a:srgbClr val="FFFFFF"/>
                    </a:solidFill>
                  </a:tcPr>
                </a:tc>
                <a:tc>
                  <a:txBody>
                    <a:bodyPr/>
                    <a:lstStyle/>
                    <a:p>
                      <a:r>
                        <a:rPr sz="1100" i="0" b="0">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r>
              <a:tr h="357862">
                <a:tc>
                  <a:txBody>
                    <a:bodyPr/>
                    <a:lstStyle/>
                    <a:p>
                      <a:r>
                        <a:rPr sz="1100" i="0" b="1">
                          <a:solidFill>
                            <a:srgbClr val="2B211C"/>
                          </a:solidFill>
                          <a:latin typeface="Calibri"/>
                        </a:rPr>
                        <a:t>8</a:t>
                      </a:r>
                    </a:p>
                  </a:txBody>
                  <a:tcPr marL="109728" marR="109728" marT="45720" marB="45720" anchor="ctr">
                    <a:solidFill>
                      <a:srgbClr val="FAF4F2"/>
                    </a:solidFill>
                  </a:tcPr>
                </a:tc>
                <a:tc>
                  <a:txBody>
                    <a:bodyPr/>
                    <a:lstStyle/>
                    <a:p>
                      <a:r>
                        <a:rPr sz="1100" i="0" b="0">
                          <a:solidFill>
                            <a:srgbClr val="2B211C"/>
                          </a:solidFill>
                          <a:latin typeface="Calibri"/>
                        </a:rPr>
                        <a:t>Was it worse with a higher dose or better with a lower dose?</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r>
              <a:tr h="357862">
                <a:tc>
                  <a:txBody>
                    <a:bodyPr/>
                    <a:lstStyle/>
                    <a:p>
                      <a:r>
                        <a:rPr sz="1100" i="0" b="1">
                          <a:solidFill>
                            <a:srgbClr val="2B211C"/>
                          </a:solidFill>
                          <a:latin typeface="Calibri"/>
                        </a:rPr>
                        <a:t>9</a:t>
                      </a:r>
                    </a:p>
                  </a:txBody>
                  <a:tcPr marL="109728" marR="109728" marT="45720" marB="45720" anchor="ctr">
                    <a:solidFill>
                      <a:srgbClr val="FFFFFF"/>
                    </a:solidFill>
                  </a:tcPr>
                </a:tc>
                <a:tc>
                  <a:txBody>
                    <a:bodyPr/>
                    <a:lstStyle/>
                    <a:p>
                      <a:r>
                        <a:rPr sz="1100" i="0" b="0">
                          <a:solidFill>
                            <a:srgbClr val="2B211C"/>
                          </a:solidFill>
                          <a:latin typeface="Calibri"/>
                        </a:rPr>
                        <a:t>Has the patient had a similar reaction to the same or a similar drug before?</a:t>
                      </a:r>
                    </a:p>
                  </a:txBody>
                  <a:tcPr marL="109728" marR="109728" marT="45720" marB="45720" anchor="ctr">
                    <a:solidFill>
                      <a:srgbClr val="FFFFFF"/>
                    </a:solidFill>
                  </a:tcPr>
                </a:tc>
                <a:tc>
                  <a:txBody>
                    <a:bodyPr/>
                    <a:lstStyle/>
                    <a:p>
                      <a:r>
                        <a:rPr sz="1100" i="0" b="0">
                          <a:solidFill>
                            <a:srgbClr val="2B211C"/>
                          </a:solidFill>
                          <a:latin typeface="Calibri"/>
                        </a:rPr>
                        <a:t>+1</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c>
                  <a:txBody>
                    <a:bodyPr/>
                    <a:lstStyle/>
                    <a:p>
                      <a:r>
                        <a:rPr sz="1100" i="0" b="0">
                          <a:solidFill>
                            <a:srgbClr val="2B211C"/>
                          </a:solidFill>
                          <a:latin typeface="Calibri"/>
                        </a:rPr>
                        <a:t>0</a:t>
                      </a:r>
                    </a:p>
                  </a:txBody>
                  <a:tcPr marL="109728" marR="109728" marT="45720" marB="45720" anchor="ctr">
                    <a:solidFill>
                      <a:srgbClr val="FFFFFF"/>
                    </a:solidFill>
                  </a:tcPr>
                </a:tc>
              </a:tr>
              <a:tr h="357862">
                <a:tc>
                  <a:txBody>
                    <a:bodyPr/>
                    <a:lstStyle/>
                    <a:p>
                      <a:r>
                        <a:rPr sz="1100" i="0" b="1">
                          <a:solidFill>
                            <a:srgbClr val="2B211C"/>
                          </a:solidFill>
                          <a:latin typeface="Calibri"/>
                        </a:rPr>
                        <a:t>10</a:t>
                      </a:r>
                    </a:p>
                  </a:txBody>
                  <a:tcPr marL="109728" marR="109728" marT="45720" marB="45720" anchor="ctr">
                    <a:solidFill>
                      <a:srgbClr val="FAF4F2"/>
                    </a:solidFill>
                  </a:tcPr>
                </a:tc>
                <a:tc>
                  <a:txBody>
                    <a:bodyPr/>
                    <a:lstStyle/>
                    <a:p>
                      <a:r>
                        <a:rPr sz="1100" i="0" b="0">
                          <a:solidFill>
                            <a:srgbClr val="2B211C"/>
                          </a:solidFill>
                          <a:latin typeface="Calibri"/>
                        </a:rPr>
                        <a:t>Was the event confirmed by objective evidence?</a:t>
                      </a:r>
                    </a:p>
                  </a:txBody>
                  <a:tcPr marL="109728" marR="109728" marT="45720" marB="45720" anchor="ctr">
                    <a:solidFill>
                      <a:srgbClr val="FAF4F2"/>
                    </a:solidFill>
                  </a:tcPr>
                </a:tc>
                <a:tc>
                  <a:txBody>
                    <a:bodyPr/>
                    <a:lstStyle/>
                    <a:p>
                      <a:r>
                        <a:rPr sz="1100" i="0" b="0">
                          <a:solidFill>
                            <a:srgbClr val="2B211C"/>
                          </a:solidFill>
                          <a:latin typeface="Calibri"/>
                        </a:rPr>
                        <a:t>+1</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c>
                  <a:txBody>
                    <a:bodyPr/>
                    <a:lstStyle/>
                    <a:p>
                      <a:r>
                        <a:rPr sz="1100" i="0" b="0">
                          <a:solidFill>
                            <a:srgbClr val="2B211C"/>
                          </a:solidFill>
                          <a:latin typeface="Calibri"/>
                        </a:rPr>
                        <a:t>0</a:t>
                      </a:r>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Worked example.</a:t>
            </a:r>
            <a:r>
              <a:rPr sz="1800" i="0" b="0">
                <a:solidFill>
                  <a:srgbClr val="2B211C"/>
                </a:solidFill>
                <a:latin typeface="Calibri"/>
              </a:rPr>
              <a:t> A man starts enalapril and, two weeks later, develops a dry cough. Scores: Q1 yes (+1); Q2 yes (+2); Q3 the cough stops after enalapril is stopped (+1); Q4 not rechallenged (0); Q5 no other cause (+2); Q6-Q10 not done or not known (0). Total </a:t>
            </a:r>
            <a:r>
              <a:rPr sz="1800" i="0" b="1">
                <a:solidFill>
                  <a:srgbClr val="2B211C"/>
                </a:solidFill>
                <a:latin typeface="Calibri"/>
              </a:rPr>
              <a:t>6 = probable</a:t>
            </a:r>
            <a:r>
              <a:rPr sz="1800" i="0" b="0">
                <a:solidFill>
                  <a:srgbClr val="2B211C"/>
                </a:solidFill>
                <a:latin typeface="Calibri"/>
              </a:rPr>
              <a:t>.</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6022682"/>
                <a:gridCol w="5071732"/>
              </a:tblGrid>
              <a:tr h="640080">
                <a:tc>
                  <a:txBody>
                    <a:bodyPr/>
                    <a:lstStyle/>
                    <a:p>
                      <a:r>
                        <a:rPr sz="1900" i="0" b="1">
                          <a:solidFill>
                            <a:srgbClr val="FFFFFF"/>
                          </a:solidFill>
                          <a:latin typeface="Calibri"/>
                        </a:rPr>
                        <a:t>Total score</a:t>
                      </a:r>
                    </a:p>
                  </a:txBody>
                  <a:tcPr marL="109728" marR="109728" marT="45720" marB="45720" anchor="ctr">
                    <a:solidFill>
                      <a:srgbClr val="A4472B"/>
                    </a:solidFill>
                  </a:tcPr>
                </a:tc>
                <a:tc>
                  <a:txBody>
                    <a:bodyPr/>
                    <a:lstStyle/>
                    <a:p>
                      <a:r>
                        <a:rPr sz="1900" i="0" b="1">
                          <a:solidFill>
                            <a:srgbClr val="FFFFFF"/>
                          </a:solidFill>
                          <a:latin typeface="Calibri"/>
                        </a:rPr>
                        <a:t>Category</a:t>
                      </a:r>
                    </a:p>
                  </a:txBody>
                  <a:tcPr marL="109728" marR="109728" marT="45720" marB="45720" anchor="ctr">
                    <a:solidFill>
                      <a:srgbClr val="A4472B"/>
                    </a:solidFill>
                  </a:tcPr>
                </a:tc>
              </a:tr>
              <a:tr h="640080">
                <a:tc>
                  <a:txBody>
                    <a:bodyPr/>
                    <a:lstStyle/>
                    <a:p>
                      <a:r>
                        <a:rPr sz="2000" i="0" b="1">
                          <a:solidFill>
                            <a:srgbClr val="2B211C"/>
                          </a:solidFill>
                          <a:latin typeface="Calibri"/>
                        </a:rPr>
                        <a:t>9 or more</a:t>
                      </a:r>
                    </a:p>
                  </a:txBody>
                  <a:tcPr marL="109728" marR="109728" marT="45720" marB="45720" anchor="ctr">
                    <a:solidFill>
                      <a:srgbClr val="FFFFFF"/>
                    </a:solidFill>
                  </a:tcPr>
                </a:tc>
                <a:tc>
                  <a:txBody>
                    <a:bodyPr/>
                    <a:lstStyle/>
                    <a:p>
                      <a:r>
                        <a:rPr sz="2000" i="0" b="0">
                          <a:solidFill>
                            <a:srgbClr val="2B211C"/>
                          </a:solidFill>
                          <a:latin typeface="Calibri"/>
                        </a:rPr>
                        <a:t>Definite</a:t>
                      </a:r>
                    </a:p>
                  </a:txBody>
                  <a:tcPr marL="109728" marR="109728" marT="45720" marB="45720" anchor="ctr">
                    <a:solidFill>
                      <a:srgbClr val="FFFFFF"/>
                    </a:solidFill>
                  </a:tcPr>
                </a:tc>
              </a:tr>
              <a:tr h="640080">
                <a:tc>
                  <a:txBody>
                    <a:bodyPr/>
                    <a:lstStyle/>
                    <a:p>
                      <a:r>
                        <a:rPr sz="2000" i="0" b="1">
                          <a:solidFill>
                            <a:srgbClr val="2B211C"/>
                          </a:solidFill>
                          <a:latin typeface="Calibri"/>
                        </a:rPr>
                        <a:t>5 to 8</a:t>
                      </a:r>
                    </a:p>
                  </a:txBody>
                  <a:tcPr marL="109728" marR="109728" marT="45720" marB="45720" anchor="ctr">
                    <a:solidFill>
                      <a:srgbClr val="FAF4F2"/>
                    </a:solidFill>
                  </a:tcPr>
                </a:tc>
                <a:tc>
                  <a:txBody>
                    <a:bodyPr/>
                    <a:lstStyle/>
                    <a:p>
                      <a:r>
                        <a:rPr sz="2000" i="0" b="0">
                          <a:solidFill>
                            <a:srgbClr val="2B211C"/>
                          </a:solidFill>
                          <a:latin typeface="Calibri"/>
                        </a:rPr>
                        <a:t>Probable</a:t>
                      </a:r>
                    </a:p>
                  </a:txBody>
                  <a:tcPr marL="109728" marR="109728" marT="45720" marB="45720" anchor="ctr">
                    <a:solidFill>
                      <a:srgbClr val="FAF4F2"/>
                    </a:solidFill>
                  </a:tcPr>
                </a:tc>
              </a:tr>
              <a:tr h="640080">
                <a:tc>
                  <a:txBody>
                    <a:bodyPr/>
                    <a:lstStyle/>
                    <a:p>
                      <a:r>
                        <a:rPr sz="2000" i="0" b="1">
                          <a:solidFill>
                            <a:srgbClr val="2B211C"/>
                          </a:solidFill>
                          <a:latin typeface="Calibri"/>
                        </a:rPr>
                        <a:t>1 to 4</a:t>
                      </a:r>
                    </a:p>
                  </a:txBody>
                  <a:tcPr marL="109728" marR="109728" marT="45720" marB="45720" anchor="ctr">
                    <a:solidFill>
                      <a:srgbClr val="FFFFFF"/>
                    </a:solidFill>
                  </a:tcPr>
                </a:tc>
                <a:tc>
                  <a:txBody>
                    <a:bodyPr/>
                    <a:lstStyle/>
                    <a:p>
                      <a:r>
                        <a:rPr sz="2000" i="0" b="0">
                          <a:solidFill>
                            <a:srgbClr val="2B211C"/>
                          </a:solidFill>
                          <a:latin typeface="Calibri"/>
                        </a:rPr>
                        <a:t>Possible</a:t>
                      </a:r>
                    </a:p>
                  </a:txBody>
                  <a:tcPr marL="109728" marR="109728" marT="45720" marB="45720" anchor="ctr">
                    <a:solidFill>
                      <a:srgbClr val="FFFFFF"/>
                    </a:solidFill>
                  </a:tcPr>
                </a:tc>
              </a:tr>
              <a:tr h="640080">
                <a:tc>
                  <a:txBody>
                    <a:bodyPr/>
                    <a:lstStyle/>
                    <a:p>
                      <a:r>
                        <a:rPr sz="2000" i="0" b="1">
                          <a:solidFill>
                            <a:srgbClr val="2B211C"/>
                          </a:solidFill>
                          <a:latin typeface="Calibri"/>
                        </a:rPr>
                        <a:t>0 or less</a:t>
                      </a:r>
                    </a:p>
                  </a:txBody>
                  <a:tcPr marL="109728" marR="109728" marT="45720" marB="45720" anchor="ctr">
                    <a:solidFill>
                      <a:srgbClr val="FAF4F2"/>
                    </a:solidFill>
                  </a:tcPr>
                </a:tc>
                <a:tc>
                  <a:txBody>
                    <a:bodyPr/>
                    <a:lstStyle/>
                    <a:p>
                      <a:r>
                        <a:rPr sz="2000" i="0" b="0">
                          <a:solidFill>
                            <a:srgbClr val="2B211C"/>
                          </a:solidFill>
                          <a:latin typeface="Calibri"/>
                        </a:rPr>
                        <a:t>Doubtful</a:t>
                      </a:r>
                    </a:p>
                  </a:txBody>
                  <a:tcPr marL="109728" marR="109728" marT="45720" marB="45720" anchor="ctr">
                    <a:solidFill>
                      <a:srgbClr val="FAF4F2"/>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Naranjo Algorithm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Naranjo gives four categories (definite, probable, possible, doubtful). WHO-UMC uses six (certain, probable, possible, unlikely, conditional, unassessable).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90525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These two words sound alike but mean different things.</a:t>
            </a:r>
          </a:p>
          <a:p>
            <a:pPr>
              <a:spcAft>
                <a:spcPts val="800"/>
              </a:spcAft>
            </a:pPr>
            <a:r>
              <a:rPr sz="1800" i="0" b="1">
                <a:solidFill>
                  <a:srgbClr val="2B211C"/>
                </a:solidFill>
                <a:latin typeface="Calibri"/>
              </a:rPr>
              <a:t>Severity</a:t>
            </a:r>
            <a:r>
              <a:rPr sz="1800" i="0" b="0">
                <a:solidFill>
                  <a:srgbClr val="2B211C"/>
                </a:solidFill>
                <a:latin typeface="Calibri"/>
              </a:rPr>
              <a:t> describes the </a:t>
            </a:r>
            <a:r>
              <a:rPr sz="1800" i="0" b="1">
                <a:solidFill>
                  <a:srgbClr val="2B211C"/>
                </a:solidFill>
                <a:latin typeface="Calibri"/>
              </a:rPr>
              <a:t>intensity</a:t>
            </a:r>
            <a:r>
              <a:rPr sz="1800" i="0" b="0">
                <a:solidFill>
                  <a:srgbClr val="2B211C"/>
                </a:solidFill>
                <a:latin typeface="Calibri"/>
              </a:rPr>
              <a:t> of the reaction:</a:t>
            </a:r>
          </a:p>
        </p:txBody>
      </p:sp>
      <p:graphicFrame>
        <p:nvGraphicFramePr>
          <p:cNvPr id="9" name="Table 8"/>
          <p:cNvGraphicFramePr>
            <a:graphicFrameLocks noGrp="1"/>
          </p:cNvGraphicFramePr>
          <p:nvPr/>
        </p:nvGraphicFramePr>
        <p:xfrm>
          <a:off x="548640" y="2642615"/>
          <a:ext cx="11094414" cy="2560320"/>
        </p:xfrm>
        <a:graphic>
          <a:graphicData uri="http://schemas.openxmlformats.org/drawingml/2006/table">
            <a:tbl>
              <a:tblPr firstRow="0" bandRow="0">
                <a:tableStyleId>{5C22544A-7EE6-4342-B048-85BDC9FD1C3A}</a:tableStyleId>
              </a:tblPr>
              <a:tblGrid>
                <a:gridCol w="2113221"/>
                <a:gridCol w="8981193"/>
              </a:tblGrid>
              <a:tr h="640080">
                <a:tc>
                  <a:txBody>
                    <a:bodyPr/>
                    <a:lstStyle/>
                    <a:p>
                      <a:r>
                        <a:rPr sz="1900" i="0" b="1">
                          <a:solidFill>
                            <a:srgbClr val="FFFFFF"/>
                          </a:solidFill>
                          <a:latin typeface="Calibri"/>
                        </a:rPr>
                        <a:t>Severity</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r>
              <a:tr h="640080">
                <a:tc>
                  <a:txBody>
                    <a:bodyPr/>
                    <a:lstStyle/>
                    <a:p>
                      <a:r>
                        <a:rPr sz="2000" i="0" b="1">
                          <a:solidFill>
                            <a:srgbClr val="2B211C"/>
                          </a:solidFill>
                          <a:latin typeface="Calibri"/>
                        </a:rPr>
                        <a:t>Mild</a:t>
                      </a:r>
                    </a:p>
                  </a:txBody>
                  <a:tcPr marL="109728" marR="109728" marT="45720" marB="45720" anchor="ctr">
                    <a:solidFill>
                      <a:srgbClr val="FFFFFF"/>
                    </a:solidFill>
                  </a:tcPr>
                </a:tc>
                <a:tc>
                  <a:txBody>
                    <a:bodyPr/>
                    <a:lstStyle/>
                    <a:p>
                      <a:r>
                        <a:rPr sz="2000" i="0" b="0">
                          <a:solidFill>
                            <a:srgbClr val="2B211C"/>
                          </a:solidFill>
                          <a:latin typeface="Calibri"/>
                        </a:rPr>
                        <a:t>No treatment change needed, or the drug is stopped with no further treatment</a:t>
                      </a:r>
                    </a:p>
                  </a:txBody>
                  <a:tcPr marL="109728" marR="109728" marT="45720" marB="45720" anchor="ctr">
                    <a:solidFill>
                      <a:srgbClr val="FFFFFF"/>
                    </a:solidFill>
                  </a:tcPr>
                </a:tc>
              </a:tr>
              <a:tr h="640080">
                <a:tc>
                  <a:txBody>
                    <a:bodyPr/>
                    <a:lstStyle/>
                    <a:p>
                      <a:r>
                        <a:rPr sz="2000" i="0" b="1">
                          <a:solidFill>
                            <a:srgbClr val="2B211C"/>
                          </a:solidFill>
                          <a:latin typeface="Calibri"/>
                        </a:rPr>
                        <a:t>Moderate</a:t>
                      </a:r>
                    </a:p>
                  </a:txBody>
                  <a:tcPr marL="109728" marR="109728" marT="45720" marB="45720" anchor="ctr">
                    <a:solidFill>
                      <a:srgbClr val="FAF4F2"/>
                    </a:solidFill>
                  </a:tcPr>
                </a:tc>
                <a:tc>
                  <a:txBody>
                    <a:bodyPr/>
                    <a:lstStyle/>
                    <a:p>
                      <a:r>
                        <a:rPr sz="2000" i="0" b="0">
                          <a:solidFill>
                            <a:srgbClr val="2B211C"/>
                          </a:solidFill>
                          <a:latin typeface="Calibri"/>
                        </a:rPr>
                        <a:t>Needs a change in treatment or an antidote, or lengthens the hospital stay</a:t>
                      </a:r>
                    </a:p>
                  </a:txBody>
                  <a:tcPr marL="109728" marR="109728" marT="45720" marB="45720" anchor="ctr">
                    <a:solidFill>
                      <a:srgbClr val="FAF4F2"/>
                    </a:solidFill>
                  </a:tcPr>
                </a:tc>
              </a:tr>
              <a:tr h="640080">
                <a:tc>
                  <a:txBody>
                    <a:bodyPr/>
                    <a:lstStyle/>
                    <a:p>
                      <a:r>
                        <a:rPr sz="2000" i="0" b="1">
                          <a:solidFill>
                            <a:srgbClr val="2B211C"/>
                          </a:solidFill>
                          <a:latin typeface="Calibri"/>
                        </a:rPr>
                        <a:t>Severe</a:t>
                      </a:r>
                    </a:p>
                  </a:txBody>
                  <a:tcPr marL="109728" marR="109728" marT="45720" marB="45720" anchor="ctr">
                    <a:solidFill>
                      <a:srgbClr val="FFFFFF"/>
                    </a:solidFill>
                  </a:tcPr>
                </a:tc>
                <a:tc>
                  <a:txBody>
                    <a:bodyPr/>
                    <a:lstStyle/>
                    <a:p>
                      <a:r>
                        <a:rPr sz="2000" i="0" b="0">
                          <a:solidFill>
                            <a:srgbClr val="2B211C"/>
                          </a:solidFill>
                          <a:latin typeface="Calibri"/>
                        </a:rPr>
                        <a:t>Life-threatening, causes permanent harm, or needs intensive care</a:t>
                      </a:r>
                    </a:p>
                  </a:txBody>
                  <a:tcPr marL="109728" marR="109728" marT="45720" marB="4572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Severity Is Not Seriousness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Seriousness</a:t>
            </a:r>
            <a:r>
              <a:rPr sz="1800" i="0" b="0">
                <a:solidFill>
                  <a:srgbClr val="2B211C"/>
                </a:solidFill>
                <a:latin typeface="Calibri"/>
              </a:rPr>
              <a:t> is a regulatory term based on the </a:t>
            </a:r>
            <a:r>
              <a:rPr sz="1800" i="0" b="1">
                <a:solidFill>
                  <a:srgbClr val="2B211C"/>
                </a:solidFill>
                <a:latin typeface="Calibri"/>
              </a:rPr>
              <a:t>outcome</a:t>
            </a:r>
            <a:r>
              <a:rPr sz="1800" i="0" b="0">
                <a:solidFill>
                  <a:srgbClr val="2B211C"/>
                </a:solidFill>
                <a:latin typeface="Calibri"/>
              </a:rPr>
              <a:t>. An ADR is </a:t>
            </a:r>
            <a:r>
              <a:rPr sz="1800" i="0" b="1">
                <a:solidFill>
                  <a:srgbClr val="2B211C"/>
                </a:solidFill>
                <a:latin typeface="Calibri"/>
              </a:rPr>
              <a:t>serious</a:t>
            </a:r>
            <a:r>
              <a:rPr sz="1800" i="0" b="0">
                <a:solidFill>
                  <a:srgbClr val="2B211C"/>
                </a:solidFill>
                <a:latin typeface="Calibri"/>
              </a:rPr>
              <a:t> if it:</a:t>
            </a:r>
          </a:p>
          <a:p>
            <a:pPr>
              <a:spcAft>
                <a:spcPts val="800"/>
              </a:spcAft>
            </a:pPr>
            <a:r>
              <a:rPr sz="1800" i="0" b="0">
                <a:solidFill>
                  <a:srgbClr val="2B211C"/>
                </a:solidFill>
                <a:latin typeface="Calibri"/>
              </a:rPr>
              <a:t>A severe headache is intense but usually not serious. Serious reactions must be reported quickly (Chapter 9).</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493014"/>
          </a:xfrm>
          <a:prstGeom prst="rect">
            <a:avLst/>
          </a:prstGeom>
          <a:noFill/>
        </p:spPr>
        <p:txBody>
          <a:bodyPr wrap="square" anchor="t" lIns="0" rIns="0" tIns="0" bIns="0">
            <a:spAutoFit/>
          </a:bodyPr>
          <a:lstStyle/>
          <a:p>
            <a:r>
              <a:rPr sz="2100" i="0" b="0">
                <a:solidFill>
                  <a:srgbClr val="2B211C"/>
                </a:solidFill>
                <a:latin typeface="Calibri"/>
              </a:rPr>
              <a:t>causes death;</a:t>
            </a:r>
          </a:p>
        </p:txBody>
      </p:sp>
      <p:sp>
        <p:nvSpPr>
          <p:cNvPr id="11" name="Oval 10"/>
          <p:cNvSpPr/>
          <p:nvPr/>
        </p:nvSpPr>
        <p:spPr>
          <a:xfrm>
            <a:off x="548640" y="349681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515106"/>
            <a:ext cx="10500055" cy="493014"/>
          </a:xfrm>
          <a:prstGeom prst="rect">
            <a:avLst/>
          </a:prstGeom>
          <a:noFill/>
        </p:spPr>
        <p:txBody>
          <a:bodyPr wrap="square" anchor="t" lIns="0" rIns="0" tIns="0" bIns="0">
            <a:spAutoFit/>
          </a:bodyPr>
          <a:lstStyle/>
          <a:p>
            <a:r>
              <a:rPr sz="2100" i="0" b="0">
                <a:solidFill>
                  <a:srgbClr val="2B211C"/>
                </a:solidFill>
                <a:latin typeface="Calibri"/>
              </a:rPr>
              <a:t>is life-threatening;</a:t>
            </a:r>
          </a:p>
        </p:txBody>
      </p:sp>
      <p:sp>
        <p:nvSpPr>
          <p:cNvPr id="13" name="Oval 12"/>
          <p:cNvSpPr/>
          <p:nvPr/>
        </p:nvSpPr>
        <p:spPr>
          <a:xfrm>
            <a:off x="548640" y="403555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053840"/>
            <a:ext cx="10500055" cy="493014"/>
          </a:xfrm>
          <a:prstGeom prst="rect">
            <a:avLst/>
          </a:prstGeom>
          <a:noFill/>
        </p:spPr>
        <p:txBody>
          <a:bodyPr wrap="square" anchor="t" lIns="0" rIns="0" tIns="0" bIns="0">
            <a:spAutoFit/>
          </a:bodyPr>
          <a:lstStyle/>
          <a:p>
            <a:r>
              <a:rPr sz="2100" i="0" b="0">
                <a:solidFill>
                  <a:srgbClr val="2B211C"/>
                </a:solidFill>
                <a:latin typeface="Calibri"/>
              </a:rPr>
              <a:t>requires or prolongs hospital admission;</a:t>
            </a:r>
          </a:p>
        </p:txBody>
      </p:sp>
      <p:sp>
        <p:nvSpPr>
          <p:cNvPr id="15" name="Oval 14"/>
          <p:cNvSpPr/>
          <p:nvPr/>
        </p:nvSpPr>
        <p:spPr>
          <a:xfrm>
            <a:off x="548640" y="457428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592574"/>
            <a:ext cx="10500055" cy="493014"/>
          </a:xfrm>
          <a:prstGeom prst="rect">
            <a:avLst/>
          </a:prstGeom>
          <a:noFill/>
        </p:spPr>
        <p:txBody>
          <a:bodyPr wrap="square" anchor="t" lIns="0" rIns="0" tIns="0" bIns="0">
            <a:spAutoFit/>
          </a:bodyPr>
          <a:lstStyle/>
          <a:p>
            <a:r>
              <a:rPr sz="2100" i="0" b="0">
                <a:solidFill>
                  <a:srgbClr val="2B211C"/>
                </a:solidFill>
                <a:latin typeface="Calibri"/>
              </a:rPr>
              <a:t>causes persistent or significant disability;</a:t>
            </a:r>
          </a:p>
        </p:txBody>
      </p:sp>
      <p:sp>
        <p:nvSpPr>
          <p:cNvPr id="17" name="Oval 16"/>
          <p:cNvSpPr/>
          <p:nvPr/>
        </p:nvSpPr>
        <p:spPr>
          <a:xfrm>
            <a:off x="548640" y="51130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31308"/>
            <a:ext cx="10500055" cy="493014"/>
          </a:xfrm>
          <a:prstGeom prst="rect">
            <a:avLst/>
          </a:prstGeom>
          <a:noFill/>
        </p:spPr>
        <p:txBody>
          <a:bodyPr wrap="square" anchor="t" lIns="0" rIns="0" tIns="0" bIns="0">
            <a:spAutoFit/>
          </a:bodyPr>
          <a:lstStyle/>
          <a:p>
            <a:r>
              <a:rPr sz="2100" i="0" b="0">
                <a:solidFill>
                  <a:srgbClr val="2B211C"/>
                </a:solidFill>
                <a:latin typeface="Calibri"/>
              </a:rPr>
              <a:t>causes a congenital anomaly; or</a:t>
            </a:r>
          </a:p>
        </p:txBody>
      </p:sp>
      <p:sp>
        <p:nvSpPr>
          <p:cNvPr id="19" name="Oval 18"/>
          <p:cNvSpPr/>
          <p:nvPr/>
        </p:nvSpPr>
        <p:spPr>
          <a:xfrm>
            <a:off x="548640" y="565175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6</a:t>
            </a:r>
          </a:p>
        </p:txBody>
      </p:sp>
      <p:sp>
        <p:nvSpPr>
          <p:cNvPr id="20" name="TextBox 19"/>
          <p:cNvSpPr txBox="1"/>
          <p:nvPr/>
        </p:nvSpPr>
        <p:spPr>
          <a:xfrm>
            <a:off x="1143000" y="5670041"/>
            <a:ext cx="10500055" cy="493014"/>
          </a:xfrm>
          <a:prstGeom prst="rect">
            <a:avLst/>
          </a:prstGeom>
          <a:noFill/>
        </p:spPr>
        <p:txBody>
          <a:bodyPr wrap="square" anchor="t" lIns="0" rIns="0" tIns="0" bIns="0">
            <a:spAutoFit/>
          </a:bodyPr>
          <a:lstStyle/>
          <a:p>
            <a:r>
              <a:rPr sz="2100" i="0" b="0">
                <a:solidFill>
                  <a:srgbClr val="2B211C"/>
                </a:solidFill>
                <a:latin typeface="Calibri"/>
              </a:rPr>
              <a:t>is another important medical event.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pic>
        <p:nvPicPr>
          <p:cNvPr id="8" name="Picture 7" descr="adr-management.png"/>
          <p:cNvPicPr>
            <a:picLocks noChangeAspect="1"/>
          </p:cNvPicPr>
          <p:nvPr/>
        </p:nvPicPr>
        <p:blipFill>
          <a:blip r:embed="rId3"/>
          <a:stretch>
            <a:fillRect/>
          </a:stretch>
        </p:blipFill>
        <p:spPr>
          <a:xfrm>
            <a:off x="1589940" y="1554480"/>
            <a:ext cx="9011814"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6E625B"/>
                </a:solidFill>
                <a:latin typeface="Calibri"/>
              </a:rPr>
              <a:t>Managing a suspected adverse drug reaction, starting with the patient.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049274"/>
          </a:xfrm>
          <a:prstGeom prst="rect">
            <a:avLst/>
          </a:prstGeom>
          <a:noFill/>
        </p:spPr>
        <p:txBody>
          <a:bodyPr wrap="square" anchor="t" lIns="0" rIns="0" tIns="0" bIns="0">
            <a:spAutoFit/>
          </a:bodyPr>
          <a:lstStyle/>
          <a:p>
            <a:r>
              <a:rPr sz="1800" i="0" b="1">
                <a:solidFill>
                  <a:srgbClr val="2B211C"/>
                </a:solidFill>
                <a:latin typeface="Calibri"/>
              </a:rPr>
              <a:t>Look after the patient first.</a:t>
            </a:r>
            <a:r>
              <a:rPr sz="1800" i="0" b="0">
                <a:solidFill>
                  <a:srgbClr val="2B211C"/>
                </a:solidFill>
                <a:latin typeface="Calibri"/>
              </a:rPr>
              <a:t> Assess the patient. Stop or withhold the suspected drug when appropriate. Treat the reaction (for example adrenaline for anaphylaxis), monitor, and call for urgent help if needed.</a:t>
            </a:r>
          </a:p>
        </p:txBody>
      </p:sp>
      <p:sp>
        <p:nvSpPr>
          <p:cNvPr id="10" name="Oval 9"/>
          <p:cNvSpPr/>
          <p:nvPr/>
        </p:nvSpPr>
        <p:spPr>
          <a:xfrm>
            <a:off x="548640" y="266776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686050"/>
            <a:ext cx="10500055" cy="763524"/>
          </a:xfrm>
          <a:prstGeom prst="rect">
            <a:avLst/>
          </a:prstGeom>
          <a:noFill/>
        </p:spPr>
        <p:txBody>
          <a:bodyPr wrap="square" anchor="t" lIns="0" rIns="0" tIns="0" bIns="0">
            <a:spAutoFit/>
          </a:bodyPr>
          <a:lstStyle/>
          <a:p>
            <a:r>
              <a:rPr sz="1800" i="0" b="1">
                <a:solidFill>
                  <a:srgbClr val="2B211C"/>
                </a:solidFill>
                <a:latin typeface="Calibri"/>
              </a:rPr>
              <a:t>Evaluate the event.</a:t>
            </a:r>
            <a:r>
              <a:rPr sz="1800" i="0" b="0">
                <a:solidFill>
                  <a:srgbClr val="2B211C"/>
                </a:solidFill>
                <a:latin typeface="Calibri"/>
              </a:rPr>
              <a:t> Take a full drug history, including over-the-counter and herbal products. Grade the severity and decide whether it is serious.</a:t>
            </a:r>
          </a:p>
        </p:txBody>
      </p:sp>
      <p:sp>
        <p:nvSpPr>
          <p:cNvPr id="12" name="Oval 11"/>
          <p:cNvSpPr/>
          <p:nvPr/>
        </p:nvSpPr>
        <p:spPr>
          <a:xfrm>
            <a:off x="548640" y="34770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495294"/>
            <a:ext cx="10500055" cy="763524"/>
          </a:xfrm>
          <a:prstGeom prst="rect">
            <a:avLst/>
          </a:prstGeom>
          <a:noFill/>
        </p:spPr>
        <p:txBody>
          <a:bodyPr wrap="square" anchor="t" lIns="0" rIns="0" tIns="0" bIns="0">
            <a:spAutoFit/>
          </a:bodyPr>
          <a:lstStyle/>
          <a:p>
            <a:r>
              <a:rPr sz="1800" i="0" b="1">
                <a:solidFill>
                  <a:srgbClr val="2B211C"/>
                </a:solidFill>
                <a:latin typeface="Calibri"/>
              </a:rPr>
              <a:t>Establish the cause.</a:t>
            </a:r>
            <a:r>
              <a:rPr sz="1800" i="0" b="0">
                <a:solidFill>
                  <a:srgbClr val="2B211C"/>
                </a:solidFill>
                <a:latin typeface="Calibri"/>
              </a:rPr>
              <a:t> Use WHO-UMC or Naranjo. Check the quality of the product and whether a medication error occurred.</a:t>
            </a:r>
          </a:p>
        </p:txBody>
      </p:sp>
      <p:sp>
        <p:nvSpPr>
          <p:cNvPr id="14" name="Oval 13"/>
          <p:cNvSpPr/>
          <p:nvPr/>
        </p:nvSpPr>
        <p:spPr>
          <a:xfrm>
            <a:off x="548640" y="4286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304538"/>
            <a:ext cx="10500055" cy="763524"/>
          </a:xfrm>
          <a:prstGeom prst="rect">
            <a:avLst/>
          </a:prstGeom>
          <a:noFill/>
        </p:spPr>
        <p:txBody>
          <a:bodyPr wrap="square" anchor="t" lIns="0" rIns="0" tIns="0" bIns="0">
            <a:spAutoFit/>
          </a:bodyPr>
          <a:lstStyle/>
          <a:p>
            <a:r>
              <a:rPr sz="1800" i="0" b="1">
                <a:solidFill>
                  <a:srgbClr val="2B211C"/>
                </a:solidFill>
                <a:latin typeface="Calibri"/>
              </a:rPr>
              <a:t>Act and follow up.</a:t>
            </a:r>
            <a:r>
              <a:rPr sz="1800" i="0" b="0">
                <a:solidFill>
                  <a:srgbClr val="2B211C"/>
                </a:solidFill>
                <a:latin typeface="Calibri"/>
              </a:rPr>
              <a:t> Record the reaction in the patient's notes and allergy record. Tell the patient which drug to avoid. Report the ADR (Chapter 9).</a:t>
            </a:r>
          </a:p>
        </p:txBody>
      </p:sp>
      <p:sp>
        <p:nvSpPr>
          <p:cNvPr id="16" name="Oval 15"/>
          <p:cNvSpPr/>
          <p:nvPr/>
        </p:nvSpPr>
        <p:spPr>
          <a:xfrm>
            <a:off x="548640" y="50954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113781"/>
            <a:ext cx="10500055" cy="1049274"/>
          </a:xfrm>
          <a:prstGeom prst="rect">
            <a:avLst/>
          </a:prstGeom>
          <a:noFill/>
        </p:spPr>
        <p:txBody>
          <a:bodyPr wrap="square" anchor="t" lIns="0" rIns="0" tIns="0" bIns="0">
            <a:spAutoFit/>
          </a:bodyPr>
          <a:lstStyle/>
          <a:p>
            <a:r>
              <a:rPr sz="1800" i="0" b="1">
                <a:solidFill>
                  <a:srgbClr val="2B211C"/>
                </a:solidFill>
                <a:latin typeface="Calibri"/>
              </a:rPr>
              <a:t>Prevent recurrence.</a:t>
            </a:r>
            <a:r>
              <a:rPr sz="1800" i="0" b="0">
                <a:solidFill>
                  <a:srgbClr val="2B211C"/>
                </a:solidFill>
                <a:latin typeface="Calibri"/>
              </a:rPr>
              <a:t> For serious or repeated reactions, educate prescribers, review the formulary or treatment guideline through the Drug and Therapeutics Committee, and inform the regulator and the manufacturer.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Managing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Mouth ulcers, blistering or a rash with fever after a new drug may be Stevens-Johnson syndrome. Stop the drug and refer urgently.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woman returns two days after starting co-trimoxazole with a widespread rash and mouth ulcers. You recognise a possible serious skin reaction. You tell her to stop the tablet and send her to the emergency department at once. Later you complete the causality assessment, record the allergy, and report the case to the EDA.</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ADR Causality and Management</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Unassessable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2B211C"/>
                </a:solidFill>
                <a:latin typeface="Calibri"/>
              </a:rPr>
              <a:t>A rash starts two days after a new drug, clears when it is stopped, and no other cause is found. It was not rechallenged. WHO-UMC category?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Possible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Probable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Unassessable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Good time link, positive dechallenge and no other cause: probable. A needs a clear case (often rechallenge); B would have other causes; D lacks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Possible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Probable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Definite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Doubtful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Naranjo total of 3 means the ADR is: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Possible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Probable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Definite</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Doubtful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1 to 4 is possible. B is 5-8, C is 9 or more, D is 0 or less.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Severe nausea managed at home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Mild headache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reaction needing hospital admission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Moderate drowsiness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reaction is "serious" in the regulatory sense?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Severe nausea managed at home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Mild headache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reaction needing hospital admission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Moderate drowsiness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Hospital admission makes an ADR serious. A, B and D may be intense but are not serious.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algorithm</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Look after the patient: stop the drug, give adrenaline, call for help</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EDA</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Review the formulary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collapses with wheezing and a swollen face minutes after an injection. What is the FIRST step?</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algorithm</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Look after the patient: stop the drug, give adrenaline, call for help</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EDA</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Review the formulary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in anaphylaxis. A, C and D come later.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patient had a similar reaction before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drug was found at toxic levels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reaction improved when the drug was stopped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There are no other causes that could explain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08</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8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8  ·  ADR Causality and Management</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the Naranjo algorithm, which answer adds +2 points?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patient had a similar reaction before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drug was found at toxic levels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reaction improved when the drug was stopped</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There are no other causes that could explain it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"No" to other causes scores +2. A, B and C each score +1.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8</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70-year-old man on digoxin develops nausea and yellow vision a week after clarithromycin is added. His digoxin level is high. Both symptoms settle after digoxin is withheld. He has no other illness to explain them. (a) Score the reaction with Naranjo (state your answer to each relevant question). (b) What is the category? (c) List the management steps.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ADR Causality and Management</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25</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8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3"/>
          </a:xfrm>
          <a:prstGeom prst="rect">
            <a:avLst/>
          </a:prstGeom>
          <a:noFill/>
        </p:spPr>
        <p:txBody>
          <a:bodyPr wrap="square" anchor="t" lIns="0" rIns="0" tIns="0" bIns="0">
            <a:spAutoFit/>
          </a:bodyPr>
          <a:lstStyle/>
          <a:p>
            <a:r>
              <a:rPr sz="2100" i="0" b="0">
                <a:solidFill>
                  <a:srgbClr val="FFFFFF"/>
                </a:solidFill>
                <a:latin typeface="Calibri"/>
              </a:rPr>
              <a:t>Causality rests on time, other causes, dechallenge and rechallenge.</a:t>
            </a:r>
          </a:p>
        </p:txBody>
      </p:sp>
      <p:sp>
        <p:nvSpPr>
          <p:cNvPr id="6" name="Oval 5"/>
          <p:cNvSpPr/>
          <p:nvPr/>
        </p:nvSpPr>
        <p:spPr>
          <a:xfrm>
            <a:off x="548640" y="26216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9"/>
            <a:ext cx="10500055" cy="728853"/>
          </a:xfrm>
          <a:prstGeom prst="rect">
            <a:avLst/>
          </a:prstGeom>
          <a:noFill/>
        </p:spPr>
        <p:txBody>
          <a:bodyPr wrap="square" anchor="t" lIns="0" rIns="0" tIns="0" bIns="0">
            <a:spAutoFit/>
          </a:bodyPr>
          <a:lstStyle/>
          <a:p>
            <a:r>
              <a:rPr sz="2100" i="0" b="0">
                <a:solidFill>
                  <a:srgbClr val="FFFFFF"/>
                </a:solidFill>
                <a:latin typeface="Calibri"/>
              </a:rPr>
              <a:t>WHO-UMC has six categories; Naranjo scores ten questions into four categories.</a:t>
            </a:r>
          </a:p>
        </p:txBody>
      </p:sp>
      <p:sp>
        <p:nvSpPr>
          <p:cNvPr id="8" name="Oval 7"/>
          <p:cNvSpPr/>
          <p:nvPr/>
        </p:nvSpPr>
        <p:spPr>
          <a:xfrm>
            <a:off x="548640" y="339623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2"/>
            <a:ext cx="10500055" cy="1062228"/>
          </a:xfrm>
          <a:prstGeom prst="rect">
            <a:avLst/>
          </a:prstGeom>
          <a:noFill/>
        </p:spPr>
        <p:txBody>
          <a:bodyPr wrap="square" anchor="t" lIns="0" rIns="0" tIns="0" bIns="0">
            <a:spAutoFit/>
          </a:bodyPr>
          <a:lstStyle/>
          <a:p>
            <a:r>
              <a:rPr sz="2100" i="0" b="0">
                <a:solidFill>
                  <a:srgbClr val="FFFFFF"/>
                </a:solidFill>
                <a:latin typeface="Calibri"/>
              </a:rPr>
              <a:t>Severity is intensity; seriousness is the outcome that drives regulatory reporting.</a:t>
            </a:r>
          </a:p>
        </p:txBody>
      </p:sp>
      <p:sp>
        <p:nvSpPr>
          <p:cNvPr id="10" name="Oval 9"/>
          <p:cNvSpPr/>
          <p:nvPr/>
        </p:nvSpPr>
        <p:spPr>
          <a:xfrm>
            <a:off x="548640" y="450418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522470"/>
            <a:ext cx="10500055" cy="728853"/>
          </a:xfrm>
          <a:prstGeom prst="rect">
            <a:avLst/>
          </a:prstGeom>
          <a:noFill/>
        </p:spPr>
        <p:txBody>
          <a:bodyPr wrap="square" anchor="t" lIns="0" rIns="0" tIns="0" bIns="0">
            <a:spAutoFit/>
          </a:bodyPr>
          <a:lstStyle/>
          <a:p>
            <a:r>
              <a:rPr sz="2100" i="0" b="0">
                <a:solidFill>
                  <a:srgbClr val="FFFFFF"/>
                </a:solidFill>
                <a:latin typeface="Calibri"/>
              </a:rPr>
              <a:t>Always look after the patient first: stop, treat, monitor, escalate.</a:t>
            </a:r>
          </a:p>
        </p:txBody>
      </p:sp>
      <p:sp>
        <p:nvSpPr>
          <p:cNvPr id="12" name="Oval 11"/>
          <p:cNvSpPr/>
          <p:nvPr/>
        </p:nvSpPr>
        <p:spPr>
          <a:xfrm>
            <a:off x="548640" y="527875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297043"/>
            <a:ext cx="10500055" cy="728853"/>
          </a:xfrm>
          <a:prstGeom prst="rect">
            <a:avLst/>
          </a:prstGeom>
          <a:noFill/>
        </p:spPr>
        <p:txBody>
          <a:bodyPr wrap="square" anchor="t" lIns="0" rIns="0" tIns="0" bIns="0">
            <a:spAutoFit/>
          </a:bodyPr>
          <a:lstStyle/>
          <a:p>
            <a:r>
              <a:rPr sz="2100" i="0" b="0">
                <a:solidFill>
                  <a:srgbClr val="FFFFFF"/>
                </a:solidFill>
                <a:latin typeface="Calibri"/>
              </a:rPr>
              <a:t>Then assess, record, report and prevent.</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