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Serotonin (5-HT) and noradrenaline (NA) are released from nerve endings. Their action ends mainly by reuptake: SERT takes up 5-HT and NET takes up NA. Inside the neuron, monoamine oxidase (MAO) breaks them down. MAO-A prefers 5-HT, NA and tyramine; MAO-B prefers dopamine. Presynaptic α2 autoreceptors act as a brake: when stimulated, they reduce NA and 5-HT release.</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The Disease in Brief.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Major depression is a common mood disorder. Core symptoms are low mood and loss of interest or pleasure for at least 2 weeks. Other symptoms include poor sleep, change in appetite, fatigue, poor concentration, guilt and thoughts of death or suicide. The monoamine hypothesis says that depression is linked to low 5-HT and NA activity in the brain. All antidepressants raise monoamine activity within hours. Yet mood improves only after 2 to 4 weeks, and full benefit takes 6 to 12 weeks. This delay suggests that the real effect comes from slow adaptive changes. These include down-regulation of receptors and increased neurotrophic factors such as BDNF.</a:t>
            </a:r>
          </a:p>
          <a:p/>
          <a:p>
            <a:r>
              <a:t>About 90 s.  Next: The Disease in Brief.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Major depression is a common mood disorder. Core symptoms are low mood and loss of interest or pleasure for at least 2 weeks. Other symptoms include poor sleep, change in appetite, fatigue, poor concentration, guilt and thoughts of death or suicide. The monoamine hypothesis says that depression is linked to low 5-HT and NA activity in the brain. All antidepressants raise monoamine activity within hours. Yet mood improves only after 2 to 4 weeks, and full benefit takes 6 to 12 weeks. This delay suggests that the real effect comes from slow adaptive changes. These include down-regulation of receptors and increased neurotrophic factors such as BDNF.</a:t>
            </a:r>
          </a:p>
          <a:p/>
          <a:p>
            <a:r>
              <a:t>About 60 s.  Next: Psychological Therapy and Antidepressants.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Antidepressants are not the only treatment. NICE NG222 stratifies treatment by severity and patient choice: Continue an antidepressant for at least 6 months after remission to reduce relapse.</a:t>
            </a:r>
          </a:p>
          <a:p/>
          <a:p>
            <a:r>
              <a:t>About 60 s.  Next: Antidepressant Classes.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150 s.  Next: Antidepressant Classes.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150 s.  Next: SSRIs.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210 s.  Next: Tricyclic antidepressants.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210 s.  Next: Tricyclic antidepressants.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150 s.  Next: Mirtazapine, trazodone and bupropion.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210 s.  Next: Mirtazapine, trazodone and bupropion.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are the usual first-choice antidepressants. They are safer in overdose than TCAs and have fewer receptor side effects. Uses: depression, generalised anxiety disorder, panic disorder, obsessive–compulsive disorder (usually higher doses) and bulimia. Adverse effects fall into two groups: Other effects: hyponatraemia (SIADH) in older people, bleeding risk with NSAIDs or anticoagulants, and dose-related QT prolongation with citalopram and escitalopram. Fluoxetine and paroxetine strongly inhibit CYP2D6. 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 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 MAO inhibitors block the enzyme that breaks down monoamines. They are effective but are used only in resistant depression, because of food and drug interactions. 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 Cheese reaction.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a:p/>
          <a:p>
            <a:r>
              <a:t>About 180 s.  Next: Serotonin syndrome.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Serotonin syndrome.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 syndrome is caused by too much serotonin, usually from two serotonergic drugs together. It has three groups of features: Common causes are an MAO inhibitor with an SSRI, SNRI, TCA, tramadol, pethidine, linezolid or triptans. Management: stop the drugs, cool and sedate with a benzodiazepine, and give cyproheptadine (a 5-HT2A antagonist) in moderate cases. Severe cases need intensive care. TCAs are dangerous in overdose; a week's supply can kill. Features are: Treatment: airway support and an ECG. Give IV sodium bicarbonate if the QRS is wide, there is arrhythmia or hypotension, or acidosis is present. Treat seizures with a benzodiazepine. Avoid flumazenil and class Ia and Ic antiarrhythmics.</a:t>
            </a:r>
          </a:p>
          <a:p/>
          <a:p>
            <a:r>
              <a:t>About 60 s.  Next: Tricyclic overdose.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 syndrome is caused by too much serotonin, usually from two serotonergic drugs together. It has three groups of features: Common causes are an MAO inhibitor with an SSRI, SNRI, TCA, tramadol, pethidine, linezolid or triptans. Management: stop the drugs, cool and sedate with a benzodiazepine, and give cyproheptadine (a 5-HT2A antagonist) in moderate cases. Severe cases need intensive care. TCAs are dangerous in overdose; a week's supply can kill. Features are: Treatment: airway support and an ECG. Give IV sodium bicarbonate if the QRS is wide, there is arrhythmia or hypotension, or acidosis is present. Treat seizures with a benzodiazepine. Avoid flumazenil and class Ia and Ic antiarrhythmics.</a:t>
            </a:r>
          </a:p>
          <a:p/>
          <a:p>
            <a:r>
              <a:t>About 90 s.  Next: Tricyclic overdose.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 syndrome is caused by too much serotonin, usually from two serotonergic drugs together. It has three groups of features: Common causes are an MAO inhibitor with an SSRI, SNRI, TCA, tramadol, pethidine, linezolid or triptans. Management: stop the drugs, cool and sedate with a benzodiazepine, and give cyproheptadine (a 5-HT2A antagonist) in moderate cases. Severe cases need intensive care. TCAs are dangerous in overdose; a week's supply can kill. Features are: Treatment: airway support and an ECG. Give IV sodium bicarbonate if the QRS is wide, there is arrhythmia or hypotension, or acidosis is present. Treat seizures with a benzodiazepine. Avoid flumazenil and class Ia and Ic antiarrhythmics.</a:t>
            </a:r>
          </a:p>
          <a:p/>
          <a:p>
            <a:r>
              <a:t>About 60 s.  Next: Serious Toxicity.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 syndrome is caused by too much serotonin, usually from two serotonergic drugs together. It has three groups of features: Common causes are an MAO inhibitor with an SSRI, SNRI, TCA, tramadol, pethidine, linezolid or triptans. Management: stop the drugs, cool and sedate with a benzodiazepine, and give cyproheptadine (a 5-HT2A antagonist) in moderate cases. Severe cases need intensive care. TCAs are dangerous in overdose; a week's supply can kill. Features are: Treatment: airway support and an ECG. Give IV sodium bicarbonate if the QRS is wide, there is arrhythmia or hypotension, or acidosis is present. Treat seizures with a benzodiazepine. Avoid flumazenil and class Ia and Ic antiarrhythmics.</a:t>
            </a:r>
          </a:p>
          <a:p/>
          <a:p>
            <a:r>
              <a:t>About 60 s.  Next: Serious Toxicity.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 syndrome is caused by too much serotonin, usually from two serotonergic drugs together. It has three groups of features: Common causes are an MAO inhibitor with an SSRI, SNRI, TCA, tramadol, pethidine, linezolid or triptans. Management: stop the drugs, cool and sedate with a benzodiazepine, and give cyproheptadine (a 5-HT2A antagonist) in moderate cases. Severe cases need intensive care. TCAs are dangerous in overdose; a week's supply can kill. Features are: Treatment: airway support and an ECG. Give IV sodium bicarbonate if the QRS is wide, there is arrhythmia or hypotension, or acidosis is present. Treat seizures with a benzodiazepine. Avoid flumazenil and class Ia and Ic antiarrhythmics.</a:t>
            </a:r>
          </a:p>
          <a:p/>
          <a:p>
            <a:r>
              <a:t>About 60 s.  Next: Stopping an Antidepressant.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Stopping suddenly after more than 4 weeks can cause a discontinuation syndrome. It is not relapse of depression. Features are dizziness, "electric-shock" sensations, anxiety, irritability, flu-like symptoms and vivid dreams. It is most common with paroxetine and venlafaxine, which have short half-lives. It is least common with fluoxetine. Reduce the dose slowly over at least 4 weeks, and longer if symptoms appear.</a:t>
            </a:r>
          </a:p>
          <a:p/>
          <a:p>
            <a:r>
              <a:t>About 60 s.  Next: Choosing a Drug (1/2).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choosing, consider previous response, adverse-effect profile, other illnesses, other drugs and the patient's preference.</a:t>
            </a:r>
          </a:p>
          <a:p/>
          <a:p>
            <a:r>
              <a:t>About 30 s.  Next: Choosing a Drug (2/2).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choosing, consider previous response, adverse-effect profile, other illnesses, other drugs and the patient's preference.</a:t>
            </a:r>
          </a:p>
          <a:p/>
          <a:p>
            <a:r>
              <a:t>About 30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Mood improves as receptors down-regulate and neurotrophic factors rise. A is wrong; absorption is fast. C is wrong; SERT is blocked within hours. D is not true of SSRIs as a class.</a:t>
            </a:r>
          </a:p>
          <a:p/>
          <a:p>
            <a:r>
              <a:t>About 60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Blocking the α2 brake raises NA and 5-HT release. A is SSRIs. B is MAO inhibitors. C is not mirtazapine's action.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α1 block causes postural hypotension. B causes sedation. C causes anticholinergic effects. D blocks nausea.</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Mental change, hyperthermia and clonus after an MAO inhibitor plus tramadol is serotonin syndrome. A is a hypertensive crisis from tyramine. B follows D2 block and causes rigidity, not clonus. D has no clonus.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Sodium bicarbonate treats the Na+ channel block and acidosis. B can cause seizures in TCA overdose. C is for serotonin syndrome. D alone is not enough.</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SSRI sexual dysfunction often persists and must be managed. A is the old error. C is wrong; it is serotonergic. D does not treat it.</a:t>
            </a:r>
          </a:p>
          <a:p/>
          <a:p>
            <a:r>
              <a:t>About 60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Aged cheese is rich in tyramine. A and C are fresh dairy foods, low in tyramine. B contains none.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Duloxetine treats both depression and diabetic neuropathic pain. A has strong withdrawal and interactions. B does not treat pain. D is reserved for resistant cases.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Antidepressants carry a warning for suicidal thoughts in patients under 25. B is wrong; the drug takes weeks. C is not true of fluoxetine. D applies to MAO inhibitors.</a:t>
            </a:r>
          </a:p>
          <a:p/>
          <a:p>
            <a:r>
              <a:t>About 60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Bupropion lowers the seizure threshold and helps smoking cessation. A, C and D do not have both features.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04</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4</a:t>
            </a:r>
          </a:p>
          <a:p>
            <a:pPr>
              <a:spcBef>
                <a:spcPts val="1400"/>
              </a:spcBef>
            </a:pPr>
            <a:r>
              <a:rPr sz="3600" i="0" b="1">
                <a:solidFill>
                  <a:srgbClr val="FFFFFF"/>
                </a:solidFill>
                <a:latin typeface="Cambria"/>
              </a:rPr>
              <a:t>Depression and Antidepressant Drugs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60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941324"/>
          </a:xfrm>
          <a:prstGeom prst="rect">
            <a:avLst/>
          </a:prstGeom>
          <a:noFill/>
        </p:spPr>
        <p:txBody>
          <a:bodyPr wrap="square" anchor="t" lIns="0" rIns="0" tIns="0" bIns="0">
            <a:spAutoFit/>
          </a:bodyPr>
          <a:lstStyle/>
          <a:p>
            <a:r>
              <a:rPr sz="2000" i="0" b="0">
                <a:solidFill>
                  <a:srgbClr val="1A1F36"/>
                </a:solidFill>
                <a:latin typeface="Calibri"/>
              </a:rPr>
              <a:t>Explain the monoamine basis of depression and the delayed onset of antidepressants.</a:t>
            </a:r>
          </a:p>
        </p:txBody>
      </p:sp>
      <p:sp>
        <p:nvSpPr>
          <p:cNvPr id="10" name="Oval 9"/>
          <p:cNvSpPr/>
          <p:nvPr/>
        </p:nvSpPr>
        <p:spPr>
          <a:xfrm>
            <a:off x="548640" y="25598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578100"/>
            <a:ext cx="6629400" cy="623824"/>
          </a:xfrm>
          <a:prstGeom prst="rect">
            <a:avLst/>
          </a:prstGeom>
          <a:noFill/>
        </p:spPr>
        <p:txBody>
          <a:bodyPr wrap="square" anchor="t" lIns="0" rIns="0" tIns="0" bIns="0">
            <a:spAutoFit/>
          </a:bodyPr>
          <a:lstStyle/>
          <a:p>
            <a:r>
              <a:rPr sz="2000" i="0" b="0">
                <a:solidFill>
                  <a:srgbClr val="1A1F36"/>
                </a:solidFill>
                <a:latin typeface="Calibri"/>
              </a:rPr>
              <a:t>Describe the mechanism of each antidepressant class.</a:t>
            </a:r>
          </a:p>
        </p:txBody>
      </p:sp>
      <p:sp>
        <p:nvSpPr>
          <p:cNvPr id="12" name="Oval 11"/>
          <p:cNvSpPr/>
          <p:nvPr/>
        </p:nvSpPr>
        <p:spPr>
          <a:xfrm>
            <a:off x="548640" y="32293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247644"/>
            <a:ext cx="6629400" cy="941324"/>
          </a:xfrm>
          <a:prstGeom prst="rect">
            <a:avLst/>
          </a:prstGeom>
          <a:noFill/>
        </p:spPr>
        <p:txBody>
          <a:bodyPr wrap="square" anchor="t" lIns="0" rIns="0" tIns="0" bIns="0">
            <a:spAutoFit/>
          </a:bodyPr>
          <a:lstStyle/>
          <a:p>
            <a:r>
              <a:rPr sz="2000" i="0" b="0">
                <a:solidFill>
                  <a:srgbClr val="1A1F36"/>
                </a:solidFill>
                <a:latin typeface="Calibri"/>
              </a:rPr>
              <a:t>Link each common adverse effect to the receptor that causes it.</a:t>
            </a:r>
          </a:p>
        </p:txBody>
      </p:sp>
      <p:sp>
        <p:nvSpPr>
          <p:cNvPr id="14" name="Oval 13"/>
          <p:cNvSpPr/>
          <p:nvPr/>
        </p:nvSpPr>
        <p:spPr>
          <a:xfrm>
            <a:off x="548640" y="42164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234688"/>
            <a:ext cx="6629400" cy="941324"/>
          </a:xfrm>
          <a:prstGeom prst="rect">
            <a:avLst/>
          </a:prstGeom>
          <a:noFill/>
        </p:spPr>
        <p:txBody>
          <a:bodyPr wrap="square" anchor="t" lIns="0" rIns="0" tIns="0" bIns="0">
            <a:spAutoFit/>
          </a:bodyPr>
          <a:lstStyle/>
          <a:p>
            <a:r>
              <a:rPr sz="2000" i="0" b="0">
                <a:solidFill>
                  <a:srgbClr val="1A1F36"/>
                </a:solidFill>
                <a:latin typeface="Calibri"/>
              </a:rPr>
              <a:t>Recognise serotonin syndrome, the cheese reaction and tricyclic overdose, and outline their management.</a:t>
            </a:r>
          </a:p>
        </p:txBody>
      </p:sp>
      <p:sp>
        <p:nvSpPr>
          <p:cNvPr id="16" name="Oval 15"/>
          <p:cNvSpPr/>
          <p:nvPr/>
        </p:nvSpPr>
        <p:spPr>
          <a:xfrm>
            <a:off x="548640" y="520344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221732"/>
            <a:ext cx="6629400" cy="941324"/>
          </a:xfrm>
          <a:prstGeom prst="rect">
            <a:avLst/>
          </a:prstGeom>
          <a:noFill/>
        </p:spPr>
        <p:txBody>
          <a:bodyPr wrap="square" anchor="t" lIns="0" rIns="0" tIns="0" bIns="0">
            <a:spAutoFit/>
          </a:bodyPr>
          <a:lstStyle/>
          <a:p>
            <a:r>
              <a:rPr sz="2000" i="0" b="0">
                <a:solidFill>
                  <a:srgbClr val="1A1F36"/>
                </a:solidFill>
                <a:latin typeface="Calibri"/>
              </a:rPr>
              <a:t>Choose an antidepressant for a patient, and counsel on onset, adverse effects and stopping.</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60</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The Disease in Brief</a:t>
            </a:r>
          </a:p>
        </p:txBody>
      </p:sp>
      <p:sp>
        <p:nvSpPr>
          <p:cNvPr id="10" name="Oval 9"/>
          <p:cNvSpPr/>
          <p:nvPr/>
        </p:nvSpPr>
        <p:spPr>
          <a:xfrm>
            <a:off x="548640"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61514"/>
            <a:ext cx="4678527" cy="1173987"/>
          </a:xfrm>
          <a:prstGeom prst="rect">
            <a:avLst/>
          </a:prstGeom>
          <a:noFill/>
        </p:spPr>
        <p:txBody>
          <a:bodyPr wrap="square" anchor="t" lIns="0" rIns="0" tIns="0" bIns="0">
            <a:spAutoFit/>
          </a:bodyPr>
          <a:lstStyle/>
          <a:p>
            <a:r>
              <a:rPr sz="2200" i="0" b="0">
                <a:solidFill>
                  <a:srgbClr val="1A1F36"/>
                </a:solidFill>
                <a:latin typeface="Calibri"/>
              </a:rPr>
              <a:t>Psychological Therapy and Antidepressants</a:t>
            </a:r>
          </a:p>
        </p:txBody>
      </p:sp>
      <p:sp>
        <p:nvSpPr>
          <p:cNvPr id="12" name="Oval 11"/>
          <p:cNvSpPr/>
          <p:nvPr/>
        </p:nvSpPr>
        <p:spPr>
          <a:xfrm>
            <a:off x="548640" y="366293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81221"/>
            <a:ext cx="4678527" cy="824737"/>
          </a:xfrm>
          <a:prstGeom prst="rect">
            <a:avLst/>
          </a:prstGeom>
          <a:noFill/>
        </p:spPr>
        <p:txBody>
          <a:bodyPr wrap="square" anchor="t" lIns="0" rIns="0" tIns="0" bIns="0">
            <a:spAutoFit/>
          </a:bodyPr>
          <a:lstStyle/>
          <a:p>
            <a:r>
              <a:rPr sz="2200" i="0" b="0">
                <a:solidFill>
                  <a:srgbClr val="1A1F36"/>
                </a:solidFill>
                <a:latin typeface="Calibri"/>
              </a:rPr>
              <a:t>Antidepressant Classes</a:t>
            </a:r>
          </a:p>
        </p:txBody>
      </p:sp>
      <p:sp>
        <p:nvSpPr>
          <p:cNvPr id="14" name="Oval 13"/>
          <p:cNvSpPr/>
          <p:nvPr/>
        </p:nvSpPr>
        <p:spPr>
          <a:xfrm>
            <a:off x="548640" y="453339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551679"/>
            <a:ext cx="4678527" cy="824737"/>
          </a:xfrm>
          <a:prstGeom prst="rect">
            <a:avLst/>
          </a:prstGeom>
          <a:noFill/>
        </p:spPr>
        <p:txBody>
          <a:bodyPr wrap="square" anchor="t" lIns="0" rIns="0" tIns="0" bIns="0">
            <a:spAutoFit/>
          </a:bodyPr>
          <a:lstStyle/>
          <a:p>
            <a:r>
              <a:rPr sz="2200" i="0" b="0">
                <a:solidFill>
                  <a:srgbClr val="1A1F36"/>
                </a:solidFill>
                <a:latin typeface="Calibri"/>
              </a:rPr>
              <a:t>Serious Toxicity</a:t>
            </a:r>
          </a:p>
        </p:txBody>
      </p:sp>
      <p:sp>
        <p:nvSpPr>
          <p:cNvPr id="16" name="Oval 15"/>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Stopping an Antidepressant</a:t>
            </a:r>
          </a:p>
        </p:txBody>
      </p:sp>
      <p:sp>
        <p:nvSpPr>
          <p:cNvPr id="18" name="Oval 17"/>
          <p:cNvSpPr/>
          <p:nvPr/>
        </p:nvSpPr>
        <p:spPr>
          <a:xfrm>
            <a:off x="6370167"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0" name="Oval 19"/>
          <p:cNvSpPr/>
          <p:nvPr/>
        </p:nvSpPr>
        <p:spPr>
          <a:xfrm>
            <a:off x="6370167"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2" name="Oval 21"/>
          <p:cNvSpPr/>
          <p:nvPr/>
        </p:nvSpPr>
        <p:spPr>
          <a:xfrm>
            <a:off x="6370167"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The Disease in Brief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808988"/>
          </a:xfrm>
          <a:prstGeom prst="rect">
            <a:avLst/>
          </a:prstGeom>
          <a:noFill/>
        </p:spPr>
        <p:txBody>
          <a:bodyPr wrap="square" anchor="t" lIns="0" rIns="0" tIns="0" bIns="0">
            <a:spAutoFit/>
          </a:bodyPr>
          <a:lstStyle/>
          <a:p>
            <a:r>
              <a:rPr sz="2100" i="0" b="0">
                <a:solidFill>
                  <a:srgbClr val="1A1F36"/>
                </a:solidFill>
                <a:latin typeface="Calibri"/>
              </a:rPr>
              <a:t>Major depression is a common mood disorder. Core symptoms are low mood and loss of interest or pleasure for at least 2 weeks. Other symptoms include poor sleep, change in appetite, fatigue, poor concentration, guilt and thoughts of death or suicide.</a:t>
            </a:r>
          </a:p>
        </p:txBody>
      </p:sp>
      <p:sp>
        <p:nvSpPr>
          <p:cNvPr id="10" name="Oval 9"/>
          <p:cNvSpPr/>
          <p:nvPr/>
        </p:nvSpPr>
        <p:spPr>
          <a:xfrm>
            <a:off x="548640" y="342747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3445764"/>
            <a:ext cx="10500055" cy="2475738"/>
          </a:xfrm>
          <a:prstGeom prst="rect">
            <a:avLst/>
          </a:prstGeom>
          <a:noFill/>
        </p:spPr>
        <p:txBody>
          <a:bodyPr wrap="square" anchor="t" lIns="0" rIns="0" tIns="0" bIns="0">
            <a:spAutoFit/>
          </a:bodyPr>
          <a:lstStyle/>
          <a:p>
            <a:r>
              <a:rPr sz="2100" i="0" b="0">
                <a:solidFill>
                  <a:srgbClr val="1A1F36"/>
                </a:solidFill>
                <a:latin typeface="Calibri"/>
              </a:rPr>
              <a:t>The </a:t>
            </a:r>
            <a:r>
              <a:rPr sz="2100" i="0" b="1">
                <a:solidFill>
                  <a:srgbClr val="1A1F36"/>
                </a:solidFill>
                <a:latin typeface="Calibri"/>
              </a:rPr>
              <a:t>monoamine hypothesis</a:t>
            </a:r>
            <a:r>
              <a:rPr sz="2100" i="0" b="0">
                <a:solidFill>
                  <a:srgbClr val="1A1F36"/>
                </a:solidFill>
                <a:latin typeface="Calibri"/>
              </a:rPr>
              <a:t> says that depression is linked to low 5-HT and NA activity in the brain. All antidepressants raise monoamine activity within hours. Yet mood improves only after 2 to 4 weeks, and full benefit takes 6 to 12 weeks. This delay suggests that the real effect comes from slow adaptive changes. These include down-regulation of receptors and increased neurotrophic factors such as BDNF.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The Disease in Brief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Monoamines rise within hours, but mood improves after weeks. Tell patients this, or they will stop the drug early.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Psychological Therapy and Antidepressants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Antidepressants are not the only treatment. NICE NG222 stratifies treatment by severity and patient choice:</a:t>
            </a:r>
          </a:p>
          <a:p>
            <a:pPr>
              <a:spcAft>
                <a:spcPts val="800"/>
              </a:spcAft>
            </a:pPr>
            <a:r>
              <a:rPr sz="1800" i="0" b="0">
                <a:solidFill>
                  <a:srgbClr val="1A1F36"/>
                </a:solidFill>
                <a:latin typeface="Calibri"/>
              </a:rPr>
              <a:t>Continue an antidepressant for at least 6 months after remission to reduce relapse.</a:t>
            </a:r>
          </a:p>
        </p:txBody>
      </p:sp>
      <p:sp>
        <p:nvSpPr>
          <p:cNvPr id="9" name="Oval 8"/>
          <p:cNvSpPr/>
          <p:nvPr/>
        </p:nvSpPr>
        <p:spPr>
          <a:xfrm>
            <a:off x="548640" y="29580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976372"/>
            <a:ext cx="10500055" cy="1142237"/>
          </a:xfrm>
          <a:prstGeom prst="rect">
            <a:avLst/>
          </a:prstGeom>
          <a:noFill/>
        </p:spPr>
        <p:txBody>
          <a:bodyPr wrap="square" anchor="t" lIns="0" rIns="0" tIns="0" bIns="0">
            <a:spAutoFit/>
          </a:bodyPr>
          <a:lstStyle/>
          <a:p>
            <a:r>
              <a:rPr sz="2100" i="0" b="1">
                <a:solidFill>
                  <a:srgbClr val="1A1F36"/>
                </a:solidFill>
                <a:latin typeface="Calibri"/>
              </a:rPr>
              <a:t>Less severe depression:</a:t>
            </a:r>
            <a:r>
              <a:rPr sz="2100" i="0" b="0">
                <a:solidFill>
                  <a:srgbClr val="1A1F36"/>
                </a:solidFill>
                <a:latin typeface="Calibri"/>
              </a:rPr>
              <a:t> guided self-help, group CBT or other psychological therapy first. An antidepressant is offered only if the patient prefers it.</a:t>
            </a:r>
          </a:p>
        </p:txBody>
      </p:sp>
      <p:sp>
        <p:nvSpPr>
          <p:cNvPr id="11" name="Oval 10"/>
          <p:cNvSpPr/>
          <p:nvPr/>
        </p:nvSpPr>
        <p:spPr>
          <a:xfrm>
            <a:off x="548640" y="41460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4164329"/>
            <a:ext cx="10500055" cy="1475612"/>
          </a:xfrm>
          <a:prstGeom prst="rect">
            <a:avLst/>
          </a:prstGeom>
          <a:noFill/>
        </p:spPr>
        <p:txBody>
          <a:bodyPr wrap="square" anchor="t" lIns="0" rIns="0" tIns="0" bIns="0">
            <a:spAutoFit/>
          </a:bodyPr>
          <a:lstStyle/>
          <a:p>
            <a:r>
              <a:rPr sz="2100" i="0" b="1">
                <a:solidFill>
                  <a:srgbClr val="1A1F36"/>
                </a:solidFill>
                <a:latin typeface="Calibri"/>
              </a:rPr>
              <a:t>More severe depression:</a:t>
            </a:r>
            <a:r>
              <a:rPr sz="2100" i="0" b="0">
                <a:solidFill>
                  <a:srgbClr val="1A1F36"/>
                </a:solidFill>
                <a:latin typeface="Calibri"/>
              </a:rPr>
              <a:t> CBT plus an antidepressant is the most effective choice. An antidepressant alone or psychological therapy alone are also options, according to need and preference.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Antidepressant Classes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pic>
        <p:nvPicPr>
          <p:cNvPr id="8" name="Picture 7" descr="Presynaptic neuron with MAO blocked by MAO inhibitors, SERT and NET blocked by SSRIs, SNRIs and TCAs, and the alpha-2 autoreceptor blocked by mirtazapine. A side note links alpha-1, H1 and muscarinic block to adverse effects."/>
          <p:cNvPicPr>
            <a:picLocks noChangeAspect="1"/>
          </p:cNvPicPr>
          <p:nvPr/>
        </p:nvPicPr>
        <p:blipFill>
          <a:blip r:embed="rId4"/>
          <a:stretch>
            <a:fillRect/>
          </a:stretch>
        </p:blipFill>
        <p:spPr>
          <a:xfrm>
            <a:off x="1796020" y="1554480"/>
            <a:ext cx="8599655" cy="4206240"/>
          </a:xfrm>
          <a:prstGeom prst="rect">
            <a:avLst/>
          </a:prstGeom>
        </p:spPr>
      </p:pic>
      <p:sp>
        <p:nvSpPr>
          <p:cNvPr id="9" name="TextBox 8"/>
          <p:cNvSpPr txBox="1"/>
          <p:nvPr/>
        </p:nvSpPr>
        <p:spPr>
          <a:xfrm>
            <a:off x="548640" y="5852159"/>
            <a:ext cx="11094415" cy="365760"/>
          </a:xfrm>
          <a:prstGeom prst="rect">
            <a:avLst/>
          </a:prstGeom>
          <a:noFill/>
        </p:spPr>
        <p:txBody>
          <a:bodyPr wrap="square" anchor="t" lIns="0" rIns="0" tIns="0" bIns="0">
            <a:spAutoFit/>
          </a:bodyPr>
          <a:lstStyle/>
          <a:p>
            <a:pPr algn="ctr"/>
            <a:r>
              <a:rPr sz="1300" i="1" b="0">
                <a:solidFill>
                  <a:srgbClr val="5A6072"/>
                </a:solidFill>
                <a:latin typeface="Calibri"/>
              </a:rPr>
              <a:t>Serotonin and noradrenaline synapse: targets of the antidepressant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Antidepressant Classes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4617720"/>
        </p:xfrm>
        <a:graphic>
          <a:graphicData uri="http://schemas.openxmlformats.org/drawingml/2006/table">
            <a:tbl>
              <a:tblPr firstRow="0" bandRow="0">
                <a:tableStyleId>{5C22544A-7EE6-4342-B048-85BDC9FD1C3A}</a:tableStyleId>
              </a:tblPr>
              <a:tblGrid>
                <a:gridCol w="1722735"/>
                <a:gridCol w="4685839"/>
                <a:gridCol w="4685839"/>
              </a:tblGrid>
              <a:tr h="577215">
                <a:tc>
                  <a:txBody>
                    <a:bodyPr/>
                    <a:lstStyle/>
                    <a:p>
                      <a:r>
                        <a:rPr sz="1400" i="0" b="1">
                          <a:solidFill>
                            <a:srgbClr val="FFFFFF"/>
                          </a:solidFill>
                          <a:latin typeface="Calibri"/>
                        </a:rPr>
                        <a:t>Class</a:t>
                      </a:r>
                    </a:p>
                  </a:txBody>
                  <a:tcPr marL="109728" marR="109728" marT="45720" marB="45720" anchor="ctr">
                    <a:solidFill>
                      <a:srgbClr val="1B2A8C"/>
                    </a:solidFill>
                  </a:tcPr>
                </a:tc>
                <a:tc>
                  <a:txBody>
                    <a:bodyPr/>
                    <a:lstStyle/>
                    <a:p>
                      <a:r>
                        <a:rPr sz="1400" i="0" b="1">
                          <a:solidFill>
                            <a:srgbClr val="FFFFFF"/>
                          </a:solidFill>
                          <a:latin typeface="Calibri"/>
                        </a:rPr>
                        <a:t>Members</a:t>
                      </a:r>
                    </a:p>
                  </a:txBody>
                  <a:tcPr marL="109728" marR="109728" marT="45720" marB="45720" anchor="ctr">
                    <a:solidFill>
                      <a:srgbClr val="1B2A8C"/>
                    </a:solidFill>
                  </a:tcPr>
                </a:tc>
                <a:tc>
                  <a:txBody>
                    <a:bodyPr/>
                    <a:lstStyle/>
                    <a:p>
                      <a:r>
                        <a:rPr sz="1400" i="0" b="1">
                          <a:solidFill>
                            <a:srgbClr val="FFFFFF"/>
                          </a:solidFill>
                          <a:latin typeface="Calibri"/>
                        </a:rPr>
                        <a:t>Mechanism</a:t>
                      </a:r>
                    </a:p>
                  </a:txBody>
                  <a:tcPr marL="109728" marR="109728" marT="45720" marB="45720" anchor="ctr">
                    <a:solidFill>
                      <a:srgbClr val="1B2A8C"/>
                    </a:solidFill>
                  </a:tcPr>
                </a:tc>
              </a:tr>
              <a:tr h="577215">
                <a:tc>
                  <a:txBody>
                    <a:bodyPr/>
                    <a:lstStyle/>
                    <a:p>
                      <a:r>
                        <a:rPr sz="1500" i="0" b="1">
                          <a:solidFill>
                            <a:srgbClr val="1A1F36"/>
                          </a:solidFill>
                          <a:latin typeface="Calibri"/>
                        </a:rPr>
                        <a:t>SSRIs</a:t>
                      </a:r>
                    </a:p>
                  </a:txBody>
                  <a:tcPr marL="109728" marR="109728" marT="45720" marB="45720" anchor="ctr">
                    <a:solidFill>
                      <a:srgbClr val="FFFFFF"/>
                    </a:solidFill>
                  </a:tcPr>
                </a:tc>
                <a:tc>
                  <a:txBody>
                    <a:bodyPr/>
                    <a:lstStyle/>
                    <a:p>
                      <a:r>
                        <a:rPr sz="1500" i="0" b="0">
                          <a:solidFill>
                            <a:srgbClr val="1A1F36"/>
                          </a:solidFill>
                          <a:latin typeface="Calibri"/>
                        </a:rPr>
                        <a:t>Fluoxetine, sertraline, citalopram, escitalopram, paroxetine</a:t>
                      </a:r>
                    </a:p>
                  </a:txBody>
                  <a:tcPr marL="109728" marR="109728" marT="45720" marB="45720" anchor="ctr">
                    <a:solidFill>
                      <a:srgbClr val="FFFFFF"/>
                    </a:solidFill>
                  </a:tcPr>
                </a:tc>
                <a:tc>
                  <a:txBody>
                    <a:bodyPr/>
                    <a:lstStyle/>
                    <a:p>
                      <a:r>
                        <a:rPr sz="1500" i="0" b="0">
                          <a:solidFill>
                            <a:srgbClr val="1A1F36"/>
                          </a:solidFill>
                          <a:latin typeface="Calibri"/>
                        </a:rPr>
                        <a:t>Block SERT</a:t>
                      </a:r>
                    </a:p>
                  </a:txBody>
                  <a:tcPr marL="109728" marR="109728" marT="45720" marB="45720" anchor="ctr">
                    <a:solidFill>
                      <a:srgbClr val="FFFFFF"/>
                    </a:solidFill>
                  </a:tcPr>
                </a:tc>
              </a:tr>
              <a:tr h="577215">
                <a:tc>
                  <a:txBody>
                    <a:bodyPr/>
                    <a:lstStyle/>
                    <a:p>
                      <a:r>
                        <a:rPr sz="1500" i="0" b="1">
                          <a:solidFill>
                            <a:srgbClr val="1A1F36"/>
                          </a:solidFill>
                          <a:latin typeface="Calibri"/>
                        </a:rPr>
                        <a:t>SNRIs</a:t>
                      </a:r>
                    </a:p>
                  </a:txBody>
                  <a:tcPr marL="109728" marR="109728" marT="45720" marB="45720" anchor="ctr">
                    <a:solidFill>
                      <a:srgbClr val="F1F2F8"/>
                    </a:solidFill>
                  </a:tcPr>
                </a:tc>
                <a:tc>
                  <a:txBody>
                    <a:bodyPr/>
                    <a:lstStyle/>
                    <a:p>
                      <a:r>
                        <a:rPr sz="1500" i="0" b="0">
                          <a:solidFill>
                            <a:srgbClr val="1A1F36"/>
                          </a:solidFill>
                          <a:latin typeface="Calibri"/>
                        </a:rPr>
                        <a:t>Venlafaxine, duloxetine</a:t>
                      </a:r>
                    </a:p>
                  </a:txBody>
                  <a:tcPr marL="109728" marR="109728" marT="45720" marB="45720" anchor="ctr">
                    <a:solidFill>
                      <a:srgbClr val="F1F2F8"/>
                    </a:solidFill>
                  </a:tcPr>
                </a:tc>
                <a:tc>
                  <a:txBody>
                    <a:bodyPr/>
                    <a:lstStyle/>
                    <a:p>
                      <a:r>
                        <a:rPr sz="1500" i="0" b="0">
                          <a:solidFill>
                            <a:srgbClr val="1A1F36"/>
                          </a:solidFill>
                          <a:latin typeface="Calibri"/>
                        </a:rPr>
                        <a:t>Block SERT and NET</a:t>
                      </a:r>
                    </a:p>
                  </a:txBody>
                  <a:tcPr marL="109728" marR="109728" marT="45720" marB="45720" anchor="ctr">
                    <a:solidFill>
                      <a:srgbClr val="F1F2F8"/>
                    </a:solidFill>
                  </a:tcPr>
                </a:tc>
              </a:tr>
              <a:tr h="577215">
                <a:tc>
                  <a:txBody>
                    <a:bodyPr/>
                    <a:lstStyle/>
                    <a:p>
                      <a:r>
                        <a:rPr sz="1500" i="0" b="1">
                          <a:solidFill>
                            <a:srgbClr val="1A1F36"/>
                          </a:solidFill>
                          <a:latin typeface="Calibri"/>
                        </a:rPr>
                        <a:t>TCAs</a:t>
                      </a:r>
                    </a:p>
                  </a:txBody>
                  <a:tcPr marL="109728" marR="109728" marT="45720" marB="45720" anchor="ctr">
                    <a:solidFill>
                      <a:srgbClr val="FFFFFF"/>
                    </a:solidFill>
                  </a:tcPr>
                </a:tc>
                <a:tc>
                  <a:txBody>
                    <a:bodyPr/>
                    <a:lstStyle/>
                    <a:p>
                      <a:r>
                        <a:rPr sz="1500" i="0" b="0">
                          <a:solidFill>
                            <a:srgbClr val="1A1F36"/>
                          </a:solidFill>
                          <a:latin typeface="Calibri"/>
                        </a:rPr>
                        <a:t>Imipramine, amitriptyline, clomipramine, nortriptyline</a:t>
                      </a:r>
                    </a:p>
                  </a:txBody>
                  <a:tcPr marL="109728" marR="109728" marT="45720" marB="45720" anchor="ctr">
                    <a:solidFill>
                      <a:srgbClr val="FFFFFF"/>
                    </a:solidFill>
                  </a:tcPr>
                </a:tc>
                <a:tc>
                  <a:txBody>
                    <a:bodyPr/>
                    <a:lstStyle/>
                    <a:p>
                      <a:r>
                        <a:rPr sz="1500" i="0" b="0">
                          <a:solidFill>
                            <a:srgbClr val="1A1F36"/>
                          </a:solidFill>
                          <a:latin typeface="Calibri"/>
                        </a:rPr>
                        <a:t>Block SERT and NET; also block α1, H1 and muscarinic receptors</a:t>
                      </a:r>
                    </a:p>
                  </a:txBody>
                  <a:tcPr marL="109728" marR="109728" marT="45720" marB="45720" anchor="ctr">
                    <a:solidFill>
                      <a:srgbClr val="FFFFFF"/>
                    </a:solidFill>
                  </a:tcPr>
                </a:tc>
              </a:tr>
              <a:tr h="577215">
                <a:tc>
                  <a:txBody>
                    <a:bodyPr/>
                    <a:lstStyle/>
                    <a:p>
                      <a:r>
                        <a:rPr sz="1500" i="0" b="1">
                          <a:solidFill>
                            <a:srgbClr val="1A1F36"/>
                          </a:solidFill>
                          <a:latin typeface="Calibri"/>
                        </a:rPr>
                        <a:t>MAO inhibitors</a:t>
                      </a:r>
                    </a:p>
                  </a:txBody>
                  <a:tcPr marL="109728" marR="109728" marT="45720" marB="45720" anchor="ctr">
                    <a:solidFill>
                      <a:srgbClr val="F1F2F8"/>
                    </a:solidFill>
                  </a:tcPr>
                </a:tc>
                <a:tc>
                  <a:txBody>
                    <a:bodyPr/>
                    <a:lstStyle/>
                    <a:p>
                      <a:r>
                        <a:rPr sz="1500" i="0" b="0">
                          <a:solidFill>
                            <a:srgbClr val="1A1F36"/>
                          </a:solidFill>
                          <a:latin typeface="Calibri"/>
                        </a:rPr>
                        <a:t>Phenelzine, tranylcypromine (non-selective, irreversible); moclobemide (reversible MAO-A)</a:t>
                      </a:r>
                    </a:p>
                  </a:txBody>
                  <a:tcPr marL="109728" marR="109728" marT="45720" marB="45720" anchor="ctr">
                    <a:solidFill>
                      <a:srgbClr val="F1F2F8"/>
                    </a:solidFill>
                  </a:tcPr>
                </a:tc>
                <a:tc>
                  <a:txBody>
                    <a:bodyPr/>
                    <a:lstStyle/>
                    <a:p>
                      <a:r>
                        <a:rPr sz="1500" i="0" b="0">
                          <a:solidFill>
                            <a:srgbClr val="1A1F36"/>
                          </a:solidFill>
                          <a:latin typeface="Calibri"/>
                        </a:rPr>
                        <a:t>Block monoamine breakdown</a:t>
                      </a:r>
                    </a:p>
                  </a:txBody>
                  <a:tcPr marL="109728" marR="109728" marT="45720" marB="45720" anchor="ctr">
                    <a:solidFill>
                      <a:srgbClr val="F1F2F8"/>
                    </a:solidFill>
                  </a:tcPr>
                </a:tc>
              </a:tr>
              <a:tr h="577215">
                <a:tc>
                  <a:txBody>
                    <a:bodyPr/>
                    <a:lstStyle/>
                    <a:p>
                      <a:r>
                        <a:rPr sz="1500" i="0" b="1">
                          <a:solidFill>
                            <a:srgbClr val="1A1F36"/>
                          </a:solidFill>
                          <a:latin typeface="Calibri"/>
                        </a:rPr>
                        <a:t>α2 antagonist</a:t>
                      </a:r>
                    </a:p>
                  </a:txBody>
                  <a:tcPr marL="109728" marR="109728" marT="45720" marB="45720" anchor="ctr">
                    <a:solidFill>
                      <a:srgbClr val="FFFFFF"/>
                    </a:solidFill>
                  </a:tcPr>
                </a:tc>
                <a:tc>
                  <a:txBody>
                    <a:bodyPr/>
                    <a:lstStyle/>
                    <a:p>
                      <a:r>
                        <a:rPr sz="1500" i="0" b="0">
                          <a:solidFill>
                            <a:srgbClr val="1A1F36"/>
                          </a:solidFill>
                          <a:latin typeface="Calibri"/>
                        </a:rPr>
                        <a:t>Mirtazapine</a:t>
                      </a:r>
                    </a:p>
                  </a:txBody>
                  <a:tcPr marL="109728" marR="109728" marT="45720" marB="45720" anchor="ctr">
                    <a:solidFill>
                      <a:srgbClr val="FFFFFF"/>
                    </a:solidFill>
                  </a:tcPr>
                </a:tc>
                <a:tc>
                  <a:txBody>
                    <a:bodyPr/>
                    <a:lstStyle/>
                    <a:p>
                      <a:r>
                        <a:rPr sz="1500" i="0" b="0">
                          <a:solidFill>
                            <a:srgbClr val="1A1F36"/>
                          </a:solidFill>
                          <a:latin typeface="Calibri"/>
                        </a:rPr>
                        <a:t>Blocks α2 autoreceptors, so NA and 5-HT release rises; also blocks 5-HT2, 5-HT3 and H1</a:t>
                      </a:r>
                    </a:p>
                  </a:txBody>
                  <a:tcPr marL="109728" marR="109728" marT="45720" marB="45720" anchor="ctr">
                    <a:solidFill>
                      <a:srgbClr val="FFFFFF"/>
                    </a:solidFill>
                  </a:tcPr>
                </a:tc>
              </a:tr>
              <a:tr h="577215">
                <a:tc>
                  <a:txBody>
                    <a:bodyPr/>
                    <a:lstStyle/>
                    <a:p>
                      <a:r>
                        <a:rPr sz="1500" i="0" b="1">
                          <a:solidFill>
                            <a:srgbClr val="1A1F36"/>
                          </a:solidFill>
                          <a:latin typeface="Calibri"/>
                        </a:rPr>
                        <a:t>5-HT2A antagonist</a:t>
                      </a:r>
                    </a:p>
                  </a:txBody>
                  <a:tcPr marL="109728" marR="109728" marT="45720" marB="45720" anchor="ctr">
                    <a:solidFill>
                      <a:srgbClr val="F1F2F8"/>
                    </a:solidFill>
                  </a:tcPr>
                </a:tc>
                <a:tc>
                  <a:txBody>
                    <a:bodyPr/>
                    <a:lstStyle/>
                    <a:p>
                      <a:r>
                        <a:rPr sz="1500" i="0" b="0">
                          <a:solidFill>
                            <a:srgbClr val="1A1F36"/>
                          </a:solidFill>
                          <a:latin typeface="Calibri"/>
                        </a:rPr>
                        <a:t>Trazodone</a:t>
                      </a:r>
                    </a:p>
                  </a:txBody>
                  <a:tcPr marL="109728" marR="109728" marT="45720" marB="45720" anchor="ctr">
                    <a:solidFill>
                      <a:srgbClr val="F1F2F8"/>
                    </a:solidFill>
                  </a:tcPr>
                </a:tc>
                <a:tc>
                  <a:txBody>
                    <a:bodyPr/>
                    <a:lstStyle/>
                    <a:p>
                      <a:r>
                        <a:rPr sz="1500" i="0" b="0">
                          <a:solidFill>
                            <a:srgbClr val="1A1F36"/>
                          </a:solidFill>
                          <a:latin typeface="Calibri"/>
                        </a:rPr>
                        <a:t>Blocks 5-HT2A; weak SERT block; also blocks α1 and H1</a:t>
                      </a:r>
                    </a:p>
                  </a:txBody>
                  <a:tcPr marL="109728" marR="109728" marT="45720" marB="45720" anchor="ctr">
                    <a:solidFill>
                      <a:srgbClr val="F1F2F8"/>
                    </a:solidFill>
                  </a:tcPr>
                </a:tc>
              </a:tr>
              <a:tr h="577215">
                <a:tc>
                  <a:txBody>
                    <a:bodyPr/>
                    <a:lstStyle/>
                    <a:p>
                      <a:r>
                        <a:rPr sz="1500" i="0" b="1">
                          <a:solidFill>
                            <a:srgbClr val="1A1F36"/>
                          </a:solidFill>
                          <a:latin typeface="Calibri"/>
                        </a:rPr>
                        <a:t>NDRI</a:t>
                      </a:r>
                    </a:p>
                  </a:txBody>
                  <a:tcPr marL="109728" marR="109728" marT="45720" marB="45720" anchor="ctr">
                    <a:solidFill>
                      <a:srgbClr val="FFFFFF"/>
                    </a:solidFill>
                  </a:tcPr>
                </a:tc>
                <a:tc>
                  <a:txBody>
                    <a:bodyPr/>
                    <a:lstStyle/>
                    <a:p>
                      <a:r>
                        <a:rPr sz="1500" i="0" b="0">
                          <a:solidFill>
                            <a:srgbClr val="1A1F36"/>
                          </a:solidFill>
                          <a:latin typeface="Calibri"/>
                        </a:rPr>
                        <a:t>Bupropion</a:t>
                      </a:r>
                    </a:p>
                  </a:txBody>
                  <a:tcPr marL="109728" marR="109728" marT="45720" marB="45720" anchor="ctr">
                    <a:solidFill>
                      <a:srgbClr val="FFFFFF"/>
                    </a:solidFill>
                  </a:tcPr>
                </a:tc>
                <a:tc>
                  <a:txBody>
                    <a:bodyPr/>
                    <a:lstStyle/>
                    <a:p>
                      <a:r>
                        <a:rPr sz="1500" i="0" b="0">
                          <a:solidFill>
                            <a:srgbClr val="1A1F36"/>
                          </a:solidFill>
                          <a:latin typeface="Calibri"/>
                        </a:rPr>
                        <a:t>Weak block of NA and dopamine reuptake</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SSRIs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SSRIs are the usual first-choice antidepressants. They are safer in overdose than TCAs and have fewer receptor side effects. Uses: depression, generalised anxiety disorder, panic disorder, obsessive–compulsive disorder (usually higher doses) and bulimia.</a:t>
            </a:r>
          </a:p>
          <a:p>
            <a:pPr>
              <a:spcAft>
                <a:spcPts val="800"/>
              </a:spcAft>
            </a:pPr>
            <a:r>
              <a:rPr sz="1700" i="0" b="0">
                <a:solidFill>
                  <a:srgbClr val="1A1F36"/>
                </a:solidFill>
                <a:latin typeface="Calibri"/>
              </a:rPr>
              <a:t>Adverse effects fall into two groups: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2596515"/>
          </a:xfrm>
          <a:prstGeom prst="rect">
            <a:avLst/>
          </a:prstGeom>
          <a:noFill/>
        </p:spPr>
        <p:txBody>
          <a:bodyPr wrap="square" anchor="t" lIns="0" rIns="0" tIns="0" bIns="0">
            <a:spAutoFit/>
          </a:bodyPr>
          <a:lstStyle/>
          <a:p>
            <a:r>
              <a:rPr sz="2100" i="0" b="1">
                <a:solidFill>
                  <a:srgbClr val="1A1F36"/>
                </a:solidFill>
                <a:latin typeface="Calibri"/>
              </a:rPr>
              <a:t>Early and often transient (first 1 to 2 weeks):</a:t>
            </a:r>
            <a:r>
              <a:rPr sz="2100" i="0" b="0">
                <a:solidFill>
                  <a:srgbClr val="1A1F36"/>
                </a:solidFill>
                <a:latin typeface="Calibri"/>
              </a:rPr>
              <a:t> nausea, diarrhoea, headache, jitteriness or insomnia, and a short-term rise in anxiety. Take the dose with food and start low. A PPI is considered only if bleeding risk is added, for example with an NSAID or an anticoagulant.</a:t>
            </a:r>
          </a:p>
        </p:txBody>
      </p:sp>
      <p:sp>
        <p:nvSpPr>
          <p:cNvPr id="11" name="Oval 10"/>
          <p:cNvSpPr/>
          <p:nvPr/>
        </p:nvSpPr>
        <p:spPr>
          <a:xfrm>
            <a:off x="5394959" y="421500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4233291"/>
            <a:ext cx="5653735" cy="1929765"/>
          </a:xfrm>
          <a:prstGeom prst="rect">
            <a:avLst/>
          </a:prstGeom>
          <a:noFill/>
        </p:spPr>
        <p:txBody>
          <a:bodyPr wrap="square" anchor="t" lIns="0" rIns="0" tIns="0" bIns="0">
            <a:spAutoFit/>
          </a:bodyPr>
          <a:lstStyle/>
          <a:p>
            <a:r>
              <a:rPr sz="2100" i="0" b="1">
                <a:solidFill>
                  <a:srgbClr val="1A1F36"/>
                </a:solidFill>
                <a:latin typeface="Calibri"/>
              </a:rPr>
              <a:t>Persistent:</a:t>
            </a:r>
            <a:r>
              <a:rPr sz="2100" i="0" b="0">
                <a:solidFill>
                  <a:srgbClr val="1A1F36"/>
                </a:solidFill>
                <a:latin typeface="Calibri"/>
              </a:rPr>
              <a:t> sexual dysfunction (low libido, delayed orgasm or anorgasmia) often does </a:t>
            </a:r>
            <a:r>
              <a:rPr sz="2100" i="0" b="1">
                <a:solidFill>
                  <a:srgbClr val="1A1F36"/>
                </a:solidFill>
                <a:latin typeface="Calibri"/>
              </a:rPr>
              <a:t>not</a:t>
            </a:r>
            <a:r>
              <a:rPr sz="2100" i="0" b="0">
                <a:solidFill>
                  <a:srgbClr val="1A1F36"/>
                </a:solidFill>
                <a:latin typeface="Calibri"/>
              </a:rPr>
              <a:t> settle. Ask about it at each review. Options are waiting, a lower dose, or a switch to mirtazapine or bupropion.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Tricyclic antidepressants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Other effects: hyponatraemia (SIADH) in older people, bleeding risk with NSAIDs or anticoagulants, and dose-related QT prolongation with citalopram and escitalopram. Fluoxetine and paroxetine strongly inhibit CYP2D6.</a:t>
            </a:r>
          </a:p>
          <a:p>
            <a:pPr>
              <a:spcAft>
                <a:spcPts val="800"/>
              </a:spcAft>
            </a:pPr>
            <a:r>
              <a:rPr sz="1800" i="0" b="0">
                <a:solidFill>
                  <a:srgbClr val="1A1F36"/>
                </a:solidFill>
                <a:latin typeface="Calibri"/>
              </a:rPr>
              <a:t>Venlafaxine and duloxetine block both SERT and NET. They are used for depression and anxiety. Duloxetine is also used for diabetic neuropathic pain and fibromyalgia. Their adverse effects are like those of SSRIs. Venlafaxine can raise blood pressure at higher doses, so check it. Duloxetine can cause liver injury; avoid it in heavy alcohol use.</a:t>
            </a:r>
          </a:p>
          <a:p>
            <a:pPr>
              <a:spcAft>
                <a:spcPts val="800"/>
              </a:spcAft>
            </a:pPr>
            <a:r>
              <a:rPr sz="1800" i="0" b="0">
                <a:solidFill>
                  <a:srgbClr val="1A1F36"/>
                </a:solidFill>
                <a:latin typeface="Calibri"/>
              </a:rPr>
              <a:t>TCAs block SERT and NET. They also block several receptors, and these blocks explain most of their adverse effects. Uses: depression (now second line), neuropathic pain and migraine prevention (amitriptyline), obsessive–compulsive disorder (clomipramine) and nocturnal enuresis (imipramine). Nortriptyline, the active metabolite of amitriptyline, is less sedating and causes less hypotension.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Tricyclic antidepressants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2492223"/>
                <a:gridCol w="5466813"/>
                <a:gridCol w="3135378"/>
              </a:tblGrid>
              <a:tr h="640080">
                <a:tc>
                  <a:txBody>
                    <a:bodyPr/>
                    <a:lstStyle/>
                    <a:p>
                      <a:r>
                        <a:rPr sz="1700" i="0" b="1">
                          <a:solidFill>
                            <a:srgbClr val="FFFFFF"/>
                          </a:solidFill>
                          <a:latin typeface="Calibri"/>
                        </a:rPr>
                        <a:t>Receptor blocked</a:t>
                      </a:r>
                    </a:p>
                  </a:txBody>
                  <a:tcPr marL="109728" marR="109728" marT="45720" marB="45720" anchor="ctr">
                    <a:solidFill>
                      <a:srgbClr val="1B2A8C"/>
                    </a:solidFill>
                  </a:tcPr>
                </a:tc>
                <a:tc>
                  <a:txBody>
                    <a:bodyPr/>
                    <a:lstStyle/>
                    <a:p>
                      <a:r>
                        <a:rPr sz="1700" i="0" b="1">
                          <a:solidFill>
                            <a:srgbClr val="FFFFFF"/>
                          </a:solidFill>
                          <a:latin typeface="Calibri"/>
                        </a:rPr>
                        <a:t>Effect</a:t>
                      </a:r>
                    </a:p>
                  </a:txBody>
                  <a:tcPr marL="109728" marR="109728" marT="45720" marB="45720" anchor="ctr">
                    <a:solidFill>
                      <a:srgbClr val="1B2A8C"/>
                    </a:solidFill>
                  </a:tcPr>
                </a:tc>
                <a:tc>
                  <a:txBody>
                    <a:bodyPr/>
                    <a:lstStyle/>
                    <a:p>
                      <a:r>
                        <a:rPr sz="1700" i="0" b="1">
                          <a:solidFill>
                            <a:srgbClr val="FFFFFF"/>
                          </a:solidFill>
                          <a:latin typeface="Calibri"/>
                        </a:rPr>
                        <a:t>Drugs most involved</a:t>
                      </a:r>
                    </a:p>
                  </a:txBody>
                  <a:tcPr marL="109728" marR="109728" marT="45720" marB="45720" anchor="ctr">
                    <a:solidFill>
                      <a:srgbClr val="1B2A8C"/>
                    </a:solidFill>
                  </a:tcPr>
                </a:tc>
              </a:tr>
              <a:tr h="640080">
                <a:tc>
                  <a:txBody>
                    <a:bodyPr/>
                    <a:lstStyle/>
                    <a:p>
                      <a:r>
                        <a:rPr sz="1800" i="0" b="1">
                          <a:solidFill>
                            <a:srgbClr val="1A1F36"/>
                          </a:solidFill>
                          <a:latin typeface="Calibri"/>
                        </a:rPr>
                        <a:t>α1</a:t>
                      </a:r>
                    </a:p>
                  </a:txBody>
                  <a:tcPr marL="109728" marR="109728" marT="45720" marB="45720" anchor="ctr">
                    <a:solidFill>
                      <a:srgbClr val="FFFFFF"/>
                    </a:solidFill>
                  </a:tcPr>
                </a:tc>
                <a:tc>
                  <a:txBody>
                    <a:bodyPr/>
                    <a:lstStyle/>
                    <a:p>
                      <a:r>
                        <a:rPr sz="1800" i="0" b="0">
                          <a:solidFill>
                            <a:srgbClr val="1A1F36"/>
                          </a:solidFill>
                          <a:latin typeface="Calibri"/>
                        </a:rPr>
                        <a:t>Postural hypotension, dizziness, falls</a:t>
                      </a:r>
                    </a:p>
                  </a:txBody>
                  <a:tcPr marL="109728" marR="109728" marT="45720" marB="45720" anchor="ctr">
                    <a:solidFill>
                      <a:srgbClr val="FFFFFF"/>
                    </a:solidFill>
                  </a:tcPr>
                </a:tc>
                <a:tc>
                  <a:txBody>
                    <a:bodyPr/>
                    <a:lstStyle/>
                    <a:p>
                      <a:r>
                        <a:rPr sz="1800" i="0" b="0">
                          <a:solidFill>
                            <a:srgbClr val="1A1F36"/>
                          </a:solidFill>
                          <a:latin typeface="Calibri"/>
                        </a:rPr>
                        <a:t>TCAs, trazodone</a:t>
                      </a:r>
                    </a:p>
                  </a:txBody>
                  <a:tcPr marL="109728" marR="109728" marT="45720" marB="45720" anchor="ctr">
                    <a:solidFill>
                      <a:srgbClr val="FFFFFF"/>
                    </a:solidFill>
                  </a:tcPr>
                </a:tc>
              </a:tr>
              <a:tr h="640080">
                <a:tc>
                  <a:txBody>
                    <a:bodyPr/>
                    <a:lstStyle/>
                    <a:p>
                      <a:r>
                        <a:rPr sz="1800" i="0" b="1">
                          <a:solidFill>
                            <a:srgbClr val="1A1F36"/>
                          </a:solidFill>
                          <a:latin typeface="Calibri"/>
                        </a:rPr>
                        <a:t>H1</a:t>
                      </a:r>
                    </a:p>
                  </a:txBody>
                  <a:tcPr marL="109728" marR="109728" marT="45720" marB="45720" anchor="ctr">
                    <a:solidFill>
                      <a:srgbClr val="F1F2F8"/>
                    </a:solidFill>
                  </a:tcPr>
                </a:tc>
                <a:tc>
                  <a:txBody>
                    <a:bodyPr/>
                    <a:lstStyle/>
                    <a:p>
                      <a:r>
                        <a:rPr sz="1800" i="0" b="0">
                          <a:solidFill>
                            <a:srgbClr val="1A1F36"/>
                          </a:solidFill>
                          <a:latin typeface="Calibri"/>
                        </a:rPr>
                        <a:t>Sedation, weight gain</a:t>
                      </a:r>
                    </a:p>
                  </a:txBody>
                  <a:tcPr marL="109728" marR="109728" marT="45720" marB="45720" anchor="ctr">
                    <a:solidFill>
                      <a:srgbClr val="F1F2F8"/>
                    </a:solidFill>
                  </a:tcPr>
                </a:tc>
                <a:tc>
                  <a:txBody>
                    <a:bodyPr/>
                    <a:lstStyle/>
                    <a:p>
                      <a:r>
                        <a:rPr sz="1800" i="0" b="0">
                          <a:solidFill>
                            <a:srgbClr val="1A1F36"/>
                          </a:solidFill>
                          <a:latin typeface="Calibri"/>
                        </a:rPr>
                        <a:t>TCAs, mirtazapine, trazodone</a:t>
                      </a:r>
                    </a:p>
                  </a:txBody>
                  <a:tcPr marL="109728" marR="109728" marT="45720" marB="45720" anchor="ctr">
                    <a:solidFill>
                      <a:srgbClr val="F1F2F8"/>
                    </a:solidFill>
                  </a:tcPr>
                </a:tc>
              </a:tr>
              <a:tr h="640080">
                <a:tc>
                  <a:txBody>
                    <a:bodyPr/>
                    <a:lstStyle/>
                    <a:p>
                      <a:r>
                        <a:rPr sz="1800" i="0" b="1">
                          <a:solidFill>
                            <a:srgbClr val="1A1F36"/>
                          </a:solidFill>
                          <a:latin typeface="Calibri"/>
                        </a:rPr>
                        <a:t>Muscarinic</a:t>
                      </a:r>
                    </a:p>
                  </a:txBody>
                  <a:tcPr marL="109728" marR="109728" marT="45720" marB="45720" anchor="ctr">
                    <a:solidFill>
                      <a:srgbClr val="FFFFFF"/>
                    </a:solidFill>
                  </a:tcPr>
                </a:tc>
                <a:tc>
                  <a:txBody>
                    <a:bodyPr/>
                    <a:lstStyle/>
                    <a:p>
                      <a:r>
                        <a:rPr sz="1800" i="0" b="0">
                          <a:solidFill>
                            <a:srgbClr val="1A1F36"/>
                          </a:solidFill>
                          <a:latin typeface="Calibri"/>
                        </a:rPr>
                        <a:t>Dry mouth, constipation, urinary retention, blurred vision, confusion</a:t>
                      </a:r>
                    </a:p>
                  </a:txBody>
                  <a:tcPr marL="109728" marR="109728" marT="45720" marB="45720" anchor="ctr">
                    <a:solidFill>
                      <a:srgbClr val="FFFFFF"/>
                    </a:solidFill>
                  </a:tcPr>
                </a:tc>
                <a:tc>
                  <a:txBody>
                    <a:bodyPr/>
                    <a:lstStyle/>
                    <a:p>
                      <a:r>
                        <a:rPr sz="1800" i="0" b="0">
                          <a:solidFill>
                            <a:srgbClr val="1A1F36"/>
                          </a:solidFill>
                          <a:latin typeface="Calibri"/>
                        </a:rPr>
                        <a:t>TCAs (least with nortriptyline)</a:t>
                      </a:r>
                    </a:p>
                  </a:txBody>
                  <a:tcPr marL="109728" marR="109728" marT="45720" marB="45720" anchor="ctr">
                    <a:solidFill>
                      <a:srgbClr val="FFFFFF"/>
                    </a:solidFill>
                  </a:tcPr>
                </a:tc>
              </a:tr>
              <a:tr h="640080">
                <a:tc>
                  <a:txBody>
                    <a:bodyPr/>
                    <a:lstStyle/>
                    <a:p>
                      <a:r>
                        <a:rPr sz="1800" i="0" b="1">
                          <a:solidFill>
                            <a:srgbClr val="1A1F36"/>
                          </a:solidFill>
                          <a:latin typeface="Calibri"/>
                        </a:rPr>
                        <a:t>Cardiac Na+ channels</a:t>
                      </a:r>
                    </a:p>
                  </a:txBody>
                  <a:tcPr marL="109728" marR="109728" marT="45720" marB="45720" anchor="ctr">
                    <a:solidFill>
                      <a:srgbClr val="F1F2F8"/>
                    </a:solidFill>
                  </a:tcPr>
                </a:tc>
                <a:tc>
                  <a:txBody>
                    <a:bodyPr/>
                    <a:lstStyle/>
                    <a:p>
                      <a:r>
                        <a:rPr sz="1800" i="0" b="0">
                          <a:solidFill>
                            <a:srgbClr val="1A1F36"/>
                          </a:solidFill>
                          <a:latin typeface="Calibri"/>
                        </a:rPr>
                        <a:t>QRS widening, arrhythmia (in overdose)</a:t>
                      </a:r>
                    </a:p>
                  </a:txBody>
                  <a:tcPr marL="109728" marR="109728" marT="45720" marB="45720" anchor="ctr">
                    <a:solidFill>
                      <a:srgbClr val="F1F2F8"/>
                    </a:solidFill>
                  </a:tcPr>
                </a:tc>
                <a:tc>
                  <a:txBody>
                    <a:bodyPr/>
                    <a:lstStyle/>
                    <a:p>
                      <a:r>
                        <a:rPr sz="1800" i="0" b="0">
                          <a:solidFill>
                            <a:srgbClr val="1A1F36"/>
                          </a:solidFill>
                          <a:latin typeface="Calibri"/>
                        </a:rPr>
                        <a:t>TCAs</a:t>
                      </a:r>
                    </a:p>
                  </a:txBody>
                  <a:tcPr marL="109728" marR="109728" marT="45720" marB="45720" anchor="ctr">
                    <a:solidFill>
                      <a:srgbClr val="F1F2F8"/>
                    </a:solidFill>
                  </a:tcPr>
                </a:tc>
              </a:tr>
              <a:tr h="640080">
                <a:tc>
                  <a:txBody>
                    <a:bodyPr/>
                    <a:lstStyle/>
                    <a:p>
                      <a:r>
                        <a:rPr sz="1800" i="0" b="1">
                          <a:solidFill>
                            <a:srgbClr val="1A1F36"/>
                          </a:solidFill>
                          <a:latin typeface="Calibri"/>
                        </a:rPr>
                        <a:t>5-HT (raised serotonin)</a:t>
                      </a:r>
                    </a:p>
                  </a:txBody>
                  <a:tcPr marL="109728" marR="109728" marT="45720" marB="45720" anchor="ctr">
                    <a:solidFill>
                      <a:srgbClr val="FFFFFF"/>
                    </a:solidFill>
                  </a:tcPr>
                </a:tc>
                <a:tc>
                  <a:txBody>
                    <a:bodyPr/>
                    <a:lstStyle/>
                    <a:p>
                      <a:r>
                        <a:rPr sz="1800" i="0" b="0">
                          <a:solidFill>
                            <a:srgbClr val="1A1F36"/>
                          </a:solidFill>
                          <a:latin typeface="Calibri"/>
                        </a:rPr>
                        <a:t>Nausea, sexual dysfunction, insomnia</a:t>
                      </a:r>
                    </a:p>
                  </a:txBody>
                  <a:tcPr marL="109728" marR="109728" marT="45720" marB="45720" anchor="ctr">
                    <a:solidFill>
                      <a:srgbClr val="FFFFFF"/>
                    </a:solidFill>
                  </a:tcPr>
                </a:tc>
                <a:tc>
                  <a:txBody>
                    <a:bodyPr/>
                    <a:lstStyle/>
                    <a:p>
                      <a:r>
                        <a:rPr sz="1800" i="0" b="0">
                          <a:solidFill>
                            <a:srgbClr val="1A1F36"/>
                          </a:solidFill>
                          <a:latin typeface="Calibri"/>
                        </a:rPr>
                        <a:t>SSRIs, SNRIs</a:t>
                      </a:r>
                    </a:p>
                  </a:txBody>
                  <a:tcPr marL="109728" marR="109728" marT="45720" marB="4572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Mirtazapine, trazodone and bupropion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MAO inhibitors block the enzyme that breaks down monoamines. They are effective but are used only in resistant depression, because of food and drug interactions.</a:t>
            </a:r>
          </a:p>
          <a:p>
            <a:pPr>
              <a:spcAft>
                <a:spcPts val="800"/>
              </a:spcAft>
            </a:pPr>
            <a:r>
              <a:rPr sz="1800" i="0" b="0">
                <a:solidFill>
                  <a:srgbClr val="1A1F36"/>
                </a:solidFill>
                <a:latin typeface="Calibri"/>
              </a:rPr>
              <a:t>MAO-A is found in the brain, gut and liver. MAO-B is found in the brain, platelets and liver. Phenelzine and tranylcypromine block both forms irreversibly; recovery needs new enzyme, which takes about 2 weeks. Selegiline and rasagiline are selective for MAO-B and are used for Parkinson's disease (Chapter 3).</a:t>
            </a:r>
          </a:p>
          <a:p>
            <a:pPr>
              <a:spcAft>
                <a:spcPts val="800"/>
              </a:spcAft>
            </a:pPr>
            <a:r>
              <a:rPr sz="1800" i="0" b="1">
                <a:solidFill>
                  <a:srgbClr val="1A1F36"/>
                </a:solidFill>
                <a:latin typeface="Calibri"/>
              </a:rPr>
              <a:t>Cheese reaction.</a:t>
            </a:r>
            <a:r>
              <a:rPr sz="1800" i="0" b="0">
                <a:solidFill>
                  <a:srgbClr val="1A1F36"/>
                </a:solidFill>
                <a:latin typeface="Calibri"/>
              </a:rPr>
              <a:t> Tyramine in food is normally destroyed by MAO-A in the gut wall and liver. With a non-selective MAO inhibitor, tyramine enters the blood and releases NA. The result is a hypertensive crisis: severe headache, palpitations, very high blood pressure and risk of stroke. High-tyramine foods include aged cheese, cured or fermented meats, soy sauce, yeast extracts and tap beer. Fresh dairy foods, such as yogurt, are low risk.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Mirtazapine, trazodone and bupropion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808988"/>
          </a:xfrm>
          <a:prstGeom prst="rect">
            <a:avLst/>
          </a:prstGeom>
          <a:noFill/>
        </p:spPr>
        <p:txBody>
          <a:bodyPr wrap="square" anchor="t" lIns="0" rIns="0" tIns="0" bIns="0">
            <a:spAutoFit/>
          </a:bodyPr>
          <a:lstStyle/>
          <a:p>
            <a:r>
              <a:rPr sz="2100" i="0" b="1">
                <a:solidFill>
                  <a:srgbClr val="1A1F36"/>
                </a:solidFill>
                <a:latin typeface="Calibri"/>
              </a:rPr>
              <a:t>Mirtazapine</a:t>
            </a:r>
            <a:r>
              <a:rPr sz="2100" i="0" b="0">
                <a:solidFill>
                  <a:srgbClr val="1A1F36"/>
                </a:solidFill>
                <a:latin typeface="Calibri"/>
              </a:rPr>
              <a:t> blocks presynaptic α2 autoreceptors, so NA and 5-HT release rises. It also blocks 5-HT2 and 5-HT3 receptors, so it causes little nausea or sexual dysfunction. Its H1 block causes sedation and weight gain. It helps patients with insomnia and poor appetite.</a:t>
            </a:r>
          </a:p>
        </p:txBody>
      </p:sp>
      <p:sp>
        <p:nvSpPr>
          <p:cNvPr id="10" name="Oval 9"/>
          <p:cNvSpPr/>
          <p:nvPr/>
        </p:nvSpPr>
        <p:spPr>
          <a:xfrm>
            <a:off x="548640" y="342747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3445764"/>
            <a:ext cx="10500055" cy="1142237"/>
          </a:xfrm>
          <a:prstGeom prst="rect">
            <a:avLst/>
          </a:prstGeom>
          <a:noFill/>
        </p:spPr>
        <p:txBody>
          <a:bodyPr wrap="square" anchor="t" lIns="0" rIns="0" tIns="0" bIns="0">
            <a:spAutoFit/>
          </a:bodyPr>
          <a:lstStyle/>
          <a:p>
            <a:r>
              <a:rPr sz="2100" i="0" b="1">
                <a:solidFill>
                  <a:srgbClr val="1A1F36"/>
                </a:solidFill>
                <a:latin typeface="Calibri"/>
              </a:rPr>
              <a:t>Trazodone</a:t>
            </a:r>
            <a:r>
              <a:rPr sz="2100" i="0" b="0">
                <a:solidFill>
                  <a:srgbClr val="1A1F36"/>
                </a:solidFill>
                <a:latin typeface="Calibri"/>
              </a:rPr>
              <a:t> blocks 5-HT2A receptors and weakly blocks SERT. It also blocks α1 and H1. It is sedating and is often used at night. Rarely, it causes priapism.</a:t>
            </a:r>
          </a:p>
        </p:txBody>
      </p:sp>
      <p:sp>
        <p:nvSpPr>
          <p:cNvPr id="12" name="Oval 11"/>
          <p:cNvSpPr/>
          <p:nvPr/>
        </p:nvSpPr>
        <p:spPr>
          <a:xfrm>
            <a:off x="548640" y="461543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4633722"/>
            <a:ext cx="10500055" cy="1475612"/>
          </a:xfrm>
          <a:prstGeom prst="rect">
            <a:avLst/>
          </a:prstGeom>
          <a:noFill/>
        </p:spPr>
        <p:txBody>
          <a:bodyPr wrap="square" anchor="t" lIns="0" rIns="0" tIns="0" bIns="0">
            <a:spAutoFit/>
          </a:bodyPr>
          <a:lstStyle/>
          <a:p>
            <a:r>
              <a:rPr sz="2100" i="0" b="1">
                <a:solidFill>
                  <a:srgbClr val="1A1F36"/>
                </a:solidFill>
                <a:latin typeface="Calibri"/>
              </a:rPr>
              <a:t>Bupropion</a:t>
            </a:r>
            <a:r>
              <a:rPr sz="2100" i="0" b="0">
                <a:solidFill>
                  <a:srgbClr val="1A1F36"/>
                </a:solidFill>
                <a:latin typeface="Calibri"/>
              </a:rPr>
              <a:t> weakly blocks NA and dopamine reuptake. It has no sexual or weight-gain effects. It is also used to stop smoking. It lowers the seizure threshold; avoid it in epilepsy and eating disorders.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4</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Postural hypotension and sedation are </a:t>
            </a:r>
            <a:r>
              <a:rPr sz="2200" i="0" b="1">
                <a:solidFill>
                  <a:srgbClr val="1A1F36"/>
                </a:solidFill>
                <a:latin typeface="Calibri"/>
              </a:rPr>
              <a:t>not</a:t>
            </a:r>
            <a:r>
              <a:rPr sz="2200" i="0" b="0">
                <a:solidFill>
                  <a:srgbClr val="1A1F36"/>
                </a:solidFill>
                <a:latin typeface="Calibri"/>
              </a:rPr>
              <a:t> effects of all antidepressants. They come from α1 and H1 block. They are common with TCAs, mirtazapine and trazodone, and uncommon with SSRIs.</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Depression and Antidepressant Drugs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45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Serotonin syndrome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Serotonin syndrome is caused by too much serotonin, usually from two serotonergic drugs together. It has three groups of features:</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808863"/>
          </a:xfrm>
          <a:prstGeom prst="rect">
            <a:avLst/>
          </a:prstGeom>
          <a:noFill/>
        </p:spPr>
        <p:txBody>
          <a:bodyPr wrap="square" anchor="t" lIns="0" rIns="0" tIns="0" bIns="0">
            <a:spAutoFit/>
          </a:bodyPr>
          <a:lstStyle/>
          <a:p>
            <a:r>
              <a:rPr sz="2100" i="0" b="1">
                <a:solidFill>
                  <a:srgbClr val="1A1F36"/>
                </a:solidFill>
                <a:latin typeface="Calibri"/>
              </a:rPr>
              <a:t>Mental change:</a:t>
            </a:r>
            <a:r>
              <a:rPr sz="2100" i="0" b="0">
                <a:solidFill>
                  <a:srgbClr val="1A1F36"/>
                </a:solidFill>
                <a:latin typeface="Calibri"/>
              </a:rPr>
              <a:t> agitation, confusion.</a:t>
            </a:r>
          </a:p>
        </p:txBody>
      </p:sp>
      <p:sp>
        <p:nvSpPr>
          <p:cNvPr id="11" name="Oval 10"/>
          <p:cNvSpPr/>
          <p:nvPr/>
        </p:nvSpPr>
        <p:spPr>
          <a:xfrm>
            <a:off x="548640" y="340575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24046"/>
            <a:ext cx="10500055" cy="808863"/>
          </a:xfrm>
          <a:prstGeom prst="rect">
            <a:avLst/>
          </a:prstGeom>
          <a:noFill/>
        </p:spPr>
        <p:txBody>
          <a:bodyPr wrap="square" anchor="t" lIns="0" rIns="0" tIns="0" bIns="0">
            <a:spAutoFit/>
          </a:bodyPr>
          <a:lstStyle/>
          <a:p>
            <a:r>
              <a:rPr sz="2100" i="0" b="1">
                <a:solidFill>
                  <a:srgbClr val="1A1F36"/>
                </a:solidFill>
                <a:latin typeface="Calibri"/>
              </a:rPr>
              <a:t>Autonomic instability:</a:t>
            </a:r>
            <a:r>
              <a:rPr sz="2100" i="0" b="0">
                <a:solidFill>
                  <a:srgbClr val="1A1F36"/>
                </a:solidFill>
                <a:latin typeface="Calibri"/>
              </a:rPr>
              <a:t> hyperthermia, sweating, tachycardia, diarrhoea.</a:t>
            </a:r>
          </a:p>
        </p:txBody>
      </p:sp>
      <p:sp>
        <p:nvSpPr>
          <p:cNvPr id="13" name="Oval 12"/>
          <p:cNvSpPr/>
          <p:nvPr/>
        </p:nvSpPr>
        <p:spPr>
          <a:xfrm>
            <a:off x="548640" y="42603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278630"/>
            <a:ext cx="10500055" cy="1142237"/>
          </a:xfrm>
          <a:prstGeom prst="rect">
            <a:avLst/>
          </a:prstGeom>
          <a:noFill/>
        </p:spPr>
        <p:txBody>
          <a:bodyPr wrap="square" anchor="t" lIns="0" rIns="0" tIns="0" bIns="0">
            <a:spAutoFit/>
          </a:bodyPr>
          <a:lstStyle/>
          <a:p>
            <a:r>
              <a:rPr sz="2100" i="0" b="1">
                <a:solidFill>
                  <a:srgbClr val="1A1F36"/>
                </a:solidFill>
                <a:latin typeface="Calibri"/>
              </a:rPr>
              <a:t>Neuromuscular excitation:</a:t>
            </a:r>
            <a:r>
              <a:rPr sz="2100" i="0" b="0">
                <a:solidFill>
                  <a:srgbClr val="1A1F36"/>
                </a:solidFill>
                <a:latin typeface="Calibri"/>
              </a:rPr>
              <a:t> tremor, hyperreflexia, clonus (especially of the ankles).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Tricyclic overdose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Common causes are an MAO inhibitor with an SSRI, SNRI, TCA, tramadol, pethidine, linezolid or triptans. Management: stop the drugs, cool and sedate with a benzodiazepine, and give cyproheptadine (a 5-HT2A antagonist) in moderate cases. Severe cases need intensive care.</a:t>
            </a:r>
          </a:p>
          <a:p>
            <a:pPr>
              <a:spcAft>
                <a:spcPts val="800"/>
              </a:spcAft>
            </a:pPr>
            <a:r>
              <a:rPr sz="2100" i="0" b="0">
                <a:solidFill>
                  <a:srgbClr val="1A1F36"/>
                </a:solidFill>
                <a:latin typeface="Calibri"/>
              </a:rPr>
              <a:t>TCAs are dangerous in overdose; a week's supply can kill. Features are:</a:t>
            </a:r>
          </a:p>
          <a:p>
            <a:pPr>
              <a:spcAft>
                <a:spcPts val="800"/>
              </a:spcAft>
            </a:pPr>
            <a:r>
              <a:rPr sz="2100" i="0" b="0">
                <a:solidFill>
                  <a:srgbClr val="1A1F36"/>
                </a:solidFill>
                <a:latin typeface="Calibri"/>
              </a:rPr>
              <a:t>Treatment: airway support and an ECG. Give IV </a:t>
            </a:r>
            <a:r>
              <a:rPr sz="2100" i="0" b="1">
                <a:solidFill>
                  <a:srgbClr val="1A1F36"/>
                </a:solidFill>
                <a:latin typeface="Calibri"/>
              </a:rPr>
              <a:t>sodium bicarbonate</a:t>
            </a:r>
            <a:r>
              <a:rPr sz="2100" i="0" b="0">
                <a:solidFill>
                  <a:srgbClr val="1A1F36"/>
                </a:solidFill>
                <a:latin typeface="Calibri"/>
              </a:rPr>
              <a:t> if the QRS is wide, there is arrhythmia or hypotension, or acidosis is present. Treat seizures with a benzodiazepine. Avoid flumazenil and class Ia and Ic antiarrhythmics.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Tricyclic overdose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Antimuscarinic toxicity: hot dry skin, dilated pupils, urinary retention, confusion.</a:t>
            </a:r>
          </a:p>
        </p:txBody>
      </p:sp>
      <p:sp>
        <p:nvSpPr>
          <p:cNvPr id="10" name="Oval 9"/>
          <p:cNvSpPr/>
          <p:nvPr/>
        </p:nvSpPr>
        <p:spPr>
          <a:xfrm>
            <a:off x="548640"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79014"/>
            <a:ext cx="10500055" cy="808863"/>
          </a:xfrm>
          <a:prstGeom prst="rect">
            <a:avLst/>
          </a:prstGeom>
          <a:noFill/>
        </p:spPr>
        <p:txBody>
          <a:bodyPr wrap="square" anchor="t" lIns="0" rIns="0" tIns="0" bIns="0">
            <a:spAutoFit/>
          </a:bodyPr>
          <a:lstStyle/>
          <a:p>
            <a:r>
              <a:rPr sz="2100" i="0" b="0">
                <a:solidFill>
                  <a:srgbClr val="1A1F36"/>
                </a:solidFill>
                <a:latin typeface="Calibri"/>
              </a:rPr>
              <a:t>Seizures and coma.</a:t>
            </a:r>
          </a:p>
        </p:txBody>
      </p:sp>
      <p:sp>
        <p:nvSpPr>
          <p:cNvPr id="12" name="Oval 11"/>
          <p:cNvSpPr/>
          <p:nvPr/>
        </p:nvSpPr>
        <p:spPr>
          <a:xfrm>
            <a:off x="548640" y="361530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33597"/>
            <a:ext cx="10500055" cy="1142237"/>
          </a:xfrm>
          <a:prstGeom prst="rect">
            <a:avLst/>
          </a:prstGeom>
          <a:noFill/>
        </p:spPr>
        <p:txBody>
          <a:bodyPr wrap="square" anchor="t" lIns="0" rIns="0" tIns="0" bIns="0">
            <a:spAutoFit/>
          </a:bodyPr>
          <a:lstStyle/>
          <a:p>
            <a:r>
              <a:rPr sz="2100" i="0" b="0">
                <a:solidFill>
                  <a:srgbClr val="1A1F36"/>
                </a:solidFill>
                <a:latin typeface="Calibri"/>
              </a:rPr>
              <a:t>Cardiotoxicity from Na+ channel block: wide QRS, ventricular arrhythmia and hypotension.</a:t>
            </a:r>
          </a:p>
        </p:txBody>
      </p:sp>
      <p:sp>
        <p:nvSpPr>
          <p:cNvPr id="14" name="Oval 13"/>
          <p:cNvSpPr/>
          <p:nvPr/>
        </p:nvSpPr>
        <p:spPr>
          <a:xfrm>
            <a:off x="548640" y="480326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821555"/>
            <a:ext cx="10500055" cy="808863"/>
          </a:xfrm>
          <a:prstGeom prst="rect">
            <a:avLst/>
          </a:prstGeom>
          <a:noFill/>
        </p:spPr>
        <p:txBody>
          <a:bodyPr wrap="square" anchor="t" lIns="0" rIns="0" tIns="0" bIns="0">
            <a:spAutoFit/>
          </a:bodyPr>
          <a:lstStyle/>
          <a:p>
            <a:r>
              <a:rPr sz="2100" i="0" b="0">
                <a:solidFill>
                  <a:srgbClr val="1A1F36"/>
                </a:solidFill>
                <a:latin typeface="Calibri"/>
              </a:rPr>
              <a:t>Metabolic acidosis, which worsens cardiotoxicity.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Serious Toxicity</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000" i="0" b="0">
                <a:solidFill>
                  <a:srgbClr val="1A1F36"/>
                </a:solidFill>
                <a:latin typeface="Calibri"/>
              </a:rPr>
              <a:t>Allow a washout before switching between an MAO inhibitor and another serotonergic antidepressant. Wait 2 weeks after stopping phenelzine or tranylcypromine. Wait 5 weeks after stopping fluoxetine, because its active metabolite lasts a long 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Serious Toxicity</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000" i="0" b="0">
                <a:solidFill>
                  <a:srgbClr val="1A1F36"/>
                </a:solidFill>
                <a:latin typeface="Calibri"/>
              </a:rPr>
              <a:t>Antidepressants carry a boxed warning for suicidal thoughts and behaviour in patients under 25 years. Monitor every patient closely during the first weeks and after each dose change. For patients at risk, give small supplies and avoid TCAs.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Stopping an Antidepressant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2475738"/>
          </a:xfrm>
          <a:prstGeom prst="rect">
            <a:avLst/>
          </a:prstGeom>
          <a:noFill/>
        </p:spPr>
        <p:txBody>
          <a:bodyPr wrap="square" anchor="t" lIns="0" rIns="0" tIns="0" bIns="0">
            <a:spAutoFit/>
          </a:bodyPr>
          <a:lstStyle/>
          <a:p>
            <a:r>
              <a:rPr sz="2100" i="0" b="0">
                <a:solidFill>
                  <a:srgbClr val="1A1F36"/>
                </a:solidFill>
                <a:latin typeface="Calibri"/>
              </a:rPr>
              <a:t>Stopping suddenly after more than 4 weeks can cause a </a:t>
            </a:r>
            <a:r>
              <a:rPr sz="2100" i="0" b="1">
                <a:solidFill>
                  <a:srgbClr val="1A1F36"/>
                </a:solidFill>
                <a:latin typeface="Calibri"/>
              </a:rPr>
              <a:t>discontinuation syndrome</a:t>
            </a:r>
            <a:r>
              <a:rPr sz="2100" i="0" b="0">
                <a:solidFill>
                  <a:srgbClr val="1A1F36"/>
                </a:solidFill>
                <a:latin typeface="Calibri"/>
              </a:rPr>
              <a:t>. It is not relapse of depression. Features are dizziness, "electric-shock" sensations, anxiety, irritability, flu-like symptoms and vivid dreams. It is most common with paroxetine and venlafaxine, which have short half-lives. It is least common with fluoxetine. Reduce the dose slowly over at least 4 weeks, and longer if symptoms appear.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Before choosing, consider previous response, adverse-effect profile, other illnesses, other drugs and the patient's preference.</a:t>
            </a:r>
          </a:p>
        </p:txBody>
      </p:sp>
      <p:graphicFrame>
        <p:nvGraphicFramePr>
          <p:cNvPr id="9" name="Table 8"/>
          <p:cNvGraphicFramePr>
            <a:graphicFrameLocks noGrp="1"/>
          </p:cNvGraphicFramePr>
          <p:nvPr/>
        </p:nvGraphicFramePr>
        <p:xfrm>
          <a:off x="548640" y="2532887"/>
          <a:ext cx="11094414" cy="3639304"/>
        </p:xfrm>
        <a:graphic>
          <a:graphicData uri="http://schemas.openxmlformats.org/drawingml/2006/table">
            <a:tbl>
              <a:tblPr firstRow="0" bandRow="0">
                <a:tableStyleId>{5C22544A-7EE6-4342-B048-85BDC9FD1C3A}</a:tableStyleId>
              </a:tblPr>
              <a:tblGrid>
                <a:gridCol w="4358520"/>
                <a:gridCol w="3367947"/>
                <a:gridCol w="3367947"/>
              </a:tblGrid>
              <a:tr h="454913">
                <a:tc>
                  <a:txBody>
                    <a:bodyPr/>
                    <a:lstStyle/>
                    <a:p>
                      <a:r>
                        <a:rPr sz="1700" i="0" b="1">
                          <a:solidFill>
                            <a:srgbClr val="FFFFFF"/>
                          </a:solidFill>
                          <a:latin typeface="Calibri"/>
                        </a:rPr>
                        <a:t>Patient factor</a:t>
                      </a:r>
                    </a:p>
                  </a:txBody>
                  <a:tcPr marL="109728" marR="109728" marT="45720" marB="45720" anchor="ctr">
                    <a:solidFill>
                      <a:srgbClr val="1B2A8C"/>
                    </a:solidFill>
                  </a:tcPr>
                </a:tc>
                <a:tc>
                  <a:txBody>
                    <a:bodyPr/>
                    <a:lstStyle/>
                    <a:p>
                      <a:r>
                        <a:rPr sz="1700" i="0" b="1">
                          <a:solidFill>
                            <a:srgbClr val="FFFFFF"/>
                          </a:solidFill>
                          <a:latin typeface="Calibri"/>
                        </a:rPr>
                        <a:t>Suitable choice</a:t>
                      </a:r>
                    </a:p>
                  </a:txBody>
                  <a:tcPr marL="109728" marR="109728" marT="45720" marB="45720" anchor="ctr">
                    <a:solidFill>
                      <a:srgbClr val="1B2A8C"/>
                    </a:solidFill>
                  </a:tcPr>
                </a:tc>
                <a:tc>
                  <a:txBody>
                    <a:bodyPr/>
                    <a:lstStyle/>
                    <a:p>
                      <a:r>
                        <a:rPr sz="1700" i="0" b="1">
                          <a:solidFill>
                            <a:srgbClr val="FFFFFF"/>
                          </a:solidFill>
                          <a:latin typeface="Calibri"/>
                        </a:rPr>
                        <a:t>Avoid</a:t>
                      </a:r>
                    </a:p>
                  </a:txBody>
                  <a:tcPr marL="109728" marR="109728" marT="45720" marB="45720" anchor="ctr">
                    <a:solidFill>
                      <a:srgbClr val="1B2A8C"/>
                    </a:solidFill>
                  </a:tcPr>
                </a:tc>
              </a:tr>
              <a:tr h="454913">
                <a:tc>
                  <a:txBody>
                    <a:bodyPr/>
                    <a:lstStyle/>
                    <a:p>
                      <a:r>
                        <a:rPr sz="1800" i="0" b="1">
                          <a:solidFill>
                            <a:srgbClr val="1A1F36"/>
                          </a:solidFill>
                          <a:latin typeface="Calibri"/>
                        </a:rPr>
                        <a:t>Most adults (first choice)</a:t>
                      </a:r>
                    </a:p>
                  </a:txBody>
                  <a:tcPr marL="109728" marR="109728" marT="45720" marB="45720" anchor="ctr">
                    <a:solidFill>
                      <a:srgbClr val="FFFFFF"/>
                    </a:solidFill>
                  </a:tcPr>
                </a:tc>
                <a:tc>
                  <a:txBody>
                    <a:bodyPr/>
                    <a:lstStyle/>
                    <a:p>
                      <a:r>
                        <a:rPr sz="1800" i="0" b="0">
                          <a:solidFill>
                            <a:srgbClr val="1A1F36"/>
                          </a:solidFill>
                          <a:latin typeface="Calibri"/>
                        </a:rPr>
                        <a:t>An SSRI such as sertraline</a:t>
                      </a:r>
                    </a:p>
                  </a:txBody>
                  <a:tcPr marL="109728" marR="109728" marT="45720" marB="45720" anchor="ctr">
                    <a:solidFill>
                      <a:srgbClr val="FFFFFF"/>
                    </a:solidFill>
                  </a:tcPr>
                </a:tc>
                <a:tc>
                  <a:txBody>
                    <a:bodyPr/>
                    <a:lstStyle/>
                    <a:p>
                      <a:r>
                        <a:rPr sz="1800" i="0" b="0">
                          <a:solidFill>
                            <a:srgbClr val="1A1F36"/>
                          </a:solidFill>
                          <a:latin typeface="Calibri"/>
                        </a:rPr>
                        <a:t>—</a:t>
                      </a:r>
                    </a:p>
                  </a:txBody>
                  <a:tcPr marL="109728" marR="109728" marT="45720" marB="45720" anchor="ctr">
                    <a:solidFill>
                      <a:srgbClr val="FFFFFF"/>
                    </a:solidFill>
                  </a:tcPr>
                </a:tc>
              </a:tr>
              <a:tr h="454913">
                <a:tc>
                  <a:txBody>
                    <a:bodyPr/>
                    <a:lstStyle/>
                    <a:p>
                      <a:r>
                        <a:rPr sz="1800" i="0" b="1">
                          <a:solidFill>
                            <a:srgbClr val="1A1F36"/>
                          </a:solidFill>
                          <a:latin typeface="Calibri"/>
                        </a:rPr>
                        <a:t>Insomnia, poor appetite, weight loss</a:t>
                      </a:r>
                    </a:p>
                  </a:txBody>
                  <a:tcPr marL="109728" marR="109728" marT="45720" marB="45720" anchor="ctr">
                    <a:solidFill>
                      <a:srgbClr val="F1F2F8"/>
                    </a:solidFill>
                  </a:tcPr>
                </a:tc>
                <a:tc>
                  <a:txBody>
                    <a:bodyPr/>
                    <a:lstStyle/>
                    <a:p>
                      <a:r>
                        <a:rPr sz="1800" i="0" b="0">
                          <a:solidFill>
                            <a:srgbClr val="1A1F36"/>
                          </a:solidFill>
                          <a:latin typeface="Calibri"/>
                        </a:rPr>
                        <a:t>Mirtazapine</a:t>
                      </a:r>
                    </a:p>
                  </a:txBody>
                  <a:tcPr marL="109728" marR="109728" marT="45720" marB="45720" anchor="ctr">
                    <a:solidFill>
                      <a:srgbClr val="F1F2F8"/>
                    </a:solidFill>
                  </a:tcPr>
                </a:tc>
                <a:tc>
                  <a:txBody>
                    <a:bodyPr/>
                    <a:lstStyle/>
                    <a:p>
                      <a:r>
                        <a:rPr sz="1800" i="0" b="0">
                          <a:solidFill>
                            <a:srgbClr val="1A1F36"/>
                          </a:solidFill>
                          <a:latin typeface="Calibri"/>
                        </a:rPr>
                        <a:t>—</a:t>
                      </a:r>
                    </a:p>
                  </a:txBody>
                  <a:tcPr marL="109728" marR="109728" marT="45720" marB="45720" anchor="ctr">
                    <a:solidFill>
                      <a:srgbClr val="F1F2F8"/>
                    </a:solidFill>
                  </a:tcPr>
                </a:tc>
              </a:tr>
              <a:tr h="454913">
                <a:tc>
                  <a:txBody>
                    <a:bodyPr/>
                    <a:lstStyle/>
                    <a:p>
                      <a:r>
                        <a:rPr sz="1800" i="0" b="1">
                          <a:solidFill>
                            <a:srgbClr val="1A1F36"/>
                          </a:solidFill>
                          <a:latin typeface="Calibri"/>
                        </a:rPr>
                        <a:t>Sexual dysfunction on an SSRI</a:t>
                      </a:r>
                    </a:p>
                  </a:txBody>
                  <a:tcPr marL="109728" marR="109728" marT="45720" marB="45720" anchor="ctr">
                    <a:solidFill>
                      <a:srgbClr val="FFFFFF"/>
                    </a:solidFill>
                  </a:tcPr>
                </a:tc>
                <a:tc>
                  <a:txBody>
                    <a:bodyPr/>
                    <a:lstStyle/>
                    <a:p>
                      <a:r>
                        <a:rPr sz="1800" i="0" b="0">
                          <a:solidFill>
                            <a:srgbClr val="1A1F36"/>
                          </a:solidFill>
                          <a:latin typeface="Calibri"/>
                        </a:rPr>
                        <a:t>Mirtazapine or bupropion</a:t>
                      </a:r>
                    </a:p>
                  </a:txBody>
                  <a:tcPr marL="109728" marR="109728" marT="45720" marB="45720" anchor="ctr">
                    <a:solidFill>
                      <a:srgbClr val="FFFFFF"/>
                    </a:solidFill>
                  </a:tcPr>
                </a:tc>
                <a:tc>
                  <a:txBody>
                    <a:bodyPr/>
                    <a:lstStyle/>
                    <a:p>
                      <a:r>
                        <a:rPr sz="1800" i="0" b="0">
                          <a:solidFill>
                            <a:srgbClr val="1A1F36"/>
                          </a:solidFill>
                          <a:latin typeface="Calibri"/>
                        </a:rPr>
                        <a:t>Paroxetine</a:t>
                      </a:r>
                    </a:p>
                  </a:txBody>
                  <a:tcPr marL="109728" marR="109728" marT="45720" marB="45720" anchor="ctr">
                    <a:solidFill>
                      <a:srgbClr val="FFFFFF"/>
                    </a:solidFill>
                  </a:tcPr>
                </a:tc>
              </a:tr>
              <a:tr h="454913">
                <a:tc>
                  <a:txBody>
                    <a:bodyPr/>
                    <a:lstStyle/>
                    <a:p>
                      <a:r>
                        <a:rPr sz="1800" i="0" b="1">
                          <a:solidFill>
                            <a:srgbClr val="1A1F36"/>
                          </a:solidFill>
                          <a:latin typeface="Calibri"/>
                        </a:rPr>
                        <a:t>Diabetic neuropathic pain</a:t>
                      </a:r>
                    </a:p>
                  </a:txBody>
                  <a:tcPr marL="109728" marR="109728" marT="45720" marB="45720" anchor="ctr">
                    <a:solidFill>
                      <a:srgbClr val="F1F2F8"/>
                    </a:solidFill>
                  </a:tcPr>
                </a:tc>
                <a:tc>
                  <a:txBody>
                    <a:bodyPr/>
                    <a:lstStyle/>
                    <a:p>
                      <a:r>
                        <a:rPr sz="1800" i="0" b="0">
                          <a:solidFill>
                            <a:srgbClr val="1A1F36"/>
                          </a:solidFill>
                          <a:latin typeface="Calibri"/>
                        </a:rPr>
                        <a:t>Duloxetine</a:t>
                      </a:r>
                    </a:p>
                  </a:txBody>
                  <a:tcPr marL="109728" marR="109728" marT="45720" marB="45720" anchor="ctr">
                    <a:solidFill>
                      <a:srgbClr val="F1F2F8"/>
                    </a:solidFill>
                  </a:tcPr>
                </a:tc>
                <a:tc>
                  <a:txBody>
                    <a:bodyPr/>
                    <a:lstStyle/>
                    <a:p>
                      <a:r>
                        <a:rPr sz="1800" i="0" b="0">
                          <a:solidFill>
                            <a:srgbClr val="1A1F36"/>
                          </a:solidFill>
                          <a:latin typeface="Calibri"/>
                        </a:rPr>
                        <a:t>—</a:t>
                      </a:r>
                    </a:p>
                  </a:txBody>
                  <a:tcPr marL="109728" marR="109728" marT="45720" marB="45720" anchor="ctr">
                    <a:solidFill>
                      <a:srgbClr val="F1F2F8"/>
                    </a:solidFill>
                  </a:tcPr>
                </a:tc>
              </a:tr>
              <a:tr h="454913">
                <a:tc>
                  <a:txBody>
                    <a:bodyPr/>
                    <a:lstStyle/>
                    <a:p>
                      <a:r>
                        <a:rPr sz="1800" i="0" b="1">
                          <a:solidFill>
                            <a:srgbClr val="1A1F36"/>
                          </a:solidFill>
                          <a:latin typeface="Calibri"/>
                        </a:rPr>
                        <a:t>Heart disease</a:t>
                      </a:r>
                    </a:p>
                  </a:txBody>
                  <a:tcPr marL="109728" marR="109728" marT="45720" marB="45720" anchor="ctr">
                    <a:solidFill>
                      <a:srgbClr val="FFFFFF"/>
                    </a:solidFill>
                  </a:tcPr>
                </a:tc>
                <a:tc>
                  <a:txBody>
                    <a:bodyPr/>
                    <a:lstStyle/>
                    <a:p>
                      <a:r>
                        <a:rPr sz="1800" i="0" b="0">
                          <a:solidFill>
                            <a:srgbClr val="1A1F36"/>
                          </a:solidFill>
                          <a:latin typeface="Calibri"/>
                        </a:rPr>
                        <a:t>Sertraline</a:t>
                      </a:r>
                    </a:p>
                  </a:txBody>
                  <a:tcPr marL="109728" marR="109728" marT="45720" marB="45720" anchor="ctr">
                    <a:solidFill>
                      <a:srgbClr val="FFFFFF"/>
                    </a:solidFill>
                  </a:tcPr>
                </a:tc>
                <a:tc>
                  <a:txBody>
                    <a:bodyPr/>
                    <a:lstStyle/>
                    <a:p>
                      <a:r>
                        <a:rPr sz="1800" i="0" b="0">
                          <a:solidFill>
                            <a:srgbClr val="1A1F36"/>
                          </a:solidFill>
                          <a:latin typeface="Calibri"/>
                        </a:rPr>
                        <a:t>TCAs; high-dose citalopram</a:t>
                      </a:r>
                    </a:p>
                  </a:txBody>
                  <a:tcPr marL="109728" marR="109728" marT="45720" marB="45720" anchor="ctr">
                    <a:solidFill>
                      <a:srgbClr val="FFFFFF"/>
                    </a:solidFill>
                  </a:tcPr>
                </a:tc>
              </a:tr>
              <a:tr h="454913">
                <a:tc>
                  <a:txBody>
                    <a:bodyPr/>
                    <a:lstStyle/>
                    <a:p>
                      <a:r>
                        <a:rPr sz="1800" i="0" b="1">
                          <a:solidFill>
                            <a:srgbClr val="1A1F36"/>
                          </a:solidFill>
                          <a:latin typeface="Calibri"/>
                        </a:rPr>
                        <a:t>Older patient</a:t>
                      </a:r>
                    </a:p>
                  </a:txBody>
                  <a:tcPr marL="109728" marR="109728" marT="45720" marB="45720" anchor="ctr">
                    <a:solidFill>
                      <a:srgbClr val="F1F2F8"/>
                    </a:solidFill>
                  </a:tcPr>
                </a:tc>
                <a:tc>
                  <a:txBody>
                    <a:bodyPr/>
                    <a:lstStyle/>
                    <a:p>
                      <a:r>
                        <a:rPr sz="1800" i="0" b="0">
                          <a:solidFill>
                            <a:srgbClr val="1A1F36"/>
                          </a:solidFill>
                          <a:latin typeface="Calibri"/>
                        </a:rPr>
                        <a:t>Sertraline; check sodium</a:t>
                      </a:r>
                    </a:p>
                  </a:txBody>
                  <a:tcPr marL="109728" marR="109728" marT="45720" marB="45720" anchor="ctr">
                    <a:solidFill>
                      <a:srgbClr val="F1F2F8"/>
                    </a:solidFill>
                  </a:tcPr>
                </a:tc>
                <a:tc>
                  <a:txBody>
                    <a:bodyPr/>
                    <a:lstStyle/>
                    <a:p>
                      <a:r>
                        <a:rPr sz="1800" i="0" b="0">
                          <a:solidFill>
                            <a:srgbClr val="1A1F36"/>
                          </a:solidFill>
                          <a:latin typeface="Calibri"/>
                        </a:rPr>
                        <a:t>TCAs (falls, confusion)</a:t>
                      </a:r>
                    </a:p>
                  </a:txBody>
                  <a:tcPr marL="109728" marR="109728" marT="45720" marB="45720" anchor="ctr">
                    <a:solidFill>
                      <a:srgbClr val="F1F2F8"/>
                    </a:solidFill>
                  </a:tcPr>
                </a:tc>
              </a:tr>
              <a:tr h="454913">
                <a:tc>
                  <a:txBody>
                    <a:bodyPr/>
                    <a:lstStyle/>
                    <a:p>
                      <a:r>
                        <a:rPr sz="1800" i="0" b="1">
                          <a:solidFill>
                            <a:srgbClr val="1A1F36"/>
                          </a:solidFill>
                          <a:latin typeface="Calibri"/>
                        </a:rPr>
                        <a:t>Epilepsy</a:t>
                      </a:r>
                    </a:p>
                  </a:txBody>
                  <a:tcPr marL="109728" marR="109728" marT="45720" marB="45720" anchor="ctr">
                    <a:solidFill>
                      <a:srgbClr val="FFFFFF"/>
                    </a:solidFill>
                  </a:tcPr>
                </a:tc>
                <a:tc>
                  <a:txBody>
                    <a:bodyPr/>
                    <a:lstStyle/>
                    <a:p>
                      <a:r>
                        <a:rPr sz="1800" i="0" b="0">
                          <a:solidFill>
                            <a:srgbClr val="1A1F36"/>
                          </a:solidFill>
                          <a:latin typeface="Calibri"/>
                        </a:rPr>
                        <a:t>SSRI with care</a:t>
                      </a:r>
                    </a:p>
                  </a:txBody>
                  <a:tcPr marL="109728" marR="109728" marT="45720" marB="45720" anchor="ctr">
                    <a:solidFill>
                      <a:srgbClr val="FFFFFF"/>
                    </a:solidFill>
                  </a:tcPr>
                </a:tc>
                <a:tc>
                  <a:txBody>
                    <a:bodyPr/>
                    <a:lstStyle/>
                    <a:p>
                      <a:r>
                        <a:rPr sz="1800" i="0" b="0">
                          <a:solidFill>
                            <a:srgbClr val="1A1F36"/>
                          </a:solidFill>
                          <a:latin typeface="Calibri"/>
                        </a:rPr>
                        <a:t>Bupropion; high-dose TCAs</a:t>
                      </a:r>
                    </a:p>
                  </a:txBody>
                  <a:tcPr marL="109728" marR="109728" marT="45720" marB="45720"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1920240"/>
        </p:xfrm>
        <a:graphic>
          <a:graphicData uri="http://schemas.openxmlformats.org/drawingml/2006/table">
            <a:tbl>
              <a:tblPr firstRow="0" bandRow="0">
                <a:tableStyleId>{5C22544A-7EE6-4342-B048-85BDC9FD1C3A}</a:tableStyleId>
              </a:tblPr>
              <a:tblGrid>
                <a:gridCol w="4375262"/>
                <a:gridCol w="4687780"/>
                <a:gridCol w="2031371"/>
              </a:tblGrid>
              <a:tr h="640080">
                <a:tc>
                  <a:txBody>
                    <a:bodyPr/>
                    <a:lstStyle/>
                    <a:p>
                      <a:r>
                        <a:rPr sz="1900" i="0" b="1">
                          <a:solidFill>
                            <a:srgbClr val="FFFFFF"/>
                          </a:solidFill>
                          <a:latin typeface="Calibri"/>
                        </a:rPr>
                        <a:t>Patient factor</a:t>
                      </a:r>
                    </a:p>
                  </a:txBody>
                  <a:tcPr marL="109728" marR="109728" marT="45720" marB="45720" anchor="ctr">
                    <a:solidFill>
                      <a:srgbClr val="1B2A8C"/>
                    </a:solidFill>
                  </a:tcPr>
                </a:tc>
                <a:tc>
                  <a:txBody>
                    <a:bodyPr/>
                    <a:lstStyle/>
                    <a:p>
                      <a:r>
                        <a:rPr sz="1900" i="0" b="1">
                          <a:solidFill>
                            <a:srgbClr val="FFFFFF"/>
                          </a:solidFill>
                          <a:latin typeface="Calibri"/>
                        </a:rPr>
                        <a:t>Suitable choice</a:t>
                      </a:r>
                    </a:p>
                  </a:txBody>
                  <a:tcPr marL="109728" marR="109728" marT="45720" marB="45720" anchor="ctr">
                    <a:solidFill>
                      <a:srgbClr val="1B2A8C"/>
                    </a:solidFill>
                  </a:tcPr>
                </a:tc>
                <a:tc>
                  <a:txBody>
                    <a:bodyPr/>
                    <a:lstStyle/>
                    <a:p>
                      <a:r>
                        <a:rPr sz="1900" i="0" b="1">
                          <a:solidFill>
                            <a:srgbClr val="FFFFFF"/>
                          </a:solidFill>
                          <a:latin typeface="Calibri"/>
                        </a:rPr>
                        <a:t>Avoid</a:t>
                      </a:r>
                    </a:p>
                  </a:txBody>
                  <a:tcPr marL="109728" marR="109728" marT="45720" marB="45720" anchor="ctr">
                    <a:solidFill>
                      <a:srgbClr val="1B2A8C"/>
                    </a:solidFill>
                  </a:tcPr>
                </a:tc>
              </a:tr>
              <a:tr h="640080">
                <a:tc>
                  <a:txBody>
                    <a:bodyPr/>
                    <a:lstStyle/>
                    <a:p>
                      <a:r>
                        <a:rPr sz="2000" i="0" b="1">
                          <a:solidFill>
                            <a:srgbClr val="1A1F36"/>
                          </a:solidFill>
                          <a:latin typeface="Calibri"/>
                        </a:rPr>
                        <a:t>Wish to stop smoking</a:t>
                      </a:r>
                    </a:p>
                  </a:txBody>
                  <a:tcPr marL="109728" marR="109728" marT="45720" marB="45720" anchor="ctr">
                    <a:solidFill>
                      <a:srgbClr val="FFFFFF"/>
                    </a:solidFill>
                  </a:tcPr>
                </a:tc>
                <a:tc>
                  <a:txBody>
                    <a:bodyPr/>
                    <a:lstStyle/>
                    <a:p>
                      <a:r>
                        <a:rPr sz="2000" i="0" b="0">
                          <a:solidFill>
                            <a:srgbClr val="1A1F36"/>
                          </a:solidFill>
                          <a:latin typeface="Calibri"/>
                        </a:rPr>
                        <a:t>Bupropion</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r h="640080">
                <a:tc>
                  <a:txBody>
                    <a:bodyPr/>
                    <a:lstStyle/>
                    <a:p>
                      <a:r>
                        <a:rPr sz="2000" i="0" b="1">
                          <a:solidFill>
                            <a:srgbClr val="1A1F36"/>
                          </a:solidFill>
                          <a:latin typeface="Calibri"/>
                        </a:rPr>
                        <a:t>Suicide risk</a:t>
                      </a:r>
                    </a:p>
                  </a:txBody>
                  <a:tcPr marL="109728" marR="109728" marT="45720" marB="45720" anchor="ctr">
                    <a:solidFill>
                      <a:srgbClr val="F1F2F8"/>
                    </a:solidFill>
                  </a:tcPr>
                </a:tc>
                <a:tc>
                  <a:txBody>
                    <a:bodyPr/>
                    <a:lstStyle/>
                    <a:p>
                      <a:r>
                        <a:rPr sz="2000" i="0" b="0">
                          <a:solidFill>
                            <a:srgbClr val="1A1F36"/>
                          </a:solidFill>
                          <a:latin typeface="Calibri"/>
                        </a:rPr>
                        <a:t>SSRI in small supplies</a:t>
                      </a:r>
                    </a:p>
                  </a:txBody>
                  <a:tcPr marL="109728" marR="109728" marT="45720" marB="45720" anchor="ctr">
                    <a:solidFill>
                      <a:srgbClr val="F1F2F8"/>
                    </a:solidFill>
                  </a:tcPr>
                </a:tc>
                <a:tc>
                  <a:txBody>
                    <a:bodyPr/>
                    <a:lstStyle/>
                    <a:p>
                      <a:r>
                        <a:rPr sz="2000" i="0" b="0">
                          <a:solidFill>
                            <a:srgbClr val="1A1F36"/>
                          </a:solidFill>
                          <a:latin typeface="Calibri"/>
                        </a:rPr>
                        <a:t>TCAs</a:t>
                      </a:r>
                    </a:p>
                  </a:txBody>
                  <a:tcPr marL="109728" marR="109728" marT="45720" marB="45720" anchor="ctr">
                    <a:solidFill>
                      <a:srgbClr val="F1F2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2958510"/>
                <a:gridCol w="3254361"/>
                <a:gridCol w="4881542"/>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Venlafaxine</a:t>
                      </a:r>
                    </a:p>
                  </a:txBody>
                  <a:tcPr marL="109728" marR="109728" marT="45720" marB="45720" anchor="ctr">
                    <a:solidFill>
                      <a:srgbClr val="FFFFFF"/>
                    </a:solidFill>
                  </a:tcPr>
                </a:tc>
                <a:tc>
                  <a:txBody>
                    <a:bodyPr/>
                    <a:lstStyle/>
                    <a:p>
                      <a:r>
                        <a:rPr sz="2000" i="0" b="0">
                          <a:solidFill>
                            <a:srgbClr val="1A1F36"/>
                          </a:solidFill>
                          <a:latin typeface="Calibri"/>
                        </a:rPr>
                        <a:t>Efexor XR</a:t>
                      </a:r>
                    </a:p>
                  </a:txBody>
                  <a:tcPr marL="109728" marR="109728" marT="45720" marB="45720" anchor="ctr">
                    <a:solidFill>
                      <a:srgbClr val="FFFFFF"/>
                    </a:solidFill>
                  </a:tcPr>
                </a:tc>
                <a:tc>
                  <a:txBody>
                    <a:bodyPr/>
                    <a:lstStyle/>
                    <a:p>
                      <a:r>
                        <a:rPr sz="2000" i="0" b="0">
                          <a:solidFill>
                            <a:srgbClr val="1A1F36"/>
                          </a:solidFill>
                          <a:latin typeface="Calibri"/>
                        </a:rPr>
                        <a:t>Extended-release capsules</a:t>
                      </a:r>
                    </a:p>
                  </a:txBody>
                  <a:tcPr marL="109728" marR="109728" marT="45720" marB="45720" anchor="ctr">
                    <a:solidFill>
                      <a:srgbClr val="FFFFFF"/>
                    </a:solidFill>
                  </a:tcPr>
                </a:tc>
              </a:tr>
              <a:tr h="640080">
                <a:tc>
                  <a:txBody>
                    <a:bodyPr/>
                    <a:lstStyle/>
                    <a:p>
                      <a:r>
                        <a:rPr sz="2000" i="0" b="1">
                          <a:solidFill>
                            <a:srgbClr val="1A1F36"/>
                          </a:solidFill>
                          <a:latin typeface="Calibri"/>
                        </a:rPr>
                        <a:t>Duloxetine</a:t>
                      </a:r>
                    </a:p>
                  </a:txBody>
                  <a:tcPr marL="109728" marR="109728" marT="45720" marB="45720" anchor="ctr">
                    <a:solidFill>
                      <a:srgbClr val="F1F2F8"/>
                    </a:solidFill>
                  </a:tcPr>
                </a:tc>
                <a:tc>
                  <a:txBody>
                    <a:bodyPr/>
                    <a:lstStyle/>
                    <a:p>
                      <a:r>
                        <a:rPr sz="2000" i="0" b="0">
                          <a:solidFill>
                            <a:srgbClr val="1A1F36"/>
                          </a:solidFill>
                          <a:latin typeface="Calibri"/>
                        </a:rPr>
                        <a:t>Cymbalta</a:t>
                      </a:r>
                    </a:p>
                  </a:txBody>
                  <a:tcPr marL="109728" marR="109728" marT="45720" marB="45720" anchor="ctr">
                    <a:solidFill>
                      <a:srgbClr val="F1F2F8"/>
                    </a:solidFill>
                  </a:tcPr>
                </a:tc>
                <a:tc>
                  <a:txBody>
                    <a:bodyPr/>
                    <a:lstStyle/>
                    <a:p>
                      <a:r>
                        <a:rPr sz="2000" i="0" b="0">
                          <a:solidFill>
                            <a:srgbClr val="1A1F36"/>
                          </a:solidFill>
                          <a:latin typeface="Calibri"/>
                        </a:rPr>
                        <a:t>Capsules</a:t>
                      </a:r>
                    </a:p>
                  </a:txBody>
                  <a:tcPr marL="109728" marR="109728" marT="45720" marB="45720" anchor="ctr">
                    <a:solidFill>
                      <a:srgbClr val="F1F2F8"/>
                    </a:solidFill>
                  </a:tcPr>
                </a:tc>
              </a:tr>
              <a:tr h="640080">
                <a:tc>
                  <a:txBody>
                    <a:bodyPr/>
                    <a:lstStyle/>
                    <a:p>
                      <a:r>
                        <a:rPr sz="2000" i="0" b="1">
                          <a:solidFill>
                            <a:srgbClr val="1A1F36"/>
                          </a:solidFill>
                          <a:latin typeface="Calibri"/>
                        </a:rPr>
                        <a:t>Mirtazapine</a:t>
                      </a:r>
                    </a:p>
                  </a:txBody>
                  <a:tcPr marL="109728" marR="109728" marT="45720" marB="45720" anchor="ctr">
                    <a:solidFill>
                      <a:srgbClr val="FFFFFF"/>
                    </a:solidFill>
                  </a:tcPr>
                </a:tc>
                <a:tc>
                  <a:txBody>
                    <a:bodyPr/>
                    <a:lstStyle/>
                    <a:p>
                      <a:r>
                        <a:rPr sz="2000" i="0" b="0">
                          <a:solidFill>
                            <a:srgbClr val="1A1F36"/>
                          </a:solidFill>
                          <a:latin typeface="Calibri"/>
                        </a:rPr>
                        <a:t>Mirtimash</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Why does an antidepressant take weeks to work if it raises monoamines within hours?</a:t>
            </a:r>
          </a:p>
        </p:txBody>
      </p:sp>
      <p:sp>
        <p:nvSpPr>
          <p:cNvPr id="10" name="Oval 9"/>
          <p:cNvSpPr/>
          <p:nvPr/>
        </p:nvSpPr>
        <p:spPr>
          <a:xfrm>
            <a:off x="548640"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79014"/>
            <a:ext cx="10500055" cy="1142237"/>
          </a:xfrm>
          <a:prstGeom prst="rect">
            <a:avLst/>
          </a:prstGeom>
          <a:noFill/>
        </p:spPr>
        <p:txBody>
          <a:bodyPr wrap="square" anchor="t" lIns="0" rIns="0" tIns="0" bIns="0">
            <a:spAutoFit/>
          </a:bodyPr>
          <a:lstStyle/>
          <a:p>
            <a:r>
              <a:rPr sz="2100" i="0" b="0">
                <a:solidFill>
                  <a:srgbClr val="1A1F36"/>
                </a:solidFill>
                <a:latin typeface="Calibri"/>
              </a:rPr>
              <a:t>A patient on sertraline says the nausea has gone but sexual problems remain. What options would you discuss?</a:t>
            </a:r>
          </a:p>
        </p:txBody>
      </p:sp>
      <p:sp>
        <p:nvSpPr>
          <p:cNvPr id="12" name="Oval 11"/>
          <p:cNvSpPr/>
          <p:nvPr/>
        </p:nvSpPr>
        <p:spPr>
          <a:xfrm>
            <a:off x="548640" y="394868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966971"/>
            <a:ext cx="10500055" cy="1142237"/>
          </a:xfrm>
          <a:prstGeom prst="rect">
            <a:avLst/>
          </a:prstGeom>
          <a:noFill/>
        </p:spPr>
        <p:txBody>
          <a:bodyPr wrap="square" anchor="t" lIns="0" rIns="0" tIns="0" bIns="0">
            <a:spAutoFit/>
          </a:bodyPr>
          <a:lstStyle/>
          <a:p>
            <a:r>
              <a:rPr sz="2100" i="0" b="0">
                <a:solidFill>
                  <a:srgbClr val="1A1F36"/>
                </a:solidFill>
                <a:latin typeface="Calibri"/>
              </a:rPr>
              <a:t>Why must a patient on phenelzine avoid aged cheese, and why is yogurt not the main concern?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the antidepressant effect of an SSRI take 2 to 4 weeks?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The drug takes weeks to be absorbed.</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Slow adaptive changes in receptors and neurotrophic factors are needed.</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SERT is blocked only after weeks.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The drug must first be converted to an active metabolite.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the antidepressant effect of an SSRI take 2 to 4 weeks?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The drug takes weeks to be absorbed.</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Slow adaptive changes in receptors and neurotrophic factors are needed.</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SERT is blocked only after weeks.</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The drug must first be converted to an active metabolite.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Mood improves as receptors down-regulate and neurotrophic factors rise. A is wrong; absorption is fast. C is wrong; SERT is blocked within hours. D is not true of SSRIs as a class.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does mirtazapine increase noradrenaline and serotonin release?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By blocking SERT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By inhibiting MAO-A</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By stimulating 5-HT1A receptors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By blocking presynaptic α2 autoreceptors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does mirtazapine increase noradrenaline and serotonin release?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By blocking SERT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By inhibiting MAO-A</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By stimulating 5-HT1A receptors</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By blocking presynaptic α2 autoreceptors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Blocking the α2 brake raises NA and 5-HT release. A is SSRIs. B is MAO inhibitors. C is not mirtazapine's action.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70-year-old woman on amitriptyline feels dizzy when she stands up. Which receptor block explains this?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α1-adrenoceptor</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H1 receptor</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Muscarinic receptor</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5-HT3 receptor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70-year-old woman on amitriptyline feels dizzy when she stands up. Which receptor block explains this?</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α1-adrenoceptor</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H1 receptor</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Muscarinic receptor</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5-HT3 receptor</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α1 block causes postural hypotension. B causes sedation. C causes anticholinergic effects. D blocks nausea.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phenelzine is started on tramadol. He becomes agitated and hot, with ankle clonus. What is the diagnosis?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Cheese reaction</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Neuroleptic malignant syndrome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Serotonin syndrome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Anticholinergic toxicity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phenelzine is started on tramadol. He becomes agitated and hot, with ankle clonus. What is the diagnosis?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Cheese reaction</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Neuroleptic malignant syndrome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Serotonin syndrome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Anticholinergic toxicity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Mental change, hyperthermia and clonus after an MAO inhibitor plus tramadol is serotonin syndrome. A is a hypertensive crisis from tyramine. B follows D2 block and causes rigidity, not clonus. D has no clonus.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student takes an overdose of amitriptyline. The ECG shows a wide QRS. What is the first specific treatment?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IV sodium bicarbonate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IV flumazenil</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IV cyproheptadine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Oral activated charcoal only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student takes an overdose of amitriptyline. The ECG shows a wide QRS. What is the first specific treatment?</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IV sodium bicarbonate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IV flumazenil</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IV cyproheptadine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Oral activated charcoal only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Sodium bicarbonate treats the Na+ channel block and acidosis. B can cause seizures in TCA overdose. C is for serotonin syndrome. D alone is not enough.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sertraline for 2 months says the nausea has gone but he still has delayed ejaculation. What is correct?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It will disappear after 2 more weeks.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It often persists; options include a lower dose or switching to mirtazapine.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is caused by H1 block.</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 PPI will treat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sertraline for 2 months says the nausea has gone but he still has delayed ejaculation. What is correct?</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It will disappear after 2 more weeks.</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It often persists; options include a lower dose or switching to mirtazapine.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It is caused by H1 block.</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 PPI will treat it.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SSRI sexual dysfunction often persists and must be managed. A is the old error. C is wrong; it is serotonergic. D does not treat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food is most dangerous for a patient taking tranylcypromine?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Fresh yogurt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Boiled rice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Fresh milk</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Aged cheese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food is most dangerous for a patient taking tranylcypromine?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Fresh yogurt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Boiled rice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Fresh milk</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Aged cheese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Aged cheese is rich in tyramine. A and C are fresh dairy foods, low in tyramine. B contains none.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39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antidepressant is the best choice for a 45-year-old woman with depression and painful diabetic neuropathy?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Paroxetine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Bupropion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Duloxetine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Phenelzine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40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antidepressant is the best choice for a 45-year-old woman with depression and painful diabetic neuropathy?</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Paroxetine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Bupropion</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Duloxetine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Phenelzine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Duloxetine treats both depression and diabetic neuropathic pain. A has strong withdrawal and interactions. B does not treat pain. D is reserved for resistant cases.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41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20-year-old starts fluoxetine. What must you tell him and his family?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Report any suicidal thoughts or worsening, especially in the first weeks.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Stop the drug at once if there is no benefit after 3 days.</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The drug causes weight gain in all patients.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Avoid all cheese.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42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20-year-old starts fluoxetine. What must you tell him and his family?</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Report any suicidal thoughts or worsening, especially in the first weeks.</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Stop the drug at once if there is no benefit after 3 days.</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The drug causes weight gain in all patients.</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Avoid all cheese.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Antidepressants carry a warning for suicidal thoughts in patients under 25. B is wrong; the drug takes weeks. C is not true of fluoxetine. D applies to MAO inhibitors.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43 / 45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lowers the seizure threshold and is also used for smoking cessation?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Mirtazapine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Bupropion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Sertraline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Trazodone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4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4  ·  Depression and Antidepressant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44 / 45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lowers the seizure threshold and is also used for smoking cessation?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Mirtazapine</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Bupropion</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Sertraline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Trazodone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Bupropion lowers the seizure threshold and helps smoking cessation. A, C and D do not have both features.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4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439510"/>
          </a:xfrm>
          <a:prstGeom prst="rect">
            <a:avLst/>
          </a:prstGeom>
          <a:noFill/>
        </p:spPr>
        <p:txBody>
          <a:bodyPr wrap="square" anchor="t" lIns="0" rIns="0" tIns="0" bIns="0">
            <a:spAutoFit/>
          </a:bodyPr>
          <a:lstStyle/>
          <a:p>
            <a:r>
              <a:rPr sz="1700" i="0" b="0">
                <a:solidFill>
                  <a:srgbClr val="FFFFFF"/>
                </a:solidFill>
                <a:latin typeface="Calibri"/>
              </a:rPr>
              <a:t>Antidepressants raise monoamines within hours, but mood improves after 2 to 4 weeks.</a:t>
            </a:r>
          </a:p>
        </p:txBody>
      </p:sp>
      <p:sp>
        <p:nvSpPr>
          <p:cNvPr id="6" name="Oval 5"/>
          <p:cNvSpPr/>
          <p:nvPr/>
        </p:nvSpPr>
        <p:spPr>
          <a:xfrm>
            <a:off x="548640" y="233231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350606"/>
            <a:ext cx="10500055" cy="709385"/>
          </a:xfrm>
          <a:prstGeom prst="rect">
            <a:avLst/>
          </a:prstGeom>
          <a:noFill/>
        </p:spPr>
        <p:txBody>
          <a:bodyPr wrap="square" anchor="t" lIns="0" rIns="0" tIns="0" bIns="0">
            <a:spAutoFit/>
          </a:bodyPr>
          <a:lstStyle/>
          <a:p>
            <a:r>
              <a:rPr sz="1700" i="0" b="0">
                <a:solidFill>
                  <a:srgbClr val="FFFFFF"/>
                </a:solidFill>
                <a:latin typeface="Calibri"/>
              </a:rPr>
              <a:t>Treatment depends on severity; psychological therapy is central and is combined with drugs in more severe depression.</a:t>
            </a:r>
          </a:p>
        </p:txBody>
      </p:sp>
      <p:sp>
        <p:nvSpPr>
          <p:cNvPr id="8" name="Oval 7"/>
          <p:cNvSpPr/>
          <p:nvPr/>
        </p:nvSpPr>
        <p:spPr>
          <a:xfrm>
            <a:off x="548640" y="3087424"/>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105712"/>
            <a:ext cx="10500055" cy="439510"/>
          </a:xfrm>
          <a:prstGeom prst="rect">
            <a:avLst/>
          </a:prstGeom>
          <a:noFill/>
        </p:spPr>
        <p:txBody>
          <a:bodyPr wrap="square" anchor="t" lIns="0" rIns="0" tIns="0" bIns="0">
            <a:spAutoFit/>
          </a:bodyPr>
          <a:lstStyle/>
          <a:p>
            <a:r>
              <a:rPr sz="1700" i="0" b="0">
                <a:solidFill>
                  <a:srgbClr val="FFFFFF"/>
                </a:solidFill>
                <a:latin typeface="Calibri"/>
              </a:rPr>
              <a:t>SSRIs are first choice; sexual dysfunction often persists, while nausea usually settles.</a:t>
            </a:r>
          </a:p>
        </p:txBody>
      </p:sp>
      <p:sp>
        <p:nvSpPr>
          <p:cNvPr id="10" name="Oval 9"/>
          <p:cNvSpPr/>
          <p:nvPr/>
        </p:nvSpPr>
        <p:spPr>
          <a:xfrm>
            <a:off x="548640" y="357265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3590943"/>
            <a:ext cx="10500055" cy="709385"/>
          </a:xfrm>
          <a:prstGeom prst="rect">
            <a:avLst/>
          </a:prstGeom>
          <a:noFill/>
        </p:spPr>
        <p:txBody>
          <a:bodyPr wrap="square" anchor="t" lIns="0" rIns="0" tIns="0" bIns="0">
            <a:spAutoFit/>
          </a:bodyPr>
          <a:lstStyle/>
          <a:p>
            <a:r>
              <a:rPr sz="1700" i="0" b="0">
                <a:solidFill>
                  <a:srgbClr val="FFFFFF"/>
                </a:solidFill>
                <a:latin typeface="Calibri"/>
              </a:rPr>
              <a:t>Most adverse effects follow receptor block: α1 (hypotension), H1 (sedation), muscarinic (anticholinergic effects).</a:t>
            </a:r>
          </a:p>
        </p:txBody>
      </p:sp>
      <p:sp>
        <p:nvSpPr>
          <p:cNvPr id="12" name="Oval 11"/>
          <p:cNvSpPr/>
          <p:nvPr/>
        </p:nvSpPr>
        <p:spPr>
          <a:xfrm>
            <a:off x="548640" y="4327760"/>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4346048"/>
            <a:ext cx="10500055" cy="709385"/>
          </a:xfrm>
          <a:prstGeom prst="rect">
            <a:avLst/>
          </a:prstGeom>
          <a:noFill/>
        </p:spPr>
        <p:txBody>
          <a:bodyPr wrap="square" anchor="t" lIns="0" rIns="0" tIns="0" bIns="0">
            <a:spAutoFit/>
          </a:bodyPr>
          <a:lstStyle/>
          <a:p>
            <a:r>
              <a:rPr sz="1700" i="0" b="0">
                <a:solidFill>
                  <a:srgbClr val="FFFFFF"/>
                </a:solidFill>
                <a:latin typeface="Calibri"/>
              </a:rPr>
              <a:t>Serotonin syndrome is mental change, autonomic instability and clonus; respect MAO inhibitor washouts.</a:t>
            </a:r>
          </a:p>
        </p:txBody>
      </p:sp>
      <p:sp>
        <p:nvSpPr>
          <p:cNvPr id="14" name="Oval 13"/>
          <p:cNvSpPr/>
          <p:nvPr/>
        </p:nvSpPr>
        <p:spPr>
          <a:xfrm>
            <a:off x="548640" y="5082866"/>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5" name="TextBox 14"/>
          <p:cNvSpPr txBox="1"/>
          <p:nvPr/>
        </p:nvSpPr>
        <p:spPr>
          <a:xfrm>
            <a:off x="1143000" y="5101154"/>
            <a:ext cx="10500055" cy="439510"/>
          </a:xfrm>
          <a:prstGeom prst="rect">
            <a:avLst/>
          </a:prstGeom>
          <a:noFill/>
        </p:spPr>
        <p:txBody>
          <a:bodyPr wrap="square" anchor="t" lIns="0" rIns="0" tIns="0" bIns="0">
            <a:spAutoFit/>
          </a:bodyPr>
          <a:lstStyle/>
          <a:p>
            <a:r>
              <a:rPr sz="1700" i="0" b="0">
                <a:solidFill>
                  <a:srgbClr val="FFFFFF"/>
                </a:solidFill>
                <a:latin typeface="Calibri"/>
              </a:rPr>
              <a:t>TCA overdose is treated with sodium bicarbonate.</a:t>
            </a:r>
          </a:p>
        </p:txBody>
      </p:sp>
      <p:sp>
        <p:nvSpPr>
          <p:cNvPr id="16" name="Oval 15"/>
          <p:cNvSpPr/>
          <p:nvPr/>
        </p:nvSpPr>
        <p:spPr>
          <a:xfrm>
            <a:off x="548640" y="5568097"/>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7</a:t>
            </a:r>
          </a:p>
        </p:txBody>
      </p:sp>
      <p:sp>
        <p:nvSpPr>
          <p:cNvPr id="17" name="TextBox 16"/>
          <p:cNvSpPr txBox="1"/>
          <p:nvPr/>
        </p:nvSpPr>
        <p:spPr>
          <a:xfrm>
            <a:off x="1143000" y="5586385"/>
            <a:ext cx="10500055" cy="439510"/>
          </a:xfrm>
          <a:prstGeom prst="rect">
            <a:avLst/>
          </a:prstGeom>
          <a:noFill/>
        </p:spPr>
        <p:txBody>
          <a:bodyPr wrap="square" anchor="t" lIns="0" rIns="0" tIns="0" bIns="0">
            <a:spAutoFit/>
          </a:bodyPr>
          <a:lstStyle/>
          <a:p>
            <a:r>
              <a:rPr sz="1700" i="0" b="0">
                <a:solidFill>
                  <a:srgbClr val="FFFFFF"/>
                </a:solidFill>
                <a:latin typeface="Calibri"/>
              </a:rPr>
              <a:t>Monitor for suicidal thoughts in young patients; taper slowly when stopping.</a:t>
            </a:r>
          </a:p>
        </p:txBody>
      </p:sp>
      <p:pic>
        <p:nvPicPr>
          <p:cNvPr id="18" name="Picture 17"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9" name="Picture 18"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