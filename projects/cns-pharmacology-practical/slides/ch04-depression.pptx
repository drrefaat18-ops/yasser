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notesMaster" Target="notesMasters/notesMaster1.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&gt; Quick Recap: Serotonin (5-HT) and noradrenaline (NA) are released from nerve endings. Their action ends mainly by reuptake: SERT takes up 5-HT and NET takes up NA. Inside the neuron, monoamine oxidase (MAO) breaks them down. MAO-A prefers 5-HT, NA and tyramine; MAO-B prefers dopamine. Presynaptic α2 autoreceptors act as a brake: when stimulated, they reduce NA and 5-HT release.</a:t>
            </a:r>
          </a:p>
          <a:p/>
          <a:p>
            <a:r>
              <a:t>Time: 1:30  (at 2:00 of 40:00).  Next: Roadmap.</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What we will cover, in order.</a:t>
            </a:r>
          </a:p>
          <a:p/>
          <a:p>
            <a:r>
              <a:t>Time: 0:30  (at 2:30 of 40:00).  Next: The Disease in Brief.</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Major depression is a common mood disorder. Core symptoms are low mood and loss of interest or pleasure for at least 2 weeks. Other symptoms include poor sleep, change in appetite, fatigue, poor concentration, guilt and thoughts of death or suicide. The monoamine hypothesis says that depression is linked to low 5-HT and NA activity in the brain. All antidepressants raise monoamine activity within hours. Yet mood improves only after 2 to 4 weeks, and full benefit takes 6 to 12 weeks. This delay suggests that the real effect comes from slow adaptive changes. These include down-regulation of receptors and increased neurotrophic factors such as BDNF.</a:t>
            </a:r>
          </a:p>
          <a:p/>
          <a:p>
            <a:r>
              <a:t>Time: 2:00  (at 4:30 of 40:00).  Next: The Disease in Brief.</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Major depression is a common mood disorder. Core symptoms are low mood and loss of interest or pleasure for at least 2 weeks. Other symptoms include poor sleep, change in appetite, fatigue, poor concentration, guilt and thoughts of death or suicide. The monoamine hypothesis says that depression is linked to low 5-HT and NA activity in the brain. All antidepressants raise monoamine activity within hours. Yet mood improves only after 2 to 4 weeks, and full benefit takes 6 to 12 weeks. This delay suggests that the real effect comes from slow adaptive changes. These include down-regulation of receptors and increased neurotrophic factors such as BDNF.</a:t>
            </a:r>
          </a:p>
          <a:p/>
          <a:p>
            <a:r>
              <a:t>Time: 1:30  (at 6:00 of 40:00).  Next: Psychological Therapy and Antidepressants.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Antidepressants are not the only treatment. NICE NG222 stratifies treatment by severity and patient choice: Continue an antidepressant for at least 6 months after remission to reduce relapse.</a:t>
            </a:r>
          </a:p>
          <a:p/>
          <a:p>
            <a:r>
              <a:t>Time: 2:00  (at 8:00 of 40:00).  Next: Antidepressant Classes.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SSRIs are the usual first-choice antidepressants. They are safer in overdose than TCAs and have fewer receptor side effects. Uses: depression, generalised anxiety disorder, panic disorder, obsessive–compulsive disorder (usually higher doses) and bulimia. Adverse effects fall into two groups: Other effects: hyponatraemia (SIADH) in older people, bleeding risk with NSAIDs or anticoagulants, and dose-related QT prolongation with citalopram and escitalopram. Fluoxetine and paroxetine strongly inhibit CYP2D6. Venlafaxine and duloxetine block both SERT and NET. They are used for depression and anxiety. Duloxetine is also used for diabetic neuropathic pain and fibromyalgia. Their adverse effects are like those of SSRIs. Venlafaxine can raise blood pressure at higher doses, so check it. Duloxetine can cause liver injury; avoid it in heavy alcohol use. TCAs block SERT and NET. They also block several receptors, and these blocks explain most of their adverse effects. Uses: depression (now second line), neuropathic pain and migraine prevention (amitriptyline), obsessive–compulsive disorder (clomipramine) and nocturnal enuresis (imipramine). Nortriptyline, the active metabolite of amitriptyline, is less sedating and causes less hypotension. MAO inhibitors block the enzyme that breaks down monoamines. They are effective but are used only in resistant depression, because of food and drug interactions. MAO-A is found in the brain, gut and liver. MAO-B is found in the brain, platelets and liver. Phenelzine and tranylcypromine block both forms irreversibly; recovery needs new enzyme, which takes about 2 weeks. Selegiline and rasagiline are selective for MAO-B and are used for Parkinson's disease (Chapter 3). Cheese reaction. Tyramine in food is normally destroyed by MAO-A in the gut wall and liver. With a non-selective MAO inhibitor, tyramine enters the blood and releases NA. The result is a hypertensive crisis: severe headache, palpitations, very high blood pressure and risk of stroke. High-tyramine foods include aged cheese, cured or fermented meats, soy sauce, yeast extracts and tap beer. Fresh dairy foods, such as yogurt, are low risk.</a:t>
            </a:r>
          </a:p>
          <a:p/>
          <a:p>
            <a:r>
              <a:t>Time: 2:00  (at 10:00 of 40:00).  Next: Antidepressant Classes.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SSRIs are the usual first-choice antidepressants. They are safer in overdose than TCAs and have fewer receptor side effects. Uses: depression, generalised anxiety disorder, panic disorder, obsessive–compulsive disorder (usually higher doses) and bulimia. Adverse effects fall into two groups: Other effects: hyponatraemia (SIADH) in older people, bleeding risk with NSAIDs or anticoagulants, and dose-related QT prolongation with citalopram and escitalopram. Fluoxetine and paroxetine strongly inhibit CYP2D6. Venlafaxine and duloxetine block both SERT and NET. They are used for depression and anxiety. Duloxetine is also used for diabetic neuropathic pain and fibromyalgia. Their adverse effects are like those of SSRIs. Venlafaxine can raise blood pressure at higher doses, so check it. Duloxetine can cause liver injury; avoid it in heavy alcohol use. TCAs block SERT and NET. They also block several receptors, and these blocks explain most of their adverse effects. Uses: depression (now second line), neuropathic pain and migraine prevention (amitriptyline), obsessive–compulsive disorder (clomipramine) and nocturnal enuresis (imipramine). Nortriptyline, the active metabolite of amitriptyline, is less sedating and causes less hypotension. MAO inhibitors block the enzyme that breaks down monoamines. They are effective but are used only in resistant depression, because of food and drug interactions. MAO-A is found in the brain, gut and liver. MAO-B is found in the brain, platelets and liver. Phenelzine and tranylcypromine block both forms irreversibly; recovery needs new enzyme, which takes about 2 weeks. Selegiline and rasagiline are selective for MAO-B and are used for Parkinson's disease (Chapter 3). Cheese reaction. Tyramine in food is normally destroyed by MAO-A in the gut wall and liver. With a non-selective MAO inhibitor, tyramine enters the blood and releases NA. The result is a hypertensive crisis: severe headache, palpitations, very high blood pressure and risk of stroke. High-tyramine foods include aged cheese, cured or fermented meats, soy sauce, yeast extracts and tap beer. Fresh dairy foods, such as yogurt, are low risk.</a:t>
            </a:r>
          </a:p>
          <a:p/>
          <a:p>
            <a:r>
              <a:t>Time: 2:30  (at 12:30 of 40:00).  Next: SSRIs.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SSRIs are the usual first-choice antidepressants. They are safer in overdose than TCAs and have fewer receptor side effects. Uses: depression, generalised anxiety disorder, panic disorder, obsessive–compulsive disorder (usually higher doses) and bulimia. Adverse effects fall into two groups: Other effects: hyponatraemia (SIADH) in older people, bleeding risk with NSAIDs or anticoagulants, and dose-related QT prolongation with citalopram and escitalopram. Fluoxetine and paroxetine strongly inhibit CYP2D6. Venlafaxine and duloxetine block both SERT and NET. They are used for depression and anxiety. Duloxetine is also used for diabetic neuropathic pain and fibromyalgia. Their adverse effects are like those of SSRIs. Venlafaxine can raise blood pressure at higher doses, so check it. Duloxetine can cause liver injury; avoid it in heavy alcohol use. TCAs block SERT and NET. They also block several receptors, and these blocks explain most of their adverse effects. Uses: depression (now second line), neuropathic pain and migraine prevention (amitriptyline), obsessive–compulsive disorder (clomipramine) and nocturnal enuresis (imipramine). Nortriptyline, the active metabolite of amitriptyline, is less sedating and causes less hypotension. MAO inhibitors block the enzyme that breaks down monoamines. They are effective but are used only in resistant depression, because of food and drug interactions. MAO-A is found in the brain, gut and liver. MAO-B is found in the brain, platelets and liver. Phenelzine and tranylcypromine block both forms irreversibly; recovery needs new enzyme, which takes about 2 weeks. Selegiline and rasagiline are selective for MAO-B and are used for Parkinson's disease (Chapter 3). Cheese reaction. Tyramine in food is normally destroyed by MAO-A in the gut wall and liver. With a non-selective MAO inhibitor, tyramine enters the blood and releases NA. The result is a hypertensive crisis: severe headache, palpitations, very high blood pressure and risk of stroke. High-tyramine foods include aged cheese, cured or fermented meats, soy sauce, yeast extracts and tap beer. Fresh dairy foods, such as yogurt, are low risk.</a:t>
            </a:r>
          </a:p>
          <a:p/>
          <a:p>
            <a:r>
              <a:t>Time: 2:00  (at 14:30 of 40:00).  Next: Tricyclic antidepressants.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SSRIs are the usual first-choice antidepressants. They are safer in overdose than TCAs and have fewer receptor side effects. Uses: depression, generalised anxiety disorder, panic disorder, obsessive–compulsive disorder (usually higher doses) and bulimia. Adverse effects fall into two groups: Other effects: hyponatraemia (SIADH) in older people, bleeding risk with NSAIDs or anticoagulants, and dose-related QT prolongation with citalopram and escitalopram. Fluoxetine and paroxetine strongly inhibit CYP2D6. Venlafaxine and duloxetine block both SERT and NET. They are used for depression and anxiety. Duloxetine is also used for diabetic neuropathic pain and fibromyalgia. Their adverse effects are like those of SSRIs. Venlafaxine can raise blood pressure at higher doses, so check it. Duloxetine can cause liver injury; avoid it in heavy alcohol use. TCAs block SERT and NET. They also block several receptors, and these blocks explain most of their adverse effects. Uses: depression (now second line), neuropathic pain and migraine prevention (amitriptyline), obsessive–compulsive disorder (clomipramine) and nocturnal enuresis (imipramine). Nortriptyline, the active metabolite of amitriptyline, is less sedating and causes less hypotension. MAO inhibitors block the enzyme that breaks down monoamines. They are effective but are used only in resistant depression, because of food and drug interactions. MAO-A is found in the brain, gut and liver. MAO-B is found in the brain, platelets and liver. Phenelzine and tranylcypromine block both forms irreversibly; recovery needs new enzyme, which takes about 2 weeks. Selegiline and rasagiline are selective for MAO-B and are used for Parkinson's disease (Chapter 3). Cheese reaction. Tyramine in food is normally destroyed by MAO-A in the gut wall and liver. With a non-selective MAO inhibitor, tyramine enters the blood and releases NA. The result is a hypertensive crisis: severe headache, palpitations, very high blood pressure and risk of stroke. High-tyramine foods include aged cheese, cured or fermented meats, soy sauce, yeast extracts and tap beer. Fresh dairy foods, such as yogurt, are low risk.</a:t>
            </a:r>
          </a:p>
          <a:p/>
          <a:p>
            <a:r>
              <a:t>Time: 2:30  (at 17:00 of 40:00).  Next: Serotonin syndrome.</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Discuss with the class: what would you ask, check and say?</a:t>
            </a:r>
          </a:p>
          <a:p/>
          <a:p>
            <a:r>
              <a:t>Time: 2:00  (at 19:00 of 40:00).  Next: Serotonin syndrome.</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Serotonin syndrome is caused by too much serotonin, usually from two serotonergic drugs together. It has three groups of features: Common causes are an MAO inhibitor with an SSRI, SNRI, TCA, tramadol, pethidine, linezolid or triptans. Management: stop the drugs, cool and sedate with a benzodiazepine, and give cyproheptadine (a 5-HT2A antagonist) in moderate cases. Severe cases need intensive care. TCAs are dangerous in overdose; a week's supply can kill. Features are: Treatment: airway support and an ECG. Give IV sodium bicarbonate if the QRS is wide, there is arrhythmia or hypotension, or acidosis is present. Treat seizures with a benzodiazepine. Avoid flumazenil and class Ia and Ic antiarrhythmics.</a:t>
            </a:r>
          </a:p>
          <a:p/>
          <a:p>
            <a:r>
              <a:t>Time: 2:00  (at 21:00 of 40:00).  Next: Serious Toxicity.</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Serotonin syndrome is caused by too much serotonin, usually from two serotonergic drugs together. It has three groups of features: Common causes are an MAO inhibitor with an SSRI, SNRI, TCA, tramadol, pethidine, linezolid or triptans. Management: stop the drugs, cool and sedate with a benzodiazepine, and give cyproheptadine (a 5-HT2A antagonist) in moderate cases. Severe cases need intensive care. TCAs are dangerous in overdose; a week's supply can kill. Features are: Treatment: airway support and an ECG. Give IV sodium bicarbonate if the QRS is wide, there is arrhythmia or hypotension, or acidosis is present. Treat seizures with a benzodiazepine. Avoid flumazenil and class Ia and Ic antiarrhythmics.</a:t>
            </a:r>
          </a:p>
          <a:p/>
          <a:p>
            <a:r>
              <a:t>Time: 1:30  (at 22:30 of 40:00).  Next: Serious Toxicity.</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Serotonin syndrome is caused by too much serotonin, usually from two serotonergic drugs together. It has three groups of features: Common causes are an MAO inhibitor with an SSRI, SNRI, TCA, tramadol, pethidine, linezolid or triptans. Management: stop the drugs, cool and sedate with a benzodiazepine, and give cyproheptadine (a 5-HT2A antagonist) in moderate cases. Severe cases need intensive care. TCAs are dangerous in overdose; a week's supply can kill. Features are: Treatment: airway support and an ECG. Give IV sodium bicarbonate if the QRS is wide, there is arrhythmia or hypotension, or acidosis is present. Treat seizures with a benzodiazepine. Avoid flumazenil and class Ia and Ic antiarrhythmics.</a:t>
            </a:r>
          </a:p>
          <a:p/>
          <a:p>
            <a:r>
              <a:t>Time: 1:30  (at 24:00 of 40:00).  Next: Stopping an Antidepressant.</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Stopping suddenly after more than 4 weeks can cause a discontinuation syndrome. It is not relapse of depression. Features are dizziness, "electric-shock" sensations, anxiety, irritability, flu-like symptoms and vivid dreams. It is most common with paroxetine and venlafaxine, which have short half-lives. It is least common with fluoxetine. Reduce the dose slowly over at least 4 weeks, and longer if symptoms appear.</a:t>
            </a:r>
          </a:p>
          <a:p/>
          <a:p>
            <a:r>
              <a:t>Time: 2:00  (at 26:00 of 40:00).  Next: Choosing a Drug.</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Before choosing, consider previous response, adverse-effect profile, other illnesses, other drugs and the patient's preference.</a:t>
            </a:r>
          </a:p>
          <a:p/>
          <a:p>
            <a:r>
              <a:t>Time: 2:30  (at 28:30 of 40:00).  Next: Brands in Egypt.</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Answer B: Mood improves as receptors down-regulate and neurotrophic factors rise. A is wrong; absorption is fast. C is wrong; SERT is blocked within hours. D is not true of SSRIs as a class.</a:t>
            </a:r>
          </a:p>
          <a:p/>
          <a:p>
            <a:r>
              <a:t>Time: 0:45  (at 33:45 of 40:00).  Next: Check your answer.</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Answer D: Blocking the α2 brake raises NA and 5-HT release. A is SSRIs. B is MAO inhibitors. C is not mirtazapine's action.</a:t>
            </a:r>
          </a:p>
          <a:p/>
          <a:p>
            <a:r>
              <a:t>Time: 0:45  (at 35:15 of 40:00).  Next: Check your answer.</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Answer A: α1 block causes postural hypotension. B causes sedation. C causes anticholinergic effects. D blocks nausea.</a:t>
            </a:r>
          </a:p>
          <a:p/>
          <a:p>
            <a:r>
              <a:t>Time: 0:45  (at 36:45 of 40:00).  Next: Check your answer.</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0:30  (at 0:30 of 40:00).  Next: Learning Objectives.</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2:30  (at 31:00 of 40:00).  Next: For Discussion.</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2:00  (at 33:00 of 40:00).  Next: Your turn.</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0:45  (at 34:30 of 40:00).  Next: Your turn.</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0:45  (at 36:00 of 40:00).  Next: Your turn.</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0:45  (at 37:30 of 40:00).</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2:30  (at 40:00 of 40:00).</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notesSlide" Target="../notesSlides/notesSlide19.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 Id="rId3" Type="http://schemas.openxmlformats.org/officeDocument/2006/relationships/image" Target="../media/image4.png"/><Relationship Id="rId4" Type="http://schemas.openxmlformats.org/officeDocument/2006/relationships/image" Target="../media/image3.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 Id="rId3" Type="http://schemas.openxmlformats.org/officeDocument/2006/relationships/image" Target="../media/image4.png"/><Relationship Id="rId4" Type="http://schemas.openxmlformats.org/officeDocument/2006/relationships/image" Target="../media/image3.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 Id="rId3" Type="http://schemas.openxmlformats.org/officeDocument/2006/relationships/image" Target="../media/image4.png"/><Relationship Id="rId4" Type="http://schemas.openxmlformats.org/officeDocument/2006/relationships/image" Target="../media/image3.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 Id="rId3" Type="http://schemas.openxmlformats.org/officeDocument/2006/relationships/image" Target="../media/image4.png"/><Relationship Id="rId4" Type="http://schemas.openxmlformats.org/officeDocument/2006/relationships/image" Target="../media/image3.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 Id="rId3" Type="http://schemas.openxmlformats.org/officeDocument/2006/relationships/image" Target="../media/image4.png"/><Relationship Id="rId4" Type="http://schemas.openxmlformats.org/officeDocument/2006/relationships/image" Target="../media/image3.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 Id="rId3" Type="http://schemas.openxmlformats.org/officeDocument/2006/relationships/image" Target="../media/image4.png"/><Relationship Id="rId4" Type="http://schemas.openxmlformats.org/officeDocument/2006/relationships/image" Target="../media/image3.png"/><Relationship Id="rId5" Type="http://schemas.openxmlformats.org/officeDocument/2006/relationships/image" Target="../media/image5.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 Id="rId3" Type="http://schemas.openxmlformats.org/officeDocument/2006/relationships/image" Target="../media/image4.png"/><Relationship Id="rId4" Type="http://schemas.openxmlformats.org/officeDocument/2006/relationships/image" Target="../media/image3.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 Id="rId3" Type="http://schemas.openxmlformats.org/officeDocument/2006/relationships/image" Target="../media/image4.png"/><Relationship Id="rId4" Type="http://schemas.openxmlformats.org/officeDocument/2006/relationships/image" Target="../media/image3.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 Id="rId3" Type="http://schemas.openxmlformats.org/officeDocument/2006/relationships/image" Target="../media/image4.png"/><Relationship Id="rId4" Type="http://schemas.openxmlformats.org/officeDocument/2006/relationships/image" Target="../media/image3.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 Id="rId3" Type="http://schemas.openxmlformats.org/officeDocument/2006/relationships/image" Target="../media/image4.png"/><Relationship Id="rId4" Type="http://schemas.openxmlformats.org/officeDocument/2006/relationships/image" Target="../media/image3.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 Id="rId3" Type="http://schemas.openxmlformats.org/officeDocument/2006/relationships/image" Target="../media/image4.png"/><Relationship Id="rId4" Type="http://schemas.openxmlformats.org/officeDocument/2006/relationships/image" Target="../media/image3.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 Id="rId3" Type="http://schemas.openxmlformats.org/officeDocument/2006/relationships/image" Target="../media/image4.png"/><Relationship Id="rId4" Type="http://schemas.openxmlformats.org/officeDocument/2006/relationships/image" Target="../media/image3.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 Id="rId3" Type="http://schemas.openxmlformats.org/officeDocument/2006/relationships/image" Target="../media/image4.png"/><Relationship Id="rId4" Type="http://schemas.openxmlformats.org/officeDocument/2006/relationships/image" Target="../media/image3.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 Id="rId3" Type="http://schemas.openxmlformats.org/officeDocument/2006/relationships/image" Target="../media/image4.png"/><Relationship Id="rId4" Type="http://schemas.openxmlformats.org/officeDocument/2006/relationships/image" Target="../media/image3.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 Id="rId3" Type="http://schemas.openxmlformats.org/officeDocument/2006/relationships/image" Target="../media/image4.png"/><Relationship Id="rId4" Type="http://schemas.openxmlformats.org/officeDocument/2006/relationships/image" Target="../media/image3.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3.png"/><Relationship Id="rId4" Type="http://schemas.openxmlformats.org/officeDocument/2006/relationships/notesSlide" Target="../notesSlides/notesSlide20.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3.png"/><Relationship Id="rId4" Type="http://schemas.openxmlformats.org/officeDocument/2006/relationships/notesSlide" Target="../notesSlides/notesSlide21.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 Id="rId3" Type="http://schemas.openxmlformats.org/officeDocument/2006/relationships/image" Target="../media/image4.png"/><Relationship Id="rId4" Type="http://schemas.openxmlformats.org/officeDocument/2006/relationships/image" Target="../media/image3.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3.png"/><Relationship Id="rId4" Type="http://schemas.openxmlformats.org/officeDocument/2006/relationships/notesSlide" Target="../notesSlides/notesSlide22.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 Id="rId3" Type="http://schemas.openxmlformats.org/officeDocument/2006/relationships/image" Target="../media/image4.png"/><Relationship Id="rId4" Type="http://schemas.openxmlformats.org/officeDocument/2006/relationships/image" Target="../media/image3.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3.png"/><Relationship Id="rId4" Type="http://schemas.openxmlformats.org/officeDocument/2006/relationships/notesSlide" Target="../notesSlides/notesSlide23.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 Id="rId3" Type="http://schemas.openxmlformats.org/officeDocument/2006/relationships/image" Target="../media/image4.png"/><Relationship Id="rId4" Type="http://schemas.openxmlformats.org/officeDocument/2006/relationships/image" Target="../media/image3.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3.png"/><Relationship Id="rId4"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notesSlide" Target="../notesSlides/notesSlide25.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B2A8C"/>
        </a:solidFill>
        <a:effectLst/>
      </p:bgPr>
    </p:bg>
    <p:spTree>
      <p:nvGrpSpPr>
        <p:cNvPr id="1" name=""/>
        <p:cNvGrpSpPr/>
        <p:nvPr/>
      </p:nvGrpSpPr>
      <p:grpSpPr/>
      <p:pic>
        <p:nvPicPr>
          <p:cNvPr id="2" name="Picture 1" descr=""/>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7589520" y="1097280"/>
            <a:ext cx="4754880" cy="5120640"/>
          </a:xfrm>
          <a:prstGeom prst="rect">
            <a:avLst/>
          </a:prstGeom>
          <a:noFill/>
        </p:spPr>
        <p:txBody>
          <a:bodyPr wrap="square" anchor="ctr" lIns="0" rIns="0" tIns="0" bIns="0">
            <a:spAutoFit/>
          </a:bodyPr>
          <a:lstStyle/>
          <a:p>
            <a:pPr algn="r"/>
            <a:r>
              <a:rPr sz="28000" i="0" b="1">
                <a:solidFill>
                  <a:srgbClr val="172477"/>
                </a:solidFill>
                <a:latin typeface="Cambria"/>
              </a:rPr>
              <a:t>04</a:t>
            </a:r>
          </a:p>
        </p:txBody>
      </p:sp>
      <p:pic>
        <p:nvPicPr>
          <p:cNvPr id="4" name="Picture 3" descr="port-said-university.png"/>
          <p:cNvPicPr>
            <a:picLocks noChangeAspect="1"/>
          </p:cNvPicPr>
          <p:nvPr/>
        </p:nvPicPr>
        <p:blipFill>
          <a:blip r:embed="rId3"/>
          <a:stretch>
            <a:fillRect/>
          </a:stretch>
        </p:blipFill>
        <p:spPr>
          <a:xfrm>
            <a:off x="548640" y="502920"/>
            <a:ext cx="960120" cy="960120"/>
          </a:xfrm>
          <a:prstGeom prst="rect">
            <a:avLst/>
          </a:prstGeom>
        </p:spPr>
      </p:pic>
      <p:pic>
        <p:nvPicPr>
          <p:cNvPr id="5" name="Picture 4" descr="faculty-of-pharmacy.png"/>
          <p:cNvPicPr>
            <a:picLocks noChangeAspect="1"/>
          </p:cNvPicPr>
          <p:nvPr/>
        </p:nvPicPr>
        <p:blipFill>
          <a:blip r:embed="rId4"/>
          <a:stretch>
            <a:fillRect/>
          </a:stretch>
        </p:blipFill>
        <p:spPr>
          <a:xfrm>
            <a:off x="1691640" y="502920"/>
            <a:ext cx="960120" cy="960120"/>
          </a:xfrm>
          <a:prstGeom prst="rect">
            <a:avLst/>
          </a:prstGeom>
        </p:spPr>
      </p:pic>
      <p:sp>
        <p:nvSpPr>
          <p:cNvPr id="6" name="TextBox 5"/>
          <p:cNvSpPr txBox="1"/>
          <p:nvPr/>
        </p:nvSpPr>
        <p:spPr>
          <a:xfrm>
            <a:off x="2971800" y="658368"/>
            <a:ext cx="6400800" cy="731520"/>
          </a:xfrm>
          <a:prstGeom prst="rect">
            <a:avLst/>
          </a:prstGeom>
          <a:noFill/>
        </p:spPr>
        <p:txBody>
          <a:bodyPr wrap="square" anchor="ctr" lIns="0" rIns="0" tIns="0" bIns="0">
            <a:spAutoFit/>
          </a:bodyPr>
          <a:lstStyle/>
          <a:p>
            <a:r>
              <a:rPr sz="1800" i="0" b="1">
                <a:solidFill>
                  <a:srgbClr val="FFFFFF"/>
                </a:solidFill>
                <a:latin typeface="Cambria"/>
              </a:rPr>
              <a:t>Faculty of Pharmacy</a:t>
            </a:r>
          </a:p>
          <a:p>
            <a:r>
              <a:rPr sz="1200" i="0" b="1" spc="200">
                <a:solidFill>
                  <a:srgbClr val="DFE1EF"/>
                </a:solidFill>
                <a:latin typeface="Calibri"/>
              </a:rPr>
              <a:t>PORT SAID UNIVERSITY</a:t>
            </a:r>
          </a:p>
        </p:txBody>
      </p:sp>
      <p:sp>
        <p:nvSpPr>
          <p:cNvPr id="7" name="TextBox 6"/>
          <p:cNvSpPr txBox="1"/>
          <p:nvPr/>
        </p:nvSpPr>
        <p:spPr>
          <a:xfrm>
            <a:off x="548640" y="2514600"/>
            <a:ext cx="6766560" cy="3108960"/>
          </a:xfrm>
          <a:prstGeom prst="rect">
            <a:avLst/>
          </a:prstGeom>
          <a:noFill/>
        </p:spPr>
        <p:txBody>
          <a:bodyPr wrap="square" anchor="t" lIns="0" rIns="0" tIns="0" bIns="0">
            <a:spAutoFit/>
          </a:bodyPr>
          <a:lstStyle/>
          <a:p>
            <a:r>
              <a:rPr sz="1400" i="0" b="1" spc="200">
                <a:solidFill>
                  <a:srgbClr val="DFE1EF"/>
                </a:solidFill>
                <a:latin typeface="Calibri"/>
              </a:rPr>
              <a:t>PRACTICAL PHARMACOLOGY OF THE CENTRAL NERVOUS SYSTEM  ·  SECTION 4</a:t>
            </a:r>
          </a:p>
          <a:p>
            <a:pPr>
              <a:spcBef>
                <a:spcPts val="1400"/>
              </a:spcBef>
            </a:pPr>
            <a:r>
              <a:rPr sz="3600" i="0" b="1">
                <a:solidFill>
                  <a:srgbClr val="FFFFFF"/>
                </a:solidFill>
                <a:latin typeface="Cambria"/>
              </a:rPr>
              <a:t>Depression and Antidepressant Drugs</a:t>
            </a:r>
          </a:p>
          <a:p>
            <a:pPr>
              <a:spcBef>
                <a:spcPts val="1600"/>
              </a:spcBef>
            </a:pPr>
            <a:r>
              <a:rPr sz="2000" i="1" b="0">
                <a:solidFill>
                  <a:srgbClr val="DFE1EF"/>
                </a:solidFill>
                <a:latin typeface="Cambria"/>
              </a:rPr>
              <a:t>A Laboratory and Section Guide</a:t>
            </a:r>
          </a:p>
        </p:txBody>
      </p:sp>
      <p:sp>
        <p:nvSpPr>
          <p:cNvPr id="8" name="TextBox 7"/>
          <p:cNvSpPr txBox="1"/>
          <p:nvPr/>
        </p:nvSpPr>
        <p:spPr>
          <a:xfrm>
            <a:off x="548640" y="5989320"/>
            <a:ext cx="8229600" cy="457200"/>
          </a:xfrm>
          <a:prstGeom prst="rect">
            <a:avLst/>
          </a:prstGeom>
          <a:noFill/>
        </p:spPr>
        <p:txBody>
          <a:bodyPr wrap="square" anchor="t" lIns="0" rIns="0" tIns="0" bIns="0">
            <a:spAutoFit/>
          </a:bodyPr>
          <a:lstStyle/>
          <a:p>
            <a:r>
              <a:rPr sz="1300" i="0" b="0">
                <a:solidFill>
                  <a:srgbClr val="DFE1EF"/>
                </a:solidFill>
                <a:latin typeface="Calibri"/>
              </a:rPr>
              <a:t>40 minutes  ·  3 questions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E8EAF4"/>
        </a:solidFill>
        <a:effectLst/>
      </p:bgPr>
    </p:bg>
    <p:spTree>
      <p:nvGrpSpPr>
        <p:cNvPr id="1" name=""/>
        <p:cNvGrpSpPr/>
        <p:nvPr/>
      </p:nvGrpSpPr>
      <p:grpSpPr/>
      <p:pic>
        <p:nvPicPr>
          <p:cNvPr id="2" name="Picture 1" descr=""/>
          <p:cNvPicPr>
            <a:picLocks noChangeAspect="1"/>
          </p:cNvPicPr>
          <p:nvPr/>
        </p:nvPicPr>
        <p:blipFill>
          <a:blip r:embed="rId3"/>
          <a:stretch>
            <a:fillRect/>
          </a:stretch>
        </p:blipFill>
        <p:spPr>
          <a:xfrm>
            <a:off x="0" y="0"/>
            <a:ext cx="12191695" cy="6858000"/>
          </a:xfrm>
          <a:prstGeom prst="rect">
            <a:avLst/>
          </a:prstGeom>
        </p:spPr>
      </p:pic>
      <p:sp>
        <p:nvSpPr>
          <p:cNvPr id="3" name="Rounded Rectangle 2"/>
          <p:cNvSpPr/>
          <p:nvPr/>
        </p:nvSpPr>
        <p:spPr>
          <a:xfrm>
            <a:off x="411479" y="274320"/>
            <a:ext cx="11368735" cy="1097280"/>
          </a:xfrm>
          <a:prstGeom prst="roundRect">
            <a:avLst>
              <a:gd name="adj" fmla="val 14000"/>
            </a:avLst>
          </a:prstGeom>
          <a:solidFill>
            <a:srgbClr val="FFFFFF">
              <a:alpha val="70000"/>
            </a:srgbClr>
          </a:solidFill>
          <a:ln w="28575">
            <a:solidFill>
              <a:srgbClr val="1B2A8C"/>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31519" y="338328"/>
            <a:ext cx="10728655" cy="32004"/>
          </a:xfrm>
          <a:prstGeom prst="roundRect">
            <a:avLst>
              <a:gd name="adj" fmla="val 50000"/>
            </a:avLst>
          </a:prstGeom>
          <a:solidFill>
            <a:srgbClr val="FFFFFF">
              <a:alpha val="8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640080" y="493776"/>
            <a:ext cx="658368" cy="658368"/>
          </a:xfrm>
          <a:prstGeom prst="ellipse">
            <a:avLst/>
          </a:prstGeom>
          <a:solidFill>
            <a:srgbClr val="8D6A2A"/>
          </a:solidFill>
          <a:ln>
            <a:noFill/>
          </a:ln>
          <a:effectLst>
            <a:outerShdw blurRad="203200" dist="50800" dir="5400000" algn="t" rotWithShape="0">
              <a:srgbClr val="1A2340">
                <a:alpha val="20000"/>
              </a:srgbClr>
            </a:outerShdw>
          </a:effectLst>
          <a:scene3d>
            <a:camera prst="orthographicFront"/>
            <a:lightRig rig="threePt" dir="t"/>
          </a:scene3d>
          <a:sp3d>
            <a:bevelT w="44450" h="25400" prst="softRound"/>
          </a:sp3d>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800" i="0" b="1">
                <a:solidFill>
                  <a:srgbClr val="FFFFFF"/>
                </a:solidFill>
                <a:latin typeface="Cambria"/>
              </a:rPr>
              <a:t>04</a:t>
            </a:r>
          </a:p>
        </p:txBody>
      </p:sp>
      <p:sp>
        <p:nvSpPr>
          <p:cNvPr id="6" name="TextBox 5"/>
          <p:cNvSpPr txBox="1"/>
          <p:nvPr/>
        </p:nvSpPr>
        <p:spPr>
          <a:xfrm>
            <a:off x="1554480" y="402336"/>
            <a:ext cx="9905695" cy="274320"/>
          </a:xfrm>
          <a:prstGeom prst="rect">
            <a:avLst/>
          </a:prstGeom>
          <a:noFill/>
        </p:spPr>
        <p:txBody>
          <a:bodyPr wrap="square" anchor="t" lIns="0" rIns="0" tIns="0" bIns="0">
            <a:spAutoFit/>
          </a:bodyPr>
          <a:lstStyle/>
          <a:p>
            <a:r>
              <a:rPr sz="1200" i="0" b="1" spc="150">
                <a:solidFill>
                  <a:srgbClr val="826227"/>
                </a:solidFill>
                <a:latin typeface="Calibri"/>
              </a:rPr>
              <a:t>SECTION 4</a:t>
            </a:r>
          </a:p>
        </p:txBody>
      </p:sp>
      <p:sp>
        <p:nvSpPr>
          <p:cNvPr id="7" name="TextBox 6"/>
          <p:cNvSpPr txBox="1"/>
          <p:nvPr/>
        </p:nvSpPr>
        <p:spPr>
          <a:xfrm>
            <a:off x="1554480" y="658368"/>
            <a:ext cx="9905695" cy="640080"/>
          </a:xfrm>
          <a:prstGeom prst="rect">
            <a:avLst/>
          </a:prstGeom>
          <a:noFill/>
        </p:spPr>
        <p:txBody>
          <a:bodyPr wrap="square" anchor="ctr" lIns="0" rIns="0" tIns="0" bIns="0">
            <a:spAutoFit/>
          </a:bodyPr>
          <a:lstStyle/>
          <a:p>
            <a:r>
              <a:rPr sz="3000" i="0" b="1">
                <a:solidFill>
                  <a:srgbClr val="1B2A8C"/>
                </a:solidFill>
                <a:latin typeface="Cambria"/>
              </a:rPr>
              <a:t>Learning Objectives</a:t>
            </a:r>
          </a:p>
        </p:txBody>
      </p:sp>
      <p:sp>
        <p:nvSpPr>
          <p:cNvPr id="8" name="TextBox 7"/>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5A6072"/>
                </a:solidFill>
                <a:latin typeface="Calibri"/>
              </a:rPr>
              <a:t>Practical Pharmacology of the Central Nervous System  ·  Section 4  ·  Depression and Antidepressant Drugs</a:t>
            </a:r>
          </a:p>
        </p:txBody>
      </p:sp>
      <p:sp>
        <p:nvSpPr>
          <p:cNvPr id="9" name="TextBox 8"/>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5A6072"/>
                </a:solidFill>
                <a:latin typeface="Calibri"/>
              </a:rPr>
              <a:t>02 / 25</a:t>
            </a:r>
          </a:p>
        </p:txBody>
      </p:sp>
      <p:pic>
        <p:nvPicPr>
          <p:cNvPr id="10" name="Picture 9" descr="logo"/>
          <p:cNvPicPr>
            <a:picLocks noChangeAspect="1"/>
          </p:cNvPicPr>
          <p:nvPr/>
        </p:nvPicPr>
        <p:blipFill>
          <a:blip r:embed="rId4"/>
          <a:stretch>
            <a:fillRect/>
          </a:stretch>
        </p:blipFill>
        <p:spPr>
          <a:xfrm>
            <a:off x="11247120" y="6309360"/>
            <a:ext cx="384048" cy="384048"/>
          </a:xfrm>
          <a:prstGeom prst="rect">
            <a:avLst/>
          </a:prstGeom>
        </p:spPr>
      </p:pic>
      <p:sp>
        <p:nvSpPr>
          <p:cNvPr id="11" name="Oval 10"/>
          <p:cNvSpPr/>
          <p:nvPr/>
        </p:nvSpPr>
        <p:spPr>
          <a:xfrm>
            <a:off x="548640" y="1572768"/>
            <a:ext cx="402336" cy="402336"/>
          </a:xfrm>
          <a:prstGeom prst="ellipse">
            <a:avLst/>
          </a:prstGeom>
          <a:solidFill>
            <a:srgbClr val="F9F8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8D6A2A"/>
                </a:solidFill>
                <a:latin typeface="Calibri"/>
              </a:rPr>
              <a:t>1</a:t>
            </a:r>
          </a:p>
        </p:txBody>
      </p:sp>
      <p:sp>
        <p:nvSpPr>
          <p:cNvPr id="12" name="TextBox 11"/>
          <p:cNvSpPr txBox="1"/>
          <p:nvPr/>
        </p:nvSpPr>
        <p:spPr>
          <a:xfrm>
            <a:off x="1143000" y="1591056"/>
            <a:ext cx="6629400" cy="941324"/>
          </a:xfrm>
          <a:prstGeom prst="rect">
            <a:avLst/>
          </a:prstGeom>
          <a:noFill/>
        </p:spPr>
        <p:txBody>
          <a:bodyPr wrap="square" anchor="t" lIns="0" rIns="0" tIns="0" bIns="0">
            <a:spAutoFit/>
          </a:bodyPr>
          <a:lstStyle/>
          <a:p>
            <a:r>
              <a:rPr sz="2000" i="0" b="0">
                <a:solidFill>
                  <a:srgbClr val="1A1F36"/>
                </a:solidFill>
                <a:latin typeface="Calibri"/>
              </a:rPr>
              <a:t>Explain the monoamine basis of depression and the delayed onset of antidepressants.</a:t>
            </a:r>
          </a:p>
        </p:txBody>
      </p:sp>
      <p:sp>
        <p:nvSpPr>
          <p:cNvPr id="13" name="Oval 12"/>
          <p:cNvSpPr/>
          <p:nvPr/>
        </p:nvSpPr>
        <p:spPr>
          <a:xfrm>
            <a:off x="548640" y="2559812"/>
            <a:ext cx="402336" cy="402336"/>
          </a:xfrm>
          <a:prstGeom prst="ellipse">
            <a:avLst/>
          </a:prstGeom>
          <a:solidFill>
            <a:srgbClr val="F9F8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8D6A2A"/>
                </a:solidFill>
                <a:latin typeface="Calibri"/>
              </a:rPr>
              <a:t>2</a:t>
            </a:r>
          </a:p>
        </p:txBody>
      </p:sp>
      <p:sp>
        <p:nvSpPr>
          <p:cNvPr id="14" name="TextBox 13"/>
          <p:cNvSpPr txBox="1"/>
          <p:nvPr/>
        </p:nvSpPr>
        <p:spPr>
          <a:xfrm>
            <a:off x="1143000" y="2578100"/>
            <a:ext cx="6629400" cy="623824"/>
          </a:xfrm>
          <a:prstGeom prst="rect">
            <a:avLst/>
          </a:prstGeom>
          <a:noFill/>
        </p:spPr>
        <p:txBody>
          <a:bodyPr wrap="square" anchor="t" lIns="0" rIns="0" tIns="0" bIns="0">
            <a:spAutoFit/>
          </a:bodyPr>
          <a:lstStyle/>
          <a:p>
            <a:r>
              <a:rPr sz="2000" i="0" b="0">
                <a:solidFill>
                  <a:srgbClr val="1A1F36"/>
                </a:solidFill>
                <a:latin typeface="Calibri"/>
              </a:rPr>
              <a:t>Describe the mechanism of each antidepressant class.</a:t>
            </a:r>
          </a:p>
        </p:txBody>
      </p:sp>
      <p:sp>
        <p:nvSpPr>
          <p:cNvPr id="15" name="Oval 14"/>
          <p:cNvSpPr/>
          <p:nvPr/>
        </p:nvSpPr>
        <p:spPr>
          <a:xfrm>
            <a:off x="548640" y="3229356"/>
            <a:ext cx="402336" cy="402336"/>
          </a:xfrm>
          <a:prstGeom prst="ellipse">
            <a:avLst/>
          </a:prstGeom>
          <a:solidFill>
            <a:srgbClr val="F9F8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8D6A2A"/>
                </a:solidFill>
                <a:latin typeface="Calibri"/>
              </a:rPr>
              <a:t>3</a:t>
            </a:r>
          </a:p>
        </p:txBody>
      </p:sp>
      <p:sp>
        <p:nvSpPr>
          <p:cNvPr id="16" name="TextBox 15"/>
          <p:cNvSpPr txBox="1"/>
          <p:nvPr/>
        </p:nvSpPr>
        <p:spPr>
          <a:xfrm>
            <a:off x="1143000" y="3247644"/>
            <a:ext cx="6629400" cy="941324"/>
          </a:xfrm>
          <a:prstGeom prst="rect">
            <a:avLst/>
          </a:prstGeom>
          <a:noFill/>
        </p:spPr>
        <p:txBody>
          <a:bodyPr wrap="square" anchor="t" lIns="0" rIns="0" tIns="0" bIns="0">
            <a:spAutoFit/>
          </a:bodyPr>
          <a:lstStyle/>
          <a:p>
            <a:r>
              <a:rPr sz="2000" i="0" b="0">
                <a:solidFill>
                  <a:srgbClr val="1A1F36"/>
                </a:solidFill>
                <a:latin typeface="Calibri"/>
              </a:rPr>
              <a:t>Link each common adverse effect to the receptor that causes it.</a:t>
            </a:r>
          </a:p>
        </p:txBody>
      </p:sp>
      <p:sp>
        <p:nvSpPr>
          <p:cNvPr id="17" name="Oval 16"/>
          <p:cNvSpPr/>
          <p:nvPr/>
        </p:nvSpPr>
        <p:spPr>
          <a:xfrm>
            <a:off x="548640" y="4216400"/>
            <a:ext cx="402336" cy="402336"/>
          </a:xfrm>
          <a:prstGeom prst="ellipse">
            <a:avLst/>
          </a:prstGeom>
          <a:solidFill>
            <a:srgbClr val="F9F8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8D6A2A"/>
                </a:solidFill>
                <a:latin typeface="Calibri"/>
              </a:rPr>
              <a:t>4</a:t>
            </a:r>
          </a:p>
        </p:txBody>
      </p:sp>
      <p:sp>
        <p:nvSpPr>
          <p:cNvPr id="18" name="TextBox 17"/>
          <p:cNvSpPr txBox="1"/>
          <p:nvPr/>
        </p:nvSpPr>
        <p:spPr>
          <a:xfrm>
            <a:off x="1143000" y="4234688"/>
            <a:ext cx="6629400" cy="941324"/>
          </a:xfrm>
          <a:prstGeom prst="rect">
            <a:avLst/>
          </a:prstGeom>
          <a:noFill/>
        </p:spPr>
        <p:txBody>
          <a:bodyPr wrap="square" anchor="t" lIns="0" rIns="0" tIns="0" bIns="0">
            <a:spAutoFit/>
          </a:bodyPr>
          <a:lstStyle/>
          <a:p>
            <a:r>
              <a:rPr sz="2000" i="0" b="0">
                <a:solidFill>
                  <a:srgbClr val="1A1F36"/>
                </a:solidFill>
                <a:latin typeface="Calibri"/>
              </a:rPr>
              <a:t>Recognise serotonin syndrome, the cheese reaction and tricyclic overdose, and outline their management.</a:t>
            </a:r>
          </a:p>
        </p:txBody>
      </p:sp>
      <p:sp>
        <p:nvSpPr>
          <p:cNvPr id="19" name="Oval 18"/>
          <p:cNvSpPr/>
          <p:nvPr/>
        </p:nvSpPr>
        <p:spPr>
          <a:xfrm>
            <a:off x="548640" y="5203444"/>
            <a:ext cx="402336" cy="402336"/>
          </a:xfrm>
          <a:prstGeom prst="ellipse">
            <a:avLst/>
          </a:prstGeom>
          <a:solidFill>
            <a:srgbClr val="F9F8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8D6A2A"/>
                </a:solidFill>
                <a:latin typeface="Calibri"/>
              </a:rPr>
              <a:t>5</a:t>
            </a:r>
          </a:p>
        </p:txBody>
      </p:sp>
      <p:sp>
        <p:nvSpPr>
          <p:cNvPr id="20" name="TextBox 19"/>
          <p:cNvSpPr txBox="1"/>
          <p:nvPr/>
        </p:nvSpPr>
        <p:spPr>
          <a:xfrm>
            <a:off x="1143000" y="5221732"/>
            <a:ext cx="6629400" cy="941324"/>
          </a:xfrm>
          <a:prstGeom prst="rect">
            <a:avLst/>
          </a:prstGeom>
          <a:noFill/>
        </p:spPr>
        <p:txBody>
          <a:bodyPr wrap="square" anchor="t" lIns="0" rIns="0" tIns="0" bIns="0">
            <a:spAutoFit/>
          </a:bodyPr>
          <a:lstStyle/>
          <a:p>
            <a:r>
              <a:rPr sz="2000" i="0" b="0">
                <a:solidFill>
                  <a:srgbClr val="1A1F36"/>
                </a:solidFill>
                <a:latin typeface="Calibri"/>
              </a:rPr>
              <a:t>Choose an antidepressant for a patient, and counsel on onset, adverse effects and stopping.</a:t>
            </a:r>
          </a:p>
        </p:txBody>
      </p:sp>
      <p:sp>
        <p:nvSpPr>
          <p:cNvPr id="21" name="Rounded Rectangle 20"/>
          <p:cNvSpPr/>
          <p:nvPr/>
        </p:nvSpPr>
        <p:spPr>
          <a:xfrm>
            <a:off x="8366760" y="1600200"/>
            <a:ext cx="3273552" cy="4526280"/>
          </a:xfrm>
          <a:prstGeom prst="roundRect">
            <a:avLst>
              <a:gd name="adj" fmla="val 5000"/>
            </a:avLst>
          </a:prstGeom>
          <a:solidFill>
            <a:srgbClr val="F1F2F8">
              <a:alpha val="80000"/>
            </a:srgbClr>
          </a:solidFill>
          <a:ln w="19050">
            <a:solidFill>
              <a:srgbClr val="FFFFFF"/>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8628644" y="1664208"/>
            <a:ext cx="2749783" cy="32004"/>
          </a:xfrm>
          <a:prstGeom prst="roundRect">
            <a:avLst>
              <a:gd name="adj" fmla="val 50000"/>
            </a:avLst>
          </a:prstGeom>
          <a:solidFill>
            <a:srgbClr val="FFFFFF">
              <a:alpha val="8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641080" y="1874519"/>
            <a:ext cx="2743200" cy="4023360"/>
          </a:xfrm>
          <a:prstGeom prst="rect">
            <a:avLst/>
          </a:prstGeom>
          <a:noFill/>
        </p:spPr>
        <p:txBody>
          <a:bodyPr wrap="square" anchor="t" lIns="0" rIns="0" tIns="0" bIns="0">
            <a:spAutoFit/>
          </a:bodyPr>
          <a:lstStyle/>
          <a:p>
            <a:pPr>
              <a:spcBef>
                <a:spcPts val="0"/>
              </a:spcBef>
            </a:pPr>
            <a:r>
              <a:rPr sz="5400" i="0" b="1">
                <a:solidFill>
                  <a:srgbClr val="1B2A8C"/>
                </a:solidFill>
                <a:latin typeface="Cambria"/>
              </a:rPr>
              <a:t>40</a:t>
            </a:r>
          </a:p>
          <a:p>
            <a:r>
              <a:rPr sz="1200" i="0" b="1" spc="150">
                <a:solidFill>
                  <a:srgbClr val="5A6072"/>
                </a:solidFill>
                <a:latin typeface="Calibri"/>
              </a:rPr>
              <a:t>MINUTES</a:t>
            </a:r>
          </a:p>
          <a:p>
            <a:pPr>
              <a:spcBef>
                <a:spcPts val="1600"/>
              </a:spcBef>
            </a:pPr>
            <a:r>
              <a:rPr sz="5400" i="0" b="1">
                <a:solidFill>
                  <a:srgbClr val="1B2A8C"/>
                </a:solidFill>
                <a:latin typeface="Cambria"/>
              </a:rPr>
              <a:t>3</a:t>
            </a:r>
          </a:p>
          <a:p>
            <a:r>
              <a:rPr sz="1200" i="0" b="1" spc="150">
                <a:solidFill>
                  <a:srgbClr val="5A6072"/>
                </a:solidFill>
                <a:latin typeface="Calibri"/>
              </a:rPr>
              <a:t>QUESTIONS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E8EAF4"/>
        </a:solidFill>
        <a:effectLst/>
      </p:bgPr>
    </p:bg>
    <p:spTree>
      <p:nvGrpSpPr>
        <p:cNvPr id="1" name=""/>
        <p:cNvGrpSpPr/>
        <p:nvPr/>
      </p:nvGrpSpPr>
      <p:grpSpPr/>
      <p:pic>
        <p:nvPicPr>
          <p:cNvPr id="2" name="Picture 1" descr=""/>
          <p:cNvPicPr>
            <a:picLocks noChangeAspect="1"/>
          </p:cNvPicPr>
          <p:nvPr/>
        </p:nvPicPr>
        <p:blipFill>
          <a:blip r:embed="rId3"/>
          <a:stretch>
            <a:fillRect/>
          </a:stretch>
        </p:blipFill>
        <p:spPr>
          <a:xfrm>
            <a:off x="0" y="0"/>
            <a:ext cx="12191695" cy="6858000"/>
          </a:xfrm>
          <a:prstGeom prst="rect">
            <a:avLst/>
          </a:prstGeom>
        </p:spPr>
      </p:pic>
      <p:sp>
        <p:nvSpPr>
          <p:cNvPr id="3" name="Rounded Rectangle 2"/>
          <p:cNvSpPr/>
          <p:nvPr/>
        </p:nvSpPr>
        <p:spPr>
          <a:xfrm>
            <a:off x="411479" y="274320"/>
            <a:ext cx="11368735" cy="1097280"/>
          </a:xfrm>
          <a:prstGeom prst="roundRect">
            <a:avLst>
              <a:gd name="adj" fmla="val 14000"/>
            </a:avLst>
          </a:prstGeom>
          <a:solidFill>
            <a:srgbClr val="FFFFFF">
              <a:alpha val="70000"/>
            </a:srgbClr>
          </a:solidFill>
          <a:ln w="28575">
            <a:solidFill>
              <a:srgbClr val="1B2A8C"/>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31519" y="338328"/>
            <a:ext cx="10728655" cy="32004"/>
          </a:xfrm>
          <a:prstGeom prst="roundRect">
            <a:avLst>
              <a:gd name="adj" fmla="val 50000"/>
            </a:avLst>
          </a:prstGeom>
          <a:solidFill>
            <a:srgbClr val="FFFFFF">
              <a:alpha val="8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640080" y="493776"/>
            <a:ext cx="658368" cy="658368"/>
          </a:xfrm>
          <a:prstGeom prst="ellipse">
            <a:avLst/>
          </a:prstGeom>
          <a:solidFill>
            <a:srgbClr val="8D6A2A"/>
          </a:solidFill>
          <a:ln>
            <a:noFill/>
          </a:ln>
          <a:effectLst>
            <a:outerShdw blurRad="203200" dist="50800" dir="5400000" algn="t" rotWithShape="0">
              <a:srgbClr val="1A2340">
                <a:alpha val="20000"/>
              </a:srgbClr>
            </a:outerShdw>
          </a:effectLst>
          <a:scene3d>
            <a:camera prst="orthographicFront"/>
            <a:lightRig rig="threePt" dir="t"/>
          </a:scene3d>
          <a:sp3d>
            <a:bevelT w="44450" h="25400" prst="softRound"/>
          </a:sp3d>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800" i="0" b="1">
                <a:solidFill>
                  <a:srgbClr val="FFFFFF"/>
                </a:solidFill>
                <a:latin typeface="Cambria"/>
              </a:rPr>
              <a:t>04</a:t>
            </a:r>
          </a:p>
        </p:txBody>
      </p:sp>
      <p:sp>
        <p:nvSpPr>
          <p:cNvPr id="6" name="TextBox 5"/>
          <p:cNvSpPr txBox="1"/>
          <p:nvPr/>
        </p:nvSpPr>
        <p:spPr>
          <a:xfrm>
            <a:off x="1554480" y="402336"/>
            <a:ext cx="9905695" cy="274320"/>
          </a:xfrm>
          <a:prstGeom prst="rect">
            <a:avLst/>
          </a:prstGeom>
          <a:noFill/>
        </p:spPr>
        <p:txBody>
          <a:bodyPr wrap="square" anchor="t" lIns="0" rIns="0" tIns="0" bIns="0">
            <a:spAutoFit/>
          </a:bodyPr>
          <a:lstStyle/>
          <a:p>
            <a:r>
              <a:rPr sz="1200" i="0" b="1" spc="150">
                <a:solidFill>
                  <a:srgbClr val="826227"/>
                </a:solidFill>
                <a:latin typeface="Calibri"/>
              </a:rPr>
              <a:t>SECTION 4</a:t>
            </a:r>
          </a:p>
        </p:txBody>
      </p:sp>
      <p:sp>
        <p:nvSpPr>
          <p:cNvPr id="7" name="TextBox 6"/>
          <p:cNvSpPr txBox="1"/>
          <p:nvPr/>
        </p:nvSpPr>
        <p:spPr>
          <a:xfrm>
            <a:off x="1554480" y="658368"/>
            <a:ext cx="9905695" cy="640080"/>
          </a:xfrm>
          <a:prstGeom prst="rect">
            <a:avLst/>
          </a:prstGeom>
          <a:noFill/>
        </p:spPr>
        <p:txBody>
          <a:bodyPr wrap="square" anchor="ctr" lIns="0" rIns="0" tIns="0" bIns="0">
            <a:spAutoFit/>
          </a:bodyPr>
          <a:lstStyle/>
          <a:p>
            <a:r>
              <a:rPr sz="3000" i="0" b="1">
                <a:solidFill>
                  <a:srgbClr val="1B2A8C"/>
                </a:solidFill>
                <a:latin typeface="Cambria"/>
              </a:rPr>
              <a:t>Roadmap</a:t>
            </a:r>
          </a:p>
        </p:txBody>
      </p:sp>
      <p:sp>
        <p:nvSpPr>
          <p:cNvPr id="8" name="TextBox 7"/>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5A6072"/>
                </a:solidFill>
                <a:latin typeface="Calibri"/>
              </a:rPr>
              <a:t>Practical Pharmacology of the Central Nervous System  ·  Section 4  ·  Depression and Antidepressant Drugs</a:t>
            </a:r>
          </a:p>
        </p:txBody>
      </p:sp>
      <p:sp>
        <p:nvSpPr>
          <p:cNvPr id="9" name="TextBox 8"/>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5A6072"/>
                </a:solidFill>
                <a:latin typeface="Calibri"/>
              </a:rPr>
              <a:t>03 / 25</a:t>
            </a:r>
          </a:p>
        </p:txBody>
      </p:sp>
      <p:pic>
        <p:nvPicPr>
          <p:cNvPr id="10" name="Picture 9" descr="logo"/>
          <p:cNvPicPr>
            <a:picLocks noChangeAspect="1"/>
          </p:cNvPicPr>
          <p:nvPr/>
        </p:nvPicPr>
        <p:blipFill>
          <a:blip r:embed="rId4"/>
          <a:stretch>
            <a:fillRect/>
          </a:stretch>
        </p:blipFill>
        <p:spPr>
          <a:xfrm>
            <a:off x="11247120" y="6309360"/>
            <a:ext cx="384048" cy="384048"/>
          </a:xfrm>
          <a:prstGeom prst="rect">
            <a:avLst/>
          </a:prstGeom>
        </p:spPr>
      </p:pic>
      <p:sp>
        <p:nvSpPr>
          <p:cNvPr id="11" name="Oval 10"/>
          <p:cNvSpPr/>
          <p:nvPr/>
        </p:nvSpPr>
        <p:spPr>
          <a:xfrm>
            <a:off x="548640" y="1572768"/>
            <a:ext cx="402336" cy="402336"/>
          </a:xfrm>
          <a:prstGeom prst="ellipse">
            <a:avLst/>
          </a:prstGeom>
          <a:solidFill>
            <a:srgbClr val="F9F8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8D6A2A"/>
                </a:solidFill>
                <a:latin typeface="Calibri"/>
              </a:rPr>
              <a:t>1</a:t>
            </a:r>
          </a:p>
        </p:txBody>
      </p:sp>
      <p:sp>
        <p:nvSpPr>
          <p:cNvPr id="12" name="TextBox 11"/>
          <p:cNvSpPr txBox="1"/>
          <p:nvPr/>
        </p:nvSpPr>
        <p:spPr>
          <a:xfrm>
            <a:off x="1143000" y="1591056"/>
            <a:ext cx="4678527" cy="824737"/>
          </a:xfrm>
          <a:prstGeom prst="rect">
            <a:avLst/>
          </a:prstGeom>
          <a:noFill/>
        </p:spPr>
        <p:txBody>
          <a:bodyPr wrap="square" anchor="t" lIns="0" rIns="0" tIns="0" bIns="0">
            <a:spAutoFit/>
          </a:bodyPr>
          <a:lstStyle/>
          <a:p>
            <a:r>
              <a:rPr sz="2200" i="0" b="0">
                <a:solidFill>
                  <a:srgbClr val="1A1F36"/>
                </a:solidFill>
                <a:latin typeface="Calibri"/>
              </a:rPr>
              <a:t>The Disease in Brief</a:t>
            </a:r>
          </a:p>
        </p:txBody>
      </p:sp>
      <p:sp>
        <p:nvSpPr>
          <p:cNvPr id="13" name="Oval 12"/>
          <p:cNvSpPr/>
          <p:nvPr/>
        </p:nvSpPr>
        <p:spPr>
          <a:xfrm>
            <a:off x="548640" y="2443226"/>
            <a:ext cx="402336" cy="402336"/>
          </a:xfrm>
          <a:prstGeom prst="ellipse">
            <a:avLst/>
          </a:prstGeom>
          <a:solidFill>
            <a:srgbClr val="F9F8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8D6A2A"/>
                </a:solidFill>
                <a:latin typeface="Calibri"/>
              </a:rPr>
              <a:t>2</a:t>
            </a:r>
          </a:p>
        </p:txBody>
      </p:sp>
      <p:sp>
        <p:nvSpPr>
          <p:cNvPr id="14" name="TextBox 13"/>
          <p:cNvSpPr txBox="1"/>
          <p:nvPr/>
        </p:nvSpPr>
        <p:spPr>
          <a:xfrm>
            <a:off x="1143000" y="2461514"/>
            <a:ext cx="4678527" cy="1173987"/>
          </a:xfrm>
          <a:prstGeom prst="rect">
            <a:avLst/>
          </a:prstGeom>
          <a:noFill/>
        </p:spPr>
        <p:txBody>
          <a:bodyPr wrap="square" anchor="t" lIns="0" rIns="0" tIns="0" bIns="0">
            <a:spAutoFit/>
          </a:bodyPr>
          <a:lstStyle/>
          <a:p>
            <a:r>
              <a:rPr sz="2200" i="0" b="0">
                <a:solidFill>
                  <a:srgbClr val="1A1F36"/>
                </a:solidFill>
                <a:latin typeface="Calibri"/>
              </a:rPr>
              <a:t>Psychological Therapy and Antidepressants</a:t>
            </a:r>
          </a:p>
        </p:txBody>
      </p:sp>
      <p:sp>
        <p:nvSpPr>
          <p:cNvPr id="15" name="Oval 14"/>
          <p:cNvSpPr/>
          <p:nvPr/>
        </p:nvSpPr>
        <p:spPr>
          <a:xfrm>
            <a:off x="548640" y="3662933"/>
            <a:ext cx="402336" cy="402336"/>
          </a:xfrm>
          <a:prstGeom prst="ellipse">
            <a:avLst/>
          </a:prstGeom>
          <a:solidFill>
            <a:srgbClr val="F9F8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8D6A2A"/>
                </a:solidFill>
                <a:latin typeface="Calibri"/>
              </a:rPr>
              <a:t>3</a:t>
            </a:r>
          </a:p>
        </p:txBody>
      </p:sp>
      <p:sp>
        <p:nvSpPr>
          <p:cNvPr id="16" name="TextBox 15"/>
          <p:cNvSpPr txBox="1"/>
          <p:nvPr/>
        </p:nvSpPr>
        <p:spPr>
          <a:xfrm>
            <a:off x="1143000" y="3681221"/>
            <a:ext cx="4678527" cy="824737"/>
          </a:xfrm>
          <a:prstGeom prst="rect">
            <a:avLst/>
          </a:prstGeom>
          <a:noFill/>
        </p:spPr>
        <p:txBody>
          <a:bodyPr wrap="square" anchor="t" lIns="0" rIns="0" tIns="0" bIns="0">
            <a:spAutoFit/>
          </a:bodyPr>
          <a:lstStyle/>
          <a:p>
            <a:r>
              <a:rPr sz="2200" i="0" b="0">
                <a:solidFill>
                  <a:srgbClr val="1A1F36"/>
                </a:solidFill>
                <a:latin typeface="Calibri"/>
              </a:rPr>
              <a:t>Antidepressant Classes</a:t>
            </a:r>
          </a:p>
        </p:txBody>
      </p:sp>
      <p:sp>
        <p:nvSpPr>
          <p:cNvPr id="17" name="Oval 16"/>
          <p:cNvSpPr/>
          <p:nvPr/>
        </p:nvSpPr>
        <p:spPr>
          <a:xfrm>
            <a:off x="548640" y="4533391"/>
            <a:ext cx="402336" cy="402336"/>
          </a:xfrm>
          <a:prstGeom prst="ellipse">
            <a:avLst/>
          </a:prstGeom>
          <a:solidFill>
            <a:srgbClr val="F9F8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8D6A2A"/>
                </a:solidFill>
                <a:latin typeface="Calibri"/>
              </a:rPr>
              <a:t>4</a:t>
            </a:r>
          </a:p>
        </p:txBody>
      </p:sp>
      <p:sp>
        <p:nvSpPr>
          <p:cNvPr id="18" name="TextBox 17"/>
          <p:cNvSpPr txBox="1"/>
          <p:nvPr/>
        </p:nvSpPr>
        <p:spPr>
          <a:xfrm>
            <a:off x="1143000" y="4551679"/>
            <a:ext cx="4678527" cy="824737"/>
          </a:xfrm>
          <a:prstGeom prst="rect">
            <a:avLst/>
          </a:prstGeom>
          <a:noFill/>
        </p:spPr>
        <p:txBody>
          <a:bodyPr wrap="square" anchor="t" lIns="0" rIns="0" tIns="0" bIns="0">
            <a:spAutoFit/>
          </a:bodyPr>
          <a:lstStyle/>
          <a:p>
            <a:r>
              <a:rPr sz="2200" i="0" b="0">
                <a:solidFill>
                  <a:srgbClr val="1A1F36"/>
                </a:solidFill>
                <a:latin typeface="Calibri"/>
              </a:rPr>
              <a:t>Serious Toxicity</a:t>
            </a:r>
          </a:p>
        </p:txBody>
      </p:sp>
      <p:sp>
        <p:nvSpPr>
          <p:cNvPr id="19" name="Oval 18"/>
          <p:cNvSpPr/>
          <p:nvPr/>
        </p:nvSpPr>
        <p:spPr>
          <a:xfrm>
            <a:off x="6370167" y="1572768"/>
            <a:ext cx="402336" cy="402336"/>
          </a:xfrm>
          <a:prstGeom prst="ellipse">
            <a:avLst/>
          </a:prstGeom>
          <a:solidFill>
            <a:srgbClr val="F9F8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8D6A2A"/>
                </a:solidFill>
                <a:latin typeface="Calibri"/>
              </a:rPr>
              <a:t>5</a:t>
            </a:r>
          </a:p>
        </p:txBody>
      </p:sp>
      <p:sp>
        <p:nvSpPr>
          <p:cNvPr id="20" name="TextBox 19"/>
          <p:cNvSpPr txBox="1"/>
          <p:nvPr/>
        </p:nvSpPr>
        <p:spPr>
          <a:xfrm>
            <a:off x="6964527" y="1591056"/>
            <a:ext cx="4678527" cy="824737"/>
          </a:xfrm>
          <a:prstGeom prst="rect">
            <a:avLst/>
          </a:prstGeom>
          <a:noFill/>
        </p:spPr>
        <p:txBody>
          <a:bodyPr wrap="square" anchor="t" lIns="0" rIns="0" tIns="0" bIns="0">
            <a:spAutoFit/>
          </a:bodyPr>
          <a:lstStyle/>
          <a:p>
            <a:r>
              <a:rPr sz="2200" i="0" b="0">
                <a:solidFill>
                  <a:srgbClr val="1A1F36"/>
                </a:solidFill>
                <a:latin typeface="Calibri"/>
              </a:rPr>
              <a:t>Stopping an Antidepressant</a:t>
            </a:r>
          </a:p>
        </p:txBody>
      </p:sp>
      <p:sp>
        <p:nvSpPr>
          <p:cNvPr id="21" name="Oval 20"/>
          <p:cNvSpPr/>
          <p:nvPr/>
        </p:nvSpPr>
        <p:spPr>
          <a:xfrm>
            <a:off x="6370167" y="2443226"/>
            <a:ext cx="402336" cy="402336"/>
          </a:xfrm>
          <a:prstGeom prst="ellipse">
            <a:avLst/>
          </a:prstGeom>
          <a:solidFill>
            <a:srgbClr val="F9F8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8D6A2A"/>
                </a:solidFill>
                <a:latin typeface="Calibri"/>
              </a:rPr>
              <a:t>6</a:t>
            </a:r>
          </a:p>
        </p:txBody>
      </p:sp>
      <p:sp>
        <p:nvSpPr>
          <p:cNvPr id="22" name="TextBox 21"/>
          <p:cNvSpPr txBox="1"/>
          <p:nvPr/>
        </p:nvSpPr>
        <p:spPr>
          <a:xfrm>
            <a:off x="6964527" y="2461514"/>
            <a:ext cx="4678527" cy="824737"/>
          </a:xfrm>
          <a:prstGeom prst="rect">
            <a:avLst/>
          </a:prstGeom>
          <a:noFill/>
        </p:spPr>
        <p:txBody>
          <a:bodyPr wrap="square" anchor="t" lIns="0" rIns="0" tIns="0" bIns="0">
            <a:spAutoFit/>
          </a:bodyPr>
          <a:lstStyle/>
          <a:p>
            <a:r>
              <a:rPr sz="2200" i="0" b="0">
                <a:solidFill>
                  <a:srgbClr val="1A1F36"/>
                </a:solidFill>
                <a:latin typeface="Calibri"/>
              </a:rPr>
              <a:t>Choosing a Drug</a:t>
            </a:r>
          </a:p>
        </p:txBody>
      </p:sp>
      <p:sp>
        <p:nvSpPr>
          <p:cNvPr id="23" name="Oval 22"/>
          <p:cNvSpPr/>
          <p:nvPr/>
        </p:nvSpPr>
        <p:spPr>
          <a:xfrm>
            <a:off x="6370167" y="3313684"/>
            <a:ext cx="402336" cy="402336"/>
          </a:xfrm>
          <a:prstGeom prst="ellipse">
            <a:avLst/>
          </a:prstGeom>
          <a:solidFill>
            <a:srgbClr val="F9F8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8D6A2A"/>
                </a:solidFill>
                <a:latin typeface="Calibri"/>
              </a:rPr>
              <a:t>7</a:t>
            </a:r>
          </a:p>
        </p:txBody>
      </p:sp>
      <p:sp>
        <p:nvSpPr>
          <p:cNvPr id="24" name="TextBox 23"/>
          <p:cNvSpPr txBox="1"/>
          <p:nvPr/>
        </p:nvSpPr>
        <p:spPr>
          <a:xfrm>
            <a:off x="6964527" y="3331972"/>
            <a:ext cx="4678527" cy="824737"/>
          </a:xfrm>
          <a:prstGeom prst="rect">
            <a:avLst/>
          </a:prstGeom>
          <a:noFill/>
        </p:spPr>
        <p:txBody>
          <a:bodyPr wrap="square" anchor="t" lIns="0" rIns="0" tIns="0" bIns="0">
            <a:spAutoFit/>
          </a:bodyPr>
          <a:lstStyle/>
          <a:p>
            <a:r>
              <a:rPr sz="2200" i="0" b="0">
                <a:solidFill>
                  <a:srgbClr val="1A1F36"/>
                </a:solidFill>
                <a:latin typeface="Calibri"/>
              </a:rPr>
              <a:t>Brands in Egypt</a:t>
            </a:r>
          </a:p>
        </p:txBody>
      </p:sp>
      <p:sp>
        <p:nvSpPr>
          <p:cNvPr id="25" name="Oval 24"/>
          <p:cNvSpPr/>
          <p:nvPr/>
        </p:nvSpPr>
        <p:spPr>
          <a:xfrm>
            <a:off x="6370167" y="4184141"/>
            <a:ext cx="402336" cy="402336"/>
          </a:xfrm>
          <a:prstGeom prst="ellipse">
            <a:avLst/>
          </a:prstGeom>
          <a:solidFill>
            <a:srgbClr val="F9F8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8D6A2A"/>
                </a:solidFill>
                <a:latin typeface="Calibri"/>
              </a:rPr>
              <a:t>8</a:t>
            </a:r>
          </a:p>
        </p:txBody>
      </p:sp>
      <p:sp>
        <p:nvSpPr>
          <p:cNvPr id="26" name="TextBox 25"/>
          <p:cNvSpPr txBox="1"/>
          <p:nvPr/>
        </p:nvSpPr>
        <p:spPr>
          <a:xfrm>
            <a:off x="6964527" y="4202430"/>
            <a:ext cx="4678527" cy="824737"/>
          </a:xfrm>
          <a:prstGeom prst="rect">
            <a:avLst/>
          </a:prstGeom>
          <a:noFill/>
        </p:spPr>
        <p:txBody>
          <a:bodyPr wrap="square" anchor="t" lIns="0" rIns="0" tIns="0" bIns="0">
            <a:spAutoFit/>
          </a:bodyPr>
          <a:lstStyle/>
          <a:p>
            <a:r>
              <a:rPr sz="2200" i="0" b="0">
                <a:solidFill>
                  <a:srgbClr val="1A1F36"/>
                </a:solidFill>
                <a:latin typeface="Calibri"/>
              </a:rPr>
              <a:t>For Discussion</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E8EAF4"/>
        </a:solidFill>
        <a:effectLst/>
      </p:bgPr>
    </p:bg>
    <p:spTree>
      <p:nvGrpSpPr>
        <p:cNvPr id="1" name=""/>
        <p:cNvGrpSpPr/>
        <p:nvPr/>
      </p:nvGrpSpPr>
      <p:grpSpPr/>
      <p:pic>
        <p:nvPicPr>
          <p:cNvPr id="2" name="Picture 1" descr=""/>
          <p:cNvPicPr>
            <a:picLocks noChangeAspect="1"/>
          </p:cNvPicPr>
          <p:nvPr/>
        </p:nvPicPr>
        <p:blipFill>
          <a:blip r:embed="rId3"/>
          <a:stretch>
            <a:fillRect/>
          </a:stretch>
        </p:blipFill>
        <p:spPr>
          <a:xfrm>
            <a:off x="0" y="0"/>
            <a:ext cx="12191695" cy="6858000"/>
          </a:xfrm>
          <a:prstGeom prst="rect">
            <a:avLst/>
          </a:prstGeom>
        </p:spPr>
      </p:pic>
      <p:sp>
        <p:nvSpPr>
          <p:cNvPr id="3" name="Rounded Rectangle 2"/>
          <p:cNvSpPr/>
          <p:nvPr/>
        </p:nvSpPr>
        <p:spPr>
          <a:xfrm>
            <a:off x="411479" y="274320"/>
            <a:ext cx="11368735" cy="1097280"/>
          </a:xfrm>
          <a:prstGeom prst="roundRect">
            <a:avLst>
              <a:gd name="adj" fmla="val 14000"/>
            </a:avLst>
          </a:prstGeom>
          <a:solidFill>
            <a:srgbClr val="FFFFFF">
              <a:alpha val="70000"/>
            </a:srgbClr>
          </a:solidFill>
          <a:ln w="28575">
            <a:solidFill>
              <a:srgbClr val="1B2A8C"/>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31519" y="338328"/>
            <a:ext cx="10728655" cy="32004"/>
          </a:xfrm>
          <a:prstGeom prst="roundRect">
            <a:avLst>
              <a:gd name="adj" fmla="val 50000"/>
            </a:avLst>
          </a:prstGeom>
          <a:solidFill>
            <a:srgbClr val="FFFFFF">
              <a:alpha val="8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640080" y="493776"/>
            <a:ext cx="658368" cy="658368"/>
          </a:xfrm>
          <a:prstGeom prst="ellipse">
            <a:avLst/>
          </a:prstGeom>
          <a:solidFill>
            <a:srgbClr val="8D6A2A"/>
          </a:solidFill>
          <a:ln>
            <a:noFill/>
          </a:ln>
          <a:effectLst>
            <a:outerShdw blurRad="203200" dist="50800" dir="5400000" algn="t" rotWithShape="0">
              <a:srgbClr val="1A2340">
                <a:alpha val="20000"/>
              </a:srgbClr>
            </a:outerShdw>
          </a:effectLst>
          <a:scene3d>
            <a:camera prst="orthographicFront"/>
            <a:lightRig rig="threePt" dir="t"/>
          </a:scene3d>
          <a:sp3d>
            <a:bevelT w="44450" h="25400" prst="softRound"/>
          </a:sp3d>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800" i="0" b="1">
                <a:solidFill>
                  <a:srgbClr val="FFFFFF"/>
                </a:solidFill>
                <a:latin typeface="Cambria"/>
              </a:rPr>
              <a:t>04</a:t>
            </a:r>
          </a:p>
        </p:txBody>
      </p:sp>
      <p:sp>
        <p:nvSpPr>
          <p:cNvPr id="6" name="TextBox 5"/>
          <p:cNvSpPr txBox="1"/>
          <p:nvPr/>
        </p:nvSpPr>
        <p:spPr>
          <a:xfrm>
            <a:off x="1554480" y="402336"/>
            <a:ext cx="9905695" cy="274320"/>
          </a:xfrm>
          <a:prstGeom prst="rect">
            <a:avLst/>
          </a:prstGeom>
          <a:noFill/>
        </p:spPr>
        <p:txBody>
          <a:bodyPr wrap="square" anchor="t" lIns="0" rIns="0" tIns="0" bIns="0">
            <a:spAutoFit/>
          </a:bodyPr>
          <a:lstStyle/>
          <a:p>
            <a:r>
              <a:rPr sz="1200" i="0" b="1" spc="150">
                <a:solidFill>
                  <a:srgbClr val="826227"/>
                </a:solidFill>
                <a:latin typeface="Calibri"/>
              </a:rPr>
              <a:t>SECTION 4</a:t>
            </a:r>
          </a:p>
        </p:txBody>
      </p:sp>
      <p:sp>
        <p:nvSpPr>
          <p:cNvPr id="7" name="TextBox 6"/>
          <p:cNvSpPr txBox="1"/>
          <p:nvPr/>
        </p:nvSpPr>
        <p:spPr>
          <a:xfrm>
            <a:off x="1554480" y="658368"/>
            <a:ext cx="9905695" cy="640080"/>
          </a:xfrm>
          <a:prstGeom prst="rect">
            <a:avLst/>
          </a:prstGeom>
          <a:noFill/>
        </p:spPr>
        <p:txBody>
          <a:bodyPr wrap="square" anchor="ctr" lIns="0" rIns="0" tIns="0" bIns="0">
            <a:spAutoFit/>
          </a:bodyPr>
          <a:lstStyle/>
          <a:p>
            <a:r>
              <a:rPr sz="3000" i="0" b="1">
                <a:solidFill>
                  <a:srgbClr val="1B2A8C"/>
                </a:solidFill>
                <a:latin typeface="Cambria"/>
              </a:rPr>
              <a:t>The Disease in Brief</a:t>
            </a:r>
          </a:p>
        </p:txBody>
      </p:sp>
      <p:sp>
        <p:nvSpPr>
          <p:cNvPr id="8" name="TextBox 7"/>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5A6072"/>
                </a:solidFill>
                <a:latin typeface="Calibri"/>
              </a:rPr>
              <a:t>Practical Pharmacology of the Central Nervous System  ·  Section 4  ·  Depression and Antidepressant Drugs</a:t>
            </a:r>
          </a:p>
        </p:txBody>
      </p:sp>
      <p:sp>
        <p:nvSpPr>
          <p:cNvPr id="9" name="TextBox 8"/>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5A6072"/>
                </a:solidFill>
                <a:latin typeface="Calibri"/>
              </a:rPr>
              <a:t>04 / 25</a:t>
            </a:r>
          </a:p>
        </p:txBody>
      </p:sp>
      <p:pic>
        <p:nvPicPr>
          <p:cNvPr id="10" name="Picture 9" descr="logo"/>
          <p:cNvPicPr>
            <a:picLocks noChangeAspect="1"/>
          </p:cNvPicPr>
          <p:nvPr/>
        </p:nvPicPr>
        <p:blipFill>
          <a:blip r:embed="rId4"/>
          <a:stretch>
            <a:fillRect/>
          </a:stretch>
        </p:blipFill>
        <p:spPr>
          <a:xfrm>
            <a:off x="11247120" y="6309360"/>
            <a:ext cx="384048" cy="384048"/>
          </a:xfrm>
          <a:prstGeom prst="rect">
            <a:avLst/>
          </a:prstGeom>
        </p:spPr>
      </p:pic>
      <p:sp>
        <p:nvSpPr>
          <p:cNvPr id="11" name="Oval 10"/>
          <p:cNvSpPr/>
          <p:nvPr/>
        </p:nvSpPr>
        <p:spPr>
          <a:xfrm>
            <a:off x="548640" y="1572768"/>
            <a:ext cx="402336" cy="402336"/>
          </a:xfrm>
          <a:prstGeom prst="ellipse">
            <a:avLst/>
          </a:prstGeom>
          <a:solidFill>
            <a:srgbClr val="F9F8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8D6A2A"/>
                </a:solidFill>
                <a:latin typeface="Calibri"/>
              </a:rPr>
              <a:t>1</a:t>
            </a:r>
          </a:p>
        </p:txBody>
      </p:sp>
      <p:sp>
        <p:nvSpPr>
          <p:cNvPr id="12" name="TextBox 11"/>
          <p:cNvSpPr txBox="1"/>
          <p:nvPr/>
        </p:nvSpPr>
        <p:spPr>
          <a:xfrm>
            <a:off x="1143000" y="1591056"/>
            <a:ext cx="10500055" cy="1808988"/>
          </a:xfrm>
          <a:prstGeom prst="rect">
            <a:avLst/>
          </a:prstGeom>
          <a:noFill/>
        </p:spPr>
        <p:txBody>
          <a:bodyPr wrap="square" anchor="t" lIns="0" rIns="0" tIns="0" bIns="0">
            <a:spAutoFit/>
          </a:bodyPr>
          <a:lstStyle/>
          <a:p>
            <a:r>
              <a:rPr sz="2100" i="0" b="0">
                <a:solidFill>
                  <a:srgbClr val="1A1F36"/>
                </a:solidFill>
                <a:latin typeface="Calibri"/>
              </a:rPr>
              <a:t>Major depression is a common mood disorder. Core symptoms are low mood and loss of interest or pleasure for at least 2 weeks. Other symptoms include poor sleep, change in appetite, fatigue, poor concentration, guilt and thoughts of death or suicide.</a:t>
            </a:r>
          </a:p>
        </p:txBody>
      </p:sp>
      <p:sp>
        <p:nvSpPr>
          <p:cNvPr id="13" name="Oval 12"/>
          <p:cNvSpPr/>
          <p:nvPr/>
        </p:nvSpPr>
        <p:spPr>
          <a:xfrm>
            <a:off x="548640" y="3427476"/>
            <a:ext cx="402336" cy="402336"/>
          </a:xfrm>
          <a:prstGeom prst="ellipse">
            <a:avLst/>
          </a:prstGeom>
          <a:solidFill>
            <a:srgbClr val="F9F8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8D6A2A"/>
                </a:solidFill>
                <a:latin typeface="Calibri"/>
              </a:rPr>
              <a:t>2</a:t>
            </a:r>
          </a:p>
        </p:txBody>
      </p:sp>
      <p:sp>
        <p:nvSpPr>
          <p:cNvPr id="14" name="TextBox 13"/>
          <p:cNvSpPr txBox="1"/>
          <p:nvPr/>
        </p:nvSpPr>
        <p:spPr>
          <a:xfrm>
            <a:off x="1143000" y="3445764"/>
            <a:ext cx="10500055" cy="2475738"/>
          </a:xfrm>
          <a:prstGeom prst="rect">
            <a:avLst/>
          </a:prstGeom>
          <a:noFill/>
        </p:spPr>
        <p:txBody>
          <a:bodyPr wrap="square" anchor="t" lIns="0" rIns="0" tIns="0" bIns="0">
            <a:spAutoFit/>
          </a:bodyPr>
          <a:lstStyle/>
          <a:p>
            <a:r>
              <a:rPr sz="2100" i="0" b="0">
                <a:solidFill>
                  <a:srgbClr val="1A1F36"/>
                </a:solidFill>
                <a:latin typeface="Calibri"/>
              </a:rPr>
              <a:t>The </a:t>
            </a:r>
            <a:r>
              <a:rPr sz="2100" i="0" b="1">
                <a:solidFill>
                  <a:srgbClr val="1A1F36"/>
                </a:solidFill>
                <a:latin typeface="Calibri"/>
              </a:rPr>
              <a:t>monoamine hypothesis</a:t>
            </a:r>
            <a:r>
              <a:rPr sz="2100" i="0" b="0">
                <a:solidFill>
                  <a:srgbClr val="1A1F36"/>
                </a:solidFill>
                <a:latin typeface="Calibri"/>
              </a:rPr>
              <a:t> says that depression is linked to low 5-HT and NA activity in the brain. All antidepressants raise monoamine activity within hours. Yet mood improves only after 2 to 4 weeks, and full benefit takes 6 to 12 weeks. This delay suggests that the real effect comes from slow adaptive changes. These include down-regulation of receptors and increased neurotrophic factors such as BDNF.</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E8EAF4"/>
        </a:solidFill>
        <a:effectLst/>
      </p:bgPr>
    </p:bg>
    <p:spTree>
      <p:nvGrpSpPr>
        <p:cNvPr id="1" name=""/>
        <p:cNvGrpSpPr/>
        <p:nvPr/>
      </p:nvGrpSpPr>
      <p:grpSpPr/>
      <p:pic>
        <p:nvPicPr>
          <p:cNvPr id="2" name="Picture 1" descr=""/>
          <p:cNvPicPr>
            <a:picLocks noChangeAspect="1"/>
          </p:cNvPicPr>
          <p:nvPr/>
        </p:nvPicPr>
        <p:blipFill>
          <a:blip r:embed="rId3"/>
          <a:stretch>
            <a:fillRect/>
          </a:stretch>
        </p:blipFill>
        <p:spPr>
          <a:xfrm>
            <a:off x="0" y="0"/>
            <a:ext cx="12191695" cy="6858000"/>
          </a:xfrm>
          <a:prstGeom prst="rect">
            <a:avLst/>
          </a:prstGeom>
        </p:spPr>
      </p:pic>
      <p:sp>
        <p:nvSpPr>
          <p:cNvPr id="3" name="Rounded Rectangle 2"/>
          <p:cNvSpPr/>
          <p:nvPr/>
        </p:nvSpPr>
        <p:spPr>
          <a:xfrm>
            <a:off x="411479" y="274320"/>
            <a:ext cx="11368735" cy="1097280"/>
          </a:xfrm>
          <a:prstGeom prst="roundRect">
            <a:avLst>
              <a:gd name="adj" fmla="val 14000"/>
            </a:avLst>
          </a:prstGeom>
          <a:solidFill>
            <a:srgbClr val="FFFFFF">
              <a:alpha val="70000"/>
            </a:srgbClr>
          </a:solidFill>
          <a:ln w="28575">
            <a:solidFill>
              <a:srgbClr val="1B2A8C"/>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31519" y="338328"/>
            <a:ext cx="10728655" cy="32004"/>
          </a:xfrm>
          <a:prstGeom prst="roundRect">
            <a:avLst>
              <a:gd name="adj" fmla="val 50000"/>
            </a:avLst>
          </a:prstGeom>
          <a:solidFill>
            <a:srgbClr val="FFFFFF">
              <a:alpha val="8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640080" y="493776"/>
            <a:ext cx="658368" cy="658368"/>
          </a:xfrm>
          <a:prstGeom prst="ellipse">
            <a:avLst/>
          </a:prstGeom>
          <a:solidFill>
            <a:srgbClr val="8D6A2A"/>
          </a:solidFill>
          <a:ln>
            <a:noFill/>
          </a:ln>
          <a:effectLst>
            <a:outerShdw blurRad="203200" dist="50800" dir="5400000" algn="t" rotWithShape="0">
              <a:srgbClr val="1A2340">
                <a:alpha val="20000"/>
              </a:srgbClr>
            </a:outerShdw>
          </a:effectLst>
          <a:scene3d>
            <a:camera prst="orthographicFront"/>
            <a:lightRig rig="threePt" dir="t"/>
          </a:scene3d>
          <a:sp3d>
            <a:bevelT w="44450" h="25400" prst="softRound"/>
          </a:sp3d>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800" i="0" b="1">
                <a:solidFill>
                  <a:srgbClr val="FFFFFF"/>
                </a:solidFill>
                <a:latin typeface="Cambria"/>
              </a:rPr>
              <a:t>04</a:t>
            </a:r>
          </a:p>
        </p:txBody>
      </p:sp>
      <p:sp>
        <p:nvSpPr>
          <p:cNvPr id="6" name="TextBox 5"/>
          <p:cNvSpPr txBox="1"/>
          <p:nvPr/>
        </p:nvSpPr>
        <p:spPr>
          <a:xfrm>
            <a:off x="1554480" y="402336"/>
            <a:ext cx="9905695" cy="274320"/>
          </a:xfrm>
          <a:prstGeom prst="rect">
            <a:avLst/>
          </a:prstGeom>
          <a:noFill/>
        </p:spPr>
        <p:txBody>
          <a:bodyPr wrap="square" anchor="t" lIns="0" rIns="0" tIns="0" bIns="0">
            <a:spAutoFit/>
          </a:bodyPr>
          <a:lstStyle/>
          <a:p>
            <a:r>
              <a:rPr sz="1200" i="0" b="1" spc="150">
                <a:solidFill>
                  <a:srgbClr val="826227"/>
                </a:solidFill>
                <a:latin typeface="Calibri"/>
              </a:rPr>
              <a:t>SECTION 4</a:t>
            </a:r>
          </a:p>
        </p:txBody>
      </p:sp>
      <p:sp>
        <p:nvSpPr>
          <p:cNvPr id="7" name="TextBox 6"/>
          <p:cNvSpPr txBox="1"/>
          <p:nvPr/>
        </p:nvSpPr>
        <p:spPr>
          <a:xfrm>
            <a:off x="1554480" y="658368"/>
            <a:ext cx="9905695" cy="640080"/>
          </a:xfrm>
          <a:prstGeom prst="rect">
            <a:avLst/>
          </a:prstGeom>
          <a:noFill/>
        </p:spPr>
        <p:txBody>
          <a:bodyPr wrap="square" anchor="ctr" lIns="0" rIns="0" tIns="0" bIns="0">
            <a:spAutoFit/>
          </a:bodyPr>
          <a:lstStyle/>
          <a:p>
            <a:r>
              <a:rPr sz="3000" i="0" b="1">
                <a:solidFill>
                  <a:srgbClr val="1B2A8C"/>
                </a:solidFill>
                <a:latin typeface="Cambria"/>
              </a:rPr>
              <a:t>The Disease in Brief</a:t>
            </a:r>
          </a:p>
        </p:txBody>
      </p:sp>
      <p:sp>
        <p:nvSpPr>
          <p:cNvPr id="8" name="TextBox 7"/>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5A6072"/>
                </a:solidFill>
                <a:latin typeface="Calibri"/>
              </a:rPr>
              <a:t>Practical Pharmacology of the Central Nervous System  ·  Section 4  ·  Depression and Antidepressant Drugs</a:t>
            </a:r>
          </a:p>
        </p:txBody>
      </p:sp>
      <p:sp>
        <p:nvSpPr>
          <p:cNvPr id="9" name="TextBox 8"/>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5A6072"/>
                </a:solidFill>
                <a:latin typeface="Calibri"/>
              </a:rPr>
              <a:t>05 / 25</a:t>
            </a:r>
          </a:p>
        </p:txBody>
      </p:sp>
      <p:pic>
        <p:nvPicPr>
          <p:cNvPr id="10" name="Picture 9" descr="logo"/>
          <p:cNvPicPr>
            <a:picLocks noChangeAspect="1"/>
          </p:cNvPicPr>
          <p:nvPr/>
        </p:nvPicPr>
        <p:blipFill>
          <a:blip r:embed="rId4"/>
          <a:stretch>
            <a:fillRect/>
          </a:stretch>
        </p:blipFill>
        <p:spPr>
          <a:xfrm>
            <a:off x="11247120" y="6309360"/>
            <a:ext cx="384048" cy="384048"/>
          </a:xfrm>
          <a:prstGeom prst="rect">
            <a:avLst/>
          </a:prstGeom>
        </p:spPr>
      </p:pic>
      <p:sp>
        <p:nvSpPr>
          <p:cNvPr id="11" name="Rounded Rectangle 10"/>
          <p:cNvSpPr/>
          <p:nvPr/>
        </p:nvSpPr>
        <p:spPr>
          <a:xfrm>
            <a:off x="1645919" y="2103120"/>
            <a:ext cx="8899855" cy="2377440"/>
          </a:xfrm>
          <a:prstGeom prst="roundRect">
            <a:avLst>
              <a:gd name="adj" fmla="val 6000"/>
            </a:avLst>
          </a:prstGeom>
          <a:solidFill>
            <a:srgbClr val="FDF4DC">
              <a:alpha val="80000"/>
            </a:srgbClr>
          </a:solidFill>
          <a:ln w="19050">
            <a:solidFill>
              <a:srgbClr val="FFFFFF"/>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1965960" y="2167127"/>
            <a:ext cx="8259775" cy="32004"/>
          </a:xfrm>
          <a:prstGeom prst="roundRect">
            <a:avLst>
              <a:gd name="adj" fmla="val 50000"/>
            </a:avLst>
          </a:prstGeom>
          <a:solidFill>
            <a:srgbClr val="FFFFFF">
              <a:alpha val="8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1920239" y="2331720"/>
            <a:ext cx="1188720" cy="347472"/>
          </a:xfrm>
          <a:prstGeom prst="roundRect">
            <a:avLst>
              <a:gd name="adj" fmla="val 50000"/>
            </a:avLst>
          </a:prstGeom>
          <a:solidFill>
            <a:srgbClr val="8A6100"/>
          </a:solidFill>
          <a:ln>
            <a:noFill/>
          </a:ln>
          <a:effectLst>
            <a:outerShdw blurRad="203200" dist="50800" dir="5400000" algn="t" rotWithShape="0">
              <a:srgbClr val="1A2340">
                <a:alpha val="20000"/>
              </a:srgbClr>
            </a:outerShdw>
          </a:effectLst>
          <a:scene3d>
            <a:camera prst="orthographicFront"/>
            <a:lightRig rig="threePt" dir="t"/>
          </a:scene3d>
          <a:sp3d>
            <a:bevelT w="44450" h="25400" prst="softRound"/>
          </a:sp3d>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i="0" b="1">
                <a:solidFill>
                  <a:srgbClr val="FFFFFF"/>
                </a:solidFill>
                <a:latin typeface="Calibri"/>
              </a:rPr>
              <a:t>EXAM TIP</a:t>
            </a:r>
          </a:p>
        </p:txBody>
      </p:sp>
      <p:sp>
        <p:nvSpPr>
          <p:cNvPr id="14" name="TextBox 13"/>
          <p:cNvSpPr txBox="1"/>
          <p:nvPr/>
        </p:nvSpPr>
        <p:spPr>
          <a:xfrm>
            <a:off x="1920239" y="2788920"/>
            <a:ext cx="8351215" cy="1508760"/>
          </a:xfrm>
          <a:prstGeom prst="rect">
            <a:avLst/>
          </a:prstGeom>
          <a:noFill/>
        </p:spPr>
        <p:txBody>
          <a:bodyPr wrap="square" anchor="t" lIns="0" rIns="0" tIns="0" bIns="0">
            <a:spAutoFit/>
          </a:bodyPr>
          <a:lstStyle/>
          <a:p>
            <a:pPr>
              <a:spcBef>
                <a:spcPts val="0"/>
              </a:spcBef>
            </a:pPr>
            <a:r>
              <a:rPr sz="2600" i="0" b="0">
                <a:solidFill>
                  <a:srgbClr val="1A1F36"/>
                </a:solidFill>
                <a:latin typeface="Calibri"/>
              </a:rPr>
              <a:t>Monoamines rise within hours, but mood improves after weeks. Tell patients this, or they will stop the drug early.</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E8EAF4"/>
        </a:solidFill>
        <a:effectLst/>
      </p:bgPr>
    </p:bg>
    <p:spTree>
      <p:nvGrpSpPr>
        <p:cNvPr id="1" name=""/>
        <p:cNvGrpSpPr/>
        <p:nvPr/>
      </p:nvGrpSpPr>
      <p:grpSpPr/>
      <p:pic>
        <p:nvPicPr>
          <p:cNvPr id="2" name="Picture 1" descr=""/>
          <p:cNvPicPr>
            <a:picLocks noChangeAspect="1"/>
          </p:cNvPicPr>
          <p:nvPr/>
        </p:nvPicPr>
        <p:blipFill>
          <a:blip r:embed="rId3"/>
          <a:stretch>
            <a:fillRect/>
          </a:stretch>
        </p:blipFill>
        <p:spPr>
          <a:xfrm>
            <a:off x="0" y="0"/>
            <a:ext cx="12191695" cy="6858000"/>
          </a:xfrm>
          <a:prstGeom prst="rect">
            <a:avLst/>
          </a:prstGeom>
        </p:spPr>
      </p:pic>
      <p:sp>
        <p:nvSpPr>
          <p:cNvPr id="3" name="Rounded Rectangle 2"/>
          <p:cNvSpPr/>
          <p:nvPr/>
        </p:nvSpPr>
        <p:spPr>
          <a:xfrm>
            <a:off x="411479" y="274320"/>
            <a:ext cx="11368735" cy="1097280"/>
          </a:xfrm>
          <a:prstGeom prst="roundRect">
            <a:avLst>
              <a:gd name="adj" fmla="val 14000"/>
            </a:avLst>
          </a:prstGeom>
          <a:solidFill>
            <a:srgbClr val="FFFFFF">
              <a:alpha val="70000"/>
            </a:srgbClr>
          </a:solidFill>
          <a:ln w="28575">
            <a:solidFill>
              <a:srgbClr val="1B2A8C"/>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31519" y="338328"/>
            <a:ext cx="10728655" cy="32004"/>
          </a:xfrm>
          <a:prstGeom prst="roundRect">
            <a:avLst>
              <a:gd name="adj" fmla="val 50000"/>
            </a:avLst>
          </a:prstGeom>
          <a:solidFill>
            <a:srgbClr val="FFFFFF">
              <a:alpha val="8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640080" y="493776"/>
            <a:ext cx="658368" cy="658368"/>
          </a:xfrm>
          <a:prstGeom prst="ellipse">
            <a:avLst/>
          </a:prstGeom>
          <a:solidFill>
            <a:srgbClr val="8D6A2A"/>
          </a:solidFill>
          <a:ln>
            <a:noFill/>
          </a:ln>
          <a:effectLst>
            <a:outerShdw blurRad="203200" dist="50800" dir="5400000" algn="t" rotWithShape="0">
              <a:srgbClr val="1A2340">
                <a:alpha val="20000"/>
              </a:srgbClr>
            </a:outerShdw>
          </a:effectLst>
          <a:scene3d>
            <a:camera prst="orthographicFront"/>
            <a:lightRig rig="threePt" dir="t"/>
          </a:scene3d>
          <a:sp3d>
            <a:bevelT w="44450" h="25400" prst="softRound"/>
          </a:sp3d>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800" i="0" b="1">
                <a:solidFill>
                  <a:srgbClr val="FFFFFF"/>
                </a:solidFill>
                <a:latin typeface="Cambria"/>
              </a:rPr>
              <a:t>04</a:t>
            </a:r>
          </a:p>
        </p:txBody>
      </p:sp>
      <p:sp>
        <p:nvSpPr>
          <p:cNvPr id="6" name="TextBox 5"/>
          <p:cNvSpPr txBox="1"/>
          <p:nvPr/>
        </p:nvSpPr>
        <p:spPr>
          <a:xfrm>
            <a:off x="1554480" y="402336"/>
            <a:ext cx="9905695" cy="274320"/>
          </a:xfrm>
          <a:prstGeom prst="rect">
            <a:avLst/>
          </a:prstGeom>
          <a:noFill/>
        </p:spPr>
        <p:txBody>
          <a:bodyPr wrap="square" anchor="t" lIns="0" rIns="0" tIns="0" bIns="0">
            <a:spAutoFit/>
          </a:bodyPr>
          <a:lstStyle/>
          <a:p>
            <a:r>
              <a:rPr sz="1200" i="0" b="1" spc="150">
                <a:solidFill>
                  <a:srgbClr val="826227"/>
                </a:solidFill>
                <a:latin typeface="Calibri"/>
              </a:rPr>
              <a:t>SECTION 4</a:t>
            </a:r>
          </a:p>
        </p:txBody>
      </p:sp>
      <p:sp>
        <p:nvSpPr>
          <p:cNvPr id="7" name="TextBox 6"/>
          <p:cNvSpPr txBox="1"/>
          <p:nvPr/>
        </p:nvSpPr>
        <p:spPr>
          <a:xfrm>
            <a:off x="1554480" y="658368"/>
            <a:ext cx="9905695" cy="640080"/>
          </a:xfrm>
          <a:prstGeom prst="rect">
            <a:avLst/>
          </a:prstGeom>
          <a:noFill/>
        </p:spPr>
        <p:txBody>
          <a:bodyPr wrap="square" anchor="ctr" lIns="0" rIns="0" tIns="0" bIns="0">
            <a:spAutoFit/>
          </a:bodyPr>
          <a:lstStyle/>
          <a:p>
            <a:r>
              <a:rPr sz="3000" i="0" b="1">
                <a:solidFill>
                  <a:srgbClr val="1B2A8C"/>
                </a:solidFill>
                <a:latin typeface="Cambria"/>
              </a:rPr>
              <a:t>Psychological Therapy and Antidepressants</a:t>
            </a:r>
          </a:p>
        </p:txBody>
      </p:sp>
      <p:sp>
        <p:nvSpPr>
          <p:cNvPr id="8" name="TextBox 7"/>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5A6072"/>
                </a:solidFill>
                <a:latin typeface="Calibri"/>
              </a:rPr>
              <a:t>Practical Pharmacology of the Central Nervous System  ·  Section 4  ·  Depression and Antidepressant Drugs</a:t>
            </a:r>
          </a:p>
        </p:txBody>
      </p:sp>
      <p:sp>
        <p:nvSpPr>
          <p:cNvPr id="9" name="TextBox 8"/>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5A6072"/>
                </a:solidFill>
                <a:latin typeface="Calibri"/>
              </a:rPr>
              <a:t>06 / 25</a:t>
            </a:r>
          </a:p>
        </p:txBody>
      </p:sp>
      <p:pic>
        <p:nvPicPr>
          <p:cNvPr id="10" name="Picture 9" descr="logo"/>
          <p:cNvPicPr>
            <a:picLocks noChangeAspect="1"/>
          </p:cNvPicPr>
          <p:nvPr/>
        </p:nvPicPr>
        <p:blipFill>
          <a:blip r:embed="rId4"/>
          <a:stretch>
            <a:fillRect/>
          </a:stretch>
        </p:blipFill>
        <p:spPr>
          <a:xfrm>
            <a:off x="11247120" y="6309360"/>
            <a:ext cx="384048" cy="384048"/>
          </a:xfrm>
          <a:prstGeom prst="rect">
            <a:avLst/>
          </a:prstGeom>
        </p:spPr>
      </p:pic>
      <p:sp>
        <p:nvSpPr>
          <p:cNvPr id="11" name="TextBox 10"/>
          <p:cNvSpPr txBox="1"/>
          <p:nvPr/>
        </p:nvSpPr>
        <p:spPr>
          <a:xfrm>
            <a:off x="548640" y="1554480"/>
            <a:ext cx="11094415" cy="1202436"/>
          </a:xfrm>
          <a:prstGeom prst="rect">
            <a:avLst/>
          </a:prstGeom>
          <a:noFill/>
        </p:spPr>
        <p:txBody>
          <a:bodyPr wrap="square" anchor="t" lIns="0" rIns="0" tIns="0" bIns="0">
            <a:spAutoFit/>
          </a:bodyPr>
          <a:lstStyle/>
          <a:p>
            <a:pPr>
              <a:spcAft>
                <a:spcPts val="800"/>
              </a:spcAft>
            </a:pPr>
            <a:r>
              <a:rPr sz="1800" i="0" b="0">
                <a:solidFill>
                  <a:srgbClr val="1A1F36"/>
                </a:solidFill>
                <a:latin typeface="Calibri"/>
              </a:rPr>
              <a:t>Antidepressants are not the only treatment. NICE NG222 stratifies treatment by severity and patient choice:</a:t>
            </a:r>
          </a:p>
          <a:p>
            <a:pPr>
              <a:spcAft>
                <a:spcPts val="800"/>
              </a:spcAft>
            </a:pPr>
            <a:r>
              <a:rPr sz="1800" i="0" b="0">
                <a:solidFill>
                  <a:srgbClr val="1A1F36"/>
                </a:solidFill>
                <a:latin typeface="Calibri"/>
              </a:rPr>
              <a:t>Continue an antidepressant for at least 6 months after remission to reduce relapse.</a:t>
            </a:r>
          </a:p>
        </p:txBody>
      </p:sp>
      <p:sp>
        <p:nvSpPr>
          <p:cNvPr id="12" name="Oval 11"/>
          <p:cNvSpPr/>
          <p:nvPr/>
        </p:nvSpPr>
        <p:spPr>
          <a:xfrm>
            <a:off x="548640" y="2958084"/>
            <a:ext cx="402336" cy="402336"/>
          </a:xfrm>
          <a:prstGeom prst="ellipse">
            <a:avLst/>
          </a:prstGeom>
          <a:solidFill>
            <a:srgbClr val="F9F8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8D6A2A"/>
                </a:solidFill>
                <a:latin typeface="Calibri"/>
              </a:rPr>
              <a:t>1</a:t>
            </a:r>
          </a:p>
        </p:txBody>
      </p:sp>
      <p:sp>
        <p:nvSpPr>
          <p:cNvPr id="13" name="TextBox 12"/>
          <p:cNvSpPr txBox="1"/>
          <p:nvPr/>
        </p:nvSpPr>
        <p:spPr>
          <a:xfrm>
            <a:off x="1143000" y="2976372"/>
            <a:ext cx="10500055" cy="1142237"/>
          </a:xfrm>
          <a:prstGeom prst="rect">
            <a:avLst/>
          </a:prstGeom>
          <a:noFill/>
        </p:spPr>
        <p:txBody>
          <a:bodyPr wrap="square" anchor="t" lIns="0" rIns="0" tIns="0" bIns="0">
            <a:spAutoFit/>
          </a:bodyPr>
          <a:lstStyle/>
          <a:p>
            <a:r>
              <a:rPr sz="2100" i="0" b="1">
                <a:solidFill>
                  <a:srgbClr val="1A1F36"/>
                </a:solidFill>
                <a:latin typeface="Calibri"/>
              </a:rPr>
              <a:t>Less severe depression:</a:t>
            </a:r>
            <a:r>
              <a:rPr sz="2100" i="0" b="0">
                <a:solidFill>
                  <a:srgbClr val="1A1F36"/>
                </a:solidFill>
                <a:latin typeface="Calibri"/>
              </a:rPr>
              <a:t> guided self-help, group CBT or other psychological therapy first. An antidepressant is offered only if the patient prefers it.</a:t>
            </a:r>
          </a:p>
        </p:txBody>
      </p:sp>
      <p:sp>
        <p:nvSpPr>
          <p:cNvPr id="14" name="Oval 13"/>
          <p:cNvSpPr/>
          <p:nvPr/>
        </p:nvSpPr>
        <p:spPr>
          <a:xfrm>
            <a:off x="548640" y="4146041"/>
            <a:ext cx="402336" cy="402336"/>
          </a:xfrm>
          <a:prstGeom prst="ellipse">
            <a:avLst/>
          </a:prstGeom>
          <a:solidFill>
            <a:srgbClr val="F9F8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8D6A2A"/>
                </a:solidFill>
                <a:latin typeface="Calibri"/>
              </a:rPr>
              <a:t>2</a:t>
            </a:r>
          </a:p>
        </p:txBody>
      </p:sp>
      <p:sp>
        <p:nvSpPr>
          <p:cNvPr id="15" name="TextBox 14"/>
          <p:cNvSpPr txBox="1"/>
          <p:nvPr/>
        </p:nvSpPr>
        <p:spPr>
          <a:xfrm>
            <a:off x="1143000" y="4164329"/>
            <a:ext cx="10500055" cy="1475612"/>
          </a:xfrm>
          <a:prstGeom prst="rect">
            <a:avLst/>
          </a:prstGeom>
          <a:noFill/>
        </p:spPr>
        <p:txBody>
          <a:bodyPr wrap="square" anchor="t" lIns="0" rIns="0" tIns="0" bIns="0">
            <a:spAutoFit/>
          </a:bodyPr>
          <a:lstStyle/>
          <a:p>
            <a:r>
              <a:rPr sz="2100" i="0" b="1">
                <a:solidFill>
                  <a:srgbClr val="1A1F36"/>
                </a:solidFill>
                <a:latin typeface="Calibri"/>
              </a:rPr>
              <a:t>More severe depression:</a:t>
            </a:r>
            <a:r>
              <a:rPr sz="2100" i="0" b="0">
                <a:solidFill>
                  <a:srgbClr val="1A1F36"/>
                </a:solidFill>
                <a:latin typeface="Calibri"/>
              </a:rPr>
              <a:t> CBT plus an antidepressant is the most effective choice. An antidepressant alone or psychological therapy alone are also options, according to need and preference.</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E8EAF4"/>
        </a:solidFill>
        <a:effectLst/>
      </p:bgPr>
    </p:bg>
    <p:spTree>
      <p:nvGrpSpPr>
        <p:cNvPr id="1" name=""/>
        <p:cNvGrpSpPr/>
        <p:nvPr/>
      </p:nvGrpSpPr>
      <p:grpSpPr/>
      <p:pic>
        <p:nvPicPr>
          <p:cNvPr id="2" name="Picture 1" descr=""/>
          <p:cNvPicPr>
            <a:picLocks noChangeAspect="1"/>
          </p:cNvPicPr>
          <p:nvPr/>
        </p:nvPicPr>
        <p:blipFill>
          <a:blip r:embed="rId3"/>
          <a:stretch>
            <a:fillRect/>
          </a:stretch>
        </p:blipFill>
        <p:spPr>
          <a:xfrm>
            <a:off x="0" y="0"/>
            <a:ext cx="12191695" cy="6858000"/>
          </a:xfrm>
          <a:prstGeom prst="rect">
            <a:avLst/>
          </a:prstGeom>
        </p:spPr>
      </p:pic>
      <p:sp>
        <p:nvSpPr>
          <p:cNvPr id="3" name="Rounded Rectangle 2"/>
          <p:cNvSpPr/>
          <p:nvPr/>
        </p:nvSpPr>
        <p:spPr>
          <a:xfrm>
            <a:off x="411479" y="274320"/>
            <a:ext cx="11368735" cy="1097280"/>
          </a:xfrm>
          <a:prstGeom prst="roundRect">
            <a:avLst>
              <a:gd name="adj" fmla="val 14000"/>
            </a:avLst>
          </a:prstGeom>
          <a:solidFill>
            <a:srgbClr val="FFFFFF">
              <a:alpha val="70000"/>
            </a:srgbClr>
          </a:solidFill>
          <a:ln w="28575">
            <a:solidFill>
              <a:srgbClr val="1B2A8C"/>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31519" y="338328"/>
            <a:ext cx="10728655" cy="32004"/>
          </a:xfrm>
          <a:prstGeom prst="roundRect">
            <a:avLst>
              <a:gd name="adj" fmla="val 50000"/>
            </a:avLst>
          </a:prstGeom>
          <a:solidFill>
            <a:srgbClr val="FFFFFF">
              <a:alpha val="8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640080" y="493776"/>
            <a:ext cx="658368" cy="658368"/>
          </a:xfrm>
          <a:prstGeom prst="ellipse">
            <a:avLst/>
          </a:prstGeom>
          <a:solidFill>
            <a:srgbClr val="8D6A2A"/>
          </a:solidFill>
          <a:ln>
            <a:noFill/>
          </a:ln>
          <a:effectLst>
            <a:outerShdw blurRad="203200" dist="50800" dir="5400000" algn="t" rotWithShape="0">
              <a:srgbClr val="1A2340">
                <a:alpha val="20000"/>
              </a:srgbClr>
            </a:outerShdw>
          </a:effectLst>
          <a:scene3d>
            <a:camera prst="orthographicFront"/>
            <a:lightRig rig="threePt" dir="t"/>
          </a:scene3d>
          <a:sp3d>
            <a:bevelT w="44450" h="25400" prst="softRound"/>
          </a:sp3d>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800" i="0" b="1">
                <a:solidFill>
                  <a:srgbClr val="FFFFFF"/>
                </a:solidFill>
                <a:latin typeface="Cambria"/>
              </a:rPr>
              <a:t>04</a:t>
            </a:r>
          </a:p>
        </p:txBody>
      </p:sp>
      <p:sp>
        <p:nvSpPr>
          <p:cNvPr id="6" name="TextBox 5"/>
          <p:cNvSpPr txBox="1"/>
          <p:nvPr/>
        </p:nvSpPr>
        <p:spPr>
          <a:xfrm>
            <a:off x="1554480" y="402336"/>
            <a:ext cx="9905695" cy="274320"/>
          </a:xfrm>
          <a:prstGeom prst="rect">
            <a:avLst/>
          </a:prstGeom>
          <a:noFill/>
        </p:spPr>
        <p:txBody>
          <a:bodyPr wrap="square" anchor="t" lIns="0" rIns="0" tIns="0" bIns="0">
            <a:spAutoFit/>
          </a:bodyPr>
          <a:lstStyle/>
          <a:p>
            <a:r>
              <a:rPr sz="1200" i="0" b="1" spc="150">
                <a:solidFill>
                  <a:srgbClr val="826227"/>
                </a:solidFill>
                <a:latin typeface="Calibri"/>
              </a:rPr>
              <a:t>SECTION 4</a:t>
            </a:r>
          </a:p>
        </p:txBody>
      </p:sp>
      <p:sp>
        <p:nvSpPr>
          <p:cNvPr id="7" name="TextBox 6"/>
          <p:cNvSpPr txBox="1"/>
          <p:nvPr/>
        </p:nvSpPr>
        <p:spPr>
          <a:xfrm>
            <a:off x="1554480" y="658368"/>
            <a:ext cx="9905695" cy="640080"/>
          </a:xfrm>
          <a:prstGeom prst="rect">
            <a:avLst/>
          </a:prstGeom>
          <a:noFill/>
        </p:spPr>
        <p:txBody>
          <a:bodyPr wrap="square" anchor="ctr" lIns="0" rIns="0" tIns="0" bIns="0">
            <a:spAutoFit/>
          </a:bodyPr>
          <a:lstStyle/>
          <a:p>
            <a:r>
              <a:rPr sz="3000" i="0" b="1">
                <a:solidFill>
                  <a:srgbClr val="1B2A8C"/>
                </a:solidFill>
                <a:latin typeface="Cambria"/>
              </a:rPr>
              <a:t>Antidepressant Classes</a:t>
            </a:r>
          </a:p>
        </p:txBody>
      </p:sp>
      <p:sp>
        <p:nvSpPr>
          <p:cNvPr id="8" name="TextBox 7"/>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5A6072"/>
                </a:solidFill>
                <a:latin typeface="Calibri"/>
              </a:rPr>
              <a:t>Practical Pharmacology of the Central Nervous System  ·  Section 4  ·  Depression and Antidepressant Drugs</a:t>
            </a:r>
          </a:p>
        </p:txBody>
      </p:sp>
      <p:sp>
        <p:nvSpPr>
          <p:cNvPr id="9" name="TextBox 8"/>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5A6072"/>
                </a:solidFill>
                <a:latin typeface="Calibri"/>
              </a:rPr>
              <a:t>07 / 25</a:t>
            </a:r>
          </a:p>
        </p:txBody>
      </p:sp>
      <p:pic>
        <p:nvPicPr>
          <p:cNvPr id="10" name="Picture 9" descr="logo"/>
          <p:cNvPicPr>
            <a:picLocks noChangeAspect="1"/>
          </p:cNvPicPr>
          <p:nvPr/>
        </p:nvPicPr>
        <p:blipFill>
          <a:blip r:embed="rId4"/>
          <a:stretch>
            <a:fillRect/>
          </a:stretch>
        </p:blipFill>
        <p:spPr>
          <a:xfrm>
            <a:off x="11247120" y="6309360"/>
            <a:ext cx="384048" cy="384048"/>
          </a:xfrm>
          <a:prstGeom prst="rect">
            <a:avLst/>
          </a:prstGeom>
        </p:spPr>
      </p:pic>
      <p:pic>
        <p:nvPicPr>
          <p:cNvPr id="11" name="Picture 10" descr="Presynaptic neuron with MAO blocked by MAO inhibitors, SERT and NET blocked by SSRIs, SNRIs and TCAs, and the alpha-2 autoreceptor blocked by mirtazapine. A side note links alpha-1, H1 and muscarinic block to adverse effects."/>
          <p:cNvPicPr>
            <a:picLocks noChangeAspect="1"/>
          </p:cNvPicPr>
          <p:nvPr/>
        </p:nvPicPr>
        <p:blipFill>
          <a:blip r:embed="rId5"/>
          <a:stretch>
            <a:fillRect/>
          </a:stretch>
        </p:blipFill>
        <p:spPr>
          <a:xfrm>
            <a:off x="1842757" y="1554480"/>
            <a:ext cx="8506180" cy="4160520"/>
          </a:xfrm>
          <a:prstGeom prst="rect">
            <a:avLst/>
          </a:prstGeom>
        </p:spPr>
      </p:pic>
      <p:sp>
        <p:nvSpPr>
          <p:cNvPr id="12" name="TextBox 11"/>
          <p:cNvSpPr txBox="1"/>
          <p:nvPr/>
        </p:nvSpPr>
        <p:spPr>
          <a:xfrm>
            <a:off x="548640" y="5806440"/>
            <a:ext cx="11094415" cy="365760"/>
          </a:xfrm>
          <a:prstGeom prst="rect">
            <a:avLst/>
          </a:prstGeom>
          <a:noFill/>
        </p:spPr>
        <p:txBody>
          <a:bodyPr wrap="square" anchor="t" lIns="0" rIns="0" tIns="0" bIns="0">
            <a:spAutoFit/>
          </a:bodyPr>
          <a:lstStyle/>
          <a:p>
            <a:pPr algn="ctr"/>
            <a:r>
              <a:rPr sz="1300" i="1" b="0">
                <a:solidFill>
                  <a:srgbClr val="5A6072"/>
                </a:solidFill>
                <a:latin typeface="Calibri"/>
              </a:rPr>
              <a:t>Serotonin and noradrenaline synapse: targets of the antidepressant classes.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E8EAF4"/>
        </a:solidFill>
        <a:effectLst/>
      </p:bgPr>
    </p:bg>
    <p:spTree>
      <p:nvGrpSpPr>
        <p:cNvPr id="1" name=""/>
        <p:cNvGrpSpPr/>
        <p:nvPr/>
      </p:nvGrpSpPr>
      <p:grpSpPr/>
      <p:pic>
        <p:nvPicPr>
          <p:cNvPr id="2" name="Picture 1" descr=""/>
          <p:cNvPicPr>
            <a:picLocks noChangeAspect="1"/>
          </p:cNvPicPr>
          <p:nvPr/>
        </p:nvPicPr>
        <p:blipFill>
          <a:blip r:embed="rId3"/>
          <a:stretch>
            <a:fillRect/>
          </a:stretch>
        </p:blipFill>
        <p:spPr>
          <a:xfrm>
            <a:off x="0" y="0"/>
            <a:ext cx="12191695" cy="6858000"/>
          </a:xfrm>
          <a:prstGeom prst="rect">
            <a:avLst/>
          </a:prstGeom>
        </p:spPr>
      </p:pic>
      <p:sp>
        <p:nvSpPr>
          <p:cNvPr id="3" name="Rounded Rectangle 2"/>
          <p:cNvSpPr/>
          <p:nvPr/>
        </p:nvSpPr>
        <p:spPr>
          <a:xfrm>
            <a:off x="411479" y="274320"/>
            <a:ext cx="11368735" cy="1097280"/>
          </a:xfrm>
          <a:prstGeom prst="roundRect">
            <a:avLst>
              <a:gd name="adj" fmla="val 14000"/>
            </a:avLst>
          </a:prstGeom>
          <a:solidFill>
            <a:srgbClr val="FFFFFF">
              <a:alpha val="70000"/>
            </a:srgbClr>
          </a:solidFill>
          <a:ln w="28575">
            <a:solidFill>
              <a:srgbClr val="1B2A8C"/>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31519" y="338328"/>
            <a:ext cx="10728655" cy="32004"/>
          </a:xfrm>
          <a:prstGeom prst="roundRect">
            <a:avLst>
              <a:gd name="adj" fmla="val 50000"/>
            </a:avLst>
          </a:prstGeom>
          <a:solidFill>
            <a:srgbClr val="FFFFFF">
              <a:alpha val="8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640080" y="493776"/>
            <a:ext cx="658368" cy="658368"/>
          </a:xfrm>
          <a:prstGeom prst="ellipse">
            <a:avLst/>
          </a:prstGeom>
          <a:solidFill>
            <a:srgbClr val="8D6A2A"/>
          </a:solidFill>
          <a:ln>
            <a:noFill/>
          </a:ln>
          <a:effectLst>
            <a:outerShdw blurRad="203200" dist="50800" dir="5400000" algn="t" rotWithShape="0">
              <a:srgbClr val="1A2340">
                <a:alpha val="20000"/>
              </a:srgbClr>
            </a:outerShdw>
          </a:effectLst>
          <a:scene3d>
            <a:camera prst="orthographicFront"/>
            <a:lightRig rig="threePt" dir="t"/>
          </a:scene3d>
          <a:sp3d>
            <a:bevelT w="44450" h="25400" prst="softRound"/>
          </a:sp3d>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800" i="0" b="1">
                <a:solidFill>
                  <a:srgbClr val="FFFFFF"/>
                </a:solidFill>
                <a:latin typeface="Cambria"/>
              </a:rPr>
              <a:t>04</a:t>
            </a:r>
          </a:p>
        </p:txBody>
      </p:sp>
      <p:sp>
        <p:nvSpPr>
          <p:cNvPr id="6" name="TextBox 5"/>
          <p:cNvSpPr txBox="1"/>
          <p:nvPr/>
        </p:nvSpPr>
        <p:spPr>
          <a:xfrm>
            <a:off x="1554480" y="402336"/>
            <a:ext cx="9905695" cy="274320"/>
          </a:xfrm>
          <a:prstGeom prst="rect">
            <a:avLst/>
          </a:prstGeom>
          <a:noFill/>
        </p:spPr>
        <p:txBody>
          <a:bodyPr wrap="square" anchor="t" lIns="0" rIns="0" tIns="0" bIns="0">
            <a:spAutoFit/>
          </a:bodyPr>
          <a:lstStyle/>
          <a:p>
            <a:r>
              <a:rPr sz="1200" i="0" b="1" spc="150">
                <a:solidFill>
                  <a:srgbClr val="826227"/>
                </a:solidFill>
                <a:latin typeface="Calibri"/>
              </a:rPr>
              <a:t>SECTION 4</a:t>
            </a:r>
          </a:p>
        </p:txBody>
      </p:sp>
      <p:sp>
        <p:nvSpPr>
          <p:cNvPr id="7" name="TextBox 6"/>
          <p:cNvSpPr txBox="1"/>
          <p:nvPr/>
        </p:nvSpPr>
        <p:spPr>
          <a:xfrm>
            <a:off x="1554480" y="658368"/>
            <a:ext cx="9905695" cy="640080"/>
          </a:xfrm>
          <a:prstGeom prst="rect">
            <a:avLst/>
          </a:prstGeom>
          <a:noFill/>
        </p:spPr>
        <p:txBody>
          <a:bodyPr wrap="square" anchor="ctr" lIns="0" rIns="0" tIns="0" bIns="0">
            <a:spAutoFit/>
          </a:bodyPr>
          <a:lstStyle/>
          <a:p>
            <a:r>
              <a:rPr sz="3000" i="0" b="1">
                <a:solidFill>
                  <a:srgbClr val="1B2A8C"/>
                </a:solidFill>
                <a:latin typeface="Cambria"/>
              </a:rPr>
              <a:t>Antidepressant Classes</a:t>
            </a:r>
          </a:p>
        </p:txBody>
      </p:sp>
      <p:sp>
        <p:nvSpPr>
          <p:cNvPr id="8" name="TextBox 7"/>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5A6072"/>
                </a:solidFill>
                <a:latin typeface="Calibri"/>
              </a:rPr>
              <a:t>Practical Pharmacology of the Central Nervous System  ·  Section 4  ·  Depression and Antidepressant Drugs</a:t>
            </a:r>
          </a:p>
        </p:txBody>
      </p:sp>
      <p:sp>
        <p:nvSpPr>
          <p:cNvPr id="9" name="TextBox 8"/>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5A6072"/>
                </a:solidFill>
                <a:latin typeface="Calibri"/>
              </a:rPr>
              <a:t>08 / 25</a:t>
            </a:r>
          </a:p>
        </p:txBody>
      </p:sp>
      <p:pic>
        <p:nvPicPr>
          <p:cNvPr id="10" name="Picture 9" descr="logo"/>
          <p:cNvPicPr>
            <a:picLocks noChangeAspect="1"/>
          </p:cNvPicPr>
          <p:nvPr/>
        </p:nvPicPr>
        <p:blipFill>
          <a:blip r:embed="rId4"/>
          <a:stretch>
            <a:fillRect/>
          </a:stretch>
        </p:blipFill>
        <p:spPr>
          <a:xfrm>
            <a:off x="11247120" y="6309360"/>
            <a:ext cx="384048" cy="384048"/>
          </a:xfrm>
          <a:prstGeom prst="rect">
            <a:avLst/>
          </a:prstGeom>
        </p:spPr>
      </p:pic>
      <p:graphicFrame>
        <p:nvGraphicFramePr>
          <p:cNvPr id="11" name="Table 10"/>
          <p:cNvGraphicFramePr>
            <a:graphicFrameLocks noGrp="1"/>
          </p:cNvGraphicFramePr>
          <p:nvPr/>
        </p:nvGraphicFramePr>
        <p:xfrm>
          <a:off x="548640" y="1554480"/>
          <a:ext cx="11094413" cy="4617720"/>
        </p:xfrm>
        <a:graphic>
          <a:graphicData uri="http://schemas.openxmlformats.org/drawingml/2006/table">
            <a:tbl>
              <a:tblPr firstRow="0" bandRow="0">
                <a:tableStyleId>{5C22544A-7EE6-4342-B048-85BDC9FD1C3A}</a:tableStyleId>
              </a:tblPr>
              <a:tblGrid>
                <a:gridCol w="1722735"/>
                <a:gridCol w="4685839"/>
                <a:gridCol w="4685839"/>
              </a:tblGrid>
              <a:tr h="577215">
                <a:tc>
                  <a:txBody>
                    <a:bodyPr/>
                    <a:lstStyle/>
                    <a:p>
                      <a:r>
                        <a:rPr sz="1400" i="0" b="1">
                          <a:solidFill>
                            <a:srgbClr val="FFFFFF"/>
                          </a:solidFill>
                          <a:latin typeface="Calibri"/>
                        </a:rPr>
                        <a:t>Class</a:t>
                      </a:r>
                    </a:p>
                  </a:txBody>
                  <a:tcPr marL="109728" marR="109728" marT="45720" marB="45720" anchor="ctr">
                    <a:solidFill>
                      <a:srgbClr val="1B2A8C"/>
                    </a:solidFill>
                  </a:tcPr>
                </a:tc>
                <a:tc>
                  <a:txBody>
                    <a:bodyPr/>
                    <a:lstStyle/>
                    <a:p>
                      <a:r>
                        <a:rPr sz="1400" i="0" b="1">
                          <a:solidFill>
                            <a:srgbClr val="FFFFFF"/>
                          </a:solidFill>
                          <a:latin typeface="Calibri"/>
                        </a:rPr>
                        <a:t>Members</a:t>
                      </a:r>
                    </a:p>
                  </a:txBody>
                  <a:tcPr marL="109728" marR="109728" marT="45720" marB="45720" anchor="ctr">
                    <a:solidFill>
                      <a:srgbClr val="1B2A8C"/>
                    </a:solidFill>
                  </a:tcPr>
                </a:tc>
                <a:tc>
                  <a:txBody>
                    <a:bodyPr/>
                    <a:lstStyle/>
                    <a:p>
                      <a:r>
                        <a:rPr sz="1400" i="0" b="1">
                          <a:solidFill>
                            <a:srgbClr val="FFFFFF"/>
                          </a:solidFill>
                          <a:latin typeface="Calibri"/>
                        </a:rPr>
                        <a:t>Mechanism</a:t>
                      </a:r>
                    </a:p>
                  </a:txBody>
                  <a:tcPr marL="109728" marR="109728" marT="45720" marB="45720" anchor="ctr">
                    <a:solidFill>
                      <a:srgbClr val="1B2A8C"/>
                    </a:solidFill>
                  </a:tcPr>
                </a:tc>
              </a:tr>
              <a:tr h="577215">
                <a:tc>
                  <a:txBody>
                    <a:bodyPr/>
                    <a:lstStyle/>
                    <a:p>
                      <a:r>
                        <a:rPr sz="1500" i="0" b="1">
                          <a:solidFill>
                            <a:srgbClr val="1A1F36"/>
                          </a:solidFill>
                          <a:latin typeface="Calibri"/>
                        </a:rPr>
                        <a:t>SSRIs</a:t>
                      </a:r>
                    </a:p>
                  </a:txBody>
                  <a:tcPr marL="109728" marR="109728" marT="45720" marB="45720" anchor="ctr">
                    <a:solidFill>
                      <a:srgbClr val="FFFFFF"/>
                    </a:solidFill>
                  </a:tcPr>
                </a:tc>
                <a:tc>
                  <a:txBody>
                    <a:bodyPr/>
                    <a:lstStyle/>
                    <a:p>
                      <a:r>
                        <a:rPr sz="1500" i="0" b="0">
                          <a:solidFill>
                            <a:srgbClr val="1A1F36"/>
                          </a:solidFill>
                          <a:latin typeface="Calibri"/>
                        </a:rPr>
                        <a:t>Fluoxetine, sertraline, citalopram, escitalopram, paroxetine</a:t>
                      </a:r>
                    </a:p>
                  </a:txBody>
                  <a:tcPr marL="109728" marR="109728" marT="45720" marB="45720" anchor="ctr">
                    <a:solidFill>
                      <a:srgbClr val="FFFFFF"/>
                    </a:solidFill>
                  </a:tcPr>
                </a:tc>
                <a:tc>
                  <a:txBody>
                    <a:bodyPr/>
                    <a:lstStyle/>
                    <a:p>
                      <a:r>
                        <a:rPr sz="1500" i="0" b="0">
                          <a:solidFill>
                            <a:srgbClr val="1A1F36"/>
                          </a:solidFill>
                          <a:latin typeface="Calibri"/>
                        </a:rPr>
                        <a:t>Block SERT</a:t>
                      </a:r>
                    </a:p>
                  </a:txBody>
                  <a:tcPr marL="109728" marR="109728" marT="45720" marB="45720" anchor="ctr">
                    <a:solidFill>
                      <a:srgbClr val="FFFFFF"/>
                    </a:solidFill>
                  </a:tcPr>
                </a:tc>
              </a:tr>
              <a:tr h="577215">
                <a:tc>
                  <a:txBody>
                    <a:bodyPr/>
                    <a:lstStyle/>
                    <a:p>
                      <a:r>
                        <a:rPr sz="1500" i="0" b="1">
                          <a:solidFill>
                            <a:srgbClr val="1A1F36"/>
                          </a:solidFill>
                          <a:latin typeface="Calibri"/>
                        </a:rPr>
                        <a:t>SNRIs</a:t>
                      </a:r>
                    </a:p>
                  </a:txBody>
                  <a:tcPr marL="109728" marR="109728" marT="45720" marB="45720" anchor="ctr">
                    <a:solidFill>
                      <a:srgbClr val="F1F2F8"/>
                    </a:solidFill>
                  </a:tcPr>
                </a:tc>
                <a:tc>
                  <a:txBody>
                    <a:bodyPr/>
                    <a:lstStyle/>
                    <a:p>
                      <a:r>
                        <a:rPr sz="1500" i="0" b="0">
                          <a:solidFill>
                            <a:srgbClr val="1A1F36"/>
                          </a:solidFill>
                          <a:latin typeface="Calibri"/>
                        </a:rPr>
                        <a:t>Venlafaxine, duloxetine</a:t>
                      </a:r>
                    </a:p>
                  </a:txBody>
                  <a:tcPr marL="109728" marR="109728" marT="45720" marB="45720" anchor="ctr">
                    <a:solidFill>
                      <a:srgbClr val="F1F2F8"/>
                    </a:solidFill>
                  </a:tcPr>
                </a:tc>
                <a:tc>
                  <a:txBody>
                    <a:bodyPr/>
                    <a:lstStyle/>
                    <a:p>
                      <a:r>
                        <a:rPr sz="1500" i="0" b="0">
                          <a:solidFill>
                            <a:srgbClr val="1A1F36"/>
                          </a:solidFill>
                          <a:latin typeface="Calibri"/>
                        </a:rPr>
                        <a:t>Block SERT and NET</a:t>
                      </a:r>
                    </a:p>
                  </a:txBody>
                  <a:tcPr marL="109728" marR="109728" marT="45720" marB="45720" anchor="ctr">
                    <a:solidFill>
                      <a:srgbClr val="F1F2F8"/>
                    </a:solidFill>
                  </a:tcPr>
                </a:tc>
              </a:tr>
              <a:tr h="577215">
                <a:tc>
                  <a:txBody>
                    <a:bodyPr/>
                    <a:lstStyle/>
                    <a:p>
                      <a:r>
                        <a:rPr sz="1500" i="0" b="1">
                          <a:solidFill>
                            <a:srgbClr val="1A1F36"/>
                          </a:solidFill>
                          <a:latin typeface="Calibri"/>
                        </a:rPr>
                        <a:t>TCAs</a:t>
                      </a:r>
                    </a:p>
                  </a:txBody>
                  <a:tcPr marL="109728" marR="109728" marT="45720" marB="45720" anchor="ctr">
                    <a:solidFill>
                      <a:srgbClr val="FFFFFF"/>
                    </a:solidFill>
                  </a:tcPr>
                </a:tc>
                <a:tc>
                  <a:txBody>
                    <a:bodyPr/>
                    <a:lstStyle/>
                    <a:p>
                      <a:r>
                        <a:rPr sz="1500" i="0" b="0">
                          <a:solidFill>
                            <a:srgbClr val="1A1F36"/>
                          </a:solidFill>
                          <a:latin typeface="Calibri"/>
                        </a:rPr>
                        <a:t>Imipramine, amitriptyline, clomipramine, nortriptyline</a:t>
                      </a:r>
                    </a:p>
                  </a:txBody>
                  <a:tcPr marL="109728" marR="109728" marT="45720" marB="45720" anchor="ctr">
                    <a:solidFill>
                      <a:srgbClr val="FFFFFF"/>
                    </a:solidFill>
                  </a:tcPr>
                </a:tc>
                <a:tc>
                  <a:txBody>
                    <a:bodyPr/>
                    <a:lstStyle/>
                    <a:p>
                      <a:r>
                        <a:rPr sz="1500" i="0" b="0">
                          <a:solidFill>
                            <a:srgbClr val="1A1F36"/>
                          </a:solidFill>
                          <a:latin typeface="Calibri"/>
                        </a:rPr>
                        <a:t>Block SERT and NET; also block α1, H1 and muscarinic receptors</a:t>
                      </a:r>
                    </a:p>
                  </a:txBody>
                  <a:tcPr marL="109728" marR="109728" marT="45720" marB="45720" anchor="ctr">
                    <a:solidFill>
                      <a:srgbClr val="FFFFFF"/>
                    </a:solidFill>
                  </a:tcPr>
                </a:tc>
              </a:tr>
              <a:tr h="577215">
                <a:tc>
                  <a:txBody>
                    <a:bodyPr/>
                    <a:lstStyle/>
                    <a:p>
                      <a:r>
                        <a:rPr sz="1500" i="0" b="1">
                          <a:solidFill>
                            <a:srgbClr val="1A1F36"/>
                          </a:solidFill>
                          <a:latin typeface="Calibri"/>
                        </a:rPr>
                        <a:t>MAO inhibitors</a:t>
                      </a:r>
                    </a:p>
                  </a:txBody>
                  <a:tcPr marL="109728" marR="109728" marT="45720" marB="45720" anchor="ctr">
                    <a:solidFill>
                      <a:srgbClr val="F1F2F8"/>
                    </a:solidFill>
                  </a:tcPr>
                </a:tc>
                <a:tc>
                  <a:txBody>
                    <a:bodyPr/>
                    <a:lstStyle/>
                    <a:p>
                      <a:r>
                        <a:rPr sz="1500" i="0" b="0">
                          <a:solidFill>
                            <a:srgbClr val="1A1F36"/>
                          </a:solidFill>
                          <a:latin typeface="Calibri"/>
                        </a:rPr>
                        <a:t>Phenelzine, tranylcypromine (non-selective, irreversible); moclobemide (reversible MAO-A)</a:t>
                      </a:r>
                    </a:p>
                  </a:txBody>
                  <a:tcPr marL="109728" marR="109728" marT="45720" marB="45720" anchor="ctr">
                    <a:solidFill>
                      <a:srgbClr val="F1F2F8"/>
                    </a:solidFill>
                  </a:tcPr>
                </a:tc>
                <a:tc>
                  <a:txBody>
                    <a:bodyPr/>
                    <a:lstStyle/>
                    <a:p>
                      <a:r>
                        <a:rPr sz="1500" i="0" b="0">
                          <a:solidFill>
                            <a:srgbClr val="1A1F36"/>
                          </a:solidFill>
                          <a:latin typeface="Calibri"/>
                        </a:rPr>
                        <a:t>Block monoamine breakdown</a:t>
                      </a:r>
                    </a:p>
                  </a:txBody>
                  <a:tcPr marL="109728" marR="109728" marT="45720" marB="45720" anchor="ctr">
                    <a:solidFill>
                      <a:srgbClr val="F1F2F8"/>
                    </a:solidFill>
                  </a:tcPr>
                </a:tc>
              </a:tr>
              <a:tr h="577215">
                <a:tc>
                  <a:txBody>
                    <a:bodyPr/>
                    <a:lstStyle/>
                    <a:p>
                      <a:r>
                        <a:rPr sz="1500" i="0" b="1">
                          <a:solidFill>
                            <a:srgbClr val="1A1F36"/>
                          </a:solidFill>
                          <a:latin typeface="Calibri"/>
                        </a:rPr>
                        <a:t>α2 antagonist</a:t>
                      </a:r>
                    </a:p>
                  </a:txBody>
                  <a:tcPr marL="109728" marR="109728" marT="45720" marB="45720" anchor="ctr">
                    <a:solidFill>
                      <a:srgbClr val="FFFFFF"/>
                    </a:solidFill>
                  </a:tcPr>
                </a:tc>
                <a:tc>
                  <a:txBody>
                    <a:bodyPr/>
                    <a:lstStyle/>
                    <a:p>
                      <a:r>
                        <a:rPr sz="1500" i="0" b="0">
                          <a:solidFill>
                            <a:srgbClr val="1A1F36"/>
                          </a:solidFill>
                          <a:latin typeface="Calibri"/>
                        </a:rPr>
                        <a:t>Mirtazapine</a:t>
                      </a:r>
                    </a:p>
                  </a:txBody>
                  <a:tcPr marL="109728" marR="109728" marT="45720" marB="45720" anchor="ctr">
                    <a:solidFill>
                      <a:srgbClr val="FFFFFF"/>
                    </a:solidFill>
                  </a:tcPr>
                </a:tc>
                <a:tc>
                  <a:txBody>
                    <a:bodyPr/>
                    <a:lstStyle/>
                    <a:p>
                      <a:r>
                        <a:rPr sz="1500" i="0" b="0">
                          <a:solidFill>
                            <a:srgbClr val="1A1F36"/>
                          </a:solidFill>
                          <a:latin typeface="Calibri"/>
                        </a:rPr>
                        <a:t>Blocks α2 autoreceptors, so NA and 5-HT release rises; also blocks 5-HT2, 5-HT3 and H1</a:t>
                      </a:r>
                    </a:p>
                  </a:txBody>
                  <a:tcPr marL="109728" marR="109728" marT="45720" marB="45720" anchor="ctr">
                    <a:solidFill>
                      <a:srgbClr val="FFFFFF"/>
                    </a:solidFill>
                  </a:tcPr>
                </a:tc>
              </a:tr>
              <a:tr h="577215">
                <a:tc>
                  <a:txBody>
                    <a:bodyPr/>
                    <a:lstStyle/>
                    <a:p>
                      <a:r>
                        <a:rPr sz="1500" i="0" b="1">
                          <a:solidFill>
                            <a:srgbClr val="1A1F36"/>
                          </a:solidFill>
                          <a:latin typeface="Calibri"/>
                        </a:rPr>
                        <a:t>5-HT2A antagonist</a:t>
                      </a:r>
                    </a:p>
                  </a:txBody>
                  <a:tcPr marL="109728" marR="109728" marT="45720" marB="45720" anchor="ctr">
                    <a:solidFill>
                      <a:srgbClr val="F1F2F8"/>
                    </a:solidFill>
                  </a:tcPr>
                </a:tc>
                <a:tc>
                  <a:txBody>
                    <a:bodyPr/>
                    <a:lstStyle/>
                    <a:p>
                      <a:r>
                        <a:rPr sz="1500" i="0" b="0">
                          <a:solidFill>
                            <a:srgbClr val="1A1F36"/>
                          </a:solidFill>
                          <a:latin typeface="Calibri"/>
                        </a:rPr>
                        <a:t>Trazodone</a:t>
                      </a:r>
                    </a:p>
                  </a:txBody>
                  <a:tcPr marL="109728" marR="109728" marT="45720" marB="45720" anchor="ctr">
                    <a:solidFill>
                      <a:srgbClr val="F1F2F8"/>
                    </a:solidFill>
                  </a:tcPr>
                </a:tc>
                <a:tc>
                  <a:txBody>
                    <a:bodyPr/>
                    <a:lstStyle/>
                    <a:p>
                      <a:r>
                        <a:rPr sz="1500" i="0" b="0">
                          <a:solidFill>
                            <a:srgbClr val="1A1F36"/>
                          </a:solidFill>
                          <a:latin typeface="Calibri"/>
                        </a:rPr>
                        <a:t>Blocks 5-HT2A; weak SERT block; also blocks α1 and H1</a:t>
                      </a:r>
                    </a:p>
                  </a:txBody>
                  <a:tcPr marL="109728" marR="109728" marT="45720" marB="45720" anchor="ctr">
                    <a:solidFill>
                      <a:srgbClr val="F1F2F8"/>
                    </a:solidFill>
                  </a:tcPr>
                </a:tc>
              </a:tr>
              <a:tr h="577215">
                <a:tc>
                  <a:txBody>
                    <a:bodyPr/>
                    <a:lstStyle/>
                    <a:p>
                      <a:r>
                        <a:rPr sz="1500" i="0" b="1">
                          <a:solidFill>
                            <a:srgbClr val="1A1F36"/>
                          </a:solidFill>
                          <a:latin typeface="Calibri"/>
                        </a:rPr>
                        <a:t>NDRI</a:t>
                      </a:r>
                    </a:p>
                  </a:txBody>
                  <a:tcPr marL="109728" marR="109728" marT="45720" marB="45720" anchor="ctr">
                    <a:solidFill>
                      <a:srgbClr val="FFFFFF"/>
                    </a:solidFill>
                  </a:tcPr>
                </a:tc>
                <a:tc>
                  <a:txBody>
                    <a:bodyPr/>
                    <a:lstStyle/>
                    <a:p>
                      <a:r>
                        <a:rPr sz="1500" i="0" b="0">
                          <a:solidFill>
                            <a:srgbClr val="1A1F36"/>
                          </a:solidFill>
                          <a:latin typeface="Calibri"/>
                        </a:rPr>
                        <a:t>Bupropion</a:t>
                      </a:r>
                    </a:p>
                  </a:txBody>
                  <a:tcPr marL="109728" marR="109728" marT="45720" marB="45720" anchor="ctr">
                    <a:solidFill>
                      <a:srgbClr val="FFFFFF"/>
                    </a:solidFill>
                  </a:tcPr>
                </a:tc>
                <a:tc>
                  <a:txBody>
                    <a:bodyPr/>
                    <a:lstStyle/>
                    <a:p>
                      <a:r>
                        <a:rPr sz="1500" i="0" b="0">
                          <a:solidFill>
                            <a:srgbClr val="1A1F36"/>
                          </a:solidFill>
                          <a:latin typeface="Calibri"/>
                        </a:rPr>
                        <a:t>Weak block of NA and dopamine reuptake</a:t>
                      </a:r>
                    </a:p>
                  </a:txBody>
                  <a:tcPr marL="109728" marR="109728" marT="45720" marB="45720" anchor="ctr">
                    <a:solidFill>
                      <a:srgbClr val="FFFFFF"/>
                    </a:solidFill>
                  </a:tcPr>
                </a:tc>
              </a:tr>
            </a:tbl>
          </a:graphicData>
        </a:graphic>
      </p:graphicFrame>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E8EAF4"/>
        </a:solidFill>
        <a:effectLst/>
      </p:bgPr>
    </p:bg>
    <p:spTree>
      <p:nvGrpSpPr>
        <p:cNvPr id="1" name=""/>
        <p:cNvGrpSpPr/>
        <p:nvPr/>
      </p:nvGrpSpPr>
      <p:grpSpPr/>
      <p:pic>
        <p:nvPicPr>
          <p:cNvPr id="2" name="Picture 1" descr=""/>
          <p:cNvPicPr>
            <a:picLocks noChangeAspect="1"/>
          </p:cNvPicPr>
          <p:nvPr/>
        </p:nvPicPr>
        <p:blipFill>
          <a:blip r:embed="rId3"/>
          <a:stretch>
            <a:fillRect/>
          </a:stretch>
        </p:blipFill>
        <p:spPr>
          <a:xfrm>
            <a:off x="0" y="0"/>
            <a:ext cx="12191695" cy="6858000"/>
          </a:xfrm>
          <a:prstGeom prst="rect">
            <a:avLst/>
          </a:prstGeom>
        </p:spPr>
      </p:pic>
      <p:sp>
        <p:nvSpPr>
          <p:cNvPr id="3" name="Rounded Rectangle 2"/>
          <p:cNvSpPr/>
          <p:nvPr/>
        </p:nvSpPr>
        <p:spPr>
          <a:xfrm>
            <a:off x="411479" y="274320"/>
            <a:ext cx="11368735" cy="1097280"/>
          </a:xfrm>
          <a:prstGeom prst="roundRect">
            <a:avLst>
              <a:gd name="adj" fmla="val 14000"/>
            </a:avLst>
          </a:prstGeom>
          <a:solidFill>
            <a:srgbClr val="FFFFFF">
              <a:alpha val="70000"/>
            </a:srgbClr>
          </a:solidFill>
          <a:ln w="28575">
            <a:solidFill>
              <a:srgbClr val="1B2A8C"/>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31519" y="338328"/>
            <a:ext cx="10728655" cy="32004"/>
          </a:xfrm>
          <a:prstGeom prst="roundRect">
            <a:avLst>
              <a:gd name="adj" fmla="val 50000"/>
            </a:avLst>
          </a:prstGeom>
          <a:solidFill>
            <a:srgbClr val="FFFFFF">
              <a:alpha val="8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640080" y="493776"/>
            <a:ext cx="658368" cy="658368"/>
          </a:xfrm>
          <a:prstGeom prst="ellipse">
            <a:avLst/>
          </a:prstGeom>
          <a:solidFill>
            <a:srgbClr val="8D6A2A"/>
          </a:solidFill>
          <a:ln>
            <a:noFill/>
          </a:ln>
          <a:effectLst>
            <a:outerShdw blurRad="203200" dist="50800" dir="5400000" algn="t" rotWithShape="0">
              <a:srgbClr val="1A2340">
                <a:alpha val="20000"/>
              </a:srgbClr>
            </a:outerShdw>
          </a:effectLst>
          <a:scene3d>
            <a:camera prst="orthographicFront"/>
            <a:lightRig rig="threePt" dir="t"/>
          </a:scene3d>
          <a:sp3d>
            <a:bevelT w="44450" h="25400" prst="softRound"/>
          </a:sp3d>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800" i="0" b="1">
                <a:solidFill>
                  <a:srgbClr val="FFFFFF"/>
                </a:solidFill>
                <a:latin typeface="Cambria"/>
              </a:rPr>
              <a:t>04</a:t>
            </a:r>
          </a:p>
        </p:txBody>
      </p:sp>
      <p:sp>
        <p:nvSpPr>
          <p:cNvPr id="6" name="TextBox 5"/>
          <p:cNvSpPr txBox="1"/>
          <p:nvPr/>
        </p:nvSpPr>
        <p:spPr>
          <a:xfrm>
            <a:off x="1554480" y="402336"/>
            <a:ext cx="9905695" cy="274320"/>
          </a:xfrm>
          <a:prstGeom prst="rect">
            <a:avLst/>
          </a:prstGeom>
          <a:noFill/>
        </p:spPr>
        <p:txBody>
          <a:bodyPr wrap="square" anchor="t" lIns="0" rIns="0" tIns="0" bIns="0">
            <a:spAutoFit/>
          </a:bodyPr>
          <a:lstStyle/>
          <a:p>
            <a:r>
              <a:rPr sz="1200" i="0" b="1" spc="150">
                <a:solidFill>
                  <a:srgbClr val="826227"/>
                </a:solidFill>
                <a:latin typeface="Calibri"/>
              </a:rPr>
              <a:t>SECTION 4</a:t>
            </a:r>
          </a:p>
        </p:txBody>
      </p:sp>
      <p:sp>
        <p:nvSpPr>
          <p:cNvPr id="7" name="TextBox 6"/>
          <p:cNvSpPr txBox="1"/>
          <p:nvPr/>
        </p:nvSpPr>
        <p:spPr>
          <a:xfrm>
            <a:off x="1554480" y="658368"/>
            <a:ext cx="9905695" cy="640080"/>
          </a:xfrm>
          <a:prstGeom prst="rect">
            <a:avLst/>
          </a:prstGeom>
          <a:noFill/>
        </p:spPr>
        <p:txBody>
          <a:bodyPr wrap="square" anchor="ctr" lIns="0" rIns="0" tIns="0" bIns="0">
            <a:spAutoFit/>
          </a:bodyPr>
          <a:lstStyle/>
          <a:p>
            <a:r>
              <a:rPr sz="3000" i="0" b="1">
                <a:solidFill>
                  <a:srgbClr val="1B2A8C"/>
                </a:solidFill>
                <a:latin typeface="Cambria"/>
              </a:rPr>
              <a:t>SSRIs</a:t>
            </a:r>
          </a:p>
        </p:txBody>
      </p:sp>
      <p:sp>
        <p:nvSpPr>
          <p:cNvPr id="8" name="TextBox 7"/>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5A6072"/>
                </a:solidFill>
                <a:latin typeface="Calibri"/>
              </a:rPr>
              <a:t>Practical Pharmacology of the Central Nervous System  ·  Section 4  ·  Depression and Antidepressant Drugs</a:t>
            </a:r>
          </a:p>
        </p:txBody>
      </p:sp>
      <p:sp>
        <p:nvSpPr>
          <p:cNvPr id="9" name="TextBox 8"/>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5A6072"/>
                </a:solidFill>
                <a:latin typeface="Calibri"/>
              </a:rPr>
              <a:t>09 / 25</a:t>
            </a:r>
          </a:p>
        </p:txBody>
      </p:sp>
      <p:pic>
        <p:nvPicPr>
          <p:cNvPr id="10" name="Picture 9" descr="logo"/>
          <p:cNvPicPr>
            <a:picLocks noChangeAspect="1"/>
          </p:cNvPicPr>
          <p:nvPr/>
        </p:nvPicPr>
        <p:blipFill>
          <a:blip r:embed="rId4"/>
          <a:stretch>
            <a:fillRect/>
          </a:stretch>
        </p:blipFill>
        <p:spPr>
          <a:xfrm>
            <a:off x="11247120" y="6309360"/>
            <a:ext cx="384048" cy="384048"/>
          </a:xfrm>
          <a:prstGeom prst="rect">
            <a:avLst/>
          </a:prstGeom>
        </p:spPr>
      </p:pic>
      <p:sp>
        <p:nvSpPr>
          <p:cNvPr id="11" name="TextBox 10"/>
          <p:cNvSpPr txBox="1"/>
          <p:nvPr/>
        </p:nvSpPr>
        <p:spPr>
          <a:xfrm>
            <a:off x="548640" y="1554480"/>
            <a:ext cx="4480560" cy="4617720"/>
          </a:xfrm>
          <a:prstGeom prst="rect">
            <a:avLst/>
          </a:prstGeom>
          <a:noFill/>
        </p:spPr>
        <p:txBody>
          <a:bodyPr wrap="square" anchor="t" lIns="0" rIns="0" tIns="0" bIns="0">
            <a:spAutoFit/>
          </a:bodyPr>
          <a:lstStyle/>
          <a:p>
            <a:pPr>
              <a:spcAft>
                <a:spcPts val="800"/>
              </a:spcAft>
            </a:pPr>
            <a:r>
              <a:rPr sz="1700" i="0" b="0">
                <a:solidFill>
                  <a:srgbClr val="1A1F36"/>
                </a:solidFill>
                <a:latin typeface="Calibri"/>
              </a:rPr>
              <a:t>SSRIs are the usual first-choice antidepressants. They are safer in overdose than TCAs and have fewer receptor side effects. Uses: depression, generalised anxiety disorder, panic disorder, obsessive–compulsive disorder (usually higher doses) and bulimia.</a:t>
            </a:r>
          </a:p>
          <a:p>
            <a:pPr>
              <a:spcAft>
                <a:spcPts val="800"/>
              </a:spcAft>
            </a:pPr>
            <a:r>
              <a:rPr sz="1700" i="0" b="0">
                <a:solidFill>
                  <a:srgbClr val="1A1F36"/>
                </a:solidFill>
                <a:latin typeface="Calibri"/>
              </a:rPr>
              <a:t>Adverse effects fall into two groups:</a:t>
            </a:r>
          </a:p>
        </p:txBody>
      </p:sp>
      <p:sp>
        <p:nvSpPr>
          <p:cNvPr id="12" name="Oval 11"/>
          <p:cNvSpPr/>
          <p:nvPr/>
        </p:nvSpPr>
        <p:spPr>
          <a:xfrm>
            <a:off x="5394959" y="1572768"/>
            <a:ext cx="402336" cy="402336"/>
          </a:xfrm>
          <a:prstGeom prst="ellipse">
            <a:avLst/>
          </a:prstGeom>
          <a:solidFill>
            <a:srgbClr val="F9F8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8D6A2A"/>
                </a:solidFill>
                <a:latin typeface="Calibri"/>
              </a:rPr>
              <a:t>1</a:t>
            </a:r>
          </a:p>
        </p:txBody>
      </p:sp>
      <p:sp>
        <p:nvSpPr>
          <p:cNvPr id="13" name="TextBox 12"/>
          <p:cNvSpPr txBox="1"/>
          <p:nvPr/>
        </p:nvSpPr>
        <p:spPr>
          <a:xfrm>
            <a:off x="5989320" y="1591056"/>
            <a:ext cx="5653735" cy="2596515"/>
          </a:xfrm>
          <a:prstGeom prst="rect">
            <a:avLst/>
          </a:prstGeom>
          <a:noFill/>
        </p:spPr>
        <p:txBody>
          <a:bodyPr wrap="square" anchor="t" lIns="0" rIns="0" tIns="0" bIns="0">
            <a:spAutoFit/>
          </a:bodyPr>
          <a:lstStyle/>
          <a:p>
            <a:r>
              <a:rPr sz="2100" i="0" b="1">
                <a:solidFill>
                  <a:srgbClr val="1A1F36"/>
                </a:solidFill>
                <a:latin typeface="Calibri"/>
              </a:rPr>
              <a:t>Early and often transient (first 1 to 2 weeks):</a:t>
            </a:r>
            <a:r>
              <a:rPr sz="2100" i="0" b="0">
                <a:solidFill>
                  <a:srgbClr val="1A1F36"/>
                </a:solidFill>
                <a:latin typeface="Calibri"/>
              </a:rPr>
              <a:t> nausea, diarrhoea, headache, jitteriness or insomnia, and a short-term rise in anxiety. Take the dose with food and start low. A PPI is considered only if bleeding risk is added, for example with an NSAID or an anticoagulant.</a:t>
            </a:r>
          </a:p>
        </p:txBody>
      </p:sp>
      <p:sp>
        <p:nvSpPr>
          <p:cNvPr id="14" name="Oval 13"/>
          <p:cNvSpPr/>
          <p:nvPr/>
        </p:nvSpPr>
        <p:spPr>
          <a:xfrm>
            <a:off x="5394959" y="4215003"/>
            <a:ext cx="402336" cy="402336"/>
          </a:xfrm>
          <a:prstGeom prst="ellipse">
            <a:avLst/>
          </a:prstGeom>
          <a:solidFill>
            <a:srgbClr val="F9F8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8D6A2A"/>
                </a:solidFill>
                <a:latin typeface="Calibri"/>
              </a:rPr>
              <a:t>2</a:t>
            </a:r>
          </a:p>
        </p:txBody>
      </p:sp>
      <p:sp>
        <p:nvSpPr>
          <p:cNvPr id="15" name="TextBox 14"/>
          <p:cNvSpPr txBox="1"/>
          <p:nvPr/>
        </p:nvSpPr>
        <p:spPr>
          <a:xfrm>
            <a:off x="5989320" y="4233291"/>
            <a:ext cx="5653735" cy="1929765"/>
          </a:xfrm>
          <a:prstGeom prst="rect">
            <a:avLst/>
          </a:prstGeom>
          <a:noFill/>
        </p:spPr>
        <p:txBody>
          <a:bodyPr wrap="square" anchor="t" lIns="0" rIns="0" tIns="0" bIns="0">
            <a:spAutoFit/>
          </a:bodyPr>
          <a:lstStyle/>
          <a:p>
            <a:r>
              <a:rPr sz="2100" i="0" b="1">
                <a:solidFill>
                  <a:srgbClr val="1A1F36"/>
                </a:solidFill>
                <a:latin typeface="Calibri"/>
              </a:rPr>
              <a:t>Persistent:</a:t>
            </a:r>
            <a:r>
              <a:rPr sz="2100" i="0" b="0">
                <a:solidFill>
                  <a:srgbClr val="1A1F36"/>
                </a:solidFill>
                <a:latin typeface="Calibri"/>
              </a:rPr>
              <a:t> sexual dysfunction (low libido, delayed orgasm or anorgasmia) often does </a:t>
            </a:r>
            <a:r>
              <a:rPr sz="2100" i="0" b="1">
                <a:solidFill>
                  <a:srgbClr val="1A1F36"/>
                </a:solidFill>
                <a:latin typeface="Calibri"/>
              </a:rPr>
              <a:t>not</a:t>
            </a:r>
            <a:r>
              <a:rPr sz="2100" i="0" b="0">
                <a:solidFill>
                  <a:srgbClr val="1A1F36"/>
                </a:solidFill>
                <a:latin typeface="Calibri"/>
              </a:rPr>
              <a:t> settle. Ask about it at each review. Options are waiting, a lower dose, or a switch to mirtazapine or bupropion.</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E8EAF4"/>
        </a:solidFill>
        <a:effectLst/>
      </p:bgPr>
    </p:bg>
    <p:spTree>
      <p:nvGrpSpPr>
        <p:cNvPr id="1" name=""/>
        <p:cNvGrpSpPr/>
        <p:nvPr/>
      </p:nvGrpSpPr>
      <p:grpSpPr/>
      <p:pic>
        <p:nvPicPr>
          <p:cNvPr id="2" name="Picture 1" descr=""/>
          <p:cNvPicPr>
            <a:picLocks noChangeAspect="1"/>
          </p:cNvPicPr>
          <p:nvPr/>
        </p:nvPicPr>
        <p:blipFill>
          <a:blip r:embed="rId3"/>
          <a:stretch>
            <a:fillRect/>
          </a:stretch>
        </p:blipFill>
        <p:spPr>
          <a:xfrm>
            <a:off x="0" y="0"/>
            <a:ext cx="12191695" cy="6858000"/>
          </a:xfrm>
          <a:prstGeom prst="rect">
            <a:avLst/>
          </a:prstGeom>
        </p:spPr>
      </p:pic>
      <p:sp>
        <p:nvSpPr>
          <p:cNvPr id="3" name="Rounded Rectangle 2"/>
          <p:cNvSpPr/>
          <p:nvPr/>
        </p:nvSpPr>
        <p:spPr>
          <a:xfrm>
            <a:off x="411479" y="274320"/>
            <a:ext cx="11368735" cy="1097280"/>
          </a:xfrm>
          <a:prstGeom prst="roundRect">
            <a:avLst>
              <a:gd name="adj" fmla="val 14000"/>
            </a:avLst>
          </a:prstGeom>
          <a:solidFill>
            <a:srgbClr val="FFFFFF">
              <a:alpha val="70000"/>
            </a:srgbClr>
          </a:solidFill>
          <a:ln w="28575">
            <a:solidFill>
              <a:srgbClr val="1B2A8C"/>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31519" y="338328"/>
            <a:ext cx="10728655" cy="32004"/>
          </a:xfrm>
          <a:prstGeom prst="roundRect">
            <a:avLst>
              <a:gd name="adj" fmla="val 50000"/>
            </a:avLst>
          </a:prstGeom>
          <a:solidFill>
            <a:srgbClr val="FFFFFF">
              <a:alpha val="8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640080" y="493776"/>
            <a:ext cx="658368" cy="658368"/>
          </a:xfrm>
          <a:prstGeom prst="ellipse">
            <a:avLst/>
          </a:prstGeom>
          <a:solidFill>
            <a:srgbClr val="8D6A2A"/>
          </a:solidFill>
          <a:ln>
            <a:noFill/>
          </a:ln>
          <a:effectLst>
            <a:outerShdw blurRad="203200" dist="50800" dir="5400000" algn="t" rotWithShape="0">
              <a:srgbClr val="1A2340">
                <a:alpha val="20000"/>
              </a:srgbClr>
            </a:outerShdw>
          </a:effectLst>
          <a:scene3d>
            <a:camera prst="orthographicFront"/>
            <a:lightRig rig="threePt" dir="t"/>
          </a:scene3d>
          <a:sp3d>
            <a:bevelT w="44450" h="25400" prst="softRound"/>
          </a:sp3d>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800" i="0" b="1">
                <a:solidFill>
                  <a:srgbClr val="FFFFFF"/>
                </a:solidFill>
                <a:latin typeface="Cambria"/>
              </a:rPr>
              <a:t>04</a:t>
            </a:r>
          </a:p>
        </p:txBody>
      </p:sp>
      <p:sp>
        <p:nvSpPr>
          <p:cNvPr id="6" name="TextBox 5"/>
          <p:cNvSpPr txBox="1"/>
          <p:nvPr/>
        </p:nvSpPr>
        <p:spPr>
          <a:xfrm>
            <a:off x="1554480" y="402336"/>
            <a:ext cx="9905695" cy="274320"/>
          </a:xfrm>
          <a:prstGeom prst="rect">
            <a:avLst/>
          </a:prstGeom>
          <a:noFill/>
        </p:spPr>
        <p:txBody>
          <a:bodyPr wrap="square" anchor="t" lIns="0" rIns="0" tIns="0" bIns="0">
            <a:spAutoFit/>
          </a:bodyPr>
          <a:lstStyle/>
          <a:p>
            <a:r>
              <a:rPr sz="1200" i="0" b="1" spc="150">
                <a:solidFill>
                  <a:srgbClr val="826227"/>
                </a:solidFill>
                <a:latin typeface="Calibri"/>
              </a:rPr>
              <a:t>SECTION 4</a:t>
            </a:r>
          </a:p>
        </p:txBody>
      </p:sp>
      <p:sp>
        <p:nvSpPr>
          <p:cNvPr id="7" name="TextBox 6"/>
          <p:cNvSpPr txBox="1"/>
          <p:nvPr/>
        </p:nvSpPr>
        <p:spPr>
          <a:xfrm>
            <a:off x="1554480" y="658368"/>
            <a:ext cx="9905695" cy="640080"/>
          </a:xfrm>
          <a:prstGeom prst="rect">
            <a:avLst/>
          </a:prstGeom>
          <a:noFill/>
        </p:spPr>
        <p:txBody>
          <a:bodyPr wrap="square" anchor="ctr" lIns="0" rIns="0" tIns="0" bIns="0">
            <a:spAutoFit/>
          </a:bodyPr>
          <a:lstStyle/>
          <a:p>
            <a:r>
              <a:rPr sz="3000" i="0" b="1">
                <a:solidFill>
                  <a:srgbClr val="1B2A8C"/>
                </a:solidFill>
                <a:latin typeface="Cambria"/>
              </a:rPr>
              <a:t>Tricyclic antidepressants</a:t>
            </a:r>
          </a:p>
        </p:txBody>
      </p:sp>
      <p:sp>
        <p:nvSpPr>
          <p:cNvPr id="8" name="TextBox 7"/>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5A6072"/>
                </a:solidFill>
                <a:latin typeface="Calibri"/>
              </a:rPr>
              <a:t>Practical Pharmacology of the Central Nervous System  ·  Section 4  ·  Depression and Antidepressant Drugs</a:t>
            </a:r>
          </a:p>
        </p:txBody>
      </p:sp>
      <p:sp>
        <p:nvSpPr>
          <p:cNvPr id="9" name="TextBox 8"/>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5A6072"/>
                </a:solidFill>
                <a:latin typeface="Calibri"/>
              </a:rPr>
              <a:t>10 / 25</a:t>
            </a:r>
          </a:p>
        </p:txBody>
      </p:sp>
      <p:pic>
        <p:nvPicPr>
          <p:cNvPr id="10" name="Picture 9" descr="logo"/>
          <p:cNvPicPr>
            <a:picLocks noChangeAspect="1"/>
          </p:cNvPicPr>
          <p:nvPr/>
        </p:nvPicPr>
        <p:blipFill>
          <a:blip r:embed="rId4"/>
          <a:stretch>
            <a:fillRect/>
          </a:stretch>
        </p:blipFill>
        <p:spPr>
          <a:xfrm>
            <a:off x="11247120" y="6309360"/>
            <a:ext cx="384048" cy="384048"/>
          </a:xfrm>
          <a:prstGeom prst="rect">
            <a:avLst/>
          </a:prstGeom>
        </p:spPr>
      </p:pic>
      <p:graphicFrame>
        <p:nvGraphicFramePr>
          <p:cNvPr id="11" name="Table 10"/>
          <p:cNvGraphicFramePr>
            <a:graphicFrameLocks noGrp="1"/>
          </p:cNvGraphicFramePr>
          <p:nvPr/>
        </p:nvGraphicFramePr>
        <p:xfrm>
          <a:off x="548640" y="1554480"/>
          <a:ext cx="11094414" cy="3840480"/>
        </p:xfrm>
        <a:graphic>
          <a:graphicData uri="http://schemas.openxmlformats.org/drawingml/2006/table">
            <a:tbl>
              <a:tblPr firstRow="0" bandRow="0">
                <a:tableStyleId>{5C22544A-7EE6-4342-B048-85BDC9FD1C3A}</a:tableStyleId>
              </a:tblPr>
              <a:tblGrid>
                <a:gridCol w="2492223"/>
                <a:gridCol w="5466813"/>
                <a:gridCol w="3135378"/>
              </a:tblGrid>
              <a:tr h="640080">
                <a:tc>
                  <a:txBody>
                    <a:bodyPr/>
                    <a:lstStyle/>
                    <a:p>
                      <a:r>
                        <a:rPr sz="1700" i="0" b="1">
                          <a:solidFill>
                            <a:srgbClr val="FFFFFF"/>
                          </a:solidFill>
                          <a:latin typeface="Calibri"/>
                        </a:rPr>
                        <a:t>Receptor blocked</a:t>
                      </a:r>
                    </a:p>
                  </a:txBody>
                  <a:tcPr marL="109728" marR="109728" marT="45720" marB="45720" anchor="ctr">
                    <a:solidFill>
                      <a:srgbClr val="1B2A8C"/>
                    </a:solidFill>
                  </a:tcPr>
                </a:tc>
                <a:tc>
                  <a:txBody>
                    <a:bodyPr/>
                    <a:lstStyle/>
                    <a:p>
                      <a:r>
                        <a:rPr sz="1700" i="0" b="1">
                          <a:solidFill>
                            <a:srgbClr val="FFFFFF"/>
                          </a:solidFill>
                          <a:latin typeface="Calibri"/>
                        </a:rPr>
                        <a:t>Effect</a:t>
                      </a:r>
                    </a:p>
                  </a:txBody>
                  <a:tcPr marL="109728" marR="109728" marT="45720" marB="45720" anchor="ctr">
                    <a:solidFill>
                      <a:srgbClr val="1B2A8C"/>
                    </a:solidFill>
                  </a:tcPr>
                </a:tc>
                <a:tc>
                  <a:txBody>
                    <a:bodyPr/>
                    <a:lstStyle/>
                    <a:p>
                      <a:r>
                        <a:rPr sz="1700" i="0" b="1">
                          <a:solidFill>
                            <a:srgbClr val="FFFFFF"/>
                          </a:solidFill>
                          <a:latin typeface="Calibri"/>
                        </a:rPr>
                        <a:t>Drugs most involved</a:t>
                      </a:r>
                    </a:p>
                  </a:txBody>
                  <a:tcPr marL="109728" marR="109728" marT="45720" marB="45720" anchor="ctr">
                    <a:solidFill>
                      <a:srgbClr val="1B2A8C"/>
                    </a:solidFill>
                  </a:tcPr>
                </a:tc>
              </a:tr>
              <a:tr h="640080">
                <a:tc>
                  <a:txBody>
                    <a:bodyPr/>
                    <a:lstStyle/>
                    <a:p>
                      <a:r>
                        <a:rPr sz="1800" i="0" b="1">
                          <a:solidFill>
                            <a:srgbClr val="1A1F36"/>
                          </a:solidFill>
                          <a:latin typeface="Calibri"/>
                        </a:rPr>
                        <a:t>α1</a:t>
                      </a:r>
                    </a:p>
                  </a:txBody>
                  <a:tcPr marL="109728" marR="109728" marT="45720" marB="45720" anchor="ctr">
                    <a:solidFill>
                      <a:srgbClr val="FFFFFF"/>
                    </a:solidFill>
                  </a:tcPr>
                </a:tc>
                <a:tc>
                  <a:txBody>
                    <a:bodyPr/>
                    <a:lstStyle/>
                    <a:p>
                      <a:r>
                        <a:rPr sz="1800" i="0" b="0">
                          <a:solidFill>
                            <a:srgbClr val="1A1F36"/>
                          </a:solidFill>
                          <a:latin typeface="Calibri"/>
                        </a:rPr>
                        <a:t>Postural hypotension, dizziness, falls</a:t>
                      </a:r>
                    </a:p>
                  </a:txBody>
                  <a:tcPr marL="109728" marR="109728" marT="45720" marB="45720" anchor="ctr">
                    <a:solidFill>
                      <a:srgbClr val="FFFFFF"/>
                    </a:solidFill>
                  </a:tcPr>
                </a:tc>
                <a:tc>
                  <a:txBody>
                    <a:bodyPr/>
                    <a:lstStyle/>
                    <a:p>
                      <a:r>
                        <a:rPr sz="1800" i="0" b="0">
                          <a:solidFill>
                            <a:srgbClr val="1A1F36"/>
                          </a:solidFill>
                          <a:latin typeface="Calibri"/>
                        </a:rPr>
                        <a:t>TCAs, trazodone</a:t>
                      </a:r>
                    </a:p>
                  </a:txBody>
                  <a:tcPr marL="109728" marR="109728" marT="45720" marB="45720" anchor="ctr">
                    <a:solidFill>
                      <a:srgbClr val="FFFFFF"/>
                    </a:solidFill>
                  </a:tcPr>
                </a:tc>
              </a:tr>
              <a:tr h="640080">
                <a:tc>
                  <a:txBody>
                    <a:bodyPr/>
                    <a:lstStyle/>
                    <a:p>
                      <a:r>
                        <a:rPr sz="1800" i="0" b="1">
                          <a:solidFill>
                            <a:srgbClr val="1A1F36"/>
                          </a:solidFill>
                          <a:latin typeface="Calibri"/>
                        </a:rPr>
                        <a:t>H1</a:t>
                      </a:r>
                    </a:p>
                  </a:txBody>
                  <a:tcPr marL="109728" marR="109728" marT="45720" marB="45720" anchor="ctr">
                    <a:solidFill>
                      <a:srgbClr val="F1F2F8"/>
                    </a:solidFill>
                  </a:tcPr>
                </a:tc>
                <a:tc>
                  <a:txBody>
                    <a:bodyPr/>
                    <a:lstStyle/>
                    <a:p>
                      <a:r>
                        <a:rPr sz="1800" i="0" b="0">
                          <a:solidFill>
                            <a:srgbClr val="1A1F36"/>
                          </a:solidFill>
                          <a:latin typeface="Calibri"/>
                        </a:rPr>
                        <a:t>Sedation, weight gain</a:t>
                      </a:r>
                    </a:p>
                  </a:txBody>
                  <a:tcPr marL="109728" marR="109728" marT="45720" marB="45720" anchor="ctr">
                    <a:solidFill>
                      <a:srgbClr val="F1F2F8"/>
                    </a:solidFill>
                  </a:tcPr>
                </a:tc>
                <a:tc>
                  <a:txBody>
                    <a:bodyPr/>
                    <a:lstStyle/>
                    <a:p>
                      <a:r>
                        <a:rPr sz="1800" i="0" b="0">
                          <a:solidFill>
                            <a:srgbClr val="1A1F36"/>
                          </a:solidFill>
                          <a:latin typeface="Calibri"/>
                        </a:rPr>
                        <a:t>TCAs, mirtazapine, trazodone</a:t>
                      </a:r>
                    </a:p>
                  </a:txBody>
                  <a:tcPr marL="109728" marR="109728" marT="45720" marB="45720" anchor="ctr">
                    <a:solidFill>
                      <a:srgbClr val="F1F2F8"/>
                    </a:solidFill>
                  </a:tcPr>
                </a:tc>
              </a:tr>
              <a:tr h="640080">
                <a:tc>
                  <a:txBody>
                    <a:bodyPr/>
                    <a:lstStyle/>
                    <a:p>
                      <a:r>
                        <a:rPr sz="1800" i="0" b="1">
                          <a:solidFill>
                            <a:srgbClr val="1A1F36"/>
                          </a:solidFill>
                          <a:latin typeface="Calibri"/>
                        </a:rPr>
                        <a:t>Muscarinic</a:t>
                      </a:r>
                    </a:p>
                  </a:txBody>
                  <a:tcPr marL="109728" marR="109728" marT="45720" marB="45720" anchor="ctr">
                    <a:solidFill>
                      <a:srgbClr val="FFFFFF"/>
                    </a:solidFill>
                  </a:tcPr>
                </a:tc>
                <a:tc>
                  <a:txBody>
                    <a:bodyPr/>
                    <a:lstStyle/>
                    <a:p>
                      <a:r>
                        <a:rPr sz="1800" i="0" b="0">
                          <a:solidFill>
                            <a:srgbClr val="1A1F36"/>
                          </a:solidFill>
                          <a:latin typeface="Calibri"/>
                        </a:rPr>
                        <a:t>Dry mouth, constipation, urinary retention, blurred vision, confusion</a:t>
                      </a:r>
                    </a:p>
                  </a:txBody>
                  <a:tcPr marL="109728" marR="109728" marT="45720" marB="45720" anchor="ctr">
                    <a:solidFill>
                      <a:srgbClr val="FFFFFF"/>
                    </a:solidFill>
                  </a:tcPr>
                </a:tc>
                <a:tc>
                  <a:txBody>
                    <a:bodyPr/>
                    <a:lstStyle/>
                    <a:p>
                      <a:r>
                        <a:rPr sz="1800" i="0" b="0">
                          <a:solidFill>
                            <a:srgbClr val="1A1F36"/>
                          </a:solidFill>
                          <a:latin typeface="Calibri"/>
                        </a:rPr>
                        <a:t>TCAs (least with nortriptyline)</a:t>
                      </a:r>
                    </a:p>
                  </a:txBody>
                  <a:tcPr marL="109728" marR="109728" marT="45720" marB="45720" anchor="ctr">
                    <a:solidFill>
                      <a:srgbClr val="FFFFFF"/>
                    </a:solidFill>
                  </a:tcPr>
                </a:tc>
              </a:tr>
              <a:tr h="640080">
                <a:tc>
                  <a:txBody>
                    <a:bodyPr/>
                    <a:lstStyle/>
                    <a:p>
                      <a:r>
                        <a:rPr sz="1800" i="0" b="1">
                          <a:solidFill>
                            <a:srgbClr val="1A1F36"/>
                          </a:solidFill>
                          <a:latin typeface="Calibri"/>
                        </a:rPr>
                        <a:t>Cardiac Na+ channels</a:t>
                      </a:r>
                    </a:p>
                  </a:txBody>
                  <a:tcPr marL="109728" marR="109728" marT="45720" marB="45720" anchor="ctr">
                    <a:solidFill>
                      <a:srgbClr val="F1F2F8"/>
                    </a:solidFill>
                  </a:tcPr>
                </a:tc>
                <a:tc>
                  <a:txBody>
                    <a:bodyPr/>
                    <a:lstStyle/>
                    <a:p>
                      <a:r>
                        <a:rPr sz="1800" i="0" b="0">
                          <a:solidFill>
                            <a:srgbClr val="1A1F36"/>
                          </a:solidFill>
                          <a:latin typeface="Calibri"/>
                        </a:rPr>
                        <a:t>QRS widening, arrhythmia (in overdose)</a:t>
                      </a:r>
                    </a:p>
                  </a:txBody>
                  <a:tcPr marL="109728" marR="109728" marT="45720" marB="45720" anchor="ctr">
                    <a:solidFill>
                      <a:srgbClr val="F1F2F8"/>
                    </a:solidFill>
                  </a:tcPr>
                </a:tc>
                <a:tc>
                  <a:txBody>
                    <a:bodyPr/>
                    <a:lstStyle/>
                    <a:p>
                      <a:r>
                        <a:rPr sz="1800" i="0" b="0">
                          <a:solidFill>
                            <a:srgbClr val="1A1F36"/>
                          </a:solidFill>
                          <a:latin typeface="Calibri"/>
                        </a:rPr>
                        <a:t>TCAs</a:t>
                      </a:r>
                    </a:p>
                  </a:txBody>
                  <a:tcPr marL="109728" marR="109728" marT="45720" marB="45720" anchor="ctr">
                    <a:solidFill>
                      <a:srgbClr val="F1F2F8"/>
                    </a:solidFill>
                  </a:tcPr>
                </a:tc>
              </a:tr>
              <a:tr h="640080">
                <a:tc>
                  <a:txBody>
                    <a:bodyPr/>
                    <a:lstStyle/>
                    <a:p>
                      <a:r>
                        <a:rPr sz="1800" i="0" b="1">
                          <a:solidFill>
                            <a:srgbClr val="1A1F36"/>
                          </a:solidFill>
                          <a:latin typeface="Calibri"/>
                        </a:rPr>
                        <a:t>5-HT (raised serotonin)</a:t>
                      </a:r>
                    </a:p>
                  </a:txBody>
                  <a:tcPr marL="109728" marR="109728" marT="45720" marB="45720" anchor="ctr">
                    <a:solidFill>
                      <a:srgbClr val="FFFFFF"/>
                    </a:solidFill>
                  </a:tcPr>
                </a:tc>
                <a:tc>
                  <a:txBody>
                    <a:bodyPr/>
                    <a:lstStyle/>
                    <a:p>
                      <a:r>
                        <a:rPr sz="1800" i="0" b="0">
                          <a:solidFill>
                            <a:srgbClr val="1A1F36"/>
                          </a:solidFill>
                          <a:latin typeface="Calibri"/>
                        </a:rPr>
                        <a:t>Nausea, sexual dysfunction, insomnia</a:t>
                      </a:r>
                    </a:p>
                  </a:txBody>
                  <a:tcPr marL="109728" marR="109728" marT="45720" marB="45720" anchor="ctr">
                    <a:solidFill>
                      <a:srgbClr val="FFFFFF"/>
                    </a:solidFill>
                  </a:tcPr>
                </a:tc>
                <a:tc>
                  <a:txBody>
                    <a:bodyPr/>
                    <a:lstStyle/>
                    <a:p>
                      <a:r>
                        <a:rPr sz="1800" i="0" b="0">
                          <a:solidFill>
                            <a:srgbClr val="1A1F36"/>
                          </a:solidFill>
                          <a:latin typeface="Calibri"/>
                        </a:rPr>
                        <a:t>SSRIs, SNRIs</a:t>
                      </a:r>
                    </a:p>
                  </a:txBody>
                  <a:tcPr marL="109728" marR="109728" marT="45720" marB="45720" anchor="ctr">
                    <a:solidFill>
                      <a:srgbClr val="FFFFFF"/>
                    </a:solidFill>
                  </a:tcPr>
                </a:tc>
              </a:tr>
            </a:tbl>
          </a:graphicData>
        </a:graphic>
      </p:graphicFrame>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E8EAF4"/>
        </a:solidFill>
        <a:effectLst/>
      </p:bgPr>
    </p:bg>
    <p:spTree>
      <p:nvGrpSpPr>
        <p:cNvPr id="1" name=""/>
        <p:cNvGrpSpPr/>
        <p:nvPr/>
      </p:nvGrpSpPr>
      <p:grpSpPr/>
      <p:pic>
        <p:nvPicPr>
          <p:cNvPr id="2" name="Picture 1" descr=""/>
          <p:cNvPicPr>
            <a:picLocks noChangeAspect="1"/>
          </p:cNvPicPr>
          <p:nvPr/>
        </p:nvPicPr>
        <p:blipFill>
          <a:blip r:embed="rId3"/>
          <a:stretch>
            <a:fillRect/>
          </a:stretch>
        </p:blipFill>
        <p:spPr>
          <a:xfrm>
            <a:off x="0" y="0"/>
            <a:ext cx="12191695" cy="6858000"/>
          </a:xfrm>
          <a:prstGeom prst="rect">
            <a:avLst/>
          </a:prstGeom>
        </p:spPr>
      </p:pic>
      <p:sp>
        <p:nvSpPr>
          <p:cNvPr id="3" name="Rectangle 2"/>
          <p:cNvSpPr/>
          <p:nvPr/>
        </p:nvSpPr>
        <p:spPr>
          <a:xfrm>
            <a:off x="0" y="0"/>
            <a:ext cx="3931920" cy="6858000"/>
          </a:xfrm>
          <a:prstGeom prst="rect">
            <a:avLst/>
          </a:prstGeom>
          <a:solidFill>
            <a:srgbClr val="8D6A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188720"/>
            <a:ext cx="2926080" cy="2377440"/>
          </a:xfrm>
          <a:prstGeom prst="rect">
            <a:avLst/>
          </a:prstGeom>
          <a:noFill/>
        </p:spPr>
        <p:txBody>
          <a:bodyPr wrap="square" anchor="t" lIns="0" rIns="0" tIns="0" bIns="0">
            <a:spAutoFit/>
          </a:bodyPr>
          <a:lstStyle/>
          <a:p>
            <a:r>
              <a:rPr sz="13000" i="0" b="1">
                <a:solidFill>
                  <a:srgbClr val="F9F8F4"/>
                </a:solidFill>
                <a:latin typeface="Cambria"/>
              </a:rPr>
              <a:t>℞</a:t>
            </a:r>
          </a:p>
        </p:txBody>
      </p:sp>
      <p:sp>
        <p:nvSpPr>
          <p:cNvPr id="5" name="TextBox 4"/>
          <p:cNvSpPr txBox="1"/>
          <p:nvPr/>
        </p:nvSpPr>
        <p:spPr>
          <a:xfrm>
            <a:off x="548640" y="3977639"/>
            <a:ext cx="3017520" cy="1280160"/>
          </a:xfrm>
          <a:prstGeom prst="rect">
            <a:avLst/>
          </a:prstGeom>
          <a:noFill/>
        </p:spPr>
        <p:txBody>
          <a:bodyPr wrap="square" anchor="t" lIns="0" rIns="0" tIns="0" bIns="0">
            <a:spAutoFit/>
          </a:bodyPr>
          <a:lstStyle/>
          <a:p>
            <a:r>
              <a:rPr sz="3000" i="0" b="1">
                <a:solidFill>
                  <a:srgbClr val="FFFFFF"/>
                </a:solidFill>
                <a:latin typeface="Cambria"/>
              </a:rPr>
              <a:t>Clinical Pearl</a:t>
            </a:r>
          </a:p>
          <a:p>
            <a:r>
              <a:rPr sz="1400" i="0" b="1" spc="150">
                <a:solidFill>
                  <a:srgbClr val="F9F8F4"/>
                </a:solidFill>
                <a:latin typeface="Calibri"/>
              </a:rPr>
              <a:t>Section 4</a:t>
            </a:r>
          </a:p>
        </p:txBody>
      </p:sp>
      <p:sp>
        <p:nvSpPr>
          <p:cNvPr id="6" name="TextBox 5"/>
          <p:cNvSpPr txBox="1"/>
          <p:nvPr/>
        </p:nvSpPr>
        <p:spPr>
          <a:xfrm>
            <a:off x="4526280" y="822960"/>
            <a:ext cx="7132320" cy="5120640"/>
          </a:xfrm>
          <a:prstGeom prst="rect">
            <a:avLst/>
          </a:prstGeom>
          <a:noFill/>
        </p:spPr>
        <p:txBody>
          <a:bodyPr wrap="square" anchor="ctr" lIns="0" rIns="0" tIns="0" bIns="0">
            <a:spAutoFit/>
          </a:bodyPr>
          <a:lstStyle/>
          <a:p>
            <a:pPr>
              <a:spcBef>
                <a:spcPts val="0"/>
              </a:spcBef>
            </a:pPr>
            <a:r>
              <a:rPr sz="2200" i="0" b="0">
                <a:solidFill>
                  <a:srgbClr val="1A1F36"/>
                </a:solidFill>
                <a:latin typeface="Calibri"/>
              </a:rPr>
              <a:t>Postural hypotension and sedation are </a:t>
            </a:r>
            <a:r>
              <a:rPr sz="2200" i="0" b="1">
                <a:solidFill>
                  <a:srgbClr val="1A1F36"/>
                </a:solidFill>
                <a:latin typeface="Calibri"/>
              </a:rPr>
              <a:t>not</a:t>
            </a:r>
            <a:r>
              <a:rPr sz="2200" i="0" b="0">
                <a:solidFill>
                  <a:srgbClr val="1A1F36"/>
                </a:solidFill>
                <a:latin typeface="Calibri"/>
              </a:rPr>
              <a:t> effects of all antidepressants. They come from α1 and H1 block. They are common with TCAs, mirtazapine and trazodone, and uncommon with SSRIs.</a:t>
            </a:r>
          </a:p>
        </p:txBody>
      </p:sp>
      <p:sp>
        <p:nvSpPr>
          <p:cNvPr id="7" name="TextBox 6"/>
          <p:cNvSpPr txBox="1"/>
          <p:nvPr/>
        </p:nvSpPr>
        <p:spPr>
          <a:xfrm>
            <a:off x="4526280" y="6419088"/>
            <a:ext cx="8229600" cy="274320"/>
          </a:xfrm>
          <a:prstGeom prst="rect">
            <a:avLst/>
          </a:prstGeom>
          <a:noFill/>
        </p:spPr>
        <p:txBody>
          <a:bodyPr wrap="square" anchor="t" lIns="0" rIns="0" tIns="0" bIns="0">
            <a:spAutoFit/>
          </a:bodyPr>
          <a:lstStyle/>
          <a:p>
            <a:r>
              <a:rPr sz="1200" i="0" b="0">
                <a:solidFill>
                  <a:srgbClr val="5A6072"/>
                </a:solidFill>
                <a:latin typeface="Calibri"/>
              </a:rPr>
              <a:t>Practical Pharmacology of the Central Nervous System  ·  Depression and Antidepressant Drugs</a:t>
            </a:r>
          </a:p>
        </p:txBody>
      </p:sp>
      <p:sp>
        <p:nvSpPr>
          <p:cNvPr id="8" name="TextBox 7"/>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5A6072"/>
                </a:solidFill>
                <a:latin typeface="Calibri"/>
              </a:rPr>
              <a:t>11 / 25</a:t>
            </a:r>
          </a:p>
        </p:txBody>
      </p:sp>
      <p:pic>
        <p:nvPicPr>
          <p:cNvPr id="9" name="Picture 8" descr="logo"/>
          <p:cNvPicPr>
            <a:picLocks noChangeAspect="1"/>
          </p:cNvPicPr>
          <p:nvPr/>
        </p:nvPicPr>
        <p:blipFill>
          <a:blip r:embed="rId4"/>
          <a:stretch>
            <a:fillRect/>
          </a:stretch>
        </p:blipFill>
        <p:spPr>
          <a:xfrm>
            <a:off x="11247120" y="6309360"/>
            <a:ext cx="384048" cy="384048"/>
          </a:xfrm>
          <a:prstGeom prst="rect">
            <a:avLst/>
          </a:prstGeom>
        </p:spPr>
      </p:pic>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E8EAF4"/>
        </a:solidFill>
        <a:effectLst/>
      </p:bgPr>
    </p:bg>
    <p:spTree>
      <p:nvGrpSpPr>
        <p:cNvPr id="1" name=""/>
        <p:cNvGrpSpPr/>
        <p:nvPr/>
      </p:nvGrpSpPr>
      <p:grpSpPr/>
      <p:pic>
        <p:nvPicPr>
          <p:cNvPr id="2" name="Picture 1" descr=""/>
          <p:cNvPicPr>
            <a:picLocks noChangeAspect="1"/>
          </p:cNvPicPr>
          <p:nvPr/>
        </p:nvPicPr>
        <p:blipFill>
          <a:blip r:embed="rId3"/>
          <a:stretch>
            <a:fillRect/>
          </a:stretch>
        </p:blipFill>
        <p:spPr>
          <a:xfrm>
            <a:off x="0" y="0"/>
            <a:ext cx="12191695" cy="6858000"/>
          </a:xfrm>
          <a:prstGeom prst="rect">
            <a:avLst/>
          </a:prstGeom>
        </p:spPr>
      </p:pic>
      <p:sp>
        <p:nvSpPr>
          <p:cNvPr id="3" name="Rounded Rectangle 2"/>
          <p:cNvSpPr/>
          <p:nvPr/>
        </p:nvSpPr>
        <p:spPr>
          <a:xfrm>
            <a:off x="411479" y="274320"/>
            <a:ext cx="11368735" cy="1097280"/>
          </a:xfrm>
          <a:prstGeom prst="roundRect">
            <a:avLst>
              <a:gd name="adj" fmla="val 14000"/>
            </a:avLst>
          </a:prstGeom>
          <a:solidFill>
            <a:srgbClr val="FFFFFF">
              <a:alpha val="70000"/>
            </a:srgbClr>
          </a:solidFill>
          <a:ln w="28575">
            <a:solidFill>
              <a:srgbClr val="1B2A8C"/>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31519" y="338328"/>
            <a:ext cx="10728655" cy="32004"/>
          </a:xfrm>
          <a:prstGeom prst="roundRect">
            <a:avLst>
              <a:gd name="adj" fmla="val 50000"/>
            </a:avLst>
          </a:prstGeom>
          <a:solidFill>
            <a:srgbClr val="FFFFFF">
              <a:alpha val="8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640080" y="493776"/>
            <a:ext cx="658368" cy="658368"/>
          </a:xfrm>
          <a:prstGeom prst="ellipse">
            <a:avLst/>
          </a:prstGeom>
          <a:solidFill>
            <a:srgbClr val="8D6A2A"/>
          </a:solidFill>
          <a:ln>
            <a:noFill/>
          </a:ln>
          <a:effectLst>
            <a:outerShdw blurRad="203200" dist="50800" dir="5400000" algn="t" rotWithShape="0">
              <a:srgbClr val="1A2340">
                <a:alpha val="20000"/>
              </a:srgbClr>
            </a:outerShdw>
          </a:effectLst>
          <a:scene3d>
            <a:camera prst="orthographicFront"/>
            <a:lightRig rig="threePt" dir="t"/>
          </a:scene3d>
          <a:sp3d>
            <a:bevelT w="44450" h="25400" prst="softRound"/>
          </a:sp3d>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800" i="0" b="1">
                <a:solidFill>
                  <a:srgbClr val="FFFFFF"/>
                </a:solidFill>
                <a:latin typeface="Cambria"/>
              </a:rPr>
              <a:t>04</a:t>
            </a:r>
          </a:p>
        </p:txBody>
      </p:sp>
      <p:sp>
        <p:nvSpPr>
          <p:cNvPr id="6" name="TextBox 5"/>
          <p:cNvSpPr txBox="1"/>
          <p:nvPr/>
        </p:nvSpPr>
        <p:spPr>
          <a:xfrm>
            <a:off x="1554480" y="402336"/>
            <a:ext cx="9905695" cy="274320"/>
          </a:xfrm>
          <a:prstGeom prst="rect">
            <a:avLst/>
          </a:prstGeom>
          <a:noFill/>
        </p:spPr>
        <p:txBody>
          <a:bodyPr wrap="square" anchor="t" lIns="0" rIns="0" tIns="0" bIns="0">
            <a:spAutoFit/>
          </a:bodyPr>
          <a:lstStyle/>
          <a:p>
            <a:r>
              <a:rPr sz="1200" i="0" b="1" spc="150">
                <a:solidFill>
                  <a:srgbClr val="826227"/>
                </a:solidFill>
                <a:latin typeface="Calibri"/>
              </a:rPr>
              <a:t>SECTION 4</a:t>
            </a:r>
          </a:p>
        </p:txBody>
      </p:sp>
      <p:sp>
        <p:nvSpPr>
          <p:cNvPr id="7" name="TextBox 6"/>
          <p:cNvSpPr txBox="1"/>
          <p:nvPr/>
        </p:nvSpPr>
        <p:spPr>
          <a:xfrm>
            <a:off x="1554480" y="658368"/>
            <a:ext cx="9905695" cy="640080"/>
          </a:xfrm>
          <a:prstGeom prst="rect">
            <a:avLst/>
          </a:prstGeom>
          <a:noFill/>
        </p:spPr>
        <p:txBody>
          <a:bodyPr wrap="square" anchor="ctr" lIns="0" rIns="0" tIns="0" bIns="0">
            <a:spAutoFit/>
          </a:bodyPr>
          <a:lstStyle/>
          <a:p>
            <a:r>
              <a:rPr sz="3000" i="0" b="1">
                <a:solidFill>
                  <a:srgbClr val="1B2A8C"/>
                </a:solidFill>
                <a:latin typeface="Cambria"/>
              </a:rPr>
              <a:t>Serotonin syndrome</a:t>
            </a:r>
          </a:p>
        </p:txBody>
      </p:sp>
      <p:sp>
        <p:nvSpPr>
          <p:cNvPr id="8" name="TextBox 7"/>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5A6072"/>
                </a:solidFill>
                <a:latin typeface="Calibri"/>
              </a:rPr>
              <a:t>Practical Pharmacology of the Central Nervous System  ·  Section 4  ·  Depression and Antidepressant Drugs</a:t>
            </a:r>
          </a:p>
        </p:txBody>
      </p:sp>
      <p:sp>
        <p:nvSpPr>
          <p:cNvPr id="9" name="TextBox 8"/>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5A6072"/>
                </a:solidFill>
                <a:latin typeface="Calibri"/>
              </a:rPr>
              <a:t>12 / 25</a:t>
            </a:r>
          </a:p>
        </p:txBody>
      </p:sp>
      <p:pic>
        <p:nvPicPr>
          <p:cNvPr id="10" name="Picture 9" descr="logo"/>
          <p:cNvPicPr>
            <a:picLocks noChangeAspect="1"/>
          </p:cNvPicPr>
          <p:nvPr/>
        </p:nvPicPr>
        <p:blipFill>
          <a:blip r:embed="rId4"/>
          <a:stretch>
            <a:fillRect/>
          </a:stretch>
        </p:blipFill>
        <p:spPr>
          <a:xfrm>
            <a:off x="11247120" y="6309360"/>
            <a:ext cx="384048" cy="384048"/>
          </a:xfrm>
          <a:prstGeom prst="rect">
            <a:avLst/>
          </a:prstGeom>
        </p:spPr>
      </p:pic>
      <p:sp>
        <p:nvSpPr>
          <p:cNvPr id="11" name="TextBox 10"/>
          <p:cNvSpPr txBox="1"/>
          <p:nvPr/>
        </p:nvSpPr>
        <p:spPr>
          <a:xfrm>
            <a:off x="548640" y="1554480"/>
            <a:ext cx="11094415" cy="795528"/>
          </a:xfrm>
          <a:prstGeom prst="rect">
            <a:avLst/>
          </a:prstGeom>
          <a:noFill/>
        </p:spPr>
        <p:txBody>
          <a:bodyPr wrap="square" anchor="t" lIns="0" rIns="0" tIns="0" bIns="0">
            <a:spAutoFit/>
          </a:bodyPr>
          <a:lstStyle/>
          <a:p>
            <a:pPr>
              <a:spcAft>
                <a:spcPts val="800"/>
              </a:spcAft>
            </a:pPr>
            <a:r>
              <a:rPr sz="1800" i="0" b="0">
                <a:solidFill>
                  <a:srgbClr val="1A1F36"/>
                </a:solidFill>
                <a:latin typeface="Calibri"/>
              </a:rPr>
              <a:t>Serotonin syndrome is caused by too much serotonin, usually from two serotonergic drugs together. It has three groups of features:</a:t>
            </a:r>
          </a:p>
        </p:txBody>
      </p:sp>
      <p:sp>
        <p:nvSpPr>
          <p:cNvPr id="12" name="Oval 11"/>
          <p:cNvSpPr/>
          <p:nvPr/>
        </p:nvSpPr>
        <p:spPr>
          <a:xfrm>
            <a:off x="548640" y="2551175"/>
            <a:ext cx="402336" cy="402336"/>
          </a:xfrm>
          <a:prstGeom prst="ellipse">
            <a:avLst/>
          </a:prstGeom>
          <a:solidFill>
            <a:srgbClr val="F9F8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8D6A2A"/>
                </a:solidFill>
                <a:latin typeface="Calibri"/>
              </a:rPr>
              <a:t>1</a:t>
            </a:r>
          </a:p>
        </p:txBody>
      </p:sp>
      <p:sp>
        <p:nvSpPr>
          <p:cNvPr id="13" name="TextBox 12"/>
          <p:cNvSpPr txBox="1"/>
          <p:nvPr/>
        </p:nvSpPr>
        <p:spPr>
          <a:xfrm>
            <a:off x="1143000" y="2569463"/>
            <a:ext cx="10500055" cy="808863"/>
          </a:xfrm>
          <a:prstGeom prst="rect">
            <a:avLst/>
          </a:prstGeom>
          <a:noFill/>
        </p:spPr>
        <p:txBody>
          <a:bodyPr wrap="square" anchor="t" lIns="0" rIns="0" tIns="0" bIns="0">
            <a:spAutoFit/>
          </a:bodyPr>
          <a:lstStyle/>
          <a:p>
            <a:r>
              <a:rPr sz="2100" i="0" b="1">
                <a:solidFill>
                  <a:srgbClr val="1A1F36"/>
                </a:solidFill>
                <a:latin typeface="Calibri"/>
              </a:rPr>
              <a:t>Mental change:</a:t>
            </a:r>
            <a:r>
              <a:rPr sz="2100" i="0" b="0">
                <a:solidFill>
                  <a:srgbClr val="1A1F36"/>
                </a:solidFill>
                <a:latin typeface="Calibri"/>
              </a:rPr>
              <a:t> agitation, confusion.</a:t>
            </a:r>
          </a:p>
        </p:txBody>
      </p:sp>
      <p:sp>
        <p:nvSpPr>
          <p:cNvPr id="14" name="Oval 13"/>
          <p:cNvSpPr/>
          <p:nvPr/>
        </p:nvSpPr>
        <p:spPr>
          <a:xfrm>
            <a:off x="548640" y="3405758"/>
            <a:ext cx="402336" cy="402336"/>
          </a:xfrm>
          <a:prstGeom prst="ellipse">
            <a:avLst/>
          </a:prstGeom>
          <a:solidFill>
            <a:srgbClr val="F9F8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8D6A2A"/>
                </a:solidFill>
                <a:latin typeface="Calibri"/>
              </a:rPr>
              <a:t>2</a:t>
            </a:r>
          </a:p>
        </p:txBody>
      </p:sp>
      <p:sp>
        <p:nvSpPr>
          <p:cNvPr id="15" name="TextBox 14"/>
          <p:cNvSpPr txBox="1"/>
          <p:nvPr/>
        </p:nvSpPr>
        <p:spPr>
          <a:xfrm>
            <a:off x="1143000" y="3424046"/>
            <a:ext cx="10500055" cy="808863"/>
          </a:xfrm>
          <a:prstGeom prst="rect">
            <a:avLst/>
          </a:prstGeom>
          <a:noFill/>
        </p:spPr>
        <p:txBody>
          <a:bodyPr wrap="square" anchor="t" lIns="0" rIns="0" tIns="0" bIns="0">
            <a:spAutoFit/>
          </a:bodyPr>
          <a:lstStyle/>
          <a:p>
            <a:r>
              <a:rPr sz="2100" i="0" b="1">
                <a:solidFill>
                  <a:srgbClr val="1A1F36"/>
                </a:solidFill>
                <a:latin typeface="Calibri"/>
              </a:rPr>
              <a:t>Autonomic instability:</a:t>
            </a:r>
            <a:r>
              <a:rPr sz="2100" i="0" b="0">
                <a:solidFill>
                  <a:srgbClr val="1A1F36"/>
                </a:solidFill>
                <a:latin typeface="Calibri"/>
              </a:rPr>
              <a:t> hyperthermia, sweating, tachycardia, diarrhoea.</a:t>
            </a:r>
          </a:p>
        </p:txBody>
      </p:sp>
      <p:sp>
        <p:nvSpPr>
          <p:cNvPr id="16" name="Oval 15"/>
          <p:cNvSpPr/>
          <p:nvPr/>
        </p:nvSpPr>
        <p:spPr>
          <a:xfrm>
            <a:off x="548640" y="4260341"/>
            <a:ext cx="402336" cy="402336"/>
          </a:xfrm>
          <a:prstGeom prst="ellipse">
            <a:avLst/>
          </a:prstGeom>
          <a:solidFill>
            <a:srgbClr val="F9F8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8D6A2A"/>
                </a:solidFill>
                <a:latin typeface="Calibri"/>
              </a:rPr>
              <a:t>3</a:t>
            </a:r>
          </a:p>
        </p:txBody>
      </p:sp>
      <p:sp>
        <p:nvSpPr>
          <p:cNvPr id="17" name="TextBox 16"/>
          <p:cNvSpPr txBox="1"/>
          <p:nvPr/>
        </p:nvSpPr>
        <p:spPr>
          <a:xfrm>
            <a:off x="1143000" y="4278630"/>
            <a:ext cx="10500055" cy="1142237"/>
          </a:xfrm>
          <a:prstGeom prst="rect">
            <a:avLst/>
          </a:prstGeom>
          <a:noFill/>
        </p:spPr>
        <p:txBody>
          <a:bodyPr wrap="square" anchor="t" lIns="0" rIns="0" tIns="0" bIns="0">
            <a:spAutoFit/>
          </a:bodyPr>
          <a:lstStyle/>
          <a:p>
            <a:r>
              <a:rPr sz="2100" i="0" b="1">
                <a:solidFill>
                  <a:srgbClr val="1A1F36"/>
                </a:solidFill>
                <a:latin typeface="Calibri"/>
              </a:rPr>
              <a:t>Neuromuscular excitation:</a:t>
            </a:r>
            <a:r>
              <a:rPr sz="2100" i="0" b="0">
                <a:solidFill>
                  <a:srgbClr val="1A1F36"/>
                </a:solidFill>
                <a:latin typeface="Calibri"/>
              </a:rPr>
              <a:t> tremor, hyperreflexia, clonus (especially of the ankles).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E8EAF4"/>
        </a:solidFill>
        <a:effectLst/>
      </p:bgPr>
    </p:bg>
    <p:spTree>
      <p:nvGrpSpPr>
        <p:cNvPr id="1" name=""/>
        <p:cNvGrpSpPr/>
        <p:nvPr/>
      </p:nvGrpSpPr>
      <p:grpSpPr/>
      <p:pic>
        <p:nvPicPr>
          <p:cNvPr id="2" name="Picture 1" descr=""/>
          <p:cNvPicPr>
            <a:picLocks noChangeAspect="1"/>
          </p:cNvPicPr>
          <p:nvPr/>
        </p:nvPicPr>
        <p:blipFill>
          <a:blip r:embed="rId3"/>
          <a:stretch>
            <a:fillRect/>
          </a:stretch>
        </p:blipFill>
        <p:spPr>
          <a:xfrm>
            <a:off x="0" y="0"/>
            <a:ext cx="12191695" cy="6858000"/>
          </a:xfrm>
          <a:prstGeom prst="rect">
            <a:avLst/>
          </a:prstGeom>
        </p:spPr>
      </p:pic>
      <p:sp>
        <p:nvSpPr>
          <p:cNvPr id="3" name="Rounded Rectangle 2"/>
          <p:cNvSpPr/>
          <p:nvPr/>
        </p:nvSpPr>
        <p:spPr>
          <a:xfrm>
            <a:off x="411479" y="274320"/>
            <a:ext cx="11368735" cy="1097280"/>
          </a:xfrm>
          <a:prstGeom prst="roundRect">
            <a:avLst>
              <a:gd name="adj" fmla="val 14000"/>
            </a:avLst>
          </a:prstGeom>
          <a:solidFill>
            <a:srgbClr val="FFFFFF">
              <a:alpha val="70000"/>
            </a:srgbClr>
          </a:solidFill>
          <a:ln w="28575">
            <a:solidFill>
              <a:srgbClr val="1B2A8C"/>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31519" y="338328"/>
            <a:ext cx="10728655" cy="32004"/>
          </a:xfrm>
          <a:prstGeom prst="roundRect">
            <a:avLst>
              <a:gd name="adj" fmla="val 50000"/>
            </a:avLst>
          </a:prstGeom>
          <a:solidFill>
            <a:srgbClr val="FFFFFF">
              <a:alpha val="8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640080" y="493776"/>
            <a:ext cx="658368" cy="658368"/>
          </a:xfrm>
          <a:prstGeom prst="ellipse">
            <a:avLst/>
          </a:prstGeom>
          <a:solidFill>
            <a:srgbClr val="8D6A2A"/>
          </a:solidFill>
          <a:ln>
            <a:noFill/>
          </a:ln>
          <a:effectLst>
            <a:outerShdw blurRad="203200" dist="50800" dir="5400000" algn="t" rotWithShape="0">
              <a:srgbClr val="1A2340">
                <a:alpha val="20000"/>
              </a:srgbClr>
            </a:outerShdw>
          </a:effectLst>
          <a:scene3d>
            <a:camera prst="orthographicFront"/>
            <a:lightRig rig="threePt" dir="t"/>
          </a:scene3d>
          <a:sp3d>
            <a:bevelT w="44450" h="25400" prst="softRound"/>
          </a:sp3d>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800" i="0" b="1">
                <a:solidFill>
                  <a:srgbClr val="FFFFFF"/>
                </a:solidFill>
                <a:latin typeface="Cambria"/>
              </a:rPr>
              <a:t>04</a:t>
            </a:r>
          </a:p>
        </p:txBody>
      </p:sp>
      <p:sp>
        <p:nvSpPr>
          <p:cNvPr id="6" name="TextBox 5"/>
          <p:cNvSpPr txBox="1"/>
          <p:nvPr/>
        </p:nvSpPr>
        <p:spPr>
          <a:xfrm>
            <a:off x="1554480" y="402336"/>
            <a:ext cx="9905695" cy="274320"/>
          </a:xfrm>
          <a:prstGeom prst="rect">
            <a:avLst/>
          </a:prstGeom>
          <a:noFill/>
        </p:spPr>
        <p:txBody>
          <a:bodyPr wrap="square" anchor="t" lIns="0" rIns="0" tIns="0" bIns="0">
            <a:spAutoFit/>
          </a:bodyPr>
          <a:lstStyle/>
          <a:p>
            <a:r>
              <a:rPr sz="1200" i="0" b="1" spc="150">
                <a:solidFill>
                  <a:srgbClr val="826227"/>
                </a:solidFill>
                <a:latin typeface="Calibri"/>
              </a:rPr>
              <a:t>SECTION 4</a:t>
            </a:r>
          </a:p>
        </p:txBody>
      </p:sp>
      <p:sp>
        <p:nvSpPr>
          <p:cNvPr id="7" name="TextBox 6"/>
          <p:cNvSpPr txBox="1"/>
          <p:nvPr/>
        </p:nvSpPr>
        <p:spPr>
          <a:xfrm>
            <a:off x="1554480" y="658368"/>
            <a:ext cx="9905695" cy="640080"/>
          </a:xfrm>
          <a:prstGeom prst="rect">
            <a:avLst/>
          </a:prstGeom>
          <a:noFill/>
        </p:spPr>
        <p:txBody>
          <a:bodyPr wrap="square" anchor="ctr" lIns="0" rIns="0" tIns="0" bIns="0">
            <a:spAutoFit/>
          </a:bodyPr>
          <a:lstStyle/>
          <a:p>
            <a:r>
              <a:rPr sz="3000" i="0" b="1">
                <a:solidFill>
                  <a:srgbClr val="1B2A8C"/>
                </a:solidFill>
                <a:latin typeface="Cambria"/>
              </a:rPr>
              <a:t>Serious Toxicity</a:t>
            </a:r>
          </a:p>
        </p:txBody>
      </p:sp>
      <p:sp>
        <p:nvSpPr>
          <p:cNvPr id="8" name="TextBox 7"/>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5A6072"/>
                </a:solidFill>
                <a:latin typeface="Calibri"/>
              </a:rPr>
              <a:t>Practical Pharmacology of the Central Nervous System  ·  Section 4  ·  Depression and Antidepressant Drugs</a:t>
            </a:r>
          </a:p>
        </p:txBody>
      </p:sp>
      <p:sp>
        <p:nvSpPr>
          <p:cNvPr id="9" name="TextBox 8"/>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5A6072"/>
                </a:solidFill>
                <a:latin typeface="Calibri"/>
              </a:rPr>
              <a:t>13 / 25</a:t>
            </a:r>
          </a:p>
        </p:txBody>
      </p:sp>
      <p:pic>
        <p:nvPicPr>
          <p:cNvPr id="10" name="Picture 9" descr="logo"/>
          <p:cNvPicPr>
            <a:picLocks noChangeAspect="1"/>
          </p:cNvPicPr>
          <p:nvPr/>
        </p:nvPicPr>
        <p:blipFill>
          <a:blip r:embed="rId4"/>
          <a:stretch>
            <a:fillRect/>
          </a:stretch>
        </p:blipFill>
        <p:spPr>
          <a:xfrm>
            <a:off x="11247120" y="6309360"/>
            <a:ext cx="384048" cy="384048"/>
          </a:xfrm>
          <a:prstGeom prst="rect">
            <a:avLst/>
          </a:prstGeom>
        </p:spPr>
      </p:pic>
      <p:sp>
        <p:nvSpPr>
          <p:cNvPr id="11" name="Rounded Rectangle 10"/>
          <p:cNvSpPr/>
          <p:nvPr/>
        </p:nvSpPr>
        <p:spPr>
          <a:xfrm>
            <a:off x="1645919" y="2103120"/>
            <a:ext cx="8899855" cy="2794508"/>
          </a:xfrm>
          <a:prstGeom prst="roundRect">
            <a:avLst>
              <a:gd name="adj" fmla="val 6000"/>
            </a:avLst>
          </a:prstGeom>
          <a:solidFill>
            <a:srgbClr val="FBEAEA">
              <a:alpha val="80000"/>
            </a:srgbClr>
          </a:solidFill>
          <a:ln w="19050">
            <a:solidFill>
              <a:srgbClr val="FFFFFF"/>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1965960" y="2167127"/>
            <a:ext cx="8259775" cy="32004"/>
          </a:xfrm>
          <a:prstGeom prst="roundRect">
            <a:avLst>
              <a:gd name="adj" fmla="val 50000"/>
            </a:avLst>
          </a:prstGeom>
          <a:solidFill>
            <a:srgbClr val="FFFFFF">
              <a:alpha val="8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1920239" y="2331720"/>
            <a:ext cx="1074420" cy="347472"/>
          </a:xfrm>
          <a:prstGeom prst="roundRect">
            <a:avLst>
              <a:gd name="adj" fmla="val 50000"/>
            </a:avLst>
          </a:prstGeom>
          <a:solidFill>
            <a:srgbClr val="B3261E"/>
          </a:solidFill>
          <a:ln>
            <a:noFill/>
          </a:ln>
          <a:effectLst>
            <a:outerShdw blurRad="203200" dist="50800" dir="5400000" algn="t" rotWithShape="0">
              <a:srgbClr val="1A2340">
                <a:alpha val="20000"/>
              </a:srgbClr>
            </a:outerShdw>
          </a:effectLst>
          <a:scene3d>
            <a:camera prst="orthographicFront"/>
            <a:lightRig rig="threePt" dir="t"/>
          </a:scene3d>
          <a:sp3d>
            <a:bevelT w="44450" h="25400" prst="softRound"/>
          </a:sp3d>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i="0" b="1">
                <a:solidFill>
                  <a:srgbClr val="FFFFFF"/>
                </a:solidFill>
                <a:latin typeface="Calibri"/>
              </a:rPr>
              <a:t>CAUTION</a:t>
            </a:r>
          </a:p>
        </p:txBody>
      </p:sp>
      <p:sp>
        <p:nvSpPr>
          <p:cNvPr id="14" name="TextBox 13"/>
          <p:cNvSpPr txBox="1"/>
          <p:nvPr/>
        </p:nvSpPr>
        <p:spPr>
          <a:xfrm>
            <a:off x="1920239" y="2788920"/>
            <a:ext cx="8351215" cy="1925827"/>
          </a:xfrm>
          <a:prstGeom prst="rect">
            <a:avLst/>
          </a:prstGeom>
          <a:noFill/>
        </p:spPr>
        <p:txBody>
          <a:bodyPr wrap="square" anchor="t" lIns="0" rIns="0" tIns="0" bIns="0">
            <a:spAutoFit/>
          </a:bodyPr>
          <a:lstStyle/>
          <a:p>
            <a:pPr>
              <a:spcBef>
                <a:spcPts val="0"/>
              </a:spcBef>
            </a:pPr>
            <a:r>
              <a:rPr sz="2200" i="0" b="0">
                <a:solidFill>
                  <a:srgbClr val="1A1F36"/>
                </a:solidFill>
                <a:latin typeface="Calibri"/>
              </a:rPr>
              <a:t>Allow a washout before switching between an MAO inhibitor and another serotonergic antidepressant. Wait 2 weeks after stopping phenelzine or tranylcypromine. Wait 5 weeks after stopping fluoxetine, because its active metabolite lasts a long time.</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E8EAF4"/>
        </a:solidFill>
        <a:effectLst/>
      </p:bgPr>
    </p:bg>
    <p:spTree>
      <p:nvGrpSpPr>
        <p:cNvPr id="1" name=""/>
        <p:cNvGrpSpPr/>
        <p:nvPr/>
      </p:nvGrpSpPr>
      <p:grpSpPr/>
      <p:pic>
        <p:nvPicPr>
          <p:cNvPr id="2" name="Picture 1" descr=""/>
          <p:cNvPicPr>
            <a:picLocks noChangeAspect="1"/>
          </p:cNvPicPr>
          <p:nvPr/>
        </p:nvPicPr>
        <p:blipFill>
          <a:blip r:embed="rId3"/>
          <a:stretch>
            <a:fillRect/>
          </a:stretch>
        </p:blipFill>
        <p:spPr>
          <a:xfrm>
            <a:off x="0" y="0"/>
            <a:ext cx="12191695" cy="6858000"/>
          </a:xfrm>
          <a:prstGeom prst="rect">
            <a:avLst/>
          </a:prstGeom>
        </p:spPr>
      </p:pic>
      <p:sp>
        <p:nvSpPr>
          <p:cNvPr id="3" name="Rounded Rectangle 2"/>
          <p:cNvSpPr/>
          <p:nvPr/>
        </p:nvSpPr>
        <p:spPr>
          <a:xfrm>
            <a:off x="411479" y="274320"/>
            <a:ext cx="11368735" cy="1097280"/>
          </a:xfrm>
          <a:prstGeom prst="roundRect">
            <a:avLst>
              <a:gd name="adj" fmla="val 14000"/>
            </a:avLst>
          </a:prstGeom>
          <a:solidFill>
            <a:srgbClr val="FFFFFF">
              <a:alpha val="70000"/>
            </a:srgbClr>
          </a:solidFill>
          <a:ln w="28575">
            <a:solidFill>
              <a:srgbClr val="1B2A8C"/>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31519" y="338328"/>
            <a:ext cx="10728655" cy="32004"/>
          </a:xfrm>
          <a:prstGeom prst="roundRect">
            <a:avLst>
              <a:gd name="adj" fmla="val 50000"/>
            </a:avLst>
          </a:prstGeom>
          <a:solidFill>
            <a:srgbClr val="FFFFFF">
              <a:alpha val="8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640080" y="493776"/>
            <a:ext cx="658368" cy="658368"/>
          </a:xfrm>
          <a:prstGeom prst="ellipse">
            <a:avLst/>
          </a:prstGeom>
          <a:solidFill>
            <a:srgbClr val="8D6A2A"/>
          </a:solidFill>
          <a:ln>
            <a:noFill/>
          </a:ln>
          <a:effectLst>
            <a:outerShdw blurRad="203200" dist="50800" dir="5400000" algn="t" rotWithShape="0">
              <a:srgbClr val="1A2340">
                <a:alpha val="20000"/>
              </a:srgbClr>
            </a:outerShdw>
          </a:effectLst>
          <a:scene3d>
            <a:camera prst="orthographicFront"/>
            <a:lightRig rig="threePt" dir="t"/>
          </a:scene3d>
          <a:sp3d>
            <a:bevelT w="44450" h="25400" prst="softRound"/>
          </a:sp3d>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800" i="0" b="1">
                <a:solidFill>
                  <a:srgbClr val="FFFFFF"/>
                </a:solidFill>
                <a:latin typeface="Cambria"/>
              </a:rPr>
              <a:t>04</a:t>
            </a:r>
          </a:p>
        </p:txBody>
      </p:sp>
      <p:sp>
        <p:nvSpPr>
          <p:cNvPr id="6" name="TextBox 5"/>
          <p:cNvSpPr txBox="1"/>
          <p:nvPr/>
        </p:nvSpPr>
        <p:spPr>
          <a:xfrm>
            <a:off x="1554480" y="402336"/>
            <a:ext cx="9905695" cy="274320"/>
          </a:xfrm>
          <a:prstGeom prst="rect">
            <a:avLst/>
          </a:prstGeom>
          <a:noFill/>
        </p:spPr>
        <p:txBody>
          <a:bodyPr wrap="square" anchor="t" lIns="0" rIns="0" tIns="0" bIns="0">
            <a:spAutoFit/>
          </a:bodyPr>
          <a:lstStyle/>
          <a:p>
            <a:r>
              <a:rPr sz="1200" i="0" b="1" spc="150">
                <a:solidFill>
                  <a:srgbClr val="826227"/>
                </a:solidFill>
                <a:latin typeface="Calibri"/>
              </a:rPr>
              <a:t>SECTION 4</a:t>
            </a:r>
          </a:p>
        </p:txBody>
      </p:sp>
      <p:sp>
        <p:nvSpPr>
          <p:cNvPr id="7" name="TextBox 6"/>
          <p:cNvSpPr txBox="1"/>
          <p:nvPr/>
        </p:nvSpPr>
        <p:spPr>
          <a:xfrm>
            <a:off x="1554480" y="658368"/>
            <a:ext cx="9905695" cy="640080"/>
          </a:xfrm>
          <a:prstGeom prst="rect">
            <a:avLst/>
          </a:prstGeom>
          <a:noFill/>
        </p:spPr>
        <p:txBody>
          <a:bodyPr wrap="square" anchor="ctr" lIns="0" rIns="0" tIns="0" bIns="0">
            <a:spAutoFit/>
          </a:bodyPr>
          <a:lstStyle/>
          <a:p>
            <a:r>
              <a:rPr sz="3000" i="0" b="1">
                <a:solidFill>
                  <a:srgbClr val="1B2A8C"/>
                </a:solidFill>
                <a:latin typeface="Cambria"/>
              </a:rPr>
              <a:t>Serious Toxicity</a:t>
            </a:r>
          </a:p>
        </p:txBody>
      </p:sp>
      <p:sp>
        <p:nvSpPr>
          <p:cNvPr id="8" name="TextBox 7"/>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5A6072"/>
                </a:solidFill>
                <a:latin typeface="Calibri"/>
              </a:rPr>
              <a:t>Practical Pharmacology of the Central Nervous System  ·  Section 4  ·  Depression and Antidepressant Drugs</a:t>
            </a:r>
          </a:p>
        </p:txBody>
      </p:sp>
      <p:sp>
        <p:nvSpPr>
          <p:cNvPr id="9" name="TextBox 8"/>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5A6072"/>
                </a:solidFill>
                <a:latin typeface="Calibri"/>
              </a:rPr>
              <a:t>14 / 25</a:t>
            </a:r>
          </a:p>
        </p:txBody>
      </p:sp>
      <p:pic>
        <p:nvPicPr>
          <p:cNvPr id="10" name="Picture 9" descr="logo"/>
          <p:cNvPicPr>
            <a:picLocks noChangeAspect="1"/>
          </p:cNvPicPr>
          <p:nvPr/>
        </p:nvPicPr>
        <p:blipFill>
          <a:blip r:embed="rId4"/>
          <a:stretch>
            <a:fillRect/>
          </a:stretch>
        </p:blipFill>
        <p:spPr>
          <a:xfrm>
            <a:off x="11247120" y="6309360"/>
            <a:ext cx="384048" cy="384048"/>
          </a:xfrm>
          <a:prstGeom prst="rect">
            <a:avLst/>
          </a:prstGeom>
        </p:spPr>
      </p:pic>
      <p:sp>
        <p:nvSpPr>
          <p:cNvPr id="11" name="Rounded Rectangle 10"/>
          <p:cNvSpPr/>
          <p:nvPr/>
        </p:nvSpPr>
        <p:spPr>
          <a:xfrm>
            <a:off x="1645919" y="2103120"/>
            <a:ext cx="8899855" cy="2794508"/>
          </a:xfrm>
          <a:prstGeom prst="roundRect">
            <a:avLst>
              <a:gd name="adj" fmla="val 6000"/>
            </a:avLst>
          </a:prstGeom>
          <a:solidFill>
            <a:srgbClr val="FBEAEA">
              <a:alpha val="80000"/>
            </a:srgbClr>
          </a:solidFill>
          <a:ln w="19050">
            <a:solidFill>
              <a:srgbClr val="FFFFFF"/>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1965960" y="2167127"/>
            <a:ext cx="8259775" cy="32004"/>
          </a:xfrm>
          <a:prstGeom prst="roundRect">
            <a:avLst>
              <a:gd name="adj" fmla="val 50000"/>
            </a:avLst>
          </a:prstGeom>
          <a:solidFill>
            <a:srgbClr val="FFFFFF">
              <a:alpha val="8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1920239" y="2331720"/>
            <a:ext cx="1074420" cy="347472"/>
          </a:xfrm>
          <a:prstGeom prst="roundRect">
            <a:avLst>
              <a:gd name="adj" fmla="val 50000"/>
            </a:avLst>
          </a:prstGeom>
          <a:solidFill>
            <a:srgbClr val="B3261E"/>
          </a:solidFill>
          <a:ln>
            <a:noFill/>
          </a:ln>
          <a:effectLst>
            <a:outerShdw blurRad="203200" dist="50800" dir="5400000" algn="t" rotWithShape="0">
              <a:srgbClr val="1A2340">
                <a:alpha val="20000"/>
              </a:srgbClr>
            </a:outerShdw>
          </a:effectLst>
          <a:scene3d>
            <a:camera prst="orthographicFront"/>
            <a:lightRig rig="threePt" dir="t"/>
          </a:scene3d>
          <a:sp3d>
            <a:bevelT w="44450" h="25400" prst="softRound"/>
          </a:sp3d>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i="0" b="1">
                <a:solidFill>
                  <a:srgbClr val="FFFFFF"/>
                </a:solidFill>
                <a:latin typeface="Calibri"/>
              </a:rPr>
              <a:t>CAUTION</a:t>
            </a:r>
          </a:p>
        </p:txBody>
      </p:sp>
      <p:sp>
        <p:nvSpPr>
          <p:cNvPr id="14" name="TextBox 13"/>
          <p:cNvSpPr txBox="1"/>
          <p:nvPr/>
        </p:nvSpPr>
        <p:spPr>
          <a:xfrm>
            <a:off x="1920239" y="2788920"/>
            <a:ext cx="8351215" cy="1925827"/>
          </a:xfrm>
          <a:prstGeom prst="rect">
            <a:avLst/>
          </a:prstGeom>
          <a:noFill/>
        </p:spPr>
        <p:txBody>
          <a:bodyPr wrap="square" anchor="t" lIns="0" rIns="0" tIns="0" bIns="0">
            <a:spAutoFit/>
          </a:bodyPr>
          <a:lstStyle/>
          <a:p>
            <a:pPr>
              <a:spcBef>
                <a:spcPts val="0"/>
              </a:spcBef>
            </a:pPr>
            <a:r>
              <a:rPr sz="2200" i="0" b="0">
                <a:solidFill>
                  <a:srgbClr val="1A1F36"/>
                </a:solidFill>
                <a:latin typeface="Calibri"/>
              </a:rPr>
              <a:t>Antidepressants carry a boxed warning for suicidal thoughts and behaviour in patients under 25 years. Monitor every patient closely during the first weeks and after each dose change. For patients at risk, give small supplies and avoid TCAs.</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E8EAF4"/>
        </a:solidFill>
        <a:effectLst/>
      </p:bgPr>
    </p:bg>
    <p:spTree>
      <p:nvGrpSpPr>
        <p:cNvPr id="1" name=""/>
        <p:cNvGrpSpPr/>
        <p:nvPr/>
      </p:nvGrpSpPr>
      <p:grpSpPr/>
      <p:pic>
        <p:nvPicPr>
          <p:cNvPr id="2" name="Picture 1" descr=""/>
          <p:cNvPicPr>
            <a:picLocks noChangeAspect="1"/>
          </p:cNvPicPr>
          <p:nvPr/>
        </p:nvPicPr>
        <p:blipFill>
          <a:blip r:embed="rId3"/>
          <a:stretch>
            <a:fillRect/>
          </a:stretch>
        </p:blipFill>
        <p:spPr>
          <a:xfrm>
            <a:off x="0" y="0"/>
            <a:ext cx="12191695" cy="6858000"/>
          </a:xfrm>
          <a:prstGeom prst="rect">
            <a:avLst/>
          </a:prstGeom>
        </p:spPr>
      </p:pic>
      <p:sp>
        <p:nvSpPr>
          <p:cNvPr id="3" name="Rounded Rectangle 2"/>
          <p:cNvSpPr/>
          <p:nvPr/>
        </p:nvSpPr>
        <p:spPr>
          <a:xfrm>
            <a:off x="411479" y="274320"/>
            <a:ext cx="11368735" cy="1097280"/>
          </a:xfrm>
          <a:prstGeom prst="roundRect">
            <a:avLst>
              <a:gd name="adj" fmla="val 14000"/>
            </a:avLst>
          </a:prstGeom>
          <a:solidFill>
            <a:srgbClr val="FFFFFF">
              <a:alpha val="70000"/>
            </a:srgbClr>
          </a:solidFill>
          <a:ln w="28575">
            <a:solidFill>
              <a:srgbClr val="1B2A8C"/>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31519" y="338328"/>
            <a:ext cx="10728655" cy="32004"/>
          </a:xfrm>
          <a:prstGeom prst="roundRect">
            <a:avLst>
              <a:gd name="adj" fmla="val 50000"/>
            </a:avLst>
          </a:prstGeom>
          <a:solidFill>
            <a:srgbClr val="FFFFFF">
              <a:alpha val="8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640080" y="493776"/>
            <a:ext cx="658368" cy="658368"/>
          </a:xfrm>
          <a:prstGeom prst="ellipse">
            <a:avLst/>
          </a:prstGeom>
          <a:solidFill>
            <a:srgbClr val="8D6A2A"/>
          </a:solidFill>
          <a:ln>
            <a:noFill/>
          </a:ln>
          <a:effectLst>
            <a:outerShdw blurRad="203200" dist="50800" dir="5400000" algn="t" rotWithShape="0">
              <a:srgbClr val="1A2340">
                <a:alpha val="20000"/>
              </a:srgbClr>
            </a:outerShdw>
          </a:effectLst>
          <a:scene3d>
            <a:camera prst="orthographicFront"/>
            <a:lightRig rig="threePt" dir="t"/>
          </a:scene3d>
          <a:sp3d>
            <a:bevelT w="44450" h="25400" prst="softRound"/>
          </a:sp3d>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800" i="0" b="1">
                <a:solidFill>
                  <a:srgbClr val="FFFFFF"/>
                </a:solidFill>
                <a:latin typeface="Cambria"/>
              </a:rPr>
              <a:t>04</a:t>
            </a:r>
          </a:p>
        </p:txBody>
      </p:sp>
      <p:sp>
        <p:nvSpPr>
          <p:cNvPr id="6" name="TextBox 5"/>
          <p:cNvSpPr txBox="1"/>
          <p:nvPr/>
        </p:nvSpPr>
        <p:spPr>
          <a:xfrm>
            <a:off x="1554480" y="402336"/>
            <a:ext cx="9905695" cy="274320"/>
          </a:xfrm>
          <a:prstGeom prst="rect">
            <a:avLst/>
          </a:prstGeom>
          <a:noFill/>
        </p:spPr>
        <p:txBody>
          <a:bodyPr wrap="square" anchor="t" lIns="0" rIns="0" tIns="0" bIns="0">
            <a:spAutoFit/>
          </a:bodyPr>
          <a:lstStyle/>
          <a:p>
            <a:r>
              <a:rPr sz="1200" i="0" b="1" spc="150">
                <a:solidFill>
                  <a:srgbClr val="826227"/>
                </a:solidFill>
                <a:latin typeface="Calibri"/>
              </a:rPr>
              <a:t>SECTION 4</a:t>
            </a:r>
          </a:p>
        </p:txBody>
      </p:sp>
      <p:sp>
        <p:nvSpPr>
          <p:cNvPr id="7" name="TextBox 6"/>
          <p:cNvSpPr txBox="1"/>
          <p:nvPr/>
        </p:nvSpPr>
        <p:spPr>
          <a:xfrm>
            <a:off x="1554480" y="658368"/>
            <a:ext cx="9905695" cy="640080"/>
          </a:xfrm>
          <a:prstGeom prst="rect">
            <a:avLst/>
          </a:prstGeom>
          <a:noFill/>
        </p:spPr>
        <p:txBody>
          <a:bodyPr wrap="square" anchor="ctr" lIns="0" rIns="0" tIns="0" bIns="0">
            <a:spAutoFit/>
          </a:bodyPr>
          <a:lstStyle/>
          <a:p>
            <a:r>
              <a:rPr sz="3000" i="0" b="1">
                <a:solidFill>
                  <a:srgbClr val="1B2A8C"/>
                </a:solidFill>
                <a:latin typeface="Cambria"/>
              </a:rPr>
              <a:t>Stopping an Antidepressant</a:t>
            </a:r>
          </a:p>
        </p:txBody>
      </p:sp>
      <p:sp>
        <p:nvSpPr>
          <p:cNvPr id="8" name="TextBox 7"/>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5A6072"/>
                </a:solidFill>
                <a:latin typeface="Calibri"/>
              </a:rPr>
              <a:t>Practical Pharmacology of the Central Nervous System  ·  Section 4  ·  Depression and Antidepressant Drugs</a:t>
            </a:r>
          </a:p>
        </p:txBody>
      </p:sp>
      <p:sp>
        <p:nvSpPr>
          <p:cNvPr id="9" name="TextBox 8"/>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5A6072"/>
                </a:solidFill>
                <a:latin typeface="Calibri"/>
              </a:rPr>
              <a:t>15 / 25</a:t>
            </a:r>
          </a:p>
        </p:txBody>
      </p:sp>
      <p:pic>
        <p:nvPicPr>
          <p:cNvPr id="10" name="Picture 9" descr="logo"/>
          <p:cNvPicPr>
            <a:picLocks noChangeAspect="1"/>
          </p:cNvPicPr>
          <p:nvPr/>
        </p:nvPicPr>
        <p:blipFill>
          <a:blip r:embed="rId4"/>
          <a:stretch>
            <a:fillRect/>
          </a:stretch>
        </p:blipFill>
        <p:spPr>
          <a:xfrm>
            <a:off x="11247120" y="6309360"/>
            <a:ext cx="384048" cy="384048"/>
          </a:xfrm>
          <a:prstGeom prst="rect">
            <a:avLst/>
          </a:prstGeom>
        </p:spPr>
      </p:pic>
      <p:sp>
        <p:nvSpPr>
          <p:cNvPr id="11" name="Oval 10"/>
          <p:cNvSpPr/>
          <p:nvPr/>
        </p:nvSpPr>
        <p:spPr>
          <a:xfrm>
            <a:off x="548640" y="1572768"/>
            <a:ext cx="402336" cy="402336"/>
          </a:xfrm>
          <a:prstGeom prst="ellipse">
            <a:avLst/>
          </a:prstGeom>
          <a:solidFill>
            <a:srgbClr val="F9F8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8D6A2A"/>
                </a:solidFill>
                <a:latin typeface="Calibri"/>
              </a:rPr>
              <a:t>1</a:t>
            </a:r>
          </a:p>
        </p:txBody>
      </p:sp>
      <p:sp>
        <p:nvSpPr>
          <p:cNvPr id="12" name="TextBox 11"/>
          <p:cNvSpPr txBox="1"/>
          <p:nvPr/>
        </p:nvSpPr>
        <p:spPr>
          <a:xfrm>
            <a:off x="1143000" y="1591056"/>
            <a:ext cx="10500055" cy="2475738"/>
          </a:xfrm>
          <a:prstGeom prst="rect">
            <a:avLst/>
          </a:prstGeom>
          <a:noFill/>
        </p:spPr>
        <p:txBody>
          <a:bodyPr wrap="square" anchor="t" lIns="0" rIns="0" tIns="0" bIns="0">
            <a:spAutoFit/>
          </a:bodyPr>
          <a:lstStyle/>
          <a:p>
            <a:r>
              <a:rPr sz="2100" i="0" b="0">
                <a:solidFill>
                  <a:srgbClr val="1A1F36"/>
                </a:solidFill>
                <a:latin typeface="Calibri"/>
              </a:rPr>
              <a:t>Stopping suddenly after more than 4 weeks can cause a </a:t>
            </a:r>
            <a:r>
              <a:rPr sz="2100" i="0" b="1">
                <a:solidFill>
                  <a:srgbClr val="1A1F36"/>
                </a:solidFill>
                <a:latin typeface="Calibri"/>
              </a:rPr>
              <a:t>discontinuation syndrome</a:t>
            </a:r>
            <a:r>
              <a:rPr sz="2100" i="0" b="0">
                <a:solidFill>
                  <a:srgbClr val="1A1F36"/>
                </a:solidFill>
                <a:latin typeface="Calibri"/>
              </a:rPr>
              <a:t>. It is not relapse of depression. Features are dizziness, "electric-shock" sensations, anxiety, irritability, flu-like symptoms and vivid dreams. It is most common with paroxetine and venlafaxine, which have short half-lives. It is least common with fluoxetine. Reduce the dose slowly over at least 4 weeks, and longer if symptoms appear.</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E8EAF4"/>
        </a:solidFill>
        <a:effectLst/>
      </p:bgPr>
    </p:bg>
    <p:spTree>
      <p:nvGrpSpPr>
        <p:cNvPr id="1" name=""/>
        <p:cNvGrpSpPr/>
        <p:nvPr/>
      </p:nvGrpSpPr>
      <p:grpSpPr/>
      <p:pic>
        <p:nvPicPr>
          <p:cNvPr id="2" name="Picture 1" descr=""/>
          <p:cNvPicPr>
            <a:picLocks noChangeAspect="1"/>
          </p:cNvPicPr>
          <p:nvPr/>
        </p:nvPicPr>
        <p:blipFill>
          <a:blip r:embed="rId3"/>
          <a:stretch>
            <a:fillRect/>
          </a:stretch>
        </p:blipFill>
        <p:spPr>
          <a:xfrm>
            <a:off x="0" y="0"/>
            <a:ext cx="12191695" cy="6858000"/>
          </a:xfrm>
          <a:prstGeom prst="rect">
            <a:avLst/>
          </a:prstGeom>
        </p:spPr>
      </p:pic>
      <p:sp>
        <p:nvSpPr>
          <p:cNvPr id="3" name="Rounded Rectangle 2"/>
          <p:cNvSpPr/>
          <p:nvPr/>
        </p:nvSpPr>
        <p:spPr>
          <a:xfrm>
            <a:off x="411479" y="274320"/>
            <a:ext cx="11368735" cy="1097280"/>
          </a:xfrm>
          <a:prstGeom prst="roundRect">
            <a:avLst>
              <a:gd name="adj" fmla="val 14000"/>
            </a:avLst>
          </a:prstGeom>
          <a:solidFill>
            <a:srgbClr val="FFFFFF">
              <a:alpha val="70000"/>
            </a:srgbClr>
          </a:solidFill>
          <a:ln w="28575">
            <a:solidFill>
              <a:srgbClr val="1B2A8C"/>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31519" y="338328"/>
            <a:ext cx="10728655" cy="32004"/>
          </a:xfrm>
          <a:prstGeom prst="roundRect">
            <a:avLst>
              <a:gd name="adj" fmla="val 50000"/>
            </a:avLst>
          </a:prstGeom>
          <a:solidFill>
            <a:srgbClr val="FFFFFF">
              <a:alpha val="8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640080" y="493776"/>
            <a:ext cx="658368" cy="658368"/>
          </a:xfrm>
          <a:prstGeom prst="ellipse">
            <a:avLst/>
          </a:prstGeom>
          <a:solidFill>
            <a:srgbClr val="8D6A2A"/>
          </a:solidFill>
          <a:ln>
            <a:noFill/>
          </a:ln>
          <a:effectLst>
            <a:outerShdw blurRad="203200" dist="50800" dir="5400000" algn="t" rotWithShape="0">
              <a:srgbClr val="1A2340">
                <a:alpha val="20000"/>
              </a:srgbClr>
            </a:outerShdw>
          </a:effectLst>
          <a:scene3d>
            <a:camera prst="orthographicFront"/>
            <a:lightRig rig="threePt" dir="t"/>
          </a:scene3d>
          <a:sp3d>
            <a:bevelT w="44450" h="25400" prst="softRound"/>
          </a:sp3d>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800" i="0" b="1">
                <a:solidFill>
                  <a:srgbClr val="FFFFFF"/>
                </a:solidFill>
                <a:latin typeface="Cambria"/>
              </a:rPr>
              <a:t>04</a:t>
            </a:r>
          </a:p>
        </p:txBody>
      </p:sp>
      <p:sp>
        <p:nvSpPr>
          <p:cNvPr id="6" name="TextBox 5"/>
          <p:cNvSpPr txBox="1"/>
          <p:nvPr/>
        </p:nvSpPr>
        <p:spPr>
          <a:xfrm>
            <a:off x="1554480" y="402336"/>
            <a:ext cx="9905695" cy="274320"/>
          </a:xfrm>
          <a:prstGeom prst="rect">
            <a:avLst/>
          </a:prstGeom>
          <a:noFill/>
        </p:spPr>
        <p:txBody>
          <a:bodyPr wrap="square" anchor="t" lIns="0" rIns="0" tIns="0" bIns="0">
            <a:spAutoFit/>
          </a:bodyPr>
          <a:lstStyle/>
          <a:p>
            <a:r>
              <a:rPr sz="1200" i="0" b="1" spc="150">
                <a:solidFill>
                  <a:srgbClr val="826227"/>
                </a:solidFill>
                <a:latin typeface="Calibri"/>
              </a:rPr>
              <a:t>SECTION 4</a:t>
            </a:r>
          </a:p>
        </p:txBody>
      </p:sp>
      <p:sp>
        <p:nvSpPr>
          <p:cNvPr id="7" name="TextBox 6"/>
          <p:cNvSpPr txBox="1"/>
          <p:nvPr/>
        </p:nvSpPr>
        <p:spPr>
          <a:xfrm>
            <a:off x="1554480" y="658368"/>
            <a:ext cx="9905695" cy="640080"/>
          </a:xfrm>
          <a:prstGeom prst="rect">
            <a:avLst/>
          </a:prstGeom>
          <a:noFill/>
        </p:spPr>
        <p:txBody>
          <a:bodyPr wrap="square" anchor="ctr" lIns="0" rIns="0" tIns="0" bIns="0">
            <a:spAutoFit/>
          </a:bodyPr>
          <a:lstStyle/>
          <a:p>
            <a:r>
              <a:rPr sz="3000" i="0" b="1">
                <a:solidFill>
                  <a:srgbClr val="1B2A8C"/>
                </a:solidFill>
                <a:latin typeface="Cambria"/>
              </a:rPr>
              <a:t>Choosing a Drug</a:t>
            </a:r>
          </a:p>
        </p:txBody>
      </p:sp>
      <p:sp>
        <p:nvSpPr>
          <p:cNvPr id="8" name="TextBox 7"/>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5A6072"/>
                </a:solidFill>
                <a:latin typeface="Calibri"/>
              </a:rPr>
              <a:t>Practical Pharmacology of the Central Nervous System  ·  Section 4  ·  Depression and Antidepressant Drugs</a:t>
            </a:r>
          </a:p>
        </p:txBody>
      </p:sp>
      <p:sp>
        <p:nvSpPr>
          <p:cNvPr id="9" name="TextBox 8"/>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5A6072"/>
                </a:solidFill>
                <a:latin typeface="Calibri"/>
              </a:rPr>
              <a:t>16 / 25</a:t>
            </a:r>
          </a:p>
        </p:txBody>
      </p:sp>
      <p:pic>
        <p:nvPicPr>
          <p:cNvPr id="10" name="Picture 9" descr="logo"/>
          <p:cNvPicPr>
            <a:picLocks noChangeAspect="1"/>
          </p:cNvPicPr>
          <p:nvPr/>
        </p:nvPicPr>
        <p:blipFill>
          <a:blip r:embed="rId4"/>
          <a:stretch>
            <a:fillRect/>
          </a:stretch>
        </p:blipFill>
        <p:spPr>
          <a:xfrm>
            <a:off x="11247120" y="6309360"/>
            <a:ext cx="384048" cy="384048"/>
          </a:xfrm>
          <a:prstGeom prst="rect">
            <a:avLst/>
          </a:prstGeom>
        </p:spPr>
      </p:pic>
      <p:sp>
        <p:nvSpPr>
          <p:cNvPr id="11" name="TextBox 10"/>
          <p:cNvSpPr txBox="1"/>
          <p:nvPr/>
        </p:nvSpPr>
        <p:spPr>
          <a:xfrm>
            <a:off x="548640" y="1554480"/>
            <a:ext cx="11094415" cy="795528"/>
          </a:xfrm>
          <a:prstGeom prst="rect">
            <a:avLst/>
          </a:prstGeom>
          <a:noFill/>
        </p:spPr>
        <p:txBody>
          <a:bodyPr wrap="square" anchor="t" lIns="0" rIns="0" tIns="0" bIns="0">
            <a:spAutoFit/>
          </a:bodyPr>
          <a:lstStyle/>
          <a:p>
            <a:pPr>
              <a:spcAft>
                <a:spcPts val="800"/>
              </a:spcAft>
            </a:pPr>
            <a:r>
              <a:rPr sz="1800" i="0" b="0">
                <a:solidFill>
                  <a:srgbClr val="1A1F36"/>
                </a:solidFill>
                <a:latin typeface="Calibri"/>
              </a:rPr>
              <a:t>Before choosing, consider previous response, adverse-effect profile, other illnesses, other drugs and the patient's preference.</a:t>
            </a:r>
          </a:p>
        </p:txBody>
      </p:sp>
      <p:graphicFrame>
        <p:nvGraphicFramePr>
          <p:cNvPr id="12" name="Table 11"/>
          <p:cNvGraphicFramePr>
            <a:graphicFrameLocks noGrp="1"/>
          </p:cNvGraphicFramePr>
          <p:nvPr/>
        </p:nvGraphicFramePr>
        <p:xfrm>
          <a:off x="548640" y="2532887"/>
          <a:ext cx="11094414" cy="3639304"/>
        </p:xfrm>
        <a:graphic>
          <a:graphicData uri="http://schemas.openxmlformats.org/drawingml/2006/table">
            <a:tbl>
              <a:tblPr firstRow="0" bandRow="0">
                <a:tableStyleId>{5C22544A-7EE6-4342-B048-85BDC9FD1C3A}</a:tableStyleId>
              </a:tblPr>
              <a:tblGrid>
                <a:gridCol w="4358520"/>
                <a:gridCol w="3367947"/>
                <a:gridCol w="3367947"/>
              </a:tblGrid>
              <a:tr h="454913">
                <a:tc>
                  <a:txBody>
                    <a:bodyPr/>
                    <a:lstStyle/>
                    <a:p>
                      <a:r>
                        <a:rPr sz="1700" i="0" b="1">
                          <a:solidFill>
                            <a:srgbClr val="FFFFFF"/>
                          </a:solidFill>
                          <a:latin typeface="Calibri"/>
                        </a:rPr>
                        <a:t>Patient factor</a:t>
                      </a:r>
                    </a:p>
                  </a:txBody>
                  <a:tcPr marL="109728" marR="109728" marT="45720" marB="45720" anchor="ctr">
                    <a:solidFill>
                      <a:srgbClr val="1B2A8C"/>
                    </a:solidFill>
                  </a:tcPr>
                </a:tc>
                <a:tc>
                  <a:txBody>
                    <a:bodyPr/>
                    <a:lstStyle/>
                    <a:p>
                      <a:r>
                        <a:rPr sz="1700" i="0" b="1">
                          <a:solidFill>
                            <a:srgbClr val="FFFFFF"/>
                          </a:solidFill>
                          <a:latin typeface="Calibri"/>
                        </a:rPr>
                        <a:t>Suitable choice</a:t>
                      </a:r>
                    </a:p>
                  </a:txBody>
                  <a:tcPr marL="109728" marR="109728" marT="45720" marB="45720" anchor="ctr">
                    <a:solidFill>
                      <a:srgbClr val="1B2A8C"/>
                    </a:solidFill>
                  </a:tcPr>
                </a:tc>
                <a:tc>
                  <a:txBody>
                    <a:bodyPr/>
                    <a:lstStyle/>
                    <a:p>
                      <a:r>
                        <a:rPr sz="1700" i="0" b="1">
                          <a:solidFill>
                            <a:srgbClr val="FFFFFF"/>
                          </a:solidFill>
                          <a:latin typeface="Calibri"/>
                        </a:rPr>
                        <a:t>Avoid</a:t>
                      </a:r>
                    </a:p>
                  </a:txBody>
                  <a:tcPr marL="109728" marR="109728" marT="45720" marB="45720" anchor="ctr">
                    <a:solidFill>
                      <a:srgbClr val="1B2A8C"/>
                    </a:solidFill>
                  </a:tcPr>
                </a:tc>
              </a:tr>
              <a:tr h="454913">
                <a:tc>
                  <a:txBody>
                    <a:bodyPr/>
                    <a:lstStyle/>
                    <a:p>
                      <a:r>
                        <a:rPr sz="1800" i="0" b="1">
                          <a:solidFill>
                            <a:srgbClr val="1A1F36"/>
                          </a:solidFill>
                          <a:latin typeface="Calibri"/>
                        </a:rPr>
                        <a:t>Most adults (first choice)</a:t>
                      </a:r>
                    </a:p>
                  </a:txBody>
                  <a:tcPr marL="109728" marR="109728" marT="45720" marB="45720" anchor="ctr">
                    <a:solidFill>
                      <a:srgbClr val="FFFFFF"/>
                    </a:solidFill>
                  </a:tcPr>
                </a:tc>
                <a:tc>
                  <a:txBody>
                    <a:bodyPr/>
                    <a:lstStyle/>
                    <a:p>
                      <a:r>
                        <a:rPr sz="1800" i="0" b="0">
                          <a:solidFill>
                            <a:srgbClr val="1A1F36"/>
                          </a:solidFill>
                          <a:latin typeface="Calibri"/>
                        </a:rPr>
                        <a:t>An SSRI such as sertraline</a:t>
                      </a:r>
                    </a:p>
                  </a:txBody>
                  <a:tcPr marL="109728" marR="109728" marT="45720" marB="45720" anchor="ctr">
                    <a:solidFill>
                      <a:srgbClr val="FFFFFF"/>
                    </a:solidFill>
                  </a:tcPr>
                </a:tc>
                <a:tc>
                  <a:txBody>
                    <a:bodyPr/>
                    <a:lstStyle/>
                    <a:p>
                      <a:r>
                        <a:rPr sz="1800" i="0" b="0">
                          <a:solidFill>
                            <a:srgbClr val="1A1F36"/>
                          </a:solidFill>
                          <a:latin typeface="Calibri"/>
                        </a:rPr>
                        <a:t>—</a:t>
                      </a:r>
                    </a:p>
                  </a:txBody>
                  <a:tcPr marL="109728" marR="109728" marT="45720" marB="45720" anchor="ctr">
                    <a:solidFill>
                      <a:srgbClr val="FFFFFF"/>
                    </a:solidFill>
                  </a:tcPr>
                </a:tc>
              </a:tr>
              <a:tr h="454913">
                <a:tc>
                  <a:txBody>
                    <a:bodyPr/>
                    <a:lstStyle/>
                    <a:p>
                      <a:r>
                        <a:rPr sz="1800" i="0" b="1">
                          <a:solidFill>
                            <a:srgbClr val="1A1F36"/>
                          </a:solidFill>
                          <a:latin typeface="Calibri"/>
                        </a:rPr>
                        <a:t>Insomnia, poor appetite, weight loss</a:t>
                      </a:r>
                    </a:p>
                  </a:txBody>
                  <a:tcPr marL="109728" marR="109728" marT="45720" marB="45720" anchor="ctr">
                    <a:solidFill>
                      <a:srgbClr val="F1F2F8"/>
                    </a:solidFill>
                  </a:tcPr>
                </a:tc>
                <a:tc>
                  <a:txBody>
                    <a:bodyPr/>
                    <a:lstStyle/>
                    <a:p>
                      <a:r>
                        <a:rPr sz="1800" i="0" b="0">
                          <a:solidFill>
                            <a:srgbClr val="1A1F36"/>
                          </a:solidFill>
                          <a:latin typeface="Calibri"/>
                        </a:rPr>
                        <a:t>Mirtazapine</a:t>
                      </a:r>
                    </a:p>
                  </a:txBody>
                  <a:tcPr marL="109728" marR="109728" marT="45720" marB="45720" anchor="ctr">
                    <a:solidFill>
                      <a:srgbClr val="F1F2F8"/>
                    </a:solidFill>
                  </a:tcPr>
                </a:tc>
                <a:tc>
                  <a:txBody>
                    <a:bodyPr/>
                    <a:lstStyle/>
                    <a:p>
                      <a:r>
                        <a:rPr sz="1800" i="0" b="0">
                          <a:solidFill>
                            <a:srgbClr val="1A1F36"/>
                          </a:solidFill>
                          <a:latin typeface="Calibri"/>
                        </a:rPr>
                        <a:t>—</a:t>
                      </a:r>
                    </a:p>
                  </a:txBody>
                  <a:tcPr marL="109728" marR="109728" marT="45720" marB="45720" anchor="ctr">
                    <a:solidFill>
                      <a:srgbClr val="F1F2F8"/>
                    </a:solidFill>
                  </a:tcPr>
                </a:tc>
              </a:tr>
              <a:tr h="454913">
                <a:tc>
                  <a:txBody>
                    <a:bodyPr/>
                    <a:lstStyle/>
                    <a:p>
                      <a:r>
                        <a:rPr sz="1800" i="0" b="1">
                          <a:solidFill>
                            <a:srgbClr val="1A1F36"/>
                          </a:solidFill>
                          <a:latin typeface="Calibri"/>
                        </a:rPr>
                        <a:t>Sexual dysfunction on an SSRI</a:t>
                      </a:r>
                    </a:p>
                  </a:txBody>
                  <a:tcPr marL="109728" marR="109728" marT="45720" marB="45720" anchor="ctr">
                    <a:solidFill>
                      <a:srgbClr val="FFFFFF"/>
                    </a:solidFill>
                  </a:tcPr>
                </a:tc>
                <a:tc>
                  <a:txBody>
                    <a:bodyPr/>
                    <a:lstStyle/>
                    <a:p>
                      <a:r>
                        <a:rPr sz="1800" i="0" b="0">
                          <a:solidFill>
                            <a:srgbClr val="1A1F36"/>
                          </a:solidFill>
                          <a:latin typeface="Calibri"/>
                        </a:rPr>
                        <a:t>Mirtazapine or bupropion</a:t>
                      </a:r>
                    </a:p>
                  </a:txBody>
                  <a:tcPr marL="109728" marR="109728" marT="45720" marB="45720" anchor="ctr">
                    <a:solidFill>
                      <a:srgbClr val="FFFFFF"/>
                    </a:solidFill>
                  </a:tcPr>
                </a:tc>
                <a:tc>
                  <a:txBody>
                    <a:bodyPr/>
                    <a:lstStyle/>
                    <a:p>
                      <a:r>
                        <a:rPr sz="1800" i="0" b="0">
                          <a:solidFill>
                            <a:srgbClr val="1A1F36"/>
                          </a:solidFill>
                          <a:latin typeface="Calibri"/>
                        </a:rPr>
                        <a:t>Paroxetine</a:t>
                      </a:r>
                    </a:p>
                  </a:txBody>
                  <a:tcPr marL="109728" marR="109728" marT="45720" marB="45720" anchor="ctr">
                    <a:solidFill>
                      <a:srgbClr val="FFFFFF"/>
                    </a:solidFill>
                  </a:tcPr>
                </a:tc>
              </a:tr>
              <a:tr h="454913">
                <a:tc>
                  <a:txBody>
                    <a:bodyPr/>
                    <a:lstStyle/>
                    <a:p>
                      <a:r>
                        <a:rPr sz="1800" i="0" b="1">
                          <a:solidFill>
                            <a:srgbClr val="1A1F36"/>
                          </a:solidFill>
                          <a:latin typeface="Calibri"/>
                        </a:rPr>
                        <a:t>Diabetic neuropathic pain</a:t>
                      </a:r>
                    </a:p>
                  </a:txBody>
                  <a:tcPr marL="109728" marR="109728" marT="45720" marB="45720" anchor="ctr">
                    <a:solidFill>
                      <a:srgbClr val="F1F2F8"/>
                    </a:solidFill>
                  </a:tcPr>
                </a:tc>
                <a:tc>
                  <a:txBody>
                    <a:bodyPr/>
                    <a:lstStyle/>
                    <a:p>
                      <a:r>
                        <a:rPr sz="1800" i="0" b="0">
                          <a:solidFill>
                            <a:srgbClr val="1A1F36"/>
                          </a:solidFill>
                          <a:latin typeface="Calibri"/>
                        </a:rPr>
                        <a:t>Duloxetine</a:t>
                      </a:r>
                    </a:p>
                  </a:txBody>
                  <a:tcPr marL="109728" marR="109728" marT="45720" marB="45720" anchor="ctr">
                    <a:solidFill>
                      <a:srgbClr val="F1F2F8"/>
                    </a:solidFill>
                  </a:tcPr>
                </a:tc>
                <a:tc>
                  <a:txBody>
                    <a:bodyPr/>
                    <a:lstStyle/>
                    <a:p>
                      <a:r>
                        <a:rPr sz="1800" i="0" b="0">
                          <a:solidFill>
                            <a:srgbClr val="1A1F36"/>
                          </a:solidFill>
                          <a:latin typeface="Calibri"/>
                        </a:rPr>
                        <a:t>—</a:t>
                      </a:r>
                    </a:p>
                  </a:txBody>
                  <a:tcPr marL="109728" marR="109728" marT="45720" marB="45720" anchor="ctr">
                    <a:solidFill>
                      <a:srgbClr val="F1F2F8"/>
                    </a:solidFill>
                  </a:tcPr>
                </a:tc>
              </a:tr>
              <a:tr h="454913">
                <a:tc>
                  <a:txBody>
                    <a:bodyPr/>
                    <a:lstStyle/>
                    <a:p>
                      <a:r>
                        <a:rPr sz="1800" i="0" b="1">
                          <a:solidFill>
                            <a:srgbClr val="1A1F36"/>
                          </a:solidFill>
                          <a:latin typeface="Calibri"/>
                        </a:rPr>
                        <a:t>Heart disease</a:t>
                      </a:r>
                    </a:p>
                  </a:txBody>
                  <a:tcPr marL="109728" marR="109728" marT="45720" marB="45720" anchor="ctr">
                    <a:solidFill>
                      <a:srgbClr val="FFFFFF"/>
                    </a:solidFill>
                  </a:tcPr>
                </a:tc>
                <a:tc>
                  <a:txBody>
                    <a:bodyPr/>
                    <a:lstStyle/>
                    <a:p>
                      <a:r>
                        <a:rPr sz="1800" i="0" b="0">
                          <a:solidFill>
                            <a:srgbClr val="1A1F36"/>
                          </a:solidFill>
                          <a:latin typeface="Calibri"/>
                        </a:rPr>
                        <a:t>Sertraline</a:t>
                      </a:r>
                    </a:p>
                  </a:txBody>
                  <a:tcPr marL="109728" marR="109728" marT="45720" marB="45720" anchor="ctr">
                    <a:solidFill>
                      <a:srgbClr val="FFFFFF"/>
                    </a:solidFill>
                  </a:tcPr>
                </a:tc>
                <a:tc>
                  <a:txBody>
                    <a:bodyPr/>
                    <a:lstStyle/>
                    <a:p>
                      <a:r>
                        <a:rPr sz="1800" i="0" b="0">
                          <a:solidFill>
                            <a:srgbClr val="1A1F36"/>
                          </a:solidFill>
                          <a:latin typeface="Calibri"/>
                        </a:rPr>
                        <a:t>TCAs; high-dose citalopram</a:t>
                      </a:r>
                    </a:p>
                  </a:txBody>
                  <a:tcPr marL="109728" marR="109728" marT="45720" marB="45720" anchor="ctr">
                    <a:solidFill>
                      <a:srgbClr val="FFFFFF"/>
                    </a:solidFill>
                  </a:tcPr>
                </a:tc>
              </a:tr>
              <a:tr h="454913">
                <a:tc>
                  <a:txBody>
                    <a:bodyPr/>
                    <a:lstStyle/>
                    <a:p>
                      <a:r>
                        <a:rPr sz="1800" i="0" b="1">
                          <a:solidFill>
                            <a:srgbClr val="1A1F36"/>
                          </a:solidFill>
                          <a:latin typeface="Calibri"/>
                        </a:rPr>
                        <a:t>Older patient</a:t>
                      </a:r>
                    </a:p>
                  </a:txBody>
                  <a:tcPr marL="109728" marR="109728" marT="45720" marB="45720" anchor="ctr">
                    <a:solidFill>
                      <a:srgbClr val="F1F2F8"/>
                    </a:solidFill>
                  </a:tcPr>
                </a:tc>
                <a:tc>
                  <a:txBody>
                    <a:bodyPr/>
                    <a:lstStyle/>
                    <a:p>
                      <a:r>
                        <a:rPr sz="1800" i="0" b="0">
                          <a:solidFill>
                            <a:srgbClr val="1A1F36"/>
                          </a:solidFill>
                          <a:latin typeface="Calibri"/>
                        </a:rPr>
                        <a:t>Sertraline; check sodium</a:t>
                      </a:r>
                    </a:p>
                  </a:txBody>
                  <a:tcPr marL="109728" marR="109728" marT="45720" marB="45720" anchor="ctr">
                    <a:solidFill>
                      <a:srgbClr val="F1F2F8"/>
                    </a:solidFill>
                  </a:tcPr>
                </a:tc>
                <a:tc>
                  <a:txBody>
                    <a:bodyPr/>
                    <a:lstStyle/>
                    <a:p>
                      <a:r>
                        <a:rPr sz="1800" i="0" b="0">
                          <a:solidFill>
                            <a:srgbClr val="1A1F36"/>
                          </a:solidFill>
                          <a:latin typeface="Calibri"/>
                        </a:rPr>
                        <a:t>TCAs (falls, confusion)</a:t>
                      </a:r>
                    </a:p>
                  </a:txBody>
                  <a:tcPr marL="109728" marR="109728" marT="45720" marB="45720" anchor="ctr">
                    <a:solidFill>
                      <a:srgbClr val="F1F2F8"/>
                    </a:solidFill>
                  </a:tcPr>
                </a:tc>
              </a:tr>
              <a:tr h="454913">
                <a:tc>
                  <a:txBody>
                    <a:bodyPr/>
                    <a:lstStyle/>
                    <a:p>
                      <a:r>
                        <a:rPr sz="1800" i="0" b="1">
                          <a:solidFill>
                            <a:srgbClr val="1A1F36"/>
                          </a:solidFill>
                          <a:latin typeface="Calibri"/>
                        </a:rPr>
                        <a:t>Epilepsy</a:t>
                      </a:r>
                    </a:p>
                  </a:txBody>
                  <a:tcPr marL="109728" marR="109728" marT="45720" marB="45720" anchor="ctr">
                    <a:solidFill>
                      <a:srgbClr val="FFFFFF"/>
                    </a:solidFill>
                  </a:tcPr>
                </a:tc>
                <a:tc>
                  <a:txBody>
                    <a:bodyPr/>
                    <a:lstStyle/>
                    <a:p>
                      <a:r>
                        <a:rPr sz="1800" i="0" b="0">
                          <a:solidFill>
                            <a:srgbClr val="1A1F36"/>
                          </a:solidFill>
                          <a:latin typeface="Calibri"/>
                        </a:rPr>
                        <a:t>SSRI with care</a:t>
                      </a:r>
                    </a:p>
                  </a:txBody>
                  <a:tcPr marL="109728" marR="109728" marT="45720" marB="45720" anchor="ctr">
                    <a:solidFill>
                      <a:srgbClr val="FFFFFF"/>
                    </a:solidFill>
                  </a:tcPr>
                </a:tc>
                <a:tc>
                  <a:txBody>
                    <a:bodyPr/>
                    <a:lstStyle/>
                    <a:p>
                      <a:r>
                        <a:rPr sz="1800" i="0" b="0">
                          <a:solidFill>
                            <a:srgbClr val="1A1F36"/>
                          </a:solidFill>
                          <a:latin typeface="Calibri"/>
                        </a:rPr>
                        <a:t>Bupropion; high-dose TCAs</a:t>
                      </a:r>
                    </a:p>
                  </a:txBody>
                  <a:tcPr marL="109728" marR="109728" marT="45720" marB="45720" anchor="ctr">
                    <a:solidFill>
                      <a:srgbClr val="FFFFFF"/>
                    </a:solidFill>
                  </a:tcPr>
                </a:tc>
              </a:tr>
            </a:tbl>
          </a:graphicData>
        </a:graphic>
      </p:graphicFrame>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E8EAF4"/>
        </a:solidFill>
        <a:effectLst/>
      </p:bgPr>
    </p:bg>
    <p:spTree>
      <p:nvGrpSpPr>
        <p:cNvPr id="1" name=""/>
        <p:cNvGrpSpPr/>
        <p:nvPr/>
      </p:nvGrpSpPr>
      <p:grpSpPr/>
      <p:pic>
        <p:nvPicPr>
          <p:cNvPr id="2" name="Picture 1" descr=""/>
          <p:cNvPicPr>
            <a:picLocks noChangeAspect="1"/>
          </p:cNvPicPr>
          <p:nvPr/>
        </p:nvPicPr>
        <p:blipFill>
          <a:blip r:embed="rId2"/>
          <a:stretch>
            <a:fillRect/>
          </a:stretch>
        </p:blipFill>
        <p:spPr>
          <a:xfrm>
            <a:off x="0" y="0"/>
            <a:ext cx="12191695" cy="6858000"/>
          </a:xfrm>
          <a:prstGeom prst="rect">
            <a:avLst/>
          </a:prstGeom>
        </p:spPr>
      </p:pic>
      <p:sp>
        <p:nvSpPr>
          <p:cNvPr id="3" name="Rounded Rectangle 2"/>
          <p:cNvSpPr/>
          <p:nvPr/>
        </p:nvSpPr>
        <p:spPr>
          <a:xfrm>
            <a:off x="411479" y="274320"/>
            <a:ext cx="11368735" cy="1097280"/>
          </a:xfrm>
          <a:prstGeom prst="roundRect">
            <a:avLst>
              <a:gd name="adj" fmla="val 14000"/>
            </a:avLst>
          </a:prstGeom>
          <a:solidFill>
            <a:srgbClr val="FFFFFF">
              <a:alpha val="70000"/>
            </a:srgbClr>
          </a:solidFill>
          <a:ln w="28575">
            <a:solidFill>
              <a:srgbClr val="1B2A8C"/>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31519" y="338328"/>
            <a:ext cx="10728655" cy="32004"/>
          </a:xfrm>
          <a:prstGeom prst="roundRect">
            <a:avLst>
              <a:gd name="adj" fmla="val 50000"/>
            </a:avLst>
          </a:prstGeom>
          <a:solidFill>
            <a:srgbClr val="FFFFFF">
              <a:alpha val="8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640080" y="493776"/>
            <a:ext cx="658368" cy="658368"/>
          </a:xfrm>
          <a:prstGeom prst="ellipse">
            <a:avLst/>
          </a:prstGeom>
          <a:solidFill>
            <a:srgbClr val="8D6A2A"/>
          </a:solidFill>
          <a:ln>
            <a:noFill/>
          </a:ln>
          <a:effectLst>
            <a:outerShdw blurRad="203200" dist="50800" dir="5400000" algn="t" rotWithShape="0">
              <a:srgbClr val="1A2340">
                <a:alpha val="20000"/>
              </a:srgbClr>
            </a:outerShdw>
          </a:effectLst>
          <a:scene3d>
            <a:camera prst="orthographicFront"/>
            <a:lightRig rig="threePt" dir="t"/>
          </a:scene3d>
          <a:sp3d>
            <a:bevelT w="44450" h="25400" prst="softRound"/>
          </a:sp3d>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800" i="0" b="1">
                <a:solidFill>
                  <a:srgbClr val="FFFFFF"/>
                </a:solidFill>
                <a:latin typeface="Cambria"/>
              </a:rPr>
              <a:t>04</a:t>
            </a:r>
          </a:p>
        </p:txBody>
      </p:sp>
      <p:sp>
        <p:nvSpPr>
          <p:cNvPr id="6" name="TextBox 5"/>
          <p:cNvSpPr txBox="1"/>
          <p:nvPr/>
        </p:nvSpPr>
        <p:spPr>
          <a:xfrm>
            <a:off x="1554480" y="402336"/>
            <a:ext cx="9905695" cy="274320"/>
          </a:xfrm>
          <a:prstGeom prst="rect">
            <a:avLst/>
          </a:prstGeom>
          <a:noFill/>
        </p:spPr>
        <p:txBody>
          <a:bodyPr wrap="square" anchor="t" lIns="0" rIns="0" tIns="0" bIns="0">
            <a:spAutoFit/>
          </a:bodyPr>
          <a:lstStyle/>
          <a:p>
            <a:r>
              <a:rPr sz="1200" i="0" b="1" spc="150">
                <a:solidFill>
                  <a:srgbClr val="826227"/>
                </a:solidFill>
                <a:latin typeface="Calibri"/>
              </a:rPr>
              <a:t>SECTION 4</a:t>
            </a:r>
          </a:p>
        </p:txBody>
      </p:sp>
      <p:sp>
        <p:nvSpPr>
          <p:cNvPr id="7" name="TextBox 6"/>
          <p:cNvSpPr txBox="1"/>
          <p:nvPr/>
        </p:nvSpPr>
        <p:spPr>
          <a:xfrm>
            <a:off x="1554480" y="658368"/>
            <a:ext cx="9905695" cy="640080"/>
          </a:xfrm>
          <a:prstGeom prst="rect">
            <a:avLst/>
          </a:prstGeom>
          <a:noFill/>
        </p:spPr>
        <p:txBody>
          <a:bodyPr wrap="square" anchor="ctr" lIns="0" rIns="0" tIns="0" bIns="0">
            <a:spAutoFit/>
          </a:bodyPr>
          <a:lstStyle/>
          <a:p>
            <a:r>
              <a:rPr sz="3000" i="0" b="1">
                <a:solidFill>
                  <a:srgbClr val="1B2A8C"/>
                </a:solidFill>
                <a:latin typeface="Cambria"/>
              </a:rPr>
              <a:t>Brands in Egypt</a:t>
            </a:r>
          </a:p>
        </p:txBody>
      </p:sp>
      <p:sp>
        <p:nvSpPr>
          <p:cNvPr id="8" name="TextBox 7"/>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5A6072"/>
                </a:solidFill>
                <a:latin typeface="Calibri"/>
              </a:rPr>
              <a:t>Practical Pharmacology of the Central Nervous System  ·  Section 4  ·  Depression and Antidepressant Drugs</a:t>
            </a:r>
          </a:p>
        </p:txBody>
      </p:sp>
      <p:sp>
        <p:nvSpPr>
          <p:cNvPr id="9" name="TextBox 8"/>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5A6072"/>
                </a:solidFill>
                <a:latin typeface="Calibri"/>
              </a:rPr>
              <a:t>17 / 25</a:t>
            </a:r>
          </a:p>
        </p:txBody>
      </p:sp>
      <p:pic>
        <p:nvPicPr>
          <p:cNvPr id="10" name="Picture 9" descr="logo"/>
          <p:cNvPicPr>
            <a:picLocks noChangeAspect="1"/>
          </p:cNvPicPr>
          <p:nvPr/>
        </p:nvPicPr>
        <p:blipFill>
          <a:blip r:embed="rId3"/>
          <a:stretch>
            <a:fillRect/>
          </a:stretch>
        </p:blipFill>
        <p:spPr>
          <a:xfrm>
            <a:off x="11247120" y="6309360"/>
            <a:ext cx="384048" cy="384048"/>
          </a:xfrm>
          <a:prstGeom prst="rect">
            <a:avLst/>
          </a:prstGeom>
        </p:spPr>
      </p:pic>
      <p:graphicFrame>
        <p:nvGraphicFramePr>
          <p:cNvPr id="11" name="Table 10"/>
          <p:cNvGraphicFramePr>
            <a:graphicFrameLocks noGrp="1"/>
          </p:cNvGraphicFramePr>
          <p:nvPr/>
        </p:nvGraphicFramePr>
        <p:xfrm>
          <a:off x="548640" y="1554480"/>
          <a:ext cx="11094413" cy="2560320"/>
        </p:xfrm>
        <a:graphic>
          <a:graphicData uri="http://schemas.openxmlformats.org/drawingml/2006/table">
            <a:tbl>
              <a:tblPr firstRow="0" bandRow="0">
                <a:tableStyleId>{5C22544A-7EE6-4342-B048-85BDC9FD1C3A}</a:tableStyleId>
              </a:tblPr>
              <a:tblGrid>
                <a:gridCol w="2958510"/>
                <a:gridCol w="3254361"/>
                <a:gridCol w="4881542"/>
              </a:tblGrid>
              <a:tr h="640080">
                <a:tc>
                  <a:txBody>
                    <a:bodyPr/>
                    <a:lstStyle/>
                    <a:p>
                      <a:r>
                        <a:rPr sz="1900" i="0" b="1">
                          <a:solidFill>
                            <a:srgbClr val="FFFFFF"/>
                          </a:solidFill>
                          <a:latin typeface="Calibri"/>
                        </a:rPr>
                        <a:t>Generic name</a:t>
                      </a:r>
                    </a:p>
                  </a:txBody>
                  <a:tcPr marL="109728" marR="109728" marT="45720" marB="45720" anchor="ctr">
                    <a:solidFill>
                      <a:srgbClr val="1B2A8C"/>
                    </a:solidFill>
                  </a:tcPr>
                </a:tc>
                <a:tc>
                  <a:txBody>
                    <a:bodyPr/>
                    <a:lstStyle/>
                    <a:p>
                      <a:r>
                        <a:rPr sz="1900" i="0" b="1">
                          <a:solidFill>
                            <a:srgbClr val="FFFFFF"/>
                          </a:solidFill>
                          <a:latin typeface="Calibri"/>
                        </a:rPr>
                        <a:t>Brand examples</a:t>
                      </a:r>
                    </a:p>
                  </a:txBody>
                  <a:tcPr marL="109728" marR="109728" marT="45720" marB="45720" anchor="ctr">
                    <a:solidFill>
                      <a:srgbClr val="1B2A8C"/>
                    </a:solidFill>
                  </a:tcPr>
                </a:tc>
                <a:tc>
                  <a:txBody>
                    <a:bodyPr/>
                    <a:lstStyle/>
                    <a:p>
                      <a:r>
                        <a:rPr sz="1900" i="0" b="1">
                          <a:solidFill>
                            <a:srgbClr val="FFFFFF"/>
                          </a:solidFill>
                          <a:latin typeface="Calibri"/>
                        </a:rPr>
                        <a:t>Dosage forms</a:t>
                      </a:r>
                    </a:p>
                  </a:txBody>
                  <a:tcPr marL="109728" marR="109728" marT="45720" marB="45720" anchor="ctr">
                    <a:solidFill>
                      <a:srgbClr val="1B2A8C"/>
                    </a:solidFill>
                  </a:tcPr>
                </a:tc>
              </a:tr>
              <a:tr h="640080">
                <a:tc>
                  <a:txBody>
                    <a:bodyPr/>
                    <a:lstStyle/>
                    <a:p>
                      <a:r>
                        <a:rPr sz="2000" i="0" b="1">
                          <a:solidFill>
                            <a:srgbClr val="1A1F36"/>
                          </a:solidFill>
                          <a:latin typeface="Calibri"/>
                        </a:rPr>
                        <a:t>Venlafaxine</a:t>
                      </a:r>
                    </a:p>
                  </a:txBody>
                  <a:tcPr marL="109728" marR="109728" marT="45720" marB="45720" anchor="ctr">
                    <a:solidFill>
                      <a:srgbClr val="FFFFFF"/>
                    </a:solidFill>
                  </a:tcPr>
                </a:tc>
                <a:tc>
                  <a:txBody>
                    <a:bodyPr/>
                    <a:lstStyle/>
                    <a:p>
                      <a:r>
                        <a:rPr sz="2000" i="0" b="0">
                          <a:solidFill>
                            <a:srgbClr val="1A1F36"/>
                          </a:solidFill>
                          <a:latin typeface="Calibri"/>
                        </a:rPr>
                        <a:t>Efexor XR</a:t>
                      </a:r>
                    </a:p>
                  </a:txBody>
                  <a:tcPr marL="109728" marR="109728" marT="45720" marB="45720" anchor="ctr">
                    <a:solidFill>
                      <a:srgbClr val="FFFFFF"/>
                    </a:solidFill>
                  </a:tcPr>
                </a:tc>
                <a:tc>
                  <a:txBody>
                    <a:bodyPr/>
                    <a:lstStyle/>
                    <a:p>
                      <a:r>
                        <a:rPr sz="2000" i="0" b="0">
                          <a:solidFill>
                            <a:srgbClr val="1A1F36"/>
                          </a:solidFill>
                          <a:latin typeface="Calibri"/>
                        </a:rPr>
                        <a:t>Extended-release capsules</a:t>
                      </a:r>
                    </a:p>
                  </a:txBody>
                  <a:tcPr marL="109728" marR="109728" marT="45720" marB="45720" anchor="ctr">
                    <a:solidFill>
                      <a:srgbClr val="FFFFFF"/>
                    </a:solidFill>
                  </a:tcPr>
                </a:tc>
              </a:tr>
              <a:tr h="640080">
                <a:tc>
                  <a:txBody>
                    <a:bodyPr/>
                    <a:lstStyle/>
                    <a:p>
                      <a:r>
                        <a:rPr sz="2000" i="0" b="1">
                          <a:solidFill>
                            <a:srgbClr val="1A1F36"/>
                          </a:solidFill>
                          <a:latin typeface="Calibri"/>
                        </a:rPr>
                        <a:t>Duloxetine</a:t>
                      </a:r>
                    </a:p>
                  </a:txBody>
                  <a:tcPr marL="109728" marR="109728" marT="45720" marB="45720" anchor="ctr">
                    <a:solidFill>
                      <a:srgbClr val="F1F2F8"/>
                    </a:solidFill>
                  </a:tcPr>
                </a:tc>
                <a:tc>
                  <a:txBody>
                    <a:bodyPr/>
                    <a:lstStyle/>
                    <a:p>
                      <a:r>
                        <a:rPr sz="2000" i="0" b="0">
                          <a:solidFill>
                            <a:srgbClr val="1A1F36"/>
                          </a:solidFill>
                          <a:latin typeface="Calibri"/>
                        </a:rPr>
                        <a:t>Cymbalta</a:t>
                      </a:r>
                    </a:p>
                  </a:txBody>
                  <a:tcPr marL="109728" marR="109728" marT="45720" marB="45720" anchor="ctr">
                    <a:solidFill>
                      <a:srgbClr val="F1F2F8"/>
                    </a:solidFill>
                  </a:tcPr>
                </a:tc>
                <a:tc>
                  <a:txBody>
                    <a:bodyPr/>
                    <a:lstStyle/>
                    <a:p>
                      <a:r>
                        <a:rPr sz="2000" i="0" b="0">
                          <a:solidFill>
                            <a:srgbClr val="1A1F36"/>
                          </a:solidFill>
                          <a:latin typeface="Calibri"/>
                        </a:rPr>
                        <a:t>Capsules</a:t>
                      </a:r>
                    </a:p>
                  </a:txBody>
                  <a:tcPr marL="109728" marR="109728" marT="45720" marB="45720" anchor="ctr">
                    <a:solidFill>
                      <a:srgbClr val="F1F2F8"/>
                    </a:solidFill>
                  </a:tcPr>
                </a:tc>
              </a:tr>
              <a:tr h="640080">
                <a:tc>
                  <a:txBody>
                    <a:bodyPr/>
                    <a:lstStyle/>
                    <a:p>
                      <a:r>
                        <a:rPr sz="2000" i="0" b="1">
                          <a:solidFill>
                            <a:srgbClr val="1A1F36"/>
                          </a:solidFill>
                          <a:latin typeface="Calibri"/>
                        </a:rPr>
                        <a:t>Mirtazapine</a:t>
                      </a:r>
                    </a:p>
                  </a:txBody>
                  <a:tcPr marL="109728" marR="109728" marT="45720" marB="45720" anchor="ctr">
                    <a:solidFill>
                      <a:srgbClr val="FFFFFF"/>
                    </a:solidFill>
                  </a:tcPr>
                </a:tc>
                <a:tc>
                  <a:txBody>
                    <a:bodyPr/>
                    <a:lstStyle/>
                    <a:p>
                      <a:r>
                        <a:rPr sz="2000" i="0" b="0">
                          <a:solidFill>
                            <a:srgbClr val="1A1F36"/>
                          </a:solidFill>
                          <a:latin typeface="Calibri"/>
                        </a:rPr>
                        <a:t>Mirtimash</a:t>
                      </a:r>
                    </a:p>
                  </a:txBody>
                  <a:tcPr marL="109728" marR="109728" marT="45720" marB="45720" anchor="ctr">
                    <a:solidFill>
                      <a:srgbClr val="FFFFFF"/>
                    </a:solidFill>
                  </a:tcPr>
                </a:tc>
                <a:tc>
                  <a:txBody>
                    <a:bodyPr/>
                    <a:lstStyle/>
                    <a:p>
                      <a:r>
                        <a:rPr sz="2000" i="0" b="0">
                          <a:solidFill>
                            <a:srgbClr val="1A1F36"/>
                          </a:solidFill>
                          <a:latin typeface="Calibri"/>
                        </a:rPr>
                        <a:t>Tablets</a:t>
                      </a:r>
                    </a:p>
                  </a:txBody>
                  <a:tcPr marL="109728" marR="109728" marT="45720" marB="45720" anchor="ctr">
                    <a:solidFill>
                      <a:srgbClr val="FFFFFF"/>
                    </a:solidFill>
                  </a:tcPr>
                </a:tc>
              </a:tr>
            </a:tbl>
          </a:graphicData>
        </a:graphic>
      </p:graphicFrame>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E8EAF4"/>
        </a:solidFill>
        <a:effectLst/>
      </p:bgPr>
    </p:bg>
    <p:spTree>
      <p:nvGrpSpPr>
        <p:cNvPr id="1" name=""/>
        <p:cNvGrpSpPr/>
        <p:nvPr/>
      </p:nvGrpSpPr>
      <p:grpSpPr/>
      <p:pic>
        <p:nvPicPr>
          <p:cNvPr id="2" name="Picture 1" descr=""/>
          <p:cNvPicPr>
            <a:picLocks noChangeAspect="1"/>
          </p:cNvPicPr>
          <p:nvPr/>
        </p:nvPicPr>
        <p:blipFill>
          <a:blip r:embed="rId2"/>
          <a:stretch>
            <a:fillRect/>
          </a:stretch>
        </p:blipFill>
        <p:spPr>
          <a:xfrm>
            <a:off x="0" y="0"/>
            <a:ext cx="12191695" cy="6858000"/>
          </a:xfrm>
          <a:prstGeom prst="rect">
            <a:avLst/>
          </a:prstGeom>
        </p:spPr>
      </p:pic>
      <p:sp>
        <p:nvSpPr>
          <p:cNvPr id="3" name="Rounded Rectangle 2"/>
          <p:cNvSpPr/>
          <p:nvPr/>
        </p:nvSpPr>
        <p:spPr>
          <a:xfrm>
            <a:off x="411479" y="274320"/>
            <a:ext cx="11368735" cy="1097280"/>
          </a:xfrm>
          <a:prstGeom prst="roundRect">
            <a:avLst>
              <a:gd name="adj" fmla="val 14000"/>
            </a:avLst>
          </a:prstGeom>
          <a:solidFill>
            <a:srgbClr val="FFFFFF">
              <a:alpha val="70000"/>
            </a:srgbClr>
          </a:solidFill>
          <a:ln w="28575">
            <a:solidFill>
              <a:srgbClr val="1B2A8C"/>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31519" y="338328"/>
            <a:ext cx="10728655" cy="32004"/>
          </a:xfrm>
          <a:prstGeom prst="roundRect">
            <a:avLst>
              <a:gd name="adj" fmla="val 50000"/>
            </a:avLst>
          </a:prstGeom>
          <a:solidFill>
            <a:srgbClr val="FFFFFF">
              <a:alpha val="8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640080" y="493776"/>
            <a:ext cx="658368" cy="658368"/>
          </a:xfrm>
          <a:prstGeom prst="ellipse">
            <a:avLst/>
          </a:prstGeom>
          <a:solidFill>
            <a:srgbClr val="8D6A2A"/>
          </a:solidFill>
          <a:ln>
            <a:noFill/>
          </a:ln>
          <a:effectLst>
            <a:outerShdw blurRad="203200" dist="50800" dir="5400000" algn="t" rotWithShape="0">
              <a:srgbClr val="1A2340">
                <a:alpha val="20000"/>
              </a:srgbClr>
            </a:outerShdw>
          </a:effectLst>
          <a:scene3d>
            <a:camera prst="orthographicFront"/>
            <a:lightRig rig="threePt" dir="t"/>
          </a:scene3d>
          <a:sp3d>
            <a:bevelT w="44450" h="25400" prst="softRound"/>
          </a:sp3d>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800" i="0" b="1">
                <a:solidFill>
                  <a:srgbClr val="FFFFFF"/>
                </a:solidFill>
                <a:latin typeface="Cambria"/>
              </a:rPr>
              <a:t>04</a:t>
            </a:r>
          </a:p>
        </p:txBody>
      </p:sp>
      <p:sp>
        <p:nvSpPr>
          <p:cNvPr id="6" name="TextBox 5"/>
          <p:cNvSpPr txBox="1"/>
          <p:nvPr/>
        </p:nvSpPr>
        <p:spPr>
          <a:xfrm>
            <a:off x="1554480" y="402336"/>
            <a:ext cx="9905695" cy="274320"/>
          </a:xfrm>
          <a:prstGeom prst="rect">
            <a:avLst/>
          </a:prstGeom>
          <a:noFill/>
        </p:spPr>
        <p:txBody>
          <a:bodyPr wrap="square" anchor="t" lIns="0" rIns="0" tIns="0" bIns="0">
            <a:spAutoFit/>
          </a:bodyPr>
          <a:lstStyle/>
          <a:p>
            <a:r>
              <a:rPr sz="1200" i="0" b="1" spc="150">
                <a:solidFill>
                  <a:srgbClr val="826227"/>
                </a:solidFill>
                <a:latin typeface="Calibri"/>
              </a:rPr>
              <a:t>SECTION 4</a:t>
            </a:r>
          </a:p>
        </p:txBody>
      </p:sp>
      <p:sp>
        <p:nvSpPr>
          <p:cNvPr id="7" name="TextBox 6"/>
          <p:cNvSpPr txBox="1"/>
          <p:nvPr/>
        </p:nvSpPr>
        <p:spPr>
          <a:xfrm>
            <a:off x="1554480" y="658368"/>
            <a:ext cx="9905695" cy="640080"/>
          </a:xfrm>
          <a:prstGeom prst="rect">
            <a:avLst/>
          </a:prstGeom>
          <a:noFill/>
        </p:spPr>
        <p:txBody>
          <a:bodyPr wrap="square" anchor="ctr" lIns="0" rIns="0" tIns="0" bIns="0">
            <a:spAutoFit/>
          </a:bodyPr>
          <a:lstStyle/>
          <a:p>
            <a:r>
              <a:rPr sz="3000" i="0" b="1">
                <a:solidFill>
                  <a:srgbClr val="1B2A8C"/>
                </a:solidFill>
                <a:latin typeface="Cambria"/>
              </a:rPr>
              <a:t>For Discussion</a:t>
            </a:r>
          </a:p>
        </p:txBody>
      </p:sp>
      <p:sp>
        <p:nvSpPr>
          <p:cNvPr id="8" name="TextBox 7"/>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5A6072"/>
                </a:solidFill>
                <a:latin typeface="Calibri"/>
              </a:rPr>
              <a:t>Practical Pharmacology of the Central Nervous System  ·  Section 4  ·  Depression and Antidepressant Drugs</a:t>
            </a:r>
          </a:p>
        </p:txBody>
      </p:sp>
      <p:sp>
        <p:nvSpPr>
          <p:cNvPr id="9" name="TextBox 8"/>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5A6072"/>
                </a:solidFill>
                <a:latin typeface="Calibri"/>
              </a:rPr>
              <a:t>18 / 25</a:t>
            </a:r>
          </a:p>
        </p:txBody>
      </p:sp>
      <p:pic>
        <p:nvPicPr>
          <p:cNvPr id="10" name="Picture 9" descr="logo"/>
          <p:cNvPicPr>
            <a:picLocks noChangeAspect="1"/>
          </p:cNvPicPr>
          <p:nvPr/>
        </p:nvPicPr>
        <p:blipFill>
          <a:blip r:embed="rId3"/>
          <a:stretch>
            <a:fillRect/>
          </a:stretch>
        </p:blipFill>
        <p:spPr>
          <a:xfrm>
            <a:off x="11247120" y="6309360"/>
            <a:ext cx="384048" cy="384048"/>
          </a:xfrm>
          <a:prstGeom prst="rect">
            <a:avLst/>
          </a:prstGeom>
        </p:spPr>
      </p:pic>
      <p:sp>
        <p:nvSpPr>
          <p:cNvPr id="11" name="Oval 10"/>
          <p:cNvSpPr/>
          <p:nvPr/>
        </p:nvSpPr>
        <p:spPr>
          <a:xfrm>
            <a:off x="548640" y="1572768"/>
            <a:ext cx="402336" cy="402336"/>
          </a:xfrm>
          <a:prstGeom prst="ellipse">
            <a:avLst/>
          </a:prstGeom>
          <a:solidFill>
            <a:srgbClr val="F9F8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8D6A2A"/>
                </a:solidFill>
                <a:latin typeface="Calibri"/>
              </a:rPr>
              <a:t>1</a:t>
            </a:r>
          </a:p>
        </p:txBody>
      </p:sp>
      <p:sp>
        <p:nvSpPr>
          <p:cNvPr id="12" name="TextBox 11"/>
          <p:cNvSpPr txBox="1"/>
          <p:nvPr/>
        </p:nvSpPr>
        <p:spPr>
          <a:xfrm>
            <a:off x="1143000" y="1591056"/>
            <a:ext cx="10500055" cy="1142237"/>
          </a:xfrm>
          <a:prstGeom prst="rect">
            <a:avLst/>
          </a:prstGeom>
          <a:noFill/>
        </p:spPr>
        <p:txBody>
          <a:bodyPr wrap="square" anchor="t" lIns="0" rIns="0" tIns="0" bIns="0">
            <a:spAutoFit/>
          </a:bodyPr>
          <a:lstStyle/>
          <a:p>
            <a:r>
              <a:rPr sz="2100" i="0" b="0">
                <a:solidFill>
                  <a:srgbClr val="1A1F36"/>
                </a:solidFill>
                <a:latin typeface="Calibri"/>
              </a:rPr>
              <a:t>Why does an antidepressant take weeks to work if it raises monoamines within hours?</a:t>
            </a:r>
          </a:p>
        </p:txBody>
      </p:sp>
      <p:sp>
        <p:nvSpPr>
          <p:cNvPr id="13" name="Oval 12"/>
          <p:cNvSpPr/>
          <p:nvPr/>
        </p:nvSpPr>
        <p:spPr>
          <a:xfrm>
            <a:off x="548640" y="2760726"/>
            <a:ext cx="402336" cy="402336"/>
          </a:xfrm>
          <a:prstGeom prst="ellipse">
            <a:avLst/>
          </a:prstGeom>
          <a:solidFill>
            <a:srgbClr val="F9F8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8D6A2A"/>
                </a:solidFill>
                <a:latin typeface="Calibri"/>
              </a:rPr>
              <a:t>2</a:t>
            </a:r>
          </a:p>
        </p:txBody>
      </p:sp>
      <p:sp>
        <p:nvSpPr>
          <p:cNvPr id="14" name="TextBox 13"/>
          <p:cNvSpPr txBox="1"/>
          <p:nvPr/>
        </p:nvSpPr>
        <p:spPr>
          <a:xfrm>
            <a:off x="1143000" y="2779014"/>
            <a:ext cx="10500055" cy="1142237"/>
          </a:xfrm>
          <a:prstGeom prst="rect">
            <a:avLst/>
          </a:prstGeom>
          <a:noFill/>
        </p:spPr>
        <p:txBody>
          <a:bodyPr wrap="square" anchor="t" lIns="0" rIns="0" tIns="0" bIns="0">
            <a:spAutoFit/>
          </a:bodyPr>
          <a:lstStyle/>
          <a:p>
            <a:r>
              <a:rPr sz="2100" i="0" b="0">
                <a:solidFill>
                  <a:srgbClr val="1A1F36"/>
                </a:solidFill>
                <a:latin typeface="Calibri"/>
              </a:rPr>
              <a:t>A patient on sertraline says the nausea has gone but sexual problems remain. What options would you discuss?</a:t>
            </a:r>
          </a:p>
        </p:txBody>
      </p:sp>
      <p:sp>
        <p:nvSpPr>
          <p:cNvPr id="15" name="Oval 14"/>
          <p:cNvSpPr/>
          <p:nvPr/>
        </p:nvSpPr>
        <p:spPr>
          <a:xfrm>
            <a:off x="548640" y="3948683"/>
            <a:ext cx="402336" cy="402336"/>
          </a:xfrm>
          <a:prstGeom prst="ellipse">
            <a:avLst/>
          </a:prstGeom>
          <a:solidFill>
            <a:srgbClr val="F9F8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8D6A2A"/>
                </a:solidFill>
                <a:latin typeface="Calibri"/>
              </a:rPr>
              <a:t>3</a:t>
            </a:r>
          </a:p>
        </p:txBody>
      </p:sp>
      <p:sp>
        <p:nvSpPr>
          <p:cNvPr id="16" name="TextBox 15"/>
          <p:cNvSpPr txBox="1"/>
          <p:nvPr/>
        </p:nvSpPr>
        <p:spPr>
          <a:xfrm>
            <a:off x="1143000" y="3966971"/>
            <a:ext cx="10500055" cy="1142237"/>
          </a:xfrm>
          <a:prstGeom prst="rect">
            <a:avLst/>
          </a:prstGeom>
          <a:noFill/>
        </p:spPr>
        <p:txBody>
          <a:bodyPr wrap="square" anchor="t" lIns="0" rIns="0" tIns="0" bIns="0">
            <a:spAutoFit/>
          </a:bodyPr>
          <a:lstStyle/>
          <a:p>
            <a:r>
              <a:rPr sz="2100" i="0" b="0">
                <a:solidFill>
                  <a:srgbClr val="1A1F36"/>
                </a:solidFill>
                <a:latin typeface="Calibri"/>
              </a:rPr>
              <a:t>Why must a patient on phenelzine avoid aged cheese, and why is yogurt not the main concern?</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E8EAF4"/>
        </a:solidFill>
        <a:effectLst/>
      </p:bgPr>
    </p:bg>
    <p:spTree>
      <p:nvGrpSpPr>
        <p:cNvPr id="1" name=""/>
        <p:cNvGrpSpPr/>
        <p:nvPr/>
      </p:nvGrpSpPr>
      <p:grpSpPr/>
      <p:pic>
        <p:nvPicPr>
          <p:cNvPr id="2" name="Picture 1" descr=""/>
          <p:cNvPicPr>
            <a:picLocks noChangeAspect="1"/>
          </p:cNvPicPr>
          <p:nvPr/>
        </p:nvPicPr>
        <p:blipFill>
          <a:blip r:embed="rId3"/>
          <a:stretch>
            <a:fillRect/>
          </a:stretch>
        </p:blipFill>
        <p:spPr>
          <a:xfrm>
            <a:off x="0" y="0"/>
            <a:ext cx="12191695" cy="6858000"/>
          </a:xfrm>
          <a:prstGeom prst="rect">
            <a:avLst/>
          </a:prstGeom>
        </p:spPr>
      </p:pic>
      <p:sp>
        <p:nvSpPr>
          <p:cNvPr id="3" name="Rounded Rectangle 2"/>
          <p:cNvSpPr/>
          <p:nvPr/>
        </p:nvSpPr>
        <p:spPr>
          <a:xfrm>
            <a:off x="411479" y="274320"/>
            <a:ext cx="11368735" cy="1097280"/>
          </a:xfrm>
          <a:prstGeom prst="roundRect">
            <a:avLst>
              <a:gd name="adj" fmla="val 14000"/>
            </a:avLst>
          </a:prstGeom>
          <a:solidFill>
            <a:srgbClr val="FFFFFF">
              <a:alpha val="70000"/>
            </a:srgbClr>
          </a:solidFill>
          <a:ln w="28575">
            <a:solidFill>
              <a:srgbClr val="1B2A8C"/>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31519" y="338328"/>
            <a:ext cx="10728655" cy="32004"/>
          </a:xfrm>
          <a:prstGeom prst="roundRect">
            <a:avLst>
              <a:gd name="adj" fmla="val 50000"/>
            </a:avLst>
          </a:prstGeom>
          <a:solidFill>
            <a:srgbClr val="FFFFFF">
              <a:alpha val="8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640080" y="493776"/>
            <a:ext cx="658368" cy="658368"/>
          </a:xfrm>
          <a:prstGeom prst="ellipse">
            <a:avLst/>
          </a:prstGeom>
          <a:solidFill>
            <a:srgbClr val="8D6A2A"/>
          </a:solidFill>
          <a:ln>
            <a:noFill/>
          </a:ln>
          <a:effectLst>
            <a:outerShdw blurRad="203200" dist="50800" dir="5400000" algn="t" rotWithShape="0">
              <a:srgbClr val="1A2340">
                <a:alpha val="20000"/>
              </a:srgbClr>
            </a:outerShdw>
          </a:effectLst>
          <a:scene3d>
            <a:camera prst="orthographicFront"/>
            <a:lightRig rig="threePt" dir="t"/>
          </a:scene3d>
          <a:sp3d>
            <a:bevelT w="44450" h="25400" prst="softRound"/>
          </a:sp3d>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800" i="0" b="1">
                <a:solidFill>
                  <a:srgbClr val="FFFFFF"/>
                </a:solidFill>
                <a:latin typeface="Cambria"/>
              </a:rPr>
              <a:t>04</a:t>
            </a:r>
          </a:p>
        </p:txBody>
      </p:sp>
      <p:sp>
        <p:nvSpPr>
          <p:cNvPr id="6" name="TextBox 5"/>
          <p:cNvSpPr txBox="1"/>
          <p:nvPr/>
        </p:nvSpPr>
        <p:spPr>
          <a:xfrm>
            <a:off x="1554480" y="402336"/>
            <a:ext cx="9905695" cy="274320"/>
          </a:xfrm>
          <a:prstGeom prst="rect">
            <a:avLst/>
          </a:prstGeom>
          <a:noFill/>
        </p:spPr>
        <p:txBody>
          <a:bodyPr wrap="square" anchor="t" lIns="0" rIns="0" tIns="0" bIns="0">
            <a:spAutoFit/>
          </a:bodyPr>
          <a:lstStyle/>
          <a:p>
            <a:r>
              <a:rPr sz="1200" i="0" b="1" spc="150">
                <a:solidFill>
                  <a:srgbClr val="826227"/>
                </a:solidFill>
                <a:latin typeface="Calibri"/>
              </a:rPr>
              <a:t>SECTION 4  ·  QUESTION 1 OF 3</a:t>
            </a:r>
          </a:p>
        </p:txBody>
      </p:sp>
      <p:sp>
        <p:nvSpPr>
          <p:cNvPr id="7" name="TextBox 6"/>
          <p:cNvSpPr txBox="1"/>
          <p:nvPr/>
        </p:nvSpPr>
        <p:spPr>
          <a:xfrm>
            <a:off x="1554480" y="658368"/>
            <a:ext cx="9905695" cy="640080"/>
          </a:xfrm>
          <a:prstGeom prst="rect">
            <a:avLst/>
          </a:prstGeom>
          <a:noFill/>
        </p:spPr>
        <p:txBody>
          <a:bodyPr wrap="square" anchor="ctr" lIns="0" rIns="0" tIns="0" bIns="0">
            <a:spAutoFit/>
          </a:bodyPr>
          <a:lstStyle/>
          <a:p>
            <a:r>
              <a:rPr sz="3000" i="0" b="1">
                <a:solidFill>
                  <a:srgbClr val="1B2A8C"/>
                </a:solidFill>
                <a:latin typeface="Cambria"/>
              </a:rPr>
              <a:t>Your turn</a:t>
            </a:r>
          </a:p>
        </p:txBody>
      </p:sp>
      <p:sp>
        <p:nvSpPr>
          <p:cNvPr id="8" name="TextBox 7"/>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5A6072"/>
                </a:solidFill>
                <a:latin typeface="Calibri"/>
              </a:rPr>
              <a:t>Practical Pharmacology of the Central Nervous System  ·  Section 4  ·  Depression and Antidepressant Drugs</a:t>
            </a:r>
          </a:p>
        </p:txBody>
      </p:sp>
      <p:sp>
        <p:nvSpPr>
          <p:cNvPr id="9" name="TextBox 8"/>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5A6072"/>
                </a:solidFill>
                <a:latin typeface="Calibri"/>
              </a:rPr>
              <a:t>19 / 25</a:t>
            </a:r>
          </a:p>
        </p:txBody>
      </p:sp>
      <p:pic>
        <p:nvPicPr>
          <p:cNvPr id="10" name="Picture 9" descr="logo"/>
          <p:cNvPicPr>
            <a:picLocks noChangeAspect="1"/>
          </p:cNvPicPr>
          <p:nvPr/>
        </p:nvPicPr>
        <p:blipFill>
          <a:blip r:embed="rId4"/>
          <a:stretch>
            <a:fillRect/>
          </a:stretch>
        </p:blipFill>
        <p:spPr>
          <a:xfrm>
            <a:off x="11247120" y="6309360"/>
            <a:ext cx="384048" cy="384048"/>
          </a:xfrm>
          <a:prstGeom prst="rect">
            <a:avLst/>
          </a:prstGeom>
        </p:spPr>
      </p:pic>
      <p:sp>
        <p:nvSpPr>
          <p:cNvPr id="11" name="TextBox 10"/>
          <p:cNvSpPr txBox="1"/>
          <p:nvPr/>
        </p:nvSpPr>
        <p:spPr>
          <a:xfrm>
            <a:off x="548640" y="1554480"/>
            <a:ext cx="11094415" cy="1005840"/>
          </a:xfrm>
          <a:prstGeom prst="rect">
            <a:avLst/>
          </a:prstGeom>
          <a:noFill/>
        </p:spPr>
        <p:txBody>
          <a:bodyPr wrap="square" anchor="t" lIns="0" rIns="0" tIns="0" bIns="0">
            <a:spAutoFit/>
          </a:bodyPr>
          <a:lstStyle/>
          <a:p>
            <a:r>
              <a:rPr sz="2400" i="0" b="1">
                <a:solidFill>
                  <a:srgbClr val="1A1F36"/>
                </a:solidFill>
                <a:latin typeface="Calibri"/>
              </a:rPr>
              <a:t>Why does the antidepressant effect of an SSRI take 2 to 4 weeks?</a:t>
            </a:r>
          </a:p>
        </p:txBody>
      </p:sp>
      <p:sp>
        <p:nvSpPr>
          <p:cNvPr id="12" name="Rounded Rectangle 11"/>
          <p:cNvSpPr/>
          <p:nvPr/>
        </p:nvSpPr>
        <p:spPr>
          <a:xfrm>
            <a:off x="548640" y="2697480"/>
            <a:ext cx="11094415" cy="640080"/>
          </a:xfrm>
          <a:prstGeom prst="roundRect">
            <a:avLst>
              <a:gd name="adj" fmla="val 18000"/>
            </a:avLst>
          </a:prstGeom>
          <a:solidFill>
            <a:srgbClr val="F1F2F8">
              <a:alpha val="80000"/>
            </a:srgbClr>
          </a:solidFill>
          <a:ln w="19050">
            <a:solidFill>
              <a:srgbClr val="FFFFFF"/>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713232" y="2807208"/>
            <a:ext cx="420624" cy="420624"/>
          </a:xfrm>
          <a:prstGeom prst="ellipse">
            <a:avLst/>
          </a:prstGeom>
          <a:solidFill>
            <a:srgbClr val="1B2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A</a:t>
            </a:r>
          </a:p>
        </p:txBody>
      </p:sp>
      <p:sp>
        <p:nvSpPr>
          <p:cNvPr id="14" name="TextBox 13"/>
          <p:cNvSpPr txBox="1"/>
          <p:nvPr/>
        </p:nvSpPr>
        <p:spPr>
          <a:xfrm>
            <a:off x="1371600" y="2697480"/>
            <a:ext cx="10088575" cy="640080"/>
          </a:xfrm>
          <a:prstGeom prst="rect">
            <a:avLst/>
          </a:prstGeom>
          <a:noFill/>
        </p:spPr>
        <p:txBody>
          <a:bodyPr wrap="square" anchor="ctr" lIns="0" rIns="0" tIns="0" bIns="0">
            <a:spAutoFit/>
          </a:bodyPr>
          <a:lstStyle/>
          <a:p>
            <a:r>
              <a:rPr sz="1900" i="0" b="0">
                <a:solidFill>
                  <a:srgbClr val="1A1F36"/>
                </a:solidFill>
                <a:latin typeface="Calibri"/>
              </a:rPr>
              <a:t>The drug takes weeks to be absorbed.</a:t>
            </a:r>
          </a:p>
        </p:txBody>
      </p:sp>
      <p:sp>
        <p:nvSpPr>
          <p:cNvPr id="15" name="Rounded Rectangle 14"/>
          <p:cNvSpPr/>
          <p:nvPr/>
        </p:nvSpPr>
        <p:spPr>
          <a:xfrm>
            <a:off x="548640" y="3465576"/>
            <a:ext cx="11094415" cy="640080"/>
          </a:xfrm>
          <a:prstGeom prst="roundRect">
            <a:avLst>
              <a:gd name="adj" fmla="val 18000"/>
            </a:avLst>
          </a:prstGeom>
          <a:solidFill>
            <a:srgbClr val="F1F2F8">
              <a:alpha val="80000"/>
            </a:srgbClr>
          </a:solidFill>
          <a:ln w="19050">
            <a:solidFill>
              <a:srgbClr val="FFFFFF"/>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713232" y="3575304"/>
            <a:ext cx="420624" cy="420624"/>
          </a:xfrm>
          <a:prstGeom prst="ellipse">
            <a:avLst/>
          </a:prstGeom>
          <a:solidFill>
            <a:srgbClr val="1B2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B</a:t>
            </a:r>
          </a:p>
        </p:txBody>
      </p:sp>
      <p:sp>
        <p:nvSpPr>
          <p:cNvPr id="17" name="TextBox 16"/>
          <p:cNvSpPr txBox="1"/>
          <p:nvPr/>
        </p:nvSpPr>
        <p:spPr>
          <a:xfrm>
            <a:off x="1371600" y="3465576"/>
            <a:ext cx="10088575" cy="640080"/>
          </a:xfrm>
          <a:prstGeom prst="rect">
            <a:avLst/>
          </a:prstGeom>
          <a:noFill/>
        </p:spPr>
        <p:txBody>
          <a:bodyPr wrap="square" anchor="ctr" lIns="0" rIns="0" tIns="0" bIns="0">
            <a:spAutoFit/>
          </a:bodyPr>
          <a:lstStyle/>
          <a:p>
            <a:r>
              <a:rPr sz="1900" i="0" b="0">
                <a:solidFill>
                  <a:srgbClr val="1A1F36"/>
                </a:solidFill>
                <a:latin typeface="Calibri"/>
              </a:rPr>
              <a:t>Slow adaptive changes in receptors and neurotrophic factors are needed.</a:t>
            </a:r>
          </a:p>
        </p:txBody>
      </p:sp>
      <p:sp>
        <p:nvSpPr>
          <p:cNvPr id="18" name="Rounded Rectangle 17"/>
          <p:cNvSpPr/>
          <p:nvPr/>
        </p:nvSpPr>
        <p:spPr>
          <a:xfrm>
            <a:off x="548640" y="4233672"/>
            <a:ext cx="11094415" cy="640080"/>
          </a:xfrm>
          <a:prstGeom prst="roundRect">
            <a:avLst>
              <a:gd name="adj" fmla="val 18000"/>
            </a:avLst>
          </a:prstGeom>
          <a:solidFill>
            <a:srgbClr val="F1F2F8">
              <a:alpha val="80000"/>
            </a:srgbClr>
          </a:solidFill>
          <a:ln w="19050">
            <a:solidFill>
              <a:srgbClr val="FFFFFF"/>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713232" y="4343400"/>
            <a:ext cx="420624" cy="420624"/>
          </a:xfrm>
          <a:prstGeom prst="ellipse">
            <a:avLst/>
          </a:prstGeom>
          <a:solidFill>
            <a:srgbClr val="1B2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C</a:t>
            </a:r>
          </a:p>
        </p:txBody>
      </p:sp>
      <p:sp>
        <p:nvSpPr>
          <p:cNvPr id="20" name="TextBox 19"/>
          <p:cNvSpPr txBox="1"/>
          <p:nvPr/>
        </p:nvSpPr>
        <p:spPr>
          <a:xfrm>
            <a:off x="1371600" y="4233672"/>
            <a:ext cx="10088575" cy="640080"/>
          </a:xfrm>
          <a:prstGeom prst="rect">
            <a:avLst/>
          </a:prstGeom>
          <a:noFill/>
        </p:spPr>
        <p:txBody>
          <a:bodyPr wrap="square" anchor="ctr" lIns="0" rIns="0" tIns="0" bIns="0">
            <a:spAutoFit/>
          </a:bodyPr>
          <a:lstStyle/>
          <a:p>
            <a:r>
              <a:rPr sz="1900" i="0" b="0">
                <a:solidFill>
                  <a:srgbClr val="1A1F36"/>
                </a:solidFill>
                <a:latin typeface="Calibri"/>
              </a:rPr>
              <a:t>SERT is blocked only after weeks.</a:t>
            </a:r>
          </a:p>
        </p:txBody>
      </p:sp>
      <p:sp>
        <p:nvSpPr>
          <p:cNvPr id="21" name="Rounded Rectangle 20"/>
          <p:cNvSpPr/>
          <p:nvPr/>
        </p:nvSpPr>
        <p:spPr>
          <a:xfrm>
            <a:off x="548640" y="5001768"/>
            <a:ext cx="11094415" cy="640080"/>
          </a:xfrm>
          <a:prstGeom prst="roundRect">
            <a:avLst>
              <a:gd name="adj" fmla="val 18000"/>
            </a:avLst>
          </a:prstGeom>
          <a:solidFill>
            <a:srgbClr val="F1F2F8">
              <a:alpha val="80000"/>
            </a:srgbClr>
          </a:solidFill>
          <a:ln w="19050">
            <a:solidFill>
              <a:srgbClr val="FFFFFF"/>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713232" y="5111496"/>
            <a:ext cx="420624" cy="420624"/>
          </a:xfrm>
          <a:prstGeom prst="ellipse">
            <a:avLst/>
          </a:prstGeom>
          <a:solidFill>
            <a:srgbClr val="1B2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D</a:t>
            </a:r>
          </a:p>
        </p:txBody>
      </p:sp>
      <p:sp>
        <p:nvSpPr>
          <p:cNvPr id="23" name="TextBox 22"/>
          <p:cNvSpPr txBox="1"/>
          <p:nvPr/>
        </p:nvSpPr>
        <p:spPr>
          <a:xfrm>
            <a:off x="1371600" y="5001768"/>
            <a:ext cx="10088575" cy="640080"/>
          </a:xfrm>
          <a:prstGeom prst="rect">
            <a:avLst/>
          </a:prstGeom>
          <a:noFill/>
        </p:spPr>
        <p:txBody>
          <a:bodyPr wrap="square" anchor="ctr" lIns="0" rIns="0" tIns="0" bIns="0">
            <a:spAutoFit/>
          </a:bodyPr>
          <a:lstStyle/>
          <a:p>
            <a:r>
              <a:rPr sz="1900" i="0" b="0">
                <a:solidFill>
                  <a:srgbClr val="1A1F36"/>
                </a:solidFill>
                <a:latin typeface="Calibri"/>
              </a:rPr>
              <a:t>The drug must first be converted to an active metabolite.</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E8EAF4"/>
        </a:solidFill>
        <a:effectLst/>
      </p:bgPr>
    </p:bg>
    <p:spTree>
      <p:nvGrpSpPr>
        <p:cNvPr id="1" name=""/>
        <p:cNvGrpSpPr/>
        <p:nvPr/>
      </p:nvGrpSpPr>
      <p:grpSpPr/>
      <p:pic>
        <p:nvPicPr>
          <p:cNvPr id="2" name="Picture 1" descr=""/>
          <p:cNvPicPr>
            <a:picLocks noChangeAspect="1"/>
          </p:cNvPicPr>
          <p:nvPr/>
        </p:nvPicPr>
        <p:blipFill>
          <a:blip r:embed="rId2"/>
          <a:stretch>
            <a:fillRect/>
          </a:stretch>
        </p:blipFill>
        <p:spPr>
          <a:xfrm>
            <a:off x="0" y="0"/>
            <a:ext cx="12191695" cy="6858000"/>
          </a:xfrm>
          <a:prstGeom prst="rect">
            <a:avLst/>
          </a:prstGeom>
        </p:spPr>
      </p:pic>
      <p:sp>
        <p:nvSpPr>
          <p:cNvPr id="3" name="Rounded Rectangle 2"/>
          <p:cNvSpPr/>
          <p:nvPr/>
        </p:nvSpPr>
        <p:spPr>
          <a:xfrm>
            <a:off x="411479" y="274320"/>
            <a:ext cx="11368735" cy="1097280"/>
          </a:xfrm>
          <a:prstGeom prst="roundRect">
            <a:avLst>
              <a:gd name="adj" fmla="val 14000"/>
            </a:avLst>
          </a:prstGeom>
          <a:solidFill>
            <a:srgbClr val="FFFFFF">
              <a:alpha val="70000"/>
            </a:srgbClr>
          </a:solidFill>
          <a:ln w="28575">
            <a:solidFill>
              <a:srgbClr val="1B2A8C"/>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31519" y="338328"/>
            <a:ext cx="10728655" cy="32004"/>
          </a:xfrm>
          <a:prstGeom prst="roundRect">
            <a:avLst>
              <a:gd name="adj" fmla="val 50000"/>
            </a:avLst>
          </a:prstGeom>
          <a:solidFill>
            <a:srgbClr val="FFFFFF">
              <a:alpha val="8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640080" y="493776"/>
            <a:ext cx="658368" cy="658368"/>
          </a:xfrm>
          <a:prstGeom prst="ellipse">
            <a:avLst/>
          </a:prstGeom>
          <a:solidFill>
            <a:srgbClr val="8D6A2A"/>
          </a:solidFill>
          <a:ln>
            <a:noFill/>
          </a:ln>
          <a:effectLst>
            <a:outerShdw blurRad="203200" dist="50800" dir="5400000" algn="t" rotWithShape="0">
              <a:srgbClr val="1A2340">
                <a:alpha val="20000"/>
              </a:srgbClr>
            </a:outerShdw>
          </a:effectLst>
          <a:scene3d>
            <a:camera prst="orthographicFront"/>
            <a:lightRig rig="threePt" dir="t"/>
          </a:scene3d>
          <a:sp3d>
            <a:bevelT w="44450" h="25400" prst="softRound"/>
          </a:sp3d>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800" i="0" b="1">
                <a:solidFill>
                  <a:srgbClr val="FFFFFF"/>
                </a:solidFill>
                <a:latin typeface="Cambria"/>
              </a:rPr>
              <a:t>04</a:t>
            </a:r>
          </a:p>
        </p:txBody>
      </p:sp>
      <p:sp>
        <p:nvSpPr>
          <p:cNvPr id="6" name="TextBox 5"/>
          <p:cNvSpPr txBox="1"/>
          <p:nvPr/>
        </p:nvSpPr>
        <p:spPr>
          <a:xfrm>
            <a:off x="1554480" y="402336"/>
            <a:ext cx="9905695" cy="274320"/>
          </a:xfrm>
          <a:prstGeom prst="rect">
            <a:avLst/>
          </a:prstGeom>
          <a:noFill/>
        </p:spPr>
        <p:txBody>
          <a:bodyPr wrap="square" anchor="t" lIns="0" rIns="0" tIns="0" bIns="0">
            <a:spAutoFit/>
          </a:bodyPr>
          <a:lstStyle/>
          <a:p>
            <a:r>
              <a:rPr sz="1200" i="0" b="1" spc="150">
                <a:solidFill>
                  <a:srgbClr val="826227"/>
                </a:solidFill>
                <a:latin typeface="Calibri"/>
              </a:rPr>
              <a:t>SECTION 4  ·  QUESTION 1 OF 3  ·  ANSWER</a:t>
            </a:r>
          </a:p>
        </p:txBody>
      </p:sp>
      <p:sp>
        <p:nvSpPr>
          <p:cNvPr id="7" name="TextBox 6"/>
          <p:cNvSpPr txBox="1"/>
          <p:nvPr/>
        </p:nvSpPr>
        <p:spPr>
          <a:xfrm>
            <a:off x="1554480" y="658368"/>
            <a:ext cx="9905695" cy="640080"/>
          </a:xfrm>
          <a:prstGeom prst="rect">
            <a:avLst/>
          </a:prstGeom>
          <a:noFill/>
        </p:spPr>
        <p:txBody>
          <a:bodyPr wrap="square" anchor="ctr" lIns="0" rIns="0" tIns="0" bIns="0">
            <a:spAutoFit/>
          </a:bodyPr>
          <a:lstStyle/>
          <a:p>
            <a:r>
              <a:rPr sz="3000" i="0" b="1">
                <a:solidFill>
                  <a:srgbClr val="1B2A8C"/>
                </a:solidFill>
                <a:latin typeface="Cambria"/>
              </a:rPr>
              <a:t>Check your answer</a:t>
            </a:r>
          </a:p>
        </p:txBody>
      </p:sp>
      <p:sp>
        <p:nvSpPr>
          <p:cNvPr id="8" name="TextBox 7"/>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5A6072"/>
                </a:solidFill>
                <a:latin typeface="Calibri"/>
              </a:rPr>
              <a:t>Practical Pharmacology of the Central Nervous System  ·  Section 4  ·  Depression and Antidepressant Drugs</a:t>
            </a:r>
          </a:p>
        </p:txBody>
      </p:sp>
      <p:sp>
        <p:nvSpPr>
          <p:cNvPr id="9" name="TextBox 8"/>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5A6072"/>
                </a:solidFill>
                <a:latin typeface="Calibri"/>
              </a:rPr>
              <a:t>20 / 25</a:t>
            </a:r>
          </a:p>
        </p:txBody>
      </p:sp>
      <p:pic>
        <p:nvPicPr>
          <p:cNvPr id="10" name="Picture 9" descr="logo"/>
          <p:cNvPicPr>
            <a:picLocks noChangeAspect="1"/>
          </p:cNvPicPr>
          <p:nvPr/>
        </p:nvPicPr>
        <p:blipFill>
          <a:blip r:embed="rId3"/>
          <a:stretch>
            <a:fillRect/>
          </a:stretch>
        </p:blipFill>
        <p:spPr>
          <a:xfrm>
            <a:off x="11247120" y="6309360"/>
            <a:ext cx="384048" cy="384048"/>
          </a:xfrm>
          <a:prstGeom prst="rect">
            <a:avLst/>
          </a:prstGeom>
        </p:spPr>
      </p:pic>
      <p:sp>
        <p:nvSpPr>
          <p:cNvPr id="11" name="TextBox 10"/>
          <p:cNvSpPr txBox="1"/>
          <p:nvPr/>
        </p:nvSpPr>
        <p:spPr>
          <a:xfrm>
            <a:off x="548640" y="1554480"/>
            <a:ext cx="11094415" cy="1005840"/>
          </a:xfrm>
          <a:prstGeom prst="rect">
            <a:avLst/>
          </a:prstGeom>
          <a:noFill/>
        </p:spPr>
        <p:txBody>
          <a:bodyPr wrap="square" anchor="t" lIns="0" rIns="0" tIns="0" bIns="0">
            <a:spAutoFit/>
          </a:bodyPr>
          <a:lstStyle/>
          <a:p>
            <a:r>
              <a:rPr sz="2400" i="0" b="1">
                <a:solidFill>
                  <a:srgbClr val="1A1F36"/>
                </a:solidFill>
                <a:latin typeface="Calibri"/>
              </a:rPr>
              <a:t>Why does the antidepressant effect of an SSRI take 2 to 4 weeks?</a:t>
            </a:r>
          </a:p>
        </p:txBody>
      </p:sp>
      <p:sp>
        <p:nvSpPr>
          <p:cNvPr id="12" name="Rounded Rectangle 11"/>
          <p:cNvSpPr/>
          <p:nvPr/>
        </p:nvSpPr>
        <p:spPr>
          <a:xfrm>
            <a:off x="548640" y="2606040"/>
            <a:ext cx="11094415" cy="548640"/>
          </a:xfrm>
          <a:prstGeom prst="roundRect">
            <a:avLst>
              <a:gd name="adj" fmla="val 18000"/>
            </a:avLst>
          </a:prstGeom>
          <a:solidFill>
            <a:srgbClr val="F3F4F5">
              <a:alpha val="80000"/>
            </a:srgbClr>
          </a:solidFill>
          <a:ln w="19050">
            <a:solidFill>
              <a:srgbClr val="FFFFFF"/>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713232" y="2670048"/>
            <a:ext cx="420624" cy="420624"/>
          </a:xfrm>
          <a:prstGeom prst="ellipse">
            <a:avLst/>
          </a:prstGeom>
          <a:solidFill>
            <a:srgbClr val="DEDFE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5A6072"/>
                </a:solidFill>
                <a:latin typeface="Calibri"/>
              </a:rPr>
              <a:t>A</a:t>
            </a:r>
          </a:p>
        </p:txBody>
      </p:sp>
      <p:sp>
        <p:nvSpPr>
          <p:cNvPr id="14" name="TextBox 13"/>
          <p:cNvSpPr txBox="1"/>
          <p:nvPr/>
        </p:nvSpPr>
        <p:spPr>
          <a:xfrm>
            <a:off x="1371600" y="2606040"/>
            <a:ext cx="10088575" cy="548640"/>
          </a:xfrm>
          <a:prstGeom prst="rect">
            <a:avLst/>
          </a:prstGeom>
          <a:noFill/>
        </p:spPr>
        <p:txBody>
          <a:bodyPr wrap="square" anchor="ctr" lIns="0" rIns="0" tIns="0" bIns="0">
            <a:spAutoFit/>
          </a:bodyPr>
          <a:lstStyle/>
          <a:p>
            <a:r>
              <a:rPr sz="1900" i="0" b="0">
                <a:solidFill>
                  <a:srgbClr val="5A6072"/>
                </a:solidFill>
                <a:latin typeface="Calibri"/>
              </a:rPr>
              <a:t>The drug takes weeks to be absorbed.</a:t>
            </a:r>
          </a:p>
        </p:txBody>
      </p:sp>
      <p:sp>
        <p:nvSpPr>
          <p:cNvPr id="15" name="Rounded Rectangle 14"/>
          <p:cNvSpPr/>
          <p:nvPr/>
        </p:nvSpPr>
        <p:spPr>
          <a:xfrm>
            <a:off x="548640" y="3282696"/>
            <a:ext cx="11094415" cy="548640"/>
          </a:xfrm>
          <a:prstGeom prst="roundRect">
            <a:avLst>
              <a:gd name="adj" fmla="val 18000"/>
            </a:avLst>
          </a:prstGeom>
          <a:solidFill>
            <a:srgbClr val="8D6A2A"/>
          </a:solidFill>
          <a:ln>
            <a:noFill/>
          </a:ln>
          <a:effectLst>
            <a:outerShdw blurRad="203200" dist="50800" dir="5400000" algn="t" rotWithShape="0">
              <a:srgbClr val="1A2340">
                <a:alpha val="20000"/>
              </a:srgbClr>
            </a:outerShdw>
          </a:effectLst>
          <a:scene3d>
            <a:camera prst="orthographicFront"/>
            <a:lightRig rig="threePt" dir="t"/>
          </a:scene3d>
          <a:sp3d>
            <a:bevelT w="44450" h="25400" prst="softRound"/>
          </a:sp3d>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713232" y="3346703"/>
            <a:ext cx="420624" cy="420624"/>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8D6A2A"/>
                </a:solidFill>
                <a:latin typeface="Calibri"/>
              </a:rPr>
              <a:t>B</a:t>
            </a:r>
          </a:p>
        </p:txBody>
      </p:sp>
      <p:sp>
        <p:nvSpPr>
          <p:cNvPr id="17" name="TextBox 16"/>
          <p:cNvSpPr txBox="1"/>
          <p:nvPr/>
        </p:nvSpPr>
        <p:spPr>
          <a:xfrm>
            <a:off x="1371600" y="3282696"/>
            <a:ext cx="10088575" cy="548640"/>
          </a:xfrm>
          <a:prstGeom prst="rect">
            <a:avLst/>
          </a:prstGeom>
          <a:noFill/>
        </p:spPr>
        <p:txBody>
          <a:bodyPr wrap="square" anchor="ctr" lIns="0" rIns="0" tIns="0" bIns="0">
            <a:spAutoFit/>
          </a:bodyPr>
          <a:lstStyle/>
          <a:p>
            <a:r>
              <a:rPr sz="1900" i="0" b="1">
                <a:solidFill>
                  <a:srgbClr val="FFFFFF"/>
                </a:solidFill>
                <a:latin typeface="Calibri"/>
              </a:rPr>
              <a:t>Slow adaptive changes in receptors and neurotrophic factors are needed.</a:t>
            </a:r>
          </a:p>
        </p:txBody>
      </p:sp>
      <p:sp>
        <p:nvSpPr>
          <p:cNvPr id="18" name="Rounded Rectangle 17"/>
          <p:cNvSpPr/>
          <p:nvPr/>
        </p:nvSpPr>
        <p:spPr>
          <a:xfrm>
            <a:off x="548640" y="3959352"/>
            <a:ext cx="11094415" cy="548640"/>
          </a:xfrm>
          <a:prstGeom prst="roundRect">
            <a:avLst>
              <a:gd name="adj" fmla="val 18000"/>
            </a:avLst>
          </a:prstGeom>
          <a:solidFill>
            <a:srgbClr val="F3F4F5">
              <a:alpha val="80000"/>
            </a:srgbClr>
          </a:solidFill>
          <a:ln w="19050">
            <a:solidFill>
              <a:srgbClr val="FFFFFF"/>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713232" y="4023360"/>
            <a:ext cx="420624" cy="420624"/>
          </a:xfrm>
          <a:prstGeom prst="ellipse">
            <a:avLst/>
          </a:prstGeom>
          <a:solidFill>
            <a:srgbClr val="DEDFE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5A6072"/>
                </a:solidFill>
                <a:latin typeface="Calibri"/>
              </a:rPr>
              <a:t>C</a:t>
            </a:r>
          </a:p>
        </p:txBody>
      </p:sp>
      <p:sp>
        <p:nvSpPr>
          <p:cNvPr id="20" name="TextBox 19"/>
          <p:cNvSpPr txBox="1"/>
          <p:nvPr/>
        </p:nvSpPr>
        <p:spPr>
          <a:xfrm>
            <a:off x="1371600" y="3959352"/>
            <a:ext cx="10088575" cy="548640"/>
          </a:xfrm>
          <a:prstGeom prst="rect">
            <a:avLst/>
          </a:prstGeom>
          <a:noFill/>
        </p:spPr>
        <p:txBody>
          <a:bodyPr wrap="square" anchor="ctr" lIns="0" rIns="0" tIns="0" bIns="0">
            <a:spAutoFit/>
          </a:bodyPr>
          <a:lstStyle/>
          <a:p>
            <a:r>
              <a:rPr sz="1900" i="0" b="0">
                <a:solidFill>
                  <a:srgbClr val="5A6072"/>
                </a:solidFill>
                <a:latin typeface="Calibri"/>
              </a:rPr>
              <a:t>SERT is blocked only after weeks.</a:t>
            </a:r>
          </a:p>
        </p:txBody>
      </p:sp>
      <p:sp>
        <p:nvSpPr>
          <p:cNvPr id="21" name="Rounded Rectangle 20"/>
          <p:cNvSpPr/>
          <p:nvPr/>
        </p:nvSpPr>
        <p:spPr>
          <a:xfrm>
            <a:off x="548640" y="4636008"/>
            <a:ext cx="11094415" cy="548640"/>
          </a:xfrm>
          <a:prstGeom prst="roundRect">
            <a:avLst>
              <a:gd name="adj" fmla="val 18000"/>
            </a:avLst>
          </a:prstGeom>
          <a:solidFill>
            <a:srgbClr val="F3F4F5">
              <a:alpha val="80000"/>
            </a:srgbClr>
          </a:solidFill>
          <a:ln w="19050">
            <a:solidFill>
              <a:srgbClr val="FFFFFF"/>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713232" y="4700016"/>
            <a:ext cx="420624" cy="420624"/>
          </a:xfrm>
          <a:prstGeom prst="ellipse">
            <a:avLst/>
          </a:prstGeom>
          <a:solidFill>
            <a:srgbClr val="DEDFE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5A6072"/>
                </a:solidFill>
                <a:latin typeface="Calibri"/>
              </a:rPr>
              <a:t>D</a:t>
            </a:r>
          </a:p>
        </p:txBody>
      </p:sp>
      <p:sp>
        <p:nvSpPr>
          <p:cNvPr id="23" name="TextBox 22"/>
          <p:cNvSpPr txBox="1"/>
          <p:nvPr/>
        </p:nvSpPr>
        <p:spPr>
          <a:xfrm>
            <a:off x="1371600" y="4636008"/>
            <a:ext cx="10088575" cy="548640"/>
          </a:xfrm>
          <a:prstGeom prst="rect">
            <a:avLst/>
          </a:prstGeom>
          <a:noFill/>
        </p:spPr>
        <p:txBody>
          <a:bodyPr wrap="square" anchor="ctr" lIns="0" rIns="0" tIns="0" bIns="0">
            <a:spAutoFit/>
          </a:bodyPr>
          <a:lstStyle/>
          <a:p>
            <a:r>
              <a:rPr sz="1900" i="0" b="0">
                <a:solidFill>
                  <a:srgbClr val="5A6072"/>
                </a:solidFill>
                <a:latin typeface="Calibri"/>
              </a:rPr>
              <a:t>The drug must first be converted to an active metabolite.</a:t>
            </a:r>
          </a:p>
        </p:txBody>
      </p:sp>
      <p:sp>
        <p:nvSpPr>
          <p:cNvPr id="24" name="TextBox 23"/>
          <p:cNvSpPr txBox="1"/>
          <p:nvPr/>
        </p:nvSpPr>
        <p:spPr>
          <a:xfrm>
            <a:off x="548640" y="5358384"/>
            <a:ext cx="11094415" cy="685800"/>
          </a:xfrm>
          <a:prstGeom prst="rect">
            <a:avLst/>
          </a:prstGeom>
          <a:noFill/>
        </p:spPr>
        <p:txBody>
          <a:bodyPr wrap="square" anchor="t" lIns="0" rIns="0" tIns="0" bIns="0">
            <a:spAutoFit/>
          </a:bodyPr>
          <a:lstStyle/>
          <a:p>
            <a:r>
              <a:rPr sz="1500" i="0" b="1">
                <a:solidFill>
                  <a:srgbClr val="826227"/>
                </a:solidFill>
                <a:latin typeface="Calibri"/>
              </a:rPr>
              <a:t>Why:  </a:t>
            </a:r>
            <a:r>
              <a:rPr sz="1500" i="0" b="0">
                <a:solidFill>
                  <a:srgbClr val="1A1F36"/>
                </a:solidFill>
                <a:latin typeface="Calibri"/>
              </a:rPr>
              <a:t>Mood improves as receptors down-regulate and neurotrophic factors rise. A is wrong; absorption is fast. C is wrong; SERT is blocked within hours. D is not true of SSRIs as a class.</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E8EAF4"/>
        </a:solidFill>
        <a:effectLst/>
      </p:bgPr>
    </p:bg>
    <p:spTree>
      <p:nvGrpSpPr>
        <p:cNvPr id="1" name=""/>
        <p:cNvGrpSpPr/>
        <p:nvPr/>
      </p:nvGrpSpPr>
      <p:grpSpPr/>
      <p:pic>
        <p:nvPicPr>
          <p:cNvPr id="2" name="Picture 1" descr=""/>
          <p:cNvPicPr>
            <a:picLocks noChangeAspect="1"/>
          </p:cNvPicPr>
          <p:nvPr/>
        </p:nvPicPr>
        <p:blipFill>
          <a:blip r:embed="rId3"/>
          <a:stretch>
            <a:fillRect/>
          </a:stretch>
        </p:blipFill>
        <p:spPr>
          <a:xfrm>
            <a:off x="0" y="0"/>
            <a:ext cx="12191695" cy="6858000"/>
          </a:xfrm>
          <a:prstGeom prst="rect">
            <a:avLst/>
          </a:prstGeom>
        </p:spPr>
      </p:pic>
      <p:sp>
        <p:nvSpPr>
          <p:cNvPr id="3" name="Rounded Rectangle 2"/>
          <p:cNvSpPr/>
          <p:nvPr/>
        </p:nvSpPr>
        <p:spPr>
          <a:xfrm>
            <a:off x="411479" y="274320"/>
            <a:ext cx="11368735" cy="1097280"/>
          </a:xfrm>
          <a:prstGeom prst="roundRect">
            <a:avLst>
              <a:gd name="adj" fmla="val 14000"/>
            </a:avLst>
          </a:prstGeom>
          <a:solidFill>
            <a:srgbClr val="FFFFFF">
              <a:alpha val="70000"/>
            </a:srgbClr>
          </a:solidFill>
          <a:ln w="28575">
            <a:solidFill>
              <a:srgbClr val="1B2A8C"/>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31519" y="338328"/>
            <a:ext cx="10728655" cy="32004"/>
          </a:xfrm>
          <a:prstGeom prst="roundRect">
            <a:avLst>
              <a:gd name="adj" fmla="val 50000"/>
            </a:avLst>
          </a:prstGeom>
          <a:solidFill>
            <a:srgbClr val="FFFFFF">
              <a:alpha val="8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640080" y="493776"/>
            <a:ext cx="658368" cy="658368"/>
          </a:xfrm>
          <a:prstGeom prst="ellipse">
            <a:avLst/>
          </a:prstGeom>
          <a:solidFill>
            <a:srgbClr val="8D6A2A"/>
          </a:solidFill>
          <a:ln>
            <a:noFill/>
          </a:ln>
          <a:effectLst>
            <a:outerShdw blurRad="203200" dist="50800" dir="5400000" algn="t" rotWithShape="0">
              <a:srgbClr val="1A2340">
                <a:alpha val="20000"/>
              </a:srgbClr>
            </a:outerShdw>
          </a:effectLst>
          <a:scene3d>
            <a:camera prst="orthographicFront"/>
            <a:lightRig rig="threePt" dir="t"/>
          </a:scene3d>
          <a:sp3d>
            <a:bevelT w="44450" h="25400" prst="softRound"/>
          </a:sp3d>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800" i="0" b="1">
                <a:solidFill>
                  <a:srgbClr val="FFFFFF"/>
                </a:solidFill>
                <a:latin typeface="Cambria"/>
              </a:rPr>
              <a:t>04</a:t>
            </a:r>
          </a:p>
        </p:txBody>
      </p:sp>
      <p:sp>
        <p:nvSpPr>
          <p:cNvPr id="6" name="TextBox 5"/>
          <p:cNvSpPr txBox="1"/>
          <p:nvPr/>
        </p:nvSpPr>
        <p:spPr>
          <a:xfrm>
            <a:off x="1554480" y="402336"/>
            <a:ext cx="9905695" cy="274320"/>
          </a:xfrm>
          <a:prstGeom prst="rect">
            <a:avLst/>
          </a:prstGeom>
          <a:noFill/>
        </p:spPr>
        <p:txBody>
          <a:bodyPr wrap="square" anchor="t" lIns="0" rIns="0" tIns="0" bIns="0">
            <a:spAutoFit/>
          </a:bodyPr>
          <a:lstStyle/>
          <a:p>
            <a:r>
              <a:rPr sz="1200" i="0" b="1" spc="150">
                <a:solidFill>
                  <a:srgbClr val="826227"/>
                </a:solidFill>
                <a:latin typeface="Calibri"/>
              </a:rPr>
              <a:t>SECTION 4  ·  QUESTION 2 OF 3</a:t>
            </a:r>
          </a:p>
        </p:txBody>
      </p:sp>
      <p:sp>
        <p:nvSpPr>
          <p:cNvPr id="7" name="TextBox 6"/>
          <p:cNvSpPr txBox="1"/>
          <p:nvPr/>
        </p:nvSpPr>
        <p:spPr>
          <a:xfrm>
            <a:off x="1554480" y="658368"/>
            <a:ext cx="9905695" cy="640080"/>
          </a:xfrm>
          <a:prstGeom prst="rect">
            <a:avLst/>
          </a:prstGeom>
          <a:noFill/>
        </p:spPr>
        <p:txBody>
          <a:bodyPr wrap="square" anchor="ctr" lIns="0" rIns="0" tIns="0" bIns="0">
            <a:spAutoFit/>
          </a:bodyPr>
          <a:lstStyle/>
          <a:p>
            <a:r>
              <a:rPr sz="3000" i="0" b="1">
                <a:solidFill>
                  <a:srgbClr val="1B2A8C"/>
                </a:solidFill>
                <a:latin typeface="Cambria"/>
              </a:rPr>
              <a:t>Your turn</a:t>
            </a:r>
          </a:p>
        </p:txBody>
      </p:sp>
      <p:sp>
        <p:nvSpPr>
          <p:cNvPr id="8" name="TextBox 7"/>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5A6072"/>
                </a:solidFill>
                <a:latin typeface="Calibri"/>
              </a:rPr>
              <a:t>Practical Pharmacology of the Central Nervous System  ·  Section 4  ·  Depression and Antidepressant Drugs</a:t>
            </a:r>
          </a:p>
        </p:txBody>
      </p:sp>
      <p:sp>
        <p:nvSpPr>
          <p:cNvPr id="9" name="TextBox 8"/>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5A6072"/>
                </a:solidFill>
                <a:latin typeface="Calibri"/>
              </a:rPr>
              <a:t>21 / 25</a:t>
            </a:r>
          </a:p>
        </p:txBody>
      </p:sp>
      <p:pic>
        <p:nvPicPr>
          <p:cNvPr id="10" name="Picture 9" descr="logo"/>
          <p:cNvPicPr>
            <a:picLocks noChangeAspect="1"/>
          </p:cNvPicPr>
          <p:nvPr/>
        </p:nvPicPr>
        <p:blipFill>
          <a:blip r:embed="rId4"/>
          <a:stretch>
            <a:fillRect/>
          </a:stretch>
        </p:blipFill>
        <p:spPr>
          <a:xfrm>
            <a:off x="11247120" y="6309360"/>
            <a:ext cx="384048" cy="384048"/>
          </a:xfrm>
          <a:prstGeom prst="rect">
            <a:avLst/>
          </a:prstGeom>
        </p:spPr>
      </p:pic>
      <p:sp>
        <p:nvSpPr>
          <p:cNvPr id="11" name="TextBox 10"/>
          <p:cNvSpPr txBox="1"/>
          <p:nvPr/>
        </p:nvSpPr>
        <p:spPr>
          <a:xfrm>
            <a:off x="548640" y="1554480"/>
            <a:ext cx="11094415" cy="1005840"/>
          </a:xfrm>
          <a:prstGeom prst="rect">
            <a:avLst/>
          </a:prstGeom>
          <a:noFill/>
        </p:spPr>
        <p:txBody>
          <a:bodyPr wrap="square" anchor="t" lIns="0" rIns="0" tIns="0" bIns="0">
            <a:spAutoFit/>
          </a:bodyPr>
          <a:lstStyle/>
          <a:p>
            <a:r>
              <a:rPr sz="2400" i="0" b="1">
                <a:solidFill>
                  <a:srgbClr val="1A1F36"/>
                </a:solidFill>
                <a:latin typeface="Calibri"/>
              </a:rPr>
              <a:t>How does mirtazapine increase noradrenaline and serotonin release?</a:t>
            </a:r>
          </a:p>
        </p:txBody>
      </p:sp>
      <p:sp>
        <p:nvSpPr>
          <p:cNvPr id="12" name="Rounded Rectangle 11"/>
          <p:cNvSpPr/>
          <p:nvPr/>
        </p:nvSpPr>
        <p:spPr>
          <a:xfrm>
            <a:off x="548640" y="2697480"/>
            <a:ext cx="11094415" cy="640080"/>
          </a:xfrm>
          <a:prstGeom prst="roundRect">
            <a:avLst>
              <a:gd name="adj" fmla="val 18000"/>
            </a:avLst>
          </a:prstGeom>
          <a:solidFill>
            <a:srgbClr val="F1F2F8">
              <a:alpha val="80000"/>
            </a:srgbClr>
          </a:solidFill>
          <a:ln w="19050">
            <a:solidFill>
              <a:srgbClr val="FFFFFF"/>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713232" y="2807208"/>
            <a:ext cx="420624" cy="420624"/>
          </a:xfrm>
          <a:prstGeom prst="ellipse">
            <a:avLst/>
          </a:prstGeom>
          <a:solidFill>
            <a:srgbClr val="1B2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A</a:t>
            </a:r>
          </a:p>
        </p:txBody>
      </p:sp>
      <p:sp>
        <p:nvSpPr>
          <p:cNvPr id="14" name="TextBox 13"/>
          <p:cNvSpPr txBox="1"/>
          <p:nvPr/>
        </p:nvSpPr>
        <p:spPr>
          <a:xfrm>
            <a:off x="1371600" y="2697480"/>
            <a:ext cx="10088575" cy="640080"/>
          </a:xfrm>
          <a:prstGeom prst="rect">
            <a:avLst/>
          </a:prstGeom>
          <a:noFill/>
        </p:spPr>
        <p:txBody>
          <a:bodyPr wrap="square" anchor="ctr" lIns="0" rIns="0" tIns="0" bIns="0">
            <a:spAutoFit/>
          </a:bodyPr>
          <a:lstStyle/>
          <a:p>
            <a:r>
              <a:rPr sz="1900" i="0" b="0">
                <a:solidFill>
                  <a:srgbClr val="1A1F36"/>
                </a:solidFill>
                <a:latin typeface="Calibri"/>
              </a:rPr>
              <a:t>By blocking SERT</a:t>
            </a:r>
          </a:p>
        </p:txBody>
      </p:sp>
      <p:sp>
        <p:nvSpPr>
          <p:cNvPr id="15" name="Rounded Rectangle 14"/>
          <p:cNvSpPr/>
          <p:nvPr/>
        </p:nvSpPr>
        <p:spPr>
          <a:xfrm>
            <a:off x="548640" y="3465576"/>
            <a:ext cx="11094415" cy="640080"/>
          </a:xfrm>
          <a:prstGeom prst="roundRect">
            <a:avLst>
              <a:gd name="adj" fmla="val 18000"/>
            </a:avLst>
          </a:prstGeom>
          <a:solidFill>
            <a:srgbClr val="F1F2F8">
              <a:alpha val="80000"/>
            </a:srgbClr>
          </a:solidFill>
          <a:ln w="19050">
            <a:solidFill>
              <a:srgbClr val="FFFFFF"/>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713232" y="3575304"/>
            <a:ext cx="420624" cy="420624"/>
          </a:xfrm>
          <a:prstGeom prst="ellipse">
            <a:avLst/>
          </a:prstGeom>
          <a:solidFill>
            <a:srgbClr val="1B2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B</a:t>
            </a:r>
          </a:p>
        </p:txBody>
      </p:sp>
      <p:sp>
        <p:nvSpPr>
          <p:cNvPr id="17" name="TextBox 16"/>
          <p:cNvSpPr txBox="1"/>
          <p:nvPr/>
        </p:nvSpPr>
        <p:spPr>
          <a:xfrm>
            <a:off x="1371600" y="3465576"/>
            <a:ext cx="10088575" cy="640080"/>
          </a:xfrm>
          <a:prstGeom prst="rect">
            <a:avLst/>
          </a:prstGeom>
          <a:noFill/>
        </p:spPr>
        <p:txBody>
          <a:bodyPr wrap="square" anchor="ctr" lIns="0" rIns="0" tIns="0" bIns="0">
            <a:spAutoFit/>
          </a:bodyPr>
          <a:lstStyle/>
          <a:p>
            <a:r>
              <a:rPr sz="1900" i="0" b="0">
                <a:solidFill>
                  <a:srgbClr val="1A1F36"/>
                </a:solidFill>
                <a:latin typeface="Calibri"/>
              </a:rPr>
              <a:t>By inhibiting MAO-A</a:t>
            </a:r>
          </a:p>
        </p:txBody>
      </p:sp>
      <p:sp>
        <p:nvSpPr>
          <p:cNvPr id="18" name="Rounded Rectangle 17"/>
          <p:cNvSpPr/>
          <p:nvPr/>
        </p:nvSpPr>
        <p:spPr>
          <a:xfrm>
            <a:off x="548640" y="4233672"/>
            <a:ext cx="11094415" cy="640080"/>
          </a:xfrm>
          <a:prstGeom prst="roundRect">
            <a:avLst>
              <a:gd name="adj" fmla="val 18000"/>
            </a:avLst>
          </a:prstGeom>
          <a:solidFill>
            <a:srgbClr val="F1F2F8">
              <a:alpha val="80000"/>
            </a:srgbClr>
          </a:solidFill>
          <a:ln w="19050">
            <a:solidFill>
              <a:srgbClr val="FFFFFF"/>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713232" y="4343400"/>
            <a:ext cx="420624" cy="420624"/>
          </a:xfrm>
          <a:prstGeom prst="ellipse">
            <a:avLst/>
          </a:prstGeom>
          <a:solidFill>
            <a:srgbClr val="1B2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C</a:t>
            </a:r>
          </a:p>
        </p:txBody>
      </p:sp>
      <p:sp>
        <p:nvSpPr>
          <p:cNvPr id="20" name="TextBox 19"/>
          <p:cNvSpPr txBox="1"/>
          <p:nvPr/>
        </p:nvSpPr>
        <p:spPr>
          <a:xfrm>
            <a:off x="1371600" y="4233672"/>
            <a:ext cx="10088575" cy="640080"/>
          </a:xfrm>
          <a:prstGeom prst="rect">
            <a:avLst/>
          </a:prstGeom>
          <a:noFill/>
        </p:spPr>
        <p:txBody>
          <a:bodyPr wrap="square" anchor="ctr" lIns="0" rIns="0" tIns="0" bIns="0">
            <a:spAutoFit/>
          </a:bodyPr>
          <a:lstStyle/>
          <a:p>
            <a:r>
              <a:rPr sz="1900" i="0" b="0">
                <a:solidFill>
                  <a:srgbClr val="1A1F36"/>
                </a:solidFill>
                <a:latin typeface="Calibri"/>
              </a:rPr>
              <a:t>By stimulating 5-HT1A receptors</a:t>
            </a:r>
          </a:p>
        </p:txBody>
      </p:sp>
      <p:sp>
        <p:nvSpPr>
          <p:cNvPr id="21" name="Rounded Rectangle 20"/>
          <p:cNvSpPr/>
          <p:nvPr/>
        </p:nvSpPr>
        <p:spPr>
          <a:xfrm>
            <a:off x="548640" y="5001768"/>
            <a:ext cx="11094415" cy="640080"/>
          </a:xfrm>
          <a:prstGeom prst="roundRect">
            <a:avLst>
              <a:gd name="adj" fmla="val 18000"/>
            </a:avLst>
          </a:prstGeom>
          <a:solidFill>
            <a:srgbClr val="F1F2F8">
              <a:alpha val="80000"/>
            </a:srgbClr>
          </a:solidFill>
          <a:ln w="19050">
            <a:solidFill>
              <a:srgbClr val="FFFFFF"/>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713232" y="5111496"/>
            <a:ext cx="420624" cy="420624"/>
          </a:xfrm>
          <a:prstGeom prst="ellipse">
            <a:avLst/>
          </a:prstGeom>
          <a:solidFill>
            <a:srgbClr val="1B2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D</a:t>
            </a:r>
          </a:p>
        </p:txBody>
      </p:sp>
      <p:sp>
        <p:nvSpPr>
          <p:cNvPr id="23" name="TextBox 22"/>
          <p:cNvSpPr txBox="1"/>
          <p:nvPr/>
        </p:nvSpPr>
        <p:spPr>
          <a:xfrm>
            <a:off x="1371600" y="5001768"/>
            <a:ext cx="10088575" cy="640080"/>
          </a:xfrm>
          <a:prstGeom prst="rect">
            <a:avLst/>
          </a:prstGeom>
          <a:noFill/>
        </p:spPr>
        <p:txBody>
          <a:bodyPr wrap="square" anchor="ctr" lIns="0" rIns="0" tIns="0" bIns="0">
            <a:spAutoFit/>
          </a:bodyPr>
          <a:lstStyle/>
          <a:p>
            <a:r>
              <a:rPr sz="1900" i="0" b="0">
                <a:solidFill>
                  <a:srgbClr val="1A1F36"/>
                </a:solidFill>
                <a:latin typeface="Calibri"/>
              </a:rPr>
              <a:t>By blocking presynaptic α2 autoreceptors</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E8EAF4"/>
        </a:solidFill>
        <a:effectLst/>
      </p:bgPr>
    </p:bg>
    <p:spTree>
      <p:nvGrpSpPr>
        <p:cNvPr id="1" name=""/>
        <p:cNvGrpSpPr/>
        <p:nvPr/>
      </p:nvGrpSpPr>
      <p:grpSpPr/>
      <p:pic>
        <p:nvPicPr>
          <p:cNvPr id="2" name="Picture 1" descr=""/>
          <p:cNvPicPr>
            <a:picLocks noChangeAspect="1"/>
          </p:cNvPicPr>
          <p:nvPr/>
        </p:nvPicPr>
        <p:blipFill>
          <a:blip r:embed="rId2"/>
          <a:stretch>
            <a:fillRect/>
          </a:stretch>
        </p:blipFill>
        <p:spPr>
          <a:xfrm>
            <a:off x="0" y="0"/>
            <a:ext cx="12191695" cy="6858000"/>
          </a:xfrm>
          <a:prstGeom prst="rect">
            <a:avLst/>
          </a:prstGeom>
        </p:spPr>
      </p:pic>
      <p:sp>
        <p:nvSpPr>
          <p:cNvPr id="3" name="Rounded Rectangle 2"/>
          <p:cNvSpPr/>
          <p:nvPr/>
        </p:nvSpPr>
        <p:spPr>
          <a:xfrm>
            <a:off x="411479" y="274320"/>
            <a:ext cx="11368735" cy="1097280"/>
          </a:xfrm>
          <a:prstGeom prst="roundRect">
            <a:avLst>
              <a:gd name="adj" fmla="val 14000"/>
            </a:avLst>
          </a:prstGeom>
          <a:solidFill>
            <a:srgbClr val="FFFFFF">
              <a:alpha val="70000"/>
            </a:srgbClr>
          </a:solidFill>
          <a:ln w="28575">
            <a:solidFill>
              <a:srgbClr val="1B2A8C"/>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31519" y="338328"/>
            <a:ext cx="10728655" cy="32004"/>
          </a:xfrm>
          <a:prstGeom prst="roundRect">
            <a:avLst>
              <a:gd name="adj" fmla="val 50000"/>
            </a:avLst>
          </a:prstGeom>
          <a:solidFill>
            <a:srgbClr val="FFFFFF">
              <a:alpha val="8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640080" y="493776"/>
            <a:ext cx="658368" cy="658368"/>
          </a:xfrm>
          <a:prstGeom prst="ellipse">
            <a:avLst/>
          </a:prstGeom>
          <a:solidFill>
            <a:srgbClr val="8D6A2A"/>
          </a:solidFill>
          <a:ln>
            <a:noFill/>
          </a:ln>
          <a:effectLst>
            <a:outerShdw blurRad="203200" dist="50800" dir="5400000" algn="t" rotWithShape="0">
              <a:srgbClr val="1A2340">
                <a:alpha val="20000"/>
              </a:srgbClr>
            </a:outerShdw>
          </a:effectLst>
          <a:scene3d>
            <a:camera prst="orthographicFront"/>
            <a:lightRig rig="threePt" dir="t"/>
          </a:scene3d>
          <a:sp3d>
            <a:bevelT w="44450" h="25400" prst="softRound"/>
          </a:sp3d>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800" i="0" b="1">
                <a:solidFill>
                  <a:srgbClr val="FFFFFF"/>
                </a:solidFill>
                <a:latin typeface="Cambria"/>
              </a:rPr>
              <a:t>04</a:t>
            </a:r>
          </a:p>
        </p:txBody>
      </p:sp>
      <p:sp>
        <p:nvSpPr>
          <p:cNvPr id="6" name="TextBox 5"/>
          <p:cNvSpPr txBox="1"/>
          <p:nvPr/>
        </p:nvSpPr>
        <p:spPr>
          <a:xfrm>
            <a:off x="1554480" y="402336"/>
            <a:ext cx="9905695" cy="274320"/>
          </a:xfrm>
          <a:prstGeom prst="rect">
            <a:avLst/>
          </a:prstGeom>
          <a:noFill/>
        </p:spPr>
        <p:txBody>
          <a:bodyPr wrap="square" anchor="t" lIns="0" rIns="0" tIns="0" bIns="0">
            <a:spAutoFit/>
          </a:bodyPr>
          <a:lstStyle/>
          <a:p>
            <a:r>
              <a:rPr sz="1200" i="0" b="1" spc="150">
                <a:solidFill>
                  <a:srgbClr val="826227"/>
                </a:solidFill>
                <a:latin typeface="Calibri"/>
              </a:rPr>
              <a:t>SECTION 4  ·  QUESTION 2 OF 3  ·  ANSWER</a:t>
            </a:r>
          </a:p>
        </p:txBody>
      </p:sp>
      <p:sp>
        <p:nvSpPr>
          <p:cNvPr id="7" name="TextBox 6"/>
          <p:cNvSpPr txBox="1"/>
          <p:nvPr/>
        </p:nvSpPr>
        <p:spPr>
          <a:xfrm>
            <a:off x="1554480" y="658368"/>
            <a:ext cx="9905695" cy="640080"/>
          </a:xfrm>
          <a:prstGeom prst="rect">
            <a:avLst/>
          </a:prstGeom>
          <a:noFill/>
        </p:spPr>
        <p:txBody>
          <a:bodyPr wrap="square" anchor="ctr" lIns="0" rIns="0" tIns="0" bIns="0">
            <a:spAutoFit/>
          </a:bodyPr>
          <a:lstStyle/>
          <a:p>
            <a:r>
              <a:rPr sz="3000" i="0" b="1">
                <a:solidFill>
                  <a:srgbClr val="1B2A8C"/>
                </a:solidFill>
                <a:latin typeface="Cambria"/>
              </a:rPr>
              <a:t>Check your answer</a:t>
            </a:r>
          </a:p>
        </p:txBody>
      </p:sp>
      <p:sp>
        <p:nvSpPr>
          <p:cNvPr id="8" name="TextBox 7"/>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5A6072"/>
                </a:solidFill>
                <a:latin typeface="Calibri"/>
              </a:rPr>
              <a:t>Practical Pharmacology of the Central Nervous System  ·  Section 4  ·  Depression and Antidepressant Drugs</a:t>
            </a:r>
          </a:p>
        </p:txBody>
      </p:sp>
      <p:sp>
        <p:nvSpPr>
          <p:cNvPr id="9" name="TextBox 8"/>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5A6072"/>
                </a:solidFill>
                <a:latin typeface="Calibri"/>
              </a:rPr>
              <a:t>22 / 25</a:t>
            </a:r>
          </a:p>
        </p:txBody>
      </p:sp>
      <p:pic>
        <p:nvPicPr>
          <p:cNvPr id="10" name="Picture 9" descr="logo"/>
          <p:cNvPicPr>
            <a:picLocks noChangeAspect="1"/>
          </p:cNvPicPr>
          <p:nvPr/>
        </p:nvPicPr>
        <p:blipFill>
          <a:blip r:embed="rId3"/>
          <a:stretch>
            <a:fillRect/>
          </a:stretch>
        </p:blipFill>
        <p:spPr>
          <a:xfrm>
            <a:off x="11247120" y="6309360"/>
            <a:ext cx="384048" cy="384048"/>
          </a:xfrm>
          <a:prstGeom prst="rect">
            <a:avLst/>
          </a:prstGeom>
        </p:spPr>
      </p:pic>
      <p:sp>
        <p:nvSpPr>
          <p:cNvPr id="11" name="TextBox 10"/>
          <p:cNvSpPr txBox="1"/>
          <p:nvPr/>
        </p:nvSpPr>
        <p:spPr>
          <a:xfrm>
            <a:off x="548640" y="1554480"/>
            <a:ext cx="11094415" cy="1005840"/>
          </a:xfrm>
          <a:prstGeom prst="rect">
            <a:avLst/>
          </a:prstGeom>
          <a:noFill/>
        </p:spPr>
        <p:txBody>
          <a:bodyPr wrap="square" anchor="t" lIns="0" rIns="0" tIns="0" bIns="0">
            <a:spAutoFit/>
          </a:bodyPr>
          <a:lstStyle/>
          <a:p>
            <a:r>
              <a:rPr sz="2400" i="0" b="1">
                <a:solidFill>
                  <a:srgbClr val="1A1F36"/>
                </a:solidFill>
                <a:latin typeface="Calibri"/>
              </a:rPr>
              <a:t>How does mirtazapine increase noradrenaline and serotonin release?</a:t>
            </a:r>
          </a:p>
        </p:txBody>
      </p:sp>
      <p:sp>
        <p:nvSpPr>
          <p:cNvPr id="12" name="Rounded Rectangle 11"/>
          <p:cNvSpPr/>
          <p:nvPr/>
        </p:nvSpPr>
        <p:spPr>
          <a:xfrm>
            <a:off x="548640" y="2606040"/>
            <a:ext cx="11094415" cy="548640"/>
          </a:xfrm>
          <a:prstGeom prst="roundRect">
            <a:avLst>
              <a:gd name="adj" fmla="val 18000"/>
            </a:avLst>
          </a:prstGeom>
          <a:solidFill>
            <a:srgbClr val="F3F4F5">
              <a:alpha val="80000"/>
            </a:srgbClr>
          </a:solidFill>
          <a:ln w="19050">
            <a:solidFill>
              <a:srgbClr val="FFFFFF"/>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713232" y="2670048"/>
            <a:ext cx="420624" cy="420624"/>
          </a:xfrm>
          <a:prstGeom prst="ellipse">
            <a:avLst/>
          </a:prstGeom>
          <a:solidFill>
            <a:srgbClr val="DEDFE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5A6072"/>
                </a:solidFill>
                <a:latin typeface="Calibri"/>
              </a:rPr>
              <a:t>A</a:t>
            </a:r>
          </a:p>
        </p:txBody>
      </p:sp>
      <p:sp>
        <p:nvSpPr>
          <p:cNvPr id="14" name="TextBox 13"/>
          <p:cNvSpPr txBox="1"/>
          <p:nvPr/>
        </p:nvSpPr>
        <p:spPr>
          <a:xfrm>
            <a:off x="1371600" y="2606040"/>
            <a:ext cx="10088575" cy="548640"/>
          </a:xfrm>
          <a:prstGeom prst="rect">
            <a:avLst/>
          </a:prstGeom>
          <a:noFill/>
        </p:spPr>
        <p:txBody>
          <a:bodyPr wrap="square" anchor="ctr" lIns="0" rIns="0" tIns="0" bIns="0">
            <a:spAutoFit/>
          </a:bodyPr>
          <a:lstStyle/>
          <a:p>
            <a:r>
              <a:rPr sz="1900" i="0" b="0">
                <a:solidFill>
                  <a:srgbClr val="5A6072"/>
                </a:solidFill>
                <a:latin typeface="Calibri"/>
              </a:rPr>
              <a:t>By blocking SERT</a:t>
            </a:r>
          </a:p>
        </p:txBody>
      </p:sp>
      <p:sp>
        <p:nvSpPr>
          <p:cNvPr id="15" name="Rounded Rectangle 14"/>
          <p:cNvSpPr/>
          <p:nvPr/>
        </p:nvSpPr>
        <p:spPr>
          <a:xfrm>
            <a:off x="548640" y="3282696"/>
            <a:ext cx="11094415" cy="548640"/>
          </a:xfrm>
          <a:prstGeom prst="roundRect">
            <a:avLst>
              <a:gd name="adj" fmla="val 18000"/>
            </a:avLst>
          </a:prstGeom>
          <a:solidFill>
            <a:srgbClr val="F3F4F5">
              <a:alpha val="80000"/>
            </a:srgbClr>
          </a:solidFill>
          <a:ln w="19050">
            <a:solidFill>
              <a:srgbClr val="FFFFFF"/>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713232" y="3346703"/>
            <a:ext cx="420624" cy="420624"/>
          </a:xfrm>
          <a:prstGeom prst="ellipse">
            <a:avLst/>
          </a:prstGeom>
          <a:solidFill>
            <a:srgbClr val="DEDFE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5A6072"/>
                </a:solidFill>
                <a:latin typeface="Calibri"/>
              </a:rPr>
              <a:t>B</a:t>
            </a:r>
          </a:p>
        </p:txBody>
      </p:sp>
      <p:sp>
        <p:nvSpPr>
          <p:cNvPr id="17" name="TextBox 16"/>
          <p:cNvSpPr txBox="1"/>
          <p:nvPr/>
        </p:nvSpPr>
        <p:spPr>
          <a:xfrm>
            <a:off x="1371600" y="3282696"/>
            <a:ext cx="10088575" cy="548640"/>
          </a:xfrm>
          <a:prstGeom prst="rect">
            <a:avLst/>
          </a:prstGeom>
          <a:noFill/>
        </p:spPr>
        <p:txBody>
          <a:bodyPr wrap="square" anchor="ctr" lIns="0" rIns="0" tIns="0" bIns="0">
            <a:spAutoFit/>
          </a:bodyPr>
          <a:lstStyle/>
          <a:p>
            <a:r>
              <a:rPr sz="1900" i="0" b="0">
                <a:solidFill>
                  <a:srgbClr val="5A6072"/>
                </a:solidFill>
                <a:latin typeface="Calibri"/>
              </a:rPr>
              <a:t>By inhibiting MAO-A</a:t>
            </a:r>
          </a:p>
        </p:txBody>
      </p:sp>
      <p:sp>
        <p:nvSpPr>
          <p:cNvPr id="18" name="Rounded Rectangle 17"/>
          <p:cNvSpPr/>
          <p:nvPr/>
        </p:nvSpPr>
        <p:spPr>
          <a:xfrm>
            <a:off x="548640" y="3959352"/>
            <a:ext cx="11094415" cy="548640"/>
          </a:xfrm>
          <a:prstGeom prst="roundRect">
            <a:avLst>
              <a:gd name="adj" fmla="val 18000"/>
            </a:avLst>
          </a:prstGeom>
          <a:solidFill>
            <a:srgbClr val="F3F4F5">
              <a:alpha val="80000"/>
            </a:srgbClr>
          </a:solidFill>
          <a:ln w="19050">
            <a:solidFill>
              <a:srgbClr val="FFFFFF"/>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713232" y="4023360"/>
            <a:ext cx="420624" cy="420624"/>
          </a:xfrm>
          <a:prstGeom prst="ellipse">
            <a:avLst/>
          </a:prstGeom>
          <a:solidFill>
            <a:srgbClr val="DEDFE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5A6072"/>
                </a:solidFill>
                <a:latin typeface="Calibri"/>
              </a:rPr>
              <a:t>C</a:t>
            </a:r>
          </a:p>
        </p:txBody>
      </p:sp>
      <p:sp>
        <p:nvSpPr>
          <p:cNvPr id="20" name="TextBox 19"/>
          <p:cNvSpPr txBox="1"/>
          <p:nvPr/>
        </p:nvSpPr>
        <p:spPr>
          <a:xfrm>
            <a:off x="1371600" y="3959352"/>
            <a:ext cx="10088575" cy="548640"/>
          </a:xfrm>
          <a:prstGeom prst="rect">
            <a:avLst/>
          </a:prstGeom>
          <a:noFill/>
        </p:spPr>
        <p:txBody>
          <a:bodyPr wrap="square" anchor="ctr" lIns="0" rIns="0" tIns="0" bIns="0">
            <a:spAutoFit/>
          </a:bodyPr>
          <a:lstStyle/>
          <a:p>
            <a:r>
              <a:rPr sz="1900" i="0" b="0">
                <a:solidFill>
                  <a:srgbClr val="5A6072"/>
                </a:solidFill>
                <a:latin typeface="Calibri"/>
              </a:rPr>
              <a:t>By stimulating 5-HT1A receptors</a:t>
            </a:r>
          </a:p>
        </p:txBody>
      </p:sp>
      <p:sp>
        <p:nvSpPr>
          <p:cNvPr id="21" name="Rounded Rectangle 20"/>
          <p:cNvSpPr/>
          <p:nvPr/>
        </p:nvSpPr>
        <p:spPr>
          <a:xfrm>
            <a:off x="548640" y="4636008"/>
            <a:ext cx="11094415" cy="548640"/>
          </a:xfrm>
          <a:prstGeom prst="roundRect">
            <a:avLst>
              <a:gd name="adj" fmla="val 18000"/>
            </a:avLst>
          </a:prstGeom>
          <a:solidFill>
            <a:srgbClr val="8D6A2A"/>
          </a:solidFill>
          <a:ln>
            <a:noFill/>
          </a:ln>
          <a:effectLst>
            <a:outerShdw blurRad="203200" dist="50800" dir="5400000" algn="t" rotWithShape="0">
              <a:srgbClr val="1A2340">
                <a:alpha val="20000"/>
              </a:srgbClr>
            </a:outerShdw>
          </a:effectLst>
          <a:scene3d>
            <a:camera prst="orthographicFront"/>
            <a:lightRig rig="threePt" dir="t"/>
          </a:scene3d>
          <a:sp3d>
            <a:bevelT w="44450" h="25400" prst="softRound"/>
          </a:sp3d>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713232" y="4700016"/>
            <a:ext cx="420624" cy="420624"/>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8D6A2A"/>
                </a:solidFill>
                <a:latin typeface="Calibri"/>
              </a:rPr>
              <a:t>D</a:t>
            </a:r>
          </a:p>
        </p:txBody>
      </p:sp>
      <p:sp>
        <p:nvSpPr>
          <p:cNvPr id="23" name="TextBox 22"/>
          <p:cNvSpPr txBox="1"/>
          <p:nvPr/>
        </p:nvSpPr>
        <p:spPr>
          <a:xfrm>
            <a:off x="1371600" y="4636008"/>
            <a:ext cx="10088575" cy="548640"/>
          </a:xfrm>
          <a:prstGeom prst="rect">
            <a:avLst/>
          </a:prstGeom>
          <a:noFill/>
        </p:spPr>
        <p:txBody>
          <a:bodyPr wrap="square" anchor="ctr" lIns="0" rIns="0" tIns="0" bIns="0">
            <a:spAutoFit/>
          </a:bodyPr>
          <a:lstStyle/>
          <a:p>
            <a:r>
              <a:rPr sz="1900" i="0" b="1">
                <a:solidFill>
                  <a:srgbClr val="FFFFFF"/>
                </a:solidFill>
                <a:latin typeface="Calibri"/>
              </a:rPr>
              <a:t>By blocking presynaptic α2 autoreceptors</a:t>
            </a:r>
          </a:p>
        </p:txBody>
      </p:sp>
      <p:sp>
        <p:nvSpPr>
          <p:cNvPr id="24" name="TextBox 23"/>
          <p:cNvSpPr txBox="1"/>
          <p:nvPr/>
        </p:nvSpPr>
        <p:spPr>
          <a:xfrm>
            <a:off x="548640" y="5358384"/>
            <a:ext cx="11094415" cy="685800"/>
          </a:xfrm>
          <a:prstGeom prst="rect">
            <a:avLst/>
          </a:prstGeom>
          <a:noFill/>
        </p:spPr>
        <p:txBody>
          <a:bodyPr wrap="square" anchor="t" lIns="0" rIns="0" tIns="0" bIns="0">
            <a:spAutoFit/>
          </a:bodyPr>
          <a:lstStyle/>
          <a:p>
            <a:r>
              <a:rPr sz="1500" i="0" b="1">
                <a:solidFill>
                  <a:srgbClr val="826227"/>
                </a:solidFill>
                <a:latin typeface="Calibri"/>
              </a:rPr>
              <a:t>Why:  </a:t>
            </a:r>
            <a:r>
              <a:rPr sz="1500" i="0" b="0">
                <a:solidFill>
                  <a:srgbClr val="1A1F36"/>
                </a:solidFill>
                <a:latin typeface="Calibri"/>
              </a:rPr>
              <a:t>Blocking the α2 brake raises NA and 5-HT release. A is SSRIs. B is MAO inhibitors. C is not mirtazapine's action.</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E8EAF4"/>
        </a:solidFill>
        <a:effectLst/>
      </p:bgPr>
    </p:bg>
    <p:spTree>
      <p:nvGrpSpPr>
        <p:cNvPr id="1" name=""/>
        <p:cNvGrpSpPr/>
        <p:nvPr/>
      </p:nvGrpSpPr>
      <p:grpSpPr/>
      <p:pic>
        <p:nvPicPr>
          <p:cNvPr id="2" name="Picture 1" descr=""/>
          <p:cNvPicPr>
            <a:picLocks noChangeAspect="1"/>
          </p:cNvPicPr>
          <p:nvPr/>
        </p:nvPicPr>
        <p:blipFill>
          <a:blip r:embed="rId3"/>
          <a:stretch>
            <a:fillRect/>
          </a:stretch>
        </p:blipFill>
        <p:spPr>
          <a:xfrm>
            <a:off x="0" y="0"/>
            <a:ext cx="12191695" cy="6858000"/>
          </a:xfrm>
          <a:prstGeom prst="rect">
            <a:avLst/>
          </a:prstGeom>
        </p:spPr>
      </p:pic>
      <p:sp>
        <p:nvSpPr>
          <p:cNvPr id="3" name="Rounded Rectangle 2"/>
          <p:cNvSpPr/>
          <p:nvPr/>
        </p:nvSpPr>
        <p:spPr>
          <a:xfrm>
            <a:off x="411479" y="274320"/>
            <a:ext cx="11368735" cy="1097280"/>
          </a:xfrm>
          <a:prstGeom prst="roundRect">
            <a:avLst>
              <a:gd name="adj" fmla="val 14000"/>
            </a:avLst>
          </a:prstGeom>
          <a:solidFill>
            <a:srgbClr val="FFFFFF">
              <a:alpha val="70000"/>
            </a:srgbClr>
          </a:solidFill>
          <a:ln w="28575">
            <a:solidFill>
              <a:srgbClr val="1B2A8C"/>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31519" y="338328"/>
            <a:ext cx="10728655" cy="32004"/>
          </a:xfrm>
          <a:prstGeom prst="roundRect">
            <a:avLst>
              <a:gd name="adj" fmla="val 50000"/>
            </a:avLst>
          </a:prstGeom>
          <a:solidFill>
            <a:srgbClr val="FFFFFF">
              <a:alpha val="8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640080" y="493776"/>
            <a:ext cx="658368" cy="658368"/>
          </a:xfrm>
          <a:prstGeom prst="ellipse">
            <a:avLst/>
          </a:prstGeom>
          <a:solidFill>
            <a:srgbClr val="8D6A2A"/>
          </a:solidFill>
          <a:ln>
            <a:noFill/>
          </a:ln>
          <a:effectLst>
            <a:outerShdw blurRad="203200" dist="50800" dir="5400000" algn="t" rotWithShape="0">
              <a:srgbClr val="1A2340">
                <a:alpha val="20000"/>
              </a:srgbClr>
            </a:outerShdw>
          </a:effectLst>
          <a:scene3d>
            <a:camera prst="orthographicFront"/>
            <a:lightRig rig="threePt" dir="t"/>
          </a:scene3d>
          <a:sp3d>
            <a:bevelT w="44450" h="25400" prst="softRound"/>
          </a:sp3d>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800" i="0" b="1">
                <a:solidFill>
                  <a:srgbClr val="FFFFFF"/>
                </a:solidFill>
                <a:latin typeface="Cambria"/>
              </a:rPr>
              <a:t>04</a:t>
            </a:r>
          </a:p>
        </p:txBody>
      </p:sp>
      <p:sp>
        <p:nvSpPr>
          <p:cNvPr id="6" name="TextBox 5"/>
          <p:cNvSpPr txBox="1"/>
          <p:nvPr/>
        </p:nvSpPr>
        <p:spPr>
          <a:xfrm>
            <a:off x="1554480" y="402336"/>
            <a:ext cx="9905695" cy="274320"/>
          </a:xfrm>
          <a:prstGeom prst="rect">
            <a:avLst/>
          </a:prstGeom>
          <a:noFill/>
        </p:spPr>
        <p:txBody>
          <a:bodyPr wrap="square" anchor="t" lIns="0" rIns="0" tIns="0" bIns="0">
            <a:spAutoFit/>
          </a:bodyPr>
          <a:lstStyle/>
          <a:p>
            <a:r>
              <a:rPr sz="1200" i="0" b="1" spc="150">
                <a:solidFill>
                  <a:srgbClr val="826227"/>
                </a:solidFill>
                <a:latin typeface="Calibri"/>
              </a:rPr>
              <a:t>SECTION 4  ·  QUESTION 3 OF 3</a:t>
            </a:r>
          </a:p>
        </p:txBody>
      </p:sp>
      <p:sp>
        <p:nvSpPr>
          <p:cNvPr id="7" name="TextBox 6"/>
          <p:cNvSpPr txBox="1"/>
          <p:nvPr/>
        </p:nvSpPr>
        <p:spPr>
          <a:xfrm>
            <a:off x="1554480" y="658368"/>
            <a:ext cx="9905695" cy="640080"/>
          </a:xfrm>
          <a:prstGeom prst="rect">
            <a:avLst/>
          </a:prstGeom>
          <a:noFill/>
        </p:spPr>
        <p:txBody>
          <a:bodyPr wrap="square" anchor="ctr" lIns="0" rIns="0" tIns="0" bIns="0">
            <a:spAutoFit/>
          </a:bodyPr>
          <a:lstStyle/>
          <a:p>
            <a:r>
              <a:rPr sz="3000" i="0" b="1">
                <a:solidFill>
                  <a:srgbClr val="1B2A8C"/>
                </a:solidFill>
                <a:latin typeface="Cambria"/>
              </a:rPr>
              <a:t>Your turn</a:t>
            </a:r>
          </a:p>
        </p:txBody>
      </p:sp>
      <p:sp>
        <p:nvSpPr>
          <p:cNvPr id="8" name="TextBox 7"/>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5A6072"/>
                </a:solidFill>
                <a:latin typeface="Calibri"/>
              </a:rPr>
              <a:t>Practical Pharmacology of the Central Nervous System  ·  Section 4  ·  Depression and Antidepressant Drugs</a:t>
            </a:r>
          </a:p>
        </p:txBody>
      </p:sp>
      <p:sp>
        <p:nvSpPr>
          <p:cNvPr id="9" name="TextBox 8"/>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5A6072"/>
                </a:solidFill>
                <a:latin typeface="Calibri"/>
              </a:rPr>
              <a:t>23 / 25</a:t>
            </a:r>
          </a:p>
        </p:txBody>
      </p:sp>
      <p:pic>
        <p:nvPicPr>
          <p:cNvPr id="10" name="Picture 9" descr="logo"/>
          <p:cNvPicPr>
            <a:picLocks noChangeAspect="1"/>
          </p:cNvPicPr>
          <p:nvPr/>
        </p:nvPicPr>
        <p:blipFill>
          <a:blip r:embed="rId4"/>
          <a:stretch>
            <a:fillRect/>
          </a:stretch>
        </p:blipFill>
        <p:spPr>
          <a:xfrm>
            <a:off x="11247120" y="6309360"/>
            <a:ext cx="384048" cy="384048"/>
          </a:xfrm>
          <a:prstGeom prst="rect">
            <a:avLst/>
          </a:prstGeom>
        </p:spPr>
      </p:pic>
      <p:sp>
        <p:nvSpPr>
          <p:cNvPr id="11" name="TextBox 10"/>
          <p:cNvSpPr txBox="1"/>
          <p:nvPr/>
        </p:nvSpPr>
        <p:spPr>
          <a:xfrm>
            <a:off x="548640" y="1554480"/>
            <a:ext cx="11094415" cy="1005840"/>
          </a:xfrm>
          <a:prstGeom prst="rect">
            <a:avLst/>
          </a:prstGeom>
          <a:noFill/>
        </p:spPr>
        <p:txBody>
          <a:bodyPr wrap="square" anchor="t" lIns="0" rIns="0" tIns="0" bIns="0">
            <a:spAutoFit/>
          </a:bodyPr>
          <a:lstStyle/>
          <a:p>
            <a:r>
              <a:rPr sz="2400" i="0" b="1">
                <a:solidFill>
                  <a:srgbClr val="1A1F36"/>
                </a:solidFill>
                <a:latin typeface="Calibri"/>
              </a:rPr>
              <a:t>A 70-year-old woman on amitriptyline feels dizzy when she stands up. Which receptor block explains this?</a:t>
            </a:r>
          </a:p>
        </p:txBody>
      </p:sp>
      <p:sp>
        <p:nvSpPr>
          <p:cNvPr id="12" name="Rounded Rectangle 11"/>
          <p:cNvSpPr/>
          <p:nvPr/>
        </p:nvSpPr>
        <p:spPr>
          <a:xfrm>
            <a:off x="548640" y="2697480"/>
            <a:ext cx="11094415" cy="640080"/>
          </a:xfrm>
          <a:prstGeom prst="roundRect">
            <a:avLst>
              <a:gd name="adj" fmla="val 18000"/>
            </a:avLst>
          </a:prstGeom>
          <a:solidFill>
            <a:srgbClr val="F1F2F8">
              <a:alpha val="80000"/>
            </a:srgbClr>
          </a:solidFill>
          <a:ln w="19050">
            <a:solidFill>
              <a:srgbClr val="FFFFFF"/>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713232" y="2807208"/>
            <a:ext cx="420624" cy="420624"/>
          </a:xfrm>
          <a:prstGeom prst="ellipse">
            <a:avLst/>
          </a:prstGeom>
          <a:solidFill>
            <a:srgbClr val="1B2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A</a:t>
            </a:r>
          </a:p>
        </p:txBody>
      </p:sp>
      <p:sp>
        <p:nvSpPr>
          <p:cNvPr id="14" name="TextBox 13"/>
          <p:cNvSpPr txBox="1"/>
          <p:nvPr/>
        </p:nvSpPr>
        <p:spPr>
          <a:xfrm>
            <a:off x="1371600" y="2697480"/>
            <a:ext cx="10088575" cy="640080"/>
          </a:xfrm>
          <a:prstGeom prst="rect">
            <a:avLst/>
          </a:prstGeom>
          <a:noFill/>
        </p:spPr>
        <p:txBody>
          <a:bodyPr wrap="square" anchor="ctr" lIns="0" rIns="0" tIns="0" bIns="0">
            <a:spAutoFit/>
          </a:bodyPr>
          <a:lstStyle/>
          <a:p>
            <a:r>
              <a:rPr sz="1900" i="0" b="0">
                <a:solidFill>
                  <a:srgbClr val="1A1F36"/>
                </a:solidFill>
                <a:latin typeface="Calibri"/>
              </a:rPr>
              <a:t>α1-adrenoceptor</a:t>
            </a:r>
          </a:p>
        </p:txBody>
      </p:sp>
      <p:sp>
        <p:nvSpPr>
          <p:cNvPr id="15" name="Rounded Rectangle 14"/>
          <p:cNvSpPr/>
          <p:nvPr/>
        </p:nvSpPr>
        <p:spPr>
          <a:xfrm>
            <a:off x="548640" y="3465576"/>
            <a:ext cx="11094415" cy="640080"/>
          </a:xfrm>
          <a:prstGeom prst="roundRect">
            <a:avLst>
              <a:gd name="adj" fmla="val 18000"/>
            </a:avLst>
          </a:prstGeom>
          <a:solidFill>
            <a:srgbClr val="F1F2F8">
              <a:alpha val="80000"/>
            </a:srgbClr>
          </a:solidFill>
          <a:ln w="19050">
            <a:solidFill>
              <a:srgbClr val="FFFFFF"/>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713232" y="3575304"/>
            <a:ext cx="420624" cy="420624"/>
          </a:xfrm>
          <a:prstGeom prst="ellipse">
            <a:avLst/>
          </a:prstGeom>
          <a:solidFill>
            <a:srgbClr val="1B2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B</a:t>
            </a:r>
          </a:p>
        </p:txBody>
      </p:sp>
      <p:sp>
        <p:nvSpPr>
          <p:cNvPr id="17" name="TextBox 16"/>
          <p:cNvSpPr txBox="1"/>
          <p:nvPr/>
        </p:nvSpPr>
        <p:spPr>
          <a:xfrm>
            <a:off x="1371600" y="3465576"/>
            <a:ext cx="10088575" cy="640080"/>
          </a:xfrm>
          <a:prstGeom prst="rect">
            <a:avLst/>
          </a:prstGeom>
          <a:noFill/>
        </p:spPr>
        <p:txBody>
          <a:bodyPr wrap="square" anchor="ctr" lIns="0" rIns="0" tIns="0" bIns="0">
            <a:spAutoFit/>
          </a:bodyPr>
          <a:lstStyle/>
          <a:p>
            <a:r>
              <a:rPr sz="1900" i="0" b="0">
                <a:solidFill>
                  <a:srgbClr val="1A1F36"/>
                </a:solidFill>
                <a:latin typeface="Calibri"/>
              </a:rPr>
              <a:t>H1 receptor</a:t>
            </a:r>
          </a:p>
        </p:txBody>
      </p:sp>
      <p:sp>
        <p:nvSpPr>
          <p:cNvPr id="18" name="Rounded Rectangle 17"/>
          <p:cNvSpPr/>
          <p:nvPr/>
        </p:nvSpPr>
        <p:spPr>
          <a:xfrm>
            <a:off x="548640" y="4233672"/>
            <a:ext cx="11094415" cy="640080"/>
          </a:xfrm>
          <a:prstGeom prst="roundRect">
            <a:avLst>
              <a:gd name="adj" fmla="val 18000"/>
            </a:avLst>
          </a:prstGeom>
          <a:solidFill>
            <a:srgbClr val="F1F2F8">
              <a:alpha val="80000"/>
            </a:srgbClr>
          </a:solidFill>
          <a:ln w="19050">
            <a:solidFill>
              <a:srgbClr val="FFFFFF"/>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713232" y="4343400"/>
            <a:ext cx="420624" cy="420624"/>
          </a:xfrm>
          <a:prstGeom prst="ellipse">
            <a:avLst/>
          </a:prstGeom>
          <a:solidFill>
            <a:srgbClr val="1B2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C</a:t>
            </a:r>
          </a:p>
        </p:txBody>
      </p:sp>
      <p:sp>
        <p:nvSpPr>
          <p:cNvPr id="20" name="TextBox 19"/>
          <p:cNvSpPr txBox="1"/>
          <p:nvPr/>
        </p:nvSpPr>
        <p:spPr>
          <a:xfrm>
            <a:off x="1371600" y="4233672"/>
            <a:ext cx="10088575" cy="640080"/>
          </a:xfrm>
          <a:prstGeom prst="rect">
            <a:avLst/>
          </a:prstGeom>
          <a:noFill/>
        </p:spPr>
        <p:txBody>
          <a:bodyPr wrap="square" anchor="ctr" lIns="0" rIns="0" tIns="0" bIns="0">
            <a:spAutoFit/>
          </a:bodyPr>
          <a:lstStyle/>
          <a:p>
            <a:r>
              <a:rPr sz="1900" i="0" b="0">
                <a:solidFill>
                  <a:srgbClr val="1A1F36"/>
                </a:solidFill>
                <a:latin typeface="Calibri"/>
              </a:rPr>
              <a:t>Muscarinic receptor</a:t>
            </a:r>
          </a:p>
        </p:txBody>
      </p:sp>
      <p:sp>
        <p:nvSpPr>
          <p:cNvPr id="21" name="Rounded Rectangle 20"/>
          <p:cNvSpPr/>
          <p:nvPr/>
        </p:nvSpPr>
        <p:spPr>
          <a:xfrm>
            <a:off x="548640" y="5001768"/>
            <a:ext cx="11094415" cy="640080"/>
          </a:xfrm>
          <a:prstGeom prst="roundRect">
            <a:avLst>
              <a:gd name="adj" fmla="val 18000"/>
            </a:avLst>
          </a:prstGeom>
          <a:solidFill>
            <a:srgbClr val="F1F2F8">
              <a:alpha val="80000"/>
            </a:srgbClr>
          </a:solidFill>
          <a:ln w="19050">
            <a:solidFill>
              <a:srgbClr val="FFFFFF"/>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713232" y="5111496"/>
            <a:ext cx="420624" cy="420624"/>
          </a:xfrm>
          <a:prstGeom prst="ellipse">
            <a:avLst/>
          </a:prstGeom>
          <a:solidFill>
            <a:srgbClr val="1B2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D</a:t>
            </a:r>
          </a:p>
        </p:txBody>
      </p:sp>
      <p:sp>
        <p:nvSpPr>
          <p:cNvPr id="23" name="TextBox 22"/>
          <p:cNvSpPr txBox="1"/>
          <p:nvPr/>
        </p:nvSpPr>
        <p:spPr>
          <a:xfrm>
            <a:off x="1371600" y="5001768"/>
            <a:ext cx="10088575" cy="640080"/>
          </a:xfrm>
          <a:prstGeom prst="rect">
            <a:avLst/>
          </a:prstGeom>
          <a:noFill/>
        </p:spPr>
        <p:txBody>
          <a:bodyPr wrap="square" anchor="ctr" lIns="0" rIns="0" tIns="0" bIns="0">
            <a:spAutoFit/>
          </a:bodyPr>
          <a:lstStyle/>
          <a:p>
            <a:r>
              <a:rPr sz="1900" i="0" b="0">
                <a:solidFill>
                  <a:srgbClr val="1A1F36"/>
                </a:solidFill>
                <a:latin typeface="Calibri"/>
              </a:rPr>
              <a:t>5-HT3 receptor</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E8EAF4"/>
        </a:solidFill>
        <a:effectLst/>
      </p:bgPr>
    </p:bg>
    <p:spTree>
      <p:nvGrpSpPr>
        <p:cNvPr id="1" name=""/>
        <p:cNvGrpSpPr/>
        <p:nvPr/>
      </p:nvGrpSpPr>
      <p:grpSpPr/>
      <p:pic>
        <p:nvPicPr>
          <p:cNvPr id="2" name="Picture 1" descr=""/>
          <p:cNvPicPr>
            <a:picLocks noChangeAspect="1"/>
          </p:cNvPicPr>
          <p:nvPr/>
        </p:nvPicPr>
        <p:blipFill>
          <a:blip r:embed="rId2"/>
          <a:stretch>
            <a:fillRect/>
          </a:stretch>
        </p:blipFill>
        <p:spPr>
          <a:xfrm>
            <a:off x="0" y="0"/>
            <a:ext cx="12191695" cy="6858000"/>
          </a:xfrm>
          <a:prstGeom prst="rect">
            <a:avLst/>
          </a:prstGeom>
        </p:spPr>
      </p:pic>
      <p:sp>
        <p:nvSpPr>
          <p:cNvPr id="3" name="Rounded Rectangle 2"/>
          <p:cNvSpPr/>
          <p:nvPr/>
        </p:nvSpPr>
        <p:spPr>
          <a:xfrm>
            <a:off x="411479" y="274320"/>
            <a:ext cx="11368735" cy="1097280"/>
          </a:xfrm>
          <a:prstGeom prst="roundRect">
            <a:avLst>
              <a:gd name="adj" fmla="val 14000"/>
            </a:avLst>
          </a:prstGeom>
          <a:solidFill>
            <a:srgbClr val="FFFFFF">
              <a:alpha val="70000"/>
            </a:srgbClr>
          </a:solidFill>
          <a:ln w="28575">
            <a:solidFill>
              <a:srgbClr val="1B2A8C"/>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31519" y="338328"/>
            <a:ext cx="10728655" cy="32004"/>
          </a:xfrm>
          <a:prstGeom prst="roundRect">
            <a:avLst>
              <a:gd name="adj" fmla="val 50000"/>
            </a:avLst>
          </a:prstGeom>
          <a:solidFill>
            <a:srgbClr val="FFFFFF">
              <a:alpha val="8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640080" y="493776"/>
            <a:ext cx="658368" cy="658368"/>
          </a:xfrm>
          <a:prstGeom prst="ellipse">
            <a:avLst/>
          </a:prstGeom>
          <a:solidFill>
            <a:srgbClr val="8D6A2A"/>
          </a:solidFill>
          <a:ln>
            <a:noFill/>
          </a:ln>
          <a:effectLst>
            <a:outerShdw blurRad="203200" dist="50800" dir="5400000" algn="t" rotWithShape="0">
              <a:srgbClr val="1A2340">
                <a:alpha val="20000"/>
              </a:srgbClr>
            </a:outerShdw>
          </a:effectLst>
          <a:scene3d>
            <a:camera prst="orthographicFront"/>
            <a:lightRig rig="threePt" dir="t"/>
          </a:scene3d>
          <a:sp3d>
            <a:bevelT w="44450" h="25400" prst="softRound"/>
          </a:sp3d>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800" i="0" b="1">
                <a:solidFill>
                  <a:srgbClr val="FFFFFF"/>
                </a:solidFill>
                <a:latin typeface="Cambria"/>
              </a:rPr>
              <a:t>04</a:t>
            </a:r>
          </a:p>
        </p:txBody>
      </p:sp>
      <p:sp>
        <p:nvSpPr>
          <p:cNvPr id="6" name="TextBox 5"/>
          <p:cNvSpPr txBox="1"/>
          <p:nvPr/>
        </p:nvSpPr>
        <p:spPr>
          <a:xfrm>
            <a:off x="1554480" y="402336"/>
            <a:ext cx="9905695" cy="274320"/>
          </a:xfrm>
          <a:prstGeom prst="rect">
            <a:avLst/>
          </a:prstGeom>
          <a:noFill/>
        </p:spPr>
        <p:txBody>
          <a:bodyPr wrap="square" anchor="t" lIns="0" rIns="0" tIns="0" bIns="0">
            <a:spAutoFit/>
          </a:bodyPr>
          <a:lstStyle/>
          <a:p>
            <a:r>
              <a:rPr sz="1200" i="0" b="1" spc="150">
                <a:solidFill>
                  <a:srgbClr val="826227"/>
                </a:solidFill>
                <a:latin typeface="Calibri"/>
              </a:rPr>
              <a:t>SECTION 4  ·  QUESTION 3 OF 3  ·  ANSWER</a:t>
            </a:r>
          </a:p>
        </p:txBody>
      </p:sp>
      <p:sp>
        <p:nvSpPr>
          <p:cNvPr id="7" name="TextBox 6"/>
          <p:cNvSpPr txBox="1"/>
          <p:nvPr/>
        </p:nvSpPr>
        <p:spPr>
          <a:xfrm>
            <a:off x="1554480" y="658368"/>
            <a:ext cx="9905695" cy="640080"/>
          </a:xfrm>
          <a:prstGeom prst="rect">
            <a:avLst/>
          </a:prstGeom>
          <a:noFill/>
        </p:spPr>
        <p:txBody>
          <a:bodyPr wrap="square" anchor="ctr" lIns="0" rIns="0" tIns="0" bIns="0">
            <a:spAutoFit/>
          </a:bodyPr>
          <a:lstStyle/>
          <a:p>
            <a:r>
              <a:rPr sz="3000" i="0" b="1">
                <a:solidFill>
                  <a:srgbClr val="1B2A8C"/>
                </a:solidFill>
                <a:latin typeface="Cambria"/>
              </a:rPr>
              <a:t>Check your answer</a:t>
            </a:r>
          </a:p>
        </p:txBody>
      </p:sp>
      <p:sp>
        <p:nvSpPr>
          <p:cNvPr id="8" name="TextBox 7"/>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5A6072"/>
                </a:solidFill>
                <a:latin typeface="Calibri"/>
              </a:rPr>
              <a:t>Practical Pharmacology of the Central Nervous System  ·  Section 4  ·  Depression and Antidepressant Drugs</a:t>
            </a:r>
          </a:p>
        </p:txBody>
      </p:sp>
      <p:sp>
        <p:nvSpPr>
          <p:cNvPr id="9" name="TextBox 8"/>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5A6072"/>
                </a:solidFill>
                <a:latin typeface="Calibri"/>
              </a:rPr>
              <a:t>24 / 25</a:t>
            </a:r>
          </a:p>
        </p:txBody>
      </p:sp>
      <p:pic>
        <p:nvPicPr>
          <p:cNvPr id="10" name="Picture 9" descr="logo"/>
          <p:cNvPicPr>
            <a:picLocks noChangeAspect="1"/>
          </p:cNvPicPr>
          <p:nvPr/>
        </p:nvPicPr>
        <p:blipFill>
          <a:blip r:embed="rId3"/>
          <a:stretch>
            <a:fillRect/>
          </a:stretch>
        </p:blipFill>
        <p:spPr>
          <a:xfrm>
            <a:off x="11247120" y="6309360"/>
            <a:ext cx="384048" cy="384048"/>
          </a:xfrm>
          <a:prstGeom prst="rect">
            <a:avLst/>
          </a:prstGeom>
        </p:spPr>
      </p:pic>
      <p:sp>
        <p:nvSpPr>
          <p:cNvPr id="11" name="TextBox 10"/>
          <p:cNvSpPr txBox="1"/>
          <p:nvPr/>
        </p:nvSpPr>
        <p:spPr>
          <a:xfrm>
            <a:off x="548640" y="1554480"/>
            <a:ext cx="11094415" cy="1005840"/>
          </a:xfrm>
          <a:prstGeom prst="rect">
            <a:avLst/>
          </a:prstGeom>
          <a:noFill/>
        </p:spPr>
        <p:txBody>
          <a:bodyPr wrap="square" anchor="t" lIns="0" rIns="0" tIns="0" bIns="0">
            <a:spAutoFit/>
          </a:bodyPr>
          <a:lstStyle/>
          <a:p>
            <a:r>
              <a:rPr sz="2400" i="0" b="1">
                <a:solidFill>
                  <a:srgbClr val="1A1F36"/>
                </a:solidFill>
                <a:latin typeface="Calibri"/>
              </a:rPr>
              <a:t>A 70-year-old woman on amitriptyline feels dizzy when she stands up. Which receptor block explains this?</a:t>
            </a:r>
          </a:p>
        </p:txBody>
      </p:sp>
      <p:sp>
        <p:nvSpPr>
          <p:cNvPr id="12" name="Rounded Rectangle 11"/>
          <p:cNvSpPr/>
          <p:nvPr/>
        </p:nvSpPr>
        <p:spPr>
          <a:xfrm>
            <a:off x="548640" y="2606040"/>
            <a:ext cx="11094415" cy="548640"/>
          </a:xfrm>
          <a:prstGeom prst="roundRect">
            <a:avLst>
              <a:gd name="adj" fmla="val 18000"/>
            </a:avLst>
          </a:prstGeom>
          <a:solidFill>
            <a:srgbClr val="8D6A2A"/>
          </a:solidFill>
          <a:ln>
            <a:noFill/>
          </a:ln>
          <a:effectLst>
            <a:outerShdw blurRad="203200" dist="50800" dir="5400000" algn="t" rotWithShape="0">
              <a:srgbClr val="1A2340">
                <a:alpha val="20000"/>
              </a:srgbClr>
            </a:outerShdw>
          </a:effectLst>
          <a:scene3d>
            <a:camera prst="orthographicFront"/>
            <a:lightRig rig="threePt" dir="t"/>
          </a:scene3d>
          <a:sp3d>
            <a:bevelT w="44450" h="25400" prst="softRound"/>
          </a:sp3d>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713232" y="2670048"/>
            <a:ext cx="420624" cy="420624"/>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8D6A2A"/>
                </a:solidFill>
                <a:latin typeface="Calibri"/>
              </a:rPr>
              <a:t>A</a:t>
            </a:r>
          </a:p>
        </p:txBody>
      </p:sp>
      <p:sp>
        <p:nvSpPr>
          <p:cNvPr id="14" name="TextBox 13"/>
          <p:cNvSpPr txBox="1"/>
          <p:nvPr/>
        </p:nvSpPr>
        <p:spPr>
          <a:xfrm>
            <a:off x="1371600" y="2606040"/>
            <a:ext cx="10088575" cy="548640"/>
          </a:xfrm>
          <a:prstGeom prst="rect">
            <a:avLst/>
          </a:prstGeom>
          <a:noFill/>
        </p:spPr>
        <p:txBody>
          <a:bodyPr wrap="square" anchor="ctr" lIns="0" rIns="0" tIns="0" bIns="0">
            <a:spAutoFit/>
          </a:bodyPr>
          <a:lstStyle/>
          <a:p>
            <a:r>
              <a:rPr sz="1900" i="0" b="1">
                <a:solidFill>
                  <a:srgbClr val="FFFFFF"/>
                </a:solidFill>
                <a:latin typeface="Calibri"/>
              </a:rPr>
              <a:t>α1-adrenoceptor</a:t>
            </a:r>
          </a:p>
        </p:txBody>
      </p:sp>
      <p:sp>
        <p:nvSpPr>
          <p:cNvPr id="15" name="Rounded Rectangle 14"/>
          <p:cNvSpPr/>
          <p:nvPr/>
        </p:nvSpPr>
        <p:spPr>
          <a:xfrm>
            <a:off x="548640" y="3282696"/>
            <a:ext cx="11094415" cy="548640"/>
          </a:xfrm>
          <a:prstGeom prst="roundRect">
            <a:avLst>
              <a:gd name="adj" fmla="val 18000"/>
            </a:avLst>
          </a:prstGeom>
          <a:solidFill>
            <a:srgbClr val="F3F4F5">
              <a:alpha val="80000"/>
            </a:srgbClr>
          </a:solidFill>
          <a:ln w="19050">
            <a:solidFill>
              <a:srgbClr val="FFFFFF"/>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713232" y="3346703"/>
            <a:ext cx="420624" cy="420624"/>
          </a:xfrm>
          <a:prstGeom prst="ellipse">
            <a:avLst/>
          </a:prstGeom>
          <a:solidFill>
            <a:srgbClr val="DEDFE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5A6072"/>
                </a:solidFill>
                <a:latin typeface="Calibri"/>
              </a:rPr>
              <a:t>B</a:t>
            </a:r>
          </a:p>
        </p:txBody>
      </p:sp>
      <p:sp>
        <p:nvSpPr>
          <p:cNvPr id="17" name="TextBox 16"/>
          <p:cNvSpPr txBox="1"/>
          <p:nvPr/>
        </p:nvSpPr>
        <p:spPr>
          <a:xfrm>
            <a:off x="1371600" y="3282696"/>
            <a:ext cx="10088575" cy="548640"/>
          </a:xfrm>
          <a:prstGeom prst="rect">
            <a:avLst/>
          </a:prstGeom>
          <a:noFill/>
        </p:spPr>
        <p:txBody>
          <a:bodyPr wrap="square" anchor="ctr" lIns="0" rIns="0" tIns="0" bIns="0">
            <a:spAutoFit/>
          </a:bodyPr>
          <a:lstStyle/>
          <a:p>
            <a:r>
              <a:rPr sz="1900" i="0" b="0">
                <a:solidFill>
                  <a:srgbClr val="5A6072"/>
                </a:solidFill>
                <a:latin typeface="Calibri"/>
              </a:rPr>
              <a:t>H1 receptor</a:t>
            </a:r>
          </a:p>
        </p:txBody>
      </p:sp>
      <p:sp>
        <p:nvSpPr>
          <p:cNvPr id="18" name="Rounded Rectangle 17"/>
          <p:cNvSpPr/>
          <p:nvPr/>
        </p:nvSpPr>
        <p:spPr>
          <a:xfrm>
            <a:off x="548640" y="3959352"/>
            <a:ext cx="11094415" cy="548640"/>
          </a:xfrm>
          <a:prstGeom prst="roundRect">
            <a:avLst>
              <a:gd name="adj" fmla="val 18000"/>
            </a:avLst>
          </a:prstGeom>
          <a:solidFill>
            <a:srgbClr val="F3F4F5">
              <a:alpha val="80000"/>
            </a:srgbClr>
          </a:solidFill>
          <a:ln w="19050">
            <a:solidFill>
              <a:srgbClr val="FFFFFF"/>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713232" y="4023360"/>
            <a:ext cx="420624" cy="420624"/>
          </a:xfrm>
          <a:prstGeom prst="ellipse">
            <a:avLst/>
          </a:prstGeom>
          <a:solidFill>
            <a:srgbClr val="DEDFE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5A6072"/>
                </a:solidFill>
                <a:latin typeface="Calibri"/>
              </a:rPr>
              <a:t>C</a:t>
            </a:r>
          </a:p>
        </p:txBody>
      </p:sp>
      <p:sp>
        <p:nvSpPr>
          <p:cNvPr id="20" name="TextBox 19"/>
          <p:cNvSpPr txBox="1"/>
          <p:nvPr/>
        </p:nvSpPr>
        <p:spPr>
          <a:xfrm>
            <a:off x="1371600" y="3959352"/>
            <a:ext cx="10088575" cy="548640"/>
          </a:xfrm>
          <a:prstGeom prst="rect">
            <a:avLst/>
          </a:prstGeom>
          <a:noFill/>
        </p:spPr>
        <p:txBody>
          <a:bodyPr wrap="square" anchor="ctr" lIns="0" rIns="0" tIns="0" bIns="0">
            <a:spAutoFit/>
          </a:bodyPr>
          <a:lstStyle/>
          <a:p>
            <a:r>
              <a:rPr sz="1900" i="0" b="0">
                <a:solidFill>
                  <a:srgbClr val="5A6072"/>
                </a:solidFill>
                <a:latin typeface="Calibri"/>
              </a:rPr>
              <a:t>Muscarinic receptor</a:t>
            </a:r>
          </a:p>
        </p:txBody>
      </p:sp>
      <p:sp>
        <p:nvSpPr>
          <p:cNvPr id="21" name="Rounded Rectangle 20"/>
          <p:cNvSpPr/>
          <p:nvPr/>
        </p:nvSpPr>
        <p:spPr>
          <a:xfrm>
            <a:off x="548640" y="4636008"/>
            <a:ext cx="11094415" cy="548640"/>
          </a:xfrm>
          <a:prstGeom prst="roundRect">
            <a:avLst>
              <a:gd name="adj" fmla="val 18000"/>
            </a:avLst>
          </a:prstGeom>
          <a:solidFill>
            <a:srgbClr val="F3F4F5">
              <a:alpha val="80000"/>
            </a:srgbClr>
          </a:solidFill>
          <a:ln w="19050">
            <a:solidFill>
              <a:srgbClr val="FFFFFF"/>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713232" y="4700016"/>
            <a:ext cx="420624" cy="420624"/>
          </a:xfrm>
          <a:prstGeom prst="ellipse">
            <a:avLst/>
          </a:prstGeom>
          <a:solidFill>
            <a:srgbClr val="DEDFE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5A6072"/>
                </a:solidFill>
                <a:latin typeface="Calibri"/>
              </a:rPr>
              <a:t>D</a:t>
            </a:r>
          </a:p>
        </p:txBody>
      </p:sp>
      <p:sp>
        <p:nvSpPr>
          <p:cNvPr id="23" name="TextBox 22"/>
          <p:cNvSpPr txBox="1"/>
          <p:nvPr/>
        </p:nvSpPr>
        <p:spPr>
          <a:xfrm>
            <a:off x="1371600" y="4636008"/>
            <a:ext cx="10088575" cy="548640"/>
          </a:xfrm>
          <a:prstGeom prst="rect">
            <a:avLst/>
          </a:prstGeom>
          <a:noFill/>
        </p:spPr>
        <p:txBody>
          <a:bodyPr wrap="square" anchor="ctr" lIns="0" rIns="0" tIns="0" bIns="0">
            <a:spAutoFit/>
          </a:bodyPr>
          <a:lstStyle/>
          <a:p>
            <a:r>
              <a:rPr sz="1900" i="0" b="0">
                <a:solidFill>
                  <a:srgbClr val="5A6072"/>
                </a:solidFill>
                <a:latin typeface="Calibri"/>
              </a:rPr>
              <a:t>5-HT3 receptor</a:t>
            </a:r>
          </a:p>
        </p:txBody>
      </p:sp>
      <p:sp>
        <p:nvSpPr>
          <p:cNvPr id="24" name="TextBox 23"/>
          <p:cNvSpPr txBox="1"/>
          <p:nvPr/>
        </p:nvSpPr>
        <p:spPr>
          <a:xfrm>
            <a:off x="548640" y="5358384"/>
            <a:ext cx="11094415" cy="685800"/>
          </a:xfrm>
          <a:prstGeom prst="rect">
            <a:avLst/>
          </a:prstGeom>
          <a:noFill/>
        </p:spPr>
        <p:txBody>
          <a:bodyPr wrap="square" anchor="t" lIns="0" rIns="0" tIns="0" bIns="0">
            <a:spAutoFit/>
          </a:bodyPr>
          <a:lstStyle/>
          <a:p>
            <a:r>
              <a:rPr sz="1500" i="0" b="1">
                <a:solidFill>
                  <a:srgbClr val="826227"/>
                </a:solidFill>
                <a:latin typeface="Calibri"/>
              </a:rPr>
              <a:t>Why:  </a:t>
            </a:r>
            <a:r>
              <a:rPr sz="1500" i="0" b="0">
                <a:solidFill>
                  <a:srgbClr val="1A1F36"/>
                </a:solidFill>
                <a:latin typeface="Calibri"/>
              </a:rPr>
              <a:t>α1 block causes postural hypotension. B causes sedation. C causes anticholinergic effects. D blocks nausea.</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1B2A8C"/>
        </a:solidFill>
        <a:effectLst/>
      </p:bgPr>
    </p:bg>
    <p:spTree>
      <p:nvGrpSpPr>
        <p:cNvPr id="1" name=""/>
        <p:cNvGrpSpPr/>
        <p:nvPr/>
      </p:nvGrpSpPr>
      <p:grpSpPr/>
      <p:pic>
        <p:nvPicPr>
          <p:cNvPr id="2" name="Picture 1" descr=""/>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548640" y="502920"/>
            <a:ext cx="7315200" cy="365760"/>
          </a:xfrm>
          <a:prstGeom prst="rect">
            <a:avLst/>
          </a:prstGeom>
          <a:noFill/>
        </p:spPr>
        <p:txBody>
          <a:bodyPr wrap="square" anchor="t" lIns="0" rIns="0" tIns="0" bIns="0">
            <a:spAutoFit/>
          </a:bodyPr>
          <a:lstStyle/>
          <a:p>
            <a:r>
              <a:rPr sz="1300" i="0" b="1" spc="200">
                <a:solidFill>
                  <a:srgbClr val="DFE1EF"/>
                </a:solidFill>
                <a:latin typeface="Calibri"/>
              </a:rPr>
              <a:t>SECTION 4  ·  SUMMARY</a:t>
            </a:r>
          </a:p>
        </p:txBody>
      </p:sp>
      <p:sp>
        <p:nvSpPr>
          <p:cNvPr id="4" name="TextBox 3"/>
          <p:cNvSpPr txBox="1"/>
          <p:nvPr/>
        </p:nvSpPr>
        <p:spPr>
          <a:xfrm>
            <a:off x="548640" y="822960"/>
            <a:ext cx="9144000" cy="731520"/>
          </a:xfrm>
          <a:prstGeom prst="rect">
            <a:avLst/>
          </a:prstGeom>
          <a:noFill/>
        </p:spPr>
        <p:txBody>
          <a:bodyPr wrap="square" anchor="t" lIns="0" rIns="0" tIns="0" bIns="0">
            <a:spAutoFit/>
          </a:bodyPr>
          <a:lstStyle/>
          <a:p>
            <a:r>
              <a:rPr sz="3600" i="0" b="1">
                <a:solidFill>
                  <a:srgbClr val="FFFFFF"/>
                </a:solidFill>
                <a:latin typeface="Cambria"/>
              </a:rPr>
              <a:t>Key Takeaways</a:t>
            </a:r>
          </a:p>
        </p:txBody>
      </p:sp>
      <p:sp>
        <p:nvSpPr>
          <p:cNvPr id="5" name="Oval 4"/>
          <p:cNvSpPr/>
          <p:nvPr/>
        </p:nvSpPr>
        <p:spPr>
          <a:xfrm>
            <a:off x="548640" y="1847088"/>
            <a:ext cx="402336" cy="402336"/>
          </a:xfrm>
          <a:prstGeom prst="ellipse">
            <a:avLst/>
          </a:prstGeom>
          <a:solidFill>
            <a:srgbClr val="DFE1E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1B2A8C"/>
                </a:solidFill>
                <a:latin typeface="Calibri"/>
              </a:rPr>
              <a:t>1</a:t>
            </a:r>
          </a:p>
        </p:txBody>
      </p:sp>
      <p:sp>
        <p:nvSpPr>
          <p:cNvPr id="6" name="TextBox 5"/>
          <p:cNvSpPr txBox="1"/>
          <p:nvPr/>
        </p:nvSpPr>
        <p:spPr>
          <a:xfrm>
            <a:off x="1143000" y="1865376"/>
            <a:ext cx="10500055" cy="439510"/>
          </a:xfrm>
          <a:prstGeom prst="rect">
            <a:avLst/>
          </a:prstGeom>
          <a:noFill/>
        </p:spPr>
        <p:txBody>
          <a:bodyPr wrap="square" anchor="t" lIns="0" rIns="0" tIns="0" bIns="0">
            <a:spAutoFit/>
          </a:bodyPr>
          <a:lstStyle/>
          <a:p>
            <a:r>
              <a:rPr sz="1700" i="0" b="0">
                <a:solidFill>
                  <a:srgbClr val="FFFFFF"/>
                </a:solidFill>
                <a:latin typeface="Calibri"/>
              </a:rPr>
              <a:t>Antidepressants raise monoamines within hours, but mood improves after 2 to 4 weeks.</a:t>
            </a:r>
          </a:p>
        </p:txBody>
      </p:sp>
      <p:sp>
        <p:nvSpPr>
          <p:cNvPr id="7" name="Oval 6"/>
          <p:cNvSpPr/>
          <p:nvPr/>
        </p:nvSpPr>
        <p:spPr>
          <a:xfrm>
            <a:off x="548640" y="2332318"/>
            <a:ext cx="402336" cy="402336"/>
          </a:xfrm>
          <a:prstGeom prst="ellipse">
            <a:avLst/>
          </a:prstGeom>
          <a:solidFill>
            <a:srgbClr val="DFE1E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1B2A8C"/>
                </a:solidFill>
                <a:latin typeface="Calibri"/>
              </a:rPr>
              <a:t>2</a:t>
            </a:r>
          </a:p>
        </p:txBody>
      </p:sp>
      <p:sp>
        <p:nvSpPr>
          <p:cNvPr id="8" name="TextBox 7"/>
          <p:cNvSpPr txBox="1"/>
          <p:nvPr/>
        </p:nvSpPr>
        <p:spPr>
          <a:xfrm>
            <a:off x="1143000" y="2350606"/>
            <a:ext cx="10500055" cy="709385"/>
          </a:xfrm>
          <a:prstGeom prst="rect">
            <a:avLst/>
          </a:prstGeom>
          <a:noFill/>
        </p:spPr>
        <p:txBody>
          <a:bodyPr wrap="square" anchor="t" lIns="0" rIns="0" tIns="0" bIns="0">
            <a:spAutoFit/>
          </a:bodyPr>
          <a:lstStyle/>
          <a:p>
            <a:r>
              <a:rPr sz="1700" i="0" b="0">
                <a:solidFill>
                  <a:srgbClr val="FFFFFF"/>
                </a:solidFill>
                <a:latin typeface="Calibri"/>
              </a:rPr>
              <a:t>Treatment depends on severity; psychological therapy is central and is combined with drugs in more severe depression.</a:t>
            </a:r>
          </a:p>
        </p:txBody>
      </p:sp>
      <p:sp>
        <p:nvSpPr>
          <p:cNvPr id="9" name="Oval 8"/>
          <p:cNvSpPr/>
          <p:nvPr/>
        </p:nvSpPr>
        <p:spPr>
          <a:xfrm>
            <a:off x="548640" y="3087424"/>
            <a:ext cx="402336" cy="402336"/>
          </a:xfrm>
          <a:prstGeom prst="ellipse">
            <a:avLst/>
          </a:prstGeom>
          <a:solidFill>
            <a:srgbClr val="DFE1E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1B2A8C"/>
                </a:solidFill>
                <a:latin typeface="Calibri"/>
              </a:rPr>
              <a:t>3</a:t>
            </a:r>
          </a:p>
        </p:txBody>
      </p:sp>
      <p:sp>
        <p:nvSpPr>
          <p:cNvPr id="10" name="TextBox 9"/>
          <p:cNvSpPr txBox="1"/>
          <p:nvPr/>
        </p:nvSpPr>
        <p:spPr>
          <a:xfrm>
            <a:off x="1143000" y="3105712"/>
            <a:ext cx="10500055" cy="439510"/>
          </a:xfrm>
          <a:prstGeom prst="rect">
            <a:avLst/>
          </a:prstGeom>
          <a:noFill/>
        </p:spPr>
        <p:txBody>
          <a:bodyPr wrap="square" anchor="t" lIns="0" rIns="0" tIns="0" bIns="0">
            <a:spAutoFit/>
          </a:bodyPr>
          <a:lstStyle/>
          <a:p>
            <a:r>
              <a:rPr sz="1700" i="0" b="0">
                <a:solidFill>
                  <a:srgbClr val="FFFFFF"/>
                </a:solidFill>
                <a:latin typeface="Calibri"/>
              </a:rPr>
              <a:t>SSRIs are first choice; sexual dysfunction often persists, while nausea usually settles.</a:t>
            </a:r>
          </a:p>
        </p:txBody>
      </p:sp>
      <p:sp>
        <p:nvSpPr>
          <p:cNvPr id="11" name="Oval 10"/>
          <p:cNvSpPr/>
          <p:nvPr/>
        </p:nvSpPr>
        <p:spPr>
          <a:xfrm>
            <a:off x="548640" y="3572655"/>
            <a:ext cx="402336" cy="402336"/>
          </a:xfrm>
          <a:prstGeom prst="ellipse">
            <a:avLst/>
          </a:prstGeom>
          <a:solidFill>
            <a:srgbClr val="DFE1E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1B2A8C"/>
                </a:solidFill>
                <a:latin typeface="Calibri"/>
              </a:rPr>
              <a:t>4</a:t>
            </a:r>
          </a:p>
        </p:txBody>
      </p:sp>
      <p:sp>
        <p:nvSpPr>
          <p:cNvPr id="12" name="TextBox 11"/>
          <p:cNvSpPr txBox="1"/>
          <p:nvPr/>
        </p:nvSpPr>
        <p:spPr>
          <a:xfrm>
            <a:off x="1143000" y="3590943"/>
            <a:ext cx="10500055" cy="709385"/>
          </a:xfrm>
          <a:prstGeom prst="rect">
            <a:avLst/>
          </a:prstGeom>
          <a:noFill/>
        </p:spPr>
        <p:txBody>
          <a:bodyPr wrap="square" anchor="t" lIns="0" rIns="0" tIns="0" bIns="0">
            <a:spAutoFit/>
          </a:bodyPr>
          <a:lstStyle/>
          <a:p>
            <a:r>
              <a:rPr sz="1700" i="0" b="0">
                <a:solidFill>
                  <a:srgbClr val="FFFFFF"/>
                </a:solidFill>
                <a:latin typeface="Calibri"/>
              </a:rPr>
              <a:t>Most adverse effects follow receptor block: α1 (hypotension), H1 (sedation), muscarinic (anticholinergic effects).</a:t>
            </a:r>
          </a:p>
        </p:txBody>
      </p:sp>
      <p:sp>
        <p:nvSpPr>
          <p:cNvPr id="13" name="Oval 12"/>
          <p:cNvSpPr/>
          <p:nvPr/>
        </p:nvSpPr>
        <p:spPr>
          <a:xfrm>
            <a:off x="548640" y="4327760"/>
            <a:ext cx="402336" cy="402336"/>
          </a:xfrm>
          <a:prstGeom prst="ellipse">
            <a:avLst/>
          </a:prstGeom>
          <a:solidFill>
            <a:srgbClr val="DFE1E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1B2A8C"/>
                </a:solidFill>
                <a:latin typeface="Calibri"/>
              </a:rPr>
              <a:t>5</a:t>
            </a:r>
          </a:p>
        </p:txBody>
      </p:sp>
      <p:sp>
        <p:nvSpPr>
          <p:cNvPr id="14" name="TextBox 13"/>
          <p:cNvSpPr txBox="1"/>
          <p:nvPr/>
        </p:nvSpPr>
        <p:spPr>
          <a:xfrm>
            <a:off x="1143000" y="4346048"/>
            <a:ext cx="10500055" cy="709385"/>
          </a:xfrm>
          <a:prstGeom prst="rect">
            <a:avLst/>
          </a:prstGeom>
          <a:noFill/>
        </p:spPr>
        <p:txBody>
          <a:bodyPr wrap="square" anchor="t" lIns="0" rIns="0" tIns="0" bIns="0">
            <a:spAutoFit/>
          </a:bodyPr>
          <a:lstStyle/>
          <a:p>
            <a:r>
              <a:rPr sz="1700" i="0" b="0">
                <a:solidFill>
                  <a:srgbClr val="FFFFFF"/>
                </a:solidFill>
                <a:latin typeface="Calibri"/>
              </a:rPr>
              <a:t>Serotonin syndrome is mental change, autonomic instability and clonus; respect MAO inhibitor washouts.</a:t>
            </a:r>
          </a:p>
        </p:txBody>
      </p:sp>
      <p:sp>
        <p:nvSpPr>
          <p:cNvPr id="15" name="Oval 14"/>
          <p:cNvSpPr/>
          <p:nvPr/>
        </p:nvSpPr>
        <p:spPr>
          <a:xfrm>
            <a:off x="548640" y="5082866"/>
            <a:ext cx="402336" cy="402336"/>
          </a:xfrm>
          <a:prstGeom prst="ellipse">
            <a:avLst/>
          </a:prstGeom>
          <a:solidFill>
            <a:srgbClr val="DFE1E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1B2A8C"/>
                </a:solidFill>
                <a:latin typeface="Calibri"/>
              </a:rPr>
              <a:t>6</a:t>
            </a:r>
          </a:p>
        </p:txBody>
      </p:sp>
      <p:sp>
        <p:nvSpPr>
          <p:cNvPr id="16" name="TextBox 15"/>
          <p:cNvSpPr txBox="1"/>
          <p:nvPr/>
        </p:nvSpPr>
        <p:spPr>
          <a:xfrm>
            <a:off x="1143000" y="5101154"/>
            <a:ext cx="10500055" cy="439510"/>
          </a:xfrm>
          <a:prstGeom prst="rect">
            <a:avLst/>
          </a:prstGeom>
          <a:noFill/>
        </p:spPr>
        <p:txBody>
          <a:bodyPr wrap="square" anchor="t" lIns="0" rIns="0" tIns="0" bIns="0">
            <a:spAutoFit/>
          </a:bodyPr>
          <a:lstStyle/>
          <a:p>
            <a:r>
              <a:rPr sz="1700" i="0" b="0">
                <a:solidFill>
                  <a:srgbClr val="FFFFFF"/>
                </a:solidFill>
                <a:latin typeface="Calibri"/>
              </a:rPr>
              <a:t>TCA overdose is treated with sodium bicarbonate.</a:t>
            </a:r>
          </a:p>
        </p:txBody>
      </p:sp>
      <p:sp>
        <p:nvSpPr>
          <p:cNvPr id="17" name="Oval 16"/>
          <p:cNvSpPr/>
          <p:nvPr/>
        </p:nvSpPr>
        <p:spPr>
          <a:xfrm>
            <a:off x="548640" y="5568097"/>
            <a:ext cx="402336" cy="402336"/>
          </a:xfrm>
          <a:prstGeom prst="ellipse">
            <a:avLst/>
          </a:prstGeom>
          <a:solidFill>
            <a:srgbClr val="DFE1E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1B2A8C"/>
                </a:solidFill>
                <a:latin typeface="Calibri"/>
              </a:rPr>
              <a:t>7</a:t>
            </a:r>
          </a:p>
        </p:txBody>
      </p:sp>
      <p:sp>
        <p:nvSpPr>
          <p:cNvPr id="18" name="TextBox 17"/>
          <p:cNvSpPr txBox="1"/>
          <p:nvPr/>
        </p:nvSpPr>
        <p:spPr>
          <a:xfrm>
            <a:off x="1143000" y="5586385"/>
            <a:ext cx="10500055" cy="439510"/>
          </a:xfrm>
          <a:prstGeom prst="rect">
            <a:avLst/>
          </a:prstGeom>
          <a:noFill/>
        </p:spPr>
        <p:txBody>
          <a:bodyPr wrap="square" anchor="t" lIns="0" rIns="0" tIns="0" bIns="0">
            <a:spAutoFit/>
          </a:bodyPr>
          <a:lstStyle/>
          <a:p>
            <a:r>
              <a:rPr sz="1700" i="0" b="0">
                <a:solidFill>
                  <a:srgbClr val="FFFFFF"/>
                </a:solidFill>
                <a:latin typeface="Calibri"/>
              </a:rPr>
              <a:t>Monitor for suicidal thoughts in young patients; taper slowly when stopping.</a:t>
            </a:r>
          </a:p>
        </p:txBody>
      </p:sp>
      <p:pic>
        <p:nvPicPr>
          <p:cNvPr id="19" name="Picture 18" descr="port-said-university.png"/>
          <p:cNvPicPr>
            <a:picLocks noChangeAspect="1"/>
          </p:cNvPicPr>
          <p:nvPr/>
        </p:nvPicPr>
        <p:blipFill>
          <a:blip r:embed="rId3"/>
          <a:stretch>
            <a:fillRect/>
          </a:stretch>
        </p:blipFill>
        <p:spPr>
          <a:xfrm>
            <a:off x="10378440" y="6144768"/>
            <a:ext cx="548640" cy="548640"/>
          </a:xfrm>
          <a:prstGeom prst="rect">
            <a:avLst/>
          </a:prstGeom>
        </p:spPr>
      </p:pic>
      <p:pic>
        <p:nvPicPr>
          <p:cNvPr id="20" name="Picture 19" descr="faculty-of-pharmacy.png"/>
          <p:cNvPicPr>
            <a:picLocks noChangeAspect="1"/>
          </p:cNvPicPr>
          <p:nvPr/>
        </p:nvPicPr>
        <p:blipFill>
          <a:blip r:embed="rId4"/>
          <a:stretch>
            <a:fillRect/>
          </a:stretch>
        </p:blipFill>
        <p:spPr>
          <a:xfrm>
            <a:off x="11036808" y="6144768"/>
            <a:ext cx="548640" cy="548640"/>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