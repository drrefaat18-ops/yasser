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Serotonin (5-HT) and noradrenaline (NA) are released from nerve endings. Their action ends mainly by reuptake: SERT takes up 5-HT and NET takes up NA. Inside the neuron, monoamine oxidase (MAO) breaks them down. MAO-A prefers 5-HT, NA and tyramine; MAO-B prefers dopamine. Presynaptic α2 autoreceptors act as a brake: when stimulated, they reduce NA and 5-HT release.</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depression is a common mood disorder. Core symptoms are low mood and loss of interest or pleasure for at least 2 weeks. Other symptoms include poor sleep, change in appetite, fatigue, poor concentration, guilt and thoughts of death or suicide. The monoamine hypothesis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a:p/>
          <a:p>
            <a:r>
              <a:t>Time: 2:00  (at 4:30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depression is a common mood disorder. Core symptoms are low mood and loss of interest or pleasure for at least 2 weeks. Other symptoms include poor sleep, change in appetite, fatigue, poor concentration, guilt and thoughts of death or suicide. The monoamine hypothesis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a:p/>
          <a:p>
            <a:r>
              <a:t>Time: 1:30  (at 6:00 of 40:00).  Next: Psychological Therapy and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Antidepressants are not the only treatment. NICE NG222 stratifies treatment by severity and patient choice: Continue an antidepressant for at least 6 months after remission to reduce relapse.</a:t>
            </a:r>
          </a:p>
          <a:p/>
          <a:p>
            <a:r>
              <a:t>Time: 2:00  (at 8:00 of 40:00).  Next: Antidepressant Classes.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2:00  (at 10:00 of 40:00).  Next: Antidepressant Classes.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2:30  (at 12:30 of 40:00).  Next: SSRIs.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2:00  (at 14:30 of 40:00).  Next: Tricyclic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Time: 2:30  (at 17:00 of 40:00).  Next: Serotonin syndrome.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19:00 of 40:00).  Next: Serotonin syndrome.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2:00  (at 21:00 of 40:00).  Next: Serious Toxicity.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1:30  (at 22:30 of 40:00).  Next: Serious Toxicity.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Time: 1:30  (at 24:00 of 40:00).  Next: Stopping an Antidepressant.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Stopping suddenly after more than 4 weeks can cause a discontinuation syndrome. It is not relapse of depression. Features are dizziness, "electric-shock" sensations, anxiety, irritability, flu-like symptoms and vivid dreams. It is most common with paroxetine and venlafaxine, which have short half-lives. It is least common with fluoxetine. Reduce the dose slowly over at least 4 weeks, and longer if symptoms appear.</a:t>
            </a:r>
          </a:p>
          <a:p/>
          <a:p>
            <a:r>
              <a:t>Time: 2:00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choosing, consider previous response, adverse-effect profile, other illnesses, other drugs and the patient's preference.</a:t>
            </a:r>
          </a:p>
          <a:p/>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Mood improves as receptors down-regulate and neurotrophic factors rise. A is wrong; absorption is fast. C is wrong; SERT is blocked within hours. D is not true of SSRIs as a class.</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Blocking the α2 brake raises NA and 5-HT release. A is SSRIs. B is MAO inhibitors. C is not mirtazapine's action.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α1 block causes postural hypotension. B causes sedation. C causes anticholinergic effects. D blocks nausea.</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04</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4</a:t>
            </a:r>
          </a:p>
          <a:p>
            <a:pPr>
              <a:spcBef>
                <a:spcPts val="1400"/>
              </a:spcBef>
            </a:pPr>
            <a:r>
              <a:rPr sz="3600" i="0" b="1">
                <a:solidFill>
                  <a:srgbClr val="FFFFFF"/>
                </a:solidFill>
                <a:latin typeface="Cambria"/>
              </a:rPr>
              <a:t>Depression and Antidepressant Drugs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941324"/>
          </a:xfrm>
          <a:prstGeom prst="rect">
            <a:avLst/>
          </a:prstGeom>
          <a:noFill/>
        </p:spPr>
        <p:txBody>
          <a:bodyPr wrap="square" anchor="t" lIns="0" rIns="0" tIns="0" bIns="0">
            <a:spAutoFit/>
          </a:bodyPr>
          <a:lstStyle/>
          <a:p>
            <a:r>
              <a:rPr sz="2000" i="0" b="0">
                <a:solidFill>
                  <a:srgbClr val="1A1F36"/>
                </a:solidFill>
                <a:latin typeface="Calibri"/>
              </a:rPr>
              <a:t>Explain the monoamine basis of depression and the delayed onset of antidepressants.</a:t>
            </a:r>
          </a:p>
        </p:txBody>
      </p:sp>
      <p:sp>
        <p:nvSpPr>
          <p:cNvPr id="10" name="Oval 9"/>
          <p:cNvSpPr/>
          <p:nvPr/>
        </p:nvSpPr>
        <p:spPr>
          <a:xfrm>
            <a:off x="548640" y="2559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78100"/>
            <a:ext cx="6629400" cy="623824"/>
          </a:xfrm>
          <a:prstGeom prst="rect">
            <a:avLst/>
          </a:prstGeom>
          <a:noFill/>
        </p:spPr>
        <p:txBody>
          <a:bodyPr wrap="square" anchor="t" lIns="0" rIns="0" tIns="0" bIns="0">
            <a:spAutoFit/>
          </a:bodyPr>
          <a:lstStyle/>
          <a:p>
            <a:r>
              <a:rPr sz="2000" i="0" b="0">
                <a:solidFill>
                  <a:srgbClr val="1A1F36"/>
                </a:solidFill>
                <a:latin typeface="Calibri"/>
              </a:rPr>
              <a:t>Describe the mechanism of each antidepressant class.</a:t>
            </a:r>
          </a:p>
        </p:txBody>
      </p:sp>
      <p:sp>
        <p:nvSpPr>
          <p:cNvPr id="12" name="Oval 11"/>
          <p:cNvSpPr/>
          <p:nvPr/>
        </p:nvSpPr>
        <p:spPr>
          <a:xfrm>
            <a:off x="548640" y="32293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247644"/>
            <a:ext cx="6629400" cy="941324"/>
          </a:xfrm>
          <a:prstGeom prst="rect">
            <a:avLst/>
          </a:prstGeom>
          <a:noFill/>
        </p:spPr>
        <p:txBody>
          <a:bodyPr wrap="square" anchor="t" lIns="0" rIns="0" tIns="0" bIns="0">
            <a:spAutoFit/>
          </a:bodyPr>
          <a:lstStyle/>
          <a:p>
            <a:r>
              <a:rPr sz="2000" i="0" b="0">
                <a:solidFill>
                  <a:srgbClr val="1A1F36"/>
                </a:solidFill>
                <a:latin typeface="Calibri"/>
              </a:rPr>
              <a:t>Link each common adverse effect to the receptor that causes it.</a:t>
            </a:r>
          </a:p>
        </p:txBody>
      </p:sp>
      <p:sp>
        <p:nvSpPr>
          <p:cNvPr id="14" name="Oval 13"/>
          <p:cNvSpPr/>
          <p:nvPr/>
        </p:nvSpPr>
        <p:spPr>
          <a:xfrm>
            <a:off x="548640" y="42164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34688"/>
            <a:ext cx="6629400" cy="941324"/>
          </a:xfrm>
          <a:prstGeom prst="rect">
            <a:avLst/>
          </a:prstGeom>
          <a:noFill/>
        </p:spPr>
        <p:txBody>
          <a:bodyPr wrap="square" anchor="t" lIns="0" rIns="0" tIns="0" bIns="0">
            <a:spAutoFit/>
          </a:bodyPr>
          <a:lstStyle/>
          <a:p>
            <a:r>
              <a:rPr sz="2000" i="0" b="0">
                <a:solidFill>
                  <a:srgbClr val="1A1F36"/>
                </a:solidFill>
                <a:latin typeface="Calibri"/>
              </a:rPr>
              <a:t>Recognise serotonin syndrome, the cheese reaction and tricyclic overdose, and outline their management.</a:t>
            </a:r>
          </a:p>
        </p:txBody>
      </p:sp>
      <p:sp>
        <p:nvSpPr>
          <p:cNvPr id="16" name="Oval 15"/>
          <p:cNvSpPr/>
          <p:nvPr/>
        </p:nvSpPr>
        <p:spPr>
          <a:xfrm>
            <a:off x="548640" y="52034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221732"/>
            <a:ext cx="6629400" cy="941324"/>
          </a:xfrm>
          <a:prstGeom prst="rect">
            <a:avLst/>
          </a:prstGeom>
          <a:noFill/>
        </p:spPr>
        <p:txBody>
          <a:bodyPr wrap="square" anchor="t" lIns="0" rIns="0" tIns="0" bIns="0">
            <a:spAutoFit/>
          </a:bodyPr>
          <a:lstStyle/>
          <a:p>
            <a:r>
              <a:rPr sz="2000" i="0" b="0">
                <a:solidFill>
                  <a:srgbClr val="1A1F36"/>
                </a:solidFill>
                <a:latin typeface="Calibri"/>
              </a:rPr>
              <a:t>Choose an antidepressant for a patient, and counsel on onset, adverse effects and stopping.</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0" name="Oval 9"/>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1173987"/>
          </a:xfrm>
          <a:prstGeom prst="rect">
            <a:avLst/>
          </a:prstGeom>
          <a:noFill/>
        </p:spPr>
        <p:txBody>
          <a:bodyPr wrap="square" anchor="t" lIns="0" rIns="0" tIns="0" bIns="0">
            <a:spAutoFit/>
          </a:bodyPr>
          <a:lstStyle/>
          <a:p>
            <a:r>
              <a:rPr sz="2200" i="0" b="0">
                <a:solidFill>
                  <a:srgbClr val="1A1F36"/>
                </a:solidFill>
                <a:latin typeface="Calibri"/>
              </a:rPr>
              <a:t>Psychological Therapy and Antidepressants</a:t>
            </a:r>
          </a:p>
        </p:txBody>
      </p:sp>
      <p:sp>
        <p:nvSpPr>
          <p:cNvPr id="12" name="Oval 11"/>
          <p:cNvSpPr/>
          <p:nvPr/>
        </p:nvSpPr>
        <p:spPr>
          <a:xfrm>
            <a:off x="548640" y="36629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81221"/>
            <a:ext cx="4678527" cy="824737"/>
          </a:xfrm>
          <a:prstGeom prst="rect">
            <a:avLst/>
          </a:prstGeom>
          <a:noFill/>
        </p:spPr>
        <p:txBody>
          <a:bodyPr wrap="square" anchor="t" lIns="0" rIns="0" tIns="0" bIns="0">
            <a:spAutoFit/>
          </a:bodyPr>
          <a:lstStyle/>
          <a:p>
            <a:r>
              <a:rPr sz="2200" i="0" b="0">
                <a:solidFill>
                  <a:srgbClr val="1A1F36"/>
                </a:solidFill>
                <a:latin typeface="Calibri"/>
              </a:rPr>
              <a:t>Antidepressant Classes</a:t>
            </a:r>
          </a:p>
        </p:txBody>
      </p:sp>
      <p:sp>
        <p:nvSpPr>
          <p:cNvPr id="14" name="Oval 13"/>
          <p:cNvSpPr/>
          <p:nvPr/>
        </p:nvSpPr>
        <p:spPr>
          <a:xfrm>
            <a:off x="548640" y="45333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51679"/>
            <a:ext cx="4678527" cy="824737"/>
          </a:xfrm>
          <a:prstGeom prst="rect">
            <a:avLst/>
          </a:prstGeom>
          <a:noFill/>
        </p:spPr>
        <p:txBody>
          <a:bodyPr wrap="square" anchor="t" lIns="0" rIns="0" tIns="0" bIns="0">
            <a:spAutoFit/>
          </a:bodyPr>
          <a:lstStyle/>
          <a:p>
            <a:r>
              <a:rPr sz="2200" i="0" b="0">
                <a:solidFill>
                  <a:srgbClr val="1A1F36"/>
                </a:solidFill>
                <a:latin typeface="Calibri"/>
              </a:rPr>
              <a:t>Serious Toxicity</a:t>
            </a:r>
          </a:p>
        </p:txBody>
      </p:sp>
      <p:sp>
        <p:nvSpPr>
          <p:cNvPr id="16" name="Oval 15"/>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Stopping an Antidepressant</a:t>
            </a:r>
          </a:p>
        </p:txBody>
      </p:sp>
      <p:sp>
        <p:nvSpPr>
          <p:cNvPr id="18" name="Oval 17"/>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1A1F36"/>
                </a:solidFill>
                <a:latin typeface="Calibri"/>
              </a:rPr>
              <a:t>Major depression is a common mood disorder. Core symptoms are low mood and loss of interest or pleasure for at least 2 weeks. Other symptoms include poor sleep, change in appetite, fatigue, poor concentration, guilt and thoughts of death or suicide.</a:t>
            </a:r>
          </a:p>
        </p:txBody>
      </p:sp>
      <p:sp>
        <p:nvSpPr>
          <p:cNvPr id="10" name="Oval 9"/>
          <p:cNvSpPr/>
          <p:nvPr/>
        </p:nvSpPr>
        <p:spPr>
          <a:xfrm>
            <a:off x="548640" y="342747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445764"/>
            <a:ext cx="10500055" cy="2475738"/>
          </a:xfrm>
          <a:prstGeom prst="rect">
            <a:avLst/>
          </a:prstGeom>
          <a:noFill/>
        </p:spPr>
        <p:txBody>
          <a:bodyPr wrap="square" anchor="t" lIns="0" rIns="0" tIns="0" bIns="0">
            <a:spAutoFit/>
          </a:bodyPr>
          <a:lstStyle/>
          <a:p>
            <a:r>
              <a:rPr sz="2100" i="0" b="0">
                <a:solidFill>
                  <a:srgbClr val="1A1F36"/>
                </a:solidFill>
                <a:latin typeface="Calibri"/>
              </a:rPr>
              <a:t>The </a:t>
            </a:r>
            <a:r>
              <a:rPr sz="2100" i="0" b="1">
                <a:solidFill>
                  <a:srgbClr val="1A1F36"/>
                </a:solidFill>
                <a:latin typeface="Calibri"/>
              </a:rPr>
              <a:t>monoamine hypothesis</a:t>
            </a:r>
            <a:r>
              <a:rPr sz="2100" i="0" b="0">
                <a:solidFill>
                  <a:srgbClr val="1A1F36"/>
                </a:solidFill>
                <a:latin typeface="Calibri"/>
              </a:rPr>
              <a:t>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Monoamines rise within hours, but mood improves after weeks. Tell patients this, or they will stop the drug early.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Psychological Therapy and Antidepressants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Antidepressants are not the only treatment. NICE NG222 stratifies treatment by severity and patient choice:</a:t>
            </a:r>
          </a:p>
          <a:p>
            <a:pPr>
              <a:spcAft>
                <a:spcPts val="800"/>
              </a:spcAft>
            </a:pPr>
            <a:r>
              <a:rPr sz="1800" i="0" b="0">
                <a:solidFill>
                  <a:srgbClr val="1A1F36"/>
                </a:solidFill>
                <a:latin typeface="Calibri"/>
              </a:rPr>
              <a:t>Continue an antidepressant for at least 6 months after remission to reduce relapse.</a:t>
            </a:r>
          </a:p>
        </p:txBody>
      </p:sp>
      <p:sp>
        <p:nvSpPr>
          <p:cNvPr id="9" name="Oval 8"/>
          <p:cNvSpPr/>
          <p:nvPr/>
        </p:nvSpPr>
        <p:spPr>
          <a:xfrm>
            <a:off x="548640" y="29580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976372"/>
            <a:ext cx="10500055" cy="1142237"/>
          </a:xfrm>
          <a:prstGeom prst="rect">
            <a:avLst/>
          </a:prstGeom>
          <a:noFill/>
        </p:spPr>
        <p:txBody>
          <a:bodyPr wrap="square" anchor="t" lIns="0" rIns="0" tIns="0" bIns="0">
            <a:spAutoFit/>
          </a:bodyPr>
          <a:lstStyle/>
          <a:p>
            <a:r>
              <a:rPr sz="2100" i="0" b="1">
                <a:solidFill>
                  <a:srgbClr val="1A1F36"/>
                </a:solidFill>
                <a:latin typeface="Calibri"/>
              </a:rPr>
              <a:t>Less severe depression:</a:t>
            </a:r>
            <a:r>
              <a:rPr sz="2100" i="0" b="0">
                <a:solidFill>
                  <a:srgbClr val="1A1F36"/>
                </a:solidFill>
                <a:latin typeface="Calibri"/>
              </a:rPr>
              <a:t> guided self-help, group CBT or other psychological therapy first. An antidepressant is offered only if the patient prefers it.</a:t>
            </a:r>
          </a:p>
        </p:txBody>
      </p:sp>
      <p:sp>
        <p:nvSpPr>
          <p:cNvPr id="11" name="Oval 10"/>
          <p:cNvSpPr/>
          <p:nvPr/>
        </p:nvSpPr>
        <p:spPr>
          <a:xfrm>
            <a:off x="548640" y="41460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164329"/>
            <a:ext cx="10500055" cy="1475612"/>
          </a:xfrm>
          <a:prstGeom prst="rect">
            <a:avLst/>
          </a:prstGeom>
          <a:noFill/>
        </p:spPr>
        <p:txBody>
          <a:bodyPr wrap="square" anchor="t" lIns="0" rIns="0" tIns="0" bIns="0">
            <a:spAutoFit/>
          </a:bodyPr>
          <a:lstStyle/>
          <a:p>
            <a:r>
              <a:rPr sz="2100" i="0" b="1">
                <a:solidFill>
                  <a:srgbClr val="1A1F36"/>
                </a:solidFill>
                <a:latin typeface="Calibri"/>
              </a:rPr>
              <a:t>More severe depression:</a:t>
            </a:r>
            <a:r>
              <a:rPr sz="2100" i="0" b="0">
                <a:solidFill>
                  <a:srgbClr val="1A1F36"/>
                </a:solidFill>
                <a:latin typeface="Calibri"/>
              </a:rPr>
              <a:t> CBT plus an antidepressant is the most effective choice. An antidepressant alone or psychological therapy alone are also options, according to need and preference.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Antidepressant Classes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Presynaptic neuron with MAO blocked by MAO inhibitors, SERT and NET blocked by SSRIs, SNRIs and TCAs, and the alpha-2 autoreceptor blocked by mirtazapine. A side note links alpha-1, H1 and muscarinic block to adverse effects."/>
          <p:cNvPicPr>
            <a:picLocks noChangeAspect="1"/>
          </p:cNvPicPr>
          <p:nvPr/>
        </p:nvPicPr>
        <p:blipFill>
          <a:blip r:embed="rId4"/>
          <a:stretch>
            <a:fillRect/>
          </a:stretch>
        </p:blipFill>
        <p:spPr>
          <a:xfrm>
            <a:off x="1796020" y="1554480"/>
            <a:ext cx="8599655"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Serotonin and noradrenaline synapse: targets of the antidepressant classes.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Antidepressant Classes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1722735"/>
                <a:gridCol w="4685839"/>
                <a:gridCol w="4685839"/>
              </a:tblGrid>
              <a:tr h="577215">
                <a:tc>
                  <a:txBody>
                    <a:bodyPr/>
                    <a:lstStyle/>
                    <a:p>
                      <a:r>
                        <a:rPr sz="1400" i="0" b="1">
                          <a:solidFill>
                            <a:srgbClr val="FFFFFF"/>
                          </a:solidFill>
                          <a:latin typeface="Calibri"/>
                        </a:rPr>
                        <a:t>Class</a:t>
                      </a:r>
                    </a:p>
                  </a:txBody>
                  <a:tcPr marL="109728" marR="109728" marT="45720" marB="45720" anchor="ctr">
                    <a:solidFill>
                      <a:srgbClr val="1B2A8C"/>
                    </a:solidFill>
                  </a:tcPr>
                </a:tc>
                <a:tc>
                  <a:txBody>
                    <a:bodyPr/>
                    <a:lstStyle/>
                    <a:p>
                      <a:r>
                        <a:rPr sz="1400" i="0" b="1">
                          <a:solidFill>
                            <a:srgbClr val="FFFFFF"/>
                          </a:solidFill>
                          <a:latin typeface="Calibri"/>
                        </a:rPr>
                        <a:t>Members</a:t>
                      </a:r>
                    </a:p>
                  </a:txBody>
                  <a:tcPr marL="109728" marR="109728" marT="45720" marB="45720" anchor="ctr">
                    <a:solidFill>
                      <a:srgbClr val="1B2A8C"/>
                    </a:solidFill>
                  </a:tcPr>
                </a:tc>
                <a:tc>
                  <a:txBody>
                    <a:bodyPr/>
                    <a:lstStyle/>
                    <a:p>
                      <a:r>
                        <a:rPr sz="1400" i="0" b="1">
                          <a:solidFill>
                            <a:srgbClr val="FFFFFF"/>
                          </a:solidFill>
                          <a:latin typeface="Calibri"/>
                        </a:rPr>
                        <a:t>Mechanism</a:t>
                      </a:r>
                    </a:p>
                  </a:txBody>
                  <a:tcPr marL="109728" marR="109728" marT="45720" marB="45720" anchor="ctr">
                    <a:solidFill>
                      <a:srgbClr val="1B2A8C"/>
                    </a:solidFill>
                  </a:tcPr>
                </a:tc>
              </a:tr>
              <a:tr h="577215">
                <a:tc>
                  <a:txBody>
                    <a:bodyPr/>
                    <a:lstStyle/>
                    <a:p>
                      <a:r>
                        <a:rPr sz="1500" i="0" b="1">
                          <a:solidFill>
                            <a:srgbClr val="1A1F36"/>
                          </a:solidFill>
                          <a:latin typeface="Calibri"/>
                        </a:rPr>
                        <a:t>SSRIs</a:t>
                      </a:r>
                    </a:p>
                  </a:txBody>
                  <a:tcPr marL="109728" marR="109728" marT="45720" marB="45720" anchor="ctr">
                    <a:solidFill>
                      <a:srgbClr val="FFFFFF"/>
                    </a:solidFill>
                  </a:tcPr>
                </a:tc>
                <a:tc>
                  <a:txBody>
                    <a:bodyPr/>
                    <a:lstStyle/>
                    <a:p>
                      <a:r>
                        <a:rPr sz="1500" i="0" b="0">
                          <a:solidFill>
                            <a:srgbClr val="1A1F36"/>
                          </a:solidFill>
                          <a:latin typeface="Calibri"/>
                        </a:rPr>
                        <a:t>Fluoxetine, sertraline, citalopram, escitalopram, paroxetine</a:t>
                      </a:r>
                    </a:p>
                  </a:txBody>
                  <a:tcPr marL="109728" marR="109728" marT="45720" marB="45720" anchor="ctr">
                    <a:solidFill>
                      <a:srgbClr val="FFFFFF"/>
                    </a:solidFill>
                  </a:tcPr>
                </a:tc>
                <a:tc>
                  <a:txBody>
                    <a:bodyPr/>
                    <a:lstStyle/>
                    <a:p>
                      <a:r>
                        <a:rPr sz="1500" i="0" b="0">
                          <a:solidFill>
                            <a:srgbClr val="1A1F36"/>
                          </a:solidFill>
                          <a:latin typeface="Calibri"/>
                        </a:rPr>
                        <a:t>Block SERT</a:t>
                      </a:r>
                    </a:p>
                  </a:txBody>
                  <a:tcPr marL="109728" marR="109728" marT="45720" marB="45720" anchor="ctr">
                    <a:solidFill>
                      <a:srgbClr val="FFFFFF"/>
                    </a:solidFill>
                  </a:tcPr>
                </a:tc>
              </a:tr>
              <a:tr h="577215">
                <a:tc>
                  <a:txBody>
                    <a:bodyPr/>
                    <a:lstStyle/>
                    <a:p>
                      <a:r>
                        <a:rPr sz="1500" i="0" b="1">
                          <a:solidFill>
                            <a:srgbClr val="1A1F36"/>
                          </a:solidFill>
                          <a:latin typeface="Calibri"/>
                        </a:rPr>
                        <a:t>SNRIs</a:t>
                      </a:r>
                    </a:p>
                  </a:txBody>
                  <a:tcPr marL="109728" marR="109728" marT="45720" marB="45720" anchor="ctr">
                    <a:solidFill>
                      <a:srgbClr val="F1F2F8"/>
                    </a:solidFill>
                  </a:tcPr>
                </a:tc>
                <a:tc>
                  <a:txBody>
                    <a:bodyPr/>
                    <a:lstStyle/>
                    <a:p>
                      <a:r>
                        <a:rPr sz="1500" i="0" b="0">
                          <a:solidFill>
                            <a:srgbClr val="1A1F36"/>
                          </a:solidFill>
                          <a:latin typeface="Calibri"/>
                        </a:rPr>
                        <a:t>Venlafaxine, duloxetine</a:t>
                      </a:r>
                    </a:p>
                  </a:txBody>
                  <a:tcPr marL="109728" marR="109728" marT="45720" marB="45720" anchor="ctr">
                    <a:solidFill>
                      <a:srgbClr val="F1F2F8"/>
                    </a:solidFill>
                  </a:tcPr>
                </a:tc>
                <a:tc>
                  <a:txBody>
                    <a:bodyPr/>
                    <a:lstStyle/>
                    <a:p>
                      <a:r>
                        <a:rPr sz="1500" i="0" b="0">
                          <a:solidFill>
                            <a:srgbClr val="1A1F36"/>
                          </a:solidFill>
                          <a:latin typeface="Calibri"/>
                        </a:rPr>
                        <a:t>Block SERT and NET</a:t>
                      </a:r>
                    </a:p>
                  </a:txBody>
                  <a:tcPr marL="109728" marR="109728" marT="45720" marB="45720" anchor="ctr">
                    <a:solidFill>
                      <a:srgbClr val="F1F2F8"/>
                    </a:solidFill>
                  </a:tcPr>
                </a:tc>
              </a:tr>
              <a:tr h="577215">
                <a:tc>
                  <a:txBody>
                    <a:bodyPr/>
                    <a:lstStyle/>
                    <a:p>
                      <a:r>
                        <a:rPr sz="1500" i="0" b="1">
                          <a:solidFill>
                            <a:srgbClr val="1A1F36"/>
                          </a:solidFill>
                          <a:latin typeface="Calibri"/>
                        </a:rPr>
                        <a:t>TCAs</a:t>
                      </a:r>
                    </a:p>
                  </a:txBody>
                  <a:tcPr marL="109728" marR="109728" marT="45720" marB="45720" anchor="ctr">
                    <a:solidFill>
                      <a:srgbClr val="FFFFFF"/>
                    </a:solidFill>
                  </a:tcPr>
                </a:tc>
                <a:tc>
                  <a:txBody>
                    <a:bodyPr/>
                    <a:lstStyle/>
                    <a:p>
                      <a:r>
                        <a:rPr sz="1500" i="0" b="0">
                          <a:solidFill>
                            <a:srgbClr val="1A1F36"/>
                          </a:solidFill>
                          <a:latin typeface="Calibri"/>
                        </a:rPr>
                        <a:t>Imipramine, amitriptyline, clomipramine, nortriptyline</a:t>
                      </a:r>
                    </a:p>
                  </a:txBody>
                  <a:tcPr marL="109728" marR="109728" marT="45720" marB="45720" anchor="ctr">
                    <a:solidFill>
                      <a:srgbClr val="FFFFFF"/>
                    </a:solidFill>
                  </a:tcPr>
                </a:tc>
                <a:tc>
                  <a:txBody>
                    <a:bodyPr/>
                    <a:lstStyle/>
                    <a:p>
                      <a:r>
                        <a:rPr sz="1500" i="0" b="0">
                          <a:solidFill>
                            <a:srgbClr val="1A1F36"/>
                          </a:solidFill>
                          <a:latin typeface="Calibri"/>
                        </a:rPr>
                        <a:t>Block SERT and NET; also block α1, H1 and muscarinic receptors</a:t>
                      </a:r>
                    </a:p>
                  </a:txBody>
                  <a:tcPr marL="109728" marR="109728" marT="45720" marB="45720" anchor="ctr">
                    <a:solidFill>
                      <a:srgbClr val="FFFFFF"/>
                    </a:solidFill>
                  </a:tcPr>
                </a:tc>
              </a:tr>
              <a:tr h="577215">
                <a:tc>
                  <a:txBody>
                    <a:bodyPr/>
                    <a:lstStyle/>
                    <a:p>
                      <a:r>
                        <a:rPr sz="1500" i="0" b="1">
                          <a:solidFill>
                            <a:srgbClr val="1A1F36"/>
                          </a:solidFill>
                          <a:latin typeface="Calibri"/>
                        </a:rPr>
                        <a:t>MAO inhibitors</a:t>
                      </a:r>
                    </a:p>
                  </a:txBody>
                  <a:tcPr marL="109728" marR="109728" marT="45720" marB="45720" anchor="ctr">
                    <a:solidFill>
                      <a:srgbClr val="F1F2F8"/>
                    </a:solidFill>
                  </a:tcPr>
                </a:tc>
                <a:tc>
                  <a:txBody>
                    <a:bodyPr/>
                    <a:lstStyle/>
                    <a:p>
                      <a:r>
                        <a:rPr sz="1500" i="0" b="0">
                          <a:solidFill>
                            <a:srgbClr val="1A1F36"/>
                          </a:solidFill>
                          <a:latin typeface="Calibri"/>
                        </a:rPr>
                        <a:t>Phenelzine, tranylcypromine (non-selective, irreversible); moclobemide (reversible MAO-A)</a:t>
                      </a:r>
                    </a:p>
                  </a:txBody>
                  <a:tcPr marL="109728" marR="109728" marT="45720" marB="45720" anchor="ctr">
                    <a:solidFill>
                      <a:srgbClr val="F1F2F8"/>
                    </a:solidFill>
                  </a:tcPr>
                </a:tc>
                <a:tc>
                  <a:txBody>
                    <a:bodyPr/>
                    <a:lstStyle/>
                    <a:p>
                      <a:r>
                        <a:rPr sz="1500" i="0" b="0">
                          <a:solidFill>
                            <a:srgbClr val="1A1F36"/>
                          </a:solidFill>
                          <a:latin typeface="Calibri"/>
                        </a:rPr>
                        <a:t>Block monoamine breakdown</a:t>
                      </a:r>
                    </a:p>
                  </a:txBody>
                  <a:tcPr marL="109728" marR="109728" marT="45720" marB="45720" anchor="ctr">
                    <a:solidFill>
                      <a:srgbClr val="F1F2F8"/>
                    </a:solidFill>
                  </a:tcPr>
                </a:tc>
              </a:tr>
              <a:tr h="577215">
                <a:tc>
                  <a:txBody>
                    <a:bodyPr/>
                    <a:lstStyle/>
                    <a:p>
                      <a:r>
                        <a:rPr sz="1500" i="0" b="1">
                          <a:solidFill>
                            <a:srgbClr val="1A1F36"/>
                          </a:solidFill>
                          <a:latin typeface="Calibri"/>
                        </a:rPr>
                        <a:t>α2 antagonist</a:t>
                      </a:r>
                    </a:p>
                  </a:txBody>
                  <a:tcPr marL="109728" marR="109728" marT="45720" marB="45720" anchor="ctr">
                    <a:solidFill>
                      <a:srgbClr val="FFFFFF"/>
                    </a:solidFill>
                  </a:tcPr>
                </a:tc>
                <a:tc>
                  <a:txBody>
                    <a:bodyPr/>
                    <a:lstStyle/>
                    <a:p>
                      <a:r>
                        <a:rPr sz="1500" i="0" b="0">
                          <a:solidFill>
                            <a:srgbClr val="1A1F36"/>
                          </a:solidFill>
                          <a:latin typeface="Calibri"/>
                        </a:rPr>
                        <a:t>Mirtazapine</a:t>
                      </a:r>
                    </a:p>
                  </a:txBody>
                  <a:tcPr marL="109728" marR="109728" marT="45720" marB="45720" anchor="ctr">
                    <a:solidFill>
                      <a:srgbClr val="FFFFFF"/>
                    </a:solidFill>
                  </a:tcPr>
                </a:tc>
                <a:tc>
                  <a:txBody>
                    <a:bodyPr/>
                    <a:lstStyle/>
                    <a:p>
                      <a:r>
                        <a:rPr sz="1500" i="0" b="0">
                          <a:solidFill>
                            <a:srgbClr val="1A1F36"/>
                          </a:solidFill>
                          <a:latin typeface="Calibri"/>
                        </a:rPr>
                        <a:t>Blocks α2 autoreceptors, so NA and 5-HT release rises; also blocks 5-HT2, 5-HT3 and H1</a:t>
                      </a:r>
                    </a:p>
                  </a:txBody>
                  <a:tcPr marL="109728" marR="109728" marT="45720" marB="45720" anchor="ctr">
                    <a:solidFill>
                      <a:srgbClr val="FFFFFF"/>
                    </a:solidFill>
                  </a:tcPr>
                </a:tc>
              </a:tr>
              <a:tr h="577215">
                <a:tc>
                  <a:txBody>
                    <a:bodyPr/>
                    <a:lstStyle/>
                    <a:p>
                      <a:r>
                        <a:rPr sz="1500" i="0" b="1">
                          <a:solidFill>
                            <a:srgbClr val="1A1F36"/>
                          </a:solidFill>
                          <a:latin typeface="Calibri"/>
                        </a:rPr>
                        <a:t>5-HT2A antagonist</a:t>
                      </a:r>
                    </a:p>
                  </a:txBody>
                  <a:tcPr marL="109728" marR="109728" marT="45720" marB="45720" anchor="ctr">
                    <a:solidFill>
                      <a:srgbClr val="F1F2F8"/>
                    </a:solidFill>
                  </a:tcPr>
                </a:tc>
                <a:tc>
                  <a:txBody>
                    <a:bodyPr/>
                    <a:lstStyle/>
                    <a:p>
                      <a:r>
                        <a:rPr sz="1500" i="0" b="0">
                          <a:solidFill>
                            <a:srgbClr val="1A1F36"/>
                          </a:solidFill>
                          <a:latin typeface="Calibri"/>
                        </a:rPr>
                        <a:t>Trazodone</a:t>
                      </a:r>
                    </a:p>
                  </a:txBody>
                  <a:tcPr marL="109728" marR="109728" marT="45720" marB="45720" anchor="ctr">
                    <a:solidFill>
                      <a:srgbClr val="F1F2F8"/>
                    </a:solidFill>
                  </a:tcPr>
                </a:tc>
                <a:tc>
                  <a:txBody>
                    <a:bodyPr/>
                    <a:lstStyle/>
                    <a:p>
                      <a:r>
                        <a:rPr sz="1500" i="0" b="0">
                          <a:solidFill>
                            <a:srgbClr val="1A1F36"/>
                          </a:solidFill>
                          <a:latin typeface="Calibri"/>
                        </a:rPr>
                        <a:t>Blocks 5-HT2A; weak SERT block; also blocks α1 and H1</a:t>
                      </a:r>
                    </a:p>
                  </a:txBody>
                  <a:tcPr marL="109728" marR="109728" marT="45720" marB="45720" anchor="ctr">
                    <a:solidFill>
                      <a:srgbClr val="F1F2F8"/>
                    </a:solidFill>
                  </a:tcPr>
                </a:tc>
              </a:tr>
              <a:tr h="577215">
                <a:tc>
                  <a:txBody>
                    <a:bodyPr/>
                    <a:lstStyle/>
                    <a:p>
                      <a:r>
                        <a:rPr sz="1500" i="0" b="1">
                          <a:solidFill>
                            <a:srgbClr val="1A1F36"/>
                          </a:solidFill>
                          <a:latin typeface="Calibri"/>
                        </a:rPr>
                        <a:t>NDRI</a:t>
                      </a:r>
                    </a:p>
                  </a:txBody>
                  <a:tcPr marL="109728" marR="109728" marT="45720" marB="45720" anchor="ctr">
                    <a:solidFill>
                      <a:srgbClr val="FFFFFF"/>
                    </a:solidFill>
                  </a:tcPr>
                </a:tc>
                <a:tc>
                  <a:txBody>
                    <a:bodyPr/>
                    <a:lstStyle/>
                    <a:p>
                      <a:r>
                        <a:rPr sz="1500" i="0" b="0">
                          <a:solidFill>
                            <a:srgbClr val="1A1F36"/>
                          </a:solidFill>
                          <a:latin typeface="Calibri"/>
                        </a:rPr>
                        <a:t>Bupropion</a:t>
                      </a:r>
                    </a:p>
                  </a:txBody>
                  <a:tcPr marL="109728" marR="109728" marT="45720" marB="45720" anchor="ctr">
                    <a:solidFill>
                      <a:srgbClr val="FFFFFF"/>
                    </a:solidFill>
                  </a:tcPr>
                </a:tc>
                <a:tc>
                  <a:txBody>
                    <a:bodyPr/>
                    <a:lstStyle/>
                    <a:p>
                      <a:r>
                        <a:rPr sz="1500" i="0" b="0">
                          <a:solidFill>
                            <a:srgbClr val="1A1F36"/>
                          </a:solidFill>
                          <a:latin typeface="Calibri"/>
                        </a:rPr>
                        <a:t>Weak block of NA and dopamine reuptake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SSRIs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SSRIs are the usual first-choice antidepressants. They are safer in overdose than TCAs and have fewer receptor side effects. Uses: depression, generalised anxiety disorder, panic disorder, obsessive–compulsive disorder (usually higher doses) and bulimia.</a:t>
            </a:r>
          </a:p>
          <a:p>
            <a:pPr>
              <a:spcAft>
                <a:spcPts val="800"/>
              </a:spcAft>
            </a:pPr>
            <a:r>
              <a:rPr sz="1700" i="0" b="0">
                <a:solidFill>
                  <a:srgbClr val="1A1F36"/>
                </a:solidFill>
                <a:latin typeface="Calibri"/>
              </a:rPr>
              <a:t>Adverse effects fall into two groups:</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2596515"/>
          </a:xfrm>
          <a:prstGeom prst="rect">
            <a:avLst/>
          </a:prstGeom>
          <a:noFill/>
        </p:spPr>
        <p:txBody>
          <a:bodyPr wrap="square" anchor="t" lIns="0" rIns="0" tIns="0" bIns="0">
            <a:spAutoFit/>
          </a:bodyPr>
          <a:lstStyle/>
          <a:p>
            <a:r>
              <a:rPr sz="2100" i="0" b="1">
                <a:solidFill>
                  <a:srgbClr val="1A1F36"/>
                </a:solidFill>
                <a:latin typeface="Calibri"/>
              </a:rPr>
              <a:t>Early and often transient (first 1 to 2 weeks):</a:t>
            </a:r>
            <a:r>
              <a:rPr sz="2100" i="0" b="0">
                <a:solidFill>
                  <a:srgbClr val="1A1F36"/>
                </a:solidFill>
                <a:latin typeface="Calibri"/>
              </a:rPr>
              <a:t> nausea, diarrhoea, headache, jitteriness or insomnia, and a short-term rise in anxiety. Take the dose with food and start low. A PPI is considered only if bleeding risk is added, for example with an NSAID or an anticoagulant.</a:t>
            </a:r>
          </a:p>
        </p:txBody>
      </p:sp>
      <p:sp>
        <p:nvSpPr>
          <p:cNvPr id="11" name="Oval 10"/>
          <p:cNvSpPr/>
          <p:nvPr/>
        </p:nvSpPr>
        <p:spPr>
          <a:xfrm>
            <a:off x="5394959" y="421500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4233291"/>
            <a:ext cx="5653735" cy="1929765"/>
          </a:xfrm>
          <a:prstGeom prst="rect">
            <a:avLst/>
          </a:prstGeom>
          <a:noFill/>
        </p:spPr>
        <p:txBody>
          <a:bodyPr wrap="square" anchor="t" lIns="0" rIns="0" tIns="0" bIns="0">
            <a:spAutoFit/>
          </a:bodyPr>
          <a:lstStyle/>
          <a:p>
            <a:r>
              <a:rPr sz="2100" i="0" b="1">
                <a:solidFill>
                  <a:srgbClr val="1A1F36"/>
                </a:solidFill>
                <a:latin typeface="Calibri"/>
              </a:rPr>
              <a:t>Persistent:</a:t>
            </a:r>
            <a:r>
              <a:rPr sz="2100" i="0" b="0">
                <a:solidFill>
                  <a:srgbClr val="1A1F36"/>
                </a:solidFill>
                <a:latin typeface="Calibri"/>
              </a:rPr>
              <a:t> sexual dysfunction (low libido, delayed orgasm or anorgasmia) often does </a:t>
            </a:r>
            <a:r>
              <a:rPr sz="2100" i="0" b="1">
                <a:solidFill>
                  <a:srgbClr val="1A1F36"/>
                </a:solidFill>
                <a:latin typeface="Calibri"/>
              </a:rPr>
              <a:t>not</a:t>
            </a:r>
            <a:r>
              <a:rPr sz="2100" i="0" b="0">
                <a:solidFill>
                  <a:srgbClr val="1A1F36"/>
                </a:solidFill>
                <a:latin typeface="Calibri"/>
              </a:rPr>
              <a:t> settle. Ask about it at each review. Options are waiting, a lower dose, or a switch to mirtazapine or bupropion.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Tricyclic antidepressants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2492223"/>
                <a:gridCol w="5466813"/>
                <a:gridCol w="3135378"/>
              </a:tblGrid>
              <a:tr h="640080">
                <a:tc>
                  <a:txBody>
                    <a:bodyPr/>
                    <a:lstStyle/>
                    <a:p>
                      <a:r>
                        <a:rPr sz="1700" i="0" b="1">
                          <a:solidFill>
                            <a:srgbClr val="FFFFFF"/>
                          </a:solidFill>
                          <a:latin typeface="Calibri"/>
                        </a:rPr>
                        <a:t>Receptor blocked</a:t>
                      </a:r>
                    </a:p>
                  </a:txBody>
                  <a:tcPr marL="109728" marR="109728" marT="45720" marB="45720" anchor="ctr">
                    <a:solidFill>
                      <a:srgbClr val="1B2A8C"/>
                    </a:solidFill>
                  </a:tcPr>
                </a:tc>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Drugs most involved</a:t>
                      </a:r>
                    </a:p>
                  </a:txBody>
                  <a:tcPr marL="109728" marR="109728" marT="45720" marB="45720" anchor="ctr">
                    <a:solidFill>
                      <a:srgbClr val="1B2A8C"/>
                    </a:solidFill>
                  </a:tcPr>
                </a:tc>
              </a:tr>
              <a:tr h="640080">
                <a:tc>
                  <a:txBody>
                    <a:bodyPr/>
                    <a:lstStyle/>
                    <a:p>
                      <a:r>
                        <a:rPr sz="1800" i="0" b="1">
                          <a:solidFill>
                            <a:srgbClr val="1A1F36"/>
                          </a:solidFill>
                          <a:latin typeface="Calibri"/>
                        </a:rPr>
                        <a:t>α1</a:t>
                      </a:r>
                    </a:p>
                  </a:txBody>
                  <a:tcPr marL="109728" marR="109728" marT="45720" marB="45720" anchor="ctr">
                    <a:solidFill>
                      <a:srgbClr val="FFFFFF"/>
                    </a:solidFill>
                  </a:tcPr>
                </a:tc>
                <a:tc>
                  <a:txBody>
                    <a:bodyPr/>
                    <a:lstStyle/>
                    <a:p>
                      <a:r>
                        <a:rPr sz="1800" i="0" b="0">
                          <a:solidFill>
                            <a:srgbClr val="1A1F36"/>
                          </a:solidFill>
                          <a:latin typeface="Calibri"/>
                        </a:rPr>
                        <a:t>Postural hypotension, dizziness, falls</a:t>
                      </a:r>
                    </a:p>
                  </a:txBody>
                  <a:tcPr marL="109728" marR="109728" marT="45720" marB="45720" anchor="ctr">
                    <a:solidFill>
                      <a:srgbClr val="FFFFFF"/>
                    </a:solidFill>
                  </a:tcPr>
                </a:tc>
                <a:tc>
                  <a:txBody>
                    <a:bodyPr/>
                    <a:lstStyle/>
                    <a:p>
                      <a:r>
                        <a:rPr sz="1800" i="0" b="0">
                          <a:solidFill>
                            <a:srgbClr val="1A1F36"/>
                          </a:solidFill>
                          <a:latin typeface="Calibri"/>
                        </a:rPr>
                        <a:t>TCAs, trazodone</a:t>
                      </a:r>
                    </a:p>
                  </a:txBody>
                  <a:tcPr marL="109728" marR="109728" marT="45720" marB="45720" anchor="ctr">
                    <a:solidFill>
                      <a:srgbClr val="FFFFFF"/>
                    </a:solidFill>
                  </a:tcPr>
                </a:tc>
              </a:tr>
              <a:tr h="640080">
                <a:tc>
                  <a:txBody>
                    <a:bodyPr/>
                    <a:lstStyle/>
                    <a:p>
                      <a:r>
                        <a:rPr sz="1800" i="0" b="1">
                          <a:solidFill>
                            <a:srgbClr val="1A1F36"/>
                          </a:solidFill>
                          <a:latin typeface="Calibri"/>
                        </a:rPr>
                        <a:t>H1</a:t>
                      </a:r>
                    </a:p>
                  </a:txBody>
                  <a:tcPr marL="109728" marR="109728" marT="45720" marB="45720" anchor="ctr">
                    <a:solidFill>
                      <a:srgbClr val="F1F2F8"/>
                    </a:solidFill>
                  </a:tcPr>
                </a:tc>
                <a:tc>
                  <a:txBody>
                    <a:bodyPr/>
                    <a:lstStyle/>
                    <a:p>
                      <a:r>
                        <a:rPr sz="1800" i="0" b="0">
                          <a:solidFill>
                            <a:srgbClr val="1A1F36"/>
                          </a:solidFill>
                          <a:latin typeface="Calibri"/>
                        </a:rPr>
                        <a:t>Sedation, weight gain</a:t>
                      </a:r>
                    </a:p>
                  </a:txBody>
                  <a:tcPr marL="109728" marR="109728" marT="45720" marB="45720" anchor="ctr">
                    <a:solidFill>
                      <a:srgbClr val="F1F2F8"/>
                    </a:solidFill>
                  </a:tcPr>
                </a:tc>
                <a:tc>
                  <a:txBody>
                    <a:bodyPr/>
                    <a:lstStyle/>
                    <a:p>
                      <a:r>
                        <a:rPr sz="1800" i="0" b="0">
                          <a:solidFill>
                            <a:srgbClr val="1A1F36"/>
                          </a:solidFill>
                          <a:latin typeface="Calibri"/>
                        </a:rPr>
                        <a:t>TCAs, mirtazapine, trazodone</a:t>
                      </a:r>
                    </a:p>
                  </a:txBody>
                  <a:tcPr marL="109728" marR="109728" marT="45720" marB="45720" anchor="ctr">
                    <a:solidFill>
                      <a:srgbClr val="F1F2F8"/>
                    </a:solidFill>
                  </a:tcPr>
                </a:tc>
              </a:tr>
              <a:tr h="640080">
                <a:tc>
                  <a:txBody>
                    <a:bodyPr/>
                    <a:lstStyle/>
                    <a:p>
                      <a:r>
                        <a:rPr sz="1800" i="0" b="1">
                          <a:solidFill>
                            <a:srgbClr val="1A1F36"/>
                          </a:solidFill>
                          <a:latin typeface="Calibri"/>
                        </a:rPr>
                        <a:t>Muscarinic</a:t>
                      </a:r>
                    </a:p>
                  </a:txBody>
                  <a:tcPr marL="109728" marR="109728" marT="45720" marB="45720" anchor="ctr">
                    <a:solidFill>
                      <a:srgbClr val="FFFFFF"/>
                    </a:solidFill>
                  </a:tcPr>
                </a:tc>
                <a:tc>
                  <a:txBody>
                    <a:bodyPr/>
                    <a:lstStyle/>
                    <a:p>
                      <a:r>
                        <a:rPr sz="1800" i="0" b="0">
                          <a:solidFill>
                            <a:srgbClr val="1A1F36"/>
                          </a:solidFill>
                          <a:latin typeface="Calibri"/>
                        </a:rPr>
                        <a:t>Dry mouth, constipation, urinary retention, blurred vision, confusion</a:t>
                      </a:r>
                    </a:p>
                  </a:txBody>
                  <a:tcPr marL="109728" marR="109728" marT="45720" marB="45720" anchor="ctr">
                    <a:solidFill>
                      <a:srgbClr val="FFFFFF"/>
                    </a:solidFill>
                  </a:tcPr>
                </a:tc>
                <a:tc>
                  <a:txBody>
                    <a:bodyPr/>
                    <a:lstStyle/>
                    <a:p>
                      <a:r>
                        <a:rPr sz="1800" i="0" b="0">
                          <a:solidFill>
                            <a:srgbClr val="1A1F36"/>
                          </a:solidFill>
                          <a:latin typeface="Calibri"/>
                        </a:rPr>
                        <a:t>TCAs (least with nortriptyline)</a:t>
                      </a:r>
                    </a:p>
                  </a:txBody>
                  <a:tcPr marL="109728" marR="109728" marT="45720" marB="45720" anchor="ctr">
                    <a:solidFill>
                      <a:srgbClr val="FFFFFF"/>
                    </a:solidFill>
                  </a:tcPr>
                </a:tc>
              </a:tr>
              <a:tr h="640080">
                <a:tc>
                  <a:txBody>
                    <a:bodyPr/>
                    <a:lstStyle/>
                    <a:p>
                      <a:r>
                        <a:rPr sz="1800" i="0" b="1">
                          <a:solidFill>
                            <a:srgbClr val="1A1F36"/>
                          </a:solidFill>
                          <a:latin typeface="Calibri"/>
                        </a:rPr>
                        <a:t>Cardiac Na+ channels</a:t>
                      </a:r>
                    </a:p>
                  </a:txBody>
                  <a:tcPr marL="109728" marR="109728" marT="45720" marB="45720" anchor="ctr">
                    <a:solidFill>
                      <a:srgbClr val="F1F2F8"/>
                    </a:solidFill>
                  </a:tcPr>
                </a:tc>
                <a:tc>
                  <a:txBody>
                    <a:bodyPr/>
                    <a:lstStyle/>
                    <a:p>
                      <a:r>
                        <a:rPr sz="1800" i="0" b="0">
                          <a:solidFill>
                            <a:srgbClr val="1A1F36"/>
                          </a:solidFill>
                          <a:latin typeface="Calibri"/>
                        </a:rPr>
                        <a:t>QRS widening, arrhythmia (in overdose)</a:t>
                      </a:r>
                    </a:p>
                  </a:txBody>
                  <a:tcPr marL="109728" marR="109728" marT="45720" marB="45720" anchor="ctr">
                    <a:solidFill>
                      <a:srgbClr val="F1F2F8"/>
                    </a:solidFill>
                  </a:tcPr>
                </a:tc>
                <a:tc>
                  <a:txBody>
                    <a:bodyPr/>
                    <a:lstStyle/>
                    <a:p>
                      <a:r>
                        <a:rPr sz="1800" i="0" b="0">
                          <a:solidFill>
                            <a:srgbClr val="1A1F36"/>
                          </a:solidFill>
                          <a:latin typeface="Calibri"/>
                        </a:rPr>
                        <a:t>TCAs</a:t>
                      </a:r>
                    </a:p>
                  </a:txBody>
                  <a:tcPr marL="109728" marR="109728" marT="45720" marB="45720" anchor="ctr">
                    <a:solidFill>
                      <a:srgbClr val="F1F2F8"/>
                    </a:solidFill>
                  </a:tcPr>
                </a:tc>
              </a:tr>
              <a:tr h="640080">
                <a:tc>
                  <a:txBody>
                    <a:bodyPr/>
                    <a:lstStyle/>
                    <a:p>
                      <a:r>
                        <a:rPr sz="1800" i="0" b="1">
                          <a:solidFill>
                            <a:srgbClr val="1A1F36"/>
                          </a:solidFill>
                          <a:latin typeface="Calibri"/>
                        </a:rPr>
                        <a:t>5-HT (raised serotonin)</a:t>
                      </a:r>
                    </a:p>
                  </a:txBody>
                  <a:tcPr marL="109728" marR="109728" marT="45720" marB="45720" anchor="ctr">
                    <a:solidFill>
                      <a:srgbClr val="FFFFFF"/>
                    </a:solidFill>
                  </a:tcPr>
                </a:tc>
                <a:tc>
                  <a:txBody>
                    <a:bodyPr/>
                    <a:lstStyle/>
                    <a:p>
                      <a:r>
                        <a:rPr sz="1800" i="0" b="0">
                          <a:solidFill>
                            <a:srgbClr val="1A1F36"/>
                          </a:solidFill>
                          <a:latin typeface="Calibri"/>
                        </a:rPr>
                        <a:t>Nausea, sexual dysfunction, insomnia</a:t>
                      </a:r>
                    </a:p>
                  </a:txBody>
                  <a:tcPr marL="109728" marR="109728" marT="45720" marB="45720" anchor="ctr">
                    <a:solidFill>
                      <a:srgbClr val="FFFFFF"/>
                    </a:solidFill>
                  </a:tcPr>
                </a:tc>
                <a:tc>
                  <a:txBody>
                    <a:bodyPr/>
                    <a:lstStyle/>
                    <a:p>
                      <a:r>
                        <a:rPr sz="1800" i="0" b="0">
                          <a:solidFill>
                            <a:srgbClr val="1A1F36"/>
                          </a:solidFill>
                          <a:latin typeface="Calibri"/>
                        </a:rPr>
                        <a:t>SSRIs, SNRIs</a:t>
                      </a:r>
                    </a:p>
                  </a:txBody>
                  <a:tcPr marL="109728" marR="109728" marT="45720" marB="45720"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4</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Postural hypotension and sedation are </a:t>
            </a:r>
            <a:r>
              <a:rPr sz="2200" i="0" b="1">
                <a:solidFill>
                  <a:srgbClr val="1A1F36"/>
                </a:solidFill>
                <a:latin typeface="Calibri"/>
              </a:rPr>
              <a:t>not</a:t>
            </a:r>
            <a:r>
              <a:rPr sz="2200" i="0" b="0">
                <a:solidFill>
                  <a:srgbClr val="1A1F36"/>
                </a:solidFill>
                <a:latin typeface="Calibri"/>
              </a:rPr>
              <a:t> effects of all antidepressants. They come from α1 and H1 block. They are common with TCAs, mirtazapine and trazodone, and uncommon with SSRIs.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Depression and Antidepressant Drugs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Serotonin syndrome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Serotonin syndrome is caused by too much serotonin, usually from two serotonergic drugs together. It has three groups of features:</a:t>
            </a:r>
          </a:p>
        </p:txBody>
      </p:sp>
      <p:sp>
        <p:nvSpPr>
          <p:cNvPr id="9" name="Oval 8"/>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808863"/>
          </a:xfrm>
          <a:prstGeom prst="rect">
            <a:avLst/>
          </a:prstGeom>
          <a:noFill/>
        </p:spPr>
        <p:txBody>
          <a:bodyPr wrap="square" anchor="t" lIns="0" rIns="0" tIns="0" bIns="0">
            <a:spAutoFit/>
          </a:bodyPr>
          <a:lstStyle/>
          <a:p>
            <a:r>
              <a:rPr sz="2100" i="0" b="1">
                <a:solidFill>
                  <a:srgbClr val="1A1F36"/>
                </a:solidFill>
                <a:latin typeface="Calibri"/>
              </a:rPr>
              <a:t>Mental change:</a:t>
            </a:r>
            <a:r>
              <a:rPr sz="2100" i="0" b="0">
                <a:solidFill>
                  <a:srgbClr val="1A1F36"/>
                </a:solidFill>
                <a:latin typeface="Calibri"/>
              </a:rPr>
              <a:t> agitation, confusion.</a:t>
            </a:r>
          </a:p>
        </p:txBody>
      </p:sp>
      <p:sp>
        <p:nvSpPr>
          <p:cNvPr id="11" name="Oval 10"/>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24046"/>
            <a:ext cx="10500055" cy="808863"/>
          </a:xfrm>
          <a:prstGeom prst="rect">
            <a:avLst/>
          </a:prstGeom>
          <a:noFill/>
        </p:spPr>
        <p:txBody>
          <a:bodyPr wrap="square" anchor="t" lIns="0" rIns="0" tIns="0" bIns="0">
            <a:spAutoFit/>
          </a:bodyPr>
          <a:lstStyle/>
          <a:p>
            <a:r>
              <a:rPr sz="2100" i="0" b="1">
                <a:solidFill>
                  <a:srgbClr val="1A1F36"/>
                </a:solidFill>
                <a:latin typeface="Calibri"/>
              </a:rPr>
              <a:t>Autonomic instability:</a:t>
            </a:r>
            <a:r>
              <a:rPr sz="2100" i="0" b="0">
                <a:solidFill>
                  <a:srgbClr val="1A1F36"/>
                </a:solidFill>
                <a:latin typeface="Calibri"/>
              </a:rPr>
              <a:t> hyperthermia, sweating, tachycardia, diarrhoea.</a:t>
            </a:r>
          </a:p>
        </p:txBody>
      </p:sp>
      <p:sp>
        <p:nvSpPr>
          <p:cNvPr id="13" name="Oval 12"/>
          <p:cNvSpPr/>
          <p:nvPr/>
        </p:nvSpPr>
        <p:spPr>
          <a:xfrm>
            <a:off x="548640" y="42603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278630"/>
            <a:ext cx="10500055" cy="1142237"/>
          </a:xfrm>
          <a:prstGeom prst="rect">
            <a:avLst/>
          </a:prstGeom>
          <a:noFill/>
        </p:spPr>
        <p:txBody>
          <a:bodyPr wrap="square" anchor="t" lIns="0" rIns="0" tIns="0" bIns="0">
            <a:spAutoFit/>
          </a:bodyPr>
          <a:lstStyle/>
          <a:p>
            <a:r>
              <a:rPr sz="2100" i="0" b="1">
                <a:solidFill>
                  <a:srgbClr val="1A1F36"/>
                </a:solidFill>
                <a:latin typeface="Calibri"/>
              </a:rPr>
              <a:t>Neuromuscular excitation:</a:t>
            </a:r>
            <a:r>
              <a:rPr sz="2100" i="0" b="0">
                <a:solidFill>
                  <a:srgbClr val="1A1F36"/>
                </a:solidFill>
                <a:latin typeface="Calibri"/>
              </a:rPr>
              <a:t> tremor, hyperreflexia, clonus (especially of the ankles).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Serious Toxicity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79450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Allow a washout before switching between an MAO inhibitor and another serotonergic antidepressant. Wait 2 weeks after stopping phenelzine or tranylcypromine. Wait 5 weeks after stopping fluoxetine, because its active metabolite lasts a long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Serious Toxicity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79450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Antidepressants carry a boxed warning for suicidal thoughts and behaviour in patients under 25 years. Monitor every patient closely during the first weeks and after each dose change. For patients at risk, give small supplies and avoid TCAs.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Stopping an Antidepressant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2475738"/>
          </a:xfrm>
          <a:prstGeom prst="rect">
            <a:avLst/>
          </a:prstGeom>
          <a:noFill/>
        </p:spPr>
        <p:txBody>
          <a:bodyPr wrap="square" anchor="t" lIns="0" rIns="0" tIns="0" bIns="0">
            <a:spAutoFit/>
          </a:bodyPr>
          <a:lstStyle/>
          <a:p>
            <a:r>
              <a:rPr sz="2100" i="0" b="0">
                <a:solidFill>
                  <a:srgbClr val="1A1F36"/>
                </a:solidFill>
                <a:latin typeface="Calibri"/>
              </a:rPr>
              <a:t>Stopping suddenly after more than 4 weeks can cause a </a:t>
            </a:r>
            <a:r>
              <a:rPr sz="2100" i="0" b="1">
                <a:solidFill>
                  <a:srgbClr val="1A1F36"/>
                </a:solidFill>
                <a:latin typeface="Calibri"/>
              </a:rPr>
              <a:t>discontinuation syndrome</a:t>
            </a:r>
            <a:r>
              <a:rPr sz="2100" i="0" b="0">
                <a:solidFill>
                  <a:srgbClr val="1A1F36"/>
                </a:solidFill>
                <a:latin typeface="Calibri"/>
              </a:rPr>
              <a:t>. It is not relapse of depression. Features are dizziness, "electric-shock" sensations, anxiety, irritability, flu-like symptoms and vivid dreams. It is most common with paroxetine and venlafaxine, which have short half-lives. It is least common with fluoxetine. Reduce the dose slowly over at least 4 weeks, and longer if symptoms appear.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Before choosing, consider previous response, adverse-effect profile, other illnesses, other drugs and the patient's preference.</a:t>
            </a:r>
          </a:p>
        </p:txBody>
      </p:sp>
      <p:graphicFrame>
        <p:nvGraphicFramePr>
          <p:cNvPr id="9" name="Table 8"/>
          <p:cNvGraphicFramePr>
            <a:graphicFrameLocks noGrp="1"/>
          </p:cNvGraphicFramePr>
          <p:nvPr/>
        </p:nvGraphicFramePr>
        <p:xfrm>
          <a:off x="548640" y="2532887"/>
          <a:ext cx="11094414" cy="3639304"/>
        </p:xfrm>
        <a:graphic>
          <a:graphicData uri="http://schemas.openxmlformats.org/drawingml/2006/table">
            <a:tbl>
              <a:tblPr firstRow="0" bandRow="0">
                <a:tableStyleId>{5C22544A-7EE6-4342-B048-85BDC9FD1C3A}</a:tableStyleId>
              </a:tblPr>
              <a:tblGrid>
                <a:gridCol w="4358520"/>
                <a:gridCol w="3367947"/>
                <a:gridCol w="3367947"/>
              </a:tblGrid>
              <a:tr h="454913">
                <a:tc>
                  <a:txBody>
                    <a:bodyPr/>
                    <a:lstStyle/>
                    <a:p>
                      <a:r>
                        <a:rPr sz="1700" i="0" b="1">
                          <a:solidFill>
                            <a:srgbClr val="FFFFFF"/>
                          </a:solidFill>
                          <a:latin typeface="Calibri"/>
                        </a:rPr>
                        <a:t>Patient factor</a:t>
                      </a:r>
                    </a:p>
                  </a:txBody>
                  <a:tcPr marL="109728" marR="109728" marT="45720" marB="45720" anchor="ctr">
                    <a:solidFill>
                      <a:srgbClr val="1B2A8C"/>
                    </a:solidFill>
                  </a:tcPr>
                </a:tc>
                <a:tc>
                  <a:txBody>
                    <a:bodyPr/>
                    <a:lstStyle/>
                    <a:p>
                      <a:r>
                        <a:rPr sz="1700" i="0" b="1">
                          <a:solidFill>
                            <a:srgbClr val="FFFFFF"/>
                          </a:solidFill>
                          <a:latin typeface="Calibri"/>
                        </a:rPr>
                        <a:t>Suitable choice</a:t>
                      </a:r>
                    </a:p>
                  </a:txBody>
                  <a:tcPr marL="109728" marR="109728" marT="45720" marB="45720" anchor="ctr">
                    <a:solidFill>
                      <a:srgbClr val="1B2A8C"/>
                    </a:solidFill>
                  </a:tcPr>
                </a:tc>
                <a:tc>
                  <a:txBody>
                    <a:bodyPr/>
                    <a:lstStyle/>
                    <a:p>
                      <a:r>
                        <a:rPr sz="1700" i="0" b="1">
                          <a:solidFill>
                            <a:srgbClr val="FFFFFF"/>
                          </a:solidFill>
                          <a:latin typeface="Calibri"/>
                        </a:rPr>
                        <a:t>Avoid</a:t>
                      </a:r>
                    </a:p>
                  </a:txBody>
                  <a:tcPr marL="109728" marR="109728" marT="45720" marB="45720" anchor="ctr">
                    <a:solidFill>
                      <a:srgbClr val="1B2A8C"/>
                    </a:solidFill>
                  </a:tcPr>
                </a:tc>
              </a:tr>
              <a:tr h="454913">
                <a:tc>
                  <a:txBody>
                    <a:bodyPr/>
                    <a:lstStyle/>
                    <a:p>
                      <a:r>
                        <a:rPr sz="1800" i="0" b="1">
                          <a:solidFill>
                            <a:srgbClr val="1A1F36"/>
                          </a:solidFill>
                          <a:latin typeface="Calibri"/>
                        </a:rPr>
                        <a:t>Most adults (first choice)</a:t>
                      </a:r>
                    </a:p>
                  </a:txBody>
                  <a:tcPr marL="109728" marR="109728" marT="45720" marB="45720" anchor="ctr">
                    <a:solidFill>
                      <a:srgbClr val="FFFFFF"/>
                    </a:solidFill>
                  </a:tcPr>
                </a:tc>
                <a:tc>
                  <a:txBody>
                    <a:bodyPr/>
                    <a:lstStyle/>
                    <a:p>
                      <a:r>
                        <a:rPr sz="1800" i="0" b="0">
                          <a:solidFill>
                            <a:srgbClr val="1A1F36"/>
                          </a:solidFill>
                          <a:latin typeface="Calibri"/>
                        </a:rPr>
                        <a:t>An SSRI such as sertraline</a:t>
                      </a:r>
                    </a:p>
                  </a:txBody>
                  <a:tcPr marL="109728" marR="109728" marT="45720" marB="45720" anchor="ctr">
                    <a:solidFill>
                      <a:srgbClr val="FFFFFF"/>
                    </a:solidFill>
                  </a:tcPr>
                </a:tc>
                <a:tc>
                  <a:txBody>
                    <a:bodyPr/>
                    <a:lstStyle/>
                    <a:p>
                      <a:r>
                        <a:rPr sz="1800" i="0" b="0">
                          <a:solidFill>
                            <a:srgbClr val="1A1F36"/>
                          </a:solidFill>
                          <a:latin typeface="Calibri"/>
                        </a:rPr>
                        <a:t>—</a:t>
                      </a:r>
                    </a:p>
                  </a:txBody>
                  <a:tcPr marL="109728" marR="109728" marT="45720" marB="45720" anchor="ctr">
                    <a:solidFill>
                      <a:srgbClr val="FFFFFF"/>
                    </a:solidFill>
                  </a:tcPr>
                </a:tc>
              </a:tr>
              <a:tr h="454913">
                <a:tc>
                  <a:txBody>
                    <a:bodyPr/>
                    <a:lstStyle/>
                    <a:p>
                      <a:r>
                        <a:rPr sz="1800" i="0" b="1">
                          <a:solidFill>
                            <a:srgbClr val="1A1F36"/>
                          </a:solidFill>
                          <a:latin typeface="Calibri"/>
                        </a:rPr>
                        <a:t>Insomnia, poor appetite, weight loss</a:t>
                      </a:r>
                    </a:p>
                  </a:txBody>
                  <a:tcPr marL="109728" marR="109728" marT="45720" marB="45720" anchor="ctr">
                    <a:solidFill>
                      <a:srgbClr val="F1F2F8"/>
                    </a:solidFill>
                  </a:tcPr>
                </a:tc>
                <a:tc>
                  <a:txBody>
                    <a:bodyPr/>
                    <a:lstStyle/>
                    <a:p>
                      <a:r>
                        <a:rPr sz="1800" i="0" b="0">
                          <a:solidFill>
                            <a:srgbClr val="1A1F36"/>
                          </a:solidFill>
                          <a:latin typeface="Calibri"/>
                        </a:rPr>
                        <a:t>Mirtazapine</a:t>
                      </a:r>
                    </a:p>
                  </a:txBody>
                  <a:tcPr marL="109728" marR="109728" marT="45720" marB="45720" anchor="ctr">
                    <a:solidFill>
                      <a:srgbClr val="F1F2F8"/>
                    </a:solidFill>
                  </a:tcPr>
                </a:tc>
                <a:tc>
                  <a:txBody>
                    <a:bodyPr/>
                    <a:lstStyle/>
                    <a:p>
                      <a:r>
                        <a:rPr sz="1800" i="0" b="0">
                          <a:solidFill>
                            <a:srgbClr val="1A1F36"/>
                          </a:solidFill>
                          <a:latin typeface="Calibri"/>
                        </a:rPr>
                        <a:t>—</a:t>
                      </a:r>
                    </a:p>
                  </a:txBody>
                  <a:tcPr marL="109728" marR="109728" marT="45720" marB="45720" anchor="ctr">
                    <a:solidFill>
                      <a:srgbClr val="F1F2F8"/>
                    </a:solidFill>
                  </a:tcPr>
                </a:tc>
              </a:tr>
              <a:tr h="454913">
                <a:tc>
                  <a:txBody>
                    <a:bodyPr/>
                    <a:lstStyle/>
                    <a:p>
                      <a:r>
                        <a:rPr sz="1800" i="0" b="1">
                          <a:solidFill>
                            <a:srgbClr val="1A1F36"/>
                          </a:solidFill>
                          <a:latin typeface="Calibri"/>
                        </a:rPr>
                        <a:t>Sexual dysfunction on an SSRI</a:t>
                      </a:r>
                    </a:p>
                  </a:txBody>
                  <a:tcPr marL="109728" marR="109728" marT="45720" marB="45720" anchor="ctr">
                    <a:solidFill>
                      <a:srgbClr val="FFFFFF"/>
                    </a:solidFill>
                  </a:tcPr>
                </a:tc>
                <a:tc>
                  <a:txBody>
                    <a:bodyPr/>
                    <a:lstStyle/>
                    <a:p>
                      <a:r>
                        <a:rPr sz="1800" i="0" b="0">
                          <a:solidFill>
                            <a:srgbClr val="1A1F36"/>
                          </a:solidFill>
                          <a:latin typeface="Calibri"/>
                        </a:rPr>
                        <a:t>Mirtazapine or bupropion</a:t>
                      </a:r>
                    </a:p>
                  </a:txBody>
                  <a:tcPr marL="109728" marR="109728" marT="45720" marB="45720" anchor="ctr">
                    <a:solidFill>
                      <a:srgbClr val="FFFFFF"/>
                    </a:solidFill>
                  </a:tcPr>
                </a:tc>
                <a:tc>
                  <a:txBody>
                    <a:bodyPr/>
                    <a:lstStyle/>
                    <a:p>
                      <a:r>
                        <a:rPr sz="1800" i="0" b="0">
                          <a:solidFill>
                            <a:srgbClr val="1A1F36"/>
                          </a:solidFill>
                          <a:latin typeface="Calibri"/>
                        </a:rPr>
                        <a:t>Paroxetine</a:t>
                      </a:r>
                    </a:p>
                  </a:txBody>
                  <a:tcPr marL="109728" marR="109728" marT="45720" marB="45720" anchor="ctr">
                    <a:solidFill>
                      <a:srgbClr val="FFFFFF"/>
                    </a:solidFill>
                  </a:tcPr>
                </a:tc>
              </a:tr>
              <a:tr h="454913">
                <a:tc>
                  <a:txBody>
                    <a:bodyPr/>
                    <a:lstStyle/>
                    <a:p>
                      <a:r>
                        <a:rPr sz="1800" i="0" b="1">
                          <a:solidFill>
                            <a:srgbClr val="1A1F36"/>
                          </a:solidFill>
                          <a:latin typeface="Calibri"/>
                        </a:rPr>
                        <a:t>Diabetic neuropathic pain</a:t>
                      </a:r>
                    </a:p>
                  </a:txBody>
                  <a:tcPr marL="109728" marR="109728" marT="45720" marB="45720" anchor="ctr">
                    <a:solidFill>
                      <a:srgbClr val="F1F2F8"/>
                    </a:solidFill>
                  </a:tcPr>
                </a:tc>
                <a:tc>
                  <a:txBody>
                    <a:bodyPr/>
                    <a:lstStyle/>
                    <a:p>
                      <a:r>
                        <a:rPr sz="1800" i="0" b="0">
                          <a:solidFill>
                            <a:srgbClr val="1A1F36"/>
                          </a:solidFill>
                          <a:latin typeface="Calibri"/>
                        </a:rPr>
                        <a:t>Duloxetine</a:t>
                      </a:r>
                    </a:p>
                  </a:txBody>
                  <a:tcPr marL="109728" marR="109728" marT="45720" marB="45720" anchor="ctr">
                    <a:solidFill>
                      <a:srgbClr val="F1F2F8"/>
                    </a:solidFill>
                  </a:tcPr>
                </a:tc>
                <a:tc>
                  <a:txBody>
                    <a:bodyPr/>
                    <a:lstStyle/>
                    <a:p>
                      <a:r>
                        <a:rPr sz="1800" i="0" b="0">
                          <a:solidFill>
                            <a:srgbClr val="1A1F36"/>
                          </a:solidFill>
                          <a:latin typeface="Calibri"/>
                        </a:rPr>
                        <a:t>—</a:t>
                      </a:r>
                    </a:p>
                  </a:txBody>
                  <a:tcPr marL="109728" marR="109728" marT="45720" marB="45720" anchor="ctr">
                    <a:solidFill>
                      <a:srgbClr val="F1F2F8"/>
                    </a:solidFill>
                  </a:tcPr>
                </a:tc>
              </a:tr>
              <a:tr h="454913">
                <a:tc>
                  <a:txBody>
                    <a:bodyPr/>
                    <a:lstStyle/>
                    <a:p>
                      <a:r>
                        <a:rPr sz="1800" i="0" b="1">
                          <a:solidFill>
                            <a:srgbClr val="1A1F36"/>
                          </a:solidFill>
                          <a:latin typeface="Calibri"/>
                        </a:rPr>
                        <a:t>Heart disease</a:t>
                      </a:r>
                    </a:p>
                  </a:txBody>
                  <a:tcPr marL="109728" marR="109728" marT="45720" marB="45720" anchor="ctr">
                    <a:solidFill>
                      <a:srgbClr val="FFFFFF"/>
                    </a:solidFill>
                  </a:tcPr>
                </a:tc>
                <a:tc>
                  <a:txBody>
                    <a:bodyPr/>
                    <a:lstStyle/>
                    <a:p>
                      <a:r>
                        <a:rPr sz="1800" i="0" b="0">
                          <a:solidFill>
                            <a:srgbClr val="1A1F36"/>
                          </a:solidFill>
                          <a:latin typeface="Calibri"/>
                        </a:rPr>
                        <a:t>Sertraline</a:t>
                      </a:r>
                    </a:p>
                  </a:txBody>
                  <a:tcPr marL="109728" marR="109728" marT="45720" marB="45720" anchor="ctr">
                    <a:solidFill>
                      <a:srgbClr val="FFFFFF"/>
                    </a:solidFill>
                  </a:tcPr>
                </a:tc>
                <a:tc>
                  <a:txBody>
                    <a:bodyPr/>
                    <a:lstStyle/>
                    <a:p>
                      <a:r>
                        <a:rPr sz="1800" i="0" b="0">
                          <a:solidFill>
                            <a:srgbClr val="1A1F36"/>
                          </a:solidFill>
                          <a:latin typeface="Calibri"/>
                        </a:rPr>
                        <a:t>TCAs; high-dose citalopram</a:t>
                      </a:r>
                    </a:p>
                  </a:txBody>
                  <a:tcPr marL="109728" marR="109728" marT="45720" marB="45720" anchor="ctr">
                    <a:solidFill>
                      <a:srgbClr val="FFFFFF"/>
                    </a:solidFill>
                  </a:tcPr>
                </a:tc>
              </a:tr>
              <a:tr h="454913">
                <a:tc>
                  <a:txBody>
                    <a:bodyPr/>
                    <a:lstStyle/>
                    <a:p>
                      <a:r>
                        <a:rPr sz="1800" i="0" b="1">
                          <a:solidFill>
                            <a:srgbClr val="1A1F36"/>
                          </a:solidFill>
                          <a:latin typeface="Calibri"/>
                        </a:rPr>
                        <a:t>Older patient</a:t>
                      </a:r>
                    </a:p>
                  </a:txBody>
                  <a:tcPr marL="109728" marR="109728" marT="45720" marB="45720" anchor="ctr">
                    <a:solidFill>
                      <a:srgbClr val="F1F2F8"/>
                    </a:solidFill>
                  </a:tcPr>
                </a:tc>
                <a:tc>
                  <a:txBody>
                    <a:bodyPr/>
                    <a:lstStyle/>
                    <a:p>
                      <a:r>
                        <a:rPr sz="1800" i="0" b="0">
                          <a:solidFill>
                            <a:srgbClr val="1A1F36"/>
                          </a:solidFill>
                          <a:latin typeface="Calibri"/>
                        </a:rPr>
                        <a:t>Sertraline; check sodium</a:t>
                      </a:r>
                    </a:p>
                  </a:txBody>
                  <a:tcPr marL="109728" marR="109728" marT="45720" marB="45720" anchor="ctr">
                    <a:solidFill>
                      <a:srgbClr val="F1F2F8"/>
                    </a:solidFill>
                  </a:tcPr>
                </a:tc>
                <a:tc>
                  <a:txBody>
                    <a:bodyPr/>
                    <a:lstStyle/>
                    <a:p>
                      <a:r>
                        <a:rPr sz="1800" i="0" b="0">
                          <a:solidFill>
                            <a:srgbClr val="1A1F36"/>
                          </a:solidFill>
                          <a:latin typeface="Calibri"/>
                        </a:rPr>
                        <a:t>TCAs (falls, confusion)</a:t>
                      </a:r>
                    </a:p>
                  </a:txBody>
                  <a:tcPr marL="109728" marR="109728" marT="45720" marB="45720" anchor="ctr">
                    <a:solidFill>
                      <a:srgbClr val="F1F2F8"/>
                    </a:solidFill>
                  </a:tcPr>
                </a:tc>
              </a:tr>
              <a:tr h="454913">
                <a:tc>
                  <a:txBody>
                    <a:bodyPr/>
                    <a:lstStyle/>
                    <a:p>
                      <a:r>
                        <a:rPr sz="1800" i="0" b="1">
                          <a:solidFill>
                            <a:srgbClr val="1A1F36"/>
                          </a:solidFill>
                          <a:latin typeface="Calibri"/>
                        </a:rPr>
                        <a:t>Epilepsy</a:t>
                      </a:r>
                    </a:p>
                  </a:txBody>
                  <a:tcPr marL="109728" marR="109728" marT="45720" marB="45720" anchor="ctr">
                    <a:solidFill>
                      <a:srgbClr val="FFFFFF"/>
                    </a:solidFill>
                  </a:tcPr>
                </a:tc>
                <a:tc>
                  <a:txBody>
                    <a:bodyPr/>
                    <a:lstStyle/>
                    <a:p>
                      <a:r>
                        <a:rPr sz="1800" i="0" b="0">
                          <a:solidFill>
                            <a:srgbClr val="1A1F36"/>
                          </a:solidFill>
                          <a:latin typeface="Calibri"/>
                        </a:rPr>
                        <a:t>SSRI with care</a:t>
                      </a:r>
                    </a:p>
                  </a:txBody>
                  <a:tcPr marL="109728" marR="109728" marT="45720" marB="45720" anchor="ctr">
                    <a:solidFill>
                      <a:srgbClr val="FFFFFF"/>
                    </a:solidFill>
                  </a:tcPr>
                </a:tc>
                <a:tc>
                  <a:txBody>
                    <a:bodyPr/>
                    <a:lstStyle/>
                    <a:p>
                      <a:r>
                        <a:rPr sz="1800" i="0" b="0">
                          <a:solidFill>
                            <a:srgbClr val="1A1F36"/>
                          </a:solidFill>
                          <a:latin typeface="Calibri"/>
                        </a:rPr>
                        <a:t>Bupropion; high-dose TCAs</a:t>
                      </a:r>
                    </a:p>
                  </a:txBody>
                  <a:tcPr marL="109728" marR="109728" marT="45720" marB="4572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958510"/>
                <a:gridCol w="3254361"/>
                <a:gridCol w="4881542"/>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Venlafaxine</a:t>
                      </a:r>
                    </a:p>
                  </a:txBody>
                  <a:tcPr marL="109728" marR="109728" marT="45720" marB="45720" anchor="ctr">
                    <a:solidFill>
                      <a:srgbClr val="FFFFFF"/>
                    </a:solidFill>
                  </a:tcPr>
                </a:tc>
                <a:tc>
                  <a:txBody>
                    <a:bodyPr/>
                    <a:lstStyle/>
                    <a:p>
                      <a:r>
                        <a:rPr sz="2000" i="0" b="0">
                          <a:solidFill>
                            <a:srgbClr val="1A1F36"/>
                          </a:solidFill>
                          <a:latin typeface="Calibri"/>
                        </a:rPr>
                        <a:t>Efexor XR</a:t>
                      </a:r>
                    </a:p>
                  </a:txBody>
                  <a:tcPr marL="109728" marR="109728" marT="45720" marB="45720" anchor="ctr">
                    <a:solidFill>
                      <a:srgbClr val="FFFFFF"/>
                    </a:solidFill>
                  </a:tcPr>
                </a:tc>
                <a:tc>
                  <a:txBody>
                    <a:bodyPr/>
                    <a:lstStyle/>
                    <a:p>
                      <a:r>
                        <a:rPr sz="2000" i="0" b="0">
                          <a:solidFill>
                            <a:srgbClr val="1A1F36"/>
                          </a:solidFill>
                          <a:latin typeface="Calibri"/>
                        </a:rPr>
                        <a:t>Extended-release capsules</a:t>
                      </a:r>
                    </a:p>
                  </a:txBody>
                  <a:tcPr marL="109728" marR="109728" marT="45720" marB="45720" anchor="ctr">
                    <a:solidFill>
                      <a:srgbClr val="FFFFFF"/>
                    </a:solidFill>
                  </a:tcPr>
                </a:tc>
              </a:tr>
              <a:tr h="640080">
                <a:tc>
                  <a:txBody>
                    <a:bodyPr/>
                    <a:lstStyle/>
                    <a:p>
                      <a:r>
                        <a:rPr sz="2000" i="0" b="1">
                          <a:solidFill>
                            <a:srgbClr val="1A1F36"/>
                          </a:solidFill>
                          <a:latin typeface="Calibri"/>
                        </a:rPr>
                        <a:t>Duloxetine</a:t>
                      </a:r>
                    </a:p>
                  </a:txBody>
                  <a:tcPr marL="109728" marR="109728" marT="45720" marB="45720" anchor="ctr">
                    <a:solidFill>
                      <a:srgbClr val="F1F2F8"/>
                    </a:solidFill>
                  </a:tcPr>
                </a:tc>
                <a:tc>
                  <a:txBody>
                    <a:bodyPr/>
                    <a:lstStyle/>
                    <a:p>
                      <a:r>
                        <a:rPr sz="2000" i="0" b="0">
                          <a:solidFill>
                            <a:srgbClr val="1A1F36"/>
                          </a:solidFill>
                          <a:latin typeface="Calibri"/>
                        </a:rPr>
                        <a:t>Cymbalta</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640080">
                <a:tc>
                  <a:txBody>
                    <a:bodyPr/>
                    <a:lstStyle/>
                    <a:p>
                      <a:r>
                        <a:rPr sz="2000" i="0" b="1">
                          <a:solidFill>
                            <a:srgbClr val="1A1F36"/>
                          </a:solidFill>
                          <a:latin typeface="Calibri"/>
                        </a:rPr>
                        <a:t>Mirtazapine</a:t>
                      </a:r>
                    </a:p>
                  </a:txBody>
                  <a:tcPr marL="109728" marR="109728" marT="45720" marB="45720" anchor="ctr">
                    <a:solidFill>
                      <a:srgbClr val="FFFFFF"/>
                    </a:solidFill>
                  </a:tcPr>
                </a:tc>
                <a:tc>
                  <a:txBody>
                    <a:bodyPr/>
                    <a:lstStyle/>
                    <a:p>
                      <a:r>
                        <a:rPr sz="2000" i="0" b="0">
                          <a:solidFill>
                            <a:srgbClr val="1A1F36"/>
                          </a:solidFill>
                          <a:latin typeface="Calibri"/>
                        </a:rPr>
                        <a:t>Mirtimash</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does an antidepressant take weeks to work if it raises monoamines within hours?</a:t>
            </a:r>
          </a:p>
        </p:txBody>
      </p:sp>
      <p:sp>
        <p:nvSpPr>
          <p:cNvPr id="10" name="Oval 9"/>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patient on sertraline says the nausea has gone but sexual problems remain. What options would you discuss?</a:t>
            </a:r>
          </a:p>
        </p:txBody>
      </p:sp>
      <p:sp>
        <p:nvSpPr>
          <p:cNvPr id="12" name="Oval 11"/>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must a patient on phenelzine avoid aged cheese, and why is yogurt not the main concern?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1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the antidepressant effect of an SSRI take 2 to 4 weeks?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drug takes weeks to be absorbed.</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Slow adaptive changes in receptors and neurotrophic factors are needed.</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SERT is blocked only after weeks.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 drug must first be converted to an active metabolite.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1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the antidepressant effect of an SSRI take 2 to 4 weeks?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 drug takes weeks to be absorbed.</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Slow adaptive changes in receptors and neurotrophic factors are needed.</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SERT is blocked only after weeks.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 drug must first be converted to an active metabolite.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Mood improves as receptors down-regulate and neurotrophic factors rise. A is wrong; absorption is fast. C is wrong; SERT is blocked within hours. D is not true of SSRIs as a 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2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mirtazapine increase noradrenaline and serotonin release?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By blocking SERT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By inhibiting MAO-A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By stimulating 5-HT1A receptors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By blocking presynaptic α2 autoreceptors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2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mirtazapine increase noradrenaline and serotonin release?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By blocking SERT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By inhibiting MAO-A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By stimulating 5-HT1A receptors</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By blocking presynaptic α2 autoreceptors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Blocking the α2 brake raises NA and 5-HT release. A is SSRIs. B is MAO inhibitors. C is not mirtazapine's action.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3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70-year-old woman on amitriptyline feels dizzy when she stands up. Which receptor block explains this?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α1-adrenoceptor</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H1 receptor</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Muscarinic receptor</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5-HT3 receptor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3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70-year-old woman on amitriptyline feels dizzy when she stands up. Which receptor block explains this?</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α1-adrenoceptor</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H1 receptor</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Muscarinic receptor</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5-HT3 receptor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α1 block causes postural hypotension. B causes sedation. C causes anticholinergic effects. D blocks nausea.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4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439510"/>
          </a:xfrm>
          <a:prstGeom prst="rect">
            <a:avLst/>
          </a:prstGeom>
          <a:noFill/>
        </p:spPr>
        <p:txBody>
          <a:bodyPr wrap="square" anchor="t" lIns="0" rIns="0" tIns="0" bIns="0">
            <a:spAutoFit/>
          </a:bodyPr>
          <a:lstStyle/>
          <a:p>
            <a:r>
              <a:rPr sz="1700" i="0" b="0">
                <a:solidFill>
                  <a:srgbClr val="FFFFFF"/>
                </a:solidFill>
                <a:latin typeface="Calibri"/>
              </a:rPr>
              <a:t>Antidepressants raise monoamines within hours, but mood improves after 2 to 4 weeks.</a:t>
            </a:r>
          </a:p>
        </p:txBody>
      </p:sp>
      <p:sp>
        <p:nvSpPr>
          <p:cNvPr id="6" name="Oval 5"/>
          <p:cNvSpPr/>
          <p:nvPr/>
        </p:nvSpPr>
        <p:spPr>
          <a:xfrm>
            <a:off x="548640" y="233231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350606"/>
            <a:ext cx="10500055" cy="709385"/>
          </a:xfrm>
          <a:prstGeom prst="rect">
            <a:avLst/>
          </a:prstGeom>
          <a:noFill/>
        </p:spPr>
        <p:txBody>
          <a:bodyPr wrap="square" anchor="t" lIns="0" rIns="0" tIns="0" bIns="0">
            <a:spAutoFit/>
          </a:bodyPr>
          <a:lstStyle/>
          <a:p>
            <a:r>
              <a:rPr sz="1700" i="0" b="0">
                <a:solidFill>
                  <a:srgbClr val="FFFFFF"/>
                </a:solidFill>
                <a:latin typeface="Calibri"/>
              </a:rPr>
              <a:t>Treatment depends on severity; psychological therapy is central and is combined with drugs in more severe depression.</a:t>
            </a:r>
          </a:p>
        </p:txBody>
      </p:sp>
      <p:sp>
        <p:nvSpPr>
          <p:cNvPr id="8" name="Oval 7"/>
          <p:cNvSpPr/>
          <p:nvPr/>
        </p:nvSpPr>
        <p:spPr>
          <a:xfrm>
            <a:off x="548640" y="308742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105712"/>
            <a:ext cx="10500055" cy="439510"/>
          </a:xfrm>
          <a:prstGeom prst="rect">
            <a:avLst/>
          </a:prstGeom>
          <a:noFill/>
        </p:spPr>
        <p:txBody>
          <a:bodyPr wrap="square" anchor="t" lIns="0" rIns="0" tIns="0" bIns="0">
            <a:spAutoFit/>
          </a:bodyPr>
          <a:lstStyle/>
          <a:p>
            <a:r>
              <a:rPr sz="1700" i="0" b="0">
                <a:solidFill>
                  <a:srgbClr val="FFFFFF"/>
                </a:solidFill>
                <a:latin typeface="Calibri"/>
              </a:rPr>
              <a:t>SSRIs are first choice; sexual dysfunction often persists, while nausea usually settles.</a:t>
            </a:r>
          </a:p>
        </p:txBody>
      </p:sp>
      <p:sp>
        <p:nvSpPr>
          <p:cNvPr id="10" name="Oval 9"/>
          <p:cNvSpPr/>
          <p:nvPr/>
        </p:nvSpPr>
        <p:spPr>
          <a:xfrm>
            <a:off x="548640" y="357265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590943"/>
            <a:ext cx="10500055" cy="709385"/>
          </a:xfrm>
          <a:prstGeom prst="rect">
            <a:avLst/>
          </a:prstGeom>
          <a:noFill/>
        </p:spPr>
        <p:txBody>
          <a:bodyPr wrap="square" anchor="t" lIns="0" rIns="0" tIns="0" bIns="0">
            <a:spAutoFit/>
          </a:bodyPr>
          <a:lstStyle/>
          <a:p>
            <a:r>
              <a:rPr sz="1700" i="0" b="0">
                <a:solidFill>
                  <a:srgbClr val="FFFFFF"/>
                </a:solidFill>
                <a:latin typeface="Calibri"/>
              </a:rPr>
              <a:t>Most adverse effects follow receptor block: α1 (hypotension), H1 (sedation), muscarinic (anticholinergic effects).</a:t>
            </a:r>
          </a:p>
        </p:txBody>
      </p:sp>
      <p:sp>
        <p:nvSpPr>
          <p:cNvPr id="12" name="Oval 11"/>
          <p:cNvSpPr/>
          <p:nvPr/>
        </p:nvSpPr>
        <p:spPr>
          <a:xfrm>
            <a:off x="548640" y="4327760"/>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346048"/>
            <a:ext cx="10500055" cy="709385"/>
          </a:xfrm>
          <a:prstGeom prst="rect">
            <a:avLst/>
          </a:prstGeom>
          <a:noFill/>
        </p:spPr>
        <p:txBody>
          <a:bodyPr wrap="square" anchor="t" lIns="0" rIns="0" tIns="0" bIns="0">
            <a:spAutoFit/>
          </a:bodyPr>
          <a:lstStyle/>
          <a:p>
            <a:r>
              <a:rPr sz="1700" i="0" b="0">
                <a:solidFill>
                  <a:srgbClr val="FFFFFF"/>
                </a:solidFill>
                <a:latin typeface="Calibri"/>
              </a:rPr>
              <a:t>Serotonin syndrome is mental change, autonomic instability and clonus; respect MAO inhibitor washouts.</a:t>
            </a:r>
          </a:p>
        </p:txBody>
      </p:sp>
      <p:sp>
        <p:nvSpPr>
          <p:cNvPr id="14" name="Oval 13"/>
          <p:cNvSpPr/>
          <p:nvPr/>
        </p:nvSpPr>
        <p:spPr>
          <a:xfrm>
            <a:off x="548640" y="508286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101154"/>
            <a:ext cx="10500055" cy="439510"/>
          </a:xfrm>
          <a:prstGeom prst="rect">
            <a:avLst/>
          </a:prstGeom>
          <a:noFill/>
        </p:spPr>
        <p:txBody>
          <a:bodyPr wrap="square" anchor="t" lIns="0" rIns="0" tIns="0" bIns="0">
            <a:spAutoFit/>
          </a:bodyPr>
          <a:lstStyle/>
          <a:p>
            <a:r>
              <a:rPr sz="1700" i="0" b="0">
                <a:solidFill>
                  <a:srgbClr val="FFFFFF"/>
                </a:solidFill>
                <a:latin typeface="Calibri"/>
              </a:rPr>
              <a:t>TCA overdose is treated with sodium bicarbonate.</a:t>
            </a:r>
          </a:p>
        </p:txBody>
      </p:sp>
      <p:sp>
        <p:nvSpPr>
          <p:cNvPr id="16" name="Oval 15"/>
          <p:cNvSpPr/>
          <p:nvPr/>
        </p:nvSpPr>
        <p:spPr>
          <a:xfrm>
            <a:off x="548640" y="55680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7" name="TextBox 16"/>
          <p:cNvSpPr txBox="1"/>
          <p:nvPr/>
        </p:nvSpPr>
        <p:spPr>
          <a:xfrm>
            <a:off x="1143000" y="5586385"/>
            <a:ext cx="10500055" cy="439510"/>
          </a:xfrm>
          <a:prstGeom prst="rect">
            <a:avLst/>
          </a:prstGeom>
          <a:noFill/>
        </p:spPr>
        <p:txBody>
          <a:bodyPr wrap="square" anchor="t" lIns="0" rIns="0" tIns="0" bIns="0">
            <a:spAutoFit/>
          </a:bodyPr>
          <a:lstStyle/>
          <a:p>
            <a:r>
              <a:rPr sz="1700" i="0" b="0">
                <a:solidFill>
                  <a:srgbClr val="FFFFFF"/>
                </a:solidFill>
                <a:latin typeface="Calibri"/>
              </a:rPr>
              <a:t>Monitor for suicidal thoughts in young patients; taper slowly when stopping.</a:t>
            </a:r>
          </a:p>
        </p:txBody>
      </p:sp>
      <p:pic>
        <p:nvPicPr>
          <p:cNvPr id="18" name="Picture 17"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9" name="Picture 18"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