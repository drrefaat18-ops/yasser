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Neurons fire when Na+ enters through voltage-gated Na+ channels. Glutamate is the main excitatory transmitter; it acts on NMDA and AMPA/kainate receptors. GABA is the main inhibitory transmitter; GABA-A receptors are Cl- channels, and more Cl- entry makes the neuron harder to fire. T-type Ca2+ channels in the thalamus drive rhythmic thalamocortical firing. Liver CYP enzymes metabolise many drugs; inducers speed this up and inhibitors slow it down.</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Seizure types.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seizure is a burst of abnormal, excessive and synchronous firing of brain neurons. Epilepsy is a tendency to have repeated unprovoked seizures. It results from an imbalance: too much excitation (glutamate) or too little inhibition (GABA). Causes include genetic factors, head injury, stroke, brain tumours, infections and developmental problems. In many patients no cause is found. Seizures can also be provoked by fever in children, low glucose, low sodium, alcohol withdrawal or drugs; treat the cause, not with long-term antiseizure drugs. The ILAE classifies seizures by where they start. Absence seizures come from rhythmic firing between the thalamus and cortex, driven by T-type Ca2+ channels. This is why ethosuximide, a T-type blocker, treats them.</a:t>
            </a:r>
          </a:p>
          <a:p/>
          <a:p>
            <a:r>
              <a:t>About 120 s.  Next: Seizure types.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seizure is a burst of abnormal, excessive and synchronous firing of brain neurons. Epilepsy is a tendency to have repeated unprovoked seizures. It results from an imbalance: too much excitation (glutamate) or too little inhibition (GABA). Causes include genetic factors, head injury, stroke, brain tumours, infections and developmental problems. In many patients no cause is found. Seizures can also be provoked by fever in children, low glucose, low sodium, alcohol withdrawal or drugs; treat the cause, not with long-term antiseizure drugs. The ILAE classifies seizures by where they start. Absence seizures come from rhythmic firing between the thalamus and cortex, driven by T-type Ca2+ channels. This is why ethosuximide, a T-type blocker, treats them.</a:t>
            </a:r>
          </a:p>
          <a:p/>
          <a:p>
            <a:r>
              <a:t>About 60 s.  Next: How Antiseizure Drugs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How Antiseizure Drugs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Antiseizure drugs reduce excitation or increase inhibition. Most drugs act in more than one way. The old rule that "first-generation drugs act on inhibition and second-generation drugs act on excitation" is false. Phenytoin and carbamazepine block Na+ channels, and several newer drugs enhance GABA.</a:t>
            </a:r>
          </a:p>
          <a:p/>
          <a:p>
            <a:r>
              <a:t>About 60 s.  Next: How Antiseizure Drugs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Antiseizure drugs reduce excitation or increase inhibition. Most drugs act in more than one way. The old rule that "first-generation drugs act on inhibition and second-generation drugs act on excitation" is false. Phenytoin and carbamazepine block Na+ channels, and several newer drugs enhance GABA.</a:t>
            </a:r>
          </a:p>
          <a:p/>
          <a:p>
            <a:r>
              <a:t>About 30 s.  Next: Phenytoin.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Phenytoin blocks Na+ channels. It is used for focal and tonic–clonic seizures and, IV, in status epilepticus. It has non-linear (saturable) kinetics: a small dose increase can cause a large rise in blood level. Monitor plasma levels. Adverse effects: Carbamazepine blocks Na+ channels. It is used for focal seizures and is first choice for trigeminal neuralgia. It is also a mood stabiliser. It can worsen absence and myoclonic seizures. It induces liver enzymes, including its own metabolism (auto-induction). So its half-life falls over the first weeks and the dose must be raised slowly. 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 Valproate is a broad-spectrum drug. It blocks Na+ channels and T-type Ca2+ channels and raises GABA by inhibiting GABA transaminase. It treats all seizure types: tonic–clonic, absence, myoclonic and focal. It is also a mood stabiliser and is used in migraine prevention. Adverse effects: Valproate is an enzyme inhibitor. It raises the levels of lamotrigine and phenobarbital. Ethosuximide blocks T-type Ca2+ channels in the thalamus. It is used only for absence seizures, where it is first choice. It does not protect against tonic–clonic seizures. Adverse effects: nausea, abdominal pain, headache and drowsiness. 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a:p/>
          <a:p>
            <a:r>
              <a:t>About 180 s.  Next: Valproate.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Phenytoin blocks Na+ channels. It is used for focal and tonic–clonic seizures and, IV, in status epilepticus. It has non-linear (saturable) kinetics: a small dose increase can cause a large rise in blood level. Monitor plasma levels. Adverse effects: Carbamazepine blocks Na+ channels. It is used for focal seizures and is first choice for trigeminal neuralgia. It is also a mood stabiliser. It can worsen absence and myoclonic seizures. It induces liver enzymes, including its own metabolism (auto-induction). So its half-life falls over the first weeks and the dose must be raised slowly. 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 Valproate is a broad-spectrum drug. It blocks Na+ channels and T-type Ca2+ channels and raises GABA by inhibiting GABA transaminase. It treats all seizure types: tonic–clonic, absence, myoclonic and focal. It is also a mood stabiliser and is used in migraine prevention. Adverse effects: Valproate is an enzyme inhibitor. It raises the levels of lamotrigine and phenobarbital. Ethosuximide blocks T-type Ca2+ channels in the thalamus. It is used only for absence seizures, where it is first choice. It does not protect against tonic–clonic seizures. Adverse effects: nausea, abdominal pain, headache and drowsiness. 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a:p/>
          <a:p>
            <a:r>
              <a:t>About 180 s.  Next: Valproate.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Phenytoin blocks Na+ channels. It is used for focal and tonic–clonic seizures and, IV, in status epilepticus. It has non-linear (saturable) kinetics: a small dose increase can cause a large rise in blood level. Monitor plasma levels. Adverse effects: Carbamazepine blocks Na+ channels. It is used for focal seizures and is first choice for trigeminal neuralgia. It is also a mood stabiliser. It can worsen absence and myoclonic seizures. It induces liver enzymes, including its own metabolism (auto-induction). So its half-life falls over the first weeks and the dose must be raised slowly. 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 Valproate is a broad-spectrum drug. It blocks Na+ channels and T-type Ca2+ channels and raises GABA by inhibiting GABA transaminase. It treats all seizure types: tonic–clonic, absence, myoclonic and focal. It is also a mood stabiliser and is used in migraine prevention. Adverse effects: Valproate is an enzyme inhibitor. It raises the levels of lamotrigine and phenobarbital. Ethosuximide blocks T-type Ca2+ channels in the thalamus. It is used only for absence seizures, where it is first choice. It does not protect against tonic–clonic seizures. Adverse effects: nausea, abdominal pain, headache and drowsiness. 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a:p/>
          <a:p>
            <a:r>
              <a:t>About 180 s.  Next: Valproate.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Phenytoin blocks Na+ channels. It is used for focal and tonic–clonic seizures and, IV, in status epilepticus. It has non-linear (saturable) kinetics: a small dose increase can cause a large rise in blood level. Monitor plasma levels. Adverse effects: Carbamazepine blocks Na+ channels. It is used for focal seizures and is first choice for trigeminal neuralgia. It is also a mood stabiliser. It can worsen absence and myoclonic seizures. It induces liver enzymes, including its own metabolism (auto-induction). So its half-life falls over the first weeks and the dose must be raised slowly. 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 Valproate is a broad-spectrum drug. It blocks Na+ channels and T-type Ca2+ channels and raises GABA by inhibiting GABA transaminase. It treats all seizure types: tonic–clonic, absence, myoclonic and focal. It is also a mood stabiliser and is used in migraine prevention. Adverse effects: Valproate is an enzyme inhibitor. It raises the levels of lamotrigine and phenobarbital. Ethosuximide blocks T-type Ca2+ channels in the thalamus. It is used only for absence seizures, where it is first choice. It does not protect against tonic–clonic seizures. Adverse effects: nausea, abdominal pain, headache and drowsiness. 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a:p/>
          <a:p>
            <a:r>
              <a:t>About 150 s.  Next: Older Drugs.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Phenytoin blocks Na+ channels. It is used for focal and tonic–clonic seizures and, IV, in status epilepticus. It has non-linear (saturable) kinetics: a small dose increase can cause a large rise in blood level. Monitor plasma levels. Adverse effects: Carbamazepine blocks Na+ channels. It is used for focal seizures and is first choice for trigeminal neuralgia. It is also a mood stabiliser. It can worsen absence and myoclonic seizures. It induces liver enzymes, including its own metabolism (auto-induction). So its half-life falls over the first weeks and the dose must be raised slowly. 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 Valproate is a broad-spectrum drug. It blocks Na+ channels and T-type Ca2+ channels and raises GABA by inhibiting GABA transaminase. It treats all seizure types: tonic–clonic, absence, myoclonic and focal. It is also a mood stabiliser and is used in migraine prevention. Adverse effects: Valproate is an enzyme inhibitor. It raises the levels of lamotrigine and phenobarbital. Ethosuximide blocks T-type Ca2+ channels in the thalamus. It is used only for absence seizures, where it is first choice. It does not protect against tonic–clonic seizures. Adverse effects: nausea, abdominal pain, headache and drowsiness. 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a:p/>
          <a:p>
            <a:r>
              <a:t>About 150 s.  Next: Newer Drugs.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Newer drugs cause fewer interactions and are often better tolerated. They are not free of serious adverse effects.</a:t>
            </a:r>
          </a:p>
          <a:p/>
          <a:p>
            <a:r>
              <a:t>About 90 s.  Next: Comparing the Main Drugs (1/2).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antiseizure drugs carry a warning for suicidal thoughts. Ask about mood at each visit. Do not stop antiseizure drugs suddenly; this can trigger status epilepticus. Withdraw slowly under specialist advice.</a:t>
            </a:r>
          </a:p>
          <a:p/>
          <a:p>
            <a:r>
              <a:t>About 30 s.  Next: Comparing the Main Drugs (2/2).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antiseizure drugs carry a warning for suicidal thoughts. Ask about mood at each visit. Do not stop antiseizure drugs suddenly; this can trigger status epilepticus. Withdraw slowly under specialist advice.</a:t>
            </a:r>
          </a:p>
          <a:p/>
          <a:p>
            <a:r>
              <a:t>About 30 s.  Next: Interactions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antiseizure drugs carry a warning for suicidal thoughts. Ask about mood at each visit. Do not stop antiseizure drugs suddenly; this can trigger status epilepticus. Withdraw slowly under specialist advice.</a:t>
            </a:r>
          </a:p>
          <a:p/>
          <a:p>
            <a:r>
              <a:t>About 60 s.  Next: Comparing the Main Drugs.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antiseizure drugs carry a warning for suicidal thoughts. Ask about mood at each visit. Do not stop antiseizure drugs suddenly; this can trigger status epilepticus. Withdraw slowly under specialist advice.</a:t>
            </a:r>
          </a:p>
          <a:p/>
          <a:p>
            <a:r>
              <a:t>About 30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one drug (monotherapy) at a low dose and increase slowly. Monotherapy means fewer adverse effects, fewer interactions and better adherence. If the first drug fails, try a second single drug before combining.</a:t>
            </a:r>
          </a:p>
          <a:p/>
          <a:p>
            <a:r>
              <a:t>About 30 s.  Next: Status Epilepticus.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epilepticus is a seizure that lasts more than 5 minutes, or repeated seizures without recovery between them. It is an emergency. Brain damage becomes likely after about 30 minutes. &gt; - 0–5 minutes: airway and oxygen. Check blood glucose at once and treat low glucose without delay. If alcohol misuse or malnutrition is likely, give IV thiamine as well; it must not delay glucose. &gt; - 5–20 minutes: a benzodiazepine: IV lorazepam, or IM midazolam, or rectal diazepam or buccal midazolam if there is no IV access. Repeat once if needed. &gt; - 20–40 minutes: a second-line drug: IV levetiracetam, fosphenytoin or valproate. &gt; - After 40 minutes: refractory status; anaesthesia in intensive care (propofol, midazolam or thiopental infusion).</a:t>
            </a:r>
          </a:p>
          <a:p/>
          <a:p>
            <a:r>
              <a:t>About 120 s.  Next: Status Epilepticus.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epilepticus is a seizure that lasts more than 5 minutes, or repeated seizures without recovery between them. It is an emergency. Brain damage becomes likely after about 30 minutes. &gt; - 0–5 minutes: airway and oxygen. Check blood glucose at once and treat low glucose without delay. If alcohol misuse or malnutrition is likely, give IV thiamine as well; it must not delay glucose. &gt; - 5–20 minutes: a benzodiazepine: IV lorazepam, or IM midazolam, or rectal diazepam or buccal midazolam if there is no IV access. Repeat once if needed. &gt; - 20–40 minutes: a second-line drug: IV levetiracetam, fosphenytoin or valproate. &gt; - After 40 minutes: refractory status; anaesthesia in intensive care (propofol, midazolam or thiopental infusion).</a:t>
            </a:r>
          </a:p>
          <a:p/>
          <a:p>
            <a:r>
              <a:t>About 60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brief stare many times a day without post-ictal confusion is an absence seizure. A keeps awareness. B is jerking. D is stiffening and jerking.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Ethosuximide blocks thalamic T-type Ca2+ channels. B and C can worsen absence seizures. D is not effective.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Levetiracetam binds SV2A. A is ethosuximide. B is valproate. C is gabapentin and pregabalin.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Valproate inhibits liver enzymes. A, C and D are inducers.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Gingival hyperplasia is a typical long-term effect of phenytoin. A causes bleeding gums. B is wrong; phenytoin is an inducer. D worsens it but is not the cause.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Lamotrigine is among the safest drugs in pregnancy. A has the highest risk. B causes fetal hydantoin syndrome. C causes cleft lip and palate.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A benzodiazepine is first; buccal midazolam works without IV access. B and D are too slow. C is second line and needs IV access.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Carbamazepine induces CYP enzymes and lowers oestrogen and progestogen levels. A, C and D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Valproate raises lamotrigine levels; start lower and titrate slowly. A raises the risk. B is not needed. D does not prevent SJS.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Carbamazepine is first choice for trigeminal neuralgia. B, C and D are not first choice.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05</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5</a:t>
            </a:r>
          </a:p>
          <a:p>
            <a:pPr>
              <a:spcBef>
                <a:spcPts val="1400"/>
              </a:spcBef>
            </a:pPr>
            <a:r>
              <a:rPr sz="3600" i="0" b="1">
                <a:solidFill>
                  <a:srgbClr val="FFFFFF"/>
                </a:solidFill>
                <a:latin typeface="Cambria"/>
              </a:rPr>
              <a:t>Epilepsy and Antiseizure Drugs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45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944499"/>
          </a:xfrm>
          <a:prstGeom prst="rect">
            <a:avLst/>
          </a:prstGeom>
          <a:noFill/>
        </p:spPr>
        <p:txBody>
          <a:bodyPr wrap="square" anchor="t" lIns="0" rIns="0" tIns="0" bIns="0">
            <a:spAutoFit/>
          </a:bodyPr>
          <a:lstStyle/>
          <a:p>
            <a:r>
              <a:rPr sz="2100" i="0" b="0">
                <a:solidFill>
                  <a:srgbClr val="1A1F36"/>
                </a:solidFill>
                <a:latin typeface="Calibri"/>
              </a:rPr>
              <a:t>Classify seizures as focal or generalised and describe awareness in each type.</a:t>
            </a:r>
          </a:p>
        </p:txBody>
      </p:sp>
      <p:sp>
        <p:nvSpPr>
          <p:cNvPr id="10" name="Oval 9"/>
          <p:cNvSpPr/>
          <p:nvPr/>
        </p:nvSpPr>
        <p:spPr>
          <a:xfrm>
            <a:off x="548640" y="256298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581275"/>
            <a:ext cx="6629400" cy="944499"/>
          </a:xfrm>
          <a:prstGeom prst="rect">
            <a:avLst/>
          </a:prstGeom>
          <a:noFill/>
        </p:spPr>
        <p:txBody>
          <a:bodyPr wrap="square" anchor="t" lIns="0" rIns="0" tIns="0" bIns="0">
            <a:spAutoFit/>
          </a:bodyPr>
          <a:lstStyle/>
          <a:p>
            <a:r>
              <a:rPr sz="2100" i="0" b="0">
                <a:solidFill>
                  <a:srgbClr val="1A1F36"/>
                </a:solidFill>
                <a:latin typeface="Calibri"/>
              </a:rPr>
              <a:t>Classify antiseizure drugs by their mechanism of action.</a:t>
            </a:r>
          </a:p>
        </p:txBody>
      </p:sp>
      <p:sp>
        <p:nvSpPr>
          <p:cNvPr id="12" name="Oval 11"/>
          <p:cNvSpPr/>
          <p:nvPr/>
        </p:nvSpPr>
        <p:spPr>
          <a:xfrm>
            <a:off x="548640" y="35532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571494"/>
            <a:ext cx="6629400" cy="944499"/>
          </a:xfrm>
          <a:prstGeom prst="rect">
            <a:avLst/>
          </a:prstGeom>
          <a:noFill/>
        </p:spPr>
        <p:txBody>
          <a:bodyPr wrap="square" anchor="t" lIns="0" rIns="0" tIns="0" bIns="0">
            <a:spAutoFit/>
          </a:bodyPr>
          <a:lstStyle/>
          <a:p>
            <a:r>
              <a:rPr sz="2100" i="0" b="0">
                <a:solidFill>
                  <a:srgbClr val="1A1F36"/>
                </a:solidFill>
                <a:latin typeface="Calibri"/>
              </a:rPr>
              <a:t>Compare the adverse effects, enzyme effects and interactions of the main antiseizure drugs.</a:t>
            </a:r>
          </a:p>
        </p:txBody>
      </p:sp>
      <p:sp>
        <p:nvSpPr>
          <p:cNvPr id="14" name="Oval 13"/>
          <p:cNvSpPr/>
          <p:nvPr/>
        </p:nvSpPr>
        <p:spPr>
          <a:xfrm>
            <a:off x="548640" y="454342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561713"/>
            <a:ext cx="6629400" cy="944499"/>
          </a:xfrm>
          <a:prstGeom prst="rect">
            <a:avLst/>
          </a:prstGeom>
          <a:noFill/>
        </p:spPr>
        <p:txBody>
          <a:bodyPr wrap="square" anchor="t" lIns="0" rIns="0" tIns="0" bIns="0">
            <a:spAutoFit/>
          </a:bodyPr>
          <a:lstStyle/>
          <a:p>
            <a:r>
              <a:rPr sz="2100" i="0" b="0">
                <a:solidFill>
                  <a:srgbClr val="1A1F36"/>
                </a:solidFill>
                <a:latin typeface="Calibri"/>
              </a:rPr>
              <a:t>Select a drug for each seizure type and for women who could become pregnant.</a:t>
            </a:r>
          </a:p>
        </p:txBody>
      </p:sp>
      <p:sp>
        <p:nvSpPr>
          <p:cNvPr id="16" name="Oval 15"/>
          <p:cNvSpPr/>
          <p:nvPr/>
        </p:nvSpPr>
        <p:spPr>
          <a:xfrm>
            <a:off x="548640" y="553364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551932"/>
            <a:ext cx="6629400" cy="611124"/>
          </a:xfrm>
          <a:prstGeom prst="rect">
            <a:avLst/>
          </a:prstGeom>
          <a:noFill/>
        </p:spPr>
        <p:txBody>
          <a:bodyPr wrap="square" anchor="t" lIns="0" rIns="0" tIns="0" bIns="0">
            <a:spAutoFit/>
          </a:bodyPr>
          <a:lstStyle/>
          <a:p>
            <a:r>
              <a:rPr sz="2100" i="0" b="0">
                <a:solidFill>
                  <a:srgbClr val="1A1F36"/>
                </a:solidFill>
                <a:latin typeface="Calibri"/>
              </a:rPr>
              <a:t>Outline the drug treatment of status epilepticus.</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45</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The Disease in Brief</a:t>
            </a:r>
          </a:p>
        </p:txBody>
      </p:sp>
      <p:sp>
        <p:nvSpPr>
          <p:cNvPr id="10" name="Oval 9"/>
          <p:cNvSpPr/>
          <p:nvPr/>
        </p:nvSpPr>
        <p:spPr>
          <a:xfrm>
            <a:off x="548640"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1A1F36"/>
                </a:solidFill>
                <a:latin typeface="Calibri"/>
              </a:rPr>
              <a:t>How Antiseizure Drugs Work</a:t>
            </a:r>
          </a:p>
        </p:txBody>
      </p:sp>
      <p:sp>
        <p:nvSpPr>
          <p:cNvPr id="12" name="Oval 11"/>
          <p:cNvSpPr/>
          <p:nvPr/>
        </p:nvSpPr>
        <p:spPr>
          <a:xfrm>
            <a:off x="548640"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1A1F36"/>
                </a:solidFill>
                <a:latin typeface="Calibri"/>
              </a:rPr>
              <a:t>Older Drugs</a:t>
            </a:r>
          </a:p>
        </p:txBody>
      </p:sp>
      <p:sp>
        <p:nvSpPr>
          <p:cNvPr id="14" name="Oval 13"/>
          <p:cNvSpPr/>
          <p:nvPr/>
        </p:nvSpPr>
        <p:spPr>
          <a:xfrm>
            <a:off x="548640"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202430"/>
            <a:ext cx="4678527" cy="824737"/>
          </a:xfrm>
          <a:prstGeom prst="rect">
            <a:avLst/>
          </a:prstGeom>
          <a:noFill/>
        </p:spPr>
        <p:txBody>
          <a:bodyPr wrap="square" anchor="t" lIns="0" rIns="0" tIns="0" bIns="0">
            <a:spAutoFit/>
          </a:bodyPr>
          <a:lstStyle/>
          <a:p>
            <a:r>
              <a:rPr sz="2200" i="0" b="0">
                <a:solidFill>
                  <a:srgbClr val="1A1F36"/>
                </a:solidFill>
                <a:latin typeface="Calibri"/>
              </a:rPr>
              <a:t>Newer Drugs</a:t>
            </a:r>
          </a:p>
        </p:txBody>
      </p:sp>
      <p:sp>
        <p:nvSpPr>
          <p:cNvPr id="16" name="Oval 15"/>
          <p:cNvSpPr/>
          <p:nvPr/>
        </p:nvSpPr>
        <p:spPr>
          <a:xfrm>
            <a:off x="548640" y="50545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072887"/>
            <a:ext cx="4678527" cy="824737"/>
          </a:xfrm>
          <a:prstGeom prst="rect">
            <a:avLst/>
          </a:prstGeom>
          <a:noFill/>
        </p:spPr>
        <p:txBody>
          <a:bodyPr wrap="square" anchor="t" lIns="0" rIns="0" tIns="0" bIns="0">
            <a:spAutoFit/>
          </a:bodyPr>
          <a:lstStyle/>
          <a:p>
            <a:r>
              <a:rPr sz="2200" i="0" b="0">
                <a:solidFill>
                  <a:srgbClr val="1A1F36"/>
                </a:solidFill>
                <a:latin typeface="Calibri"/>
              </a:rPr>
              <a:t>Comparing the Main Drugs</a:t>
            </a:r>
          </a:p>
        </p:txBody>
      </p:sp>
      <p:sp>
        <p:nvSpPr>
          <p:cNvPr id="18" name="Oval 17"/>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0" name="Oval 19"/>
          <p:cNvSpPr/>
          <p:nvPr/>
        </p:nvSpPr>
        <p:spPr>
          <a:xfrm>
            <a:off x="6370167"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Status Epilepticus</a:t>
            </a:r>
          </a:p>
        </p:txBody>
      </p:sp>
      <p:sp>
        <p:nvSpPr>
          <p:cNvPr id="22" name="Oval 21"/>
          <p:cNvSpPr/>
          <p:nvPr/>
        </p:nvSpPr>
        <p:spPr>
          <a:xfrm>
            <a:off x="6370167"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4" name="Oval 23"/>
          <p:cNvSpPr/>
          <p:nvPr/>
        </p:nvSpPr>
        <p:spPr>
          <a:xfrm>
            <a:off x="6370167"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9</a:t>
            </a:r>
          </a:p>
        </p:txBody>
      </p:sp>
      <p:sp>
        <p:nvSpPr>
          <p:cNvPr id="25" name="TextBox 24"/>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Seizure types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A seizure is a burst of abnormal, excessive and synchronous firing of brain neurons. Epilepsy is a tendency to have repeated unprovoked seizures. It results from an imbalance: too much excitation (glutamate) or too little inhibition (GABA).</a:t>
            </a:r>
          </a:p>
          <a:p>
            <a:pPr>
              <a:spcAft>
                <a:spcPts val="800"/>
              </a:spcAft>
            </a:pPr>
            <a:r>
              <a:rPr sz="2100" i="0" b="0">
                <a:solidFill>
                  <a:srgbClr val="1A1F36"/>
                </a:solidFill>
                <a:latin typeface="Calibri"/>
              </a:rPr>
              <a:t>Causes include genetic factors, head injury, stroke, brain tumours, infections and developmental problems. In many patients no cause is found. Seizures can also be </a:t>
            </a:r>
            <a:r>
              <a:rPr sz="2100" i="0" b="1">
                <a:solidFill>
                  <a:srgbClr val="1A1F36"/>
                </a:solidFill>
                <a:latin typeface="Calibri"/>
              </a:rPr>
              <a:t>provoked</a:t>
            </a:r>
            <a:r>
              <a:rPr sz="2100" i="0" b="0">
                <a:solidFill>
                  <a:srgbClr val="1A1F36"/>
                </a:solidFill>
                <a:latin typeface="Calibri"/>
              </a:rPr>
              <a:t> by fever in children, low glucose, low sodium, alcohol withdrawal or drugs; treat the cause, not with long-term antiseizure drugs.</a:t>
            </a:r>
          </a:p>
          <a:p>
            <a:pPr>
              <a:spcAft>
                <a:spcPts val="800"/>
              </a:spcAft>
            </a:pPr>
            <a:r>
              <a:rPr sz="2100" i="0" b="0">
                <a:solidFill>
                  <a:srgbClr val="1A1F36"/>
                </a:solidFill>
                <a:latin typeface="Calibri"/>
              </a:rPr>
              <a:t>The ILAE classifies seizures by where they start.</a:t>
            </a:r>
          </a:p>
          <a:p>
            <a:pPr>
              <a:spcAft>
                <a:spcPts val="800"/>
              </a:spcAft>
            </a:pPr>
            <a:r>
              <a:rPr sz="2100" i="0" b="0">
                <a:solidFill>
                  <a:srgbClr val="1A1F36"/>
                </a:solidFill>
                <a:latin typeface="Calibri"/>
              </a:rPr>
              <a:t>Absence seizures come from rhythmic firing between the thalamus and cortex, driven by T-type Ca2+ channels. This is why ethosuximide, a T-type blocker, treats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Seizure types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4617720"/>
        </p:xfrm>
        <a:graphic>
          <a:graphicData uri="http://schemas.openxmlformats.org/drawingml/2006/table">
            <a:tbl>
              <a:tblPr firstRow="0" bandRow="0">
                <a:tableStyleId>{5C22544A-7EE6-4342-B048-85BDC9FD1C3A}</a:tableStyleId>
              </a:tblPr>
              <a:tblGrid>
                <a:gridCol w="2846593"/>
                <a:gridCol w="4963290"/>
                <a:gridCol w="3284530"/>
              </a:tblGrid>
              <a:tr h="577215">
                <a:tc>
                  <a:txBody>
                    <a:bodyPr/>
                    <a:lstStyle/>
                    <a:p>
                      <a:r>
                        <a:rPr sz="1500" i="0" b="1">
                          <a:solidFill>
                            <a:srgbClr val="FFFFFF"/>
                          </a:solidFill>
                          <a:latin typeface="Calibri"/>
                        </a:rPr>
                        <a:t>Seizure type</a:t>
                      </a:r>
                    </a:p>
                  </a:txBody>
                  <a:tcPr marL="109728" marR="109728" marT="45720" marB="45720" anchor="ctr">
                    <a:solidFill>
                      <a:srgbClr val="1B2A8C"/>
                    </a:solidFill>
                  </a:tcPr>
                </a:tc>
                <a:tc>
                  <a:txBody>
                    <a:bodyPr/>
                    <a:lstStyle/>
                    <a:p>
                      <a:r>
                        <a:rPr sz="1500" i="0" b="1">
                          <a:solidFill>
                            <a:srgbClr val="FFFFFF"/>
                          </a:solidFill>
                          <a:latin typeface="Calibri"/>
                        </a:rPr>
                        <a:t>What happens</a:t>
                      </a:r>
                    </a:p>
                  </a:txBody>
                  <a:tcPr marL="109728" marR="109728" marT="45720" marB="45720" anchor="ctr">
                    <a:solidFill>
                      <a:srgbClr val="1B2A8C"/>
                    </a:solidFill>
                  </a:tcPr>
                </a:tc>
                <a:tc>
                  <a:txBody>
                    <a:bodyPr/>
                    <a:lstStyle/>
                    <a:p>
                      <a:r>
                        <a:rPr sz="1500" i="0" b="1">
                          <a:solidFill>
                            <a:srgbClr val="FFFFFF"/>
                          </a:solidFill>
                          <a:latin typeface="Calibri"/>
                        </a:rPr>
                        <a:t>Awareness</a:t>
                      </a:r>
                    </a:p>
                  </a:txBody>
                  <a:tcPr marL="109728" marR="109728" marT="45720" marB="45720" anchor="ctr">
                    <a:solidFill>
                      <a:srgbClr val="1B2A8C"/>
                    </a:solidFill>
                  </a:tcPr>
                </a:tc>
              </a:tr>
              <a:tr h="577215">
                <a:tc>
                  <a:txBody>
                    <a:bodyPr/>
                    <a:lstStyle/>
                    <a:p>
                      <a:r>
                        <a:rPr sz="1600" i="0" b="1">
                          <a:solidFill>
                            <a:srgbClr val="1A1F36"/>
                          </a:solidFill>
                          <a:latin typeface="Calibri"/>
                        </a:rPr>
                        <a:t>Focal, aware</a:t>
                      </a:r>
                    </a:p>
                  </a:txBody>
                  <a:tcPr marL="109728" marR="109728" marT="45720" marB="45720" anchor="ctr">
                    <a:solidFill>
                      <a:srgbClr val="FFFFFF"/>
                    </a:solidFill>
                  </a:tcPr>
                </a:tc>
                <a:tc>
                  <a:txBody>
                    <a:bodyPr/>
                    <a:lstStyle/>
                    <a:p>
                      <a:r>
                        <a:rPr sz="1600" i="0" b="0">
                          <a:solidFill>
                            <a:srgbClr val="1A1F36"/>
                          </a:solidFill>
                          <a:latin typeface="Calibri"/>
                        </a:rPr>
                        <a:t>Starts in one area; twitching, sensory change or odd feeling</a:t>
                      </a:r>
                    </a:p>
                  </a:txBody>
                  <a:tcPr marL="109728" marR="109728" marT="45720" marB="45720" anchor="ctr">
                    <a:solidFill>
                      <a:srgbClr val="FFFFFF"/>
                    </a:solidFill>
                  </a:tcPr>
                </a:tc>
                <a:tc>
                  <a:txBody>
                    <a:bodyPr/>
                    <a:lstStyle/>
                    <a:p>
                      <a:r>
                        <a:rPr sz="1600" i="0" b="0">
                          <a:solidFill>
                            <a:srgbClr val="1A1F36"/>
                          </a:solidFill>
                          <a:latin typeface="Calibri"/>
                        </a:rPr>
                        <a:t>Preserved</a:t>
                      </a:r>
                    </a:p>
                  </a:txBody>
                  <a:tcPr marL="109728" marR="109728" marT="45720" marB="45720" anchor="ctr">
                    <a:solidFill>
                      <a:srgbClr val="FFFFFF"/>
                    </a:solidFill>
                  </a:tcPr>
                </a:tc>
              </a:tr>
              <a:tr h="577215">
                <a:tc>
                  <a:txBody>
                    <a:bodyPr/>
                    <a:lstStyle/>
                    <a:p>
                      <a:r>
                        <a:rPr sz="1600" i="0" b="1">
                          <a:solidFill>
                            <a:srgbClr val="1A1F36"/>
                          </a:solidFill>
                          <a:latin typeface="Calibri"/>
                        </a:rPr>
                        <a:t>Focal, impaired awareness</a:t>
                      </a:r>
                    </a:p>
                  </a:txBody>
                  <a:tcPr marL="109728" marR="109728" marT="45720" marB="45720" anchor="ctr">
                    <a:solidFill>
                      <a:srgbClr val="F1F2F8"/>
                    </a:solidFill>
                  </a:tcPr>
                </a:tc>
                <a:tc>
                  <a:txBody>
                    <a:bodyPr/>
                    <a:lstStyle/>
                    <a:p>
                      <a:r>
                        <a:rPr sz="1600" i="0" b="0">
                          <a:solidFill>
                            <a:srgbClr val="1A1F36"/>
                          </a:solidFill>
                          <a:latin typeface="Calibri"/>
                        </a:rPr>
                        <a:t>Staring, lip-smacking, fumbling</a:t>
                      </a:r>
                    </a:p>
                  </a:txBody>
                  <a:tcPr marL="109728" marR="109728" marT="45720" marB="45720" anchor="ctr">
                    <a:solidFill>
                      <a:srgbClr val="F1F2F8"/>
                    </a:solidFill>
                  </a:tcPr>
                </a:tc>
                <a:tc>
                  <a:txBody>
                    <a:bodyPr/>
                    <a:lstStyle/>
                    <a:p>
                      <a:r>
                        <a:rPr sz="1600" i="0" b="0">
                          <a:solidFill>
                            <a:srgbClr val="1A1F36"/>
                          </a:solidFill>
                          <a:latin typeface="Calibri"/>
                        </a:rPr>
                        <a:t>Impaired</a:t>
                      </a:r>
                    </a:p>
                  </a:txBody>
                  <a:tcPr marL="109728" marR="109728" marT="45720" marB="45720" anchor="ctr">
                    <a:solidFill>
                      <a:srgbClr val="F1F2F8"/>
                    </a:solidFill>
                  </a:tcPr>
                </a:tc>
              </a:tr>
              <a:tr h="577215">
                <a:tc>
                  <a:txBody>
                    <a:bodyPr/>
                    <a:lstStyle/>
                    <a:p>
                      <a:r>
                        <a:rPr sz="1600" i="0" b="1">
                          <a:solidFill>
                            <a:srgbClr val="1A1F36"/>
                          </a:solidFill>
                          <a:latin typeface="Calibri"/>
                        </a:rPr>
                        <a:t>Focal to bilateral tonic–clonic</a:t>
                      </a:r>
                    </a:p>
                  </a:txBody>
                  <a:tcPr marL="109728" marR="109728" marT="45720" marB="45720" anchor="ctr">
                    <a:solidFill>
                      <a:srgbClr val="FFFFFF"/>
                    </a:solidFill>
                  </a:tcPr>
                </a:tc>
                <a:tc>
                  <a:txBody>
                    <a:bodyPr/>
                    <a:lstStyle/>
                    <a:p>
                      <a:r>
                        <a:rPr sz="1600" i="0" b="0">
                          <a:solidFill>
                            <a:srgbClr val="1A1F36"/>
                          </a:solidFill>
                          <a:latin typeface="Calibri"/>
                        </a:rPr>
                        <a:t>Focal onset that spreads to both sides</a:t>
                      </a:r>
                    </a:p>
                  </a:txBody>
                  <a:tcPr marL="109728" marR="109728" marT="45720" marB="45720" anchor="ctr">
                    <a:solidFill>
                      <a:srgbClr val="FFFFFF"/>
                    </a:solidFill>
                  </a:tcPr>
                </a:tc>
                <a:tc>
                  <a:txBody>
                    <a:bodyPr/>
                    <a:lstStyle/>
                    <a:p>
                      <a:r>
                        <a:rPr sz="1600" i="0" b="0">
                          <a:solidFill>
                            <a:srgbClr val="1A1F36"/>
                          </a:solidFill>
                          <a:latin typeface="Calibri"/>
                        </a:rPr>
                        <a:t>Lost</a:t>
                      </a:r>
                    </a:p>
                  </a:txBody>
                  <a:tcPr marL="109728" marR="109728" marT="45720" marB="45720" anchor="ctr">
                    <a:solidFill>
                      <a:srgbClr val="FFFFFF"/>
                    </a:solidFill>
                  </a:tcPr>
                </a:tc>
              </a:tr>
              <a:tr h="577215">
                <a:tc>
                  <a:txBody>
                    <a:bodyPr/>
                    <a:lstStyle/>
                    <a:p>
                      <a:r>
                        <a:rPr sz="1600" i="0" b="1">
                          <a:solidFill>
                            <a:srgbClr val="1A1F36"/>
                          </a:solidFill>
                          <a:latin typeface="Calibri"/>
                        </a:rPr>
                        <a:t>Generalised tonic–clonic</a:t>
                      </a:r>
                    </a:p>
                  </a:txBody>
                  <a:tcPr marL="109728" marR="109728" marT="45720" marB="45720" anchor="ctr">
                    <a:solidFill>
                      <a:srgbClr val="F1F2F8"/>
                    </a:solidFill>
                  </a:tcPr>
                </a:tc>
                <a:tc>
                  <a:txBody>
                    <a:bodyPr/>
                    <a:lstStyle/>
                    <a:p>
                      <a:r>
                        <a:rPr sz="1600" i="0" b="0">
                          <a:solidFill>
                            <a:srgbClr val="1A1F36"/>
                          </a:solidFill>
                          <a:latin typeface="Calibri"/>
                        </a:rPr>
                        <a:t>Stiffening (tonic), then jerking (clonic); tongue biting, incontinence</a:t>
                      </a:r>
                    </a:p>
                  </a:txBody>
                  <a:tcPr marL="109728" marR="109728" marT="45720" marB="45720" anchor="ctr">
                    <a:solidFill>
                      <a:srgbClr val="F1F2F8"/>
                    </a:solidFill>
                  </a:tcPr>
                </a:tc>
                <a:tc>
                  <a:txBody>
                    <a:bodyPr/>
                    <a:lstStyle/>
                    <a:p>
                      <a:r>
                        <a:rPr sz="1600" i="0" b="0">
                          <a:solidFill>
                            <a:srgbClr val="1A1F36"/>
                          </a:solidFill>
                          <a:latin typeface="Calibri"/>
                        </a:rPr>
                        <a:t>Lost</a:t>
                      </a:r>
                    </a:p>
                  </a:txBody>
                  <a:tcPr marL="109728" marR="109728" marT="45720" marB="45720" anchor="ctr">
                    <a:solidFill>
                      <a:srgbClr val="F1F2F8"/>
                    </a:solidFill>
                  </a:tcPr>
                </a:tc>
              </a:tr>
              <a:tr h="577215">
                <a:tc>
                  <a:txBody>
                    <a:bodyPr/>
                    <a:lstStyle/>
                    <a:p>
                      <a:r>
                        <a:rPr sz="1600" i="0" b="1">
                          <a:solidFill>
                            <a:srgbClr val="1A1F36"/>
                          </a:solidFill>
                          <a:latin typeface="Calibri"/>
                        </a:rPr>
                        <a:t>Absence</a:t>
                      </a:r>
                    </a:p>
                  </a:txBody>
                  <a:tcPr marL="109728" marR="109728" marT="45720" marB="45720" anchor="ctr">
                    <a:solidFill>
                      <a:srgbClr val="FFFFFF"/>
                    </a:solidFill>
                  </a:tcPr>
                </a:tc>
                <a:tc>
                  <a:txBody>
                    <a:bodyPr/>
                    <a:lstStyle/>
                    <a:p>
                      <a:r>
                        <a:rPr sz="1600" i="0" b="0">
                          <a:solidFill>
                            <a:srgbClr val="1A1F36"/>
                          </a:solidFill>
                          <a:latin typeface="Calibri"/>
                        </a:rPr>
                        <a:t>Brief stare for 5–15 seconds, many times a day; mainly children</a:t>
                      </a:r>
                    </a:p>
                  </a:txBody>
                  <a:tcPr marL="109728" marR="109728" marT="45720" marB="45720" anchor="ctr">
                    <a:solidFill>
                      <a:srgbClr val="FFFFFF"/>
                    </a:solidFill>
                  </a:tcPr>
                </a:tc>
                <a:tc>
                  <a:txBody>
                    <a:bodyPr/>
                    <a:lstStyle/>
                    <a:p>
                      <a:r>
                        <a:rPr sz="1600" i="0" b="0">
                          <a:solidFill>
                            <a:srgbClr val="1A1F36"/>
                          </a:solidFill>
                          <a:latin typeface="Calibri"/>
                        </a:rPr>
                        <a:t>Lost briefly; no post-ictal confusion</a:t>
                      </a:r>
                    </a:p>
                  </a:txBody>
                  <a:tcPr marL="109728" marR="109728" marT="45720" marB="45720" anchor="ctr">
                    <a:solidFill>
                      <a:srgbClr val="FFFFFF"/>
                    </a:solidFill>
                  </a:tcPr>
                </a:tc>
              </a:tr>
              <a:tr h="577215">
                <a:tc>
                  <a:txBody>
                    <a:bodyPr/>
                    <a:lstStyle/>
                    <a:p>
                      <a:r>
                        <a:rPr sz="1600" i="0" b="1">
                          <a:solidFill>
                            <a:srgbClr val="1A1F36"/>
                          </a:solidFill>
                          <a:latin typeface="Calibri"/>
                        </a:rPr>
                        <a:t>Myoclonic</a:t>
                      </a:r>
                    </a:p>
                  </a:txBody>
                  <a:tcPr marL="109728" marR="109728" marT="45720" marB="45720" anchor="ctr">
                    <a:solidFill>
                      <a:srgbClr val="F1F2F8"/>
                    </a:solidFill>
                  </a:tcPr>
                </a:tc>
                <a:tc>
                  <a:txBody>
                    <a:bodyPr/>
                    <a:lstStyle/>
                    <a:p>
                      <a:r>
                        <a:rPr sz="1600" i="0" b="0">
                          <a:solidFill>
                            <a:srgbClr val="1A1F36"/>
                          </a:solidFill>
                          <a:latin typeface="Calibri"/>
                        </a:rPr>
                        <a:t>Sudden single jerks, often in the morning</a:t>
                      </a:r>
                    </a:p>
                  </a:txBody>
                  <a:tcPr marL="109728" marR="109728" marT="45720" marB="45720" anchor="ctr">
                    <a:solidFill>
                      <a:srgbClr val="F1F2F8"/>
                    </a:solidFill>
                  </a:tcPr>
                </a:tc>
                <a:tc>
                  <a:txBody>
                    <a:bodyPr/>
                    <a:lstStyle/>
                    <a:p>
                      <a:r>
                        <a:rPr sz="1600" i="0" b="0">
                          <a:solidFill>
                            <a:srgbClr val="1A1F36"/>
                          </a:solidFill>
                          <a:latin typeface="Calibri"/>
                        </a:rPr>
                        <a:t>Usually preserved</a:t>
                      </a:r>
                    </a:p>
                  </a:txBody>
                  <a:tcPr marL="109728" marR="109728" marT="45720" marB="45720" anchor="ctr">
                    <a:solidFill>
                      <a:srgbClr val="F1F2F8"/>
                    </a:solidFill>
                  </a:tcPr>
                </a:tc>
              </a:tr>
              <a:tr h="577215">
                <a:tc>
                  <a:txBody>
                    <a:bodyPr/>
                    <a:lstStyle/>
                    <a:p>
                      <a:r>
                        <a:rPr sz="1600" i="0" b="1">
                          <a:solidFill>
                            <a:srgbClr val="1A1F36"/>
                          </a:solidFill>
                          <a:latin typeface="Calibri"/>
                        </a:rPr>
                        <a:t>Atonic</a:t>
                      </a:r>
                    </a:p>
                  </a:txBody>
                  <a:tcPr marL="109728" marR="109728" marT="45720" marB="45720" anchor="ctr">
                    <a:solidFill>
                      <a:srgbClr val="FFFFFF"/>
                    </a:solidFill>
                  </a:tcPr>
                </a:tc>
                <a:tc>
                  <a:txBody>
                    <a:bodyPr/>
                    <a:lstStyle/>
                    <a:p>
                      <a:r>
                        <a:rPr sz="1600" i="0" b="0">
                          <a:solidFill>
                            <a:srgbClr val="1A1F36"/>
                          </a:solidFill>
                          <a:latin typeface="Calibri"/>
                        </a:rPr>
                        <a:t>Sudden loss of tone; falls</a:t>
                      </a:r>
                    </a:p>
                  </a:txBody>
                  <a:tcPr marL="109728" marR="109728" marT="45720" marB="45720" anchor="ctr">
                    <a:solidFill>
                      <a:srgbClr val="FFFFFF"/>
                    </a:solidFill>
                  </a:tcPr>
                </a:tc>
                <a:tc>
                  <a:txBody>
                    <a:bodyPr/>
                    <a:lstStyle/>
                    <a:p>
                      <a:r>
                        <a:rPr sz="1600" i="0" b="0">
                          <a:solidFill>
                            <a:srgbClr val="1A1F36"/>
                          </a:solidFill>
                          <a:latin typeface="Calibri"/>
                        </a:rPr>
                        <a:t>Brief loss</a:t>
                      </a:r>
                    </a:p>
                  </a:txBody>
                  <a:tcPr marL="109728" marR="109728"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5</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Not every generalised seizure removes awareness. A patient with myoclonic jerks is usually aware of them. Ask about morning jerks when you take a history; they point to juvenile myoclonic epilepsy.</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Epilepsy and Antiseizure Drugs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44</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How Antiseizure Drugs Work</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38988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Antiseizure drugs reduce excitation or increase inhibition. Most drugs act in more than one way. The old rule that "first-generation drugs act on inhibition and second-generation drugs act on excitation" is false. Phenytoin and carbamazepine block Na+ channels, and several newer drugs enhance GABA.</a:t>
            </a:r>
          </a:p>
        </p:txBody>
      </p:sp>
      <p:pic>
        <p:nvPicPr>
          <p:cNvPr id="9" name="Picture 8" descr="Left: glutamate nerve ending with Na+ channels, the alpha-2-delta Ca2+ subunit and SV2A, and postsynaptic AMPA receptors, with the drugs acting at each. Right: GABA nerve ending with GABA transaminase blocked by valproate, the GABA-A receptor enhanced by benzodiazepines and phenobarbital, and thalamic T-type Ca2+ channels blocked by ethosuximide."/>
          <p:cNvPicPr>
            <a:picLocks noChangeAspect="1"/>
          </p:cNvPicPr>
          <p:nvPr/>
        </p:nvPicPr>
        <p:blipFill>
          <a:blip r:embed="rId4"/>
          <a:stretch>
            <a:fillRect/>
          </a:stretch>
        </p:blipFill>
        <p:spPr>
          <a:xfrm>
            <a:off x="3403781" y="3127248"/>
            <a:ext cx="5384132" cy="2633472"/>
          </a:xfrm>
          <a:prstGeom prst="rect">
            <a:avLst/>
          </a:prstGeom>
        </p:spPr>
      </p:pic>
      <p:sp>
        <p:nvSpPr>
          <p:cNvPr id="10" name="TextBox 9"/>
          <p:cNvSpPr txBox="1"/>
          <p:nvPr/>
        </p:nvSpPr>
        <p:spPr>
          <a:xfrm>
            <a:off x="548640" y="5852159"/>
            <a:ext cx="11094415" cy="365760"/>
          </a:xfrm>
          <a:prstGeom prst="rect">
            <a:avLst/>
          </a:prstGeom>
          <a:noFill/>
        </p:spPr>
        <p:txBody>
          <a:bodyPr wrap="square" anchor="t" lIns="0" rIns="0" tIns="0" bIns="0">
            <a:spAutoFit/>
          </a:bodyPr>
          <a:lstStyle/>
          <a:p>
            <a:pPr algn="ctr"/>
            <a:r>
              <a:rPr sz="1300" i="1" b="0">
                <a:solidFill>
                  <a:srgbClr val="5A6072"/>
                </a:solidFill>
                <a:latin typeface="Calibri"/>
              </a:rPr>
              <a:t>Targets of antiseizure drugs at excitatory and inhibitory synapses.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How Antiseizure Drugs Work</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5547207"/>
                <a:gridCol w="5547207"/>
              </a:tblGrid>
              <a:tr h="577215">
                <a:tc>
                  <a:txBody>
                    <a:bodyPr/>
                    <a:lstStyle/>
                    <a:p>
                      <a:r>
                        <a:rPr sz="1700" i="0" b="1">
                          <a:solidFill>
                            <a:srgbClr val="FFFFFF"/>
                          </a:solidFill>
                          <a:latin typeface="Calibri"/>
                        </a:rPr>
                        <a:t>Mechanism</a:t>
                      </a:r>
                    </a:p>
                  </a:txBody>
                  <a:tcPr marL="109728" marR="109728" marT="45720" marB="45720" anchor="ctr">
                    <a:solidFill>
                      <a:srgbClr val="1B2A8C"/>
                    </a:solidFill>
                  </a:tcPr>
                </a:tc>
                <a:tc>
                  <a:txBody>
                    <a:bodyPr/>
                    <a:lstStyle/>
                    <a:p>
                      <a:r>
                        <a:rPr sz="1700" i="0" b="1">
                          <a:solidFill>
                            <a:srgbClr val="FFFFFF"/>
                          </a:solidFill>
                          <a:latin typeface="Calibri"/>
                        </a:rPr>
                        <a:t>Drugs</a:t>
                      </a:r>
                    </a:p>
                  </a:txBody>
                  <a:tcPr marL="109728" marR="109728" marT="45720" marB="45720" anchor="ctr">
                    <a:solidFill>
                      <a:srgbClr val="1B2A8C"/>
                    </a:solidFill>
                  </a:tcPr>
                </a:tc>
              </a:tr>
              <a:tr h="577215">
                <a:tc>
                  <a:txBody>
                    <a:bodyPr/>
                    <a:lstStyle/>
                    <a:p>
                      <a:r>
                        <a:rPr sz="1800" i="0" b="1">
                          <a:solidFill>
                            <a:srgbClr val="1A1F36"/>
                          </a:solidFill>
                          <a:latin typeface="Calibri"/>
                        </a:rPr>
                        <a:t>Block voltage-gated Na+ channels</a:t>
                      </a:r>
                    </a:p>
                  </a:txBody>
                  <a:tcPr marL="109728" marR="109728" marT="45720" marB="45720" anchor="ctr">
                    <a:solidFill>
                      <a:srgbClr val="FFFFFF"/>
                    </a:solidFill>
                  </a:tcPr>
                </a:tc>
                <a:tc>
                  <a:txBody>
                    <a:bodyPr/>
                    <a:lstStyle/>
                    <a:p>
                      <a:r>
                        <a:rPr sz="1800" i="0" b="0">
                          <a:solidFill>
                            <a:srgbClr val="1A1F36"/>
                          </a:solidFill>
                          <a:latin typeface="Calibri"/>
                        </a:rPr>
                        <a:t>Phenytoin, carbamazepine, lamotrigine, topiramate, valproate (in part)</a:t>
                      </a:r>
                    </a:p>
                  </a:txBody>
                  <a:tcPr marL="109728" marR="109728" marT="45720" marB="45720" anchor="ctr">
                    <a:solidFill>
                      <a:srgbClr val="FFFFFF"/>
                    </a:solidFill>
                  </a:tcPr>
                </a:tc>
              </a:tr>
              <a:tr h="577215">
                <a:tc>
                  <a:txBody>
                    <a:bodyPr/>
                    <a:lstStyle/>
                    <a:p>
                      <a:r>
                        <a:rPr sz="1800" i="0" b="1">
                          <a:solidFill>
                            <a:srgbClr val="1A1F36"/>
                          </a:solidFill>
                          <a:latin typeface="Calibri"/>
                        </a:rPr>
                        <a:t>Block T-type Ca2+ channels</a:t>
                      </a:r>
                    </a:p>
                  </a:txBody>
                  <a:tcPr marL="109728" marR="109728" marT="45720" marB="45720" anchor="ctr">
                    <a:solidFill>
                      <a:srgbClr val="F1F2F8"/>
                    </a:solidFill>
                  </a:tcPr>
                </a:tc>
                <a:tc>
                  <a:txBody>
                    <a:bodyPr/>
                    <a:lstStyle/>
                    <a:p>
                      <a:r>
                        <a:rPr sz="1800" i="0" b="0">
                          <a:solidFill>
                            <a:srgbClr val="1A1F36"/>
                          </a:solidFill>
                          <a:latin typeface="Calibri"/>
                        </a:rPr>
                        <a:t>Ethosuximide, valproate</a:t>
                      </a:r>
                    </a:p>
                  </a:txBody>
                  <a:tcPr marL="109728" marR="109728" marT="45720" marB="45720" anchor="ctr">
                    <a:solidFill>
                      <a:srgbClr val="F1F2F8"/>
                    </a:solidFill>
                  </a:tcPr>
                </a:tc>
              </a:tr>
              <a:tr h="577215">
                <a:tc>
                  <a:txBody>
                    <a:bodyPr/>
                    <a:lstStyle/>
                    <a:p>
                      <a:r>
                        <a:rPr sz="1800" i="0" b="1">
                          <a:solidFill>
                            <a:srgbClr val="1A1F36"/>
                          </a:solidFill>
                          <a:latin typeface="Calibri"/>
                        </a:rPr>
                        <a:t>Bind the α2δ subunit of Ca2+ channels (less glutamate release)</a:t>
                      </a:r>
                    </a:p>
                  </a:txBody>
                  <a:tcPr marL="109728" marR="109728" marT="45720" marB="45720" anchor="ctr">
                    <a:solidFill>
                      <a:srgbClr val="FFFFFF"/>
                    </a:solidFill>
                  </a:tcPr>
                </a:tc>
                <a:tc>
                  <a:txBody>
                    <a:bodyPr/>
                    <a:lstStyle/>
                    <a:p>
                      <a:r>
                        <a:rPr sz="1800" i="0" b="0">
                          <a:solidFill>
                            <a:srgbClr val="1A1F36"/>
                          </a:solidFill>
                          <a:latin typeface="Calibri"/>
                        </a:rPr>
                        <a:t>Gabapentin, pregabalin</a:t>
                      </a:r>
                    </a:p>
                  </a:txBody>
                  <a:tcPr marL="109728" marR="109728" marT="45720" marB="45720" anchor="ctr">
                    <a:solidFill>
                      <a:srgbClr val="FFFFFF"/>
                    </a:solidFill>
                  </a:tcPr>
                </a:tc>
              </a:tr>
              <a:tr h="577215">
                <a:tc>
                  <a:txBody>
                    <a:bodyPr/>
                    <a:lstStyle/>
                    <a:p>
                      <a:r>
                        <a:rPr sz="1800" i="0" b="1">
                          <a:solidFill>
                            <a:srgbClr val="1A1F36"/>
                          </a:solidFill>
                          <a:latin typeface="Calibri"/>
                        </a:rPr>
                        <a:t>Enhance GABA-A receptors</a:t>
                      </a:r>
                    </a:p>
                  </a:txBody>
                  <a:tcPr marL="109728" marR="109728" marT="45720" marB="45720" anchor="ctr">
                    <a:solidFill>
                      <a:srgbClr val="F1F2F8"/>
                    </a:solidFill>
                  </a:tcPr>
                </a:tc>
                <a:tc>
                  <a:txBody>
                    <a:bodyPr/>
                    <a:lstStyle/>
                    <a:p>
                      <a:r>
                        <a:rPr sz="1800" i="0" b="0">
                          <a:solidFill>
                            <a:srgbClr val="1A1F36"/>
                          </a:solidFill>
                          <a:latin typeface="Calibri"/>
                        </a:rPr>
                        <a:t>Benzodiazepines, phenobarbital, topiramate</a:t>
                      </a:r>
                    </a:p>
                  </a:txBody>
                  <a:tcPr marL="109728" marR="109728" marT="45720" marB="45720" anchor="ctr">
                    <a:solidFill>
                      <a:srgbClr val="F1F2F8"/>
                    </a:solidFill>
                  </a:tcPr>
                </a:tc>
              </a:tr>
              <a:tr h="577215">
                <a:tc>
                  <a:txBody>
                    <a:bodyPr/>
                    <a:lstStyle/>
                    <a:p>
                      <a:r>
                        <a:rPr sz="1800" i="0" b="1">
                          <a:solidFill>
                            <a:srgbClr val="1A1F36"/>
                          </a:solidFill>
                          <a:latin typeface="Calibri"/>
                        </a:rPr>
                        <a:t>Raise GABA levels</a:t>
                      </a:r>
                    </a:p>
                  </a:txBody>
                  <a:tcPr marL="109728" marR="109728" marT="45720" marB="45720" anchor="ctr">
                    <a:solidFill>
                      <a:srgbClr val="FFFFFF"/>
                    </a:solidFill>
                  </a:tcPr>
                </a:tc>
                <a:tc>
                  <a:txBody>
                    <a:bodyPr/>
                    <a:lstStyle/>
                    <a:p>
                      <a:r>
                        <a:rPr sz="1800" i="0" b="0">
                          <a:solidFill>
                            <a:srgbClr val="1A1F36"/>
                          </a:solidFill>
                          <a:latin typeface="Calibri"/>
                        </a:rPr>
                        <a:t>Valproate (inhibits GABA transaminase)</a:t>
                      </a:r>
                    </a:p>
                  </a:txBody>
                  <a:tcPr marL="109728" marR="109728" marT="45720" marB="45720" anchor="ctr">
                    <a:solidFill>
                      <a:srgbClr val="FFFFFF"/>
                    </a:solidFill>
                  </a:tcPr>
                </a:tc>
              </a:tr>
              <a:tr h="577215">
                <a:tc>
                  <a:txBody>
                    <a:bodyPr/>
                    <a:lstStyle/>
                    <a:p>
                      <a:r>
                        <a:rPr sz="1800" i="0" b="1">
                          <a:solidFill>
                            <a:srgbClr val="1A1F36"/>
                          </a:solidFill>
                          <a:latin typeface="Calibri"/>
                        </a:rPr>
                        <a:t>Bind the vesicle protein SV2A (less transmitter release)</a:t>
                      </a:r>
                    </a:p>
                  </a:txBody>
                  <a:tcPr marL="109728" marR="109728" marT="45720" marB="45720" anchor="ctr">
                    <a:solidFill>
                      <a:srgbClr val="F1F2F8"/>
                    </a:solidFill>
                  </a:tcPr>
                </a:tc>
                <a:tc>
                  <a:txBody>
                    <a:bodyPr/>
                    <a:lstStyle/>
                    <a:p>
                      <a:r>
                        <a:rPr sz="1800" i="0" b="0">
                          <a:solidFill>
                            <a:srgbClr val="1A1F36"/>
                          </a:solidFill>
                          <a:latin typeface="Calibri"/>
                        </a:rPr>
                        <a:t>Levetiracetam</a:t>
                      </a:r>
                    </a:p>
                  </a:txBody>
                  <a:tcPr marL="109728" marR="109728" marT="45720" marB="45720" anchor="ctr">
                    <a:solidFill>
                      <a:srgbClr val="F1F2F8"/>
                    </a:solidFill>
                  </a:tcPr>
                </a:tc>
              </a:tr>
              <a:tr h="577215">
                <a:tc>
                  <a:txBody>
                    <a:bodyPr/>
                    <a:lstStyle/>
                    <a:p>
                      <a:r>
                        <a:rPr sz="1800" i="0" b="1">
                          <a:solidFill>
                            <a:srgbClr val="1A1F36"/>
                          </a:solidFill>
                          <a:latin typeface="Calibri"/>
                        </a:rPr>
                        <a:t>Block glutamate receptors (AMPA/kainate)</a:t>
                      </a:r>
                    </a:p>
                  </a:txBody>
                  <a:tcPr marL="109728" marR="109728" marT="45720" marB="45720" anchor="ctr">
                    <a:solidFill>
                      <a:srgbClr val="FFFFFF"/>
                    </a:solidFill>
                  </a:tcPr>
                </a:tc>
                <a:tc>
                  <a:txBody>
                    <a:bodyPr/>
                    <a:lstStyle/>
                    <a:p>
                      <a:r>
                        <a:rPr sz="1800" i="0" b="0">
                          <a:solidFill>
                            <a:srgbClr val="1A1F36"/>
                          </a:solidFill>
                          <a:latin typeface="Calibri"/>
                        </a:rPr>
                        <a:t>Topiramate, perampanel</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Phenytoin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Phenytoin blocks Na+ channels. It is used for focal and tonic–clonic seizures and, IV, in status epilepticus. It has </a:t>
            </a:r>
            <a:r>
              <a:rPr sz="1700" i="0" b="1">
                <a:solidFill>
                  <a:srgbClr val="1A1F36"/>
                </a:solidFill>
                <a:latin typeface="Calibri"/>
              </a:rPr>
              <a:t>non-linear (saturable) kinetics</a:t>
            </a:r>
            <a:r>
              <a:rPr sz="1700" i="0" b="0">
                <a:solidFill>
                  <a:srgbClr val="1A1F36"/>
                </a:solidFill>
                <a:latin typeface="Calibri"/>
              </a:rPr>
              <a:t>: a small dose increase can cause a large rise in blood level. Monitor plasma levels.</a:t>
            </a:r>
          </a:p>
          <a:p>
            <a:pPr>
              <a:spcAft>
                <a:spcPts val="800"/>
              </a:spcAft>
            </a:pPr>
            <a:r>
              <a:rPr sz="1700" i="0" b="0">
                <a:solidFill>
                  <a:srgbClr val="1A1F36"/>
                </a:solidFill>
                <a:latin typeface="Calibri"/>
              </a:rPr>
              <a:t>Adverse effects: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774170"/>
          </a:xfrm>
          <a:prstGeom prst="rect">
            <a:avLst/>
          </a:prstGeom>
          <a:noFill/>
        </p:spPr>
        <p:txBody>
          <a:bodyPr wrap="square" anchor="t" lIns="0" rIns="0" tIns="0" bIns="0">
            <a:spAutoFit/>
          </a:bodyPr>
          <a:lstStyle/>
          <a:p>
            <a:r>
              <a:rPr sz="1900" i="0" b="0">
                <a:solidFill>
                  <a:srgbClr val="1A1F36"/>
                </a:solidFill>
                <a:latin typeface="Calibri"/>
              </a:rPr>
              <a:t>Dose-related: nystagmus, diplopia, ataxia and confusion.</a:t>
            </a:r>
          </a:p>
        </p:txBody>
      </p:sp>
      <p:sp>
        <p:nvSpPr>
          <p:cNvPr id="11" name="Oval 10"/>
          <p:cNvSpPr/>
          <p:nvPr/>
        </p:nvSpPr>
        <p:spPr>
          <a:xfrm>
            <a:off x="5394959" y="239265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410946"/>
            <a:ext cx="5653735" cy="774170"/>
          </a:xfrm>
          <a:prstGeom prst="rect">
            <a:avLst/>
          </a:prstGeom>
          <a:noFill/>
        </p:spPr>
        <p:txBody>
          <a:bodyPr wrap="square" anchor="t" lIns="0" rIns="0" tIns="0" bIns="0">
            <a:spAutoFit/>
          </a:bodyPr>
          <a:lstStyle/>
          <a:p>
            <a:r>
              <a:rPr sz="1900" i="0" b="0">
                <a:solidFill>
                  <a:srgbClr val="1A1F36"/>
                </a:solidFill>
                <a:latin typeface="Calibri"/>
              </a:rPr>
              <a:t>Long-term: gingival hyperplasia, hirsutism, coarse facial features and acne.</a:t>
            </a:r>
          </a:p>
        </p:txBody>
      </p:sp>
      <p:sp>
        <p:nvSpPr>
          <p:cNvPr id="13" name="Oval 12"/>
          <p:cNvSpPr/>
          <p:nvPr/>
        </p:nvSpPr>
        <p:spPr>
          <a:xfrm>
            <a:off x="5394959" y="321254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3230837"/>
            <a:ext cx="5653735" cy="774170"/>
          </a:xfrm>
          <a:prstGeom prst="rect">
            <a:avLst/>
          </a:prstGeom>
          <a:noFill/>
        </p:spPr>
        <p:txBody>
          <a:bodyPr wrap="square" anchor="t" lIns="0" rIns="0" tIns="0" bIns="0">
            <a:spAutoFit/>
          </a:bodyPr>
          <a:lstStyle/>
          <a:p>
            <a:r>
              <a:rPr sz="1900" i="0" b="0">
                <a:solidFill>
                  <a:srgbClr val="1A1F36"/>
                </a:solidFill>
                <a:latin typeface="Calibri"/>
              </a:rPr>
              <a:t>Folate deficiency (megaloblastic anaemia) and osteomalacia, from enzyme induction.</a:t>
            </a:r>
          </a:p>
        </p:txBody>
      </p:sp>
      <p:sp>
        <p:nvSpPr>
          <p:cNvPr id="15" name="Oval 14"/>
          <p:cNvSpPr/>
          <p:nvPr/>
        </p:nvSpPr>
        <p:spPr>
          <a:xfrm>
            <a:off x="5394959" y="403244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5989320" y="4050728"/>
            <a:ext cx="5653735" cy="472545"/>
          </a:xfrm>
          <a:prstGeom prst="rect">
            <a:avLst/>
          </a:prstGeom>
          <a:noFill/>
        </p:spPr>
        <p:txBody>
          <a:bodyPr wrap="square" anchor="t" lIns="0" rIns="0" tIns="0" bIns="0">
            <a:spAutoFit/>
          </a:bodyPr>
          <a:lstStyle/>
          <a:p>
            <a:r>
              <a:rPr sz="1900" i="0" b="0">
                <a:solidFill>
                  <a:srgbClr val="1A1F36"/>
                </a:solidFill>
                <a:latin typeface="Calibri"/>
              </a:rPr>
              <a:t>Rash; rarely Stevens–Johnson syndrome.</a:t>
            </a:r>
          </a:p>
        </p:txBody>
      </p:sp>
      <p:sp>
        <p:nvSpPr>
          <p:cNvPr id="17" name="Oval 16"/>
          <p:cNvSpPr/>
          <p:nvPr/>
        </p:nvSpPr>
        <p:spPr>
          <a:xfrm>
            <a:off x="5394959" y="455070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5989320" y="4568994"/>
            <a:ext cx="5653735" cy="774170"/>
          </a:xfrm>
          <a:prstGeom prst="rect">
            <a:avLst/>
          </a:prstGeom>
          <a:noFill/>
        </p:spPr>
        <p:txBody>
          <a:bodyPr wrap="square" anchor="t" lIns="0" rIns="0" tIns="0" bIns="0">
            <a:spAutoFit/>
          </a:bodyPr>
          <a:lstStyle/>
          <a:p>
            <a:r>
              <a:rPr sz="1900" i="0" b="0">
                <a:solidFill>
                  <a:srgbClr val="1A1F36"/>
                </a:solidFill>
                <a:latin typeface="Calibri"/>
              </a:rPr>
              <a:t>IV use: hypotension and arrhythmia if given too fast.</a:t>
            </a:r>
          </a:p>
        </p:txBody>
      </p:sp>
      <p:sp>
        <p:nvSpPr>
          <p:cNvPr id="19" name="Oval 18"/>
          <p:cNvSpPr/>
          <p:nvPr/>
        </p:nvSpPr>
        <p:spPr>
          <a:xfrm>
            <a:off x="5394959" y="537059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20" name="TextBox 19"/>
          <p:cNvSpPr txBox="1"/>
          <p:nvPr/>
        </p:nvSpPr>
        <p:spPr>
          <a:xfrm>
            <a:off x="5989320" y="5388885"/>
            <a:ext cx="5653735" cy="774170"/>
          </a:xfrm>
          <a:prstGeom prst="rect">
            <a:avLst/>
          </a:prstGeom>
          <a:noFill/>
        </p:spPr>
        <p:txBody>
          <a:bodyPr wrap="square" anchor="t" lIns="0" rIns="0" tIns="0" bIns="0">
            <a:spAutoFit/>
          </a:bodyPr>
          <a:lstStyle/>
          <a:p>
            <a:r>
              <a:rPr sz="1900" i="0" b="0">
                <a:solidFill>
                  <a:srgbClr val="1A1F36"/>
                </a:solidFill>
                <a:latin typeface="Calibri"/>
              </a:rPr>
              <a:t>Pregnancy: fetal hydantoin syndrome (face and limb defects).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Valproate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Carbamazepine blocks Na+ channels. It is used for focal seizures and is first choice for </a:t>
            </a:r>
            <a:r>
              <a:rPr sz="1800" i="0" b="1">
                <a:solidFill>
                  <a:srgbClr val="1A1F36"/>
                </a:solidFill>
                <a:latin typeface="Calibri"/>
              </a:rPr>
              <a:t>trigeminal neuralgia</a:t>
            </a:r>
            <a:r>
              <a:rPr sz="1800" i="0" b="0">
                <a:solidFill>
                  <a:srgbClr val="1A1F36"/>
                </a:solidFill>
                <a:latin typeface="Calibri"/>
              </a:rPr>
              <a:t>. It is also a mood stabiliser. It can worsen absence and myoclonic seizures.</a:t>
            </a:r>
          </a:p>
          <a:p>
            <a:pPr>
              <a:spcAft>
                <a:spcPts val="800"/>
              </a:spcAft>
            </a:pPr>
            <a:r>
              <a:rPr sz="1800" i="0" b="0">
                <a:solidFill>
                  <a:srgbClr val="1A1F36"/>
                </a:solidFill>
                <a:latin typeface="Calibri"/>
              </a:rPr>
              <a:t>It induces liver enzymes, including its own metabolism (</a:t>
            </a:r>
            <a:r>
              <a:rPr sz="1800" i="0" b="1">
                <a:solidFill>
                  <a:srgbClr val="1A1F36"/>
                </a:solidFill>
                <a:latin typeface="Calibri"/>
              </a:rPr>
              <a:t>auto-induction</a:t>
            </a:r>
            <a:r>
              <a:rPr sz="1800" i="0" b="0">
                <a:solidFill>
                  <a:srgbClr val="1A1F36"/>
                </a:solidFill>
                <a:latin typeface="Calibri"/>
              </a:rPr>
              <a:t>). So its half-life falls over the first weeks and the dose must be raised slowly.</a:t>
            </a:r>
          </a:p>
          <a:p>
            <a:pPr>
              <a:spcAft>
                <a:spcPts val="800"/>
              </a:spcAft>
            </a:pPr>
            <a:r>
              <a:rPr sz="1800" i="0" b="0">
                <a:solidFill>
                  <a:srgbClr val="1A1F36"/>
                </a:solidFill>
                <a:latin typeface="Calibri"/>
              </a:rPr>
              <a:t>Adverse effects: dizziness, diplopia, ataxia, hyponatraemia (an ADH-like effect), rash, and rarely aplastic anaemia or agranulocytosis. Serious skin reactions (SJS/TEN) are strongly linked to HLA-B1502, which is common in people of Asian descent; test before starting in these patients. Oxcarbazepine is a related drug with fewer interactions, but more hyponatraemia.</a:t>
            </a:r>
          </a:p>
          <a:p>
            <a:pPr>
              <a:spcAft>
                <a:spcPts val="800"/>
              </a:spcAft>
            </a:pPr>
            <a:r>
              <a:rPr sz="1800" i="0" b="0">
                <a:solidFill>
                  <a:srgbClr val="1A1F36"/>
                </a:solidFill>
                <a:latin typeface="Calibri"/>
              </a:rPr>
              <a:t>Valproate is a broad-spectrum drug. It blocks Na+ channels and T-type Ca2+ channels and raises GABA by inhibiting GABA transaminase. It treats all seizure types: tonic–clonic, absence, myoclonic and focal. It is also a mood stabiliser and is used in migraine prevention.</a:t>
            </a:r>
          </a:p>
          <a:p>
            <a:pPr>
              <a:spcAft>
                <a:spcPts val="800"/>
              </a:spcAft>
            </a:pPr>
            <a:r>
              <a:rPr sz="1800" i="0" b="0">
                <a:solidFill>
                  <a:srgbClr val="1A1F36"/>
                </a:solidFill>
                <a:latin typeface="Calibri"/>
              </a:rPr>
              <a:t>Adverse effects: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Valproate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Valproate is an </a:t>
            </a:r>
            <a:r>
              <a:rPr sz="2100" i="0" b="1">
                <a:solidFill>
                  <a:srgbClr val="1A1F36"/>
                </a:solidFill>
                <a:latin typeface="Calibri"/>
              </a:rPr>
              <a:t>enzyme inhibitor</a:t>
            </a:r>
            <a:r>
              <a:rPr sz="2100" i="0" b="0">
                <a:solidFill>
                  <a:srgbClr val="1A1F36"/>
                </a:solidFill>
                <a:latin typeface="Calibri"/>
              </a:rPr>
              <a:t>. It raises the levels of lamotrigine and phenobarbital.</a:t>
            </a:r>
          </a:p>
          <a:p>
            <a:pPr>
              <a:spcAft>
                <a:spcPts val="800"/>
              </a:spcAft>
            </a:pPr>
            <a:r>
              <a:rPr sz="2100" i="0" b="0">
                <a:solidFill>
                  <a:srgbClr val="1A1F36"/>
                </a:solidFill>
                <a:latin typeface="Calibri"/>
              </a:rPr>
              <a:t>Ethosuximide blocks T-type Ca2+ channels in the thalamus. It is used </a:t>
            </a:r>
            <a:r>
              <a:rPr sz="2100" i="0" b="1">
                <a:solidFill>
                  <a:srgbClr val="1A1F36"/>
                </a:solidFill>
                <a:latin typeface="Calibri"/>
              </a:rPr>
              <a:t>only for absence seizures</a:t>
            </a:r>
            <a:r>
              <a:rPr sz="2100" i="0" b="0">
                <a:solidFill>
                  <a:srgbClr val="1A1F36"/>
                </a:solidFill>
                <a:latin typeface="Calibri"/>
              </a:rPr>
              <a:t>, where it is first choice. It does not protect against tonic–clonic seizures. Adverse effects: nausea, abdominal pain, headache and drowsiness.</a:t>
            </a:r>
          </a:p>
          <a:p>
            <a:pPr>
              <a:spcAft>
                <a:spcPts val="800"/>
              </a:spcAft>
            </a:pPr>
            <a:r>
              <a:rPr sz="2100" i="0" b="0">
                <a:solidFill>
                  <a:srgbClr val="1A1F36"/>
                </a:solidFill>
                <a:latin typeface="Calibri"/>
              </a:rPr>
              <a:t>Phenobarbital enhances GABA-A receptors. It is cheap and long-acting but sedating and a strong inducer. It is still used in neonatal seizures and in status epilepticus. Benzodiazepines (diazepam, lorazepam, midazolam, clonazepam) are used mainly for acute seizures and status epilepticus. Tolerance limits their long-term 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Valproate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808863"/>
          </a:xfrm>
          <a:prstGeom prst="rect">
            <a:avLst/>
          </a:prstGeom>
          <a:noFill/>
        </p:spPr>
        <p:txBody>
          <a:bodyPr wrap="square" anchor="t" lIns="0" rIns="0" tIns="0" bIns="0">
            <a:spAutoFit/>
          </a:bodyPr>
          <a:lstStyle/>
          <a:p>
            <a:r>
              <a:rPr sz="2100" i="0" b="0">
                <a:solidFill>
                  <a:srgbClr val="1A1F36"/>
                </a:solidFill>
                <a:latin typeface="Calibri"/>
              </a:rPr>
              <a:t>Common: nausea, tremor, weight gain and hair loss.</a:t>
            </a:r>
          </a:p>
        </p:txBody>
      </p:sp>
      <p:sp>
        <p:nvSpPr>
          <p:cNvPr id="10" name="Oval 9"/>
          <p:cNvSpPr/>
          <p:nvPr/>
        </p:nvSpPr>
        <p:spPr>
          <a:xfrm>
            <a:off x="548640" y="242735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45639"/>
            <a:ext cx="10500055" cy="808863"/>
          </a:xfrm>
          <a:prstGeom prst="rect">
            <a:avLst/>
          </a:prstGeom>
          <a:noFill/>
        </p:spPr>
        <p:txBody>
          <a:bodyPr wrap="square" anchor="t" lIns="0" rIns="0" tIns="0" bIns="0">
            <a:spAutoFit/>
          </a:bodyPr>
          <a:lstStyle/>
          <a:p>
            <a:r>
              <a:rPr sz="2100" i="0" b="0">
                <a:solidFill>
                  <a:srgbClr val="1A1F36"/>
                </a:solidFill>
                <a:latin typeface="Calibri"/>
              </a:rPr>
              <a:t>Blood: thrombocytopenia.</a:t>
            </a:r>
          </a:p>
        </p:txBody>
      </p:sp>
      <p:sp>
        <p:nvSpPr>
          <p:cNvPr id="12" name="Oval 11"/>
          <p:cNvSpPr/>
          <p:nvPr/>
        </p:nvSpPr>
        <p:spPr>
          <a:xfrm>
            <a:off x="548640" y="328193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00222"/>
            <a:ext cx="10500055" cy="1142237"/>
          </a:xfrm>
          <a:prstGeom prst="rect">
            <a:avLst/>
          </a:prstGeom>
          <a:noFill/>
        </p:spPr>
        <p:txBody>
          <a:bodyPr wrap="square" anchor="t" lIns="0" rIns="0" tIns="0" bIns="0">
            <a:spAutoFit/>
          </a:bodyPr>
          <a:lstStyle/>
          <a:p>
            <a:r>
              <a:rPr sz="2100" i="0" b="0">
                <a:solidFill>
                  <a:srgbClr val="1A1F36"/>
                </a:solidFill>
                <a:latin typeface="Calibri"/>
              </a:rPr>
              <a:t>Rare but serious: liver failure (highest in children under 2 on several drugs) and pancreatitis.</a:t>
            </a:r>
          </a:p>
        </p:txBody>
      </p:sp>
      <p:sp>
        <p:nvSpPr>
          <p:cNvPr id="14" name="Oval 13"/>
          <p:cNvSpPr/>
          <p:nvPr/>
        </p:nvSpPr>
        <p:spPr>
          <a:xfrm>
            <a:off x="548640" y="446989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488180"/>
            <a:ext cx="10500055" cy="1475612"/>
          </a:xfrm>
          <a:prstGeom prst="rect">
            <a:avLst/>
          </a:prstGeom>
          <a:noFill/>
        </p:spPr>
        <p:txBody>
          <a:bodyPr wrap="square" anchor="t" lIns="0" rIns="0" tIns="0" bIns="0">
            <a:spAutoFit/>
          </a:bodyPr>
          <a:lstStyle/>
          <a:p>
            <a:r>
              <a:rPr sz="2100" i="0" b="1">
                <a:solidFill>
                  <a:srgbClr val="1A1F36"/>
                </a:solidFill>
                <a:latin typeface="Calibri"/>
              </a:rPr>
              <a:t>Teratogenicity:</a:t>
            </a:r>
            <a:r>
              <a:rPr sz="2100" i="0" b="0">
                <a:solidFill>
                  <a:srgbClr val="1A1F36"/>
                </a:solidFill>
                <a:latin typeface="Calibri"/>
              </a:rPr>
              <a:t> the highest of all antiseizure drugs. It causes neural tube defects and other malformations, and lowers IQ and raises autism risk in children exposed in the womb.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Older Drugs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1800" i="0" b="0">
                <a:solidFill>
                  <a:srgbClr val="1A1F36"/>
                </a:solidFill>
                <a:latin typeface="Calibri"/>
              </a:rPr>
              <a:t>Valproate must not be used in women and girls who could become pregnant unless no other drug works and a </a:t>
            </a:r>
            <a:r>
              <a:rPr sz="1800" i="0" b="1">
                <a:solidFill>
                  <a:srgbClr val="1A1F36"/>
                </a:solidFill>
                <a:latin typeface="Calibri"/>
              </a:rPr>
              <a:t>pregnancy-prevention programme</a:t>
            </a:r>
            <a:r>
              <a:rPr sz="1800" i="0" b="0">
                <a:solidFill>
                  <a:srgbClr val="1A1F36"/>
                </a:solidFill>
                <a:latin typeface="Calibri"/>
              </a:rPr>
              <a:t> is in place. This includes effective contraception and a yearly specialist review. Check liver function and platelets before starting.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Newer Drugs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Newer drugs cause fewer interactions and are often better tolerated. They are not free of serious adverse effects.</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1171448"/>
          </a:xfrm>
          <a:prstGeom prst="rect">
            <a:avLst/>
          </a:prstGeom>
          <a:noFill/>
        </p:spPr>
        <p:txBody>
          <a:bodyPr wrap="square" anchor="t" lIns="0" rIns="0" tIns="0" bIns="0">
            <a:spAutoFit/>
          </a:bodyPr>
          <a:lstStyle/>
          <a:p>
            <a:r>
              <a:rPr sz="1600" i="0" b="1">
                <a:solidFill>
                  <a:srgbClr val="1A1F36"/>
                </a:solidFill>
                <a:latin typeface="Calibri"/>
              </a:rPr>
              <a:t>Lamotrigine</a:t>
            </a:r>
            <a:r>
              <a:rPr sz="1600" i="0" b="0">
                <a:solidFill>
                  <a:srgbClr val="1A1F36"/>
                </a:solidFill>
                <a:latin typeface="Calibri"/>
              </a:rPr>
              <a:t> blocks Na+ channels and reduces glutamate release. It treats focal and generalised seizures and is a first-choice drug in women who could become pregnant. Its main risk is </a:t>
            </a:r>
            <a:r>
              <a:rPr sz="1600" i="0" b="1">
                <a:solidFill>
                  <a:srgbClr val="1A1F36"/>
                </a:solidFill>
                <a:latin typeface="Calibri"/>
              </a:rPr>
              <a:t>rash</a:t>
            </a:r>
            <a:r>
              <a:rPr sz="1600" i="0" b="0">
                <a:solidFill>
                  <a:srgbClr val="1A1F36"/>
                </a:solidFill>
                <a:latin typeface="Calibri"/>
              </a:rPr>
              <a:t>, including Stevens–Johnson syndrome. The risk is highest with fast titration and with valproate, which doubles lamotrigine levels. Increase the dose slowly. Oestrogen-containing pills lower lamotrigine levels.</a:t>
            </a:r>
          </a:p>
        </p:txBody>
      </p:sp>
      <p:sp>
        <p:nvSpPr>
          <p:cNvPr id="11" name="Oval 10"/>
          <p:cNvSpPr/>
          <p:nvPr/>
        </p:nvSpPr>
        <p:spPr>
          <a:xfrm>
            <a:off x="548640" y="37683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786632"/>
            <a:ext cx="10500055" cy="917448"/>
          </a:xfrm>
          <a:prstGeom prst="rect">
            <a:avLst/>
          </a:prstGeom>
          <a:noFill/>
        </p:spPr>
        <p:txBody>
          <a:bodyPr wrap="square" anchor="t" lIns="0" rIns="0" tIns="0" bIns="0">
            <a:spAutoFit/>
          </a:bodyPr>
          <a:lstStyle/>
          <a:p>
            <a:r>
              <a:rPr sz="1600" i="0" b="1">
                <a:solidFill>
                  <a:srgbClr val="1A1F36"/>
                </a:solidFill>
                <a:latin typeface="Calibri"/>
              </a:rPr>
              <a:t>Levetiracetam</a:t>
            </a:r>
            <a:r>
              <a:rPr sz="1600" i="0" b="0">
                <a:solidFill>
                  <a:srgbClr val="1A1F36"/>
                </a:solidFill>
                <a:latin typeface="Calibri"/>
              </a:rPr>
              <a:t> binds SV2A and reduces transmitter release. It treats focal and generalised seizures. It has few interactions and is one of the safest options in pregnancy. It can cause irritability, low mood and, rarely, suicidal thoughts.</a:t>
            </a:r>
          </a:p>
        </p:txBody>
      </p:sp>
      <p:sp>
        <p:nvSpPr>
          <p:cNvPr id="13" name="Oval 12"/>
          <p:cNvSpPr/>
          <p:nvPr/>
        </p:nvSpPr>
        <p:spPr>
          <a:xfrm>
            <a:off x="548640" y="47315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749800"/>
            <a:ext cx="10500055" cy="917448"/>
          </a:xfrm>
          <a:prstGeom prst="rect">
            <a:avLst/>
          </a:prstGeom>
          <a:noFill/>
        </p:spPr>
        <p:txBody>
          <a:bodyPr wrap="square" anchor="t" lIns="0" rIns="0" tIns="0" bIns="0">
            <a:spAutoFit/>
          </a:bodyPr>
          <a:lstStyle/>
          <a:p>
            <a:r>
              <a:rPr sz="1600" i="0" b="1">
                <a:solidFill>
                  <a:srgbClr val="1A1F36"/>
                </a:solidFill>
                <a:latin typeface="Calibri"/>
              </a:rPr>
              <a:t>Topiramate</a:t>
            </a:r>
            <a:r>
              <a:rPr sz="1600" i="0" b="0">
                <a:solidFill>
                  <a:srgbClr val="1A1F36"/>
                </a:solidFill>
                <a:latin typeface="Calibri"/>
              </a:rPr>
              <a:t> blocks Na+ channels, enhances GABA and blocks AMPA/kainate receptors. It is also used to prevent migraine. Adverse effects: weight loss, word-finding difficulty, kidney stones, paraesthesia and, rarely, acute angle-closure glaucoma. It is teratogenic (cleft lip and palate).</a:t>
            </a:r>
          </a:p>
        </p:txBody>
      </p:sp>
      <p:sp>
        <p:nvSpPr>
          <p:cNvPr id="15" name="Oval 14"/>
          <p:cNvSpPr/>
          <p:nvPr/>
        </p:nvSpPr>
        <p:spPr>
          <a:xfrm>
            <a:off x="548640" y="569468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5712968"/>
            <a:ext cx="10500055" cy="1171448"/>
          </a:xfrm>
          <a:prstGeom prst="rect">
            <a:avLst/>
          </a:prstGeom>
          <a:noFill/>
        </p:spPr>
        <p:txBody>
          <a:bodyPr wrap="square" anchor="t" lIns="0" rIns="0" tIns="0" bIns="0">
            <a:spAutoFit/>
          </a:bodyPr>
          <a:lstStyle/>
          <a:p>
            <a:r>
              <a:rPr sz="1600" i="0" b="1">
                <a:solidFill>
                  <a:srgbClr val="1A1F36"/>
                </a:solidFill>
                <a:latin typeface="Calibri"/>
              </a:rPr>
              <a:t>Gabapentin and pregabalin</a:t>
            </a:r>
            <a:r>
              <a:rPr sz="1600" i="0" b="0">
                <a:solidFill>
                  <a:srgbClr val="1A1F36"/>
                </a:solidFill>
                <a:latin typeface="Calibri"/>
              </a:rPr>
              <a:t> bind the α2δ subunit of voltage-gated Ca2+ channels and reduce glutamate release. They are used mainly for neuropathic pain and as add-on drugs for focal seizures. They cause sedation and dizziness. They can be misused, pregabalin more than gabapentin. With opioids they increase the risk of breathing depression.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Comparing the Main Drugs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1323765"/>
                <a:gridCol w="2269312"/>
                <a:gridCol w="4223442"/>
                <a:gridCol w="3277895"/>
              </a:tblGrid>
              <a:tr h="577215">
                <a:tc>
                  <a:txBody>
                    <a:bodyPr/>
                    <a:lstStyle/>
                    <a:p>
                      <a:r>
                        <a:rPr sz="1400" i="0" b="1">
                          <a:solidFill>
                            <a:srgbClr val="FFFFFF"/>
                          </a:solidFill>
                          <a:latin typeface="Calibri"/>
                        </a:rPr>
                        <a:t>Drug</a:t>
                      </a:r>
                    </a:p>
                  </a:txBody>
                  <a:tcPr marL="109728" marR="109728" marT="45720" marB="45720" anchor="ctr">
                    <a:solidFill>
                      <a:srgbClr val="1B2A8C"/>
                    </a:solidFill>
                  </a:tcPr>
                </a:tc>
                <a:tc>
                  <a:txBody>
                    <a:bodyPr/>
                    <a:lstStyle/>
                    <a:p>
                      <a:r>
                        <a:rPr sz="1400" i="0" b="1">
                          <a:solidFill>
                            <a:srgbClr val="FFFFFF"/>
                          </a:solidFill>
                          <a:latin typeface="Calibri"/>
                        </a:rPr>
                        <a:t>Enzyme effect</a:t>
                      </a:r>
                    </a:p>
                  </a:txBody>
                  <a:tcPr marL="109728" marR="109728" marT="45720" marB="45720" anchor="ctr">
                    <a:solidFill>
                      <a:srgbClr val="1B2A8C"/>
                    </a:solidFill>
                  </a:tcPr>
                </a:tc>
                <a:tc>
                  <a:txBody>
                    <a:bodyPr/>
                    <a:lstStyle/>
                    <a:p>
                      <a:r>
                        <a:rPr sz="1400" i="0" b="1">
                          <a:solidFill>
                            <a:srgbClr val="FFFFFF"/>
                          </a:solidFill>
                          <a:latin typeface="Calibri"/>
                        </a:rPr>
                        <a:t>Key adverse effects</a:t>
                      </a:r>
                    </a:p>
                  </a:txBody>
                  <a:tcPr marL="109728" marR="109728" marT="45720" marB="45720" anchor="ctr">
                    <a:solidFill>
                      <a:srgbClr val="1B2A8C"/>
                    </a:solidFill>
                  </a:tcPr>
                </a:tc>
                <a:tc>
                  <a:txBody>
                    <a:bodyPr/>
                    <a:lstStyle/>
                    <a:p>
                      <a:r>
                        <a:rPr sz="1400" i="0" b="1">
                          <a:solidFill>
                            <a:srgbClr val="FFFFFF"/>
                          </a:solidFill>
                          <a:latin typeface="Calibri"/>
                        </a:rPr>
                        <a:t>Pregnancy</a:t>
                      </a:r>
                    </a:p>
                  </a:txBody>
                  <a:tcPr marL="109728" marR="109728" marT="45720" marB="45720" anchor="ctr">
                    <a:solidFill>
                      <a:srgbClr val="1B2A8C"/>
                    </a:solidFill>
                  </a:tcPr>
                </a:tc>
              </a:tr>
              <a:tr h="577215">
                <a:tc>
                  <a:txBody>
                    <a:bodyPr/>
                    <a:lstStyle/>
                    <a:p>
                      <a:r>
                        <a:rPr sz="1500" i="0" b="1">
                          <a:solidFill>
                            <a:srgbClr val="1A1F36"/>
                          </a:solidFill>
                          <a:latin typeface="Calibri"/>
                        </a:rPr>
                        <a:t>Phenytoin</a:t>
                      </a:r>
                    </a:p>
                  </a:txBody>
                  <a:tcPr marL="109728" marR="109728" marT="45720" marB="45720" anchor="ctr">
                    <a:solidFill>
                      <a:srgbClr val="FFFFFF"/>
                    </a:solidFill>
                  </a:tcPr>
                </a:tc>
                <a:tc>
                  <a:txBody>
                    <a:bodyPr/>
                    <a:lstStyle/>
                    <a:p>
                      <a:r>
                        <a:rPr sz="1500" i="0" b="0">
                          <a:solidFill>
                            <a:srgbClr val="1A1F36"/>
                          </a:solidFill>
                          <a:latin typeface="Calibri"/>
                        </a:rPr>
                        <a:t>Inducer</a:t>
                      </a:r>
                    </a:p>
                  </a:txBody>
                  <a:tcPr marL="109728" marR="109728" marT="45720" marB="45720" anchor="ctr">
                    <a:solidFill>
                      <a:srgbClr val="FFFFFF"/>
                    </a:solidFill>
                  </a:tcPr>
                </a:tc>
                <a:tc>
                  <a:txBody>
                    <a:bodyPr/>
                    <a:lstStyle/>
                    <a:p>
                      <a:r>
                        <a:rPr sz="1500" i="0" b="0">
                          <a:solidFill>
                            <a:srgbClr val="1A1F36"/>
                          </a:solidFill>
                          <a:latin typeface="Calibri"/>
                        </a:rPr>
                        <a:t>Gum hyperplasia, hirsutism, ataxia, non-linear kinetics</a:t>
                      </a:r>
                    </a:p>
                  </a:txBody>
                  <a:tcPr marL="109728" marR="109728" marT="45720" marB="45720" anchor="ctr">
                    <a:solidFill>
                      <a:srgbClr val="FFFFFF"/>
                    </a:solidFill>
                  </a:tcPr>
                </a:tc>
                <a:tc>
                  <a:txBody>
                    <a:bodyPr/>
                    <a:lstStyle/>
                    <a:p>
                      <a:r>
                        <a:rPr sz="1500" i="0" b="0">
                          <a:solidFill>
                            <a:srgbClr val="1A1F36"/>
                          </a:solidFill>
                          <a:latin typeface="Calibri"/>
                        </a:rPr>
                        <a:t>Fetal hydantoin syndrome</a:t>
                      </a:r>
                    </a:p>
                  </a:txBody>
                  <a:tcPr marL="109728" marR="109728" marT="45720" marB="45720" anchor="ctr">
                    <a:solidFill>
                      <a:srgbClr val="FFFFFF"/>
                    </a:solidFill>
                  </a:tcPr>
                </a:tc>
              </a:tr>
              <a:tr h="577215">
                <a:tc>
                  <a:txBody>
                    <a:bodyPr/>
                    <a:lstStyle/>
                    <a:p>
                      <a:r>
                        <a:rPr sz="1500" i="0" b="1">
                          <a:solidFill>
                            <a:srgbClr val="1A1F36"/>
                          </a:solidFill>
                          <a:latin typeface="Calibri"/>
                        </a:rPr>
                        <a:t>Carbamazepine</a:t>
                      </a:r>
                    </a:p>
                  </a:txBody>
                  <a:tcPr marL="109728" marR="109728" marT="45720" marB="45720" anchor="ctr">
                    <a:solidFill>
                      <a:srgbClr val="F1F2F8"/>
                    </a:solidFill>
                  </a:tcPr>
                </a:tc>
                <a:tc>
                  <a:txBody>
                    <a:bodyPr/>
                    <a:lstStyle/>
                    <a:p>
                      <a:r>
                        <a:rPr sz="1500" i="0" b="0">
                          <a:solidFill>
                            <a:srgbClr val="1A1F36"/>
                          </a:solidFill>
                          <a:latin typeface="Calibri"/>
                        </a:rPr>
                        <a:t>Inducer (and auto-induction)</a:t>
                      </a:r>
                    </a:p>
                  </a:txBody>
                  <a:tcPr marL="109728" marR="109728" marT="45720" marB="45720" anchor="ctr">
                    <a:solidFill>
                      <a:srgbClr val="F1F2F8"/>
                    </a:solidFill>
                  </a:tcPr>
                </a:tc>
                <a:tc>
                  <a:txBody>
                    <a:bodyPr/>
                    <a:lstStyle/>
                    <a:p>
                      <a:r>
                        <a:rPr sz="1500" i="0" b="0">
                          <a:solidFill>
                            <a:srgbClr val="1A1F36"/>
                          </a:solidFill>
                          <a:latin typeface="Calibri"/>
                        </a:rPr>
                        <a:t>Hyponatraemia, rash (HLA-B1502), blood disorders</a:t>
                      </a:r>
                    </a:p>
                  </a:txBody>
                  <a:tcPr marL="109728" marR="109728" marT="45720" marB="45720" anchor="ctr">
                    <a:solidFill>
                      <a:srgbClr val="F1F2F8"/>
                    </a:solidFill>
                  </a:tcPr>
                </a:tc>
                <a:tc>
                  <a:txBody>
                    <a:bodyPr/>
                    <a:lstStyle/>
                    <a:p>
                      <a:r>
                        <a:rPr sz="1500" i="0" b="0">
                          <a:solidFill>
                            <a:srgbClr val="1A1F36"/>
                          </a:solidFill>
                          <a:latin typeface="Calibri"/>
                        </a:rPr>
                        <a:t>Neural tube defects</a:t>
                      </a:r>
                    </a:p>
                  </a:txBody>
                  <a:tcPr marL="109728" marR="109728" marT="45720" marB="45720" anchor="ctr">
                    <a:solidFill>
                      <a:srgbClr val="F1F2F8"/>
                    </a:solidFill>
                  </a:tcPr>
                </a:tc>
              </a:tr>
              <a:tr h="577215">
                <a:tc>
                  <a:txBody>
                    <a:bodyPr/>
                    <a:lstStyle/>
                    <a:p>
                      <a:r>
                        <a:rPr sz="1500" i="0" b="1">
                          <a:solidFill>
                            <a:srgbClr val="1A1F36"/>
                          </a:solidFill>
                          <a:latin typeface="Calibri"/>
                        </a:rPr>
                        <a:t>Phenobarbital</a:t>
                      </a:r>
                    </a:p>
                  </a:txBody>
                  <a:tcPr marL="109728" marR="109728" marT="45720" marB="45720" anchor="ctr">
                    <a:solidFill>
                      <a:srgbClr val="FFFFFF"/>
                    </a:solidFill>
                  </a:tcPr>
                </a:tc>
                <a:tc>
                  <a:txBody>
                    <a:bodyPr/>
                    <a:lstStyle/>
                    <a:p>
                      <a:r>
                        <a:rPr sz="1500" i="0" b="0">
                          <a:solidFill>
                            <a:srgbClr val="1A1F36"/>
                          </a:solidFill>
                          <a:latin typeface="Calibri"/>
                        </a:rPr>
                        <a:t>Inducer</a:t>
                      </a:r>
                    </a:p>
                  </a:txBody>
                  <a:tcPr marL="109728" marR="109728" marT="45720" marB="45720" anchor="ctr">
                    <a:solidFill>
                      <a:srgbClr val="FFFFFF"/>
                    </a:solidFill>
                  </a:tcPr>
                </a:tc>
                <a:tc>
                  <a:txBody>
                    <a:bodyPr/>
                    <a:lstStyle/>
                    <a:p>
                      <a:r>
                        <a:rPr sz="1500" i="0" b="0">
                          <a:solidFill>
                            <a:srgbClr val="1A1F36"/>
                          </a:solidFill>
                          <a:latin typeface="Calibri"/>
                        </a:rPr>
                        <a:t>Sedation, dependence</a:t>
                      </a:r>
                    </a:p>
                  </a:txBody>
                  <a:tcPr marL="109728" marR="109728" marT="45720" marB="45720" anchor="ctr">
                    <a:solidFill>
                      <a:srgbClr val="FFFFFF"/>
                    </a:solidFill>
                  </a:tcPr>
                </a:tc>
                <a:tc>
                  <a:txBody>
                    <a:bodyPr/>
                    <a:lstStyle/>
                    <a:p>
                      <a:r>
                        <a:rPr sz="1500" i="0" b="0">
                          <a:solidFill>
                            <a:srgbClr val="1A1F36"/>
                          </a:solidFill>
                          <a:latin typeface="Calibri"/>
                        </a:rPr>
                        <a:t>Malformations</a:t>
                      </a:r>
                    </a:p>
                  </a:txBody>
                  <a:tcPr marL="109728" marR="109728" marT="45720" marB="45720" anchor="ctr">
                    <a:solidFill>
                      <a:srgbClr val="FFFFFF"/>
                    </a:solidFill>
                  </a:tcPr>
                </a:tc>
              </a:tr>
              <a:tr h="577215">
                <a:tc>
                  <a:txBody>
                    <a:bodyPr/>
                    <a:lstStyle/>
                    <a:p>
                      <a:r>
                        <a:rPr sz="1500" i="0" b="1">
                          <a:solidFill>
                            <a:srgbClr val="1A1F36"/>
                          </a:solidFill>
                          <a:latin typeface="Calibri"/>
                        </a:rPr>
                        <a:t>Valproate</a:t>
                      </a:r>
                    </a:p>
                  </a:txBody>
                  <a:tcPr marL="109728" marR="109728" marT="45720" marB="45720" anchor="ctr">
                    <a:solidFill>
                      <a:srgbClr val="F1F2F8"/>
                    </a:solidFill>
                  </a:tcPr>
                </a:tc>
                <a:tc>
                  <a:txBody>
                    <a:bodyPr/>
                    <a:lstStyle/>
                    <a:p>
                      <a:r>
                        <a:rPr sz="1500" i="0" b="1">
                          <a:solidFill>
                            <a:srgbClr val="1A1F36"/>
                          </a:solidFill>
                          <a:latin typeface="Calibri"/>
                        </a:rPr>
                        <a:t>Inhibitor</a:t>
                      </a:r>
                    </a:p>
                  </a:txBody>
                  <a:tcPr marL="109728" marR="109728" marT="45720" marB="45720" anchor="ctr">
                    <a:solidFill>
                      <a:srgbClr val="F1F2F8"/>
                    </a:solidFill>
                  </a:tcPr>
                </a:tc>
                <a:tc>
                  <a:txBody>
                    <a:bodyPr/>
                    <a:lstStyle/>
                    <a:p>
                      <a:r>
                        <a:rPr sz="1500" i="0" b="0">
                          <a:solidFill>
                            <a:srgbClr val="1A1F36"/>
                          </a:solidFill>
                          <a:latin typeface="Calibri"/>
                        </a:rPr>
                        <a:t>Weight gain, tremor, hair loss, liver failure, pancreatitis</a:t>
                      </a:r>
                    </a:p>
                  </a:txBody>
                  <a:tcPr marL="109728" marR="109728" marT="45720" marB="45720" anchor="ctr">
                    <a:solidFill>
                      <a:srgbClr val="F1F2F8"/>
                    </a:solidFill>
                  </a:tcPr>
                </a:tc>
                <a:tc>
                  <a:txBody>
                    <a:bodyPr/>
                    <a:lstStyle/>
                    <a:p>
                      <a:r>
                        <a:rPr sz="1500" i="0" b="0">
                          <a:solidFill>
                            <a:srgbClr val="1A1F36"/>
                          </a:solidFill>
                          <a:latin typeface="Calibri"/>
                        </a:rPr>
                        <a:t>Highest risk; pregnancy-prevention programme</a:t>
                      </a:r>
                    </a:p>
                  </a:txBody>
                  <a:tcPr marL="109728" marR="109728" marT="45720" marB="45720" anchor="ctr">
                    <a:solidFill>
                      <a:srgbClr val="F1F2F8"/>
                    </a:solidFill>
                  </a:tcPr>
                </a:tc>
              </a:tr>
              <a:tr h="577215">
                <a:tc>
                  <a:txBody>
                    <a:bodyPr/>
                    <a:lstStyle/>
                    <a:p>
                      <a:r>
                        <a:rPr sz="1500" i="0" b="1">
                          <a:solidFill>
                            <a:srgbClr val="1A1F36"/>
                          </a:solidFill>
                          <a:latin typeface="Calibri"/>
                        </a:rPr>
                        <a:t>Ethosuximide</a:t>
                      </a:r>
                    </a:p>
                  </a:txBody>
                  <a:tcPr marL="109728" marR="109728" marT="45720" marB="45720" anchor="ctr">
                    <a:solidFill>
                      <a:srgbClr val="FFFFFF"/>
                    </a:solidFill>
                  </a:tcPr>
                </a:tc>
                <a:tc>
                  <a:txBody>
                    <a:bodyPr/>
                    <a:lstStyle/>
                    <a:p>
                      <a:r>
                        <a:rPr sz="1500" i="0" b="0">
                          <a:solidFill>
                            <a:srgbClr val="1A1F36"/>
                          </a:solidFill>
                          <a:latin typeface="Calibri"/>
                        </a:rPr>
                        <a:t>Neither (important)</a:t>
                      </a:r>
                    </a:p>
                  </a:txBody>
                  <a:tcPr marL="109728" marR="109728" marT="45720" marB="45720" anchor="ctr">
                    <a:solidFill>
                      <a:srgbClr val="FFFFFF"/>
                    </a:solidFill>
                  </a:tcPr>
                </a:tc>
                <a:tc>
                  <a:txBody>
                    <a:bodyPr/>
                    <a:lstStyle/>
                    <a:p>
                      <a:r>
                        <a:rPr sz="1500" i="0" b="0">
                          <a:solidFill>
                            <a:srgbClr val="1A1F36"/>
                          </a:solidFill>
                          <a:latin typeface="Calibri"/>
                        </a:rPr>
                        <a:t>GI upset</a:t>
                      </a:r>
                    </a:p>
                  </a:txBody>
                  <a:tcPr marL="109728" marR="109728" marT="45720" marB="45720" anchor="ctr">
                    <a:solidFill>
                      <a:srgbClr val="FFFFFF"/>
                    </a:solidFill>
                  </a:tcPr>
                </a:tc>
                <a:tc>
                  <a:txBody>
                    <a:bodyPr/>
                    <a:lstStyle/>
                    <a:p>
                      <a:r>
                        <a:rPr sz="1500" i="0" b="0">
                          <a:solidFill>
                            <a:srgbClr val="1A1F36"/>
                          </a:solidFill>
                          <a:latin typeface="Calibri"/>
                        </a:rPr>
                        <a:t>Limited data</a:t>
                      </a:r>
                    </a:p>
                  </a:txBody>
                  <a:tcPr marL="109728" marR="109728" marT="45720" marB="45720" anchor="ctr">
                    <a:solidFill>
                      <a:srgbClr val="FFFFFF"/>
                    </a:solidFill>
                  </a:tcPr>
                </a:tc>
              </a:tr>
              <a:tr h="577215">
                <a:tc>
                  <a:txBody>
                    <a:bodyPr/>
                    <a:lstStyle/>
                    <a:p>
                      <a:r>
                        <a:rPr sz="1500" i="0" b="1">
                          <a:solidFill>
                            <a:srgbClr val="1A1F36"/>
                          </a:solidFill>
                          <a:latin typeface="Calibri"/>
                        </a:rPr>
                        <a:t>Lamotrigine</a:t>
                      </a:r>
                    </a:p>
                  </a:txBody>
                  <a:tcPr marL="109728" marR="109728" marT="45720" marB="45720" anchor="ctr">
                    <a:solidFill>
                      <a:srgbClr val="F1F2F8"/>
                    </a:solidFill>
                  </a:tcPr>
                </a:tc>
                <a:tc>
                  <a:txBody>
                    <a:bodyPr/>
                    <a:lstStyle/>
                    <a:p>
                      <a:r>
                        <a:rPr sz="1500" i="0" b="0">
                          <a:solidFill>
                            <a:srgbClr val="1A1F36"/>
                          </a:solidFill>
                          <a:latin typeface="Calibri"/>
                        </a:rPr>
                        <a:t>Neither (important)</a:t>
                      </a:r>
                    </a:p>
                  </a:txBody>
                  <a:tcPr marL="109728" marR="109728" marT="45720" marB="45720" anchor="ctr">
                    <a:solidFill>
                      <a:srgbClr val="F1F2F8"/>
                    </a:solidFill>
                  </a:tcPr>
                </a:tc>
                <a:tc>
                  <a:txBody>
                    <a:bodyPr/>
                    <a:lstStyle/>
                    <a:p>
                      <a:r>
                        <a:rPr sz="1500" i="0" b="0">
                          <a:solidFill>
                            <a:srgbClr val="1A1F36"/>
                          </a:solidFill>
                          <a:latin typeface="Calibri"/>
                        </a:rPr>
                        <a:t>Rash, SJS</a:t>
                      </a:r>
                    </a:p>
                  </a:txBody>
                  <a:tcPr marL="109728" marR="109728" marT="45720" marB="45720" anchor="ctr">
                    <a:solidFill>
                      <a:srgbClr val="F1F2F8"/>
                    </a:solidFill>
                  </a:tcPr>
                </a:tc>
                <a:tc>
                  <a:txBody>
                    <a:bodyPr/>
                    <a:lstStyle/>
                    <a:p>
                      <a:r>
                        <a:rPr sz="1500" i="0" b="0">
                          <a:solidFill>
                            <a:srgbClr val="1A1F36"/>
                          </a:solidFill>
                          <a:latin typeface="Calibri"/>
                        </a:rPr>
                        <a:t>Among the safest</a:t>
                      </a:r>
                    </a:p>
                  </a:txBody>
                  <a:tcPr marL="109728" marR="109728" marT="45720" marB="45720" anchor="ctr">
                    <a:solidFill>
                      <a:srgbClr val="F1F2F8"/>
                    </a:solidFill>
                  </a:tcPr>
                </a:tc>
              </a:tr>
              <a:tr h="577215">
                <a:tc>
                  <a:txBody>
                    <a:bodyPr/>
                    <a:lstStyle/>
                    <a:p>
                      <a:r>
                        <a:rPr sz="1500" i="0" b="1">
                          <a:solidFill>
                            <a:srgbClr val="1A1F36"/>
                          </a:solidFill>
                          <a:latin typeface="Calibri"/>
                        </a:rPr>
                        <a:t>Levetiracetam</a:t>
                      </a:r>
                    </a:p>
                  </a:txBody>
                  <a:tcPr marL="109728" marR="109728" marT="45720" marB="45720" anchor="ctr">
                    <a:solidFill>
                      <a:srgbClr val="FFFFFF"/>
                    </a:solidFill>
                  </a:tcPr>
                </a:tc>
                <a:tc>
                  <a:txBody>
                    <a:bodyPr/>
                    <a:lstStyle/>
                    <a:p>
                      <a:r>
                        <a:rPr sz="1500" i="0" b="0">
                          <a:solidFill>
                            <a:srgbClr val="1A1F36"/>
                          </a:solidFill>
                          <a:latin typeface="Calibri"/>
                        </a:rPr>
                        <a:t>None</a:t>
                      </a:r>
                    </a:p>
                  </a:txBody>
                  <a:tcPr marL="109728" marR="109728" marT="45720" marB="45720" anchor="ctr">
                    <a:solidFill>
                      <a:srgbClr val="FFFFFF"/>
                    </a:solidFill>
                  </a:tcPr>
                </a:tc>
                <a:tc>
                  <a:txBody>
                    <a:bodyPr/>
                    <a:lstStyle/>
                    <a:p>
                      <a:r>
                        <a:rPr sz="1500" i="0" b="0">
                          <a:solidFill>
                            <a:srgbClr val="1A1F36"/>
                          </a:solidFill>
                          <a:latin typeface="Calibri"/>
                        </a:rPr>
                        <a:t>Irritability, low mood</a:t>
                      </a:r>
                    </a:p>
                  </a:txBody>
                  <a:tcPr marL="109728" marR="109728" marT="45720" marB="45720" anchor="ctr">
                    <a:solidFill>
                      <a:srgbClr val="FFFFFF"/>
                    </a:solidFill>
                  </a:tcPr>
                </a:tc>
                <a:tc>
                  <a:txBody>
                    <a:bodyPr/>
                    <a:lstStyle/>
                    <a:p>
                      <a:r>
                        <a:rPr sz="1500" i="0" b="0">
                          <a:solidFill>
                            <a:srgbClr val="1A1F36"/>
                          </a:solidFill>
                          <a:latin typeface="Calibri"/>
                        </a:rPr>
                        <a:t>Among the safest</a:t>
                      </a:r>
                    </a:p>
                  </a:txBody>
                  <a:tcPr marL="109728" marR="109728" marT="45720" marB="45720"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Comparing the Main Drugs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2" cy="1280160"/>
        </p:xfrm>
        <a:graphic>
          <a:graphicData uri="http://schemas.openxmlformats.org/drawingml/2006/table">
            <a:tbl>
              <a:tblPr firstRow="0" bandRow="0">
                <a:tableStyleId>{5C22544A-7EE6-4342-B048-85BDC9FD1C3A}</a:tableStyleId>
              </a:tblPr>
              <a:tblGrid>
                <a:gridCol w="1623572"/>
                <a:gridCol w="2976550"/>
                <a:gridCol w="3968733"/>
                <a:gridCol w="2525557"/>
              </a:tblGrid>
              <a:tr h="640080">
                <a:tc>
                  <a:txBody>
                    <a:bodyPr/>
                    <a:lstStyle/>
                    <a:p>
                      <a:r>
                        <a:rPr sz="1900" i="0" b="1">
                          <a:solidFill>
                            <a:srgbClr val="FFFFFF"/>
                          </a:solidFill>
                          <a:latin typeface="Calibri"/>
                        </a:rPr>
                        <a:t>Drug</a:t>
                      </a:r>
                    </a:p>
                  </a:txBody>
                  <a:tcPr marL="109728" marR="109728" marT="45720" marB="45720" anchor="ctr">
                    <a:solidFill>
                      <a:srgbClr val="1B2A8C"/>
                    </a:solidFill>
                  </a:tcPr>
                </a:tc>
                <a:tc>
                  <a:txBody>
                    <a:bodyPr/>
                    <a:lstStyle/>
                    <a:p>
                      <a:r>
                        <a:rPr sz="1900" i="0" b="1">
                          <a:solidFill>
                            <a:srgbClr val="FFFFFF"/>
                          </a:solidFill>
                          <a:latin typeface="Calibri"/>
                        </a:rPr>
                        <a:t>Enzyme effect</a:t>
                      </a:r>
                    </a:p>
                  </a:txBody>
                  <a:tcPr marL="109728" marR="109728" marT="45720" marB="45720" anchor="ctr">
                    <a:solidFill>
                      <a:srgbClr val="1B2A8C"/>
                    </a:solidFill>
                  </a:tcPr>
                </a:tc>
                <a:tc>
                  <a:txBody>
                    <a:bodyPr/>
                    <a:lstStyle/>
                    <a:p>
                      <a:r>
                        <a:rPr sz="1900" i="0" b="1">
                          <a:solidFill>
                            <a:srgbClr val="FFFFFF"/>
                          </a:solidFill>
                          <a:latin typeface="Calibri"/>
                        </a:rPr>
                        <a:t>Key adverse effects</a:t>
                      </a:r>
                    </a:p>
                  </a:txBody>
                  <a:tcPr marL="109728" marR="109728" marT="45720" marB="45720" anchor="ctr">
                    <a:solidFill>
                      <a:srgbClr val="1B2A8C"/>
                    </a:solidFill>
                  </a:tcPr>
                </a:tc>
                <a:tc>
                  <a:txBody>
                    <a:bodyPr/>
                    <a:lstStyle/>
                    <a:p>
                      <a:r>
                        <a:rPr sz="1900" i="0" b="1">
                          <a:solidFill>
                            <a:srgbClr val="FFFFFF"/>
                          </a:solidFill>
                          <a:latin typeface="Calibri"/>
                        </a:rPr>
                        <a:t>Pregnancy</a:t>
                      </a:r>
                    </a:p>
                  </a:txBody>
                  <a:tcPr marL="109728" marR="109728" marT="45720" marB="45720" anchor="ctr">
                    <a:solidFill>
                      <a:srgbClr val="1B2A8C"/>
                    </a:solidFill>
                  </a:tcPr>
                </a:tc>
              </a:tr>
              <a:tr h="640080">
                <a:tc>
                  <a:txBody>
                    <a:bodyPr/>
                    <a:lstStyle/>
                    <a:p>
                      <a:r>
                        <a:rPr sz="2000" i="0" b="1">
                          <a:solidFill>
                            <a:srgbClr val="1A1F36"/>
                          </a:solidFill>
                          <a:latin typeface="Calibri"/>
                        </a:rPr>
                        <a:t>Topiramate</a:t>
                      </a:r>
                    </a:p>
                  </a:txBody>
                  <a:tcPr marL="109728" marR="109728" marT="45720" marB="45720" anchor="ctr">
                    <a:solidFill>
                      <a:srgbClr val="FFFFFF"/>
                    </a:solidFill>
                  </a:tcPr>
                </a:tc>
                <a:tc>
                  <a:txBody>
                    <a:bodyPr/>
                    <a:lstStyle/>
                    <a:p>
                      <a:r>
                        <a:rPr sz="2000" i="0" b="0">
                          <a:solidFill>
                            <a:srgbClr val="1A1F36"/>
                          </a:solidFill>
                          <a:latin typeface="Calibri"/>
                        </a:rPr>
                        <a:t>Weak inducer at high dose</a:t>
                      </a:r>
                    </a:p>
                  </a:txBody>
                  <a:tcPr marL="109728" marR="109728" marT="45720" marB="45720" anchor="ctr">
                    <a:solidFill>
                      <a:srgbClr val="FFFFFF"/>
                    </a:solidFill>
                  </a:tcPr>
                </a:tc>
                <a:tc>
                  <a:txBody>
                    <a:bodyPr/>
                    <a:lstStyle/>
                    <a:p>
                      <a:r>
                        <a:rPr sz="2000" i="0" b="0">
                          <a:solidFill>
                            <a:srgbClr val="1A1F36"/>
                          </a:solidFill>
                          <a:latin typeface="Calibri"/>
                        </a:rPr>
                        <a:t>Weight loss, kidney stones, glaucoma</a:t>
                      </a:r>
                    </a:p>
                  </a:txBody>
                  <a:tcPr marL="109728" marR="109728" marT="45720" marB="45720" anchor="ctr">
                    <a:solidFill>
                      <a:srgbClr val="FFFFFF"/>
                    </a:solidFill>
                  </a:tcPr>
                </a:tc>
                <a:tc>
                  <a:txBody>
                    <a:bodyPr/>
                    <a:lstStyle/>
                    <a:p>
                      <a:r>
                        <a:rPr sz="2000" i="0" b="0">
                          <a:solidFill>
                            <a:srgbClr val="1A1F36"/>
                          </a:solidFill>
                          <a:latin typeface="Calibri"/>
                        </a:rPr>
                        <a:t>Cleft lip and palate</a:t>
                      </a:r>
                    </a:p>
                  </a:txBody>
                  <a:tcPr marL="109728" marR="109728" marT="45720" marB="45720"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Interactions to remember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All antiseizure drugs carry a warning for suicidal thoughts. Ask about mood at each visit. Do not stop antiseizure drugs suddenly; this can trigger status epilepticus. Withdraw slowly under specialist advice.</a:t>
            </a:r>
          </a:p>
        </p:txBody>
      </p:sp>
      <p:sp>
        <p:nvSpPr>
          <p:cNvPr id="9" name="Oval 8"/>
          <p:cNvSpPr/>
          <p:nvPr/>
        </p:nvSpPr>
        <p:spPr>
          <a:xfrm>
            <a:off x="548640" y="28483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866644"/>
            <a:ext cx="10500055" cy="1623948"/>
          </a:xfrm>
          <a:prstGeom prst="rect">
            <a:avLst/>
          </a:prstGeom>
          <a:noFill/>
        </p:spPr>
        <p:txBody>
          <a:bodyPr wrap="square" anchor="t" lIns="0" rIns="0" tIns="0" bIns="0">
            <a:spAutoFit/>
          </a:bodyPr>
          <a:lstStyle/>
          <a:p>
            <a:r>
              <a:rPr sz="2100" i="0" b="1">
                <a:solidFill>
                  <a:srgbClr val="1A1F36"/>
                </a:solidFill>
                <a:latin typeface="Calibri"/>
              </a:rPr>
              <a:t>Inducers</a:t>
            </a:r>
            <a:r>
              <a:rPr sz="2100" i="0" b="0">
                <a:solidFill>
                  <a:srgbClr val="1A1F36"/>
                </a:solidFill>
                <a:latin typeface="Calibri"/>
              </a:rPr>
              <a:t> (phenytoin, carbamazepine, phenobarbital) lower the levels of combined oral contraceptives, warfarin, many antiretrovirals and other antiseizure drugs. Women need a copper IUD, a levonorgestrel IUD or medroxyprogesterone injection; the pill is unreliable.</a:t>
            </a:r>
          </a:p>
        </p:txBody>
      </p:sp>
      <p:sp>
        <p:nvSpPr>
          <p:cNvPr id="11" name="Oval 10"/>
          <p:cNvSpPr/>
          <p:nvPr/>
        </p:nvSpPr>
        <p:spPr>
          <a:xfrm>
            <a:off x="548640" y="451802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4536313"/>
            <a:ext cx="10500055" cy="957199"/>
          </a:xfrm>
          <a:prstGeom prst="rect">
            <a:avLst/>
          </a:prstGeom>
          <a:noFill/>
        </p:spPr>
        <p:txBody>
          <a:bodyPr wrap="square" anchor="t" lIns="0" rIns="0" tIns="0" bIns="0">
            <a:spAutoFit/>
          </a:bodyPr>
          <a:lstStyle/>
          <a:p>
            <a:r>
              <a:rPr sz="2100" i="0" b="1">
                <a:solidFill>
                  <a:srgbClr val="1A1F36"/>
                </a:solidFill>
                <a:latin typeface="Calibri"/>
              </a:rPr>
              <a:t>Valproate</a:t>
            </a:r>
            <a:r>
              <a:rPr sz="2100" i="0" b="0">
                <a:solidFill>
                  <a:srgbClr val="1A1F36"/>
                </a:solidFill>
                <a:latin typeface="Calibri"/>
              </a:rPr>
              <a:t> inhibits enzymes and raises lamotrigine levels. Halve the lamotrigine dose when adding valproate.</a:t>
            </a:r>
          </a:p>
        </p:txBody>
      </p:sp>
      <p:sp>
        <p:nvSpPr>
          <p:cNvPr id="13" name="Oval 12"/>
          <p:cNvSpPr/>
          <p:nvPr/>
        </p:nvSpPr>
        <p:spPr>
          <a:xfrm>
            <a:off x="548640" y="55209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5539231"/>
            <a:ext cx="10500055" cy="623824"/>
          </a:xfrm>
          <a:prstGeom prst="rect">
            <a:avLst/>
          </a:prstGeom>
          <a:noFill/>
        </p:spPr>
        <p:txBody>
          <a:bodyPr wrap="square" anchor="t" lIns="0" rIns="0" tIns="0" bIns="0">
            <a:spAutoFit/>
          </a:bodyPr>
          <a:lstStyle/>
          <a:p>
            <a:r>
              <a:rPr sz="2100" i="0" b="0">
                <a:solidFill>
                  <a:srgbClr val="1A1F36"/>
                </a:solidFill>
                <a:latin typeface="Calibri"/>
              </a:rPr>
              <a:t>Warfarin control must be rechecked when an inducer is started or stopped.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Comparing the Main Drugs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"Valproate is the odd one out." Phenytoin, carbamazepine and phenobarbital are inducers. Valproate is an inhibitor.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Start with </a:t>
            </a:r>
            <a:r>
              <a:rPr sz="1800" i="0" b="1">
                <a:solidFill>
                  <a:srgbClr val="1A1F36"/>
                </a:solidFill>
                <a:latin typeface="Calibri"/>
              </a:rPr>
              <a:t>one drug</a:t>
            </a:r>
            <a:r>
              <a:rPr sz="1800" i="0" b="0">
                <a:solidFill>
                  <a:srgbClr val="1A1F36"/>
                </a:solidFill>
                <a:latin typeface="Calibri"/>
              </a:rPr>
              <a:t> (monotherapy) at a low dose and increase slowly. Monotherapy means fewer adverse effects, fewer interactions and better adherence. If the first drug fails, try a second single drug before combining.</a:t>
            </a:r>
          </a:p>
        </p:txBody>
      </p:sp>
      <p:graphicFrame>
        <p:nvGraphicFramePr>
          <p:cNvPr id="9" name="Table 8"/>
          <p:cNvGraphicFramePr>
            <a:graphicFrameLocks noGrp="1"/>
          </p:cNvGraphicFramePr>
          <p:nvPr/>
        </p:nvGraphicFramePr>
        <p:xfrm>
          <a:off x="548640" y="2830068"/>
          <a:ext cx="11094414" cy="3200400"/>
        </p:xfrm>
        <a:graphic>
          <a:graphicData uri="http://schemas.openxmlformats.org/drawingml/2006/table">
            <a:tbl>
              <a:tblPr firstRow="0" bandRow="0">
                <a:tableStyleId>{5C22544A-7EE6-4342-B048-85BDC9FD1C3A}</a:tableStyleId>
              </a:tblPr>
              <a:tblGrid>
                <a:gridCol w="1723404"/>
                <a:gridCol w="3662234"/>
                <a:gridCol w="2585106"/>
                <a:gridCol w="3123670"/>
              </a:tblGrid>
              <a:tr h="640080">
                <a:tc>
                  <a:txBody>
                    <a:bodyPr/>
                    <a:lstStyle/>
                    <a:p>
                      <a:r>
                        <a:rPr sz="1400" i="0" b="1">
                          <a:solidFill>
                            <a:srgbClr val="FFFFFF"/>
                          </a:solidFill>
                          <a:latin typeface="Calibri"/>
                        </a:rPr>
                        <a:t>Seizure type</a:t>
                      </a:r>
                    </a:p>
                  </a:txBody>
                  <a:tcPr marL="109728" marR="109728" marT="45720" marB="45720" anchor="ctr">
                    <a:solidFill>
                      <a:srgbClr val="1B2A8C"/>
                    </a:solidFill>
                  </a:tcPr>
                </a:tc>
                <a:tc>
                  <a:txBody>
                    <a:bodyPr/>
                    <a:lstStyle/>
                    <a:p>
                      <a:r>
                        <a:rPr sz="1400" i="0" b="1">
                          <a:solidFill>
                            <a:srgbClr val="FFFFFF"/>
                          </a:solidFill>
                          <a:latin typeface="Calibri"/>
                        </a:rPr>
                        <a:t>First choice</a:t>
                      </a:r>
                    </a:p>
                  </a:txBody>
                  <a:tcPr marL="109728" marR="109728" marT="45720" marB="45720" anchor="ctr">
                    <a:solidFill>
                      <a:srgbClr val="1B2A8C"/>
                    </a:solidFill>
                  </a:tcPr>
                </a:tc>
                <a:tc>
                  <a:txBody>
                    <a:bodyPr/>
                    <a:lstStyle/>
                    <a:p>
                      <a:r>
                        <a:rPr sz="1400" i="0" b="1">
                          <a:solidFill>
                            <a:srgbClr val="FFFFFF"/>
                          </a:solidFill>
                          <a:latin typeface="Calibri"/>
                        </a:rPr>
                        <a:t>Alternatives</a:t>
                      </a:r>
                    </a:p>
                  </a:txBody>
                  <a:tcPr marL="109728" marR="109728" marT="45720" marB="45720" anchor="ctr">
                    <a:solidFill>
                      <a:srgbClr val="1B2A8C"/>
                    </a:solidFill>
                  </a:tcPr>
                </a:tc>
                <a:tc>
                  <a:txBody>
                    <a:bodyPr/>
                    <a:lstStyle/>
                    <a:p>
                      <a:r>
                        <a:rPr sz="1400" i="0" b="1">
                          <a:solidFill>
                            <a:srgbClr val="FFFFFF"/>
                          </a:solidFill>
                          <a:latin typeface="Calibri"/>
                        </a:rPr>
                        <a:t>Avoid</a:t>
                      </a:r>
                    </a:p>
                  </a:txBody>
                  <a:tcPr marL="109728" marR="109728" marT="45720" marB="45720" anchor="ctr">
                    <a:solidFill>
                      <a:srgbClr val="1B2A8C"/>
                    </a:solidFill>
                  </a:tcPr>
                </a:tc>
              </a:tr>
              <a:tr h="640080">
                <a:tc>
                  <a:txBody>
                    <a:bodyPr/>
                    <a:lstStyle/>
                    <a:p>
                      <a:r>
                        <a:rPr sz="1500" i="0" b="1">
                          <a:solidFill>
                            <a:srgbClr val="1A1F36"/>
                          </a:solidFill>
                          <a:latin typeface="Calibri"/>
                        </a:rPr>
                        <a:t>Focal</a:t>
                      </a:r>
                    </a:p>
                  </a:txBody>
                  <a:tcPr marL="109728" marR="109728" marT="45720" marB="45720" anchor="ctr">
                    <a:solidFill>
                      <a:srgbClr val="FFFFFF"/>
                    </a:solidFill>
                  </a:tcPr>
                </a:tc>
                <a:tc>
                  <a:txBody>
                    <a:bodyPr/>
                    <a:lstStyle/>
                    <a:p>
                      <a:r>
                        <a:rPr sz="1500" i="0" b="0">
                          <a:solidFill>
                            <a:srgbClr val="1A1F36"/>
                          </a:solidFill>
                          <a:latin typeface="Calibri"/>
                        </a:rPr>
                        <a:t>Lamotrigine or levetiracetam</a:t>
                      </a:r>
                    </a:p>
                  </a:txBody>
                  <a:tcPr marL="109728" marR="109728" marT="45720" marB="45720" anchor="ctr">
                    <a:solidFill>
                      <a:srgbClr val="FFFFFF"/>
                    </a:solidFill>
                  </a:tcPr>
                </a:tc>
                <a:tc>
                  <a:txBody>
                    <a:bodyPr/>
                    <a:lstStyle/>
                    <a:p>
                      <a:r>
                        <a:rPr sz="1500" i="0" b="0">
                          <a:solidFill>
                            <a:srgbClr val="1A1F36"/>
                          </a:solidFill>
                          <a:latin typeface="Calibri"/>
                        </a:rPr>
                        <a:t>Carbamazepine, oxcarbazepine, zonisamide</a:t>
                      </a:r>
                    </a:p>
                  </a:txBody>
                  <a:tcPr marL="109728" marR="109728" marT="45720" marB="45720" anchor="ctr">
                    <a:solidFill>
                      <a:srgbClr val="FFFFFF"/>
                    </a:solidFill>
                  </a:tcPr>
                </a:tc>
                <a:tc>
                  <a:txBody>
                    <a:bodyPr/>
                    <a:lstStyle/>
                    <a:p>
                      <a:r>
                        <a:rPr sz="1500" i="0" b="0">
                          <a:solidFill>
                            <a:srgbClr val="1A1F36"/>
                          </a:solidFill>
                          <a:latin typeface="Calibri"/>
                        </a:rPr>
                        <a:t>—</a:t>
                      </a:r>
                    </a:p>
                  </a:txBody>
                  <a:tcPr marL="109728" marR="109728" marT="45720" marB="45720" anchor="ctr">
                    <a:solidFill>
                      <a:srgbClr val="FFFFFF"/>
                    </a:solidFill>
                  </a:tcPr>
                </a:tc>
              </a:tr>
              <a:tr h="640080">
                <a:tc>
                  <a:txBody>
                    <a:bodyPr/>
                    <a:lstStyle/>
                    <a:p>
                      <a:r>
                        <a:rPr sz="1500" i="0" b="1">
                          <a:solidFill>
                            <a:srgbClr val="1A1F36"/>
                          </a:solidFill>
                          <a:latin typeface="Calibri"/>
                        </a:rPr>
                        <a:t>Generalised tonic–clonic</a:t>
                      </a:r>
                    </a:p>
                  </a:txBody>
                  <a:tcPr marL="109728" marR="109728" marT="45720" marB="45720" anchor="ctr">
                    <a:solidFill>
                      <a:srgbClr val="F1F2F8"/>
                    </a:solidFill>
                  </a:tcPr>
                </a:tc>
                <a:tc>
                  <a:txBody>
                    <a:bodyPr/>
                    <a:lstStyle/>
                    <a:p>
                      <a:r>
                        <a:rPr sz="1500" i="0" b="0">
                          <a:solidFill>
                            <a:srgbClr val="1A1F36"/>
                          </a:solidFill>
                          <a:latin typeface="Calibri"/>
                        </a:rPr>
                        <a:t>Valproate (males and women who cannot become pregnant); lamotrigine or levetiracetam in women who could become pregnant</a:t>
                      </a:r>
                    </a:p>
                  </a:txBody>
                  <a:tcPr marL="109728" marR="109728" marT="45720" marB="45720" anchor="ctr">
                    <a:solidFill>
                      <a:srgbClr val="F1F2F8"/>
                    </a:solidFill>
                  </a:tcPr>
                </a:tc>
                <a:tc>
                  <a:txBody>
                    <a:bodyPr/>
                    <a:lstStyle/>
                    <a:p>
                      <a:r>
                        <a:rPr sz="1500" i="0" b="0">
                          <a:solidFill>
                            <a:srgbClr val="1A1F36"/>
                          </a:solidFill>
                          <a:latin typeface="Calibri"/>
                        </a:rPr>
                        <a:t>—</a:t>
                      </a:r>
                    </a:p>
                  </a:txBody>
                  <a:tcPr marL="109728" marR="109728" marT="45720" marB="45720" anchor="ctr">
                    <a:solidFill>
                      <a:srgbClr val="F1F2F8"/>
                    </a:solidFill>
                  </a:tcPr>
                </a:tc>
                <a:tc>
                  <a:txBody>
                    <a:bodyPr/>
                    <a:lstStyle/>
                    <a:p>
                      <a:r>
                        <a:rPr sz="1500" i="0" b="0">
                          <a:solidFill>
                            <a:srgbClr val="1A1F36"/>
                          </a:solidFill>
                          <a:latin typeface="Calibri"/>
                        </a:rPr>
                        <a:t>—</a:t>
                      </a:r>
                    </a:p>
                  </a:txBody>
                  <a:tcPr marL="109728" marR="109728" marT="45720" marB="45720" anchor="ctr">
                    <a:solidFill>
                      <a:srgbClr val="F1F2F8"/>
                    </a:solidFill>
                  </a:tcPr>
                </a:tc>
              </a:tr>
              <a:tr h="640080">
                <a:tc>
                  <a:txBody>
                    <a:bodyPr/>
                    <a:lstStyle/>
                    <a:p>
                      <a:r>
                        <a:rPr sz="1500" i="0" b="1">
                          <a:solidFill>
                            <a:srgbClr val="1A1F36"/>
                          </a:solidFill>
                          <a:latin typeface="Calibri"/>
                        </a:rPr>
                        <a:t>Absence</a:t>
                      </a:r>
                    </a:p>
                  </a:txBody>
                  <a:tcPr marL="109728" marR="109728" marT="45720" marB="45720" anchor="ctr">
                    <a:solidFill>
                      <a:srgbClr val="FFFFFF"/>
                    </a:solidFill>
                  </a:tcPr>
                </a:tc>
                <a:tc>
                  <a:txBody>
                    <a:bodyPr/>
                    <a:lstStyle/>
                    <a:p>
                      <a:r>
                        <a:rPr sz="1500" i="0" b="0">
                          <a:solidFill>
                            <a:srgbClr val="1A1F36"/>
                          </a:solidFill>
                          <a:latin typeface="Calibri"/>
                        </a:rPr>
                        <a:t>Ethosuximide</a:t>
                      </a:r>
                    </a:p>
                  </a:txBody>
                  <a:tcPr marL="109728" marR="109728" marT="45720" marB="45720" anchor="ctr">
                    <a:solidFill>
                      <a:srgbClr val="FFFFFF"/>
                    </a:solidFill>
                  </a:tcPr>
                </a:tc>
                <a:tc>
                  <a:txBody>
                    <a:bodyPr/>
                    <a:lstStyle/>
                    <a:p>
                      <a:r>
                        <a:rPr sz="1500" i="0" b="0">
                          <a:solidFill>
                            <a:srgbClr val="1A1F36"/>
                          </a:solidFill>
                          <a:latin typeface="Calibri"/>
                        </a:rPr>
                        <a:t>Valproate; lamotrigine</a:t>
                      </a:r>
                    </a:p>
                  </a:txBody>
                  <a:tcPr marL="109728" marR="109728" marT="45720" marB="45720" anchor="ctr">
                    <a:solidFill>
                      <a:srgbClr val="FFFFFF"/>
                    </a:solidFill>
                  </a:tcPr>
                </a:tc>
                <a:tc>
                  <a:txBody>
                    <a:bodyPr/>
                    <a:lstStyle/>
                    <a:p>
                      <a:r>
                        <a:rPr sz="1500" i="0" b="0">
                          <a:solidFill>
                            <a:srgbClr val="1A1F36"/>
                          </a:solidFill>
                          <a:latin typeface="Calibri"/>
                        </a:rPr>
                        <a:t>Carbamazepine, phenytoin, gabapentin</a:t>
                      </a:r>
                    </a:p>
                  </a:txBody>
                  <a:tcPr marL="109728" marR="109728" marT="45720" marB="45720" anchor="ctr">
                    <a:solidFill>
                      <a:srgbClr val="FFFFFF"/>
                    </a:solidFill>
                  </a:tcPr>
                </a:tc>
              </a:tr>
              <a:tr h="640080">
                <a:tc>
                  <a:txBody>
                    <a:bodyPr/>
                    <a:lstStyle/>
                    <a:p>
                      <a:r>
                        <a:rPr sz="1500" i="0" b="1">
                          <a:solidFill>
                            <a:srgbClr val="1A1F36"/>
                          </a:solidFill>
                          <a:latin typeface="Calibri"/>
                        </a:rPr>
                        <a:t>Myoclonic</a:t>
                      </a:r>
                    </a:p>
                  </a:txBody>
                  <a:tcPr marL="109728" marR="109728" marT="45720" marB="45720" anchor="ctr">
                    <a:solidFill>
                      <a:srgbClr val="F1F2F8"/>
                    </a:solidFill>
                  </a:tcPr>
                </a:tc>
                <a:tc>
                  <a:txBody>
                    <a:bodyPr/>
                    <a:lstStyle/>
                    <a:p>
                      <a:r>
                        <a:rPr sz="1500" i="0" b="0">
                          <a:solidFill>
                            <a:srgbClr val="1A1F36"/>
                          </a:solidFill>
                          <a:latin typeface="Calibri"/>
                        </a:rPr>
                        <a:t>Valproate (males); levetiracetam in women who could become pregnant</a:t>
                      </a:r>
                    </a:p>
                  </a:txBody>
                  <a:tcPr marL="109728" marR="109728" marT="45720" marB="45720" anchor="ctr">
                    <a:solidFill>
                      <a:srgbClr val="F1F2F8"/>
                    </a:solidFill>
                  </a:tcPr>
                </a:tc>
                <a:tc>
                  <a:txBody>
                    <a:bodyPr/>
                    <a:lstStyle/>
                    <a:p>
                      <a:r>
                        <a:rPr sz="1500" i="0" b="0">
                          <a:solidFill>
                            <a:srgbClr val="1A1F36"/>
                          </a:solidFill>
                          <a:latin typeface="Calibri"/>
                        </a:rPr>
                        <a:t>Topiramate</a:t>
                      </a:r>
                    </a:p>
                  </a:txBody>
                  <a:tcPr marL="109728" marR="109728" marT="45720" marB="45720" anchor="ctr">
                    <a:solidFill>
                      <a:srgbClr val="F1F2F8"/>
                    </a:solidFill>
                  </a:tcPr>
                </a:tc>
                <a:tc>
                  <a:txBody>
                    <a:bodyPr/>
                    <a:lstStyle/>
                    <a:p>
                      <a:r>
                        <a:rPr sz="1500" i="0" b="0">
                          <a:solidFill>
                            <a:srgbClr val="1A1F36"/>
                          </a:solidFill>
                          <a:latin typeface="Calibri"/>
                        </a:rPr>
                        <a:t>Carbamazepine, phenytoin, lamotrigine (may worsen)</a:t>
                      </a:r>
                    </a:p>
                  </a:txBody>
                  <a:tcPr marL="109728" marR="109728" marT="45720" marB="45720" anchor="ctr">
                    <a:solidFill>
                      <a:srgbClr val="F1F2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Status Epilepticus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19124"/>
          </a:xfrm>
          <a:prstGeom prst="rect">
            <a:avLst/>
          </a:prstGeom>
          <a:noFill/>
        </p:spPr>
        <p:txBody>
          <a:bodyPr wrap="square" anchor="t" lIns="0" rIns="0" tIns="0" bIns="0">
            <a:spAutoFit/>
          </a:bodyPr>
          <a:lstStyle/>
          <a:p>
            <a:r>
              <a:rPr sz="1900" i="0" b="0">
                <a:solidFill>
                  <a:srgbClr val="1A1F36"/>
                </a:solidFill>
                <a:latin typeface="Calibri"/>
              </a:rPr>
              <a:t>Status epilepticus is a seizure that lasts more than 5 minutes, or repeated seizures without recovery between them. It is an emergency. Brain damage becomes likely after about 30 minutes.</a:t>
            </a:r>
          </a:p>
        </p:txBody>
      </p:sp>
      <p:sp>
        <p:nvSpPr>
          <p:cNvPr id="10" name="Oval 9"/>
          <p:cNvSpPr/>
          <p:nvPr/>
        </p:nvSpPr>
        <p:spPr>
          <a:xfrm>
            <a:off x="548640" y="27376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55900"/>
            <a:ext cx="10500055" cy="1119124"/>
          </a:xfrm>
          <a:prstGeom prst="rect">
            <a:avLst/>
          </a:prstGeom>
          <a:noFill/>
        </p:spPr>
        <p:txBody>
          <a:bodyPr wrap="square" anchor="t" lIns="0" rIns="0" tIns="0" bIns="0">
            <a:spAutoFit/>
          </a:bodyPr>
          <a:lstStyle/>
          <a:p>
            <a:r>
              <a:rPr sz="1900" i="0" b="0">
                <a:solidFill>
                  <a:srgbClr val="1A1F36"/>
                </a:solidFill>
                <a:latin typeface="Calibri"/>
              </a:rPr>
              <a:t>&gt; - </a:t>
            </a:r>
            <a:r>
              <a:rPr sz="1900" i="0" b="1">
                <a:solidFill>
                  <a:srgbClr val="1A1F36"/>
                </a:solidFill>
                <a:latin typeface="Calibri"/>
              </a:rPr>
              <a:t>0–5 minutes:</a:t>
            </a:r>
            <a:r>
              <a:rPr sz="1900" i="0" b="0">
                <a:solidFill>
                  <a:srgbClr val="1A1F36"/>
                </a:solidFill>
                <a:latin typeface="Calibri"/>
              </a:rPr>
              <a:t> airway and oxygen. Check blood glucose at once and treat low glucose without delay. If alcohol misuse or malnutrition is likely, give IV thiamine as well; it must not delay glucose.</a:t>
            </a:r>
          </a:p>
        </p:txBody>
      </p:sp>
      <p:sp>
        <p:nvSpPr>
          <p:cNvPr id="12" name="Oval 11"/>
          <p:cNvSpPr/>
          <p:nvPr/>
        </p:nvSpPr>
        <p:spPr>
          <a:xfrm>
            <a:off x="548640" y="39024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920744"/>
            <a:ext cx="10500055" cy="817499"/>
          </a:xfrm>
          <a:prstGeom prst="rect">
            <a:avLst/>
          </a:prstGeom>
          <a:noFill/>
        </p:spPr>
        <p:txBody>
          <a:bodyPr wrap="square" anchor="t" lIns="0" rIns="0" tIns="0" bIns="0">
            <a:spAutoFit/>
          </a:bodyPr>
          <a:lstStyle/>
          <a:p>
            <a:r>
              <a:rPr sz="1900" i="0" b="0">
                <a:solidFill>
                  <a:srgbClr val="1A1F36"/>
                </a:solidFill>
                <a:latin typeface="Calibri"/>
              </a:rPr>
              <a:t>&gt; - </a:t>
            </a:r>
            <a:r>
              <a:rPr sz="1900" i="0" b="1">
                <a:solidFill>
                  <a:srgbClr val="1A1F36"/>
                </a:solidFill>
                <a:latin typeface="Calibri"/>
              </a:rPr>
              <a:t>5–20 minutes:</a:t>
            </a:r>
            <a:r>
              <a:rPr sz="1900" i="0" b="0">
                <a:solidFill>
                  <a:srgbClr val="1A1F36"/>
                </a:solidFill>
                <a:latin typeface="Calibri"/>
              </a:rPr>
              <a:t> a benzodiazepine: IV lorazepam, or IM midazolam, or rectal diazepam or buccal midazolam if there is no IV access. Repeat once if needed.</a:t>
            </a:r>
          </a:p>
        </p:txBody>
      </p:sp>
      <p:sp>
        <p:nvSpPr>
          <p:cNvPr id="14" name="Oval 13"/>
          <p:cNvSpPr/>
          <p:nvPr/>
        </p:nvSpPr>
        <p:spPr>
          <a:xfrm>
            <a:off x="548640" y="47656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783963"/>
            <a:ext cx="10500055" cy="515874"/>
          </a:xfrm>
          <a:prstGeom prst="rect">
            <a:avLst/>
          </a:prstGeom>
          <a:noFill/>
        </p:spPr>
        <p:txBody>
          <a:bodyPr wrap="square" anchor="t" lIns="0" rIns="0" tIns="0" bIns="0">
            <a:spAutoFit/>
          </a:bodyPr>
          <a:lstStyle/>
          <a:p>
            <a:r>
              <a:rPr sz="1900" i="0" b="0">
                <a:solidFill>
                  <a:srgbClr val="1A1F36"/>
                </a:solidFill>
                <a:latin typeface="Calibri"/>
              </a:rPr>
              <a:t>&gt; - </a:t>
            </a:r>
            <a:r>
              <a:rPr sz="1900" i="0" b="1">
                <a:solidFill>
                  <a:srgbClr val="1A1F36"/>
                </a:solidFill>
                <a:latin typeface="Calibri"/>
              </a:rPr>
              <a:t>20–40 minutes:</a:t>
            </a:r>
            <a:r>
              <a:rPr sz="1900" i="0" b="0">
                <a:solidFill>
                  <a:srgbClr val="1A1F36"/>
                </a:solidFill>
                <a:latin typeface="Calibri"/>
              </a:rPr>
              <a:t> a second-line drug: IV levetiracetam, fosphenytoin or valproate.</a:t>
            </a:r>
          </a:p>
        </p:txBody>
      </p:sp>
      <p:sp>
        <p:nvSpPr>
          <p:cNvPr id="16" name="Oval 15"/>
          <p:cNvSpPr/>
          <p:nvPr/>
        </p:nvSpPr>
        <p:spPr>
          <a:xfrm>
            <a:off x="548640" y="532726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345557"/>
            <a:ext cx="10500055" cy="817499"/>
          </a:xfrm>
          <a:prstGeom prst="rect">
            <a:avLst/>
          </a:prstGeom>
          <a:noFill/>
        </p:spPr>
        <p:txBody>
          <a:bodyPr wrap="square" anchor="t" lIns="0" rIns="0" tIns="0" bIns="0">
            <a:spAutoFit/>
          </a:bodyPr>
          <a:lstStyle/>
          <a:p>
            <a:r>
              <a:rPr sz="1900" i="0" b="0">
                <a:solidFill>
                  <a:srgbClr val="1A1F36"/>
                </a:solidFill>
                <a:latin typeface="Calibri"/>
              </a:rPr>
              <a:t>&gt; - </a:t>
            </a:r>
            <a:r>
              <a:rPr sz="1900" i="0" b="1">
                <a:solidFill>
                  <a:srgbClr val="1A1F36"/>
                </a:solidFill>
                <a:latin typeface="Calibri"/>
              </a:rPr>
              <a:t>After 40 minutes:</a:t>
            </a:r>
            <a:r>
              <a:rPr sz="1900" i="0" b="0">
                <a:solidFill>
                  <a:srgbClr val="1A1F36"/>
                </a:solidFill>
                <a:latin typeface="Calibri"/>
              </a:rPr>
              <a:t> refractory status; anaesthesia in intensive care (propofol, midazolam or thiopental infusion).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Status Epilepticus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Manage status epilepticus by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2832616"/>
                <a:gridCol w="2596565"/>
                <a:gridCol w="5665233"/>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Sodium valproate</a:t>
                      </a:r>
                    </a:p>
                  </a:txBody>
                  <a:tcPr marL="109728" marR="109728" marT="45720" marB="45720" anchor="ctr">
                    <a:solidFill>
                      <a:srgbClr val="FFFFFF"/>
                    </a:solidFill>
                  </a:tcPr>
                </a:tc>
                <a:tc>
                  <a:txBody>
                    <a:bodyPr/>
                    <a:lstStyle/>
                    <a:p>
                      <a:r>
                        <a:rPr sz="2000" i="0" b="0">
                          <a:solidFill>
                            <a:srgbClr val="1A1F36"/>
                          </a:solidFill>
                          <a:latin typeface="Calibri"/>
                        </a:rPr>
                        <a:t>Depakine</a:t>
                      </a:r>
                    </a:p>
                  </a:txBody>
                  <a:tcPr marL="109728" marR="109728" marT="45720" marB="45720" anchor="ctr">
                    <a:solidFill>
                      <a:srgbClr val="FFFFFF"/>
                    </a:solidFill>
                  </a:tcPr>
                </a:tc>
                <a:tc>
                  <a:txBody>
                    <a:bodyPr/>
                    <a:lstStyle/>
                    <a:p>
                      <a:r>
                        <a:rPr sz="2000" i="0" b="0">
                          <a:solidFill>
                            <a:srgbClr val="1A1F36"/>
                          </a:solidFill>
                          <a:latin typeface="Calibri"/>
                        </a:rPr>
                        <a:t>Tablets, modified-release tablets, syrup</a:t>
                      </a:r>
                    </a:p>
                  </a:txBody>
                  <a:tcPr marL="109728" marR="109728" marT="45720" marB="45720" anchor="ctr">
                    <a:solidFill>
                      <a:srgbClr val="FFFFFF"/>
                    </a:solidFill>
                  </a:tcPr>
                </a:tc>
              </a:tr>
              <a:tr h="640080">
                <a:tc>
                  <a:txBody>
                    <a:bodyPr/>
                    <a:lstStyle/>
                    <a:p>
                      <a:r>
                        <a:rPr sz="2000" i="0" b="1">
                          <a:solidFill>
                            <a:srgbClr val="1A1F36"/>
                          </a:solidFill>
                          <a:latin typeface="Calibri"/>
                        </a:rPr>
                        <a:t>Carbamazepine</a:t>
                      </a:r>
                    </a:p>
                  </a:txBody>
                  <a:tcPr marL="109728" marR="109728" marT="45720" marB="45720" anchor="ctr">
                    <a:solidFill>
                      <a:srgbClr val="F1F2F8"/>
                    </a:solidFill>
                  </a:tcPr>
                </a:tc>
                <a:tc>
                  <a:txBody>
                    <a:bodyPr/>
                    <a:lstStyle/>
                    <a:p>
                      <a:r>
                        <a:rPr sz="2000" i="0" b="0">
                          <a:solidFill>
                            <a:srgbClr val="1A1F36"/>
                          </a:solidFill>
                          <a:latin typeface="Calibri"/>
                        </a:rPr>
                        <a:t>Tegretol</a:t>
                      </a:r>
                    </a:p>
                  </a:txBody>
                  <a:tcPr marL="109728" marR="109728" marT="45720" marB="45720" anchor="ctr">
                    <a:solidFill>
                      <a:srgbClr val="F1F2F8"/>
                    </a:solidFill>
                  </a:tcPr>
                </a:tc>
                <a:tc>
                  <a:txBody>
                    <a:bodyPr/>
                    <a:lstStyle/>
                    <a:p>
                      <a:r>
                        <a:rPr sz="2000" i="0" b="0">
                          <a:solidFill>
                            <a:srgbClr val="1A1F36"/>
                          </a:solidFill>
                          <a:latin typeface="Calibri"/>
                        </a:rPr>
                        <a:t>Tablets, modified-release tablets</a:t>
                      </a:r>
                    </a:p>
                  </a:txBody>
                  <a:tcPr marL="109728" marR="109728" marT="45720" marB="45720" anchor="ctr">
                    <a:solidFill>
                      <a:srgbClr val="F1F2F8"/>
                    </a:solidFill>
                  </a:tcPr>
                </a:tc>
              </a:tr>
              <a:tr h="640080">
                <a:tc>
                  <a:txBody>
                    <a:bodyPr/>
                    <a:lstStyle/>
                    <a:p>
                      <a:r>
                        <a:rPr sz="2000" i="0" b="1">
                          <a:solidFill>
                            <a:srgbClr val="1A1F36"/>
                          </a:solidFill>
                          <a:latin typeface="Calibri"/>
                        </a:rPr>
                        <a:t>Lamotrigine</a:t>
                      </a:r>
                    </a:p>
                  </a:txBody>
                  <a:tcPr marL="109728" marR="109728" marT="45720" marB="45720" anchor="ctr">
                    <a:solidFill>
                      <a:srgbClr val="FFFFFF"/>
                    </a:solidFill>
                  </a:tcPr>
                </a:tc>
                <a:tc>
                  <a:txBody>
                    <a:bodyPr/>
                    <a:lstStyle/>
                    <a:p>
                      <a:r>
                        <a:rPr sz="2000" i="0" b="0">
                          <a:solidFill>
                            <a:srgbClr val="1A1F36"/>
                          </a:solidFill>
                          <a:latin typeface="Calibri"/>
                        </a:rPr>
                        <a:t>Lamictal</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640080">
                <a:tc>
                  <a:txBody>
                    <a:bodyPr/>
                    <a:lstStyle/>
                    <a:p>
                      <a:r>
                        <a:rPr sz="2000" i="0" b="1">
                          <a:solidFill>
                            <a:srgbClr val="1A1F36"/>
                          </a:solidFill>
                          <a:latin typeface="Calibri"/>
                        </a:rPr>
                        <a:t>Levetiracetam</a:t>
                      </a:r>
                    </a:p>
                  </a:txBody>
                  <a:tcPr marL="109728" marR="109728" marT="45720" marB="45720" anchor="ctr">
                    <a:solidFill>
                      <a:srgbClr val="F1F2F8"/>
                    </a:solidFill>
                  </a:tcPr>
                </a:tc>
                <a:tc>
                  <a:txBody>
                    <a:bodyPr/>
                    <a:lstStyle/>
                    <a:p>
                      <a:r>
                        <a:rPr sz="2000" i="0" b="0">
                          <a:solidFill>
                            <a:srgbClr val="1A1F36"/>
                          </a:solidFill>
                          <a:latin typeface="Calibri"/>
                        </a:rPr>
                        <a:t>Keppra</a:t>
                      </a:r>
                    </a:p>
                  </a:txBody>
                  <a:tcPr marL="109728" marR="109728" marT="45720" marB="45720" anchor="ctr">
                    <a:solidFill>
                      <a:srgbClr val="F1F2F8"/>
                    </a:solidFill>
                  </a:tcPr>
                </a:tc>
                <a:tc>
                  <a:txBody>
                    <a:bodyPr/>
                    <a:lstStyle/>
                    <a:p>
                      <a:r>
                        <a:rPr sz="2000" i="0" b="0">
                          <a:solidFill>
                            <a:srgbClr val="1A1F36"/>
                          </a:solidFill>
                          <a:latin typeface="Calibri"/>
                        </a:rPr>
                        <a:t>Tablets, oral solution, injection</a:t>
                      </a:r>
                    </a:p>
                  </a:txBody>
                  <a:tcPr marL="109728" marR="109728" marT="45720" marB="45720" anchor="ctr">
                    <a:solidFill>
                      <a:srgbClr val="F1F2F8"/>
                    </a:solidFill>
                  </a:tcPr>
                </a:tc>
              </a:tr>
              <a:tr h="640080">
                <a:tc>
                  <a:txBody>
                    <a:bodyPr/>
                    <a:lstStyle/>
                    <a:p>
                      <a:r>
                        <a:rPr sz="2000" i="0" b="1">
                          <a:solidFill>
                            <a:srgbClr val="1A1F36"/>
                          </a:solidFill>
                          <a:latin typeface="Calibri"/>
                        </a:rPr>
                        <a:t>Phenytoin</a:t>
                      </a:r>
                    </a:p>
                  </a:txBody>
                  <a:tcPr marL="109728" marR="109728" marT="45720" marB="45720" anchor="ctr">
                    <a:solidFill>
                      <a:srgbClr val="FFFFFF"/>
                    </a:solidFill>
                  </a:tcPr>
                </a:tc>
                <a:tc>
                  <a:txBody>
                    <a:bodyPr/>
                    <a:lstStyle/>
                    <a:p>
                      <a:r>
                        <a:rPr sz="2000" i="0" b="0">
                          <a:solidFill>
                            <a:srgbClr val="1A1F36"/>
                          </a:solidFill>
                          <a:latin typeface="Calibri"/>
                        </a:rPr>
                        <a:t>Epanutin</a:t>
                      </a:r>
                    </a:p>
                  </a:txBody>
                  <a:tcPr marL="109728" marR="109728" marT="45720" marB="45720" anchor="ctr">
                    <a:solidFill>
                      <a:srgbClr val="FFFFFF"/>
                    </a:solidFill>
                  </a:tcPr>
                </a:tc>
                <a:tc>
                  <a:txBody>
                    <a:bodyPr/>
                    <a:lstStyle/>
                    <a:p>
                      <a:r>
                        <a:rPr sz="2000" i="0" b="0">
                          <a:solidFill>
                            <a:srgbClr val="1A1F36"/>
                          </a:solidFill>
                          <a:latin typeface="Calibri"/>
                        </a:rPr>
                        <a:t>Capsules</a:t>
                      </a:r>
                    </a:p>
                  </a:txBody>
                  <a:tcPr marL="109728"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808863"/>
          </a:xfrm>
          <a:prstGeom prst="rect">
            <a:avLst/>
          </a:prstGeom>
          <a:noFill/>
        </p:spPr>
        <p:txBody>
          <a:bodyPr wrap="square" anchor="t" lIns="0" rIns="0" tIns="0" bIns="0">
            <a:spAutoFit/>
          </a:bodyPr>
          <a:lstStyle/>
          <a:p>
            <a:r>
              <a:rPr sz="2100" i="0" b="0">
                <a:solidFill>
                  <a:srgbClr val="1A1F36"/>
                </a:solidFill>
                <a:latin typeface="Calibri"/>
              </a:rPr>
              <a:t>Why does ethosuximide treat absence seizures but not tonic–clonic seizures?</a:t>
            </a:r>
          </a:p>
        </p:txBody>
      </p:sp>
      <p:sp>
        <p:nvSpPr>
          <p:cNvPr id="10" name="Oval 9"/>
          <p:cNvSpPr/>
          <p:nvPr/>
        </p:nvSpPr>
        <p:spPr>
          <a:xfrm>
            <a:off x="548640" y="242735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45639"/>
            <a:ext cx="10500055" cy="1142237"/>
          </a:xfrm>
          <a:prstGeom prst="rect">
            <a:avLst/>
          </a:prstGeom>
          <a:noFill/>
        </p:spPr>
        <p:txBody>
          <a:bodyPr wrap="square" anchor="t" lIns="0" rIns="0" tIns="0" bIns="0">
            <a:spAutoFit/>
          </a:bodyPr>
          <a:lstStyle/>
          <a:p>
            <a:r>
              <a:rPr sz="2100" i="0" b="0">
                <a:solidFill>
                  <a:srgbClr val="1A1F36"/>
                </a:solidFill>
                <a:latin typeface="Calibri"/>
              </a:rPr>
              <a:t>A woman on carbamazepine wants to use the combined pill. What would you advise, and why?</a:t>
            </a:r>
          </a:p>
        </p:txBody>
      </p:sp>
      <p:sp>
        <p:nvSpPr>
          <p:cNvPr id="12" name="Oval 11"/>
          <p:cNvSpPr/>
          <p:nvPr/>
        </p:nvSpPr>
        <p:spPr>
          <a:xfrm>
            <a:off x="548640" y="361530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33597"/>
            <a:ext cx="10500055" cy="808863"/>
          </a:xfrm>
          <a:prstGeom prst="rect">
            <a:avLst/>
          </a:prstGeom>
          <a:noFill/>
        </p:spPr>
        <p:txBody>
          <a:bodyPr wrap="square" anchor="t" lIns="0" rIns="0" tIns="0" bIns="0">
            <a:spAutoFit/>
          </a:bodyPr>
          <a:lstStyle/>
          <a:p>
            <a:r>
              <a:rPr sz="2100" i="0" b="0">
                <a:solidFill>
                  <a:srgbClr val="1A1F36"/>
                </a:solidFill>
                <a:latin typeface="Calibri"/>
              </a:rPr>
              <a:t>Why is valproate a first-choice drug in a young man but not in a young woman?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9-year-old girl stares blankly for 10 seconds many times a day, then carries on as normal. What is the seizure type?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Focal aware seizure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Myoclonic seizure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Absence seizure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Tonic–clonic seizure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9-year-old girl stares blankly for 10 seconds many times a day, then carries on as normal. What is the seizure type?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Focal aware seizure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Myoclonic seizure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Absence seizure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Tonic–clonic seizure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 brief stare many times a day without post-ictal confusion is an absence seizure. A keeps awareness. B is jerking. D is stiffening and jerking.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first choice for the girl in Q1?</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Ethosuximide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Phenytoin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Gabapentin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first choice for the girl in Q1?</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Ethosuximide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Carbamazepine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Phenytoin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Gabapentin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Ethosuximide blocks thalamic T-type Ca2+ channels. B and C can worsen absence seizures. D is not effective.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mechanism of levetiracetam?</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Block of T-type Ca2+ channels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Inhibition of GABA transaminase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Binding to the α2δ subunit of Ca2+ channels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Binding to the synaptic vesicle protein SV2A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mechanism of levetiracetam?</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Block of T-type Ca2+ channels</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Inhibition of GABA transaminase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Binding to the α2δ subunit of Ca2+ channels</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Binding to the synaptic vesicle protein SV2A</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Levetiracetam binds SV2A. A is ethosuximide. B is valproate. C is gabapentin and pregabalin.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a liver enzyme inhibitor?</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Phenytoin</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Valproate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Phenobarbital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a liver enzyme inhibitor?</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Phenytoin</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Valproate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Carbamazepine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Phenobarbital</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Valproate inhibits liver enzymes. A, C and D are inducers.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30-year-old man on phenytoin has swollen, overgrown gums. What is the cause?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Vitamin C deficiency</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Enzyme inhibition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 known adverse effect of phenytoin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Poor dental hygiene only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30-year-old man on phenytoin has swollen, overgrown gums. What is the cause?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Vitamin C deficiency</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Enzyme inhibition</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 known adverse effect of phenytoin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Poor dental hygiene only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Gingival hyperplasia is a typical long-term effect of phenytoin. A causes bleeding gums. B is wrong; phenytoin is an inducer. D worsens it but is not the cause.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25-year-old woman with generalised tonic–clonic seizures is planning a pregnancy. Which drug is the best choice?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Valproate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Phenytoin</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Topiramate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Lamotrigine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25-year-old woman with generalised tonic–clonic seizures is planning a pregnancy. Which drug is the best choice?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Valproate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Phenytoin</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Topiramate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Lamotrigine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Lamotrigine is among the safest drugs in pregnancy. A has the highest risk. B causes fetal hydantoin syndrome. C causes cleft lip and palate.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has had a tonic–clonic seizure for 7 minutes. There is no IV access. What should be given first?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Buccal midazolam</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Oral levetiracetam</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IV phenytoin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Oral carbamazepine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has had a tonic–clonic seizure for 7 minutes. There is no IV access. What should be given first?</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Buccal midazolam</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Oral levetiracetam</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IV phenytoin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Oral carbamazepine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 benzodiazepine is first; buccal midazolam works without IV access. B and D are too slow. C is second line and needs IV access.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woman on carbamazepine becomes pregnant while taking the combined oral contraceptive pill. What is the likely reason?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 inhibits the metabolism of oestrogen.</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 induces the metabolism of the pill hormones.</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 blocks ovulation.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 binds the pill in the gut.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39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woman on carbamazepine becomes pregnant while taking the combined oral contraceptive pill. What is the likely reason?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Carbamazepine inhibits the metabolism of oestrogen.</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Carbamazepine induces the metabolism of the pill hormones.</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Carbamazepine blocks ovulation.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Carbamazepine binds the pill in the gut.</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Carbamazepine induces CYP enzymes and lowers oestrogen and progestogen levels. A, C and D are wrong.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40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Lamotrigine is added to valproate. What must be done to reduce the risk of serious rash?</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Double the lamotrigine dose.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Stop valproate first.</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Start lamotrigine at a lower dose and increase slowly.</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Give an antihistamine.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41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Lamotrigine is added to valproate. What must be done to reduce the risk of serious rash?</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Double the lamotrigine dose.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Stop valproate first.</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Start lamotrigine at a lower dose and increase slowly.</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Give an antihistamine.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Valproate raises lamotrigine levels; start lower and titrate slowly. A raises the risk. B is not needed. D does not prevent SJS.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42 / 44</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first choice for trigeminal neuralgia?</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Carbamazepine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Ethosuximide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Valproate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Levetiracetam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05</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5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5  ·  Epilepsy and Antiseizure Drugs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43 / 44</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first choice for trigeminal neuralgia?</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Carbamazepine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Ethosuximide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Valproate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Levetiracetam</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Carbamazepine is first choice for trigeminal neuralgia. B, C and D are not first choice.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5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798195"/>
          </a:xfrm>
          <a:prstGeom prst="rect">
            <a:avLst/>
          </a:prstGeom>
          <a:noFill/>
        </p:spPr>
        <p:txBody>
          <a:bodyPr wrap="square" anchor="t" lIns="0" rIns="0" tIns="0" bIns="0">
            <a:spAutoFit/>
          </a:bodyPr>
          <a:lstStyle/>
          <a:p>
            <a:r>
              <a:rPr sz="1800" i="0" b="0">
                <a:solidFill>
                  <a:srgbClr val="FFFFFF"/>
                </a:solidFill>
                <a:latin typeface="Calibri"/>
              </a:rPr>
              <a:t>Seizures are focal or generalised; awareness is lost in tonic–clonic and absence seizures but usually kept in myoclonic seizures.</a:t>
            </a:r>
          </a:p>
        </p:txBody>
      </p:sp>
      <p:sp>
        <p:nvSpPr>
          <p:cNvPr id="6" name="Oval 5"/>
          <p:cNvSpPr/>
          <p:nvPr/>
        </p:nvSpPr>
        <p:spPr>
          <a:xfrm>
            <a:off x="548640" y="2691003"/>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709291"/>
            <a:ext cx="10500055" cy="798195"/>
          </a:xfrm>
          <a:prstGeom prst="rect">
            <a:avLst/>
          </a:prstGeom>
          <a:noFill/>
        </p:spPr>
        <p:txBody>
          <a:bodyPr wrap="square" anchor="t" lIns="0" rIns="0" tIns="0" bIns="0">
            <a:spAutoFit/>
          </a:bodyPr>
          <a:lstStyle/>
          <a:p>
            <a:r>
              <a:rPr sz="1800" i="0" b="0">
                <a:solidFill>
                  <a:srgbClr val="FFFFFF"/>
                </a:solidFill>
                <a:latin typeface="Calibri"/>
              </a:rPr>
              <a:t>Antiseizure drugs block Na+ or T-type Ca2+ channels, enhance GABA, bind SV2A or α2δ, or block glutamate.</a:t>
            </a:r>
          </a:p>
        </p:txBody>
      </p:sp>
      <p:sp>
        <p:nvSpPr>
          <p:cNvPr id="8" name="Oval 7"/>
          <p:cNvSpPr/>
          <p:nvPr/>
        </p:nvSpPr>
        <p:spPr>
          <a:xfrm>
            <a:off x="548640" y="353491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553206"/>
            <a:ext cx="10500055" cy="512445"/>
          </a:xfrm>
          <a:prstGeom prst="rect">
            <a:avLst/>
          </a:prstGeom>
          <a:noFill/>
        </p:spPr>
        <p:txBody>
          <a:bodyPr wrap="square" anchor="t" lIns="0" rIns="0" tIns="0" bIns="0">
            <a:spAutoFit/>
          </a:bodyPr>
          <a:lstStyle/>
          <a:p>
            <a:r>
              <a:rPr sz="1800" i="0" b="0">
                <a:solidFill>
                  <a:srgbClr val="FFFFFF"/>
                </a:solidFill>
                <a:latin typeface="Calibri"/>
              </a:rPr>
              <a:t>Phenytoin, carbamazepine and phenobarbital are inducers; valproate is an inhibitor.</a:t>
            </a:r>
          </a:p>
        </p:txBody>
      </p:sp>
      <p:sp>
        <p:nvSpPr>
          <p:cNvPr id="10" name="Oval 9"/>
          <p:cNvSpPr/>
          <p:nvPr/>
        </p:nvSpPr>
        <p:spPr>
          <a:xfrm>
            <a:off x="548640" y="409308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4111371"/>
            <a:ext cx="10500055" cy="798195"/>
          </a:xfrm>
          <a:prstGeom prst="rect">
            <a:avLst/>
          </a:prstGeom>
          <a:noFill/>
        </p:spPr>
        <p:txBody>
          <a:bodyPr wrap="square" anchor="t" lIns="0" rIns="0" tIns="0" bIns="0">
            <a:spAutoFit/>
          </a:bodyPr>
          <a:lstStyle/>
          <a:p>
            <a:r>
              <a:rPr sz="1800" i="0" b="0">
                <a:solidFill>
                  <a:srgbClr val="FFFFFF"/>
                </a:solidFill>
                <a:latin typeface="Calibri"/>
              </a:rPr>
              <a:t>Valproate is broad-spectrum but most teratogenic; lamotrigine or levetiracetam are preferred in women who could become pregnant.</a:t>
            </a:r>
          </a:p>
        </p:txBody>
      </p:sp>
      <p:sp>
        <p:nvSpPr>
          <p:cNvPr id="12" name="Oval 11"/>
          <p:cNvSpPr/>
          <p:nvPr/>
        </p:nvSpPr>
        <p:spPr>
          <a:xfrm>
            <a:off x="548640" y="4936997"/>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4955286"/>
            <a:ext cx="10500055" cy="512445"/>
          </a:xfrm>
          <a:prstGeom prst="rect">
            <a:avLst/>
          </a:prstGeom>
          <a:noFill/>
        </p:spPr>
        <p:txBody>
          <a:bodyPr wrap="square" anchor="t" lIns="0" rIns="0" tIns="0" bIns="0">
            <a:spAutoFit/>
          </a:bodyPr>
          <a:lstStyle/>
          <a:p>
            <a:r>
              <a:rPr sz="1800" i="0" b="0">
                <a:solidFill>
                  <a:srgbClr val="FFFFFF"/>
                </a:solidFill>
                <a:latin typeface="Calibri"/>
              </a:rPr>
              <a:t>Ethosuximide is first choice for absence seizures; carbamazepine and phenytoin worsen them.</a:t>
            </a:r>
          </a:p>
        </p:txBody>
      </p:sp>
      <p:sp>
        <p:nvSpPr>
          <p:cNvPr id="14" name="Oval 13"/>
          <p:cNvSpPr/>
          <p:nvPr/>
        </p:nvSpPr>
        <p:spPr>
          <a:xfrm>
            <a:off x="548640" y="549516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5" name="TextBox 14"/>
          <p:cNvSpPr txBox="1"/>
          <p:nvPr/>
        </p:nvSpPr>
        <p:spPr>
          <a:xfrm>
            <a:off x="1143000" y="5513451"/>
            <a:ext cx="10500055" cy="512445"/>
          </a:xfrm>
          <a:prstGeom prst="rect">
            <a:avLst/>
          </a:prstGeom>
          <a:noFill/>
        </p:spPr>
        <p:txBody>
          <a:bodyPr wrap="square" anchor="t" lIns="0" rIns="0" tIns="0" bIns="0">
            <a:spAutoFit/>
          </a:bodyPr>
          <a:lstStyle/>
          <a:p>
            <a:r>
              <a:rPr sz="1800" i="0" b="0">
                <a:solidFill>
                  <a:srgbClr val="FFFFFF"/>
                </a:solidFill>
                <a:latin typeface="Calibri"/>
              </a:rPr>
              <a:t>Status epilepticus: benzodiazepine first, then levetiracetam, fosphenytoin or valproate.</a:t>
            </a:r>
          </a:p>
        </p:txBody>
      </p:sp>
      <p:pic>
        <p:nvPicPr>
          <p:cNvPr id="16" name="Picture 15"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7" name="Picture 16"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