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&gt; Quick Recap: Neurons fire when Na+ enters through voltage-gated Na+ channels. Glutamate is the main excitatory transmitter; it acts on NMDA and AMPA/kainate receptors. GABA is the main inhibitory transmitter; GABA-A receptors are Cl- channels, and more Cl- entry makes the neuron harder to fire. T-type Ca2+ channels in the thalamus drive rhythmic thalamocortical firing. Liver CYP enzymes metabolise many drugs; inducers speed this up and inhibitors slow it down.</a:t>
            </a:r>
          </a:p>
          <a:p/>
          <a:p>
            <a:r>
              <a:t>Time: 1:30  (at 2:00 of 40:00).  Next: Roadmap.</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we will cover, in order.</a:t>
            </a:r>
          </a:p>
          <a:p/>
          <a:p>
            <a:r>
              <a:t>Time: 0:30  (at 2:30 of 40:00).  Next: Seizure types.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seizure is a burst of abnormal, excessive and synchronous firing of brain neurons. Epilepsy is a tendency to have repeated unprovoked seizures. It results from an imbalance: too much excitation (glutamate) or too little inhibition (GABA). Causes include genetic factors, head injury, stroke, brain tumours, infections and developmental problems. In many patients no cause is found. Seizures can also be provoked by fever in children, low glucose, low sodium, alcohol withdrawal or drugs; treat the cause, not with long-term antiseizure drugs. The ILAE classifies seizures by where they start. Absence seizures come from rhythmic firing between the thalamus and cortex, driven by T-type Ca2+ channels. This is why ethosuximide, a T-type blocker, treats them.</a:t>
            </a:r>
          </a:p>
          <a:p/>
          <a:p>
            <a:r>
              <a:t>Time: 2:30  (at 5:00 of 40:00).  Next: How Antiseizure Drugs Work.</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Discuss with the class: what would you ask, check and say?</a:t>
            </a:r>
          </a:p>
          <a:p/>
          <a:p>
            <a:r>
              <a:t>Time: 2:00  (at 7:00 of 40:00).  Next: How Antiseizure Drugs Work.</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Antiseizure drugs reduce excitation or increase inhibition. Most drugs act in more than one way. The old rule that "first-generation drugs act on inhibition and second-generation drugs act on excitation" is false. Phenytoin and carbamazepine block Na+ channels, and several newer drugs enhance GABA.</a:t>
            </a:r>
          </a:p>
          <a:p/>
          <a:p>
            <a:r>
              <a:t>Time: 2:00  (at 9:00 of 40:00).  Next: How Antiseizure Drugs Work.</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Antiseizure drugs reduce excitation or increase inhibition. Most drugs act in more than one way. The old rule that "first-generation drugs act on inhibition and second-generation drugs act on excitation" is false. Phenytoin and carbamazepine block Na+ channels, and several newer drugs enhance GABA.</a:t>
            </a:r>
          </a:p>
          <a:p/>
          <a:p>
            <a:r>
              <a:t>Time: 2:30  (at 11:30 of 40:00).  Next: Phenytoin.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Phenytoin blocks Na+ channels. It is used for focal and tonic–clonic seizures and, IV, in status epilepticus. It has non-linear (saturable) kinetics: a small dose increase can cause a large rise in blood level. Monitor plasma levels. Adverse effects: Carbamazepine blocks Na+ channels. It is used for focal seizures and is first choice for trigeminal neuralgia. It is also a mood stabiliser. It can worsen absence and myoclonic seizures. It induces liver enzymes, including its own metabolism (auto-induction). So its half-life falls over the first weeks and the dose must be raised slowly. Adverse effects: dizziness, diplopia, ataxia, hyponatraemia (an ADH-like effect), rash, and rarely aplastic anaemia or agranulocytosis. Serious skin reactions (SJS/TEN) are strongly linked to HLA-B1502, which is common in people of Asian descent; test before starting in these patients. Oxcarbazepine is a related drug with fewer interactions, but more hyponatraemia. Valproate is a broad-spectrum drug. It blocks Na+ channels and T-type Ca2+ channels and raises GABA by inhibiting GABA transaminase. It treats all seizure types: tonic–clonic, absence, myoclonic and focal. It is also a mood stabiliser and is used in migraine prevention. Adverse effects: Valproate is an enzyme inhibitor. It raises the levels of lamotrigine and phenobarbital. Ethosuximide blocks T-type Ca2+ channels in the thalamus. It is used only for absence seizures, where it is first choice. It does not protect against tonic–clonic seizures. Adverse effects: nausea, abdominal pain, headache and drowsiness. Phenobarbital enhances GABA-A receptors. It is cheap and long-acting but sedating and a strong inducer. It is still used in neonatal seizures and in status epilepticus. Benzodiazepines (diazepam, lorazepam, midazolam, clonazepam) are used mainly for acute seizures and status epilepticus. Tolerance limits their long-term use.</a:t>
            </a:r>
          </a:p>
          <a:p/>
          <a:p>
            <a:r>
              <a:t>Time: 2:00  (at 13:30 of 40:00).  Next: Valproate.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Phenytoin blocks Na+ channels. It is used for focal and tonic–clonic seizures and, IV, in status epilepticus. It has non-linear (saturable) kinetics: a small dose increase can cause a large rise in blood level. Monitor plasma levels. Adverse effects: Carbamazepine blocks Na+ channels. It is used for focal seizures and is first choice for trigeminal neuralgia. It is also a mood stabiliser. It can worsen absence and myoclonic seizures. It induces liver enzymes, including its own metabolism (auto-induction). So its half-life falls over the first weeks and the dose must be raised slowly. Adverse effects: dizziness, diplopia, ataxia, hyponatraemia (an ADH-like effect), rash, and rarely aplastic anaemia or agranulocytosis. Serious skin reactions (SJS/TEN) are strongly linked to HLA-B1502, which is common in people of Asian descent; test before starting in these patients. Oxcarbazepine is a related drug with fewer interactions, but more hyponatraemia. Valproate is a broad-spectrum drug. It blocks Na+ channels and T-type Ca2+ channels and raises GABA by inhibiting GABA transaminase. It treats all seizure types: tonic–clonic, absence, myoclonic and focal. It is also a mood stabiliser and is used in migraine prevention. Adverse effects: Valproate is an enzyme inhibitor. It raises the levels of lamotrigine and phenobarbital. Ethosuximide blocks T-type Ca2+ channels in the thalamus. It is used only for absence seizures, where it is first choice. It does not protect against tonic–clonic seizures. Adverse effects: nausea, abdominal pain, headache and drowsiness. Phenobarbital enhances GABA-A receptors. It is cheap and long-acting but sedating and a strong inducer. It is still used in neonatal seizures and in status epilepticus. Benzodiazepines (diazepam, lorazepam, midazolam, clonazepam) are used mainly for acute seizures and status epilepticus. Tolerance limits their long-term use.</a:t>
            </a:r>
          </a:p>
          <a:p/>
          <a:p>
            <a:r>
              <a:t>Time: 2:00  (at 15:30 of 40:00).  Next: Older Drugs.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Phenytoin blocks Na+ channels. It is used for focal and tonic–clonic seizures and, IV, in status epilepticus. It has non-linear (saturable) kinetics: a small dose increase can cause a large rise in blood level. Monitor plasma levels. Adverse effects: Carbamazepine blocks Na+ channels. It is used for focal seizures and is first choice for trigeminal neuralgia. It is also a mood stabiliser. It can worsen absence and myoclonic seizures. It induces liver enzymes, including its own metabolism (auto-induction). So its half-life falls over the first weeks and the dose must be raised slowly. Adverse effects: dizziness, diplopia, ataxia, hyponatraemia (an ADH-like effect), rash, and rarely aplastic anaemia or agranulocytosis. Serious skin reactions (SJS/TEN) are strongly linked to HLA-B1502, which is common in people of Asian descent; test before starting in these patients. Oxcarbazepine is a related drug with fewer interactions, but more hyponatraemia. Valproate is a broad-spectrum drug. It blocks Na+ channels and T-type Ca2+ channels and raises GABA by inhibiting GABA transaminase. It treats all seizure types: tonic–clonic, absence, myoclonic and focal. It is also a mood stabiliser and is used in migraine prevention. Adverse effects: Valproate is an enzyme inhibitor. It raises the levels of lamotrigine and phenobarbital. Ethosuximide blocks T-type Ca2+ channels in the thalamus. It is used only for absence seizures, where it is first choice. It does not protect against tonic–clonic seizures. Adverse effects: nausea, abdominal pain, headache and drowsiness. Phenobarbital enhances GABA-A receptors. It is cheap and long-acting but sedating and a strong inducer. It is still used in neonatal seizures and in status epilepticus. Benzodiazepines (diazepam, lorazepam, midazolam, clonazepam) are used mainly for acute seizures and status epilepticus. Tolerance limits their long-term use.</a:t>
            </a:r>
          </a:p>
          <a:p/>
          <a:p>
            <a:r>
              <a:t>Time: 1:30  (at 17:00 of 40:00).  Next: Newer Drugs.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Newer drugs cause fewer interactions and are often better tolerated. They are not free of serious adverse effects.</a:t>
            </a:r>
          </a:p>
          <a:p/>
          <a:p>
            <a:r>
              <a:t>Time: 2:00  (at 19:00 of 40:00).  Next: Comparing the Main Drugs.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antiseizure drugs carry a warning for suicidal thoughts. Ask about mood at each visit. Do not stop antiseizure drugs suddenly; this can trigger status epilepticus. Withdraw slowly under specialist advice.</a:t>
            </a:r>
          </a:p>
          <a:p/>
          <a:p>
            <a:r>
              <a:t>Time: 2:30  (at 21:30 of 40:00).  Next: Comparing the Main Drugs.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antiseizure drugs carry a warning for suicidal thoughts. Ask about mood at each visit. Do not stop antiseizure drugs suddenly; this can trigger status epilepticus. Withdraw slowly under specialist advice.</a:t>
            </a:r>
          </a:p>
          <a:p/>
          <a:p>
            <a:r>
              <a:t>Time: 1:30  (at 23:00 of 40:00).  Next: Choosing a Drug.</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Start with one drug (monotherapy) at a low dose and increase slowly. Monotherapy means fewer adverse effects, fewer interactions and better adherence. If the first drug fails, try a second single drug before combining.</a:t>
            </a:r>
          </a:p>
          <a:p/>
          <a:p>
            <a:r>
              <a:t>Time: 2:30  (at 25:30 of 40:00).  Next: Status Epilepticus.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Status epilepticus is a seizure that lasts more than 5 minutes, or repeated seizures without recovery between them. It is an emergency. Brain damage becomes likely after about 30 minutes.</a:t>
            </a:r>
          </a:p>
          <a:p/>
          <a:p>
            <a:r>
              <a:t>Time: 2:00  (at 27:30 of 40:00).  Next: Status Epilepticus.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Status epilepticus is a seizure that lasts more than 5 minutes, or repeated seizures without recovery between them. It is an emergency. Brain damage becomes likely after about 30 minutes.</a:t>
            </a:r>
          </a:p>
          <a:p/>
          <a:p>
            <a:r>
              <a:t>Time: 1:30  (at 29:00 of 40:00).  Next: Brands in Egypt.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C: A brief stare many times a day without post-ictal confusion is an absence seizure. A keeps awareness. B is jerking. D is stiffening and jerking.</a:t>
            </a:r>
          </a:p>
          <a:p/>
          <a:p>
            <a:r>
              <a:t>Time: 0:45  (at 34:15 of 40:00).  Next: Check your answer.</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A: Ethosuximide blocks thalamic T-type Ca2+ channels. B and C can worsen absence seizures. D is not effective.</a:t>
            </a:r>
          </a:p>
          <a:p/>
          <a:p>
            <a:r>
              <a:t>Time: 0:45  (at 35:45 of 40:00).  Next: Check your answer.</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D: Levetiracetam binds SV2A. A is ethosuximide. B is valproate. C is gabapentin and pregabalin.</a:t>
            </a:r>
          </a:p>
          <a:p/>
          <a:p>
            <a:r>
              <a:t>Time: 0:45  (at 37:15 of 40:00).  Next: Check your answer.</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0:30  (at 0:30 of 40:00).  Next: Learning Objectives.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2:30  (at 31:30 of 40:00).  Next: For Discussion.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2:00  (at 33:30 of 40:00).  Next: Your turn.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0:45  (at 35:00 of 40:00).  Next: Your turn.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0:45  (at 36:30 of 40:00).  Next: Your turn.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0:45  (at 38:00 of 40:00).</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2:00  (at 40:00 of 40:00).</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19.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2.png"/><Relationship Id="rId4"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0.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2.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3.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2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B2A8C"/>
        </a:solidFill>
        <a:effectLst/>
      </p:bgPr>
    </p:bg>
    <p:spTree>
      <p:nvGrpSpPr>
        <p:cNvPr id="1" name=""/>
        <p:cNvGrpSpPr/>
        <p:nvPr/>
      </p:nvGrpSpPr>
      <p:grpSpPr/>
      <p:sp>
        <p:nvSpPr>
          <p:cNvPr id="2" name="TextBox 1"/>
          <p:cNvSpPr txBox="1"/>
          <p:nvPr/>
        </p:nvSpPr>
        <p:spPr>
          <a:xfrm>
            <a:off x="7589520" y="1097280"/>
            <a:ext cx="4754880" cy="5120640"/>
          </a:xfrm>
          <a:prstGeom prst="rect">
            <a:avLst/>
          </a:prstGeom>
          <a:noFill/>
        </p:spPr>
        <p:txBody>
          <a:bodyPr wrap="square" anchor="ctr" lIns="0" rIns="0" tIns="0" bIns="0">
            <a:spAutoFit/>
          </a:bodyPr>
          <a:lstStyle/>
          <a:p>
            <a:pPr algn="r"/>
            <a:r>
              <a:rPr sz="28000" i="0" b="1">
                <a:solidFill>
                  <a:srgbClr val="172477"/>
                </a:solidFill>
                <a:latin typeface="Cambria"/>
              </a:rPr>
              <a:t>05</a:t>
            </a:r>
          </a:p>
        </p:txBody>
      </p:sp>
      <p:pic>
        <p:nvPicPr>
          <p:cNvPr id="3" name="Picture 2" descr="port-said-university.png"/>
          <p:cNvPicPr>
            <a:picLocks noChangeAspect="1"/>
          </p:cNvPicPr>
          <p:nvPr/>
        </p:nvPicPr>
        <p:blipFill>
          <a:blip r:embed="rId2"/>
          <a:stretch>
            <a:fillRect/>
          </a:stretch>
        </p:blipFill>
        <p:spPr>
          <a:xfrm>
            <a:off x="548640" y="502920"/>
            <a:ext cx="960120" cy="960120"/>
          </a:xfrm>
          <a:prstGeom prst="rect">
            <a:avLst/>
          </a:prstGeom>
        </p:spPr>
      </p:pic>
      <p:pic>
        <p:nvPicPr>
          <p:cNvPr id="4" name="Picture 3" descr="faculty-of-pharmacy.png"/>
          <p:cNvPicPr>
            <a:picLocks noChangeAspect="1"/>
          </p:cNvPicPr>
          <p:nvPr/>
        </p:nvPicPr>
        <p:blipFill>
          <a:blip r:embed="rId3"/>
          <a:stretch>
            <a:fillRect/>
          </a:stretch>
        </p:blipFill>
        <p:spPr>
          <a:xfrm>
            <a:off x="1691640" y="502920"/>
            <a:ext cx="960120" cy="960120"/>
          </a:xfrm>
          <a:prstGeom prst="rect">
            <a:avLst/>
          </a:prstGeom>
        </p:spPr>
      </p:pic>
      <p:sp>
        <p:nvSpPr>
          <p:cNvPr id="5" name="TextBox 4"/>
          <p:cNvSpPr txBox="1"/>
          <p:nvPr/>
        </p:nvSpPr>
        <p:spPr>
          <a:xfrm>
            <a:off x="2971800" y="658368"/>
            <a:ext cx="6400800" cy="731520"/>
          </a:xfrm>
          <a:prstGeom prst="rect">
            <a:avLst/>
          </a:prstGeom>
          <a:noFill/>
        </p:spPr>
        <p:txBody>
          <a:bodyPr wrap="square" anchor="ctr" lIns="0" rIns="0" tIns="0" bIns="0">
            <a:spAutoFit/>
          </a:bodyPr>
          <a:lstStyle/>
          <a:p>
            <a:r>
              <a:rPr sz="1800" i="0" b="1">
                <a:solidFill>
                  <a:srgbClr val="FFFFFF"/>
                </a:solidFill>
                <a:latin typeface="Cambria"/>
              </a:rPr>
              <a:t>Faculty of Pharmacy</a:t>
            </a:r>
          </a:p>
          <a:p>
            <a:r>
              <a:rPr sz="1200" i="0" b="1" spc="200">
                <a:solidFill>
                  <a:srgbClr val="DFE1EF"/>
                </a:solidFill>
                <a:latin typeface="Calibri"/>
              </a:rPr>
              <a:t>PORT SAID UNIVERSITY</a:t>
            </a:r>
          </a:p>
        </p:txBody>
      </p:sp>
      <p:sp>
        <p:nvSpPr>
          <p:cNvPr id="6" name="TextBox 5"/>
          <p:cNvSpPr txBox="1"/>
          <p:nvPr/>
        </p:nvSpPr>
        <p:spPr>
          <a:xfrm>
            <a:off x="548640" y="2514600"/>
            <a:ext cx="6766560" cy="3108960"/>
          </a:xfrm>
          <a:prstGeom prst="rect">
            <a:avLst/>
          </a:prstGeom>
          <a:noFill/>
        </p:spPr>
        <p:txBody>
          <a:bodyPr wrap="square" anchor="t" lIns="0" rIns="0" tIns="0" bIns="0">
            <a:spAutoFit/>
          </a:bodyPr>
          <a:lstStyle/>
          <a:p>
            <a:r>
              <a:rPr sz="1400" i="0" b="1" spc="200">
                <a:solidFill>
                  <a:srgbClr val="DFE1EF"/>
                </a:solidFill>
                <a:latin typeface="Calibri"/>
              </a:rPr>
              <a:t>PRACTICAL PHARMACOLOGY OF THE CENTRAL NERVOUS SYSTEM  ·  SECTION 5</a:t>
            </a:r>
          </a:p>
          <a:p>
            <a:pPr>
              <a:spcBef>
                <a:spcPts val="1400"/>
              </a:spcBef>
            </a:pPr>
            <a:r>
              <a:rPr sz="3600" i="0" b="1">
                <a:solidFill>
                  <a:srgbClr val="FFFFFF"/>
                </a:solidFill>
                <a:latin typeface="Cambria"/>
              </a:rPr>
              <a:t>Epilepsy and Antiseizure Drugs</a:t>
            </a:r>
          </a:p>
          <a:p>
            <a:pPr>
              <a:spcBef>
                <a:spcPts val="1600"/>
              </a:spcBef>
            </a:pPr>
            <a:r>
              <a:rPr sz="2000" i="1" b="0">
                <a:solidFill>
                  <a:srgbClr val="DFE1EF"/>
                </a:solidFill>
                <a:latin typeface="Cambria"/>
              </a:rPr>
              <a:t>A Laboratory and Section Guide</a:t>
            </a:r>
          </a:p>
        </p:txBody>
      </p:sp>
      <p:sp>
        <p:nvSpPr>
          <p:cNvPr id="7" name="TextBox 6"/>
          <p:cNvSpPr txBox="1"/>
          <p:nvPr/>
        </p:nvSpPr>
        <p:spPr>
          <a:xfrm>
            <a:off x="548640" y="5989320"/>
            <a:ext cx="8229600" cy="457200"/>
          </a:xfrm>
          <a:prstGeom prst="rect">
            <a:avLst/>
          </a:prstGeom>
          <a:noFill/>
        </p:spPr>
        <p:txBody>
          <a:bodyPr wrap="square" anchor="t" lIns="0" rIns="0" tIns="0" bIns="0">
            <a:spAutoFit/>
          </a:bodyPr>
          <a:lstStyle/>
          <a:p>
            <a:r>
              <a:rPr sz="1300" i="0" b="0">
                <a:solidFill>
                  <a:srgbClr val="DFE1EF"/>
                </a:solidFill>
                <a:latin typeface="Calibri"/>
              </a:rPr>
              <a:t>40 minutes  ·  3 questions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05</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5</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Learning Objectives</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5  ·  Epilepsy and Antiseizure Drugs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02 / 25</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Oval 7"/>
          <p:cNvSpPr/>
          <p:nvPr/>
        </p:nvSpPr>
        <p:spPr>
          <a:xfrm>
            <a:off x="548640" y="1572768"/>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1</a:t>
            </a:r>
          </a:p>
        </p:txBody>
      </p:sp>
      <p:sp>
        <p:nvSpPr>
          <p:cNvPr id="9" name="TextBox 8"/>
          <p:cNvSpPr txBox="1"/>
          <p:nvPr/>
        </p:nvSpPr>
        <p:spPr>
          <a:xfrm>
            <a:off x="1143000" y="1591056"/>
            <a:ext cx="6629400" cy="944499"/>
          </a:xfrm>
          <a:prstGeom prst="rect">
            <a:avLst/>
          </a:prstGeom>
          <a:noFill/>
        </p:spPr>
        <p:txBody>
          <a:bodyPr wrap="square" anchor="t" lIns="0" rIns="0" tIns="0" bIns="0">
            <a:spAutoFit/>
          </a:bodyPr>
          <a:lstStyle/>
          <a:p>
            <a:r>
              <a:rPr sz="2100" i="0" b="0">
                <a:solidFill>
                  <a:srgbClr val="1A1F36"/>
                </a:solidFill>
                <a:latin typeface="Calibri"/>
              </a:rPr>
              <a:t>Classify seizures as focal or generalised and describe awareness in each type.</a:t>
            </a:r>
          </a:p>
        </p:txBody>
      </p:sp>
      <p:sp>
        <p:nvSpPr>
          <p:cNvPr id="10" name="Oval 9"/>
          <p:cNvSpPr/>
          <p:nvPr/>
        </p:nvSpPr>
        <p:spPr>
          <a:xfrm>
            <a:off x="548640" y="2562987"/>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2</a:t>
            </a:r>
          </a:p>
        </p:txBody>
      </p:sp>
      <p:sp>
        <p:nvSpPr>
          <p:cNvPr id="11" name="TextBox 10"/>
          <p:cNvSpPr txBox="1"/>
          <p:nvPr/>
        </p:nvSpPr>
        <p:spPr>
          <a:xfrm>
            <a:off x="1143000" y="2581275"/>
            <a:ext cx="6629400" cy="944499"/>
          </a:xfrm>
          <a:prstGeom prst="rect">
            <a:avLst/>
          </a:prstGeom>
          <a:noFill/>
        </p:spPr>
        <p:txBody>
          <a:bodyPr wrap="square" anchor="t" lIns="0" rIns="0" tIns="0" bIns="0">
            <a:spAutoFit/>
          </a:bodyPr>
          <a:lstStyle/>
          <a:p>
            <a:r>
              <a:rPr sz="2100" i="0" b="0">
                <a:solidFill>
                  <a:srgbClr val="1A1F36"/>
                </a:solidFill>
                <a:latin typeface="Calibri"/>
              </a:rPr>
              <a:t>Classify antiseizure drugs by their mechanism of action.</a:t>
            </a:r>
          </a:p>
        </p:txBody>
      </p:sp>
      <p:sp>
        <p:nvSpPr>
          <p:cNvPr id="12" name="Oval 11"/>
          <p:cNvSpPr/>
          <p:nvPr/>
        </p:nvSpPr>
        <p:spPr>
          <a:xfrm>
            <a:off x="548640" y="3553206"/>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3</a:t>
            </a:r>
          </a:p>
        </p:txBody>
      </p:sp>
      <p:sp>
        <p:nvSpPr>
          <p:cNvPr id="13" name="TextBox 12"/>
          <p:cNvSpPr txBox="1"/>
          <p:nvPr/>
        </p:nvSpPr>
        <p:spPr>
          <a:xfrm>
            <a:off x="1143000" y="3571494"/>
            <a:ext cx="6629400" cy="944499"/>
          </a:xfrm>
          <a:prstGeom prst="rect">
            <a:avLst/>
          </a:prstGeom>
          <a:noFill/>
        </p:spPr>
        <p:txBody>
          <a:bodyPr wrap="square" anchor="t" lIns="0" rIns="0" tIns="0" bIns="0">
            <a:spAutoFit/>
          </a:bodyPr>
          <a:lstStyle/>
          <a:p>
            <a:r>
              <a:rPr sz="2100" i="0" b="0">
                <a:solidFill>
                  <a:srgbClr val="1A1F36"/>
                </a:solidFill>
                <a:latin typeface="Calibri"/>
              </a:rPr>
              <a:t>Compare the adverse effects, enzyme effects and interactions of the main antiseizure drugs.</a:t>
            </a:r>
          </a:p>
        </p:txBody>
      </p:sp>
      <p:sp>
        <p:nvSpPr>
          <p:cNvPr id="14" name="Oval 13"/>
          <p:cNvSpPr/>
          <p:nvPr/>
        </p:nvSpPr>
        <p:spPr>
          <a:xfrm>
            <a:off x="548640" y="4543425"/>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4</a:t>
            </a:r>
          </a:p>
        </p:txBody>
      </p:sp>
      <p:sp>
        <p:nvSpPr>
          <p:cNvPr id="15" name="TextBox 14"/>
          <p:cNvSpPr txBox="1"/>
          <p:nvPr/>
        </p:nvSpPr>
        <p:spPr>
          <a:xfrm>
            <a:off x="1143000" y="4561713"/>
            <a:ext cx="6629400" cy="944499"/>
          </a:xfrm>
          <a:prstGeom prst="rect">
            <a:avLst/>
          </a:prstGeom>
          <a:noFill/>
        </p:spPr>
        <p:txBody>
          <a:bodyPr wrap="square" anchor="t" lIns="0" rIns="0" tIns="0" bIns="0">
            <a:spAutoFit/>
          </a:bodyPr>
          <a:lstStyle/>
          <a:p>
            <a:r>
              <a:rPr sz="2100" i="0" b="0">
                <a:solidFill>
                  <a:srgbClr val="1A1F36"/>
                </a:solidFill>
                <a:latin typeface="Calibri"/>
              </a:rPr>
              <a:t>Select a drug for each seizure type and for women who could become pregnant.</a:t>
            </a:r>
          </a:p>
        </p:txBody>
      </p:sp>
      <p:sp>
        <p:nvSpPr>
          <p:cNvPr id="16" name="Oval 15"/>
          <p:cNvSpPr/>
          <p:nvPr/>
        </p:nvSpPr>
        <p:spPr>
          <a:xfrm>
            <a:off x="548640" y="5533644"/>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5</a:t>
            </a:r>
          </a:p>
        </p:txBody>
      </p:sp>
      <p:sp>
        <p:nvSpPr>
          <p:cNvPr id="17" name="TextBox 16"/>
          <p:cNvSpPr txBox="1"/>
          <p:nvPr/>
        </p:nvSpPr>
        <p:spPr>
          <a:xfrm>
            <a:off x="1143000" y="5551932"/>
            <a:ext cx="6629400" cy="611124"/>
          </a:xfrm>
          <a:prstGeom prst="rect">
            <a:avLst/>
          </a:prstGeom>
          <a:noFill/>
        </p:spPr>
        <p:txBody>
          <a:bodyPr wrap="square" anchor="t" lIns="0" rIns="0" tIns="0" bIns="0">
            <a:spAutoFit/>
          </a:bodyPr>
          <a:lstStyle/>
          <a:p>
            <a:r>
              <a:rPr sz="2100" i="0" b="0">
                <a:solidFill>
                  <a:srgbClr val="1A1F36"/>
                </a:solidFill>
                <a:latin typeface="Calibri"/>
              </a:rPr>
              <a:t>Outline the drug treatment of status epilepticus.</a:t>
            </a:r>
          </a:p>
        </p:txBody>
      </p:sp>
      <p:sp>
        <p:nvSpPr>
          <p:cNvPr id="18" name="Rounded Rectangle 17"/>
          <p:cNvSpPr/>
          <p:nvPr/>
        </p:nvSpPr>
        <p:spPr>
          <a:xfrm>
            <a:off x="8366760" y="1600200"/>
            <a:ext cx="3273552" cy="4526280"/>
          </a:xfrm>
          <a:prstGeom prst="roundRect">
            <a:avLst>
              <a:gd name="adj" fmla="val 5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641080" y="1874519"/>
            <a:ext cx="2743200" cy="4023360"/>
          </a:xfrm>
          <a:prstGeom prst="rect">
            <a:avLst/>
          </a:prstGeom>
          <a:noFill/>
        </p:spPr>
        <p:txBody>
          <a:bodyPr wrap="square" anchor="t" lIns="0" rIns="0" tIns="0" bIns="0">
            <a:spAutoFit/>
          </a:bodyPr>
          <a:lstStyle/>
          <a:p>
            <a:pPr>
              <a:spcBef>
                <a:spcPts val="0"/>
              </a:spcBef>
            </a:pPr>
            <a:r>
              <a:rPr sz="5400" i="0" b="1">
                <a:solidFill>
                  <a:srgbClr val="1B2A8C"/>
                </a:solidFill>
                <a:latin typeface="Cambria"/>
              </a:rPr>
              <a:t>40</a:t>
            </a:r>
          </a:p>
          <a:p>
            <a:r>
              <a:rPr sz="1200" i="0" b="1" spc="150">
                <a:solidFill>
                  <a:srgbClr val="5A6072"/>
                </a:solidFill>
                <a:latin typeface="Calibri"/>
              </a:rPr>
              <a:t>MINUTES</a:t>
            </a:r>
          </a:p>
          <a:p>
            <a:pPr>
              <a:spcBef>
                <a:spcPts val="1600"/>
              </a:spcBef>
            </a:pPr>
            <a:r>
              <a:rPr sz="5400" i="0" b="1">
                <a:solidFill>
                  <a:srgbClr val="1B2A8C"/>
                </a:solidFill>
                <a:latin typeface="Cambria"/>
              </a:rPr>
              <a:t>3</a:t>
            </a:r>
          </a:p>
          <a:p>
            <a:r>
              <a:rPr sz="1200" i="0" b="1" spc="150">
                <a:solidFill>
                  <a:srgbClr val="5A6072"/>
                </a:solidFill>
                <a:latin typeface="Calibri"/>
              </a:rPr>
              <a:t>QUESTIONS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05</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5</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Roadmap</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5  ·  Epilepsy and Antiseizure Drugs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03 / 25</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Oval 7"/>
          <p:cNvSpPr/>
          <p:nvPr/>
        </p:nvSpPr>
        <p:spPr>
          <a:xfrm>
            <a:off x="548640" y="1572768"/>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1</a:t>
            </a:r>
          </a:p>
        </p:txBody>
      </p:sp>
      <p:sp>
        <p:nvSpPr>
          <p:cNvPr id="9" name="TextBox 8"/>
          <p:cNvSpPr txBox="1"/>
          <p:nvPr/>
        </p:nvSpPr>
        <p:spPr>
          <a:xfrm>
            <a:off x="1143000" y="1591056"/>
            <a:ext cx="4678527" cy="824737"/>
          </a:xfrm>
          <a:prstGeom prst="rect">
            <a:avLst/>
          </a:prstGeom>
          <a:noFill/>
        </p:spPr>
        <p:txBody>
          <a:bodyPr wrap="square" anchor="t" lIns="0" rIns="0" tIns="0" bIns="0">
            <a:spAutoFit/>
          </a:bodyPr>
          <a:lstStyle/>
          <a:p>
            <a:r>
              <a:rPr sz="2200" i="0" b="0">
                <a:solidFill>
                  <a:srgbClr val="1A1F36"/>
                </a:solidFill>
                <a:latin typeface="Calibri"/>
              </a:rPr>
              <a:t>The Disease in Brief</a:t>
            </a:r>
          </a:p>
        </p:txBody>
      </p:sp>
      <p:sp>
        <p:nvSpPr>
          <p:cNvPr id="10" name="Oval 9"/>
          <p:cNvSpPr/>
          <p:nvPr/>
        </p:nvSpPr>
        <p:spPr>
          <a:xfrm>
            <a:off x="548640" y="2443226"/>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2</a:t>
            </a:r>
          </a:p>
        </p:txBody>
      </p:sp>
      <p:sp>
        <p:nvSpPr>
          <p:cNvPr id="11" name="TextBox 10"/>
          <p:cNvSpPr txBox="1"/>
          <p:nvPr/>
        </p:nvSpPr>
        <p:spPr>
          <a:xfrm>
            <a:off x="1143000" y="2461514"/>
            <a:ext cx="4678527" cy="824737"/>
          </a:xfrm>
          <a:prstGeom prst="rect">
            <a:avLst/>
          </a:prstGeom>
          <a:noFill/>
        </p:spPr>
        <p:txBody>
          <a:bodyPr wrap="square" anchor="t" lIns="0" rIns="0" tIns="0" bIns="0">
            <a:spAutoFit/>
          </a:bodyPr>
          <a:lstStyle/>
          <a:p>
            <a:r>
              <a:rPr sz="2200" i="0" b="0">
                <a:solidFill>
                  <a:srgbClr val="1A1F36"/>
                </a:solidFill>
                <a:latin typeface="Calibri"/>
              </a:rPr>
              <a:t>How Antiseizure Drugs Work</a:t>
            </a:r>
          </a:p>
        </p:txBody>
      </p:sp>
      <p:sp>
        <p:nvSpPr>
          <p:cNvPr id="12" name="Oval 11"/>
          <p:cNvSpPr/>
          <p:nvPr/>
        </p:nvSpPr>
        <p:spPr>
          <a:xfrm>
            <a:off x="548640" y="3313684"/>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3</a:t>
            </a:r>
          </a:p>
        </p:txBody>
      </p:sp>
      <p:sp>
        <p:nvSpPr>
          <p:cNvPr id="13" name="TextBox 12"/>
          <p:cNvSpPr txBox="1"/>
          <p:nvPr/>
        </p:nvSpPr>
        <p:spPr>
          <a:xfrm>
            <a:off x="1143000" y="3331972"/>
            <a:ext cx="4678527" cy="824737"/>
          </a:xfrm>
          <a:prstGeom prst="rect">
            <a:avLst/>
          </a:prstGeom>
          <a:noFill/>
        </p:spPr>
        <p:txBody>
          <a:bodyPr wrap="square" anchor="t" lIns="0" rIns="0" tIns="0" bIns="0">
            <a:spAutoFit/>
          </a:bodyPr>
          <a:lstStyle/>
          <a:p>
            <a:r>
              <a:rPr sz="2200" i="0" b="0">
                <a:solidFill>
                  <a:srgbClr val="1A1F36"/>
                </a:solidFill>
                <a:latin typeface="Calibri"/>
              </a:rPr>
              <a:t>Older Drugs</a:t>
            </a:r>
          </a:p>
        </p:txBody>
      </p:sp>
      <p:sp>
        <p:nvSpPr>
          <p:cNvPr id="14" name="Oval 13"/>
          <p:cNvSpPr/>
          <p:nvPr/>
        </p:nvSpPr>
        <p:spPr>
          <a:xfrm>
            <a:off x="548640" y="4184141"/>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4</a:t>
            </a:r>
          </a:p>
        </p:txBody>
      </p:sp>
      <p:sp>
        <p:nvSpPr>
          <p:cNvPr id="15" name="TextBox 14"/>
          <p:cNvSpPr txBox="1"/>
          <p:nvPr/>
        </p:nvSpPr>
        <p:spPr>
          <a:xfrm>
            <a:off x="1143000" y="4202430"/>
            <a:ext cx="4678527" cy="824737"/>
          </a:xfrm>
          <a:prstGeom prst="rect">
            <a:avLst/>
          </a:prstGeom>
          <a:noFill/>
        </p:spPr>
        <p:txBody>
          <a:bodyPr wrap="square" anchor="t" lIns="0" rIns="0" tIns="0" bIns="0">
            <a:spAutoFit/>
          </a:bodyPr>
          <a:lstStyle/>
          <a:p>
            <a:r>
              <a:rPr sz="2200" i="0" b="0">
                <a:solidFill>
                  <a:srgbClr val="1A1F36"/>
                </a:solidFill>
                <a:latin typeface="Calibri"/>
              </a:rPr>
              <a:t>Newer Drugs</a:t>
            </a:r>
          </a:p>
        </p:txBody>
      </p:sp>
      <p:sp>
        <p:nvSpPr>
          <p:cNvPr id="16" name="Oval 15"/>
          <p:cNvSpPr/>
          <p:nvPr/>
        </p:nvSpPr>
        <p:spPr>
          <a:xfrm>
            <a:off x="548640" y="5054599"/>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5</a:t>
            </a:r>
          </a:p>
        </p:txBody>
      </p:sp>
      <p:sp>
        <p:nvSpPr>
          <p:cNvPr id="17" name="TextBox 16"/>
          <p:cNvSpPr txBox="1"/>
          <p:nvPr/>
        </p:nvSpPr>
        <p:spPr>
          <a:xfrm>
            <a:off x="1143000" y="5072887"/>
            <a:ext cx="4678527" cy="824737"/>
          </a:xfrm>
          <a:prstGeom prst="rect">
            <a:avLst/>
          </a:prstGeom>
          <a:noFill/>
        </p:spPr>
        <p:txBody>
          <a:bodyPr wrap="square" anchor="t" lIns="0" rIns="0" tIns="0" bIns="0">
            <a:spAutoFit/>
          </a:bodyPr>
          <a:lstStyle/>
          <a:p>
            <a:r>
              <a:rPr sz="2200" i="0" b="0">
                <a:solidFill>
                  <a:srgbClr val="1A1F36"/>
                </a:solidFill>
                <a:latin typeface="Calibri"/>
              </a:rPr>
              <a:t>Comparing the Main Drugs</a:t>
            </a:r>
          </a:p>
        </p:txBody>
      </p:sp>
      <p:sp>
        <p:nvSpPr>
          <p:cNvPr id="18" name="Oval 17"/>
          <p:cNvSpPr/>
          <p:nvPr/>
        </p:nvSpPr>
        <p:spPr>
          <a:xfrm>
            <a:off x="6370167" y="1572768"/>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6</a:t>
            </a:r>
          </a:p>
        </p:txBody>
      </p:sp>
      <p:sp>
        <p:nvSpPr>
          <p:cNvPr id="19" name="TextBox 18"/>
          <p:cNvSpPr txBox="1"/>
          <p:nvPr/>
        </p:nvSpPr>
        <p:spPr>
          <a:xfrm>
            <a:off x="6964527" y="1591056"/>
            <a:ext cx="4678527" cy="824737"/>
          </a:xfrm>
          <a:prstGeom prst="rect">
            <a:avLst/>
          </a:prstGeom>
          <a:noFill/>
        </p:spPr>
        <p:txBody>
          <a:bodyPr wrap="square" anchor="t" lIns="0" rIns="0" tIns="0" bIns="0">
            <a:spAutoFit/>
          </a:bodyPr>
          <a:lstStyle/>
          <a:p>
            <a:r>
              <a:rPr sz="2200" i="0" b="0">
                <a:solidFill>
                  <a:srgbClr val="1A1F36"/>
                </a:solidFill>
                <a:latin typeface="Calibri"/>
              </a:rPr>
              <a:t>Choosing a Drug</a:t>
            </a:r>
          </a:p>
        </p:txBody>
      </p:sp>
      <p:sp>
        <p:nvSpPr>
          <p:cNvPr id="20" name="Oval 19"/>
          <p:cNvSpPr/>
          <p:nvPr/>
        </p:nvSpPr>
        <p:spPr>
          <a:xfrm>
            <a:off x="6370167" y="2443226"/>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7</a:t>
            </a:r>
          </a:p>
        </p:txBody>
      </p:sp>
      <p:sp>
        <p:nvSpPr>
          <p:cNvPr id="21" name="TextBox 20"/>
          <p:cNvSpPr txBox="1"/>
          <p:nvPr/>
        </p:nvSpPr>
        <p:spPr>
          <a:xfrm>
            <a:off x="6964527" y="2461514"/>
            <a:ext cx="4678527" cy="824737"/>
          </a:xfrm>
          <a:prstGeom prst="rect">
            <a:avLst/>
          </a:prstGeom>
          <a:noFill/>
        </p:spPr>
        <p:txBody>
          <a:bodyPr wrap="square" anchor="t" lIns="0" rIns="0" tIns="0" bIns="0">
            <a:spAutoFit/>
          </a:bodyPr>
          <a:lstStyle/>
          <a:p>
            <a:r>
              <a:rPr sz="2200" i="0" b="0">
                <a:solidFill>
                  <a:srgbClr val="1A1F36"/>
                </a:solidFill>
                <a:latin typeface="Calibri"/>
              </a:rPr>
              <a:t>Status Epilepticus</a:t>
            </a:r>
          </a:p>
        </p:txBody>
      </p:sp>
      <p:sp>
        <p:nvSpPr>
          <p:cNvPr id="22" name="Oval 21"/>
          <p:cNvSpPr/>
          <p:nvPr/>
        </p:nvSpPr>
        <p:spPr>
          <a:xfrm>
            <a:off x="6370167" y="3313684"/>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8</a:t>
            </a:r>
          </a:p>
        </p:txBody>
      </p:sp>
      <p:sp>
        <p:nvSpPr>
          <p:cNvPr id="23" name="TextBox 22"/>
          <p:cNvSpPr txBox="1"/>
          <p:nvPr/>
        </p:nvSpPr>
        <p:spPr>
          <a:xfrm>
            <a:off x="6964527" y="3331972"/>
            <a:ext cx="4678527" cy="824737"/>
          </a:xfrm>
          <a:prstGeom prst="rect">
            <a:avLst/>
          </a:prstGeom>
          <a:noFill/>
        </p:spPr>
        <p:txBody>
          <a:bodyPr wrap="square" anchor="t" lIns="0" rIns="0" tIns="0" bIns="0">
            <a:spAutoFit/>
          </a:bodyPr>
          <a:lstStyle/>
          <a:p>
            <a:r>
              <a:rPr sz="2200" i="0" b="0">
                <a:solidFill>
                  <a:srgbClr val="1A1F36"/>
                </a:solidFill>
                <a:latin typeface="Calibri"/>
              </a:rPr>
              <a:t>Brands in Egypt</a:t>
            </a:r>
          </a:p>
        </p:txBody>
      </p:sp>
      <p:sp>
        <p:nvSpPr>
          <p:cNvPr id="24" name="Oval 23"/>
          <p:cNvSpPr/>
          <p:nvPr/>
        </p:nvSpPr>
        <p:spPr>
          <a:xfrm>
            <a:off x="6370167" y="4184141"/>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9</a:t>
            </a:r>
          </a:p>
        </p:txBody>
      </p:sp>
      <p:sp>
        <p:nvSpPr>
          <p:cNvPr id="25" name="TextBox 24"/>
          <p:cNvSpPr txBox="1"/>
          <p:nvPr/>
        </p:nvSpPr>
        <p:spPr>
          <a:xfrm>
            <a:off x="6964527" y="4202430"/>
            <a:ext cx="4678527" cy="824737"/>
          </a:xfrm>
          <a:prstGeom prst="rect">
            <a:avLst/>
          </a:prstGeom>
          <a:noFill/>
        </p:spPr>
        <p:txBody>
          <a:bodyPr wrap="square" anchor="t" lIns="0" rIns="0" tIns="0" bIns="0">
            <a:spAutoFit/>
          </a:bodyPr>
          <a:lstStyle/>
          <a:p>
            <a:r>
              <a:rPr sz="2200" i="0" b="0">
                <a:solidFill>
                  <a:srgbClr val="1A1F36"/>
                </a:solidFill>
                <a:latin typeface="Calibri"/>
              </a:rPr>
              <a:t>For Discussion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05</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5</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Seizure types</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5  ·  Epilepsy and Antiseizure Drugs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04 / 25</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graphicFrame>
        <p:nvGraphicFramePr>
          <p:cNvPr id="8" name="Table 7"/>
          <p:cNvGraphicFramePr>
            <a:graphicFrameLocks noGrp="1"/>
          </p:cNvGraphicFramePr>
          <p:nvPr/>
        </p:nvGraphicFramePr>
        <p:xfrm>
          <a:off x="548640" y="1554480"/>
          <a:ext cx="11094413" cy="4617720"/>
        </p:xfrm>
        <a:graphic>
          <a:graphicData uri="http://schemas.openxmlformats.org/drawingml/2006/table">
            <a:tbl>
              <a:tblPr firstRow="0" bandRow="0">
                <a:tableStyleId>{5C22544A-7EE6-4342-B048-85BDC9FD1C3A}</a:tableStyleId>
              </a:tblPr>
              <a:tblGrid>
                <a:gridCol w="2846593"/>
                <a:gridCol w="4963290"/>
                <a:gridCol w="3284530"/>
              </a:tblGrid>
              <a:tr h="577215">
                <a:tc>
                  <a:txBody>
                    <a:bodyPr/>
                    <a:lstStyle/>
                    <a:p>
                      <a:r>
                        <a:rPr sz="1500" i="0" b="1">
                          <a:solidFill>
                            <a:srgbClr val="FFFFFF"/>
                          </a:solidFill>
                          <a:latin typeface="Calibri"/>
                        </a:rPr>
                        <a:t>Seizure type</a:t>
                      </a:r>
                    </a:p>
                  </a:txBody>
                  <a:tcPr marL="109728" marR="109728" marT="45720" marB="45720" anchor="ctr">
                    <a:solidFill>
                      <a:srgbClr val="1B2A8C"/>
                    </a:solidFill>
                  </a:tcPr>
                </a:tc>
                <a:tc>
                  <a:txBody>
                    <a:bodyPr/>
                    <a:lstStyle/>
                    <a:p>
                      <a:r>
                        <a:rPr sz="1500" i="0" b="1">
                          <a:solidFill>
                            <a:srgbClr val="FFFFFF"/>
                          </a:solidFill>
                          <a:latin typeface="Calibri"/>
                        </a:rPr>
                        <a:t>What happens</a:t>
                      </a:r>
                    </a:p>
                  </a:txBody>
                  <a:tcPr marL="109728" marR="109728" marT="45720" marB="45720" anchor="ctr">
                    <a:solidFill>
                      <a:srgbClr val="1B2A8C"/>
                    </a:solidFill>
                  </a:tcPr>
                </a:tc>
                <a:tc>
                  <a:txBody>
                    <a:bodyPr/>
                    <a:lstStyle/>
                    <a:p>
                      <a:r>
                        <a:rPr sz="1500" i="0" b="1">
                          <a:solidFill>
                            <a:srgbClr val="FFFFFF"/>
                          </a:solidFill>
                          <a:latin typeface="Calibri"/>
                        </a:rPr>
                        <a:t>Awareness</a:t>
                      </a:r>
                    </a:p>
                  </a:txBody>
                  <a:tcPr marL="109728" marR="109728" marT="45720" marB="45720" anchor="ctr">
                    <a:solidFill>
                      <a:srgbClr val="1B2A8C"/>
                    </a:solidFill>
                  </a:tcPr>
                </a:tc>
              </a:tr>
              <a:tr h="577215">
                <a:tc>
                  <a:txBody>
                    <a:bodyPr/>
                    <a:lstStyle/>
                    <a:p>
                      <a:r>
                        <a:rPr sz="1600" i="0" b="1">
                          <a:solidFill>
                            <a:srgbClr val="1A1F36"/>
                          </a:solidFill>
                          <a:latin typeface="Calibri"/>
                        </a:rPr>
                        <a:t>Focal, aware</a:t>
                      </a:r>
                    </a:p>
                  </a:txBody>
                  <a:tcPr marL="109728" marR="109728" marT="45720" marB="45720" anchor="ctr">
                    <a:solidFill>
                      <a:srgbClr val="FFFFFF"/>
                    </a:solidFill>
                  </a:tcPr>
                </a:tc>
                <a:tc>
                  <a:txBody>
                    <a:bodyPr/>
                    <a:lstStyle/>
                    <a:p>
                      <a:r>
                        <a:rPr sz="1600" i="0" b="0">
                          <a:solidFill>
                            <a:srgbClr val="1A1F36"/>
                          </a:solidFill>
                          <a:latin typeface="Calibri"/>
                        </a:rPr>
                        <a:t>Starts in one area; twitching, sensory change or odd feeling</a:t>
                      </a:r>
                    </a:p>
                  </a:txBody>
                  <a:tcPr marL="109728" marR="109728" marT="45720" marB="45720" anchor="ctr">
                    <a:solidFill>
                      <a:srgbClr val="FFFFFF"/>
                    </a:solidFill>
                  </a:tcPr>
                </a:tc>
                <a:tc>
                  <a:txBody>
                    <a:bodyPr/>
                    <a:lstStyle/>
                    <a:p>
                      <a:r>
                        <a:rPr sz="1600" i="0" b="0">
                          <a:solidFill>
                            <a:srgbClr val="1A1F36"/>
                          </a:solidFill>
                          <a:latin typeface="Calibri"/>
                        </a:rPr>
                        <a:t>Preserved</a:t>
                      </a:r>
                    </a:p>
                  </a:txBody>
                  <a:tcPr marL="109728" marR="109728" marT="45720" marB="45720" anchor="ctr">
                    <a:solidFill>
                      <a:srgbClr val="FFFFFF"/>
                    </a:solidFill>
                  </a:tcPr>
                </a:tc>
              </a:tr>
              <a:tr h="577215">
                <a:tc>
                  <a:txBody>
                    <a:bodyPr/>
                    <a:lstStyle/>
                    <a:p>
                      <a:r>
                        <a:rPr sz="1600" i="0" b="1">
                          <a:solidFill>
                            <a:srgbClr val="1A1F36"/>
                          </a:solidFill>
                          <a:latin typeface="Calibri"/>
                        </a:rPr>
                        <a:t>Focal, impaired awareness</a:t>
                      </a:r>
                    </a:p>
                  </a:txBody>
                  <a:tcPr marL="109728" marR="109728" marT="45720" marB="45720" anchor="ctr">
                    <a:solidFill>
                      <a:srgbClr val="F1F2F8"/>
                    </a:solidFill>
                  </a:tcPr>
                </a:tc>
                <a:tc>
                  <a:txBody>
                    <a:bodyPr/>
                    <a:lstStyle/>
                    <a:p>
                      <a:r>
                        <a:rPr sz="1600" i="0" b="0">
                          <a:solidFill>
                            <a:srgbClr val="1A1F36"/>
                          </a:solidFill>
                          <a:latin typeface="Calibri"/>
                        </a:rPr>
                        <a:t>Staring, lip-smacking, fumbling</a:t>
                      </a:r>
                    </a:p>
                  </a:txBody>
                  <a:tcPr marL="109728" marR="109728" marT="45720" marB="45720" anchor="ctr">
                    <a:solidFill>
                      <a:srgbClr val="F1F2F8"/>
                    </a:solidFill>
                  </a:tcPr>
                </a:tc>
                <a:tc>
                  <a:txBody>
                    <a:bodyPr/>
                    <a:lstStyle/>
                    <a:p>
                      <a:r>
                        <a:rPr sz="1600" i="0" b="0">
                          <a:solidFill>
                            <a:srgbClr val="1A1F36"/>
                          </a:solidFill>
                          <a:latin typeface="Calibri"/>
                        </a:rPr>
                        <a:t>Impaired</a:t>
                      </a:r>
                    </a:p>
                  </a:txBody>
                  <a:tcPr marL="109728" marR="109728" marT="45720" marB="45720" anchor="ctr">
                    <a:solidFill>
                      <a:srgbClr val="F1F2F8"/>
                    </a:solidFill>
                  </a:tcPr>
                </a:tc>
              </a:tr>
              <a:tr h="577215">
                <a:tc>
                  <a:txBody>
                    <a:bodyPr/>
                    <a:lstStyle/>
                    <a:p>
                      <a:r>
                        <a:rPr sz="1600" i="0" b="1">
                          <a:solidFill>
                            <a:srgbClr val="1A1F36"/>
                          </a:solidFill>
                          <a:latin typeface="Calibri"/>
                        </a:rPr>
                        <a:t>Focal to bilateral tonic–clonic</a:t>
                      </a:r>
                    </a:p>
                  </a:txBody>
                  <a:tcPr marL="109728" marR="109728" marT="45720" marB="45720" anchor="ctr">
                    <a:solidFill>
                      <a:srgbClr val="FFFFFF"/>
                    </a:solidFill>
                  </a:tcPr>
                </a:tc>
                <a:tc>
                  <a:txBody>
                    <a:bodyPr/>
                    <a:lstStyle/>
                    <a:p>
                      <a:r>
                        <a:rPr sz="1600" i="0" b="0">
                          <a:solidFill>
                            <a:srgbClr val="1A1F36"/>
                          </a:solidFill>
                          <a:latin typeface="Calibri"/>
                        </a:rPr>
                        <a:t>Focal onset that spreads to both sides</a:t>
                      </a:r>
                    </a:p>
                  </a:txBody>
                  <a:tcPr marL="109728" marR="109728" marT="45720" marB="45720" anchor="ctr">
                    <a:solidFill>
                      <a:srgbClr val="FFFFFF"/>
                    </a:solidFill>
                  </a:tcPr>
                </a:tc>
                <a:tc>
                  <a:txBody>
                    <a:bodyPr/>
                    <a:lstStyle/>
                    <a:p>
                      <a:r>
                        <a:rPr sz="1600" i="0" b="0">
                          <a:solidFill>
                            <a:srgbClr val="1A1F36"/>
                          </a:solidFill>
                          <a:latin typeface="Calibri"/>
                        </a:rPr>
                        <a:t>Lost</a:t>
                      </a:r>
                    </a:p>
                  </a:txBody>
                  <a:tcPr marL="109728" marR="109728" marT="45720" marB="45720" anchor="ctr">
                    <a:solidFill>
                      <a:srgbClr val="FFFFFF"/>
                    </a:solidFill>
                  </a:tcPr>
                </a:tc>
              </a:tr>
              <a:tr h="577215">
                <a:tc>
                  <a:txBody>
                    <a:bodyPr/>
                    <a:lstStyle/>
                    <a:p>
                      <a:r>
                        <a:rPr sz="1600" i="0" b="1">
                          <a:solidFill>
                            <a:srgbClr val="1A1F36"/>
                          </a:solidFill>
                          <a:latin typeface="Calibri"/>
                        </a:rPr>
                        <a:t>Generalised tonic–clonic</a:t>
                      </a:r>
                    </a:p>
                  </a:txBody>
                  <a:tcPr marL="109728" marR="109728" marT="45720" marB="45720" anchor="ctr">
                    <a:solidFill>
                      <a:srgbClr val="F1F2F8"/>
                    </a:solidFill>
                  </a:tcPr>
                </a:tc>
                <a:tc>
                  <a:txBody>
                    <a:bodyPr/>
                    <a:lstStyle/>
                    <a:p>
                      <a:r>
                        <a:rPr sz="1600" i="0" b="0">
                          <a:solidFill>
                            <a:srgbClr val="1A1F36"/>
                          </a:solidFill>
                          <a:latin typeface="Calibri"/>
                        </a:rPr>
                        <a:t>Stiffening (tonic), then jerking (clonic); tongue biting, incontinence</a:t>
                      </a:r>
                    </a:p>
                  </a:txBody>
                  <a:tcPr marL="109728" marR="109728" marT="45720" marB="45720" anchor="ctr">
                    <a:solidFill>
                      <a:srgbClr val="F1F2F8"/>
                    </a:solidFill>
                  </a:tcPr>
                </a:tc>
                <a:tc>
                  <a:txBody>
                    <a:bodyPr/>
                    <a:lstStyle/>
                    <a:p>
                      <a:r>
                        <a:rPr sz="1600" i="0" b="0">
                          <a:solidFill>
                            <a:srgbClr val="1A1F36"/>
                          </a:solidFill>
                          <a:latin typeface="Calibri"/>
                        </a:rPr>
                        <a:t>Lost</a:t>
                      </a:r>
                    </a:p>
                  </a:txBody>
                  <a:tcPr marL="109728" marR="109728" marT="45720" marB="45720" anchor="ctr">
                    <a:solidFill>
                      <a:srgbClr val="F1F2F8"/>
                    </a:solidFill>
                  </a:tcPr>
                </a:tc>
              </a:tr>
              <a:tr h="577215">
                <a:tc>
                  <a:txBody>
                    <a:bodyPr/>
                    <a:lstStyle/>
                    <a:p>
                      <a:r>
                        <a:rPr sz="1600" i="0" b="1">
                          <a:solidFill>
                            <a:srgbClr val="1A1F36"/>
                          </a:solidFill>
                          <a:latin typeface="Calibri"/>
                        </a:rPr>
                        <a:t>Absence</a:t>
                      </a:r>
                    </a:p>
                  </a:txBody>
                  <a:tcPr marL="109728" marR="109728" marT="45720" marB="45720" anchor="ctr">
                    <a:solidFill>
                      <a:srgbClr val="FFFFFF"/>
                    </a:solidFill>
                  </a:tcPr>
                </a:tc>
                <a:tc>
                  <a:txBody>
                    <a:bodyPr/>
                    <a:lstStyle/>
                    <a:p>
                      <a:r>
                        <a:rPr sz="1600" i="0" b="0">
                          <a:solidFill>
                            <a:srgbClr val="1A1F36"/>
                          </a:solidFill>
                          <a:latin typeface="Calibri"/>
                        </a:rPr>
                        <a:t>Brief stare for 5–15 seconds, many times a day; mainly children</a:t>
                      </a:r>
                    </a:p>
                  </a:txBody>
                  <a:tcPr marL="109728" marR="109728" marT="45720" marB="45720" anchor="ctr">
                    <a:solidFill>
                      <a:srgbClr val="FFFFFF"/>
                    </a:solidFill>
                  </a:tcPr>
                </a:tc>
                <a:tc>
                  <a:txBody>
                    <a:bodyPr/>
                    <a:lstStyle/>
                    <a:p>
                      <a:r>
                        <a:rPr sz="1600" i="0" b="0">
                          <a:solidFill>
                            <a:srgbClr val="1A1F36"/>
                          </a:solidFill>
                          <a:latin typeface="Calibri"/>
                        </a:rPr>
                        <a:t>Lost briefly; no post-ictal confusion</a:t>
                      </a:r>
                    </a:p>
                  </a:txBody>
                  <a:tcPr marL="109728" marR="109728" marT="45720" marB="45720" anchor="ctr">
                    <a:solidFill>
                      <a:srgbClr val="FFFFFF"/>
                    </a:solidFill>
                  </a:tcPr>
                </a:tc>
              </a:tr>
              <a:tr h="577215">
                <a:tc>
                  <a:txBody>
                    <a:bodyPr/>
                    <a:lstStyle/>
                    <a:p>
                      <a:r>
                        <a:rPr sz="1600" i="0" b="1">
                          <a:solidFill>
                            <a:srgbClr val="1A1F36"/>
                          </a:solidFill>
                          <a:latin typeface="Calibri"/>
                        </a:rPr>
                        <a:t>Myoclonic</a:t>
                      </a:r>
                    </a:p>
                  </a:txBody>
                  <a:tcPr marL="109728" marR="109728" marT="45720" marB="45720" anchor="ctr">
                    <a:solidFill>
                      <a:srgbClr val="F1F2F8"/>
                    </a:solidFill>
                  </a:tcPr>
                </a:tc>
                <a:tc>
                  <a:txBody>
                    <a:bodyPr/>
                    <a:lstStyle/>
                    <a:p>
                      <a:r>
                        <a:rPr sz="1600" i="0" b="0">
                          <a:solidFill>
                            <a:srgbClr val="1A1F36"/>
                          </a:solidFill>
                          <a:latin typeface="Calibri"/>
                        </a:rPr>
                        <a:t>Sudden single jerks, often in the morning</a:t>
                      </a:r>
                    </a:p>
                  </a:txBody>
                  <a:tcPr marL="109728" marR="109728" marT="45720" marB="45720" anchor="ctr">
                    <a:solidFill>
                      <a:srgbClr val="F1F2F8"/>
                    </a:solidFill>
                  </a:tcPr>
                </a:tc>
                <a:tc>
                  <a:txBody>
                    <a:bodyPr/>
                    <a:lstStyle/>
                    <a:p>
                      <a:r>
                        <a:rPr sz="1600" i="0" b="0">
                          <a:solidFill>
                            <a:srgbClr val="1A1F36"/>
                          </a:solidFill>
                          <a:latin typeface="Calibri"/>
                        </a:rPr>
                        <a:t>Usually preserved</a:t>
                      </a:r>
                    </a:p>
                  </a:txBody>
                  <a:tcPr marL="109728" marR="109728" marT="45720" marB="45720" anchor="ctr">
                    <a:solidFill>
                      <a:srgbClr val="F1F2F8"/>
                    </a:solidFill>
                  </a:tcPr>
                </a:tc>
              </a:tr>
              <a:tr h="577215">
                <a:tc>
                  <a:txBody>
                    <a:bodyPr/>
                    <a:lstStyle/>
                    <a:p>
                      <a:r>
                        <a:rPr sz="1600" i="0" b="1">
                          <a:solidFill>
                            <a:srgbClr val="1A1F36"/>
                          </a:solidFill>
                          <a:latin typeface="Calibri"/>
                        </a:rPr>
                        <a:t>Atonic</a:t>
                      </a:r>
                    </a:p>
                  </a:txBody>
                  <a:tcPr marL="109728" marR="109728" marT="45720" marB="45720" anchor="ctr">
                    <a:solidFill>
                      <a:srgbClr val="FFFFFF"/>
                    </a:solidFill>
                  </a:tcPr>
                </a:tc>
                <a:tc>
                  <a:txBody>
                    <a:bodyPr/>
                    <a:lstStyle/>
                    <a:p>
                      <a:r>
                        <a:rPr sz="1600" i="0" b="0">
                          <a:solidFill>
                            <a:srgbClr val="1A1F36"/>
                          </a:solidFill>
                          <a:latin typeface="Calibri"/>
                        </a:rPr>
                        <a:t>Sudden loss of tone; falls</a:t>
                      </a:r>
                    </a:p>
                  </a:txBody>
                  <a:tcPr marL="109728" marR="109728" marT="45720" marB="45720" anchor="ctr">
                    <a:solidFill>
                      <a:srgbClr val="FFFFFF"/>
                    </a:solidFill>
                  </a:tcPr>
                </a:tc>
                <a:tc>
                  <a:txBody>
                    <a:bodyPr/>
                    <a:lstStyle/>
                    <a:p>
                      <a:r>
                        <a:rPr sz="1600" i="0" b="0">
                          <a:solidFill>
                            <a:srgbClr val="1A1F36"/>
                          </a:solidFill>
                          <a:latin typeface="Calibri"/>
                        </a:rPr>
                        <a:t>Brief loss</a:t>
                      </a:r>
                    </a:p>
                  </a:txBody>
                  <a:tcPr marL="109728" marR="109728" marT="45720" marB="45720" anchor="ctr">
                    <a:solidFill>
                      <a:srgbClr val="FFFFFF"/>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Rectangle 1"/>
          <p:cNvSpPr/>
          <p:nvPr/>
        </p:nvSpPr>
        <p:spPr>
          <a:xfrm>
            <a:off x="0" y="0"/>
            <a:ext cx="3931920" cy="6858000"/>
          </a:xfrm>
          <a:prstGeom prst="rect">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188720"/>
            <a:ext cx="2926080" cy="2377440"/>
          </a:xfrm>
          <a:prstGeom prst="rect">
            <a:avLst/>
          </a:prstGeom>
          <a:noFill/>
        </p:spPr>
        <p:txBody>
          <a:bodyPr wrap="square" anchor="t" lIns="0" rIns="0" tIns="0" bIns="0">
            <a:spAutoFit/>
          </a:bodyPr>
          <a:lstStyle/>
          <a:p>
            <a:r>
              <a:rPr sz="13000" i="0" b="1">
                <a:solidFill>
                  <a:srgbClr val="F9F8F4"/>
                </a:solidFill>
                <a:latin typeface="Cambria"/>
              </a:rPr>
              <a:t>℞</a:t>
            </a:r>
          </a:p>
        </p:txBody>
      </p:sp>
      <p:sp>
        <p:nvSpPr>
          <p:cNvPr id="4" name="TextBox 3"/>
          <p:cNvSpPr txBox="1"/>
          <p:nvPr/>
        </p:nvSpPr>
        <p:spPr>
          <a:xfrm>
            <a:off x="548640" y="3977639"/>
            <a:ext cx="3017520" cy="1280160"/>
          </a:xfrm>
          <a:prstGeom prst="rect">
            <a:avLst/>
          </a:prstGeom>
          <a:noFill/>
        </p:spPr>
        <p:txBody>
          <a:bodyPr wrap="square" anchor="t" lIns="0" rIns="0" tIns="0" bIns="0">
            <a:spAutoFit/>
          </a:bodyPr>
          <a:lstStyle/>
          <a:p>
            <a:r>
              <a:rPr sz="3000" i="0" b="1">
                <a:solidFill>
                  <a:srgbClr val="FFFFFF"/>
                </a:solidFill>
                <a:latin typeface="Cambria"/>
              </a:rPr>
              <a:t>Clinical Pearl</a:t>
            </a:r>
          </a:p>
          <a:p>
            <a:r>
              <a:rPr sz="1400" i="0" b="1" spc="150">
                <a:solidFill>
                  <a:srgbClr val="F9F8F4"/>
                </a:solidFill>
                <a:latin typeface="Calibri"/>
              </a:rPr>
              <a:t>Section 5</a:t>
            </a:r>
          </a:p>
        </p:txBody>
      </p:sp>
      <p:sp>
        <p:nvSpPr>
          <p:cNvPr id="5" name="TextBox 4"/>
          <p:cNvSpPr txBox="1"/>
          <p:nvPr/>
        </p:nvSpPr>
        <p:spPr>
          <a:xfrm>
            <a:off x="4526280" y="822960"/>
            <a:ext cx="7132320" cy="5120640"/>
          </a:xfrm>
          <a:prstGeom prst="rect">
            <a:avLst/>
          </a:prstGeom>
          <a:noFill/>
        </p:spPr>
        <p:txBody>
          <a:bodyPr wrap="square" anchor="ctr" lIns="0" rIns="0" tIns="0" bIns="0">
            <a:spAutoFit/>
          </a:bodyPr>
          <a:lstStyle/>
          <a:p>
            <a:pPr>
              <a:spcBef>
                <a:spcPts val="0"/>
              </a:spcBef>
            </a:pPr>
            <a:r>
              <a:rPr sz="2200" i="0" b="0">
                <a:solidFill>
                  <a:srgbClr val="1A1F36"/>
                </a:solidFill>
                <a:latin typeface="Calibri"/>
              </a:rPr>
              <a:t>Not every generalised seizure removes awareness. A patient with myoclonic jerks is usually aware of them. Ask about morning jerks when you take a history; they point to juvenile myoclonic epilepsy.</a:t>
            </a:r>
          </a:p>
        </p:txBody>
      </p:sp>
      <p:sp>
        <p:nvSpPr>
          <p:cNvPr id="6" name="TextBox 5"/>
          <p:cNvSpPr txBox="1"/>
          <p:nvPr/>
        </p:nvSpPr>
        <p:spPr>
          <a:xfrm>
            <a:off x="452628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Epilepsy and Antiseizure Drugs</a:t>
            </a:r>
          </a:p>
        </p:txBody>
      </p:sp>
      <p:sp>
        <p:nvSpPr>
          <p:cNvPr id="7" name="TextBox 6"/>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05 / 25</a:t>
            </a:r>
          </a:p>
        </p:txBody>
      </p:sp>
      <p:pic>
        <p:nvPicPr>
          <p:cNvPr id="8" name="Picture 7" descr="logo"/>
          <p:cNvPicPr>
            <a:picLocks noChangeAspect="1"/>
          </p:cNvPicPr>
          <p:nvPr/>
        </p:nvPicPr>
        <p:blipFill>
          <a:blip r:embed="rId3"/>
          <a:stretch>
            <a:fillRect/>
          </a:stretch>
        </p:blipFill>
        <p:spPr>
          <a:xfrm>
            <a:off x="11247120" y="6309360"/>
            <a:ext cx="384048" cy="384048"/>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05</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5</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How Antiseizure Drugs Work</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5  ·  Epilepsy and Antiseizure Drugs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06 / 25</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1389888"/>
          </a:xfrm>
          <a:prstGeom prst="rect">
            <a:avLst/>
          </a:prstGeom>
          <a:noFill/>
        </p:spPr>
        <p:txBody>
          <a:bodyPr wrap="square" anchor="t" lIns="0" rIns="0" tIns="0" bIns="0">
            <a:spAutoFit/>
          </a:bodyPr>
          <a:lstStyle/>
          <a:p>
            <a:pPr>
              <a:spcAft>
                <a:spcPts val="800"/>
              </a:spcAft>
            </a:pPr>
            <a:r>
              <a:rPr sz="1800" i="0" b="0">
                <a:solidFill>
                  <a:srgbClr val="1A1F36"/>
                </a:solidFill>
                <a:latin typeface="Calibri"/>
              </a:rPr>
              <a:t>Antiseizure drugs reduce excitation or increase inhibition. Most drugs act in more than one way. The old rule that "first-generation drugs act on inhibition and second-generation drugs act on excitation" is false. Phenytoin and carbamazepine block Na+ channels, and several newer drugs enhance GABA.</a:t>
            </a:r>
          </a:p>
        </p:txBody>
      </p:sp>
      <p:pic>
        <p:nvPicPr>
          <p:cNvPr id="9" name="Picture 8" descr="Left: glutamate nerve ending with Na+ channels, the alpha-2-delta Ca2+ subunit and SV2A, and postsynaptic AMPA receptors, with the drugs acting at each. Right: GABA nerve ending with GABA transaminase blocked by valproate, the GABA-A receptor enhanced by benzodiazepines and phenobarbital, and thalamic T-type Ca2+ channels blocked by ethosuximide."/>
          <p:cNvPicPr>
            <a:picLocks noChangeAspect="1"/>
          </p:cNvPicPr>
          <p:nvPr/>
        </p:nvPicPr>
        <p:blipFill>
          <a:blip r:embed="rId4"/>
          <a:stretch>
            <a:fillRect/>
          </a:stretch>
        </p:blipFill>
        <p:spPr>
          <a:xfrm>
            <a:off x="3403781" y="3127248"/>
            <a:ext cx="5384132" cy="2633472"/>
          </a:xfrm>
          <a:prstGeom prst="rect">
            <a:avLst/>
          </a:prstGeom>
        </p:spPr>
      </p:pic>
      <p:sp>
        <p:nvSpPr>
          <p:cNvPr id="10" name="TextBox 9"/>
          <p:cNvSpPr txBox="1"/>
          <p:nvPr/>
        </p:nvSpPr>
        <p:spPr>
          <a:xfrm>
            <a:off x="548640" y="5852159"/>
            <a:ext cx="11094415" cy="365760"/>
          </a:xfrm>
          <a:prstGeom prst="rect">
            <a:avLst/>
          </a:prstGeom>
          <a:noFill/>
        </p:spPr>
        <p:txBody>
          <a:bodyPr wrap="square" anchor="t" lIns="0" rIns="0" tIns="0" bIns="0">
            <a:spAutoFit/>
          </a:bodyPr>
          <a:lstStyle/>
          <a:p>
            <a:pPr algn="ctr"/>
            <a:r>
              <a:rPr sz="1300" i="1" b="0">
                <a:solidFill>
                  <a:srgbClr val="5A6072"/>
                </a:solidFill>
                <a:latin typeface="Calibri"/>
              </a:rPr>
              <a:t>Targets of antiseizure drugs at excitatory and inhibitory synapses.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05</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5</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How Antiseizure Drugs Work</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5  ·  Epilepsy and Antiseizure Drugs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07 / 25</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graphicFrame>
        <p:nvGraphicFramePr>
          <p:cNvPr id="8" name="Table 7"/>
          <p:cNvGraphicFramePr>
            <a:graphicFrameLocks noGrp="1"/>
          </p:cNvGraphicFramePr>
          <p:nvPr/>
        </p:nvGraphicFramePr>
        <p:xfrm>
          <a:off x="548640" y="1554480"/>
          <a:ext cx="11094414" cy="4617720"/>
        </p:xfrm>
        <a:graphic>
          <a:graphicData uri="http://schemas.openxmlformats.org/drawingml/2006/table">
            <a:tbl>
              <a:tblPr firstRow="0" bandRow="0">
                <a:tableStyleId>{5C22544A-7EE6-4342-B048-85BDC9FD1C3A}</a:tableStyleId>
              </a:tblPr>
              <a:tblGrid>
                <a:gridCol w="5547207"/>
                <a:gridCol w="5547207"/>
              </a:tblGrid>
              <a:tr h="577215">
                <a:tc>
                  <a:txBody>
                    <a:bodyPr/>
                    <a:lstStyle/>
                    <a:p>
                      <a:r>
                        <a:rPr sz="1700" i="0" b="1">
                          <a:solidFill>
                            <a:srgbClr val="FFFFFF"/>
                          </a:solidFill>
                          <a:latin typeface="Calibri"/>
                        </a:rPr>
                        <a:t>Mechanism</a:t>
                      </a:r>
                    </a:p>
                  </a:txBody>
                  <a:tcPr marL="109728" marR="109728" marT="45720" marB="45720" anchor="ctr">
                    <a:solidFill>
                      <a:srgbClr val="1B2A8C"/>
                    </a:solidFill>
                  </a:tcPr>
                </a:tc>
                <a:tc>
                  <a:txBody>
                    <a:bodyPr/>
                    <a:lstStyle/>
                    <a:p>
                      <a:r>
                        <a:rPr sz="1700" i="0" b="1">
                          <a:solidFill>
                            <a:srgbClr val="FFFFFF"/>
                          </a:solidFill>
                          <a:latin typeface="Calibri"/>
                        </a:rPr>
                        <a:t>Drugs</a:t>
                      </a:r>
                    </a:p>
                  </a:txBody>
                  <a:tcPr marL="109728" marR="109728" marT="45720" marB="45720" anchor="ctr">
                    <a:solidFill>
                      <a:srgbClr val="1B2A8C"/>
                    </a:solidFill>
                  </a:tcPr>
                </a:tc>
              </a:tr>
              <a:tr h="577215">
                <a:tc>
                  <a:txBody>
                    <a:bodyPr/>
                    <a:lstStyle/>
                    <a:p>
                      <a:r>
                        <a:rPr sz="1800" i="0" b="1">
                          <a:solidFill>
                            <a:srgbClr val="1A1F36"/>
                          </a:solidFill>
                          <a:latin typeface="Calibri"/>
                        </a:rPr>
                        <a:t>Block voltage-gated Na+ channels</a:t>
                      </a:r>
                    </a:p>
                  </a:txBody>
                  <a:tcPr marL="109728" marR="109728" marT="45720" marB="45720" anchor="ctr">
                    <a:solidFill>
                      <a:srgbClr val="FFFFFF"/>
                    </a:solidFill>
                  </a:tcPr>
                </a:tc>
                <a:tc>
                  <a:txBody>
                    <a:bodyPr/>
                    <a:lstStyle/>
                    <a:p>
                      <a:r>
                        <a:rPr sz="1800" i="0" b="0">
                          <a:solidFill>
                            <a:srgbClr val="1A1F36"/>
                          </a:solidFill>
                          <a:latin typeface="Calibri"/>
                        </a:rPr>
                        <a:t>Phenytoin, carbamazepine, lamotrigine, topiramate, valproate (in part)</a:t>
                      </a:r>
                    </a:p>
                  </a:txBody>
                  <a:tcPr marL="109728" marR="109728" marT="45720" marB="45720" anchor="ctr">
                    <a:solidFill>
                      <a:srgbClr val="FFFFFF"/>
                    </a:solidFill>
                  </a:tcPr>
                </a:tc>
              </a:tr>
              <a:tr h="577215">
                <a:tc>
                  <a:txBody>
                    <a:bodyPr/>
                    <a:lstStyle/>
                    <a:p>
                      <a:r>
                        <a:rPr sz="1800" i="0" b="1">
                          <a:solidFill>
                            <a:srgbClr val="1A1F36"/>
                          </a:solidFill>
                          <a:latin typeface="Calibri"/>
                        </a:rPr>
                        <a:t>Block T-type Ca2+ channels</a:t>
                      </a:r>
                    </a:p>
                  </a:txBody>
                  <a:tcPr marL="109728" marR="109728" marT="45720" marB="45720" anchor="ctr">
                    <a:solidFill>
                      <a:srgbClr val="F1F2F8"/>
                    </a:solidFill>
                  </a:tcPr>
                </a:tc>
                <a:tc>
                  <a:txBody>
                    <a:bodyPr/>
                    <a:lstStyle/>
                    <a:p>
                      <a:r>
                        <a:rPr sz="1800" i="0" b="0">
                          <a:solidFill>
                            <a:srgbClr val="1A1F36"/>
                          </a:solidFill>
                          <a:latin typeface="Calibri"/>
                        </a:rPr>
                        <a:t>Ethosuximide, valproate</a:t>
                      </a:r>
                    </a:p>
                  </a:txBody>
                  <a:tcPr marL="109728" marR="109728" marT="45720" marB="45720" anchor="ctr">
                    <a:solidFill>
                      <a:srgbClr val="F1F2F8"/>
                    </a:solidFill>
                  </a:tcPr>
                </a:tc>
              </a:tr>
              <a:tr h="577215">
                <a:tc>
                  <a:txBody>
                    <a:bodyPr/>
                    <a:lstStyle/>
                    <a:p>
                      <a:r>
                        <a:rPr sz="1800" i="0" b="1">
                          <a:solidFill>
                            <a:srgbClr val="1A1F36"/>
                          </a:solidFill>
                          <a:latin typeface="Calibri"/>
                        </a:rPr>
                        <a:t>Bind the α2δ subunit of Ca2+ channels (less glutamate release)</a:t>
                      </a:r>
                    </a:p>
                  </a:txBody>
                  <a:tcPr marL="109728" marR="109728" marT="45720" marB="45720" anchor="ctr">
                    <a:solidFill>
                      <a:srgbClr val="FFFFFF"/>
                    </a:solidFill>
                  </a:tcPr>
                </a:tc>
                <a:tc>
                  <a:txBody>
                    <a:bodyPr/>
                    <a:lstStyle/>
                    <a:p>
                      <a:r>
                        <a:rPr sz="1800" i="0" b="0">
                          <a:solidFill>
                            <a:srgbClr val="1A1F36"/>
                          </a:solidFill>
                          <a:latin typeface="Calibri"/>
                        </a:rPr>
                        <a:t>Gabapentin, pregabalin</a:t>
                      </a:r>
                    </a:p>
                  </a:txBody>
                  <a:tcPr marL="109728" marR="109728" marT="45720" marB="45720" anchor="ctr">
                    <a:solidFill>
                      <a:srgbClr val="FFFFFF"/>
                    </a:solidFill>
                  </a:tcPr>
                </a:tc>
              </a:tr>
              <a:tr h="577215">
                <a:tc>
                  <a:txBody>
                    <a:bodyPr/>
                    <a:lstStyle/>
                    <a:p>
                      <a:r>
                        <a:rPr sz="1800" i="0" b="1">
                          <a:solidFill>
                            <a:srgbClr val="1A1F36"/>
                          </a:solidFill>
                          <a:latin typeface="Calibri"/>
                        </a:rPr>
                        <a:t>Enhance GABA-A receptors</a:t>
                      </a:r>
                    </a:p>
                  </a:txBody>
                  <a:tcPr marL="109728" marR="109728" marT="45720" marB="45720" anchor="ctr">
                    <a:solidFill>
                      <a:srgbClr val="F1F2F8"/>
                    </a:solidFill>
                  </a:tcPr>
                </a:tc>
                <a:tc>
                  <a:txBody>
                    <a:bodyPr/>
                    <a:lstStyle/>
                    <a:p>
                      <a:r>
                        <a:rPr sz="1800" i="0" b="0">
                          <a:solidFill>
                            <a:srgbClr val="1A1F36"/>
                          </a:solidFill>
                          <a:latin typeface="Calibri"/>
                        </a:rPr>
                        <a:t>Benzodiazepines, phenobarbital, topiramate</a:t>
                      </a:r>
                    </a:p>
                  </a:txBody>
                  <a:tcPr marL="109728" marR="109728" marT="45720" marB="45720" anchor="ctr">
                    <a:solidFill>
                      <a:srgbClr val="F1F2F8"/>
                    </a:solidFill>
                  </a:tcPr>
                </a:tc>
              </a:tr>
              <a:tr h="577215">
                <a:tc>
                  <a:txBody>
                    <a:bodyPr/>
                    <a:lstStyle/>
                    <a:p>
                      <a:r>
                        <a:rPr sz="1800" i="0" b="1">
                          <a:solidFill>
                            <a:srgbClr val="1A1F36"/>
                          </a:solidFill>
                          <a:latin typeface="Calibri"/>
                        </a:rPr>
                        <a:t>Raise GABA levels</a:t>
                      </a:r>
                    </a:p>
                  </a:txBody>
                  <a:tcPr marL="109728" marR="109728" marT="45720" marB="45720" anchor="ctr">
                    <a:solidFill>
                      <a:srgbClr val="FFFFFF"/>
                    </a:solidFill>
                  </a:tcPr>
                </a:tc>
                <a:tc>
                  <a:txBody>
                    <a:bodyPr/>
                    <a:lstStyle/>
                    <a:p>
                      <a:r>
                        <a:rPr sz="1800" i="0" b="0">
                          <a:solidFill>
                            <a:srgbClr val="1A1F36"/>
                          </a:solidFill>
                          <a:latin typeface="Calibri"/>
                        </a:rPr>
                        <a:t>Valproate (inhibits GABA transaminase)</a:t>
                      </a:r>
                    </a:p>
                  </a:txBody>
                  <a:tcPr marL="109728" marR="109728" marT="45720" marB="45720" anchor="ctr">
                    <a:solidFill>
                      <a:srgbClr val="FFFFFF"/>
                    </a:solidFill>
                  </a:tcPr>
                </a:tc>
              </a:tr>
              <a:tr h="577215">
                <a:tc>
                  <a:txBody>
                    <a:bodyPr/>
                    <a:lstStyle/>
                    <a:p>
                      <a:r>
                        <a:rPr sz="1800" i="0" b="1">
                          <a:solidFill>
                            <a:srgbClr val="1A1F36"/>
                          </a:solidFill>
                          <a:latin typeface="Calibri"/>
                        </a:rPr>
                        <a:t>Bind the vesicle protein SV2A (less transmitter release)</a:t>
                      </a:r>
                    </a:p>
                  </a:txBody>
                  <a:tcPr marL="109728" marR="109728" marT="45720" marB="45720" anchor="ctr">
                    <a:solidFill>
                      <a:srgbClr val="F1F2F8"/>
                    </a:solidFill>
                  </a:tcPr>
                </a:tc>
                <a:tc>
                  <a:txBody>
                    <a:bodyPr/>
                    <a:lstStyle/>
                    <a:p>
                      <a:r>
                        <a:rPr sz="1800" i="0" b="0">
                          <a:solidFill>
                            <a:srgbClr val="1A1F36"/>
                          </a:solidFill>
                          <a:latin typeface="Calibri"/>
                        </a:rPr>
                        <a:t>Levetiracetam</a:t>
                      </a:r>
                    </a:p>
                  </a:txBody>
                  <a:tcPr marL="109728" marR="109728" marT="45720" marB="45720" anchor="ctr">
                    <a:solidFill>
                      <a:srgbClr val="F1F2F8"/>
                    </a:solidFill>
                  </a:tcPr>
                </a:tc>
              </a:tr>
              <a:tr h="577215">
                <a:tc>
                  <a:txBody>
                    <a:bodyPr/>
                    <a:lstStyle/>
                    <a:p>
                      <a:r>
                        <a:rPr sz="1800" i="0" b="1">
                          <a:solidFill>
                            <a:srgbClr val="1A1F36"/>
                          </a:solidFill>
                          <a:latin typeface="Calibri"/>
                        </a:rPr>
                        <a:t>Block glutamate receptors (AMPA/kainate)</a:t>
                      </a:r>
                    </a:p>
                  </a:txBody>
                  <a:tcPr marL="109728" marR="109728" marT="45720" marB="45720" anchor="ctr">
                    <a:solidFill>
                      <a:srgbClr val="FFFFFF"/>
                    </a:solidFill>
                  </a:tcPr>
                </a:tc>
                <a:tc>
                  <a:txBody>
                    <a:bodyPr/>
                    <a:lstStyle/>
                    <a:p>
                      <a:r>
                        <a:rPr sz="1800" i="0" b="0">
                          <a:solidFill>
                            <a:srgbClr val="1A1F36"/>
                          </a:solidFill>
                          <a:latin typeface="Calibri"/>
                        </a:rPr>
                        <a:t>Topiramate, perampanel</a:t>
                      </a:r>
                    </a:p>
                  </a:txBody>
                  <a:tcPr marL="109728" marR="109728" marT="45720" marB="45720" anchor="ctr">
                    <a:solidFill>
                      <a:srgbClr val="FFFFFF"/>
                    </a:solidFill>
                  </a:tcPr>
                </a:tc>
              </a:tr>
            </a:tbl>
          </a:graphicData>
        </a:graphic>
      </p:graphicFrame>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05</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5</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Phenytoin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5  ·  Epilepsy and Antiseizure Drugs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08 / 25</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4480560" cy="4617720"/>
          </a:xfrm>
          <a:prstGeom prst="rect">
            <a:avLst/>
          </a:prstGeom>
          <a:noFill/>
        </p:spPr>
        <p:txBody>
          <a:bodyPr wrap="square" anchor="t" lIns="0" rIns="0" tIns="0" bIns="0">
            <a:spAutoFit/>
          </a:bodyPr>
          <a:lstStyle/>
          <a:p>
            <a:pPr>
              <a:spcAft>
                <a:spcPts val="800"/>
              </a:spcAft>
            </a:pPr>
            <a:r>
              <a:rPr sz="1700" i="0" b="0">
                <a:solidFill>
                  <a:srgbClr val="1A1F36"/>
                </a:solidFill>
                <a:latin typeface="Calibri"/>
              </a:rPr>
              <a:t>Phenytoin blocks Na+ channels. It is used for focal and tonic–clonic seizures and, IV, in status epilepticus. It has </a:t>
            </a:r>
            <a:r>
              <a:rPr sz="1700" i="0" b="1">
                <a:solidFill>
                  <a:srgbClr val="1A1F36"/>
                </a:solidFill>
                <a:latin typeface="Calibri"/>
              </a:rPr>
              <a:t>non-linear (saturable) kinetics</a:t>
            </a:r>
            <a:r>
              <a:rPr sz="1700" i="0" b="0">
                <a:solidFill>
                  <a:srgbClr val="1A1F36"/>
                </a:solidFill>
                <a:latin typeface="Calibri"/>
              </a:rPr>
              <a:t>: a small dose increase can cause a large rise in blood level. Monitor plasma levels.</a:t>
            </a:r>
          </a:p>
          <a:p>
            <a:pPr>
              <a:spcAft>
                <a:spcPts val="800"/>
              </a:spcAft>
            </a:pPr>
            <a:r>
              <a:rPr sz="1700" i="0" b="0">
                <a:solidFill>
                  <a:srgbClr val="1A1F36"/>
                </a:solidFill>
                <a:latin typeface="Calibri"/>
              </a:rPr>
              <a:t>Adverse effects:</a:t>
            </a:r>
          </a:p>
        </p:txBody>
      </p:sp>
      <p:sp>
        <p:nvSpPr>
          <p:cNvPr id="9" name="Oval 8"/>
          <p:cNvSpPr/>
          <p:nvPr/>
        </p:nvSpPr>
        <p:spPr>
          <a:xfrm>
            <a:off x="5394959" y="1572768"/>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1</a:t>
            </a:r>
          </a:p>
        </p:txBody>
      </p:sp>
      <p:sp>
        <p:nvSpPr>
          <p:cNvPr id="10" name="TextBox 9"/>
          <p:cNvSpPr txBox="1"/>
          <p:nvPr/>
        </p:nvSpPr>
        <p:spPr>
          <a:xfrm>
            <a:off x="5989320" y="1591056"/>
            <a:ext cx="5653735" cy="774170"/>
          </a:xfrm>
          <a:prstGeom prst="rect">
            <a:avLst/>
          </a:prstGeom>
          <a:noFill/>
        </p:spPr>
        <p:txBody>
          <a:bodyPr wrap="square" anchor="t" lIns="0" rIns="0" tIns="0" bIns="0">
            <a:spAutoFit/>
          </a:bodyPr>
          <a:lstStyle/>
          <a:p>
            <a:r>
              <a:rPr sz="1900" i="0" b="0">
                <a:solidFill>
                  <a:srgbClr val="1A1F36"/>
                </a:solidFill>
                <a:latin typeface="Calibri"/>
              </a:rPr>
              <a:t>Dose-related: nystagmus, diplopia, ataxia and confusion.</a:t>
            </a:r>
          </a:p>
        </p:txBody>
      </p:sp>
      <p:sp>
        <p:nvSpPr>
          <p:cNvPr id="11" name="Oval 10"/>
          <p:cNvSpPr/>
          <p:nvPr/>
        </p:nvSpPr>
        <p:spPr>
          <a:xfrm>
            <a:off x="5394959" y="2392658"/>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2</a:t>
            </a:r>
          </a:p>
        </p:txBody>
      </p:sp>
      <p:sp>
        <p:nvSpPr>
          <p:cNvPr id="12" name="TextBox 11"/>
          <p:cNvSpPr txBox="1"/>
          <p:nvPr/>
        </p:nvSpPr>
        <p:spPr>
          <a:xfrm>
            <a:off x="5989320" y="2410946"/>
            <a:ext cx="5653735" cy="774170"/>
          </a:xfrm>
          <a:prstGeom prst="rect">
            <a:avLst/>
          </a:prstGeom>
          <a:noFill/>
        </p:spPr>
        <p:txBody>
          <a:bodyPr wrap="square" anchor="t" lIns="0" rIns="0" tIns="0" bIns="0">
            <a:spAutoFit/>
          </a:bodyPr>
          <a:lstStyle/>
          <a:p>
            <a:r>
              <a:rPr sz="1900" i="0" b="0">
                <a:solidFill>
                  <a:srgbClr val="1A1F36"/>
                </a:solidFill>
                <a:latin typeface="Calibri"/>
              </a:rPr>
              <a:t>Long-term: gingival hyperplasia, hirsutism, coarse facial features and acne.</a:t>
            </a:r>
          </a:p>
        </p:txBody>
      </p:sp>
      <p:sp>
        <p:nvSpPr>
          <p:cNvPr id="13" name="Oval 12"/>
          <p:cNvSpPr/>
          <p:nvPr/>
        </p:nvSpPr>
        <p:spPr>
          <a:xfrm>
            <a:off x="5394959" y="3212549"/>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3</a:t>
            </a:r>
          </a:p>
        </p:txBody>
      </p:sp>
      <p:sp>
        <p:nvSpPr>
          <p:cNvPr id="14" name="TextBox 13"/>
          <p:cNvSpPr txBox="1"/>
          <p:nvPr/>
        </p:nvSpPr>
        <p:spPr>
          <a:xfrm>
            <a:off x="5989320" y="3230837"/>
            <a:ext cx="5653735" cy="774170"/>
          </a:xfrm>
          <a:prstGeom prst="rect">
            <a:avLst/>
          </a:prstGeom>
          <a:noFill/>
        </p:spPr>
        <p:txBody>
          <a:bodyPr wrap="square" anchor="t" lIns="0" rIns="0" tIns="0" bIns="0">
            <a:spAutoFit/>
          </a:bodyPr>
          <a:lstStyle/>
          <a:p>
            <a:r>
              <a:rPr sz="1900" i="0" b="0">
                <a:solidFill>
                  <a:srgbClr val="1A1F36"/>
                </a:solidFill>
                <a:latin typeface="Calibri"/>
              </a:rPr>
              <a:t>Folate deficiency (megaloblastic anaemia) and osteomalacia, from enzyme induction.</a:t>
            </a:r>
          </a:p>
        </p:txBody>
      </p:sp>
      <p:sp>
        <p:nvSpPr>
          <p:cNvPr id="15" name="Oval 14"/>
          <p:cNvSpPr/>
          <p:nvPr/>
        </p:nvSpPr>
        <p:spPr>
          <a:xfrm>
            <a:off x="5394959" y="4032440"/>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4</a:t>
            </a:r>
          </a:p>
        </p:txBody>
      </p:sp>
      <p:sp>
        <p:nvSpPr>
          <p:cNvPr id="16" name="TextBox 15"/>
          <p:cNvSpPr txBox="1"/>
          <p:nvPr/>
        </p:nvSpPr>
        <p:spPr>
          <a:xfrm>
            <a:off x="5989320" y="4050728"/>
            <a:ext cx="5653735" cy="472545"/>
          </a:xfrm>
          <a:prstGeom prst="rect">
            <a:avLst/>
          </a:prstGeom>
          <a:noFill/>
        </p:spPr>
        <p:txBody>
          <a:bodyPr wrap="square" anchor="t" lIns="0" rIns="0" tIns="0" bIns="0">
            <a:spAutoFit/>
          </a:bodyPr>
          <a:lstStyle/>
          <a:p>
            <a:r>
              <a:rPr sz="1900" i="0" b="0">
                <a:solidFill>
                  <a:srgbClr val="1A1F36"/>
                </a:solidFill>
                <a:latin typeface="Calibri"/>
              </a:rPr>
              <a:t>Rash; rarely Stevens–Johnson syndrome.</a:t>
            </a:r>
          </a:p>
        </p:txBody>
      </p:sp>
      <p:sp>
        <p:nvSpPr>
          <p:cNvPr id="17" name="Oval 16"/>
          <p:cNvSpPr/>
          <p:nvPr/>
        </p:nvSpPr>
        <p:spPr>
          <a:xfrm>
            <a:off x="5394959" y="4550706"/>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5</a:t>
            </a:r>
          </a:p>
        </p:txBody>
      </p:sp>
      <p:sp>
        <p:nvSpPr>
          <p:cNvPr id="18" name="TextBox 17"/>
          <p:cNvSpPr txBox="1"/>
          <p:nvPr/>
        </p:nvSpPr>
        <p:spPr>
          <a:xfrm>
            <a:off x="5989320" y="4568994"/>
            <a:ext cx="5653735" cy="774170"/>
          </a:xfrm>
          <a:prstGeom prst="rect">
            <a:avLst/>
          </a:prstGeom>
          <a:noFill/>
        </p:spPr>
        <p:txBody>
          <a:bodyPr wrap="square" anchor="t" lIns="0" rIns="0" tIns="0" bIns="0">
            <a:spAutoFit/>
          </a:bodyPr>
          <a:lstStyle/>
          <a:p>
            <a:r>
              <a:rPr sz="1900" i="0" b="0">
                <a:solidFill>
                  <a:srgbClr val="1A1F36"/>
                </a:solidFill>
                <a:latin typeface="Calibri"/>
              </a:rPr>
              <a:t>IV use: hypotension and arrhythmia if given too fast.</a:t>
            </a:r>
          </a:p>
        </p:txBody>
      </p:sp>
      <p:sp>
        <p:nvSpPr>
          <p:cNvPr id="19" name="Oval 18"/>
          <p:cNvSpPr/>
          <p:nvPr/>
        </p:nvSpPr>
        <p:spPr>
          <a:xfrm>
            <a:off x="5394959" y="5370597"/>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6</a:t>
            </a:r>
          </a:p>
        </p:txBody>
      </p:sp>
      <p:sp>
        <p:nvSpPr>
          <p:cNvPr id="20" name="TextBox 19"/>
          <p:cNvSpPr txBox="1"/>
          <p:nvPr/>
        </p:nvSpPr>
        <p:spPr>
          <a:xfrm>
            <a:off x="5989320" y="5388885"/>
            <a:ext cx="5653735" cy="774170"/>
          </a:xfrm>
          <a:prstGeom prst="rect">
            <a:avLst/>
          </a:prstGeom>
          <a:noFill/>
        </p:spPr>
        <p:txBody>
          <a:bodyPr wrap="square" anchor="t" lIns="0" rIns="0" tIns="0" bIns="0">
            <a:spAutoFit/>
          </a:bodyPr>
          <a:lstStyle/>
          <a:p>
            <a:r>
              <a:rPr sz="1900" i="0" b="0">
                <a:solidFill>
                  <a:srgbClr val="1A1F36"/>
                </a:solidFill>
                <a:latin typeface="Calibri"/>
              </a:rPr>
              <a:t>Pregnancy: fetal hydantoin syndrome (face and limb defects).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05</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5</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Valproate</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5  ·  Epilepsy and Antiseizure Drugs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09 / 25</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Oval 7"/>
          <p:cNvSpPr/>
          <p:nvPr/>
        </p:nvSpPr>
        <p:spPr>
          <a:xfrm>
            <a:off x="548640" y="1572768"/>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1</a:t>
            </a:r>
          </a:p>
        </p:txBody>
      </p:sp>
      <p:sp>
        <p:nvSpPr>
          <p:cNvPr id="9" name="TextBox 8"/>
          <p:cNvSpPr txBox="1"/>
          <p:nvPr/>
        </p:nvSpPr>
        <p:spPr>
          <a:xfrm>
            <a:off x="1143000" y="1591056"/>
            <a:ext cx="10500055" cy="808863"/>
          </a:xfrm>
          <a:prstGeom prst="rect">
            <a:avLst/>
          </a:prstGeom>
          <a:noFill/>
        </p:spPr>
        <p:txBody>
          <a:bodyPr wrap="square" anchor="t" lIns="0" rIns="0" tIns="0" bIns="0">
            <a:spAutoFit/>
          </a:bodyPr>
          <a:lstStyle/>
          <a:p>
            <a:r>
              <a:rPr sz="2100" i="0" b="0">
                <a:solidFill>
                  <a:srgbClr val="1A1F36"/>
                </a:solidFill>
                <a:latin typeface="Calibri"/>
              </a:rPr>
              <a:t>Common: nausea, tremor, weight gain and hair loss.</a:t>
            </a:r>
          </a:p>
        </p:txBody>
      </p:sp>
      <p:sp>
        <p:nvSpPr>
          <p:cNvPr id="10" name="Oval 9"/>
          <p:cNvSpPr/>
          <p:nvPr/>
        </p:nvSpPr>
        <p:spPr>
          <a:xfrm>
            <a:off x="548640" y="2427351"/>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2</a:t>
            </a:r>
          </a:p>
        </p:txBody>
      </p:sp>
      <p:sp>
        <p:nvSpPr>
          <p:cNvPr id="11" name="TextBox 10"/>
          <p:cNvSpPr txBox="1"/>
          <p:nvPr/>
        </p:nvSpPr>
        <p:spPr>
          <a:xfrm>
            <a:off x="1143000" y="2445639"/>
            <a:ext cx="10500055" cy="808863"/>
          </a:xfrm>
          <a:prstGeom prst="rect">
            <a:avLst/>
          </a:prstGeom>
          <a:noFill/>
        </p:spPr>
        <p:txBody>
          <a:bodyPr wrap="square" anchor="t" lIns="0" rIns="0" tIns="0" bIns="0">
            <a:spAutoFit/>
          </a:bodyPr>
          <a:lstStyle/>
          <a:p>
            <a:r>
              <a:rPr sz="2100" i="0" b="0">
                <a:solidFill>
                  <a:srgbClr val="1A1F36"/>
                </a:solidFill>
                <a:latin typeface="Calibri"/>
              </a:rPr>
              <a:t>Blood: thrombocytopenia.</a:t>
            </a:r>
          </a:p>
        </p:txBody>
      </p:sp>
      <p:sp>
        <p:nvSpPr>
          <p:cNvPr id="12" name="Oval 11"/>
          <p:cNvSpPr/>
          <p:nvPr/>
        </p:nvSpPr>
        <p:spPr>
          <a:xfrm>
            <a:off x="548640" y="3281934"/>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3</a:t>
            </a:r>
          </a:p>
        </p:txBody>
      </p:sp>
      <p:sp>
        <p:nvSpPr>
          <p:cNvPr id="13" name="TextBox 12"/>
          <p:cNvSpPr txBox="1"/>
          <p:nvPr/>
        </p:nvSpPr>
        <p:spPr>
          <a:xfrm>
            <a:off x="1143000" y="3300222"/>
            <a:ext cx="10500055" cy="1142237"/>
          </a:xfrm>
          <a:prstGeom prst="rect">
            <a:avLst/>
          </a:prstGeom>
          <a:noFill/>
        </p:spPr>
        <p:txBody>
          <a:bodyPr wrap="square" anchor="t" lIns="0" rIns="0" tIns="0" bIns="0">
            <a:spAutoFit/>
          </a:bodyPr>
          <a:lstStyle/>
          <a:p>
            <a:r>
              <a:rPr sz="2100" i="0" b="0">
                <a:solidFill>
                  <a:srgbClr val="1A1F36"/>
                </a:solidFill>
                <a:latin typeface="Calibri"/>
              </a:rPr>
              <a:t>Rare but serious: liver failure (highest in children under 2 on several drugs) and pancreatitis.</a:t>
            </a:r>
          </a:p>
        </p:txBody>
      </p:sp>
      <p:sp>
        <p:nvSpPr>
          <p:cNvPr id="14" name="Oval 13"/>
          <p:cNvSpPr/>
          <p:nvPr/>
        </p:nvSpPr>
        <p:spPr>
          <a:xfrm>
            <a:off x="548640" y="4469891"/>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4</a:t>
            </a:r>
          </a:p>
        </p:txBody>
      </p:sp>
      <p:sp>
        <p:nvSpPr>
          <p:cNvPr id="15" name="TextBox 14"/>
          <p:cNvSpPr txBox="1"/>
          <p:nvPr/>
        </p:nvSpPr>
        <p:spPr>
          <a:xfrm>
            <a:off x="1143000" y="4488180"/>
            <a:ext cx="10500055" cy="1475612"/>
          </a:xfrm>
          <a:prstGeom prst="rect">
            <a:avLst/>
          </a:prstGeom>
          <a:noFill/>
        </p:spPr>
        <p:txBody>
          <a:bodyPr wrap="square" anchor="t" lIns="0" rIns="0" tIns="0" bIns="0">
            <a:spAutoFit/>
          </a:bodyPr>
          <a:lstStyle/>
          <a:p>
            <a:r>
              <a:rPr sz="2100" i="0" b="1">
                <a:solidFill>
                  <a:srgbClr val="1A1F36"/>
                </a:solidFill>
                <a:latin typeface="Calibri"/>
              </a:rPr>
              <a:t>Teratogenicity:</a:t>
            </a:r>
            <a:r>
              <a:rPr sz="2100" i="0" b="0">
                <a:solidFill>
                  <a:srgbClr val="1A1F36"/>
                </a:solidFill>
                <a:latin typeface="Calibri"/>
              </a:rPr>
              <a:t> the highest of all antiseizure drugs. It causes neural tube defects and other malformations, and lowers IQ and raises autism risk in children exposed in the womb.</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05</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5</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Older Drugs</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5  ·  Epilepsy and Antiseizure Drugs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10 / 25</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Rounded Rectangle 7"/>
          <p:cNvSpPr/>
          <p:nvPr/>
        </p:nvSpPr>
        <p:spPr>
          <a:xfrm>
            <a:off x="1645919" y="2103120"/>
            <a:ext cx="8899855" cy="2794508"/>
          </a:xfrm>
          <a:prstGeom prst="roundRect">
            <a:avLst>
              <a:gd name="adj" fmla="val 6000"/>
            </a:avLst>
          </a:prstGeom>
          <a:solidFill>
            <a:srgbClr val="FBEA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920239" y="2331720"/>
            <a:ext cx="1074420" cy="347472"/>
          </a:xfrm>
          <a:prstGeom prst="roundRect">
            <a:avLst>
              <a:gd name="adj" fmla="val 50000"/>
            </a:avLst>
          </a:prstGeom>
          <a:solidFill>
            <a:srgbClr val="B326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i="0" b="1">
                <a:solidFill>
                  <a:srgbClr val="FFFFFF"/>
                </a:solidFill>
                <a:latin typeface="Calibri"/>
              </a:rPr>
              <a:t>CAUTION</a:t>
            </a:r>
          </a:p>
        </p:txBody>
      </p:sp>
      <p:sp>
        <p:nvSpPr>
          <p:cNvPr id="10" name="TextBox 9"/>
          <p:cNvSpPr txBox="1"/>
          <p:nvPr/>
        </p:nvSpPr>
        <p:spPr>
          <a:xfrm>
            <a:off x="1920239" y="2788920"/>
            <a:ext cx="8351215" cy="1925827"/>
          </a:xfrm>
          <a:prstGeom prst="rect">
            <a:avLst/>
          </a:prstGeom>
          <a:noFill/>
        </p:spPr>
        <p:txBody>
          <a:bodyPr wrap="square" anchor="t" lIns="0" rIns="0" tIns="0" bIns="0">
            <a:spAutoFit/>
          </a:bodyPr>
          <a:lstStyle/>
          <a:p>
            <a:pPr>
              <a:spcBef>
                <a:spcPts val="0"/>
              </a:spcBef>
            </a:pPr>
            <a:r>
              <a:rPr sz="2200" i="0" b="0">
                <a:solidFill>
                  <a:srgbClr val="1A1F36"/>
                </a:solidFill>
                <a:latin typeface="Calibri"/>
              </a:rPr>
              <a:t>Valproate must not be used in women and girls who could become pregnant unless no other drug works and a </a:t>
            </a:r>
            <a:r>
              <a:rPr sz="2200" i="0" b="1">
                <a:solidFill>
                  <a:srgbClr val="1A1F36"/>
                </a:solidFill>
                <a:latin typeface="Calibri"/>
              </a:rPr>
              <a:t>pregnancy-prevention programme</a:t>
            </a:r>
            <a:r>
              <a:rPr sz="2200" i="0" b="0">
                <a:solidFill>
                  <a:srgbClr val="1A1F36"/>
                </a:solidFill>
                <a:latin typeface="Calibri"/>
              </a:rPr>
              <a:t> is in place. This includes effective contraception and a yearly specialist review. Check liver function and platelets before starting.</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05</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5</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Newer Drugs</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5  ·  Epilepsy and Antiseizure Drugs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11 / 25</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795528"/>
          </a:xfrm>
          <a:prstGeom prst="rect">
            <a:avLst/>
          </a:prstGeom>
          <a:noFill/>
        </p:spPr>
        <p:txBody>
          <a:bodyPr wrap="square" anchor="t" lIns="0" rIns="0" tIns="0" bIns="0">
            <a:spAutoFit/>
          </a:bodyPr>
          <a:lstStyle/>
          <a:p>
            <a:pPr>
              <a:spcAft>
                <a:spcPts val="800"/>
              </a:spcAft>
            </a:pPr>
            <a:r>
              <a:rPr sz="1800" i="0" b="0">
                <a:solidFill>
                  <a:srgbClr val="1A1F36"/>
                </a:solidFill>
                <a:latin typeface="Calibri"/>
              </a:rPr>
              <a:t>Newer drugs cause fewer interactions and are often better tolerated. They are not free of serious adverse effects.</a:t>
            </a:r>
          </a:p>
        </p:txBody>
      </p:sp>
      <p:sp>
        <p:nvSpPr>
          <p:cNvPr id="9" name="Oval 8"/>
          <p:cNvSpPr/>
          <p:nvPr/>
        </p:nvSpPr>
        <p:spPr>
          <a:xfrm>
            <a:off x="548640" y="2551175"/>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1</a:t>
            </a:r>
          </a:p>
        </p:txBody>
      </p:sp>
      <p:sp>
        <p:nvSpPr>
          <p:cNvPr id="10" name="TextBox 9"/>
          <p:cNvSpPr txBox="1"/>
          <p:nvPr/>
        </p:nvSpPr>
        <p:spPr>
          <a:xfrm>
            <a:off x="1143000" y="2569463"/>
            <a:ext cx="10500055" cy="1171448"/>
          </a:xfrm>
          <a:prstGeom prst="rect">
            <a:avLst/>
          </a:prstGeom>
          <a:noFill/>
        </p:spPr>
        <p:txBody>
          <a:bodyPr wrap="square" anchor="t" lIns="0" rIns="0" tIns="0" bIns="0">
            <a:spAutoFit/>
          </a:bodyPr>
          <a:lstStyle/>
          <a:p>
            <a:r>
              <a:rPr sz="1600" i="0" b="1">
                <a:solidFill>
                  <a:srgbClr val="1A1F36"/>
                </a:solidFill>
                <a:latin typeface="Calibri"/>
              </a:rPr>
              <a:t>Lamotrigine</a:t>
            </a:r>
            <a:r>
              <a:rPr sz="1600" i="0" b="0">
                <a:solidFill>
                  <a:srgbClr val="1A1F36"/>
                </a:solidFill>
                <a:latin typeface="Calibri"/>
              </a:rPr>
              <a:t> blocks Na+ channels and reduces glutamate release. It treats focal and generalised seizures and is a first-choice drug in women who could become pregnant. Its main risk is </a:t>
            </a:r>
            <a:r>
              <a:rPr sz="1600" i="0" b="1">
                <a:solidFill>
                  <a:srgbClr val="1A1F36"/>
                </a:solidFill>
                <a:latin typeface="Calibri"/>
              </a:rPr>
              <a:t>rash</a:t>
            </a:r>
            <a:r>
              <a:rPr sz="1600" i="0" b="0">
                <a:solidFill>
                  <a:srgbClr val="1A1F36"/>
                </a:solidFill>
                <a:latin typeface="Calibri"/>
              </a:rPr>
              <a:t>, including Stevens–Johnson syndrome. The risk is highest with fast titration and with valproate, which doubles lamotrigine levels. Increase the dose slowly. Oestrogen-containing pills lower lamotrigine levels.</a:t>
            </a:r>
          </a:p>
        </p:txBody>
      </p:sp>
      <p:sp>
        <p:nvSpPr>
          <p:cNvPr id="11" name="Oval 10"/>
          <p:cNvSpPr/>
          <p:nvPr/>
        </p:nvSpPr>
        <p:spPr>
          <a:xfrm>
            <a:off x="548640" y="3768343"/>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2</a:t>
            </a:r>
          </a:p>
        </p:txBody>
      </p:sp>
      <p:sp>
        <p:nvSpPr>
          <p:cNvPr id="12" name="TextBox 11"/>
          <p:cNvSpPr txBox="1"/>
          <p:nvPr/>
        </p:nvSpPr>
        <p:spPr>
          <a:xfrm>
            <a:off x="1143000" y="3786632"/>
            <a:ext cx="10500055" cy="917448"/>
          </a:xfrm>
          <a:prstGeom prst="rect">
            <a:avLst/>
          </a:prstGeom>
          <a:noFill/>
        </p:spPr>
        <p:txBody>
          <a:bodyPr wrap="square" anchor="t" lIns="0" rIns="0" tIns="0" bIns="0">
            <a:spAutoFit/>
          </a:bodyPr>
          <a:lstStyle/>
          <a:p>
            <a:r>
              <a:rPr sz="1600" i="0" b="1">
                <a:solidFill>
                  <a:srgbClr val="1A1F36"/>
                </a:solidFill>
                <a:latin typeface="Calibri"/>
              </a:rPr>
              <a:t>Levetiracetam</a:t>
            </a:r>
            <a:r>
              <a:rPr sz="1600" i="0" b="0">
                <a:solidFill>
                  <a:srgbClr val="1A1F36"/>
                </a:solidFill>
                <a:latin typeface="Calibri"/>
              </a:rPr>
              <a:t> binds SV2A and reduces transmitter release. It treats focal and generalised seizures. It has few interactions and is one of the safest options in pregnancy. It can cause irritability, low mood and, rarely, suicidal thoughts.</a:t>
            </a:r>
          </a:p>
        </p:txBody>
      </p:sp>
      <p:sp>
        <p:nvSpPr>
          <p:cNvPr id="13" name="Oval 12"/>
          <p:cNvSpPr/>
          <p:nvPr/>
        </p:nvSpPr>
        <p:spPr>
          <a:xfrm>
            <a:off x="548640" y="4731512"/>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3</a:t>
            </a:r>
          </a:p>
        </p:txBody>
      </p:sp>
      <p:sp>
        <p:nvSpPr>
          <p:cNvPr id="14" name="TextBox 13"/>
          <p:cNvSpPr txBox="1"/>
          <p:nvPr/>
        </p:nvSpPr>
        <p:spPr>
          <a:xfrm>
            <a:off x="1143000" y="4749800"/>
            <a:ext cx="10500055" cy="917448"/>
          </a:xfrm>
          <a:prstGeom prst="rect">
            <a:avLst/>
          </a:prstGeom>
          <a:noFill/>
        </p:spPr>
        <p:txBody>
          <a:bodyPr wrap="square" anchor="t" lIns="0" rIns="0" tIns="0" bIns="0">
            <a:spAutoFit/>
          </a:bodyPr>
          <a:lstStyle/>
          <a:p>
            <a:r>
              <a:rPr sz="1600" i="0" b="1">
                <a:solidFill>
                  <a:srgbClr val="1A1F36"/>
                </a:solidFill>
                <a:latin typeface="Calibri"/>
              </a:rPr>
              <a:t>Topiramate</a:t>
            </a:r>
            <a:r>
              <a:rPr sz="1600" i="0" b="0">
                <a:solidFill>
                  <a:srgbClr val="1A1F36"/>
                </a:solidFill>
                <a:latin typeface="Calibri"/>
              </a:rPr>
              <a:t> blocks Na+ channels, enhances GABA and blocks AMPA/kainate receptors. It is also used to prevent migraine. Adverse effects: weight loss, word-finding difficulty, kidney stones, paraesthesia and, rarely, acute angle-closure glaucoma. It is teratogenic (cleft lip and palate).</a:t>
            </a:r>
          </a:p>
        </p:txBody>
      </p:sp>
      <p:sp>
        <p:nvSpPr>
          <p:cNvPr id="15" name="Oval 14"/>
          <p:cNvSpPr/>
          <p:nvPr/>
        </p:nvSpPr>
        <p:spPr>
          <a:xfrm>
            <a:off x="548640" y="5694680"/>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4</a:t>
            </a:r>
          </a:p>
        </p:txBody>
      </p:sp>
      <p:sp>
        <p:nvSpPr>
          <p:cNvPr id="16" name="TextBox 15"/>
          <p:cNvSpPr txBox="1"/>
          <p:nvPr/>
        </p:nvSpPr>
        <p:spPr>
          <a:xfrm>
            <a:off x="1143000" y="5712968"/>
            <a:ext cx="10500055" cy="1171448"/>
          </a:xfrm>
          <a:prstGeom prst="rect">
            <a:avLst/>
          </a:prstGeom>
          <a:noFill/>
        </p:spPr>
        <p:txBody>
          <a:bodyPr wrap="square" anchor="t" lIns="0" rIns="0" tIns="0" bIns="0">
            <a:spAutoFit/>
          </a:bodyPr>
          <a:lstStyle/>
          <a:p>
            <a:r>
              <a:rPr sz="1600" i="0" b="1">
                <a:solidFill>
                  <a:srgbClr val="1A1F36"/>
                </a:solidFill>
                <a:latin typeface="Calibri"/>
              </a:rPr>
              <a:t>Gabapentin and pregabalin</a:t>
            </a:r>
            <a:r>
              <a:rPr sz="1600" i="0" b="0">
                <a:solidFill>
                  <a:srgbClr val="1A1F36"/>
                </a:solidFill>
                <a:latin typeface="Calibri"/>
              </a:rPr>
              <a:t> bind the α2δ subunit of voltage-gated Ca2+ channels and reduce glutamate release. They are used mainly for neuropathic pain and as add-on drugs for focal seizures. They cause sedation and dizziness. They can be misused, pregabalin more than gabapentin. With opioids they increase the risk of breathing depression.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05</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5</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Comparing the Main Drugs</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5  ·  Epilepsy and Antiseizure Drugs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12 / 25</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graphicFrame>
        <p:nvGraphicFramePr>
          <p:cNvPr id="8" name="Table 7"/>
          <p:cNvGraphicFramePr>
            <a:graphicFrameLocks noGrp="1"/>
          </p:cNvGraphicFramePr>
          <p:nvPr/>
        </p:nvGraphicFramePr>
        <p:xfrm>
          <a:off x="548640" y="1554480"/>
          <a:ext cx="11094413" cy="4617720"/>
        </p:xfrm>
        <a:graphic>
          <a:graphicData uri="http://schemas.openxmlformats.org/drawingml/2006/table">
            <a:tbl>
              <a:tblPr firstRow="0" bandRow="0">
                <a:tableStyleId>{5C22544A-7EE6-4342-B048-85BDC9FD1C3A}</a:tableStyleId>
              </a:tblPr>
              <a:tblGrid>
                <a:gridCol w="1727199"/>
                <a:gridCol w="2269312"/>
                <a:gridCol w="3820007"/>
                <a:gridCol w="3277895"/>
              </a:tblGrid>
              <a:tr h="577215">
                <a:tc>
                  <a:txBody>
                    <a:bodyPr/>
                    <a:lstStyle/>
                    <a:p>
                      <a:r>
                        <a:rPr sz="1400" i="0" b="1">
                          <a:solidFill>
                            <a:srgbClr val="FFFFFF"/>
                          </a:solidFill>
                          <a:latin typeface="Calibri"/>
                        </a:rPr>
                        <a:t>Drug</a:t>
                      </a:r>
                    </a:p>
                  </a:txBody>
                  <a:tcPr marL="109728" marR="109728" marT="45720" marB="45720" anchor="ctr">
                    <a:solidFill>
                      <a:srgbClr val="1B2A8C"/>
                    </a:solidFill>
                  </a:tcPr>
                </a:tc>
                <a:tc>
                  <a:txBody>
                    <a:bodyPr/>
                    <a:lstStyle/>
                    <a:p>
                      <a:r>
                        <a:rPr sz="1400" i="0" b="1">
                          <a:solidFill>
                            <a:srgbClr val="FFFFFF"/>
                          </a:solidFill>
                          <a:latin typeface="Calibri"/>
                        </a:rPr>
                        <a:t>Enzyme effect</a:t>
                      </a:r>
                    </a:p>
                  </a:txBody>
                  <a:tcPr marL="109728" marR="109728" marT="45720" marB="45720" anchor="ctr">
                    <a:solidFill>
                      <a:srgbClr val="1B2A8C"/>
                    </a:solidFill>
                  </a:tcPr>
                </a:tc>
                <a:tc>
                  <a:txBody>
                    <a:bodyPr/>
                    <a:lstStyle/>
                    <a:p>
                      <a:r>
                        <a:rPr sz="1400" i="0" b="1">
                          <a:solidFill>
                            <a:srgbClr val="FFFFFF"/>
                          </a:solidFill>
                          <a:latin typeface="Calibri"/>
                        </a:rPr>
                        <a:t>Key adverse effects</a:t>
                      </a:r>
                    </a:p>
                  </a:txBody>
                  <a:tcPr marL="109728" marR="109728" marT="45720" marB="45720" anchor="ctr">
                    <a:solidFill>
                      <a:srgbClr val="1B2A8C"/>
                    </a:solidFill>
                  </a:tcPr>
                </a:tc>
                <a:tc>
                  <a:txBody>
                    <a:bodyPr/>
                    <a:lstStyle/>
                    <a:p>
                      <a:r>
                        <a:rPr sz="1400" i="0" b="1">
                          <a:solidFill>
                            <a:srgbClr val="FFFFFF"/>
                          </a:solidFill>
                          <a:latin typeface="Calibri"/>
                        </a:rPr>
                        <a:t>Pregnancy</a:t>
                      </a:r>
                    </a:p>
                  </a:txBody>
                  <a:tcPr marL="109728" marR="109728" marT="45720" marB="45720" anchor="ctr">
                    <a:solidFill>
                      <a:srgbClr val="1B2A8C"/>
                    </a:solidFill>
                  </a:tcPr>
                </a:tc>
              </a:tr>
              <a:tr h="577215">
                <a:tc>
                  <a:txBody>
                    <a:bodyPr/>
                    <a:lstStyle/>
                    <a:p>
                      <a:r>
                        <a:rPr sz="1500" i="0" b="1">
                          <a:solidFill>
                            <a:srgbClr val="1A1F36"/>
                          </a:solidFill>
                          <a:latin typeface="Calibri"/>
                        </a:rPr>
                        <a:t>Phenytoin</a:t>
                      </a:r>
                    </a:p>
                  </a:txBody>
                  <a:tcPr marL="109728" marR="109728" marT="45720" marB="45720" anchor="ctr">
                    <a:solidFill>
                      <a:srgbClr val="FFFFFF"/>
                    </a:solidFill>
                  </a:tcPr>
                </a:tc>
                <a:tc>
                  <a:txBody>
                    <a:bodyPr/>
                    <a:lstStyle/>
                    <a:p>
                      <a:r>
                        <a:rPr sz="1500" i="0" b="0">
                          <a:solidFill>
                            <a:srgbClr val="1A1F36"/>
                          </a:solidFill>
                          <a:latin typeface="Calibri"/>
                        </a:rPr>
                        <a:t>Inducer</a:t>
                      </a:r>
                    </a:p>
                  </a:txBody>
                  <a:tcPr marL="109728" marR="109728" marT="45720" marB="45720" anchor="ctr">
                    <a:solidFill>
                      <a:srgbClr val="FFFFFF"/>
                    </a:solidFill>
                  </a:tcPr>
                </a:tc>
                <a:tc>
                  <a:txBody>
                    <a:bodyPr/>
                    <a:lstStyle/>
                    <a:p>
                      <a:r>
                        <a:rPr sz="1500" i="0" b="0">
                          <a:solidFill>
                            <a:srgbClr val="1A1F36"/>
                          </a:solidFill>
                          <a:latin typeface="Calibri"/>
                        </a:rPr>
                        <a:t>Gum hyperplasia, hirsutism, ataxia, non-linear kinetics</a:t>
                      </a:r>
                    </a:p>
                  </a:txBody>
                  <a:tcPr marL="109728" marR="109728" marT="45720" marB="45720" anchor="ctr">
                    <a:solidFill>
                      <a:srgbClr val="FFFFFF"/>
                    </a:solidFill>
                  </a:tcPr>
                </a:tc>
                <a:tc>
                  <a:txBody>
                    <a:bodyPr/>
                    <a:lstStyle/>
                    <a:p>
                      <a:r>
                        <a:rPr sz="1500" i="0" b="0">
                          <a:solidFill>
                            <a:srgbClr val="1A1F36"/>
                          </a:solidFill>
                          <a:latin typeface="Calibri"/>
                        </a:rPr>
                        <a:t>Fetal hydantoin syndrome</a:t>
                      </a:r>
                    </a:p>
                  </a:txBody>
                  <a:tcPr marL="109728" marR="109728" marT="45720" marB="45720" anchor="ctr">
                    <a:solidFill>
                      <a:srgbClr val="FFFFFF"/>
                    </a:solidFill>
                  </a:tcPr>
                </a:tc>
              </a:tr>
              <a:tr h="577215">
                <a:tc>
                  <a:txBody>
                    <a:bodyPr/>
                    <a:lstStyle/>
                    <a:p>
                      <a:r>
                        <a:rPr sz="1500" i="0" b="1">
                          <a:solidFill>
                            <a:srgbClr val="1A1F36"/>
                          </a:solidFill>
                          <a:latin typeface="Calibri"/>
                        </a:rPr>
                        <a:t>Carbamazepine</a:t>
                      </a:r>
                    </a:p>
                  </a:txBody>
                  <a:tcPr marL="109728" marR="109728" marT="45720" marB="45720" anchor="ctr">
                    <a:solidFill>
                      <a:srgbClr val="F1F2F8"/>
                    </a:solidFill>
                  </a:tcPr>
                </a:tc>
                <a:tc>
                  <a:txBody>
                    <a:bodyPr/>
                    <a:lstStyle/>
                    <a:p>
                      <a:r>
                        <a:rPr sz="1500" i="0" b="0">
                          <a:solidFill>
                            <a:srgbClr val="1A1F36"/>
                          </a:solidFill>
                          <a:latin typeface="Calibri"/>
                        </a:rPr>
                        <a:t>Inducer (and auto-induction)</a:t>
                      </a:r>
                    </a:p>
                  </a:txBody>
                  <a:tcPr marL="109728" marR="109728" marT="45720" marB="45720" anchor="ctr">
                    <a:solidFill>
                      <a:srgbClr val="F1F2F8"/>
                    </a:solidFill>
                  </a:tcPr>
                </a:tc>
                <a:tc>
                  <a:txBody>
                    <a:bodyPr/>
                    <a:lstStyle/>
                    <a:p>
                      <a:r>
                        <a:rPr sz="1500" i="0" b="0">
                          <a:solidFill>
                            <a:srgbClr val="1A1F36"/>
                          </a:solidFill>
                          <a:latin typeface="Calibri"/>
                        </a:rPr>
                        <a:t>Hyponatraemia, rash (HLA-B1502), blood disorders</a:t>
                      </a:r>
                    </a:p>
                  </a:txBody>
                  <a:tcPr marL="109728" marR="109728" marT="45720" marB="45720" anchor="ctr">
                    <a:solidFill>
                      <a:srgbClr val="F1F2F8"/>
                    </a:solidFill>
                  </a:tcPr>
                </a:tc>
                <a:tc>
                  <a:txBody>
                    <a:bodyPr/>
                    <a:lstStyle/>
                    <a:p>
                      <a:r>
                        <a:rPr sz="1500" i="0" b="0">
                          <a:solidFill>
                            <a:srgbClr val="1A1F36"/>
                          </a:solidFill>
                          <a:latin typeface="Calibri"/>
                        </a:rPr>
                        <a:t>Neural tube defects</a:t>
                      </a:r>
                    </a:p>
                  </a:txBody>
                  <a:tcPr marL="109728" marR="109728" marT="45720" marB="45720" anchor="ctr">
                    <a:solidFill>
                      <a:srgbClr val="F1F2F8"/>
                    </a:solidFill>
                  </a:tcPr>
                </a:tc>
              </a:tr>
              <a:tr h="577215">
                <a:tc>
                  <a:txBody>
                    <a:bodyPr/>
                    <a:lstStyle/>
                    <a:p>
                      <a:r>
                        <a:rPr sz="1500" i="0" b="1">
                          <a:solidFill>
                            <a:srgbClr val="1A1F36"/>
                          </a:solidFill>
                          <a:latin typeface="Calibri"/>
                        </a:rPr>
                        <a:t>Phenobarbital</a:t>
                      </a:r>
                    </a:p>
                  </a:txBody>
                  <a:tcPr marL="109728" marR="109728" marT="45720" marB="45720" anchor="ctr">
                    <a:solidFill>
                      <a:srgbClr val="FFFFFF"/>
                    </a:solidFill>
                  </a:tcPr>
                </a:tc>
                <a:tc>
                  <a:txBody>
                    <a:bodyPr/>
                    <a:lstStyle/>
                    <a:p>
                      <a:r>
                        <a:rPr sz="1500" i="0" b="0">
                          <a:solidFill>
                            <a:srgbClr val="1A1F36"/>
                          </a:solidFill>
                          <a:latin typeface="Calibri"/>
                        </a:rPr>
                        <a:t>Inducer</a:t>
                      </a:r>
                    </a:p>
                  </a:txBody>
                  <a:tcPr marL="109728" marR="109728" marT="45720" marB="45720" anchor="ctr">
                    <a:solidFill>
                      <a:srgbClr val="FFFFFF"/>
                    </a:solidFill>
                  </a:tcPr>
                </a:tc>
                <a:tc>
                  <a:txBody>
                    <a:bodyPr/>
                    <a:lstStyle/>
                    <a:p>
                      <a:r>
                        <a:rPr sz="1500" i="0" b="0">
                          <a:solidFill>
                            <a:srgbClr val="1A1F36"/>
                          </a:solidFill>
                          <a:latin typeface="Calibri"/>
                        </a:rPr>
                        <a:t>Sedation, dependence</a:t>
                      </a:r>
                    </a:p>
                  </a:txBody>
                  <a:tcPr marL="109728" marR="109728" marT="45720" marB="45720" anchor="ctr">
                    <a:solidFill>
                      <a:srgbClr val="FFFFFF"/>
                    </a:solidFill>
                  </a:tcPr>
                </a:tc>
                <a:tc>
                  <a:txBody>
                    <a:bodyPr/>
                    <a:lstStyle/>
                    <a:p>
                      <a:r>
                        <a:rPr sz="1500" i="0" b="0">
                          <a:solidFill>
                            <a:srgbClr val="1A1F36"/>
                          </a:solidFill>
                          <a:latin typeface="Calibri"/>
                        </a:rPr>
                        <a:t>Malformations</a:t>
                      </a:r>
                    </a:p>
                  </a:txBody>
                  <a:tcPr marL="109728" marR="109728" marT="45720" marB="45720" anchor="ctr">
                    <a:solidFill>
                      <a:srgbClr val="FFFFFF"/>
                    </a:solidFill>
                  </a:tcPr>
                </a:tc>
              </a:tr>
              <a:tr h="577215">
                <a:tc>
                  <a:txBody>
                    <a:bodyPr/>
                    <a:lstStyle/>
                    <a:p>
                      <a:r>
                        <a:rPr sz="1500" i="0" b="1">
                          <a:solidFill>
                            <a:srgbClr val="1A1F36"/>
                          </a:solidFill>
                          <a:latin typeface="Calibri"/>
                        </a:rPr>
                        <a:t>Valproate</a:t>
                      </a:r>
                    </a:p>
                  </a:txBody>
                  <a:tcPr marL="109728" marR="109728" marT="45720" marB="45720" anchor="ctr">
                    <a:solidFill>
                      <a:srgbClr val="F1F2F8"/>
                    </a:solidFill>
                  </a:tcPr>
                </a:tc>
                <a:tc>
                  <a:txBody>
                    <a:bodyPr/>
                    <a:lstStyle/>
                    <a:p>
                      <a:r>
                        <a:rPr sz="1500" i="0" b="1">
                          <a:solidFill>
                            <a:srgbClr val="1A1F36"/>
                          </a:solidFill>
                          <a:latin typeface="Calibri"/>
                        </a:rPr>
                        <a:t>Inhibitor</a:t>
                      </a:r>
                    </a:p>
                  </a:txBody>
                  <a:tcPr marL="109728" marR="109728" marT="45720" marB="45720" anchor="ctr">
                    <a:solidFill>
                      <a:srgbClr val="F1F2F8"/>
                    </a:solidFill>
                  </a:tcPr>
                </a:tc>
                <a:tc>
                  <a:txBody>
                    <a:bodyPr/>
                    <a:lstStyle/>
                    <a:p>
                      <a:r>
                        <a:rPr sz="1500" i="0" b="0">
                          <a:solidFill>
                            <a:srgbClr val="1A1F36"/>
                          </a:solidFill>
                          <a:latin typeface="Calibri"/>
                        </a:rPr>
                        <a:t>Weight gain, tremor, hair loss, liver failure, pancreatitis</a:t>
                      </a:r>
                    </a:p>
                  </a:txBody>
                  <a:tcPr marL="109728" marR="109728" marT="45720" marB="45720" anchor="ctr">
                    <a:solidFill>
                      <a:srgbClr val="F1F2F8"/>
                    </a:solidFill>
                  </a:tcPr>
                </a:tc>
                <a:tc>
                  <a:txBody>
                    <a:bodyPr/>
                    <a:lstStyle/>
                    <a:p>
                      <a:r>
                        <a:rPr sz="1500" i="0" b="0">
                          <a:solidFill>
                            <a:srgbClr val="1A1F36"/>
                          </a:solidFill>
                          <a:latin typeface="Calibri"/>
                        </a:rPr>
                        <a:t>Highest risk; pregnancy-prevention programme</a:t>
                      </a:r>
                    </a:p>
                  </a:txBody>
                  <a:tcPr marL="109728" marR="109728" marT="45720" marB="45720" anchor="ctr">
                    <a:solidFill>
                      <a:srgbClr val="F1F2F8"/>
                    </a:solidFill>
                  </a:tcPr>
                </a:tc>
              </a:tr>
              <a:tr h="577215">
                <a:tc>
                  <a:txBody>
                    <a:bodyPr/>
                    <a:lstStyle/>
                    <a:p>
                      <a:r>
                        <a:rPr sz="1500" i="0" b="1">
                          <a:solidFill>
                            <a:srgbClr val="1A1F36"/>
                          </a:solidFill>
                          <a:latin typeface="Calibri"/>
                        </a:rPr>
                        <a:t>Ethosuximide</a:t>
                      </a:r>
                    </a:p>
                  </a:txBody>
                  <a:tcPr marL="109728" marR="109728" marT="45720" marB="45720" anchor="ctr">
                    <a:solidFill>
                      <a:srgbClr val="FFFFFF"/>
                    </a:solidFill>
                  </a:tcPr>
                </a:tc>
                <a:tc>
                  <a:txBody>
                    <a:bodyPr/>
                    <a:lstStyle/>
                    <a:p>
                      <a:r>
                        <a:rPr sz="1500" i="0" b="0">
                          <a:solidFill>
                            <a:srgbClr val="1A1F36"/>
                          </a:solidFill>
                          <a:latin typeface="Calibri"/>
                        </a:rPr>
                        <a:t>Neither (important)</a:t>
                      </a:r>
                    </a:p>
                  </a:txBody>
                  <a:tcPr marL="109728" marR="109728" marT="45720" marB="45720" anchor="ctr">
                    <a:solidFill>
                      <a:srgbClr val="FFFFFF"/>
                    </a:solidFill>
                  </a:tcPr>
                </a:tc>
                <a:tc>
                  <a:txBody>
                    <a:bodyPr/>
                    <a:lstStyle/>
                    <a:p>
                      <a:r>
                        <a:rPr sz="1500" i="0" b="0">
                          <a:solidFill>
                            <a:srgbClr val="1A1F36"/>
                          </a:solidFill>
                          <a:latin typeface="Calibri"/>
                        </a:rPr>
                        <a:t>GI upset</a:t>
                      </a:r>
                    </a:p>
                  </a:txBody>
                  <a:tcPr marL="109728" marR="109728" marT="45720" marB="45720" anchor="ctr">
                    <a:solidFill>
                      <a:srgbClr val="FFFFFF"/>
                    </a:solidFill>
                  </a:tcPr>
                </a:tc>
                <a:tc>
                  <a:txBody>
                    <a:bodyPr/>
                    <a:lstStyle/>
                    <a:p>
                      <a:r>
                        <a:rPr sz="1500" i="0" b="0">
                          <a:solidFill>
                            <a:srgbClr val="1A1F36"/>
                          </a:solidFill>
                          <a:latin typeface="Calibri"/>
                        </a:rPr>
                        <a:t>Limited data</a:t>
                      </a:r>
                    </a:p>
                  </a:txBody>
                  <a:tcPr marL="109728" marR="109728" marT="45720" marB="45720" anchor="ctr">
                    <a:solidFill>
                      <a:srgbClr val="FFFFFF"/>
                    </a:solidFill>
                  </a:tcPr>
                </a:tc>
              </a:tr>
              <a:tr h="577215">
                <a:tc>
                  <a:txBody>
                    <a:bodyPr/>
                    <a:lstStyle/>
                    <a:p>
                      <a:r>
                        <a:rPr sz="1500" i="0" b="1">
                          <a:solidFill>
                            <a:srgbClr val="1A1F36"/>
                          </a:solidFill>
                          <a:latin typeface="Calibri"/>
                        </a:rPr>
                        <a:t>Lamotrigine</a:t>
                      </a:r>
                    </a:p>
                  </a:txBody>
                  <a:tcPr marL="109728" marR="109728" marT="45720" marB="45720" anchor="ctr">
                    <a:solidFill>
                      <a:srgbClr val="F1F2F8"/>
                    </a:solidFill>
                  </a:tcPr>
                </a:tc>
                <a:tc>
                  <a:txBody>
                    <a:bodyPr/>
                    <a:lstStyle/>
                    <a:p>
                      <a:r>
                        <a:rPr sz="1500" i="0" b="0">
                          <a:solidFill>
                            <a:srgbClr val="1A1F36"/>
                          </a:solidFill>
                          <a:latin typeface="Calibri"/>
                        </a:rPr>
                        <a:t>Neither (important)</a:t>
                      </a:r>
                    </a:p>
                  </a:txBody>
                  <a:tcPr marL="109728" marR="109728" marT="45720" marB="45720" anchor="ctr">
                    <a:solidFill>
                      <a:srgbClr val="F1F2F8"/>
                    </a:solidFill>
                  </a:tcPr>
                </a:tc>
                <a:tc>
                  <a:txBody>
                    <a:bodyPr/>
                    <a:lstStyle/>
                    <a:p>
                      <a:r>
                        <a:rPr sz="1500" i="0" b="0">
                          <a:solidFill>
                            <a:srgbClr val="1A1F36"/>
                          </a:solidFill>
                          <a:latin typeface="Calibri"/>
                        </a:rPr>
                        <a:t>Rash, SJS</a:t>
                      </a:r>
                    </a:p>
                  </a:txBody>
                  <a:tcPr marL="109728" marR="109728" marT="45720" marB="45720" anchor="ctr">
                    <a:solidFill>
                      <a:srgbClr val="F1F2F8"/>
                    </a:solidFill>
                  </a:tcPr>
                </a:tc>
                <a:tc>
                  <a:txBody>
                    <a:bodyPr/>
                    <a:lstStyle/>
                    <a:p>
                      <a:r>
                        <a:rPr sz="1500" i="0" b="0">
                          <a:solidFill>
                            <a:srgbClr val="1A1F36"/>
                          </a:solidFill>
                          <a:latin typeface="Calibri"/>
                        </a:rPr>
                        <a:t>Among the safest</a:t>
                      </a:r>
                    </a:p>
                  </a:txBody>
                  <a:tcPr marL="109728" marR="109728" marT="45720" marB="45720" anchor="ctr">
                    <a:solidFill>
                      <a:srgbClr val="F1F2F8"/>
                    </a:solidFill>
                  </a:tcPr>
                </a:tc>
              </a:tr>
              <a:tr h="577215">
                <a:tc>
                  <a:txBody>
                    <a:bodyPr/>
                    <a:lstStyle/>
                    <a:p>
                      <a:r>
                        <a:rPr sz="1500" i="0" b="1">
                          <a:solidFill>
                            <a:srgbClr val="1A1F36"/>
                          </a:solidFill>
                          <a:latin typeface="Calibri"/>
                        </a:rPr>
                        <a:t>Levetiracetam</a:t>
                      </a:r>
                    </a:p>
                  </a:txBody>
                  <a:tcPr marL="109728" marR="109728" marT="45720" marB="45720" anchor="ctr">
                    <a:solidFill>
                      <a:srgbClr val="FFFFFF"/>
                    </a:solidFill>
                  </a:tcPr>
                </a:tc>
                <a:tc>
                  <a:txBody>
                    <a:bodyPr/>
                    <a:lstStyle/>
                    <a:p>
                      <a:r>
                        <a:rPr sz="1500" i="0" b="0">
                          <a:solidFill>
                            <a:srgbClr val="1A1F36"/>
                          </a:solidFill>
                          <a:latin typeface="Calibri"/>
                        </a:rPr>
                        <a:t>None</a:t>
                      </a:r>
                    </a:p>
                  </a:txBody>
                  <a:tcPr marL="109728" marR="109728" marT="45720" marB="45720" anchor="ctr">
                    <a:solidFill>
                      <a:srgbClr val="FFFFFF"/>
                    </a:solidFill>
                  </a:tcPr>
                </a:tc>
                <a:tc>
                  <a:txBody>
                    <a:bodyPr/>
                    <a:lstStyle/>
                    <a:p>
                      <a:r>
                        <a:rPr sz="1500" i="0" b="0">
                          <a:solidFill>
                            <a:srgbClr val="1A1F36"/>
                          </a:solidFill>
                          <a:latin typeface="Calibri"/>
                        </a:rPr>
                        <a:t>Irritability, low mood</a:t>
                      </a:r>
                    </a:p>
                  </a:txBody>
                  <a:tcPr marL="109728" marR="109728" marT="45720" marB="45720" anchor="ctr">
                    <a:solidFill>
                      <a:srgbClr val="FFFFFF"/>
                    </a:solidFill>
                  </a:tcPr>
                </a:tc>
                <a:tc>
                  <a:txBody>
                    <a:bodyPr/>
                    <a:lstStyle/>
                    <a:p>
                      <a:r>
                        <a:rPr sz="1500" i="0" b="0">
                          <a:solidFill>
                            <a:srgbClr val="1A1F36"/>
                          </a:solidFill>
                          <a:latin typeface="Calibri"/>
                        </a:rPr>
                        <a:t>Among the safest</a:t>
                      </a:r>
                    </a:p>
                  </a:txBody>
                  <a:tcPr marL="109728" marR="109728" marT="45720" marB="45720" anchor="ctr">
                    <a:solidFill>
                      <a:srgbClr val="FFFFFF"/>
                    </a:solidFill>
                  </a:tcPr>
                </a:tc>
              </a:tr>
            </a:tbl>
          </a:graphicData>
        </a:graphic>
      </p:graphicFrame>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05</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5</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Comparing the Main Drugs</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5  ·  Epilepsy and Antiseizure Drugs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13 / 25</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Rounded Rectangle 7"/>
          <p:cNvSpPr/>
          <p:nvPr/>
        </p:nvSpPr>
        <p:spPr>
          <a:xfrm>
            <a:off x="1645919" y="2103120"/>
            <a:ext cx="8899855" cy="2377440"/>
          </a:xfrm>
          <a:prstGeom prst="roundRect">
            <a:avLst>
              <a:gd name="adj" fmla="val 6000"/>
            </a:avLst>
          </a:prstGeom>
          <a:solidFill>
            <a:srgbClr val="FDF4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920239" y="2331720"/>
            <a:ext cx="1188720" cy="347472"/>
          </a:xfrm>
          <a:prstGeom prst="roundRect">
            <a:avLst>
              <a:gd name="adj" fmla="val 50000"/>
            </a:avLst>
          </a:prstGeom>
          <a:solidFill>
            <a:srgbClr val="8A61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i="0" b="1">
                <a:solidFill>
                  <a:srgbClr val="FFFFFF"/>
                </a:solidFill>
                <a:latin typeface="Calibri"/>
              </a:rPr>
              <a:t>EXAM TIP</a:t>
            </a:r>
          </a:p>
        </p:txBody>
      </p:sp>
      <p:sp>
        <p:nvSpPr>
          <p:cNvPr id="10" name="TextBox 9"/>
          <p:cNvSpPr txBox="1"/>
          <p:nvPr/>
        </p:nvSpPr>
        <p:spPr>
          <a:xfrm>
            <a:off x="1920239" y="2788920"/>
            <a:ext cx="8351215" cy="1508760"/>
          </a:xfrm>
          <a:prstGeom prst="rect">
            <a:avLst/>
          </a:prstGeom>
          <a:noFill/>
        </p:spPr>
        <p:txBody>
          <a:bodyPr wrap="square" anchor="t" lIns="0" rIns="0" tIns="0" bIns="0">
            <a:spAutoFit/>
          </a:bodyPr>
          <a:lstStyle/>
          <a:p>
            <a:pPr>
              <a:spcBef>
                <a:spcPts val="0"/>
              </a:spcBef>
            </a:pPr>
            <a:r>
              <a:rPr sz="2600" i="0" b="0">
                <a:solidFill>
                  <a:srgbClr val="1A1F36"/>
                </a:solidFill>
                <a:latin typeface="Calibri"/>
              </a:rPr>
              <a:t>"Valproate is the odd one out." Phenytoin, carbamazepine and phenobarbital are inducers. Valproate is an inhibitor.</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05</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5</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Choosing a Drug</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5  ·  Epilepsy and Antiseizure Drugs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14 / 25</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1092708"/>
          </a:xfrm>
          <a:prstGeom prst="rect">
            <a:avLst/>
          </a:prstGeom>
          <a:noFill/>
        </p:spPr>
        <p:txBody>
          <a:bodyPr wrap="square" anchor="t" lIns="0" rIns="0" tIns="0" bIns="0">
            <a:spAutoFit/>
          </a:bodyPr>
          <a:lstStyle/>
          <a:p>
            <a:pPr>
              <a:spcAft>
                <a:spcPts val="800"/>
              </a:spcAft>
            </a:pPr>
            <a:r>
              <a:rPr sz="1800" i="0" b="0">
                <a:solidFill>
                  <a:srgbClr val="1A1F36"/>
                </a:solidFill>
                <a:latin typeface="Calibri"/>
              </a:rPr>
              <a:t>Start with </a:t>
            </a:r>
            <a:r>
              <a:rPr sz="1800" i="0" b="1">
                <a:solidFill>
                  <a:srgbClr val="1A1F36"/>
                </a:solidFill>
                <a:latin typeface="Calibri"/>
              </a:rPr>
              <a:t>one drug</a:t>
            </a:r>
            <a:r>
              <a:rPr sz="1800" i="0" b="0">
                <a:solidFill>
                  <a:srgbClr val="1A1F36"/>
                </a:solidFill>
                <a:latin typeface="Calibri"/>
              </a:rPr>
              <a:t> (monotherapy) at a low dose and increase slowly. Monotherapy means fewer adverse effects, fewer interactions and better adherence. If the first drug fails, try a second single drug before combining.</a:t>
            </a:r>
          </a:p>
        </p:txBody>
      </p:sp>
      <p:graphicFrame>
        <p:nvGraphicFramePr>
          <p:cNvPr id="9" name="Table 8"/>
          <p:cNvGraphicFramePr>
            <a:graphicFrameLocks noGrp="1"/>
          </p:cNvGraphicFramePr>
          <p:nvPr/>
        </p:nvGraphicFramePr>
        <p:xfrm>
          <a:off x="548640" y="2830068"/>
          <a:ext cx="11094414" cy="3200400"/>
        </p:xfrm>
        <a:graphic>
          <a:graphicData uri="http://schemas.openxmlformats.org/drawingml/2006/table">
            <a:tbl>
              <a:tblPr firstRow="0" bandRow="0">
                <a:tableStyleId>{5C22544A-7EE6-4342-B048-85BDC9FD1C3A}</a:tableStyleId>
              </a:tblPr>
              <a:tblGrid>
                <a:gridCol w="1723404"/>
                <a:gridCol w="3662234"/>
                <a:gridCol w="2585106"/>
                <a:gridCol w="3123670"/>
              </a:tblGrid>
              <a:tr h="640080">
                <a:tc>
                  <a:txBody>
                    <a:bodyPr/>
                    <a:lstStyle/>
                    <a:p>
                      <a:r>
                        <a:rPr sz="1400" i="0" b="1">
                          <a:solidFill>
                            <a:srgbClr val="FFFFFF"/>
                          </a:solidFill>
                          <a:latin typeface="Calibri"/>
                        </a:rPr>
                        <a:t>Seizure type</a:t>
                      </a:r>
                    </a:p>
                  </a:txBody>
                  <a:tcPr marL="109728" marR="109728" marT="45720" marB="45720" anchor="ctr">
                    <a:solidFill>
                      <a:srgbClr val="1B2A8C"/>
                    </a:solidFill>
                  </a:tcPr>
                </a:tc>
                <a:tc>
                  <a:txBody>
                    <a:bodyPr/>
                    <a:lstStyle/>
                    <a:p>
                      <a:r>
                        <a:rPr sz="1400" i="0" b="1">
                          <a:solidFill>
                            <a:srgbClr val="FFFFFF"/>
                          </a:solidFill>
                          <a:latin typeface="Calibri"/>
                        </a:rPr>
                        <a:t>First choice</a:t>
                      </a:r>
                    </a:p>
                  </a:txBody>
                  <a:tcPr marL="109728" marR="109728" marT="45720" marB="45720" anchor="ctr">
                    <a:solidFill>
                      <a:srgbClr val="1B2A8C"/>
                    </a:solidFill>
                  </a:tcPr>
                </a:tc>
                <a:tc>
                  <a:txBody>
                    <a:bodyPr/>
                    <a:lstStyle/>
                    <a:p>
                      <a:r>
                        <a:rPr sz="1400" i="0" b="1">
                          <a:solidFill>
                            <a:srgbClr val="FFFFFF"/>
                          </a:solidFill>
                          <a:latin typeface="Calibri"/>
                        </a:rPr>
                        <a:t>Alternatives</a:t>
                      </a:r>
                    </a:p>
                  </a:txBody>
                  <a:tcPr marL="109728" marR="109728" marT="45720" marB="45720" anchor="ctr">
                    <a:solidFill>
                      <a:srgbClr val="1B2A8C"/>
                    </a:solidFill>
                  </a:tcPr>
                </a:tc>
                <a:tc>
                  <a:txBody>
                    <a:bodyPr/>
                    <a:lstStyle/>
                    <a:p>
                      <a:r>
                        <a:rPr sz="1400" i="0" b="1">
                          <a:solidFill>
                            <a:srgbClr val="FFFFFF"/>
                          </a:solidFill>
                          <a:latin typeface="Calibri"/>
                        </a:rPr>
                        <a:t>Avoid</a:t>
                      </a:r>
                    </a:p>
                  </a:txBody>
                  <a:tcPr marL="109728" marR="109728" marT="45720" marB="45720" anchor="ctr">
                    <a:solidFill>
                      <a:srgbClr val="1B2A8C"/>
                    </a:solidFill>
                  </a:tcPr>
                </a:tc>
              </a:tr>
              <a:tr h="640080">
                <a:tc>
                  <a:txBody>
                    <a:bodyPr/>
                    <a:lstStyle/>
                    <a:p>
                      <a:r>
                        <a:rPr sz="1500" i="0" b="1">
                          <a:solidFill>
                            <a:srgbClr val="1A1F36"/>
                          </a:solidFill>
                          <a:latin typeface="Calibri"/>
                        </a:rPr>
                        <a:t>Focal</a:t>
                      </a:r>
                    </a:p>
                  </a:txBody>
                  <a:tcPr marL="109728" marR="109728" marT="45720" marB="45720" anchor="ctr">
                    <a:solidFill>
                      <a:srgbClr val="FFFFFF"/>
                    </a:solidFill>
                  </a:tcPr>
                </a:tc>
                <a:tc>
                  <a:txBody>
                    <a:bodyPr/>
                    <a:lstStyle/>
                    <a:p>
                      <a:r>
                        <a:rPr sz="1500" i="0" b="0">
                          <a:solidFill>
                            <a:srgbClr val="1A1F36"/>
                          </a:solidFill>
                          <a:latin typeface="Calibri"/>
                        </a:rPr>
                        <a:t>Lamotrigine or levetiracetam</a:t>
                      </a:r>
                    </a:p>
                  </a:txBody>
                  <a:tcPr marL="109728" marR="109728" marT="45720" marB="45720" anchor="ctr">
                    <a:solidFill>
                      <a:srgbClr val="FFFFFF"/>
                    </a:solidFill>
                  </a:tcPr>
                </a:tc>
                <a:tc>
                  <a:txBody>
                    <a:bodyPr/>
                    <a:lstStyle/>
                    <a:p>
                      <a:r>
                        <a:rPr sz="1500" i="0" b="0">
                          <a:solidFill>
                            <a:srgbClr val="1A1F36"/>
                          </a:solidFill>
                          <a:latin typeface="Calibri"/>
                        </a:rPr>
                        <a:t>Carbamazepine, oxcarbazepine, zonisamide</a:t>
                      </a:r>
                    </a:p>
                  </a:txBody>
                  <a:tcPr marL="109728" marR="109728" marT="45720" marB="45720" anchor="ctr">
                    <a:solidFill>
                      <a:srgbClr val="FFFFFF"/>
                    </a:solidFill>
                  </a:tcPr>
                </a:tc>
                <a:tc>
                  <a:txBody>
                    <a:bodyPr/>
                    <a:lstStyle/>
                    <a:p>
                      <a:r>
                        <a:rPr sz="1500" i="0" b="0">
                          <a:solidFill>
                            <a:srgbClr val="1A1F36"/>
                          </a:solidFill>
                          <a:latin typeface="Calibri"/>
                        </a:rPr>
                        <a:t>—</a:t>
                      </a:r>
                    </a:p>
                  </a:txBody>
                  <a:tcPr marL="109728" marR="109728" marT="45720" marB="45720" anchor="ctr">
                    <a:solidFill>
                      <a:srgbClr val="FFFFFF"/>
                    </a:solidFill>
                  </a:tcPr>
                </a:tc>
              </a:tr>
              <a:tr h="640080">
                <a:tc>
                  <a:txBody>
                    <a:bodyPr/>
                    <a:lstStyle/>
                    <a:p>
                      <a:r>
                        <a:rPr sz="1500" i="0" b="1">
                          <a:solidFill>
                            <a:srgbClr val="1A1F36"/>
                          </a:solidFill>
                          <a:latin typeface="Calibri"/>
                        </a:rPr>
                        <a:t>Generalised tonic–clonic</a:t>
                      </a:r>
                    </a:p>
                  </a:txBody>
                  <a:tcPr marL="109728" marR="109728" marT="45720" marB="45720" anchor="ctr">
                    <a:solidFill>
                      <a:srgbClr val="F1F2F8"/>
                    </a:solidFill>
                  </a:tcPr>
                </a:tc>
                <a:tc>
                  <a:txBody>
                    <a:bodyPr/>
                    <a:lstStyle/>
                    <a:p>
                      <a:r>
                        <a:rPr sz="1500" i="0" b="0">
                          <a:solidFill>
                            <a:srgbClr val="1A1F36"/>
                          </a:solidFill>
                          <a:latin typeface="Calibri"/>
                        </a:rPr>
                        <a:t>Valproate (males and women who cannot become pregnant); lamotrigine or levetiracetam in women who could become pregnant</a:t>
                      </a:r>
                    </a:p>
                  </a:txBody>
                  <a:tcPr marL="109728" marR="109728" marT="45720" marB="45720" anchor="ctr">
                    <a:solidFill>
                      <a:srgbClr val="F1F2F8"/>
                    </a:solidFill>
                  </a:tcPr>
                </a:tc>
                <a:tc>
                  <a:txBody>
                    <a:bodyPr/>
                    <a:lstStyle/>
                    <a:p>
                      <a:r>
                        <a:rPr sz="1500" i="0" b="0">
                          <a:solidFill>
                            <a:srgbClr val="1A1F36"/>
                          </a:solidFill>
                          <a:latin typeface="Calibri"/>
                        </a:rPr>
                        <a:t>—</a:t>
                      </a:r>
                    </a:p>
                  </a:txBody>
                  <a:tcPr marL="109728" marR="109728" marT="45720" marB="45720" anchor="ctr">
                    <a:solidFill>
                      <a:srgbClr val="F1F2F8"/>
                    </a:solidFill>
                  </a:tcPr>
                </a:tc>
                <a:tc>
                  <a:txBody>
                    <a:bodyPr/>
                    <a:lstStyle/>
                    <a:p>
                      <a:r>
                        <a:rPr sz="1500" i="0" b="0">
                          <a:solidFill>
                            <a:srgbClr val="1A1F36"/>
                          </a:solidFill>
                          <a:latin typeface="Calibri"/>
                        </a:rPr>
                        <a:t>—</a:t>
                      </a:r>
                    </a:p>
                  </a:txBody>
                  <a:tcPr marL="109728" marR="109728" marT="45720" marB="45720" anchor="ctr">
                    <a:solidFill>
                      <a:srgbClr val="F1F2F8"/>
                    </a:solidFill>
                  </a:tcPr>
                </a:tc>
              </a:tr>
              <a:tr h="640080">
                <a:tc>
                  <a:txBody>
                    <a:bodyPr/>
                    <a:lstStyle/>
                    <a:p>
                      <a:r>
                        <a:rPr sz="1500" i="0" b="1">
                          <a:solidFill>
                            <a:srgbClr val="1A1F36"/>
                          </a:solidFill>
                          <a:latin typeface="Calibri"/>
                        </a:rPr>
                        <a:t>Absence</a:t>
                      </a:r>
                    </a:p>
                  </a:txBody>
                  <a:tcPr marL="109728" marR="109728" marT="45720" marB="45720" anchor="ctr">
                    <a:solidFill>
                      <a:srgbClr val="FFFFFF"/>
                    </a:solidFill>
                  </a:tcPr>
                </a:tc>
                <a:tc>
                  <a:txBody>
                    <a:bodyPr/>
                    <a:lstStyle/>
                    <a:p>
                      <a:r>
                        <a:rPr sz="1500" i="0" b="0">
                          <a:solidFill>
                            <a:srgbClr val="1A1F36"/>
                          </a:solidFill>
                          <a:latin typeface="Calibri"/>
                        </a:rPr>
                        <a:t>Ethosuximide</a:t>
                      </a:r>
                    </a:p>
                  </a:txBody>
                  <a:tcPr marL="109728" marR="109728" marT="45720" marB="45720" anchor="ctr">
                    <a:solidFill>
                      <a:srgbClr val="FFFFFF"/>
                    </a:solidFill>
                  </a:tcPr>
                </a:tc>
                <a:tc>
                  <a:txBody>
                    <a:bodyPr/>
                    <a:lstStyle/>
                    <a:p>
                      <a:r>
                        <a:rPr sz="1500" i="0" b="0">
                          <a:solidFill>
                            <a:srgbClr val="1A1F36"/>
                          </a:solidFill>
                          <a:latin typeface="Calibri"/>
                        </a:rPr>
                        <a:t>Valproate; lamotrigine</a:t>
                      </a:r>
                    </a:p>
                  </a:txBody>
                  <a:tcPr marL="109728" marR="109728" marT="45720" marB="45720" anchor="ctr">
                    <a:solidFill>
                      <a:srgbClr val="FFFFFF"/>
                    </a:solidFill>
                  </a:tcPr>
                </a:tc>
                <a:tc>
                  <a:txBody>
                    <a:bodyPr/>
                    <a:lstStyle/>
                    <a:p>
                      <a:r>
                        <a:rPr sz="1500" i="0" b="0">
                          <a:solidFill>
                            <a:srgbClr val="1A1F36"/>
                          </a:solidFill>
                          <a:latin typeface="Calibri"/>
                        </a:rPr>
                        <a:t>Carbamazepine, phenytoin, gabapentin</a:t>
                      </a:r>
                    </a:p>
                  </a:txBody>
                  <a:tcPr marL="109728" marR="109728" marT="45720" marB="45720" anchor="ctr">
                    <a:solidFill>
                      <a:srgbClr val="FFFFFF"/>
                    </a:solidFill>
                  </a:tcPr>
                </a:tc>
              </a:tr>
              <a:tr h="640080">
                <a:tc>
                  <a:txBody>
                    <a:bodyPr/>
                    <a:lstStyle/>
                    <a:p>
                      <a:r>
                        <a:rPr sz="1500" i="0" b="1">
                          <a:solidFill>
                            <a:srgbClr val="1A1F36"/>
                          </a:solidFill>
                          <a:latin typeface="Calibri"/>
                        </a:rPr>
                        <a:t>Myoclonic</a:t>
                      </a:r>
                    </a:p>
                  </a:txBody>
                  <a:tcPr marL="109728" marR="109728" marT="45720" marB="45720" anchor="ctr">
                    <a:solidFill>
                      <a:srgbClr val="F1F2F8"/>
                    </a:solidFill>
                  </a:tcPr>
                </a:tc>
                <a:tc>
                  <a:txBody>
                    <a:bodyPr/>
                    <a:lstStyle/>
                    <a:p>
                      <a:r>
                        <a:rPr sz="1500" i="0" b="0">
                          <a:solidFill>
                            <a:srgbClr val="1A1F36"/>
                          </a:solidFill>
                          <a:latin typeface="Calibri"/>
                        </a:rPr>
                        <a:t>Valproate (males); levetiracetam in women who could become pregnant</a:t>
                      </a:r>
                    </a:p>
                  </a:txBody>
                  <a:tcPr marL="109728" marR="109728" marT="45720" marB="45720" anchor="ctr">
                    <a:solidFill>
                      <a:srgbClr val="F1F2F8"/>
                    </a:solidFill>
                  </a:tcPr>
                </a:tc>
                <a:tc>
                  <a:txBody>
                    <a:bodyPr/>
                    <a:lstStyle/>
                    <a:p>
                      <a:r>
                        <a:rPr sz="1500" i="0" b="0">
                          <a:solidFill>
                            <a:srgbClr val="1A1F36"/>
                          </a:solidFill>
                          <a:latin typeface="Calibri"/>
                        </a:rPr>
                        <a:t>Topiramate</a:t>
                      </a:r>
                    </a:p>
                  </a:txBody>
                  <a:tcPr marL="109728" marR="109728" marT="45720" marB="45720" anchor="ctr">
                    <a:solidFill>
                      <a:srgbClr val="F1F2F8"/>
                    </a:solidFill>
                  </a:tcPr>
                </a:tc>
                <a:tc>
                  <a:txBody>
                    <a:bodyPr/>
                    <a:lstStyle/>
                    <a:p>
                      <a:r>
                        <a:rPr sz="1500" i="0" b="0">
                          <a:solidFill>
                            <a:srgbClr val="1A1F36"/>
                          </a:solidFill>
                          <a:latin typeface="Calibri"/>
                        </a:rPr>
                        <a:t>Carbamazepine, phenytoin, lamotrigine (may worsen)</a:t>
                      </a:r>
                    </a:p>
                  </a:txBody>
                  <a:tcPr marL="109728" marR="109728" marT="45720" marB="45720" anchor="ctr">
                    <a:solidFill>
                      <a:srgbClr val="F1F2F8"/>
                    </a:solidFill>
                  </a:tcPr>
                </a:tc>
              </a:tr>
            </a:tbl>
          </a:graphicData>
        </a:graphic>
      </p:graphicFrame>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05</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5</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Status Epilepticus</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5  ·  Epilepsy and Antiseizure Drugs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15 / 25</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Oval 7"/>
          <p:cNvSpPr/>
          <p:nvPr/>
        </p:nvSpPr>
        <p:spPr>
          <a:xfrm>
            <a:off x="548640" y="1572768"/>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1</a:t>
            </a:r>
          </a:p>
        </p:txBody>
      </p:sp>
      <p:sp>
        <p:nvSpPr>
          <p:cNvPr id="9" name="TextBox 8"/>
          <p:cNvSpPr txBox="1"/>
          <p:nvPr/>
        </p:nvSpPr>
        <p:spPr>
          <a:xfrm>
            <a:off x="1143000" y="1591056"/>
            <a:ext cx="10500055" cy="1475612"/>
          </a:xfrm>
          <a:prstGeom prst="rect">
            <a:avLst/>
          </a:prstGeom>
          <a:noFill/>
        </p:spPr>
        <p:txBody>
          <a:bodyPr wrap="square" anchor="t" lIns="0" rIns="0" tIns="0" bIns="0">
            <a:spAutoFit/>
          </a:bodyPr>
          <a:lstStyle/>
          <a:p>
            <a:r>
              <a:rPr sz="2100" i="0" b="0">
                <a:solidFill>
                  <a:srgbClr val="1A1F36"/>
                </a:solidFill>
                <a:latin typeface="Calibri"/>
              </a:rPr>
              <a:t>Status epilepticus is a seizure that lasts more than 5 minutes, or repeated seizures without recovery between them. It is an emergency. Brain damage becomes likely after about 30 minutes.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05</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5</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Status Epilepticus</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5  ·  Epilepsy and Antiseizure Drugs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16 / 25</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Rounded Rectangle 7"/>
          <p:cNvSpPr/>
          <p:nvPr/>
        </p:nvSpPr>
        <p:spPr>
          <a:xfrm>
            <a:off x="1645919" y="1554480"/>
            <a:ext cx="8899855" cy="4617720"/>
          </a:xfrm>
          <a:prstGeom prst="roundRect">
            <a:avLst>
              <a:gd name="adj" fmla="val 6000"/>
            </a:avLst>
          </a:prstGeom>
          <a:solidFill>
            <a:srgbClr val="FBEA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920239" y="1783080"/>
            <a:ext cx="1074420" cy="347472"/>
          </a:xfrm>
          <a:prstGeom prst="roundRect">
            <a:avLst>
              <a:gd name="adj" fmla="val 50000"/>
            </a:avLst>
          </a:prstGeom>
          <a:solidFill>
            <a:srgbClr val="B326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i="0" b="1">
                <a:solidFill>
                  <a:srgbClr val="FFFFFF"/>
                </a:solidFill>
                <a:latin typeface="Calibri"/>
              </a:rPr>
              <a:t>CAUTION</a:t>
            </a:r>
          </a:p>
        </p:txBody>
      </p:sp>
      <p:sp>
        <p:nvSpPr>
          <p:cNvPr id="10" name="TextBox 9"/>
          <p:cNvSpPr txBox="1"/>
          <p:nvPr/>
        </p:nvSpPr>
        <p:spPr>
          <a:xfrm>
            <a:off x="1920239" y="2240280"/>
            <a:ext cx="8351215" cy="3749039"/>
          </a:xfrm>
          <a:prstGeom prst="rect">
            <a:avLst/>
          </a:prstGeom>
          <a:noFill/>
        </p:spPr>
        <p:txBody>
          <a:bodyPr wrap="square" anchor="t" lIns="0" rIns="0" tIns="0" bIns="0">
            <a:spAutoFit/>
          </a:bodyPr>
          <a:lstStyle/>
          <a:p>
            <a:pPr>
              <a:spcBef>
                <a:spcPts val="0"/>
              </a:spcBef>
            </a:pPr>
            <a:r>
              <a:rPr sz="1800" i="0" b="0">
                <a:solidFill>
                  <a:srgbClr val="1A1F36"/>
                </a:solidFill>
                <a:latin typeface="Calibri"/>
              </a:rPr>
              <a:t>Manage status epilepticus by time:</a:t>
            </a:r>
          </a:p>
          <a:p>
            <a:pPr>
              <a:spcBef>
                <a:spcPts val="600"/>
              </a:spcBef>
            </a:pPr>
            <a:r>
              <a:rPr sz="1800" i="0" b="0">
                <a:solidFill>
                  <a:srgbClr val="1A1F36"/>
                </a:solidFill>
                <a:latin typeface="Calibri"/>
              </a:rPr>
              <a:t>• </a:t>
            </a:r>
            <a:r>
              <a:rPr sz="1800" i="0" b="1">
                <a:solidFill>
                  <a:srgbClr val="1A1F36"/>
                </a:solidFill>
                <a:latin typeface="Calibri"/>
              </a:rPr>
              <a:t>0–5 minutes:</a:t>
            </a:r>
            <a:r>
              <a:rPr sz="1800" i="0" b="0">
                <a:solidFill>
                  <a:srgbClr val="1A1F36"/>
                </a:solidFill>
                <a:latin typeface="Calibri"/>
              </a:rPr>
              <a:t> airway and oxygen. Check blood glucose at once and treat low glucose without delay. If alcohol misuse or malnutrition is likely, give IV thiamine as well; it must not delay glucose.</a:t>
            </a:r>
          </a:p>
          <a:p>
            <a:pPr>
              <a:spcBef>
                <a:spcPts val="600"/>
              </a:spcBef>
            </a:pPr>
            <a:r>
              <a:rPr sz="1800" i="0" b="0">
                <a:solidFill>
                  <a:srgbClr val="1A1F36"/>
                </a:solidFill>
                <a:latin typeface="Calibri"/>
              </a:rPr>
              <a:t>• </a:t>
            </a:r>
            <a:r>
              <a:rPr sz="1800" i="0" b="1">
                <a:solidFill>
                  <a:srgbClr val="1A1F36"/>
                </a:solidFill>
                <a:latin typeface="Calibri"/>
              </a:rPr>
              <a:t>5–20 minutes:</a:t>
            </a:r>
            <a:r>
              <a:rPr sz="1800" i="0" b="0">
                <a:solidFill>
                  <a:srgbClr val="1A1F36"/>
                </a:solidFill>
                <a:latin typeface="Calibri"/>
              </a:rPr>
              <a:t> a benzodiazepine: IV lorazepam, or IM midazolam, or rectal diazepam or buccal midazolam if there is no IV access. Repeat once if needed.</a:t>
            </a:r>
          </a:p>
          <a:p>
            <a:pPr>
              <a:spcBef>
                <a:spcPts val="600"/>
              </a:spcBef>
            </a:pPr>
            <a:r>
              <a:rPr sz="1800" i="0" b="0">
                <a:solidFill>
                  <a:srgbClr val="1A1F36"/>
                </a:solidFill>
                <a:latin typeface="Calibri"/>
              </a:rPr>
              <a:t>• </a:t>
            </a:r>
            <a:r>
              <a:rPr sz="1800" i="0" b="1">
                <a:solidFill>
                  <a:srgbClr val="1A1F36"/>
                </a:solidFill>
                <a:latin typeface="Calibri"/>
              </a:rPr>
              <a:t>20–40 minutes:</a:t>
            </a:r>
            <a:r>
              <a:rPr sz="1800" i="0" b="0">
                <a:solidFill>
                  <a:srgbClr val="1A1F36"/>
                </a:solidFill>
                <a:latin typeface="Calibri"/>
              </a:rPr>
              <a:t> a second-line drug: IV levetiracetam, fosphenytoin or valproate.</a:t>
            </a:r>
          </a:p>
          <a:p>
            <a:pPr>
              <a:spcBef>
                <a:spcPts val="600"/>
              </a:spcBef>
            </a:pPr>
            <a:r>
              <a:rPr sz="1800" i="0" b="0">
                <a:solidFill>
                  <a:srgbClr val="1A1F36"/>
                </a:solidFill>
                <a:latin typeface="Calibri"/>
              </a:rPr>
              <a:t>• </a:t>
            </a:r>
            <a:r>
              <a:rPr sz="1800" i="0" b="1">
                <a:solidFill>
                  <a:srgbClr val="1A1F36"/>
                </a:solidFill>
                <a:latin typeface="Calibri"/>
              </a:rPr>
              <a:t>After 40 minutes:</a:t>
            </a:r>
            <a:r>
              <a:rPr sz="1800" i="0" b="0">
                <a:solidFill>
                  <a:srgbClr val="1A1F36"/>
                </a:solidFill>
                <a:latin typeface="Calibri"/>
              </a:rPr>
              <a:t> refractory status; anaesthesia in intensive care (propofol, midazolam or thiopental infusion).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05</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5</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Brands in Egypt</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5  ·  Epilepsy and Antiseizure Drugs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17 / 25</a:t>
            </a:r>
          </a:p>
        </p:txBody>
      </p:sp>
      <p:pic>
        <p:nvPicPr>
          <p:cNvPr id="7" name="Picture 6" descr="logo"/>
          <p:cNvPicPr>
            <a:picLocks noChangeAspect="1"/>
          </p:cNvPicPr>
          <p:nvPr/>
        </p:nvPicPr>
        <p:blipFill>
          <a:blip r:embed="rId2"/>
          <a:stretch>
            <a:fillRect/>
          </a:stretch>
        </p:blipFill>
        <p:spPr>
          <a:xfrm>
            <a:off x="11247120" y="6309360"/>
            <a:ext cx="384048" cy="384048"/>
          </a:xfrm>
          <a:prstGeom prst="rect">
            <a:avLst/>
          </a:prstGeom>
        </p:spPr>
      </p:pic>
      <p:graphicFrame>
        <p:nvGraphicFramePr>
          <p:cNvPr id="8" name="Table 7"/>
          <p:cNvGraphicFramePr>
            <a:graphicFrameLocks noGrp="1"/>
          </p:cNvGraphicFramePr>
          <p:nvPr/>
        </p:nvGraphicFramePr>
        <p:xfrm>
          <a:off x="548640" y="1554480"/>
          <a:ext cx="11094414" cy="3840480"/>
        </p:xfrm>
        <a:graphic>
          <a:graphicData uri="http://schemas.openxmlformats.org/drawingml/2006/table">
            <a:tbl>
              <a:tblPr firstRow="0" bandRow="0">
                <a:tableStyleId>{5C22544A-7EE6-4342-B048-85BDC9FD1C3A}</a:tableStyleId>
              </a:tblPr>
              <a:tblGrid>
                <a:gridCol w="2832616"/>
                <a:gridCol w="2596565"/>
                <a:gridCol w="5665233"/>
              </a:tblGrid>
              <a:tr h="640080">
                <a:tc>
                  <a:txBody>
                    <a:bodyPr/>
                    <a:lstStyle/>
                    <a:p>
                      <a:r>
                        <a:rPr sz="1900" i="0" b="1">
                          <a:solidFill>
                            <a:srgbClr val="FFFFFF"/>
                          </a:solidFill>
                          <a:latin typeface="Calibri"/>
                        </a:rPr>
                        <a:t>Generic name</a:t>
                      </a:r>
                    </a:p>
                  </a:txBody>
                  <a:tcPr marL="109728" marR="109728" marT="45720" marB="45720" anchor="ctr">
                    <a:solidFill>
                      <a:srgbClr val="1B2A8C"/>
                    </a:solidFill>
                  </a:tcPr>
                </a:tc>
                <a:tc>
                  <a:txBody>
                    <a:bodyPr/>
                    <a:lstStyle/>
                    <a:p>
                      <a:r>
                        <a:rPr sz="1900" i="0" b="1">
                          <a:solidFill>
                            <a:srgbClr val="FFFFFF"/>
                          </a:solidFill>
                          <a:latin typeface="Calibri"/>
                        </a:rPr>
                        <a:t>Brand examples</a:t>
                      </a:r>
                    </a:p>
                  </a:txBody>
                  <a:tcPr marL="109728" marR="109728" marT="45720" marB="45720" anchor="ctr">
                    <a:solidFill>
                      <a:srgbClr val="1B2A8C"/>
                    </a:solidFill>
                  </a:tcPr>
                </a:tc>
                <a:tc>
                  <a:txBody>
                    <a:bodyPr/>
                    <a:lstStyle/>
                    <a:p>
                      <a:r>
                        <a:rPr sz="1900" i="0" b="1">
                          <a:solidFill>
                            <a:srgbClr val="FFFFFF"/>
                          </a:solidFill>
                          <a:latin typeface="Calibri"/>
                        </a:rPr>
                        <a:t>Dosage forms</a:t>
                      </a:r>
                    </a:p>
                  </a:txBody>
                  <a:tcPr marL="109728" marR="109728" marT="45720" marB="45720" anchor="ctr">
                    <a:solidFill>
                      <a:srgbClr val="1B2A8C"/>
                    </a:solidFill>
                  </a:tcPr>
                </a:tc>
              </a:tr>
              <a:tr h="640080">
                <a:tc>
                  <a:txBody>
                    <a:bodyPr/>
                    <a:lstStyle/>
                    <a:p>
                      <a:r>
                        <a:rPr sz="2000" i="0" b="1">
                          <a:solidFill>
                            <a:srgbClr val="1A1F36"/>
                          </a:solidFill>
                          <a:latin typeface="Calibri"/>
                        </a:rPr>
                        <a:t>Sodium valproate</a:t>
                      </a:r>
                    </a:p>
                  </a:txBody>
                  <a:tcPr marL="109728" marR="109728" marT="45720" marB="45720" anchor="ctr">
                    <a:solidFill>
                      <a:srgbClr val="FFFFFF"/>
                    </a:solidFill>
                  </a:tcPr>
                </a:tc>
                <a:tc>
                  <a:txBody>
                    <a:bodyPr/>
                    <a:lstStyle/>
                    <a:p>
                      <a:r>
                        <a:rPr sz="2000" i="0" b="0">
                          <a:solidFill>
                            <a:srgbClr val="1A1F36"/>
                          </a:solidFill>
                          <a:latin typeface="Calibri"/>
                        </a:rPr>
                        <a:t>Depakine</a:t>
                      </a:r>
                    </a:p>
                  </a:txBody>
                  <a:tcPr marL="109728" marR="109728" marT="45720" marB="45720" anchor="ctr">
                    <a:solidFill>
                      <a:srgbClr val="FFFFFF"/>
                    </a:solidFill>
                  </a:tcPr>
                </a:tc>
                <a:tc>
                  <a:txBody>
                    <a:bodyPr/>
                    <a:lstStyle/>
                    <a:p>
                      <a:r>
                        <a:rPr sz="2000" i="0" b="0">
                          <a:solidFill>
                            <a:srgbClr val="1A1F36"/>
                          </a:solidFill>
                          <a:latin typeface="Calibri"/>
                        </a:rPr>
                        <a:t>Tablets, modified-release tablets, syrup</a:t>
                      </a:r>
                    </a:p>
                  </a:txBody>
                  <a:tcPr marL="109728" marR="109728" marT="45720" marB="45720" anchor="ctr">
                    <a:solidFill>
                      <a:srgbClr val="FFFFFF"/>
                    </a:solidFill>
                  </a:tcPr>
                </a:tc>
              </a:tr>
              <a:tr h="640080">
                <a:tc>
                  <a:txBody>
                    <a:bodyPr/>
                    <a:lstStyle/>
                    <a:p>
                      <a:r>
                        <a:rPr sz="2000" i="0" b="1">
                          <a:solidFill>
                            <a:srgbClr val="1A1F36"/>
                          </a:solidFill>
                          <a:latin typeface="Calibri"/>
                        </a:rPr>
                        <a:t>Carbamazepine</a:t>
                      </a:r>
                    </a:p>
                  </a:txBody>
                  <a:tcPr marL="109728" marR="109728" marT="45720" marB="45720" anchor="ctr">
                    <a:solidFill>
                      <a:srgbClr val="F1F2F8"/>
                    </a:solidFill>
                  </a:tcPr>
                </a:tc>
                <a:tc>
                  <a:txBody>
                    <a:bodyPr/>
                    <a:lstStyle/>
                    <a:p>
                      <a:r>
                        <a:rPr sz="2000" i="0" b="0">
                          <a:solidFill>
                            <a:srgbClr val="1A1F36"/>
                          </a:solidFill>
                          <a:latin typeface="Calibri"/>
                        </a:rPr>
                        <a:t>Tegretol</a:t>
                      </a:r>
                    </a:p>
                  </a:txBody>
                  <a:tcPr marL="109728" marR="109728" marT="45720" marB="45720" anchor="ctr">
                    <a:solidFill>
                      <a:srgbClr val="F1F2F8"/>
                    </a:solidFill>
                  </a:tcPr>
                </a:tc>
                <a:tc>
                  <a:txBody>
                    <a:bodyPr/>
                    <a:lstStyle/>
                    <a:p>
                      <a:r>
                        <a:rPr sz="2000" i="0" b="0">
                          <a:solidFill>
                            <a:srgbClr val="1A1F36"/>
                          </a:solidFill>
                          <a:latin typeface="Calibri"/>
                        </a:rPr>
                        <a:t>Tablets, modified-release tablets</a:t>
                      </a:r>
                    </a:p>
                  </a:txBody>
                  <a:tcPr marL="109728" marR="109728" marT="45720" marB="45720" anchor="ctr">
                    <a:solidFill>
                      <a:srgbClr val="F1F2F8"/>
                    </a:solidFill>
                  </a:tcPr>
                </a:tc>
              </a:tr>
              <a:tr h="640080">
                <a:tc>
                  <a:txBody>
                    <a:bodyPr/>
                    <a:lstStyle/>
                    <a:p>
                      <a:r>
                        <a:rPr sz="2000" i="0" b="1">
                          <a:solidFill>
                            <a:srgbClr val="1A1F36"/>
                          </a:solidFill>
                          <a:latin typeface="Calibri"/>
                        </a:rPr>
                        <a:t>Lamotrigine</a:t>
                      </a:r>
                    </a:p>
                  </a:txBody>
                  <a:tcPr marL="109728" marR="109728" marT="45720" marB="45720" anchor="ctr">
                    <a:solidFill>
                      <a:srgbClr val="FFFFFF"/>
                    </a:solidFill>
                  </a:tcPr>
                </a:tc>
                <a:tc>
                  <a:txBody>
                    <a:bodyPr/>
                    <a:lstStyle/>
                    <a:p>
                      <a:r>
                        <a:rPr sz="2000" i="0" b="0">
                          <a:solidFill>
                            <a:srgbClr val="1A1F36"/>
                          </a:solidFill>
                          <a:latin typeface="Calibri"/>
                        </a:rPr>
                        <a:t>Lamictal</a:t>
                      </a:r>
                    </a:p>
                  </a:txBody>
                  <a:tcPr marL="109728" marR="109728" marT="45720" marB="45720" anchor="ctr">
                    <a:solidFill>
                      <a:srgbClr val="FFFFFF"/>
                    </a:solidFill>
                  </a:tcPr>
                </a:tc>
                <a:tc>
                  <a:txBody>
                    <a:bodyPr/>
                    <a:lstStyle/>
                    <a:p>
                      <a:r>
                        <a:rPr sz="2000" i="0" b="0">
                          <a:solidFill>
                            <a:srgbClr val="1A1F36"/>
                          </a:solidFill>
                          <a:latin typeface="Calibri"/>
                        </a:rPr>
                        <a:t>Tablets</a:t>
                      </a:r>
                    </a:p>
                  </a:txBody>
                  <a:tcPr marL="109728" marR="109728" marT="45720" marB="45720" anchor="ctr">
                    <a:solidFill>
                      <a:srgbClr val="FFFFFF"/>
                    </a:solidFill>
                  </a:tcPr>
                </a:tc>
              </a:tr>
              <a:tr h="640080">
                <a:tc>
                  <a:txBody>
                    <a:bodyPr/>
                    <a:lstStyle/>
                    <a:p>
                      <a:r>
                        <a:rPr sz="2000" i="0" b="1">
                          <a:solidFill>
                            <a:srgbClr val="1A1F36"/>
                          </a:solidFill>
                          <a:latin typeface="Calibri"/>
                        </a:rPr>
                        <a:t>Levetiracetam</a:t>
                      </a:r>
                    </a:p>
                  </a:txBody>
                  <a:tcPr marL="109728" marR="109728" marT="45720" marB="45720" anchor="ctr">
                    <a:solidFill>
                      <a:srgbClr val="F1F2F8"/>
                    </a:solidFill>
                  </a:tcPr>
                </a:tc>
                <a:tc>
                  <a:txBody>
                    <a:bodyPr/>
                    <a:lstStyle/>
                    <a:p>
                      <a:r>
                        <a:rPr sz="2000" i="0" b="0">
                          <a:solidFill>
                            <a:srgbClr val="1A1F36"/>
                          </a:solidFill>
                          <a:latin typeface="Calibri"/>
                        </a:rPr>
                        <a:t>Keppra</a:t>
                      </a:r>
                    </a:p>
                  </a:txBody>
                  <a:tcPr marL="109728" marR="109728" marT="45720" marB="45720" anchor="ctr">
                    <a:solidFill>
                      <a:srgbClr val="F1F2F8"/>
                    </a:solidFill>
                  </a:tcPr>
                </a:tc>
                <a:tc>
                  <a:txBody>
                    <a:bodyPr/>
                    <a:lstStyle/>
                    <a:p>
                      <a:r>
                        <a:rPr sz="2000" i="0" b="0">
                          <a:solidFill>
                            <a:srgbClr val="1A1F36"/>
                          </a:solidFill>
                          <a:latin typeface="Calibri"/>
                        </a:rPr>
                        <a:t>Tablets, oral solution, injection</a:t>
                      </a:r>
                    </a:p>
                  </a:txBody>
                  <a:tcPr marL="109728" marR="109728" marT="45720" marB="45720" anchor="ctr">
                    <a:solidFill>
                      <a:srgbClr val="F1F2F8"/>
                    </a:solidFill>
                  </a:tcPr>
                </a:tc>
              </a:tr>
              <a:tr h="640080">
                <a:tc>
                  <a:txBody>
                    <a:bodyPr/>
                    <a:lstStyle/>
                    <a:p>
                      <a:r>
                        <a:rPr sz="2000" i="0" b="1">
                          <a:solidFill>
                            <a:srgbClr val="1A1F36"/>
                          </a:solidFill>
                          <a:latin typeface="Calibri"/>
                        </a:rPr>
                        <a:t>Phenytoin</a:t>
                      </a:r>
                    </a:p>
                  </a:txBody>
                  <a:tcPr marL="109728" marR="109728" marT="45720" marB="45720" anchor="ctr">
                    <a:solidFill>
                      <a:srgbClr val="FFFFFF"/>
                    </a:solidFill>
                  </a:tcPr>
                </a:tc>
                <a:tc>
                  <a:txBody>
                    <a:bodyPr/>
                    <a:lstStyle/>
                    <a:p>
                      <a:r>
                        <a:rPr sz="2000" i="0" b="0">
                          <a:solidFill>
                            <a:srgbClr val="1A1F36"/>
                          </a:solidFill>
                          <a:latin typeface="Calibri"/>
                        </a:rPr>
                        <a:t>Epanutin</a:t>
                      </a:r>
                    </a:p>
                  </a:txBody>
                  <a:tcPr marL="109728" marR="109728" marT="45720" marB="45720" anchor="ctr">
                    <a:solidFill>
                      <a:srgbClr val="FFFFFF"/>
                    </a:solidFill>
                  </a:tcPr>
                </a:tc>
                <a:tc>
                  <a:txBody>
                    <a:bodyPr/>
                    <a:lstStyle/>
                    <a:p>
                      <a:r>
                        <a:rPr sz="2000" i="0" b="0">
                          <a:solidFill>
                            <a:srgbClr val="1A1F36"/>
                          </a:solidFill>
                          <a:latin typeface="Calibri"/>
                        </a:rPr>
                        <a:t>Capsules</a:t>
                      </a:r>
                    </a:p>
                  </a:txBody>
                  <a:tcPr marL="109728" marR="109728" marT="45720" marB="45720" anchor="ctr">
                    <a:solidFill>
                      <a:srgbClr val="FFFFFF"/>
                    </a:solidFill>
                  </a:tcPr>
                </a:tc>
              </a:tr>
            </a:tbl>
          </a:graphicData>
        </a:graphic>
      </p:graphicFrame>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05</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5</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For Discussion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5  ·  Epilepsy and Antiseizure Drugs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18 / 25</a:t>
            </a:r>
          </a:p>
        </p:txBody>
      </p:sp>
      <p:pic>
        <p:nvPicPr>
          <p:cNvPr id="7" name="Picture 6" descr="logo"/>
          <p:cNvPicPr>
            <a:picLocks noChangeAspect="1"/>
          </p:cNvPicPr>
          <p:nvPr/>
        </p:nvPicPr>
        <p:blipFill>
          <a:blip r:embed="rId2"/>
          <a:stretch>
            <a:fillRect/>
          </a:stretch>
        </p:blipFill>
        <p:spPr>
          <a:xfrm>
            <a:off x="11247120" y="6309360"/>
            <a:ext cx="384048" cy="384048"/>
          </a:xfrm>
          <a:prstGeom prst="rect">
            <a:avLst/>
          </a:prstGeom>
        </p:spPr>
      </p:pic>
      <p:sp>
        <p:nvSpPr>
          <p:cNvPr id="8" name="Oval 7"/>
          <p:cNvSpPr/>
          <p:nvPr/>
        </p:nvSpPr>
        <p:spPr>
          <a:xfrm>
            <a:off x="548640" y="1572768"/>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1</a:t>
            </a:r>
          </a:p>
        </p:txBody>
      </p:sp>
      <p:sp>
        <p:nvSpPr>
          <p:cNvPr id="9" name="TextBox 8"/>
          <p:cNvSpPr txBox="1"/>
          <p:nvPr/>
        </p:nvSpPr>
        <p:spPr>
          <a:xfrm>
            <a:off x="1143000" y="1591056"/>
            <a:ext cx="10500055" cy="808863"/>
          </a:xfrm>
          <a:prstGeom prst="rect">
            <a:avLst/>
          </a:prstGeom>
          <a:noFill/>
        </p:spPr>
        <p:txBody>
          <a:bodyPr wrap="square" anchor="t" lIns="0" rIns="0" tIns="0" bIns="0">
            <a:spAutoFit/>
          </a:bodyPr>
          <a:lstStyle/>
          <a:p>
            <a:r>
              <a:rPr sz="2100" i="0" b="0">
                <a:solidFill>
                  <a:srgbClr val="1A1F36"/>
                </a:solidFill>
                <a:latin typeface="Calibri"/>
              </a:rPr>
              <a:t>Why does ethosuximide treat absence seizures but not tonic–clonic seizures?</a:t>
            </a:r>
          </a:p>
        </p:txBody>
      </p:sp>
      <p:sp>
        <p:nvSpPr>
          <p:cNvPr id="10" name="Oval 9"/>
          <p:cNvSpPr/>
          <p:nvPr/>
        </p:nvSpPr>
        <p:spPr>
          <a:xfrm>
            <a:off x="548640" y="2427351"/>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2</a:t>
            </a:r>
          </a:p>
        </p:txBody>
      </p:sp>
      <p:sp>
        <p:nvSpPr>
          <p:cNvPr id="11" name="TextBox 10"/>
          <p:cNvSpPr txBox="1"/>
          <p:nvPr/>
        </p:nvSpPr>
        <p:spPr>
          <a:xfrm>
            <a:off x="1143000" y="2445639"/>
            <a:ext cx="10500055" cy="1142237"/>
          </a:xfrm>
          <a:prstGeom prst="rect">
            <a:avLst/>
          </a:prstGeom>
          <a:noFill/>
        </p:spPr>
        <p:txBody>
          <a:bodyPr wrap="square" anchor="t" lIns="0" rIns="0" tIns="0" bIns="0">
            <a:spAutoFit/>
          </a:bodyPr>
          <a:lstStyle/>
          <a:p>
            <a:r>
              <a:rPr sz="2100" i="0" b="0">
                <a:solidFill>
                  <a:srgbClr val="1A1F36"/>
                </a:solidFill>
                <a:latin typeface="Calibri"/>
              </a:rPr>
              <a:t>A woman on carbamazepine wants to use the combined pill. What would you advise, and why?</a:t>
            </a:r>
          </a:p>
        </p:txBody>
      </p:sp>
      <p:sp>
        <p:nvSpPr>
          <p:cNvPr id="12" name="Oval 11"/>
          <p:cNvSpPr/>
          <p:nvPr/>
        </p:nvSpPr>
        <p:spPr>
          <a:xfrm>
            <a:off x="548640" y="3615309"/>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3</a:t>
            </a:r>
          </a:p>
        </p:txBody>
      </p:sp>
      <p:sp>
        <p:nvSpPr>
          <p:cNvPr id="13" name="TextBox 12"/>
          <p:cNvSpPr txBox="1"/>
          <p:nvPr/>
        </p:nvSpPr>
        <p:spPr>
          <a:xfrm>
            <a:off x="1143000" y="3633597"/>
            <a:ext cx="10500055" cy="808863"/>
          </a:xfrm>
          <a:prstGeom prst="rect">
            <a:avLst/>
          </a:prstGeom>
          <a:noFill/>
        </p:spPr>
        <p:txBody>
          <a:bodyPr wrap="square" anchor="t" lIns="0" rIns="0" tIns="0" bIns="0">
            <a:spAutoFit/>
          </a:bodyPr>
          <a:lstStyle/>
          <a:p>
            <a:r>
              <a:rPr sz="2100" i="0" b="0">
                <a:solidFill>
                  <a:srgbClr val="1A1F36"/>
                </a:solidFill>
                <a:latin typeface="Calibri"/>
              </a:rPr>
              <a:t>Why is valproate a first-choice drug in a young man but not in a young woman?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05</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5  ·  QUESTION 1 OF 3</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Your turn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5  ·  Epilepsy and Antiseizure Drugs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19 / 25</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1A1F36"/>
                </a:solidFill>
                <a:latin typeface="Calibri"/>
              </a:rPr>
              <a:t>A 9-year-old girl stares blankly for 10 seconds many times a day, then carries on as normal. What is the seizure type?</a:t>
            </a:r>
          </a:p>
        </p:txBody>
      </p:sp>
      <p:sp>
        <p:nvSpPr>
          <p:cNvPr id="9" name="Rounded Rectangle 8"/>
          <p:cNvSpPr/>
          <p:nvPr/>
        </p:nvSpPr>
        <p:spPr>
          <a:xfrm>
            <a:off x="548640" y="2697480"/>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807208"/>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A</a:t>
            </a:r>
          </a:p>
        </p:txBody>
      </p:sp>
      <p:sp>
        <p:nvSpPr>
          <p:cNvPr id="11" name="TextBox 10"/>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1A1F36"/>
                </a:solidFill>
                <a:latin typeface="Calibri"/>
              </a:rPr>
              <a:t>Focal aware seizure</a:t>
            </a:r>
          </a:p>
        </p:txBody>
      </p:sp>
      <p:sp>
        <p:nvSpPr>
          <p:cNvPr id="12" name="Rounded Rectangle 11"/>
          <p:cNvSpPr/>
          <p:nvPr/>
        </p:nvSpPr>
        <p:spPr>
          <a:xfrm>
            <a:off x="548640" y="3465576"/>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575304"/>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B</a:t>
            </a:r>
          </a:p>
        </p:txBody>
      </p:sp>
      <p:sp>
        <p:nvSpPr>
          <p:cNvPr id="14" name="TextBox 13"/>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1A1F36"/>
                </a:solidFill>
                <a:latin typeface="Calibri"/>
              </a:rPr>
              <a:t>Myoclonic seizure</a:t>
            </a:r>
          </a:p>
        </p:txBody>
      </p:sp>
      <p:sp>
        <p:nvSpPr>
          <p:cNvPr id="15" name="Rounded Rectangle 14"/>
          <p:cNvSpPr/>
          <p:nvPr/>
        </p:nvSpPr>
        <p:spPr>
          <a:xfrm>
            <a:off x="548640" y="4233672"/>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343400"/>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C</a:t>
            </a:r>
          </a:p>
        </p:txBody>
      </p:sp>
      <p:sp>
        <p:nvSpPr>
          <p:cNvPr id="17" name="TextBox 16"/>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1A1F36"/>
                </a:solidFill>
                <a:latin typeface="Calibri"/>
              </a:rPr>
              <a:t>Absence seizure</a:t>
            </a:r>
          </a:p>
        </p:txBody>
      </p:sp>
      <p:sp>
        <p:nvSpPr>
          <p:cNvPr id="18" name="Rounded Rectangle 17"/>
          <p:cNvSpPr/>
          <p:nvPr/>
        </p:nvSpPr>
        <p:spPr>
          <a:xfrm>
            <a:off x="548640" y="5001768"/>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5111496"/>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D</a:t>
            </a:r>
          </a:p>
        </p:txBody>
      </p:sp>
      <p:sp>
        <p:nvSpPr>
          <p:cNvPr id="20" name="TextBox 19"/>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1A1F36"/>
                </a:solidFill>
                <a:latin typeface="Calibri"/>
              </a:rPr>
              <a:t>Tonic–clonic seizure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05</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5  ·  QUESTION 1 OF 3  ·  ANSWER</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Check your answer</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5  ·  Epilepsy and Antiseizure Drugs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20 / 25</a:t>
            </a:r>
          </a:p>
        </p:txBody>
      </p:sp>
      <p:pic>
        <p:nvPicPr>
          <p:cNvPr id="7" name="Picture 6" descr="logo"/>
          <p:cNvPicPr>
            <a:picLocks noChangeAspect="1"/>
          </p:cNvPicPr>
          <p:nvPr/>
        </p:nvPicPr>
        <p:blipFill>
          <a:blip r:embed="rId2"/>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1A1F36"/>
                </a:solidFill>
                <a:latin typeface="Calibri"/>
              </a:rPr>
              <a:t>A 9-year-old girl stares blankly for 10 seconds many times a day, then carries on as normal. What is the seizure type?</a:t>
            </a:r>
          </a:p>
        </p:txBody>
      </p:sp>
      <p:sp>
        <p:nvSpPr>
          <p:cNvPr id="9" name="Rounded Rectangle 8"/>
          <p:cNvSpPr/>
          <p:nvPr/>
        </p:nvSpPr>
        <p:spPr>
          <a:xfrm>
            <a:off x="548640" y="2606040"/>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670048"/>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A</a:t>
            </a:r>
          </a:p>
        </p:txBody>
      </p:sp>
      <p:sp>
        <p:nvSpPr>
          <p:cNvPr id="11" name="TextBox 10"/>
          <p:cNvSpPr txBox="1"/>
          <p:nvPr/>
        </p:nvSpPr>
        <p:spPr>
          <a:xfrm>
            <a:off x="1371600" y="2606040"/>
            <a:ext cx="10088575" cy="548640"/>
          </a:xfrm>
          <a:prstGeom prst="rect">
            <a:avLst/>
          </a:prstGeom>
          <a:noFill/>
        </p:spPr>
        <p:txBody>
          <a:bodyPr wrap="square" anchor="ctr" lIns="0" rIns="0" tIns="0" bIns="0">
            <a:spAutoFit/>
          </a:bodyPr>
          <a:lstStyle/>
          <a:p>
            <a:r>
              <a:rPr sz="1900" i="0" b="0">
                <a:solidFill>
                  <a:srgbClr val="5A6072"/>
                </a:solidFill>
                <a:latin typeface="Calibri"/>
              </a:rPr>
              <a:t>Focal aware seizure</a:t>
            </a:r>
          </a:p>
        </p:txBody>
      </p:sp>
      <p:sp>
        <p:nvSpPr>
          <p:cNvPr id="12" name="Rounded Rectangle 11"/>
          <p:cNvSpPr/>
          <p:nvPr/>
        </p:nvSpPr>
        <p:spPr>
          <a:xfrm>
            <a:off x="548640" y="3282696"/>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346703"/>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B</a:t>
            </a:r>
          </a:p>
        </p:txBody>
      </p:sp>
      <p:sp>
        <p:nvSpPr>
          <p:cNvPr id="14" name="TextBox 13"/>
          <p:cNvSpPr txBox="1"/>
          <p:nvPr/>
        </p:nvSpPr>
        <p:spPr>
          <a:xfrm>
            <a:off x="1371600" y="3282696"/>
            <a:ext cx="10088575" cy="548640"/>
          </a:xfrm>
          <a:prstGeom prst="rect">
            <a:avLst/>
          </a:prstGeom>
          <a:noFill/>
        </p:spPr>
        <p:txBody>
          <a:bodyPr wrap="square" anchor="ctr" lIns="0" rIns="0" tIns="0" bIns="0">
            <a:spAutoFit/>
          </a:bodyPr>
          <a:lstStyle/>
          <a:p>
            <a:r>
              <a:rPr sz="1900" i="0" b="0">
                <a:solidFill>
                  <a:srgbClr val="5A6072"/>
                </a:solidFill>
                <a:latin typeface="Calibri"/>
              </a:rPr>
              <a:t>Myoclonic seizure</a:t>
            </a:r>
          </a:p>
        </p:txBody>
      </p:sp>
      <p:sp>
        <p:nvSpPr>
          <p:cNvPr id="15" name="Rounded Rectangle 14"/>
          <p:cNvSpPr/>
          <p:nvPr/>
        </p:nvSpPr>
        <p:spPr>
          <a:xfrm>
            <a:off x="548640" y="3959352"/>
            <a:ext cx="11094415" cy="548640"/>
          </a:xfrm>
          <a:prstGeom prst="roundRect">
            <a:avLst>
              <a:gd name="adj" fmla="val 18000"/>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023360"/>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8D6A2A"/>
                </a:solidFill>
                <a:latin typeface="Calibri"/>
              </a:rPr>
              <a:t>C</a:t>
            </a:r>
          </a:p>
        </p:txBody>
      </p:sp>
      <p:sp>
        <p:nvSpPr>
          <p:cNvPr id="17" name="TextBox 16"/>
          <p:cNvSpPr txBox="1"/>
          <p:nvPr/>
        </p:nvSpPr>
        <p:spPr>
          <a:xfrm>
            <a:off x="1371600" y="3959352"/>
            <a:ext cx="10088575" cy="548640"/>
          </a:xfrm>
          <a:prstGeom prst="rect">
            <a:avLst/>
          </a:prstGeom>
          <a:noFill/>
        </p:spPr>
        <p:txBody>
          <a:bodyPr wrap="square" anchor="ctr" lIns="0" rIns="0" tIns="0" bIns="0">
            <a:spAutoFit/>
          </a:bodyPr>
          <a:lstStyle/>
          <a:p>
            <a:r>
              <a:rPr sz="1900" i="0" b="1">
                <a:solidFill>
                  <a:srgbClr val="FFFFFF"/>
                </a:solidFill>
                <a:latin typeface="Calibri"/>
              </a:rPr>
              <a:t>Absence seizure</a:t>
            </a:r>
          </a:p>
        </p:txBody>
      </p:sp>
      <p:sp>
        <p:nvSpPr>
          <p:cNvPr id="18" name="Rounded Rectangle 17"/>
          <p:cNvSpPr/>
          <p:nvPr/>
        </p:nvSpPr>
        <p:spPr>
          <a:xfrm>
            <a:off x="548640" y="4636008"/>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4700016"/>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D</a:t>
            </a:r>
          </a:p>
        </p:txBody>
      </p:sp>
      <p:sp>
        <p:nvSpPr>
          <p:cNvPr id="20" name="TextBox 19"/>
          <p:cNvSpPr txBox="1"/>
          <p:nvPr/>
        </p:nvSpPr>
        <p:spPr>
          <a:xfrm>
            <a:off x="1371600" y="4636008"/>
            <a:ext cx="10088575" cy="548640"/>
          </a:xfrm>
          <a:prstGeom prst="rect">
            <a:avLst/>
          </a:prstGeom>
          <a:noFill/>
        </p:spPr>
        <p:txBody>
          <a:bodyPr wrap="square" anchor="ctr" lIns="0" rIns="0" tIns="0" bIns="0">
            <a:spAutoFit/>
          </a:bodyPr>
          <a:lstStyle/>
          <a:p>
            <a:r>
              <a:rPr sz="1900" i="0" b="0">
                <a:solidFill>
                  <a:srgbClr val="5A6072"/>
                </a:solidFill>
                <a:latin typeface="Calibri"/>
              </a:rPr>
              <a:t>Tonic–clonic seizure</a:t>
            </a:r>
          </a:p>
        </p:txBody>
      </p:sp>
      <p:sp>
        <p:nvSpPr>
          <p:cNvPr id="21" name="TextBox 20"/>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8D6A2A"/>
                </a:solidFill>
                <a:latin typeface="Calibri"/>
              </a:rPr>
              <a:t>Why:  </a:t>
            </a:r>
            <a:r>
              <a:rPr sz="1500" i="0" b="0">
                <a:solidFill>
                  <a:srgbClr val="1A1F36"/>
                </a:solidFill>
                <a:latin typeface="Calibri"/>
              </a:rPr>
              <a:t>A brief stare many times a day without post-ictal confusion is an absence seizure. A keeps awareness. B is jerking. D is stiffening and jerking.</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05</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5  ·  QUESTION 2 OF 3</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Your turn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5  ·  Epilepsy and Antiseizure Drugs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21 / 25</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1A1F36"/>
                </a:solidFill>
                <a:latin typeface="Calibri"/>
              </a:rPr>
              <a:t>Which drug is first choice for the girl in Q1?</a:t>
            </a:r>
          </a:p>
        </p:txBody>
      </p:sp>
      <p:sp>
        <p:nvSpPr>
          <p:cNvPr id="9" name="Rounded Rectangle 8"/>
          <p:cNvSpPr/>
          <p:nvPr/>
        </p:nvSpPr>
        <p:spPr>
          <a:xfrm>
            <a:off x="548640" y="2697480"/>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807208"/>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A</a:t>
            </a:r>
          </a:p>
        </p:txBody>
      </p:sp>
      <p:sp>
        <p:nvSpPr>
          <p:cNvPr id="11" name="TextBox 10"/>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1A1F36"/>
                </a:solidFill>
                <a:latin typeface="Calibri"/>
              </a:rPr>
              <a:t>Ethosuximide</a:t>
            </a:r>
          </a:p>
        </p:txBody>
      </p:sp>
      <p:sp>
        <p:nvSpPr>
          <p:cNvPr id="12" name="Rounded Rectangle 11"/>
          <p:cNvSpPr/>
          <p:nvPr/>
        </p:nvSpPr>
        <p:spPr>
          <a:xfrm>
            <a:off x="548640" y="3465576"/>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575304"/>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B</a:t>
            </a:r>
          </a:p>
        </p:txBody>
      </p:sp>
      <p:sp>
        <p:nvSpPr>
          <p:cNvPr id="14" name="TextBox 13"/>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1A1F36"/>
                </a:solidFill>
                <a:latin typeface="Calibri"/>
              </a:rPr>
              <a:t>Carbamazepine</a:t>
            </a:r>
          </a:p>
        </p:txBody>
      </p:sp>
      <p:sp>
        <p:nvSpPr>
          <p:cNvPr id="15" name="Rounded Rectangle 14"/>
          <p:cNvSpPr/>
          <p:nvPr/>
        </p:nvSpPr>
        <p:spPr>
          <a:xfrm>
            <a:off x="548640" y="4233672"/>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343400"/>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C</a:t>
            </a:r>
          </a:p>
        </p:txBody>
      </p:sp>
      <p:sp>
        <p:nvSpPr>
          <p:cNvPr id="17" name="TextBox 16"/>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1A1F36"/>
                </a:solidFill>
                <a:latin typeface="Calibri"/>
              </a:rPr>
              <a:t>Phenytoin</a:t>
            </a:r>
          </a:p>
        </p:txBody>
      </p:sp>
      <p:sp>
        <p:nvSpPr>
          <p:cNvPr id="18" name="Rounded Rectangle 17"/>
          <p:cNvSpPr/>
          <p:nvPr/>
        </p:nvSpPr>
        <p:spPr>
          <a:xfrm>
            <a:off x="548640" y="5001768"/>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5111496"/>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D</a:t>
            </a:r>
          </a:p>
        </p:txBody>
      </p:sp>
      <p:sp>
        <p:nvSpPr>
          <p:cNvPr id="20" name="TextBox 19"/>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1A1F36"/>
                </a:solidFill>
                <a:latin typeface="Calibri"/>
              </a:rPr>
              <a:t>Gabapentin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05</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5  ·  QUESTION 2 OF 3  ·  ANSWER</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Check your answer</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5  ·  Epilepsy and Antiseizure Drugs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22 / 25</a:t>
            </a:r>
          </a:p>
        </p:txBody>
      </p:sp>
      <p:pic>
        <p:nvPicPr>
          <p:cNvPr id="7" name="Picture 6" descr="logo"/>
          <p:cNvPicPr>
            <a:picLocks noChangeAspect="1"/>
          </p:cNvPicPr>
          <p:nvPr/>
        </p:nvPicPr>
        <p:blipFill>
          <a:blip r:embed="rId2"/>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1A1F36"/>
                </a:solidFill>
                <a:latin typeface="Calibri"/>
              </a:rPr>
              <a:t>Which drug is first choice for the girl in Q1?</a:t>
            </a:r>
          </a:p>
        </p:txBody>
      </p:sp>
      <p:sp>
        <p:nvSpPr>
          <p:cNvPr id="9" name="Rounded Rectangle 8"/>
          <p:cNvSpPr/>
          <p:nvPr/>
        </p:nvSpPr>
        <p:spPr>
          <a:xfrm>
            <a:off x="548640" y="2606040"/>
            <a:ext cx="11094415" cy="548640"/>
          </a:xfrm>
          <a:prstGeom prst="roundRect">
            <a:avLst>
              <a:gd name="adj" fmla="val 18000"/>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670048"/>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8D6A2A"/>
                </a:solidFill>
                <a:latin typeface="Calibri"/>
              </a:rPr>
              <a:t>A</a:t>
            </a:r>
          </a:p>
        </p:txBody>
      </p:sp>
      <p:sp>
        <p:nvSpPr>
          <p:cNvPr id="11" name="TextBox 10"/>
          <p:cNvSpPr txBox="1"/>
          <p:nvPr/>
        </p:nvSpPr>
        <p:spPr>
          <a:xfrm>
            <a:off x="1371600" y="2606040"/>
            <a:ext cx="10088575" cy="548640"/>
          </a:xfrm>
          <a:prstGeom prst="rect">
            <a:avLst/>
          </a:prstGeom>
          <a:noFill/>
        </p:spPr>
        <p:txBody>
          <a:bodyPr wrap="square" anchor="ctr" lIns="0" rIns="0" tIns="0" bIns="0">
            <a:spAutoFit/>
          </a:bodyPr>
          <a:lstStyle/>
          <a:p>
            <a:r>
              <a:rPr sz="1900" i="0" b="1">
                <a:solidFill>
                  <a:srgbClr val="FFFFFF"/>
                </a:solidFill>
                <a:latin typeface="Calibri"/>
              </a:rPr>
              <a:t>Ethosuximide</a:t>
            </a:r>
          </a:p>
        </p:txBody>
      </p:sp>
      <p:sp>
        <p:nvSpPr>
          <p:cNvPr id="12" name="Rounded Rectangle 11"/>
          <p:cNvSpPr/>
          <p:nvPr/>
        </p:nvSpPr>
        <p:spPr>
          <a:xfrm>
            <a:off x="548640" y="3282696"/>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346703"/>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B</a:t>
            </a:r>
          </a:p>
        </p:txBody>
      </p:sp>
      <p:sp>
        <p:nvSpPr>
          <p:cNvPr id="14" name="TextBox 13"/>
          <p:cNvSpPr txBox="1"/>
          <p:nvPr/>
        </p:nvSpPr>
        <p:spPr>
          <a:xfrm>
            <a:off x="1371600" y="3282696"/>
            <a:ext cx="10088575" cy="548640"/>
          </a:xfrm>
          <a:prstGeom prst="rect">
            <a:avLst/>
          </a:prstGeom>
          <a:noFill/>
        </p:spPr>
        <p:txBody>
          <a:bodyPr wrap="square" anchor="ctr" lIns="0" rIns="0" tIns="0" bIns="0">
            <a:spAutoFit/>
          </a:bodyPr>
          <a:lstStyle/>
          <a:p>
            <a:r>
              <a:rPr sz="1900" i="0" b="0">
                <a:solidFill>
                  <a:srgbClr val="5A6072"/>
                </a:solidFill>
                <a:latin typeface="Calibri"/>
              </a:rPr>
              <a:t>Carbamazepine</a:t>
            </a:r>
          </a:p>
        </p:txBody>
      </p:sp>
      <p:sp>
        <p:nvSpPr>
          <p:cNvPr id="15" name="Rounded Rectangle 14"/>
          <p:cNvSpPr/>
          <p:nvPr/>
        </p:nvSpPr>
        <p:spPr>
          <a:xfrm>
            <a:off x="548640" y="3959352"/>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023360"/>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C</a:t>
            </a:r>
          </a:p>
        </p:txBody>
      </p:sp>
      <p:sp>
        <p:nvSpPr>
          <p:cNvPr id="17" name="TextBox 16"/>
          <p:cNvSpPr txBox="1"/>
          <p:nvPr/>
        </p:nvSpPr>
        <p:spPr>
          <a:xfrm>
            <a:off x="1371600" y="3959352"/>
            <a:ext cx="10088575" cy="548640"/>
          </a:xfrm>
          <a:prstGeom prst="rect">
            <a:avLst/>
          </a:prstGeom>
          <a:noFill/>
        </p:spPr>
        <p:txBody>
          <a:bodyPr wrap="square" anchor="ctr" lIns="0" rIns="0" tIns="0" bIns="0">
            <a:spAutoFit/>
          </a:bodyPr>
          <a:lstStyle/>
          <a:p>
            <a:r>
              <a:rPr sz="1900" i="0" b="0">
                <a:solidFill>
                  <a:srgbClr val="5A6072"/>
                </a:solidFill>
                <a:latin typeface="Calibri"/>
              </a:rPr>
              <a:t>Phenytoin</a:t>
            </a:r>
          </a:p>
        </p:txBody>
      </p:sp>
      <p:sp>
        <p:nvSpPr>
          <p:cNvPr id="18" name="Rounded Rectangle 17"/>
          <p:cNvSpPr/>
          <p:nvPr/>
        </p:nvSpPr>
        <p:spPr>
          <a:xfrm>
            <a:off x="548640" y="4636008"/>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4700016"/>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D</a:t>
            </a:r>
          </a:p>
        </p:txBody>
      </p:sp>
      <p:sp>
        <p:nvSpPr>
          <p:cNvPr id="20" name="TextBox 19"/>
          <p:cNvSpPr txBox="1"/>
          <p:nvPr/>
        </p:nvSpPr>
        <p:spPr>
          <a:xfrm>
            <a:off x="1371600" y="4636008"/>
            <a:ext cx="10088575" cy="548640"/>
          </a:xfrm>
          <a:prstGeom prst="rect">
            <a:avLst/>
          </a:prstGeom>
          <a:noFill/>
        </p:spPr>
        <p:txBody>
          <a:bodyPr wrap="square" anchor="ctr" lIns="0" rIns="0" tIns="0" bIns="0">
            <a:spAutoFit/>
          </a:bodyPr>
          <a:lstStyle/>
          <a:p>
            <a:r>
              <a:rPr sz="1900" i="0" b="0">
                <a:solidFill>
                  <a:srgbClr val="5A6072"/>
                </a:solidFill>
                <a:latin typeface="Calibri"/>
              </a:rPr>
              <a:t>Gabapentin</a:t>
            </a:r>
          </a:p>
        </p:txBody>
      </p:sp>
      <p:sp>
        <p:nvSpPr>
          <p:cNvPr id="21" name="TextBox 20"/>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8D6A2A"/>
                </a:solidFill>
                <a:latin typeface="Calibri"/>
              </a:rPr>
              <a:t>Why:  </a:t>
            </a:r>
            <a:r>
              <a:rPr sz="1500" i="0" b="0">
                <a:solidFill>
                  <a:srgbClr val="1A1F36"/>
                </a:solidFill>
                <a:latin typeface="Calibri"/>
              </a:rPr>
              <a:t>Ethosuximide blocks thalamic T-type Ca2+ channels. B and C can worsen absence seizures. D is not effective.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05</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5  ·  QUESTION 3 OF 3</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Your turn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5  ·  Epilepsy and Antiseizure Drugs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23 / 25</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1A1F36"/>
                </a:solidFill>
                <a:latin typeface="Calibri"/>
              </a:rPr>
              <a:t>What is the mechanism of levetiracetam?</a:t>
            </a:r>
          </a:p>
        </p:txBody>
      </p:sp>
      <p:sp>
        <p:nvSpPr>
          <p:cNvPr id="9" name="Rounded Rectangle 8"/>
          <p:cNvSpPr/>
          <p:nvPr/>
        </p:nvSpPr>
        <p:spPr>
          <a:xfrm>
            <a:off x="548640" y="2697480"/>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807208"/>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A</a:t>
            </a:r>
          </a:p>
        </p:txBody>
      </p:sp>
      <p:sp>
        <p:nvSpPr>
          <p:cNvPr id="11" name="TextBox 10"/>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1A1F36"/>
                </a:solidFill>
                <a:latin typeface="Calibri"/>
              </a:rPr>
              <a:t>Block of T-type Ca2+ channels</a:t>
            </a:r>
          </a:p>
        </p:txBody>
      </p:sp>
      <p:sp>
        <p:nvSpPr>
          <p:cNvPr id="12" name="Rounded Rectangle 11"/>
          <p:cNvSpPr/>
          <p:nvPr/>
        </p:nvSpPr>
        <p:spPr>
          <a:xfrm>
            <a:off x="548640" y="3465576"/>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575304"/>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B</a:t>
            </a:r>
          </a:p>
        </p:txBody>
      </p:sp>
      <p:sp>
        <p:nvSpPr>
          <p:cNvPr id="14" name="TextBox 13"/>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1A1F36"/>
                </a:solidFill>
                <a:latin typeface="Calibri"/>
              </a:rPr>
              <a:t>Inhibition of GABA transaminase</a:t>
            </a:r>
          </a:p>
        </p:txBody>
      </p:sp>
      <p:sp>
        <p:nvSpPr>
          <p:cNvPr id="15" name="Rounded Rectangle 14"/>
          <p:cNvSpPr/>
          <p:nvPr/>
        </p:nvSpPr>
        <p:spPr>
          <a:xfrm>
            <a:off x="548640" y="4233672"/>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343400"/>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C</a:t>
            </a:r>
          </a:p>
        </p:txBody>
      </p:sp>
      <p:sp>
        <p:nvSpPr>
          <p:cNvPr id="17" name="TextBox 16"/>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1A1F36"/>
                </a:solidFill>
                <a:latin typeface="Calibri"/>
              </a:rPr>
              <a:t>Binding to the α2δ subunit of Ca2+ channels</a:t>
            </a:r>
          </a:p>
        </p:txBody>
      </p:sp>
      <p:sp>
        <p:nvSpPr>
          <p:cNvPr id="18" name="Rounded Rectangle 17"/>
          <p:cNvSpPr/>
          <p:nvPr/>
        </p:nvSpPr>
        <p:spPr>
          <a:xfrm>
            <a:off x="548640" y="5001768"/>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5111496"/>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D</a:t>
            </a:r>
          </a:p>
        </p:txBody>
      </p:sp>
      <p:sp>
        <p:nvSpPr>
          <p:cNvPr id="20" name="TextBox 19"/>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1A1F36"/>
                </a:solidFill>
                <a:latin typeface="Calibri"/>
              </a:rPr>
              <a:t>Binding to the synaptic vesicle protein SV2A</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05</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5  ·  QUESTION 3 OF 3  ·  ANSWER</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Check your answer</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5  ·  Epilepsy and Antiseizure Drugs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24 / 25</a:t>
            </a:r>
          </a:p>
        </p:txBody>
      </p:sp>
      <p:pic>
        <p:nvPicPr>
          <p:cNvPr id="7" name="Picture 6" descr="logo"/>
          <p:cNvPicPr>
            <a:picLocks noChangeAspect="1"/>
          </p:cNvPicPr>
          <p:nvPr/>
        </p:nvPicPr>
        <p:blipFill>
          <a:blip r:embed="rId2"/>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1A1F36"/>
                </a:solidFill>
                <a:latin typeface="Calibri"/>
              </a:rPr>
              <a:t>What is the mechanism of levetiracetam?</a:t>
            </a:r>
          </a:p>
        </p:txBody>
      </p:sp>
      <p:sp>
        <p:nvSpPr>
          <p:cNvPr id="9" name="Rounded Rectangle 8"/>
          <p:cNvSpPr/>
          <p:nvPr/>
        </p:nvSpPr>
        <p:spPr>
          <a:xfrm>
            <a:off x="548640" y="2606040"/>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670048"/>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A</a:t>
            </a:r>
          </a:p>
        </p:txBody>
      </p:sp>
      <p:sp>
        <p:nvSpPr>
          <p:cNvPr id="11" name="TextBox 10"/>
          <p:cNvSpPr txBox="1"/>
          <p:nvPr/>
        </p:nvSpPr>
        <p:spPr>
          <a:xfrm>
            <a:off x="1371600" y="2606040"/>
            <a:ext cx="10088575" cy="548640"/>
          </a:xfrm>
          <a:prstGeom prst="rect">
            <a:avLst/>
          </a:prstGeom>
          <a:noFill/>
        </p:spPr>
        <p:txBody>
          <a:bodyPr wrap="square" anchor="ctr" lIns="0" rIns="0" tIns="0" bIns="0">
            <a:spAutoFit/>
          </a:bodyPr>
          <a:lstStyle/>
          <a:p>
            <a:r>
              <a:rPr sz="1900" i="0" b="0">
                <a:solidFill>
                  <a:srgbClr val="5A6072"/>
                </a:solidFill>
                <a:latin typeface="Calibri"/>
              </a:rPr>
              <a:t>Block of T-type Ca2+ channels</a:t>
            </a:r>
          </a:p>
        </p:txBody>
      </p:sp>
      <p:sp>
        <p:nvSpPr>
          <p:cNvPr id="12" name="Rounded Rectangle 11"/>
          <p:cNvSpPr/>
          <p:nvPr/>
        </p:nvSpPr>
        <p:spPr>
          <a:xfrm>
            <a:off x="548640" y="3282696"/>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346703"/>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B</a:t>
            </a:r>
          </a:p>
        </p:txBody>
      </p:sp>
      <p:sp>
        <p:nvSpPr>
          <p:cNvPr id="14" name="TextBox 13"/>
          <p:cNvSpPr txBox="1"/>
          <p:nvPr/>
        </p:nvSpPr>
        <p:spPr>
          <a:xfrm>
            <a:off x="1371600" y="3282696"/>
            <a:ext cx="10088575" cy="548640"/>
          </a:xfrm>
          <a:prstGeom prst="rect">
            <a:avLst/>
          </a:prstGeom>
          <a:noFill/>
        </p:spPr>
        <p:txBody>
          <a:bodyPr wrap="square" anchor="ctr" lIns="0" rIns="0" tIns="0" bIns="0">
            <a:spAutoFit/>
          </a:bodyPr>
          <a:lstStyle/>
          <a:p>
            <a:r>
              <a:rPr sz="1900" i="0" b="0">
                <a:solidFill>
                  <a:srgbClr val="5A6072"/>
                </a:solidFill>
                <a:latin typeface="Calibri"/>
              </a:rPr>
              <a:t>Inhibition of GABA transaminase</a:t>
            </a:r>
          </a:p>
        </p:txBody>
      </p:sp>
      <p:sp>
        <p:nvSpPr>
          <p:cNvPr id="15" name="Rounded Rectangle 14"/>
          <p:cNvSpPr/>
          <p:nvPr/>
        </p:nvSpPr>
        <p:spPr>
          <a:xfrm>
            <a:off x="548640" y="3959352"/>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023360"/>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C</a:t>
            </a:r>
          </a:p>
        </p:txBody>
      </p:sp>
      <p:sp>
        <p:nvSpPr>
          <p:cNvPr id="17" name="TextBox 16"/>
          <p:cNvSpPr txBox="1"/>
          <p:nvPr/>
        </p:nvSpPr>
        <p:spPr>
          <a:xfrm>
            <a:off x="1371600" y="3959352"/>
            <a:ext cx="10088575" cy="548640"/>
          </a:xfrm>
          <a:prstGeom prst="rect">
            <a:avLst/>
          </a:prstGeom>
          <a:noFill/>
        </p:spPr>
        <p:txBody>
          <a:bodyPr wrap="square" anchor="ctr" lIns="0" rIns="0" tIns="0" bIns="0">
            <a:spAutoFit/>
          </a:bodyPr>
          <a:lstStyle/>
          <a:p>
            <a:r>
              <a:rPr sz="1900" i="0" b="0">
                <a:solidFill>
                  <a:srgbClr val="5A6072"/>
                </a:solidFill>
                <a:latin typeface="Calibri"/>
              </a:rPr>
              <a:t>Binding to the α2δ subunit of Ca2+ channels</a:t>
            </a:r>
          </a:p>
        </p:txBody>
      </p:sp>
      <p:sp>
        <p:nvSpPr>
          <p:cNvPr id="18" name="Rounded Rectangle 17"/>
          <p:cNvSpPr/>
          <p:nvPr/>
        </p:nvSpPr>
        <p:spPr>
          <a:xfrm>
            <a:off x="548640" y="4636008"/>
            <a:ext cx="11094415" cy="548640"/>
          </a:xfrm>
          <a:prstGeom prst="roundRect">
            <a:avLst>
              <a:gd name="adj" fmla="val 18000"/>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4700016"/>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8D6A2A"/>
                </a:solidFill>
                <a:latin typeface="Calibri"/>
              </a:rPr>
              <a:t>D</a:t>
            </a:r>
          </a:p>
        </p:txBody>
      </p:sp>
      <p:sp>
        <p:nvSpPr>
          <p:cNvPr id="20" name="TextBox 19"/>
          <p:cNvSpPr txBox="1"/>
          <p:nvPr/>
        </p:nvSpPr>
        <p:spPr>
          <a:xfrm>
            <a:off x="1371600" y="4636008"/>
            <a:ext cx="10088575" cy="548640"/>
          </a:xfrm>
          <a:prstGeom prst="rect">
            <a:avLst/>
          </a:prstGeom>
          <a:noFill/>
        </p:spPr>
        <p:txBody>
          <a:bodyPr wrap="square" anchor="ctr" lIns="0" rIns="0" tIns="0" bIns="0">
            <a:spAutoFit/>
          </a:bodyPr>
          <a:lstStyle/>
          <a:p>
            <a:r>
              <a:rPr sz="1900" i="0" b="1">
                <a:solidFill>
                  <a:srgbClr val="FFFFFF"/>
                </a:solidFill>
                <a:latin typeface="Calibri"/>
              </a:rPr>
              <a:t>Binding to the synaptic vesicle protein SV2A</a:t>
            </a:r>
          </a:p>
        </p:txBody>
      </p:sp>
      <p:sp>
        <p:nvSpPr>
          <p:cNvPr id="21" name="TextBox 20"/>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8D6A2A"/>
                </a:solidFill>
                <a:latin typeface="Calibri"/>
              </a:rPr>
              <a:t>Why:  </a:t>
            </a:r>
            <a:r>
              <a:rPr sz="1500" i="0" b="0">
                <a:solidFill>
                  <a:srgbClr val="1A1F36"/>
                </a:solidFill>
                <a:latin typeface="Calibri"/>
              </a:rPr>
              <a:t>Levetiracetam binds SV2A. A is ethosuximide. B is valproate. C is gabapentin and pregabalin.</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1B2A8C"/>
        </a:solidFill>
        <a:effectLst/>
      </p:bgPr>
    </p:bg>
    <p:spTree>
      <p:nvGrpSpPr>
        <p:cNvPr id="1" name=""/>
        <p:cNvGrpSpPr/>
        <p:nvPr/>
      </p:nvGrpSpPr>
      <p:grpSpPr/>
      <p:sp>
        <p:nvSpPr>
          <p:cNvPr id="2" name="TextBox 1"/>
          <p:cNvSpPr txBox="1"/>
          <p:nvPr/>
        </p:nvSpPr>
        <p:spPr>
          <a:xfrm>
            <a:off x="548640" y="502920"/>
            <a:ext cx="7315200" cy="365760"/>
          </a:xfrm>
          <a:prstGeom prst="rect">
            <a:avLst/>
          </a:prstGeom>
          <a:noFill/>
        </p:spPr>
        <p:txBody>
          <a:bodyPr wrap="square" anchor="t" lIns="0" rIns="0" tIns="0" bIns="0">
            <a:spAutoFit/>
          </a:bodyPr>
          <a:lstStyle/>
          <a:p>
            <a:r>
              <a:rPr sz="1300" i="0" b="1" spc="200">
                <a:solidFill>
                  <a:srgbClr val="DFE1EF"/>
                </a:solidFill>
                <a:latin typeface="Calibri"/>
              </a:rPr>
              <a:t>SECTION 5  ·  SUMMARY</a:t>
            </a:r>
          </a:p>
        </p:txBody>
      </p:sp>
      <p:sp>
        <p:nvSpPr>
          <p:cNvPr id="3" name="TextBox 2"/>
          <p:cNvSpPr txBox="1"/>
          <p:nvPr/>
        </p:nvSpPr>
        <p:spPr>
          <a:xfrm>
            <a:off x="548640" y="822960"/>
            <a:ext cx="9144000" cy="731520"/>
          </a:xfrm>
          <a:prstGeom prst="rect">
            <a:avLst/>
          </a:prstGeom>
          <a:noFill/>
        </p:spPr>
        <p:txBody>
          <a:bodyPr wrap="square" anchor="t" lIns="0" rIns="0" tIns="0" bIns="0">
            <a:spAutoFit/>
          </a:bodyPr>
          <a:lstStyle/>
          <a:p>
            <a:r>
              <a:rPr sz="3600" i="0" b="1">
                <a:solidFill>
                  <a:srgbClr val="FFFFFF"/>
                </a:solidFill>
                <a:latin typeface="Cambria"/>
              </a:rPr>
              <a:t>Key Takeaways</a:t>
            </a:r>
          </a:p>
        </p:txBody>
      </p:sp>
      <p:sp>
        <p:nvSpPr>
          <p:cNvPr id="4" name="Oval 3"/>
          <p:cNvSpPr/>
          <p:nvPr/>
        </p:nvSpPr>
        <p:spPr>
          <a:xfrm>
            <a:off x="548640" y="1847088"/>
            <a:ext cx="402336" cy="402336"/>
          </a:xfrm>
          <a:prstGeom prst="ellipse">
            <a:avLst/>
          </a:prstGeom>
          <a:solidFill>
            <a:srgbClr val="DFE1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1B2A8C"/>
                </a:solidFill>
                <a:latin typeface="Calibri"/>
              </a:rPr>
              <a:t>1</a:t>
            </a:r>
          </a:p>
        </p:txBody>
      </p:sp>
      <p:sp>
        <p:nvSpPr>
          <p:cNvPr id="5" name="TextBox 4"/>
          <p:cNvSpPr txBox="1"/>
          <p:nvPr/>
        </p:nvSpPr>
        <p:spPr>
          <a:xfrm>
            <a:off x="1143000" y="1865376"/>
            <a:ext cx="10500055" cy="798195"/>
          </a:xfrm>
          <a:prstGeom prst="rect">
            <a:avLst/>
          </a:prstGeom>
          <a:noFill/>
        </p:spPr>
        <p:txBody>
          <a:bodyPr wrap="square" anchor="t" lIns="0" rIns="0" tIns="0" bIns="0">
            <a:spAutoFit/>
          </a:bodyPr>
          <a:lstStyle/>
          <a:p>
            <a:r>
              <a:rPr sz="1800" i="0" b="0">
                <a:solidFill>
                  <a:srgbClr val="FFFFFF"/>
                </a:solidFill>
                <a:latin typeface="Calibri"/>
              </a:rPr>
              <a:t>Seizures are focal or generalised; awareness is lost in tonic–clonic and absence seizures but usually kept in myoclonic seizures.</a:t>
            </a:r>
          </a:p>
        </p:txBody>
      </p:sp>
      <p:sp>
        <p:nvSpPr>
          <p:cNvPr id="6" name="Oval 5"/>
          <p:cNvSpPr/>
          <p:nvPr/>
        </p:nvSpPr>
        <p:spPr>
          <a:xfrm>
            <a:off x="548640" y="2691003"/>
            <a:ext cx="402336" cy="402336"/>
          </a:xfrm>
          <a:prstGeom prst="ellipse">
            <a:avLst/>
          </a:prstGeom>
          <a:solidFill>
            <a:srgbClr val="DFE1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1B2A8C"/>
                </a:solidFill>
                <a:latin typeface="Calibri"/>
              </a:rPr>
              <a:t>2</a:t>
            </a:r>
          </a:p>
        </p:txBody>
      </p:sp>
      <p:sp>
        <p:nvSpPr>
          <p:cNvPr id="7" name="TextBox 6"/>
          <p:cNvSpPr txBox="1"/>
          <p:nvPr/>
        </p:nvSpPr>
        <p:spPr>
          <a:xfrm>
            <a:off x="1143000" y="2709291"/>
            <a:ext cx="10500055" cy="798195"/>
          </a:xfrm>
          <a:prstGeom prst="rect">
            <a:avLst/>
          </a:prstGeom>
          <a:noFill/>
        </p:spPr>
        <p:txBody>
          <a:bodyPr wrap="square" anchor="t" lIns="0" rIns="0" tIns="0" bIns="0">
            <a:spAutoFit/>
          </a:bodyPr>
          <a:lstStyle/>
          <a:p>
            <a:r>
              <a:rPr sz="1800" i="0" b="0">
                <a:solidFill>
                  <a:srgbClr val="FFFFFF"/>
                </a:solidFill>
                <a:latin typeface="Calibri"/>
              </a:rPr>
              <a:t>Antiseizure drugs block Na+ or T-type Ca2+ channels, enhance GABA, bind SV2A or α2δ, or block glutamate.</a:t>
            </a:r>
          </a:p>
        </p:txBody>
      </p:sp>
      <p:sp>
        <p:nvSpPr>
          <p:cNvPr id="8" name="Oval 7"/>
          <p:cNvSpPr/>
          <p:nvPr/>
        </p:nvSpPr>
        <p:spPr>
          <a:xfrm>
            <a:off x="548640" y="3534918"/>
            <a:ext cx="402336" cy="402336"/>
          </a:xfrm>
          <a:prstGeom prst="ellipse">
            <a:avLst/>
          </a:prstGeom>
          <a:solidFill>
            <a:srgbClr val="DFE1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1B2A8C"/>
                </a:solidFill>
                <a:latin typeface="Calibri"/>
              </a:rPr>
              <a:t>3</a:t>
            </a:r>
          </a:p>
        </p:txBody>
      </p:sp>
      <p:sp>
        <p:nvSpPr>
          <p:cNvPr id="9" name="TextBox 8"/>
          <p:cNvSpPr txBox="1"/>
          <p:nvPr/>
        </p:nvSpPr>
        <p:spPr>
          <a:xfrm>
            <a:off x="1143000" y="3553206"/>
            <a:ext cx="10500055" cy="512445"/>
          </a:xfrm>
          <a:prstGeom prst="rect">
            <a:avLst/>
          </a:prstGeom>
          <a:noFill/>
        </p:spPr>
        <p:txBody>
          <a:bodyPr wrap="square" anchor="t" lIns="0" rIns="0" tIns="0" bIns="0">
            <a:spAutoFit/>
          </a:bodyPr>
          <a:lstStyle/>
          <a:p>
            <a:r>
              <a:rPr sz="1800" i="0" b="0">
                <a:solidFill>
                  <a:srgbClr val="FFFFFF"/>
                </a:solidFill>
                <a:latin typeface="Calibri"/>
              </a:rPr>
              <a:t>Phenytoin, carbamazepine and phenobarbital are inducers; valproate is an inhibitor.</a:t>
            </a:r>
          </a:p>
        </p:txBody>
      </p:sp>
      <p:sp>
        <p:nvSpPr>
          <p:cNvPr id="10" name="Oval 9"/>
          <p:cNvSpPr/>
          <p:nvPr/>
        </p:nvSpPr>
        <p:spPr>
          <a:xfrm>
            <a:off x="548640" y="4093082"/>
            <a:ext cx="402336" cy="402336"/>
          </a:xfrm>
          <a:prstGeom prst="ellipse">
            <a:avLst/>
          </a:prstGeom>
          <a:solidFill>
            <a:srgbClr val="DFE1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1B2A8C"/>
                </a:solidFill>
                <a:latin typeface="Calibri"/>
              </a:rPr>
              <a:t>4</a:t>
            </a:r>
          </a:p>
        </p:txBody>
      </p:sp>
      <p:sp>
        <p:nvSpPr>
          <p:cNvPr id="11" name="TextBox 10"/>
          <p:cNvSpPr txBox="1"/>
          <p:nvPr/>
        </p:nvSpPr>
        <p:spPr>
          <a:xfrm>
            <a:off x="1143000" y="4111371"/>
            <a:ext cx="10500055" cy="798195"/>
          </a:xfrm>
          <a:prstGeom prst="rect">
            <a:avLst/>
          </a:prstGeom>
          <a:noFill/>
        </p:spPr>
        <p:txBody>
          <a:bodyPr wrap="square" anchor="t" lIns="0" rIns="0" tIns="0" bIns="0">
            <a:spAutoFit/>
          </a:bodyPr>
          <a:lstStyle/>
          <a:p>
            <a:r>
              <a:rPr sz="1800" i="0" b="0">
                <a:solidFill>
                  <a:srgbClr val="FFFFFF"/>
                </a:solidFill>
                <a:latin typeface="Calibri"/>
              </a:rPr>
              <a:t>Valproate is broad-spectrum but most teratogenic; lamotrigine or levetiracetam are preferred in women who could become pregnant.</a:t>
            </a:r>
          </a:p>
        </p:txBody>
      </p:sp>
      <p:sp>
        <p:nvSpPr>
          <p:cNvPr id="12" name="Oval 11"/>
          <p:cNvSpPr/>
          <p:nvPr/>
        </p:nvSpPr>
        <p:spPr>
          <a:xfrm>
            <a:off x="548640" y="4936997"/>
            <a:ext cx="402336" cy="402336"/>
          </a:xfrm>
          <a:prstGeom prst="ellipse">
            <a:avLst/>
          </a:prstGeom>
          <a:solidFill>
            <a:srgbClr val="DFE1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1B2A8C"/>
                </a:solidFill>
                <a:latin typeface="Calibri"/>
              </a:rPr>
              <a:t>5</a:t>
            </a:r>
          </a:p>
        </p:txBody>
      </p:sp>
      <p:sp>
        <p:nvSpPr>
          <p:cNvPr id="13" name="TextBox 12"/>
          <p:cNvSpPr txBox="1"/>
          <p:nvPr/>
        </p:nvSpPr>
        <p:spPr>
          <a:xfrm>
            <a:off x="1143000" y="4955286"/>
            <a:ext cx="10500055" cy="512445"/>
          </a:xfrm>
          <a:prstGeom prst="rect">
            <a:avLst/>
          </a:prstGeom>
          <a:noFill/>
        </p:spPr>
        <p:txBody>
          <a:bodyPr wrap="square" anchor="t" lIns="0" rIns="0" tIns="0" bIns="0">
            <a:spAutoFit/>
          </a:bodyPr>
          <a:lstStyle/>
          <a:p>
            <a:r>
              <a:rPr sz="1800" i="0" b="0">
                <a:solidFill>
                  <a:srgbClr val="FFFFFF"/>
                </a:solidFill>
                <a:latin typeface="Calibri"/>
              </a:rPr>
              <a:t>Ethosuximide is first choice for absence seizures; carbamazepine and phenytoin worsen them.</a:t>
            </a:r>
          </a:p>
        </p:txBody>
      </p:sp>
      <p:sp>
        <p:nvSpPr>
          <p:cNvPr id="14" name="Oval 13"/>
          <p:cNvSpPr/>
          <p:nvPr/>
        </p:nvSpPr>
        <p:spPr>
          <a:xfrm>
            <a:off x="548640" y="5495162"/>
            <a:ext cx="402336" cy="402336"/>
          </a:xfrm>
          <a:prstGeom prst="ellipse">
            <a:avLst/>
          </a:prstGeom>
          <a:solidFill>
            <a:srgbClr val="DFE1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1B2A8C"/>
                </a:solidFill>
                <a:latin typeface="Calibri"/>
              </a:rPr>
              <a:t>6</a:t>
            </a:r>
          </a:p>
        </p:txBody>
      </p:sp>
      <p:sp>
        <p:nvSpPr>
          <p:cNvPr id="15" name="TextBox 14"/>
          <p:cNvSpPr txBox="1"/>
          <p:nvPr/>
        </p:nvSpPr>
        <p:spPr>
          <a:xfrm>
            <a:off x="1143000" y="5513451"/>
            <a:ext cx="10500055" cy="512445"/>
          </a:xfrm>
          <a:prstGeom prst="rect">
            <a:avLst/>
          </a:prstGeom>
          <a:noFill/>
        </p:spPr>
        <p:txBody>
          <a:bodyPr wrap="square" anchor="t" lIns="0" rIns="0" tIns="0" bIns="0">
            <a:spAutoFit/>
          </a:bodyPr>
          <a:lstStyle/>
          <a:p>
            <a:r>
              <a:rPr sz="1800" i="0" b="0">
                <a:solidFill>
                  <a:srgbClr val="FFFFFF"/>
                </a:solidFill>
                <a:latin typeface="Calibri"/>
              </a:rPr>
              <a:t>Status epilepticus: benzodiazepine first, then levetiracetam, fosphenytoin or valproate.</a:t>
            </a:r>
          </a:p>
        </p:txBody>
      </p:sp>
      <p:pic>
        <p:nvPicPr>
          <p:cNvPr id="16" name="Picture 15" descr="port-said-university.png"/>
          <p:cNvPicPr>
            <a:picLocks noChangeAspect="1"/>
          </p:cNvPicPr>
          <p:nvPr/>
        </p:nvPicPr>
        <p:blipFill>
          <a:blip r:embed="rId2"/>
          <a:stretch>
            <a:fillRect/>
          </a:stretch>
        </p:blipFill>
        <p:spPr>
          <a:xfrm>
            <a:off x="10378440" y="6144768"/>
            <a:ext cx="548640" cy="548640"/>
          </a:xfrm>
          <a:prstGeom prst="rect">
            <a:avLst/>
          </a:prstGeom>
        </p:spPr>
      </p:pic>
      <p:pic>
        <p:nvPicPr>
          <p:cNvPr id="17" name="Picture 16" descr="faculty-of-pharmacy.png"/>
          <p:cNvPicPr>
            <a:picLocks noChangeAspect="1"/>
          </p:cNvPicPr>
          <p:nvPr/>
        </p:nvPicPr>
        <p:blipFill>
          <a:blip r:embed="rId3"/>
          <a:stretch>
            <a:fillRect/>
          </a:stretch>
        </p:blipFill>
        <p:spPr>
          <a:xfrm>
            <a:off x="11036808" y="6144768"/>
            <a:ext cx="548640" cy="54864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