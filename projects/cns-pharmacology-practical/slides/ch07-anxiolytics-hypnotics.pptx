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GABA is the main inhibitory transmitter in the brain. The GABA-A receptor is a chloride channel made of five subunits (mostly two α, two β and one γ). When GABA binds, the channel opens, Cl- enters and the neuron hyperpolarises, so it fires less. Drugs that enhance this effect produce, with rising dose, anxiety relief, sedation, sleep, anaesthesia, coma and finally breathing depression.</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Anxiety, Insomnia and CNS Depression.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Anxiety is an unpleasant state of tension and fear. Its physical signs, such as tachycardia, sweating and tremor, come from sympathetic activation. Mild anxiety is normal. Treatment is needed when anxiety is severe, lasts most days for months, and harms daily life. Examples are generalised anxiety disorder (GAD) and panic disorder. Insomnia is difficulty falling asleep, staying asleep or waking too early, with poor daytime function. Sedative–hypnotic drugs depress the CNS in a dose-related way:</a:t>
            </a:r>
          </a:p>
          <a:p/>
          <a:p>
            <a:r>
              <a:t>Time: 2:30  (at 5:00 of 40:00).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2:00  (at 7:00 of 40:00).  Next: Classes by duration.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2:30  (at 9:30 of 40:00).  Next: Uses.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2:00  (at 11:30 of 40:00).  Next: Uses.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2:00  (at 13:30 of 40:00).  Next: Benzodiazepines.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Time: 1:30  (at 15:00 of 40:00).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17:00 of 40:00).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(for example sertraline or escitalopram) and SNRIs (venlafaxine, duloxetine) are the first-choice drugs for long-term anxiety disorders such as GAD and panic disorder. They cause no dependence. They take 2 to 6 weeks to work, and anxiety can rise in the first days. So a benzodiazepine may be added for a short time at the start, then tapered. Buspirone is a 5-HT1A partial agonist with some D2 affinity. It treats GAD with efficacy similar to benzodiazepines. Its onset is slow, 1 to 2 weeks or more, so it is not used "as needed" for acute anxiety. Advantages: little sedation, no amnesia, no dependence and no interaction with alcohol. It has no anticonvulsant or muscle-relaxant effect. It does not treat benzodiazepine withdrawal. Adverse effects: headache, dizziness, nausea and nervousness. Other drugs used in anxiety: pregabalin (GAD), propranolol for physical symptoms of performance anxiety, and hydroxyzine for short-term relief.</a:t>
            </a:r>
          </a:p>
          <a:p/>
          <a:p>
            <a:r>
              <a:t>Time: 2:30  (at 19:30 of 40:00).  Next: Barbiturates.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Barbiturates bind a different site on the GABA-A receptor. They make the channel stay open longer. At high doses they open the channel directly, without GABA, and they also block glutamate receptors. They have no ceiling effect, so overdose causes coma, breathing depression and death. Barbiturates are no longer used for anxiety or insomnia because of: Barbiturates are anticonvulsants; it is their withdrawal that causes seizures. Their enzyme induction was once used for neonatal jaundice, but phototherapy is the treatment of choice.</a:t>
            </a:r>
          </a:p>
          <a:p/>
          <a:p>
            <a:r>
              <a:t>Time: 2:30  (at 22:00 of 40:00).  Next: Z-drugs.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Time: 2:00  (at 24:00 of 40:00).  Next: Other Hypnotics.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Time: 1:30  (at 25:30 of 40:00).  Next: Generalised anxiety disorder.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Time: 2:00  (at 27:30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Time: 1:30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Benzodiazepines are positive allosteric modulators that increase opening frequency. A is high-dose barbiturates. C is valproate. D is tiagabine.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Diazepam and its metabolite nordiazepam act for a long time. A is short-acting. B and C are intermediate with no active metabolites.</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Alcohol plus a benzodiazepine causes additive CNS and breathing depression. B, C and D are not caused.</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07</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7</a:t>
            </a:r>
          </a:p>
          <a:p>
            <a:pPr>
              <a:spcBef>
                <a:spcPts val="1400"/>
              </a:spcBef>
            </a:pPr>
            <a:r>
              <a:rPr sz="3600" i="0" b="1">
                <a:solidFill>
                  <a:srgbClr val="FFFFFF"/>
                </a:solidFill>
                <a:latin typeface="Cambria"/>
              </a:rPr>
              <a:t>Anxiolytics, Sedatives and Hypnotics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Describe how benzodiazepines, barbiturates and Z-drugs act on the GABA-A receptor.</a:t>
            </a:r>
          </a:p>
        </p:txBody>
      </p:sp>
      <p:sp>
        <p:nvSpPr>
          <p:cNvPr id="13" name="Oval 12"/>
          <p:cNvSpPr/>
          <p:nvPr/>
        </p:nvSpPr>
        <p:spPr>
          <a:xfrm>
            <a:off x="548640" y="2432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51100"/>
            <a:ext cx="6629400" cy="814323"/>
          </a:xfrm>
          <a:prstGeom prst="rect">
            <a:avLst/>
          </a:prstGeom>
          <a:noFill/>
        </p:spPr>
        <p:txBody>
          <a:bodyPr wrap="square" anchor="t" lIns="0" rIns="0" tIns="0" bIns="0">
            <a:spAutoFit/>
          </a:bodyPr>
          <a:lstStyle/>
          <a:p>
            <a:r>
              <a:rPr sz="2000" i="0" b="0">
                <a:solidFill>
                  <a:srgbClr val="1A1F36"/>
                </a:solidFill>
                <a:latin typeface="Calibri"/>
              </a:rPr>
              <a:t>Classify benzodiazepines by duration of action and link duration to clinical use.</a:t>
            </a:r>
          </a:p>
        </p:txBody>
      </p:sp>
      <p:sp>
        <p:nvSpPr>
          <p:cNvPr id="15" name="Oval 14"/>
          <p:cNvSpPr/>
          <p:nvPr/>
        </p:nvSpPr>
        <p:spPr>
          <a:xfrm>
            <a:off x="548640" y="32928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11144"/>
            <a:ext cx="6629400" cy="1131824"/>
          </a:xfrm>
          <a:prstGeom prst="rect">
            <a:avLst/>
          </a:prstGeom>
          <a:noFill/>
        </p:spPr>
        <p:txBody>
          <a:bodyPr wrap="square" anchor="t" lIns="0" rIns="0" tIns="0" bIns="0">
            <a:spAutoFit/>
          </a:bodyPr>
          <a:lstStyle/>
          <a:p>
            <a:r>
              <a:rPr sz="2000" i="0" b="0">
                <a:solidFill>
                  <a:srgbClr val="1A1F36"/>
                </a:solidFill>
                <a:latin typeface="Calibri"/>
              </a:rPr>
              <a:t>Identify the risks of benzodiazepines, Z-drugs and barbiturates, including overdose, dependence and interactions.</a:t>
            </a:r>
          </a:p>
        </p:txBody>
      </p:sp>
      <p:sp>
        <p:nvSpPr>
          <p:cNvPr id="17" name="Oval 16"/>
          <p:cNvSpPr/>
          <p:nvPr/>
        </p:nvSpPr>
        <p:spPr>
          <a:xfrm>
            <a:off x="548640" y="44704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488688"/>
            <a:ext cx="6629400" cy="814323"/>
          </a:xfrm>
          <a:prstGeom prst="rect">
            <a:avLst/>
          </a:prstGeom>
          <a:noFill/>
        </p:spPr>
        <p:txBody>
          <a:bodyPr wrap="square" anchor="t" lIns="0" rIns="0" tIns="0" bIns="0">
            <a:spAutoFit/>
          </a:bodyPr>
          <a:lstStyle/>
          <a:p>
            <a:r>
              <a:rPr sz="2000" i="0" b="0">
                <a:solidFill>
                  <a:srgbClr val="1A1F36"/>
                </a:solidFill>
                <a:latin typeface="Calibri"/>
              </a:rPr>
              <a:t>Compare buspirone, antidepressants and benzodiazepines in the treatment of anxiety.</a:t>
            </a:r>
          </a:p>
        </p:txBody>
      </p:sp>
      <p:sp>
        <p:nvSpPr>
          <p:cNvPr id="19" name="Oval 18"/>
          <p:cNvSpPr/>
          <p:nvPr/>
        </p:nvSpPr>
        <p:spPr>
          <a:xfrm>
            <a:off x="548640" y="53304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Plan the drug and non-drug treatment of generalised anxiety disorder and insomnia.</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1173987"/>
          </a:xfrm>
          <a:prstGeom prst="rect">
            <a:avLst/>
          </a:prstGeom>
          <a:noFill/>
        </p:spPr>
        <p:txBody>
          <a:bodyPr wrap="square" anchor="t" lIns="0" rIns="0" tIns="0" bIns="0">
            <a:spAutoFit/>
          </a:bodyPr>
          <a:lstStyle/>
          <a:p>
            <a:r>
              <a:rPr sz="2200" i="0" b="0">
                <a:solidFill>
                  <a:srgbClr val="1A1F36"/>
                </a:solidFill>
                <a:latin typeface="Calibri"/>
              </a:rPr>
              <a:t>Anxiety, Insomnia and CNS Depression</a:t>
            </a:r>
          </a:p>
        </p:txBody>
      </p:sp>
      <p:sp>
        <p:nvSpPr>
          <p:cNvPr id="13" name="Oval 12"/>
          <p:cNvSpPr/>
          <p:nvPr/>
        </p:nvSpPr>
        <p:spPr>
          <a:xfrm>
            <a:off x="548640" y="279247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810764"/>
            <a:ext cx="4678527" cy="824737"/>
          </a:xfrm>
          <a:prstGeom prst="rect">
            <a:avLst/>
          </a:prstGeom>
          <a:noFill/>
        </p:spPr>
        <p:txBody>
          <a:bodyPr wrap="square" anchor="t" lIns="0" rIns="0" tIns="0" bIns="0">
            <a:spAutoFit/>
          </a:bodyPr>
          <a:lstStyle/>
          <a:p>
            <a:r>
              <a:rPr sz="2200" i="0" b="0">
                <a:solidFill>
                  <a:srgbClr val="1A1F36"/>
                </a:solidFill>
                <a:latin typeface="Calibri"/>
              </a:rPr>
              <a:t>Benzodiazepines</a:t>
            </a:r>
          </a:p>
        </p:txBody>
      </p:sp>
      <p:sp>
        <p:nvSpPr>
          <p:cNvPr id="15" name="Oval 14"/>
          <p:cNvSpPr/>
          <p:nvPr/>
        </p:nvSpPr>
        <p:spPr>
          <a:xfrm>
            <a:off x="548640" y="3662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681221"/>
            <a:ext cx="4678527" cy="824737"/>
          </a:xfrm>
          <a:prstGeom prst="rect">
            <a:avLst/>
          </a:prstGeom>
          <a:noFill/>
        </p:spPr>
        <p:txBody>
          <a:bodyPr wrap="square" anchor="t" lIns="0" rIns="0" tIns="0" bIns="0">
            <a:spAutoFit/>
          </a:bodyPr>
          <a:lstStyle/>
          <a:p>
            <a:r>
              <a:rPr sz="2200" i="0" b="0">
                <a:solidFill>
                  <a:srgbClr val="1A1F36"/>
                </a:solidFill>
                <a:latin typeface="Calibri"/>
              </a:rPr>
              <a:t>Other Anxiolytics</a:t>
            </a:r>
          </a:p>
        </p:txBody>
      </p:sp>
      <p:sp>
        <p:nvSpPr>
          <p:cNvPr id="17" name="Oval 16"/>
          <p:cNvSpPr/>
          <p:nvPr/>
        </p:nvSpPr>
        <p:spPr>
          <a:xfrm>
            <a:off x="548640" y="453339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551680"/>
            <a:ext cx="4678527" cy="824737"/>
          </a:xfrm>
          <a:prstGeom prst="rect">
            <a:avLst/>
          </a:prstGeom>
          <a:noFill/>
        </p:spPr>
        <p:txBody>
          <a:bodyPr wrap="square" anchor="t" lIns="0" rIns="0" tIns="0" bIns="0">
            <a:spAutoFit/>
          </a:bodyPr>
          <a:lstStyle/>
          <a:p>
            <a:r>
              <a:rPr sz="2200" i="0" b="0">
                <a:solidFill>
                  <a:srgbClr val="1A1F36"/>
                </a:solidFill>
                <a:latin typeface="Calibri"/>
              </a:rPr>
              <a:t>Barbiturates</a:t>
            </a:r>
          </a:p>
        </p:txBody>
      </p:sp>
      <p:sp>
        <p:nvSpPr>
          <p:cNvPr id="19" name="Oval 18"/>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Other Hypnotics</a:t>
            </a:r>
          </a:p>
        </p:txBody>
      </p:sp>
      <p:sp>
        <p:nvSpPr>
          <p:cNvPr id="21" name="Oval 20"/>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3" name="Oval 22"/>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5" name="Oval 24"/>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6" name="TextBox 25"/>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Anxiety, Insomnia and CNS Depression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1420085"/>
                <a:gridCol w="3638968"/>
                <a:gridCol w="6035361"/>
              </a:tblGrid>
              <a:tr h="640080">
                <a:tc>
                  <a:txBody>
                    <a:bodyPr/>
                    <a:lstStyle/>
                    <a:p>
                      <a:r>
                        <a:rPr sz="1700" i="0" b="1">
                          <a:solidFill>
                            <a:srgbClr val="FFFFFF"/>
                          </a:solidFill>
                          <a:latin typeface="Calibri"/>
                        </a:rPr>
                        <a:t>Dose</a:t>
                      </a:r>
                    </a:p>
                  </a:txBody>
                  <a:tcPr marL="109728" marR="109728" marT="45720" marB="45720" anchor="ctr">
                    <a:solidFill>
                      <a:srgbClr val="1B2A8C"/>
                    </a:solidFill>
                  </a:tcPr>
                </a:tc>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Examples</a:t>
                      </a:r>
                    </a:p>
                  </a:txBody>
                  <a:tcPr marL="109728" marR="109728" marT="45720" marB="45720" anchor="ctr">
                    <a:solidFill>
                      <a:srgbClr val="1B2A8C"/>
                    </a:solidFill>
                  </a:tcPr>
                </a:tc>
              </a:tr>
              <a:tr h="640080">
                <a:tc>
                  <a:txBody>
                    <a:bodyPr/>
                    <a:lstStyle/>
                    <a:p>
                      <a:r>
                        <a:rPr sz="1800" i="0" b="1">
                          <a:solidFill>
                            <a:srgbClr val="1A1F36"/>
                          </a:solidFill>
                          <a:latin typeface="Calibri"/>
                        </a:rPr>
                        <a:t>Low</a:t>
                      </a:r>
                    </a:p>
                  </a:txBody>
                  <a:tcPr marL="109728" marR="109728" marT="45720" marB="45720" anchor="ctr">
                    <a:solidFill>
                      <a:srgbClr val="FFFFFF"/>
                    </a:solidFill>
                  </a:tcPr>
                </a:tc>
                <a:tc>
                  <a:txBody>
                    <a:bodyPr/>
                    <a:lstStyle/>
                    <a:p>
                      <a:r>
                        <a:rPr sz="1800" i="0" b="0">
                          <a:solidFill>
                            <a:srgbClr val="1A1F36"/>
                          </a:solidFill>
                          <a:latin typeface="Calibri"/>
                        </a:rPr>
                        <a:t>Anxiety relief (anxiolysis)</a:t>
                      </a:r>
                    </a:p>
                  </a:txBody>
                  <a:tcPr marL="109728" marR="109728" marT="45720" marB="45720" anchor="ctr">
                    <a:solidFill>
                      <a:srgbClr val="FFFFFF"/>
                    </a:solidFill>
                  </a:tcPr>
                </a:tc>
                <a:tc>
                  <a:txBody>
                    <a:bodyPr/>
                    <a:lstStyle/>
                    <a:p>
                      <a:r>
                        <a:rPr sz="1800" i="0" b="0">
                          <a:solidFill>
                            <a:srgbClr val="1A1F36"/>
                          </a:solidFill>
                          <a:latin typeface="Calibri"/>
                        </a:rPr>
                        <a:t>Benzodiazepines; buspirone and antidepressants act differently</a:t>
                      </a:r>
                    </a:p>
                  </a:txBody>
                  <a:tcPr marL="109728" marR="109728" marT="45720" marB="45720" anchor="ctr">
                    <a:solidFill>
                      <a:srgbClr val="FFFFFF"/>
                    </a:solidFill>
                  </a:tcPr>
                </a:tc>
              </a:tr>
              <a:tr h="640080">
                <a:tc>
                  <a:txBody>
                    <a:bodyPr/>
                    <a:lstStyle/>
                    <a:p>
                      <a:r>
                        <a:rPr sz="1800" i="0" b="1">
                          <a:solidFill>
                            <a:srgbClr val="1A1F36"/>
                          </a:solidFill>
                          <a:latin typeface="Calibri"/>
                        </a:rPr>
                        <a:t>Moderate</a:t>
                      </a:r>
                    </a:p>
                  </a:txBody>
                  <a:tcPr marL="109728" marR="109728" marT="45720" marB="45720" anchor="ctr">
                    <a:solidFill>
                      <a:srgbClr val="F1F2F8"/>
                    </a:solidFill>
                  </a:tcPr>
                </a:tc>
                <a:tc>
                  <a:txBody>
                    <a:bodyPr/>
                    <a:lstStyle/>
                    <a:p>
                      <a:r>
                        <a:rPr sz="1800" i="0" b="0">
                          <a:solidFill>
                            <a:srgbClr val="1A1F36"/>
                          </a:solidFill>
                          <a:latin typeface="Calibri"/>
                        </a:rPr>
                        <a:t>Sedation</a:t>
                      </a:r>
                    </a:p>
                  </a:txBody>
                  <a:tcPr marL="109728" marR="109728" marT="45720" marB="45720" anchor="ctr">
                    <a:solidFill>
                      <a:srgbClr val="F1F2F8"/>
                    </a:solidFill>
                  </a:tcPr>
                </a:tc>
                <a:tc>
                  <a:txBody>
                    <a:bodyPr/>
                    <a:lstStyle/>
                    <a:p>
                      <a:r>
                        <a:rPr sz="1800" i="0" b="0">
                          <a:solidFill>
                            <a:srgbClr val="1A1F36"/>
                          </a:solidFill>
                          <a:latin typeface="Calibri"/>
                        </a:rPr>
                        <a:t>Benzodiazepines, barbiturates, sedating antihistamines</a:t>
                      </a:r>
                    </a:p>
                  </a:txBody>
                  <a:tcPr marL="109728" marR="109728" marT="45720" marB="45720" anchor="ctr">
                    <a:solidFill>
                      <a:srgbClr val="F1F2F8"/>
                    </a:solidFill>
                  </a:tcPr>
                </a:tc>
              </a:tr>
              <a:tr h="640080">
                <a:tc>
                  <a:txBody>
                    <a:bodyPr/>
                    <a:lstStyle/>
                    <a:p>
                      <a:r>
                        <a:rPr sz="1800" i="0" b="1">
                          <a:solidFill>
                            <a:srgbClr val="1A1F36"/>
                          </a:solidFill>
                          <a:latin typeface="Calibri"/>
                        </a:rPr>
                        <a:t>Higher</a:t>
                      </a:r>
                    </a:p>
                  </a:txBody>
                  <a:tcPr marL="109728" marR="109728" marT="45720" marB="45720" anchor="ctr">
                    <a:solidFill>
                      <a:srgbClr val="FFFFFF"/>
                    </a:solidFill>
                  </a:tcPr>
                </a:tc>
                <a:tc>
                  <a:txBody>
                    <a:bodyPr/>
                    <a:lstStyle/>
                    <a:p>
                      <a:r>
                        <a:rPr sz="1800" i="0" b="0">
                          <a:solidFill>
                            <a:srgbClr val="1A1F36"/>
                          </a:solidFill>
                          <a:latin typeface="Calibri"/>
                        </a:rPr>
                        <a:t>Sleep (hypnosis)</a:t>
                      </a:r>
                    </a:p>
                  </a:txBody>
                  <a:tcPr marL="109728" marR="109728" marT="45720" marB="45720" anchor="ctr">
                    <a:solidFill>
                      <a:srgbClr val="FFFFFF"/>
                    </a:solidFill>
                  </a:tcPr>
                </a:tc>
                <a:tc>
                  <a:txBody>
                    <a:bodyPr/>
                    <a:lstStyle/>
                    <a:p>
                      <a:r>
                        <a:rPr sz="1800" i="0" b="0">
                          <a:solidFill>
                            <a:srgbClr val="1A1F36"/>
                          </a:solidFill>
                          <a:latin typeface="Calibri"/>
                        </a:rPr>
                        <a:t>Benzodiazepines, Z-drugs, barbiturates</a:t>
                      </a:r>
                    </a:p>
                  </a:txBody>
                  <a:tcPr marL="109728" marR="109728" marT="45720" marB="45720" anchor="ctr">
                    <a:solidFill>
                      <a:srgbClr val="FFFFFF"/>
                    </a:solidFill>
                  </a:tcPr>
                </a:tc>
              </a:tr>
              <a:tr h="640080">
                <a:tc>
                  <a:txBody>
                    <a:bodyPr/>
                    <a:lstStyle/>
                    <a:p>
                      <a:r>
                        <a:rPr sz="1800" i="0" b="1">
                          <a:solidFill>
                            <a:srgbClr val="1A1F36"/>
                          </a:solidFill>
                          <a:latin typeface="Calibri"/>
                        </a:rPr>
                        <a:t>High</a:t>
                      </a:r>
                    </a:p>
                  </a:txBody>
                  <a:tcPr marL="109728" marR="109728" marT="45720" marB="45720" anchor="ctr">
                    <a:solidFill>
                      <a:srgbClr val="F1F2F8"/>
                    </a:solidFill>
                  </a:tcPr>
                </a:tc>
                <a:tc>
                  <a:txBody>
                    <a:bodyPr/>
                    <a:lstStyle/>
                    <a:p>
                      <a:r>
                        <a:rPr sz="1800" i="0" b="0">
                          <a:solidFill>
                            <a:srgbClr val="1A1F36"/>
                          </a:solidFill>
                          <a:latin typeface="Calibri"/>
                        </a:rPr>
                        <a:t>General anaesthesia</a:t>
                      </a:r>
                    </a:p>
                  </a:txBody>
                  <a:tcPr marL="109728" marR="109728" marT="45720" marB="45720" anchor="ctr">
                    <a:solidFill>
                      <a:srgbClr val="F1F2F8"/>
                    </a:solidFill>
                  </a:tcPr>
                </a:tc>
                <a:tc>
                  <a:txBody>
                    <a:bodyPr/>
                    <a:lstStyle/>
                    <a:p>
                      <a:r>
                        <a:rPr sz="1800" i="0" b="0">
                          <a:solidFill>
                            <a:srgbClr val="1A1F36"/>
                          </a:solidFill>
                          <a:latin typeface="Calibri"/>
                        </a:rPr>
                        <a:t>Midazolam, thiopental</a:t>
                      </a:r>
                    </a:p>
                  </a:txBody>
                  <a:tcPr marL="109728" marR="109728" marT="45720" marB="45720" anchor="ctr">
                    <a:solidFill>
                      <a:srgbClr val="F1F2F8"/>
                    </a:solidFill>
                  </a:tcPr>
                </a:tc>
              </a:tr>
              <a:tr h="640080">
                <a:tc>
                  <a:txBody>
                    <a:bodyPr/>
                    <a:lstStyle/>
                    <a:p>
                      <a:r>
                        <a:rPr sz="1800" i="0" b="1">
                          <a:solidFill>
                            <a:srgbClr val="1A1F36"/>
                          </a:solidFill>
                          <a:latin typeface="Calibri"/>
                        </a:rPr>
                        <a:t>Toxic</a:t>
                      </a:r>
                    </a:p>
                  </a:txBody>
                  <a:tcPr marL="109728" marR="109728" marT="45720" marB="45720" anchor="ctr">
                    <a:solidFill>
                      <a:srgbClr val="FFFFFF"/>
                    </a:solidFill>
                  </a:tcPr>
                </a:tc>
                <a:tc>
                  <a:txBody>
                    <a:bodyPr/>
                    <a:lstStyle/>
                    <a:p>
                      <a:r>
                        <a:rPr sz="1800" i="0" b="0">
                          <a:solidFill>
                            <a:srgbClr val="1A1F36"/>
                          </a:solidFill>
                          <a:latin typeface="Calibri"/>
                        </a:rPr>
                        <a:t>Coma, breathing depression, death</a:t>
                      </a:r>
                    </a:p>
                  </a:txBody>
                  <a:tcPr marL="109728" marR="109728" marT="45720" marB="45720" anchor="ctr">
                    <a:solidFill>
                      <a:srgbClr val="FFFFFF"/>
                    </a:solidFill>
                  </a:tcPr>
                </a:tc>
                <a:tc>
                  <a:txBody>
                    <a:bodyPr/>
                    <a:lstStyle/>
                    <a:p>
                      <a:r>
                        <a:rPr sz="1800" i="0" b="0">
                          <a:solidFill>
                            <a:srgbClr val="1A1F36"/>
                          </a:solidFill>
                          <a:latin typeface="Calibri"/>
                        </a:rPr>
                        <a:t>Barbiturates alone; benzodiazepines mainly with other depressants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Mechanism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Benzodiazepines bind to their own site on the GABA-A receptor, at the junction of the α and γ subunits. This site is separate from the GABA site. They are </a:t>
            </a:r>
            <a:r>
              <a:rPr sz="1800" i="0" b="1">
                <a:solidFill>
                  <a:srgbClr val="1A1F36"/>
                </a:solidFill>
                <a:latin typeface="Calibri"/>
              </a:rPr>
              <a:t>positive allosteric modulators</a:t>
            </a:r>
            <a:r>
              <a:rPr sz="1800" i="0" b="0">
                <a:solidFill>
                  <a:srgbClr val="1A1F36"/>
                </a:solidFill>
                <a:latin typeface="Calibri"/>
              </a:rPr>
              <a:t>: they do not open the channel alone. They make GABA more effective, so the channel </a:t>
            </a:r>
            <a:r>
              <a:rPr sz="1800" i="0" b="1">
                <a:solidFill>
                  <a:srgbClr val="1A1F36"/>
                </a:solidFill>
                <a:latin typeface="Calibri"/>
              </a:rPr>
              <a:t>opens more often</a:t>
            </a:r>
            <a:r>
              <a:rPr sz="1800" i="0" b="0">
                <a:solidFill>
                  <a:srgbClr val="1A1F36"/>
                </a:solidFill>
                <a:latin typeface="Calibri"/>
              </a:rPr>
              <a:t> when GABA binds. More Cl- enters, and the neuron is inhibited.</a:t>
            </a:r>
          </a:p>
        </p:txBody>
      </p:sp>
      <p:pic>
        <p:nvPicPr>
          <p:cNvPr id="12" name="Picture 11" descr="Top view of five subunits (two alpha, two beta, one gamma) around a chloride channel, with GABA sites between alpha and beta and the benzodiazepine site between alpha and gamma. A side panel summarises the action of each drug group."/>
          <p:cNvPicPr>
            <a:picLocks noChangeAspect="1"/>
          </p:cNvPicPr>
          <p:nvPr/>
        </p:nvPicPr>
        <p:blipFill>
          <a:blip r:embed="rId5"/>
          <a:stretch>
            <a:fillRect/>
          </a:stretch>
        </p:blipFill>
        <p:spPr>
          <a:xfrm>
            <a:off x="3450519" y="3127248"/>
            <a:ext cx="5290657" cy="2587752"/>
          </a:xfrm>
          <a:prstGeom prst="rect">
            <a:avLst/>
          </a:prstGeom>
        </p:spPr>
      </p:pic>
      <p:sp>
        <p:nvSpPr>
          <p:cNvPr id="13" name="TextBox 12"/>
          <p:cNvSpPr txBox="1"/>
          <p:nvPr/>
        </p:nvSpPr>
        <p:spPr>
          <a:xfrm>
            <a:off x="548640" y="5806440"/>
            <a:ext cx="11094415" cy="365760"/>
          </a:xfrm>
          <a:prstGeom prst="rect">
            <a:avLst/>
          </a:prstGeom>
          <a:noFill/>
        </p:spPr>
        <p:txBody>
          <a:bodyPr wrap="square" anchor="t" lIns="0" rIns="0" tIns="0" bIns="0">
            <a:spAutoFit/>
          </a:bodyPr>
          <a:lstStyle/>
          <a:p>
            <a:pPr algn="ctr"/>
            <a:r>
              <a:rPr sz="1300" i="1" b="0">
                <a:solidFill>
                  <a:srgbClr val="5A6072"/>
                </a:solidFill>
                <a:latin typeface="Calibri"/>
              </a:rPr>
              <a:t>The GABA-A receptor and the binding sites of GABA, benzodiazepines, Z-drugs, barbiturates and flumazenil.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Classes by duration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Because they need GABA to act, benzodiazepines have a ceiling effect. Alone, even in large overdose, they rarely stop breathing in healthy adults.</a:t>
            </a:r>
          </a:p>
        </p:txBody>
      </p:sp>
      <p:graphicFrame>
        <p:nvGraphicFramePr>
          <p:cNvPr id="12" name="Table 11"/>
          <p:cNvGraphicFramePr>
            <a:graphicFrameLocks noGrp="1"/>
          </p:cNvGraphicFramePr>
          <p:nvPr/>
        </p:nvGraphicFramePr>
        <p:xfrm>
          <a:off x="548640" y="2532887"/>
          <a:ext cx="11094413" cy="2560320"/>
        </p:xfrm>
        <a:graphic>
          <a:graphicData uri="http://schemas.openxmlformats.org/drawingml/2006/table">
            <a:tbl>
              <a:tblPr firstRow="0" bandRow="0">
                <a:tableStyleId>{5C22544A-7EE6-4342-B048-85BDC9FD1C3A}</a:tableStyleId>
              </a:tblPr>
              <a:tblGrid>
                <a:gridCol w="2795904"/>
                <a:gridCol w="4205725"/>
                <a:gridCol w="4092784"/>
              </a:tblGrid>
              <a:tr h="640080">
                <a:tc>
                  <a:txBody>
                    <a:bodyPr/>
                    <a:lstStyle/>
                    <a:p>
                      <a:r>
                        <a:rPr sz="1700" i="0" b="1">
                          <a:solidFill>
                            <a:srgbClr val="FFFFFF"/>
                          </a:solidFill>
                          <a:latin typeface="Calibri"/>
                        </a:rPr>
                        <a:t>Class</a:t>
                      </a:r>
                    </a:p>
                  </a:txBody>
                  <a:tcPr marL="109728" marR="109728" marT="45720" marB="45720" anchor="ctr">
                    <a:solidFill>
                      <a:srgbClr val="1B2A8C"/>
                    </a:solidFill>
                  </a:tcPr>
                </a:tc>
                <a:tc>
                  <a:txBody>
                    <a:bodyPr/>
                    <a:lstStyle/>
                    <a:p>
                      <a:r>
                        <a:rPr sz="1700" i="0" b="1">
                          <a:solidFill>
                            <a:srgbClr val="FFFFFF"/>
                          </a:solidFill>
                          <a:latin typeface="Calibri"/>
                        </a:rPr>
                        <a:t>Examples</a:t>
                      </a:r>
                    </a:p>
                  </a:txBody>
                  <a:tcPr marL="109728" marR="109728" marT="45720" marB="45720" anchor="ctr">
                    <a:solidFill>
                      <a:srgbClr val="1B2A8C"/>
                    </a:solidFill>
                  </a:tcPr>
                </a:tc>
                <a:tc>
                  <a:txBody>
                    <a:bodyPr/>
                    <a:lstStyle/>
                    <a:p>
                      <a:r>
                        <a:rPr sz="1700" i="0" b="1">
                          <a:solidFill>
                            <a:srgbClr val="FFFFFF"/>
                          </a:solidFill>
                          <a:latin typeface="Calibri"/>
                        </a:rPr>
                        <a:t>Notes</a:t>
                      </a:r>
                    </a:p>
                  </a:txBody>
                  <a:tcPr marL="109728" marR="109728" marT="45720" marB="45720" anchor="ctr">
                    <a:solidFill>
                      <a:srgbClr val="1B2A8C"/>
                    </a:solidFill>
                  </a:tcPr>
                </a:tc>
              </a:tr>
              <a:tr h="640080">
                <a:tc>
                  <a:txBody>
                    <a:bodyPr/>
                    <a:lstStyle/>
                    <a:p>
                      <a:r>
                        <a:rPr sz="1800" i="0" b="1">
                          <a:solidFill>
                            <a:srgbClr val="1A1F36"/>
                          </a:solidFill>
                          <a:latin typeface="Calibri"/>
                        </a:rPr>
                        <a:t>Short-acting</a:t>
                      </a:r>
                    </a:p>
                  </a:txBody>
                  <a:tcPr marL="109728" marR="109728" marT="45720" marB="45720" anchor="ctr">
                    <a:solidFill>
                      <a:srgbClr val="FFFFFF"/>
                    </a:solidFill>
                  </a:tcPr>
                </a:tc>
                <a:tc>
                  <a:txBody>
                    <a:bodyPr/>
                    <a:lstStyle/>
                    <a:p>
                      <a:r>
                        <a:rPr sz="1800" i="0" b="0">
                          <a:solidFill>
                            <a:srgbClr val="1A1F36"/>
                          </a:solidFill>
                          <a:latin typeface="Calibri"/>
                        </a:rPr>
                        <a:t>Midazolam, triazolam</a:t>
                      </a:r>
                    </a:p>
                  </a:txBody>
                  <a:tcPr marL="109728" marR="109728" marT="45720" marB="45720" anchor="ctr">
                    <a:solidFill>
                      <a:srgbClr val="FFFFFF"/>
                    </a:solidFill>
                  </a:tcPr>
                </a:tc>
                <a:tc>
                  <a:txBody>
                    <a:bodyPr/>
                    <a:lstStyle/>
                    <a:p>
                      <a:r>
                        <a:rPr sz="1800" i="0" b="0">
                          <a:solidFill>
                            <a:srgbClr val="1A1F36"/>
                          </a:solidFill>
                          <a:latin typeface="Calibri"/>
                        </a:rPr>
                        <a:t>Midazolam is used IV for procedures; triazolam for trouble falling asleep</a:t>
                      </a:r>
                    </a:p>
                  </a:txBody>
                  <a:tcPr marL="109728" marR="109728" marT="45720" marB="45720" anchor="ctr">
                    <a:solidFill>
                      <a:srgbClr val="FFFFFF"/>
                    </a:solidFill>
                  </a:tcPr>
                </a:tc>
              </a:tr>
              <a:tr h="640080">
                <a:tc>
                  <a:txBody>
                    <a:bodyPr/>
                    <a:lstStyle/>
                    <a:p>
                      <a:r>
                        <a:rPr sz="1800" i="0" b="1">
                          <a:solidFill>
                            <a:srgbClr val="1A1F36"/>
                          </a:solidFill>
                          <a:latin typeface="Calibri"/>
                        </a:rPr>
                        <a:t>Intermediate-acting</a:t>
                      </a:r>
                    </a:p>
                  </a:txBody>
                  <a:tcPr marL="109728" marR="109728" marT="45720" marB="45720" anchor="ctr">
                    <a:solidFill>
                      <a:srgbClr val="F1F2F8"/>
                    </a:solidFill>
                  </a:tcPr>
                </a:tc>
                <a:tc>
                  <a:txBody>
                    <a:bodyPr/>
                    <a:lstStyle/>
                    <a:p>
                      <a:r>
                        <a:rPr sz="1800" i="0" b="0">
                          <a:solidFill>
                            <a:srgbClr val="1A1F36"/>
                          </a:solidFill>
                          <a:latin typeface="Calibri"/>
                        </a:rPr>
                        <a:t>Alprazolam, lorazepam, oxazepam, temazepam</a:t>
                      </a:r>
                    </a:p>
                  </a:txBody>
                  <a:tcPr marL="109728" marR="109728" marT="45720" marB="45720" anchor="ctr">
                    <a:solidFill>
                      <a:srgbClr val="F1F2F8"/>
                    </a:solidFill>
                  </a:tcPr>
                </a:tc>
                <a:tc>
                  <a:txBody>
                    <a:bodyPr/>
                    <a:lstStyle/>
                    <a:p>
                      <a:r>
                        <a:rPr sz="1800" i="0" b="0">
                          <a:solidFill>
                            <a:srgbClr val="1A1F36"/>
                          </a:solidFill>
                          <a:latin typeface="Calibri"/>
                        </a:rPr>
                        <a:t>Lorazepam and oxazepam have no active metabolites; safer in older people and in liver disease</a:t>
                      </a:r>
                    </a:p>
                  </a:txBody>
                  <a:tcPr marL="109728" marR="109728" marT="45720" marB="45720" anchor="ctr">
                    <a:solidFill>
                      <a:srgbClr val="F1F2F8"/>
                    </a:solidFill>
                  </a:tcPr>
                </a:tc>
              </a:tr>
              <a:tr h="640080">
                <a:tc>
                  <a:txBody>
                    <a:bodyPr/>
                    <a:lstStyle/>
                    <a:p>
                      <a:r>
                        <a:rPr sz="1800" i="0" b="1">
                          <a:solidFill>
                            <a:srgbClr val="1A1F36"/>
                          </a:solidFill>
                          <a:latin typeface="Calibri"/>
                        </a:rPr>
                        <a:t>Long-acting</a:t>
                      </a:r>
                    </a:p>
                  </a:txBody>
                  <a:tcPr marL="109728" marR="109728" marT="45720" marB="45720" anchor="ctr">
                    <a:solidFill>
                      <a:srgbClr val="FFFFFF"/>
                    </a:solidFill>
                  </a:tcPr>
                </a:tc>
                <a:tc>
                  <a:txBody>
                    <a:bodyPr/>
                    <a:lstStyle/>
                    <a:p>
                      <a:r>
                        <a:rPr sz="1800" i="0" b="0">
                          <a:solidFill>
                            <a:srgbClr val="1A1F36"/>
                          </a:solidFill>
                          <a:latin typeface="Calibri"/>
                        </a:rPr>
                        <a:t>Diazepam, chlordiazepoxide, clonazepam, flurazepam</a:t>
                      </a:r>
                    </a:p>
                  </a:txBody>
                  <a:tcPr marL="109728" marR="109728" marT="45720" marB="45720" anchor="ctr">
                    <a:solidFill>
                      <a:srgbClr val="FFFFFF"/>
                    </a:solidFill>
                  </a:tcPr>
                </a:tc>
                <a:tc>
                  <a:txBody>
                    <a:bodyPr/>
                    <a:lstStyle/>
                    <a:p>
                      <a:r>
                        <a:rPr sz="1800" i="0" b="0">
                          <a:solidFill>
                            <a:srgbClr val="1A1F36"/>
                          </a:solidFill>
                          <a:latin typeface="Calibri"/>
                        </a:rPr>
                        <a:t>Diazepam lasts 20–80 hours plus its active metabolite nordiazepam; hangover and build-up in older people</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Uses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Kinetics.</a:t>
            </a:r>
            <a:r>
              <a:rPr sz="1700" i="0" b="0">
                <a:solidFill>
                  <a:srgbClr val="1A1F36"/>
                </a:solidFill>
                <a:latin typeface="Calibri"/>
              </a:rPr>
              <a:t>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a:t>
            </a:r>
          </a:p>
          <a:p>
            <a:pPr>
              <a:spcAft>
                <a:spcPts val="800"/>
              </a:spcAft>
            </a:pPr>
            <a:r>
              <a:rPr sz="1700" i="0" b="1">
                <a:solidFill>
                  <a:srgbClr val="1A1F36"/>
                </a:solidFill>
                <a:latin typeface="Calibri"/>
              </a:rPr>
              <a:t>Short-term or maintenance use:</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1277874"/>
          </a:xfrm>
          <a:prstGeom prst="rect">
            <a:avLst/>
          </a:prstGeom>
          <a:noFill/>
        </p:spPr>
        <p:txBody>
          <a:bodyPr wrap="square" anchor="t" lIns="0" rIns="0" tIns="0" bIns="0">
            <a:spAutoFit/>
          </a:bodyPr>
          <a:lstStyle/>
          <a:p>
            <a:r>
              <a:rPr sz="2100" i="0" b="0">
                <a:solidFill>
                  <a:srgbClr val="1A1F36"/>
                </a:solidFill>
                <a:latin typeface="Calibri"/>
              </a:rPr>
              <a:t>Short-term relief of severe anxiety or panic, for 2 to 4 weeks, often while an SSRI starts to work.</a:t>
            </a:r>
          </a:p>
        </p:txBody>
      </p:sp>
      <p:sp>
        <p:nvSpPr>
          <p:cNvPr id="14" name="Oval 13"/>
          <p:cNvSpPr/>
          <p:nvPr/>
        </p:nvSpPr>
        <p:spPr>
          <a:xfrm>
            <a:off x="5394959" y="289636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2914650"/>
            <a:ext cx="5653735" cy="611124"/>
          </a:xfrm>
          <a:prstGeom prst="rect">
            <a:avLst/>
          </a:prstGeom>
          <a:noFill/>
        </p:spPr>
        <p:txBody>
          <a:bodyPr wrap="square" anchor="t" lIns="0" rIns="0" tIns="0" bIns="0">
            <a:spAutoFit/>
          </a:bodyPr>
          <a:lstStyle/>
          <a:p>
            <a:r>
              <a:rPr sz="2100" i="0" b="0">
                <a:solidFill>
                  <a:srgbClr val="1A1F36"/>
                </a:solidFill>
                <a:latin typeface="Calibri"/>
              </a:rPr>
              <a:t>Short-term insomnia.</a:t>
            </a:r>
          </a:p>
        </p:txBody>
      </p:sp>
      <p:sp>
        <p:nvSpPr>
          <p:cNvPr id="16" name="Oval 15"/>
          <p:cNvSpPr/>
          <p:nvPr/>
        </p:nvSpPr>
        <p:spPr>
          <a:xfrm>
            <a:off x="5394959"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5989320" y="3571494"/>
            <a:ext cx="5653735" cy="944499"/>
          </a:xfrm>
          <a:prstGeom prst="rect">
            <a:avLst/>
          </a:prstGeom>
          <a:noFill/>
        </p:spPr>
        <p:txBody>
          <a:bodyPr wrap="square" anchor="t" lIns="0" rIns="0" tIns="0" bIns="0">
            <a:spAutoFit/>
          </a:bodyPr>
          <a:lstStyle/>
          <a:p>
            <a:r>
              <a:rPr sz="2100" i="0" b="0">
                <a:solidFill>
                  <a:srgbClr val="1A1F36"/>
                </a:solidFill>
                <a:latin typeface="Calibri"/>
              </a:rPr>
              <a:t>Alcohol withdrawal (chlordiazepoxide or diazepam; lorazepam in liver disease).</a:t>
            </a:r>
          </a:p>
        </p:txBody>
      </p:sp>
      <p:sp>
        <p:nvSpPr>
          <p:cNvPr id="18" name="Oval 17"/>
          <p:cNvSpPr/>
          <p:nvPr/>
        </p:nvSpPr>
        <p:spPr>
          <a:xfrm>
            <a:off x="5394959" y="45434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5989320" y="4561713"/>
            <a:ext cx="5653735" cy="611124"/>
          </a:xfrm>
          <a:prstGeom prst="rect">
            <a:avLst/>
          </a:prstGeom>
          <a:noFill/>
        </p:spPr>
        <p:txBody>
          <a:bodyPr wrap="square" anchor="t" lIns="0" rIns="0" tIns="0" bIns="0">
            <a:spAutoFit/>
          </a:bodyPr>
          <a:lstStyle/>
          <a:p>
            <a:r>
              <a:rPr sz="2100" i="0" b="0">
                <a:solidFill>
                  <a:srgbClr val="1A1F36"/>
                </a:solidFill>
                <a:latin typeface="Calibri"/>
              </a:rPr>
              <a:t>Muscle spasm and spasticity (diazepam).</a:t>
            </a:r>
          </a:p>
        </p:txBody>
      </p:sp>
      <p:sp>
        <p:nvSpPr>
          <p:cNvPr id="20" name="Oval 19"/>
          <p:cNvSpPr/>
          <p:nvPr/>
        </p:nvSpPr>
        <p:spPr>
          <a:xfrm>
            <a:off x="5394959" y="520026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1" name="TextBox 20"/>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Some seizure types (clonazepam, clobazam), as add-on treatment.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Uses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Rescue and procedural use:</a:t>
            </a:r>
          </a:p>
        </p:txBody>
      </p:sp>
      <p:sp>
        <p:nvSpPr>
          <p:cNvPr id="12" name="Oval 11"/>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272284"/>
            <a:ext cx="10500055" cy="1475612"/>
          </a:xfrm>
          <a:prstGeom prst="rect">
            <a:avLst/>
          </a:prstGeom>
          <a:noFill/>
        </p:spPr>
        <p:txBody>
          <a:bodyPr wrap="square" anchor="t" lIns="0" rIns="0" tIns="0" bIns="0">
            <a:spAutoFit/>
          </a:bodyPr>
          <a:lstStyle/>
          <a:p>
            <a:r>
              <a:rPr sz="2100" i="0" b="0">
                <a:solidFill>
                  <a:srgbClr val="1A1F36"/>
                </a:solidFill>
                <a:latin typeface="Calibri"/>
              </a:rPr>
              <a:t>Status epilepticus and prolonged seizures. The drug depends on the route: IV lorazepam, IM or buccal midazolam, or rectal diazepam when there is no IV access (Chapter 5).</a:t>
            </a:r>
          </a:p>
        </p:txBody>
      </p:sp>
      <p:sp>
        <p:nvSpPr>
          <p:cNvPr id="14" name="Oval 13"/>
          <p:cNvSpPr/>
          <p:nvPr/>
        </p:nvSpPr>
        <p:spPr>
          <a:xfrm>
            <a:off x="548640" y="377532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793616"/>
            <a:ext cx="10500055" cy="808863"/>
          </a:xfrm>
          <a:prstGeom prst="rect">
            <a:avLst/>
          </a:prstGeom>
          <a:noFill/>
        </p:spPr>
        <p:txBody>
          <a:bodyPr wrap="square" anchor="t" lIns="0" rIns="0" tIns="0" bIns="0">
            <a:spAutoFit/>
          </a:bodyPr>
          <a:lstStyle/>
          <a:p>
            <a:r>
              <a:rPr sz="2100" i="0" b="0">
                <a:solidFill>
                  <a:srgbClr val="1A1F36"/>
                </a:solidFill>
                <a:latin typeface="Calibri"/>
              </a:rPr>
              <a:t>Sedation and amnesia for endoscopy and other procedures (IV midazolam).</a:t>
            </a:r>
          </a:p>
        </p:txBody>
      </p:sp>
      <p:sp>
        <p:nvSpPr>
          <p:cNvPr id="16" name="Oval 15"/>
          <p:cNvSpPr/>
          <p:nvPr/>
        </p:nvSpPr>
        <p:spPr>
          <a:xfrm>
            <a:off x="548640" y="462991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648200"/>
            <a:ext cx="10500055" cy="808863"/>
          </a:xfrm>
          <a:prstGeom prst="rect">
            <a:avLst/>
          </a:prstGeom>
          <a:noFill/>
        </p:spPr>
        <p:txBody>
          <a:bodyPr wrap="square" anchor="t" lIns="0" rIns="0" tIns="0" bIns="0">
            <a:spAutoFit/>
          </a:bodyPr>
          <a:lstStyle/>
          <a:p>
            <a:r>
              <a:rPr sz="2100" i="0" b="0">
                <a:solidFill>
                  <a:srgbClr val="1A1F36"/>
                </a:solidFill>
                <a:latin typeface="Calibri"/>
              </a:rPr>
              <a:t>Premedication before anaesthesia.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Benzodiazepines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1561591"/>
            <a:ext cx="8899855" cy="461060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1625599"/>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1790191"/>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247391"/>
            <a:ext cx="8351215" cy="374192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Benzodiazepines have a wide margin of safety when taken </a:t>
            </a:r>
            <a:r>
              <a:rPr sz="2200" i="0" b="1">
                <a:solidFill>
                  <a:srgbClr val="1A1F36"/>
                </a:solidFill>
                <a:latin typeface="Calibri"/>
              </a:rPr>
              <a:t>alone</a:t>
            </a:r>
            <a:r>
              <a:rPr sz="2200" i="0" b="0">
                <a:solidFill>
                  <a:srgbClr val="1A1F36"/>
                </a:solidFill>
                <a:latin typeface="Calibri"/>
              </a:rPr>
              <a:t>. Combined with </a:t>
            </a:r>
            <a:r>
              <a:rPr sz="2200" i="0" b="1">
                <a:solidFill>
                  <a:srgbClr val="1A1F36"/>
                </a:solidFill>
                <a:latin typeface="Calibri"/>
              </a:rPr>
              <a:t>alcohol, opioids or other CNS depressants</a:t>
            </a:r>
            <a:r>
              <a:rPr sz="2200" i="0" b="0">
                <a:solidFill>
                  <a:srgbClr val="1A1F36"/>
                </a:solidFill>
                <a:latin typeface="Calibri"/>
              </a:rPr>
              <a:t>, they can cause deep sedation, breathing depression, coma and death. They carry a boxed warning for this combination, and for misuse, addiction, dependence and withdrawal. In older people they cause falls and confusion. Prescribe the lowest dose for the shortest time, usually no more than 2 to 4 weeks. Warn patients not to drive if drowsy and not to drink alcohol. Taper slowly after regular 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7</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Do not give flumazenil routinely in an unknown overdose. It can cause seizures in patients dependent on benzodiazepines and in mixed overdoses with tricyclic antidepressants. Supportive care is usually enough.</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Anxiolytics, Sedatives and Hypnotics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Buspirone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3354125"/>
                <a:gridCol w="2369819"/>
                <a:gridCol w="2150080"/>
                <a:gridCol w="3220389"/>
              </a:tblGrid>
              <a:tr h="640080">
                <a:tc>
                  <a:txBody>
                    <a:bodyPr/>
                    <a:lstStyle/>
                    <a:p>
                      <a:r>
                        <a:rPr sz="1800" i="0" b="1">
                          <a:solidFill>
                            <a:srgbClr val="FFFFFF"/>
                          </a:solidFill>
                          <a:latin typeface="Calibri"/>
                        </a:rPr>
                        <a:t>Feature</a:t>
                      </a:r>
                    </a:p>
                  </a:txBody>
                  <a:tcPr marL="109728" marR="109728" marT="45720" marB="45720" anchor="ctr">
                    <a:solidFill>
                      <a:srgbClr val="1B2A8C"/>
                    </a:solidFill>
                  </a:tcPr>
                </a:tc>
                <a:tc>
                  <a:txBody>
                    <a:bodyPr/>
                    <a:lstStyle/>
                    <a:p>
                      <a:r>
                        <a:rPr sz="1800" i="0" b="1">
                          <a:solidFill>
                            <a:srgbClr val="FFFFFF"/>
                          </a:solidFill>
                          <a:latin typeface="Calibri"/>
                        </a:rPr>
                        <a:t>Benzodiazepines</a:t>
                      </a:r>
                    </a:p>
                  </a:txBody>
                  <a:tcPr marL="109728" marR="109728" marT="45720" marB="45720" anchor="ctr">
                    <a:solidFill>
                      <a:srgbClr val="1B2A8C"/>
                    </a:solidFill>
                  </a:tcPr>
                </a:tc>
                <a:tc>
                  <a:txBody>
                    <a:bodyPr/>
                    <a:lstStyle/>
                    <a:p>
                      <a:r>
                        <a:rPr sz="1800" i="0" b="1">
                          <a:solidFill>
                            <a:srgbClr val="FFFFFF"/>
                          </a:solidFill>
                          <a:latin typeface="Calibri"/>
                        </a:rPr>
                        <a:t>Buspirone</a:t>
                      </a:r>
                    </a:p>
                  </a:txBody>
                  <a:tcPr marL="109728" marR="109728" marT="45720" marB="45720" anchor="ctr">
                    <a:solidFill>
                      <a:srgbClr val="1B2A8C"/>
                    </a:solidFill>
                  </a:tcPr>
                </a:tc>
                <a:tc>
                  <a:txBody>
                    <a:bodyPr/>
                    <a:lstStyle/>
                    <a:p>
                      <a:r>
                        <a:rPr sz="1800" i="0" b="1">
                          <a:solidFill>
                            <a:srgbClr val="FFFFFF"/>
                          </a:solidFill>
                          <a:latin typeface="Calibri"/>
                        </a:rPr>
                        <a:t>SSRIs/SNRIs</a:t>
                      </a:r>
                    </a:p>
                  </a:txBody>
                  <a:tcPr marL="109728" marR="109728" marT="45720" marB="45720" anchor="ctr">
                    <a:solidFill>
                      <a:srgbClr val="1B2A8C"/>
                    </a:solidFill>
                  </a:tcPr>
                </a:tc>
              </a:tr>
              <a:tr h="640080">
                <a:tc>
                  <a:txBody>
                    <a:bodyPr/>
                    <a:lstStyle/>
                    <a:p>
                      <a:r>
                        <a:rPr sz="1900" i="0" b="1">
                          <a:solidFill>
                            <a:srgbClr val="1A1F36"/>
                          </a:solidFill>
                          <a:latin typeface="Calibri"/>
                        </a:rPr>
                        <a:t>Onset</a:t>
                      </a:r>
                    </a:p>
                  </a:txBody>
                  <a:tcPr marL="109728" marR="109728" marT="45720" marB="45720" anchor="ctr">
                    <a:solidFill>
                      <a:srgbClr val="FFFFFF"/>
                    </a:solidFill>
                  </a:tcPr>
                </a:tc>
                <a:tc>
                  <a:txBody>
                    <a:bodyPr/>
                    <a:lstStyle/>
                    <a:p>
                      <a:r>
                        <a:rPr sz="1900" i="0" b="0">
                          <a:solidFill>
                            <a:srgbClr val="1A1F36"/>
                          </a:solidFill>
                          <a:latin typeface="Calibri"/>
                        </a:rPr>
                        <a:t>Minutes to hours</a:t>
                      </a:r>
                    </a:p>
                  </a:txBody>
                  <a:tcPr marL="109728" marR="109728" marT="45720" marB="45720" anchor="ctr">
                    <a:solidFill>
                      <a:srgbClr val="FFFFFF"/>
                    </a:solidFill>
                  </a:tcPr>
                </a:tc>
                <a:tc>
                  <a:txBody>
                    <a:bodyPr/>
                    <a:lstStyle/>
                    <a:p>
                      <a:r>
                        <a:rPr sz="1900" i="0" b="0">
                          <a:solidFill>
                            <a:srgbClr val="1A1F36"/>
                          </a:solidFill>
                          <a:latin typeface="Calibri"/>
                        </a:rPr>
                        <a:t>1–2 weeks or more</a:t>
                      </a:r>
                    </a:p>
                  </a:txBody>
                  <a:tcPr marL="109728" marR="109728" marT="45720" marB="45720" anchor="ctr">
                    <a:solidFill>
                      <a:srgbClr val="FFFFFF"/>
                    </a:solidFill>
                  </a:tcPr>
                </a:tc>
                <a:tc>
                  <a:txBody>
                    <a:bodyPr/>
                    <a:lstStyle/>
                    <a:p>
                      <a:r>
                        <a:rPr sz="1900" i="0" b="0">
                          <a:solidFill>
                            <a:srgbClr val="1A1F36"/>
                          </a:solidFill>
                          <a:latin typeface="Calibri"/>
                        </a:rPr>
                        <a:t>2–6 weeks</a:t>
                      </a:r>
                    </a:p>
                  </a:txBody>
                  <a:tcPr marL="109728" marR="109728" marT="45720" marB="45720" anchor="ctr">
                    <a:solidFill>
                      <a:srgbClr val="FFFFFF"/>
                    </a:solidFill>
                  </a:tcPr>
                </a:tc>
              </a:tr>
              <a:tr h="640080">
                <a:tc>
                  <a:txBody>
                    <a:bodyPr/>
                    <a:lstStyle/>
                    <a:p>
                      <a:r>
                        <a:rPr sz="1900" i="0" b="1">
                          <a:solidFill>
                            <a:srgbClr val="1A1F36"/>
                          </a:solidFill>
                          <a:latin typeface="Calibri"/>
                        </a:rPr>
                        <a:t>Sedation</a:t>
                      </a:r>
                    </a:p>
                  </a:txBody>
                  <a:tcPr marL="109728" marR="109728" marT="45720" marB="45720" anchor="ctr">
                    <a:solidFill>
                      <a:srgbClr val="F1F2F8"/>
                    </a:solidFill>
                  </a:tcPr>
                </a:tc>
                <a:tc>
                  <a:txBody>
                    <a:bodyPr/>
                    <a:lstStyle/>
                    <a:p>
                      <a:r>
                        <a:rPr sz="1900" i="0" b="0">
                          <a:solidFill>
                            <a:srgbClr val="1A1F36"/>
                          </a:solidFill>
                          <a:latin typeface="Calibri"/>
                        </a:rPr>
                        <a:t>Yes</a:t>
                      </a:r>
                    </a:p>
                  </a:txBody>
                  <a:tcPr marL="109728" marR="109728" marT="45720" marB="45720" anchor="ctr">
                    <a:solidFill>
                      <a:srgbClr val="F1F2F8"/>
                    </a:solidFill>
                  </a:tcPr>
                </a:tc>
                <a:tc>
                  <a:txBody>
                    <a:bodyPr/>
                    <a:lstStyle/>
                    <a:p>
                      <a:r>
                        <a:rPr sz="1900" i="0" b="0">
                          <a:solidFill>
                            <a:srgbClr val="1A1F36"/>
                          </a:solidFill>
                          <a:latin typeface="Calibri"/>
                        </a:rPr>
                        <a:t>Minimal</a:t>
                      </a:r>
                    </a:p>
                  </a:txBody>
                  <a:tcPr marL="109728" marR="109728" marT="45720" marB="45720" anchor="ctr">
                    <a:solidFill>
                      <a:srgbClr val="F1F2F8"/>
                    </a:solidFill>
                  </a:tcPr>
                </a:tc>
                <a:tc>
                  <a:txBody>
                    <a:bodyPr/>
                    <a:lstStyle/>
                    <a:p>
                      <a:r>
                        <a:rPr sz="1900" i="0" b="0">
                          <a:solidFill>
                            <a:srgbClr val="1A1F36"/>
                          </a:solidFill>
                          <a:latin typeface="Calibri"/>
                        </a:rPr>
                        <a:t>Minimal</a:t>
                      </a:r>
                    </a:p>
                  </a:txBody>
                  <a:tcPr marL="109728" marR="109728" marT="45720" marB="45720" anchor="ctr">
                    <a:solidFill>
                      <a:srgbClr val="F1F2F8"/>
                    </a:solidFill>
                  </a:tcPr>
                </a:tc>
              </a:tr>
              <a:tr h="640080">
                <a:tc>
                  <a:txBody>
                    <a:bodyPr/>
                    <a:lstStyle/>
                    <a:p>
                      <a:r>
                        <a:rPr sz="1900" i="0" b="1">
                          <a:solidFill>
                            <a:srgbClr val="1A1F36"/>
                          </a:solidFill>
                          <a:latin typeface="Calibri"/>
                        </a:rPr>
                        <a:t>Dependence</a:t>
                      </a:r>
                    </a:p>
                  </a:txBody>
                  <a:tcPr marL="109728" marR="109728" marT="45720" marB="45720" anchor="ctr">
                    <a:solidFill>
                      <a:srgbClr val="FFFFFF"/>
                    </a:solidFill>
                  </a:tcPr>
                </a:tc>
                <a:tc>
                  <a:txBody>
                    <a:bodyPr/>
                    <a:lstStyle/>
                    <a:p>
                      <a:r>
                        <a:rPr sz="1900" i="0" b="0">
                          <a:solidFill>
                            <a:srgbClr val="1A1F36"/>
                          </a:solidFill>
                          <a:latin typeface="Calibri"/>
                        </a:rPr>
                        <a:t>Yes</a:t>
                      </a:r>
                    </a:p>
                  </a:txBody>
                  <a:tcPr marL="109728" marR="109728" marT="45720" marB="45720" anchor="ctr">
                    <a:solidFill>
                      <a:srgbClr val="FFFFFF"/>
                    </a:solidFill>
                  </a:tcPr>
                </a:tc>
                <a:tc>
                  <a:txBody>
                    <a:bodyPr/>
                    <a:lstStyle/>
                    <a:p>
                      <a:r>
                        <a:rPr sz="1900" i="0" b="0">
                          <a:solidFill>
                            <a:srgbClr val="1A1F36"/>
                          </a:solidFill>
                          <a:latin typeface="Calibri"/>
                        </a:rPr>
                        <a:t>No</a:t>
                      </a:r>
                    </a:p>
                  </a:txBody>
                  <a:tcPr marL="109728" marR="109728" marT="45720" marB="45720" anchor="ctr">
                    <a:solidFill>
                      <a:srgbClr val="FFFFFF"/>
                    </a:solidFill>
                  </a:tcPr>
                </a:tc>
                <a:tc>
                  <a:txBody>
                    <a:bodyPr/>
                    <a:lstStyle/>
                    <a:p>
                      <a:r>
                        <a:rPr sz="1900" i="0" b="0">
                          <a:solidFill>
                            <a:srgbClr val="1A1F36"/>
                          </a:solidFill>
                          <a:latin typeface="Calibri"/>
                        </a:rPr>
                        <a:t>No (but discontinuation symptoms)</a:t>
                      </a:r>
                    </a:p>
                  </a:txBody>
                  <a:tcPr marL="109728" marR="109728" marT="45720" marB="45720" anchor="ctr">
                    <a:solidFill>
                      <a:srgbClr val="FFFFFF"/>
                    </a:solidFill>
                  </a:tcPr>
                </a:tc>
              </a:tr>
              <a:tr h="640080">
                <a:tc>
                  <a:txBody>
                    <a:bodyPr/>
                    <a:lstStyle/>
                    <a:p>
                      <a:r>
                        <a:rPr sz="1900" i="0" b="1">
                          <a:solidFill>
                            <a:srgbClr val="1A1F36"/>
                          </a:solidFill>
                          <a:latin typeface="Calibri"/>
                        </a:rPr>
                        <a:t>Anticonvulsant, muscle relaxant</a:t>
                      </a:r>
                    </a:p>
                  </a:txBody>
                  <a:tcPr marL="109728" marR="109728" marT="45720" marB="45720" anchor="ctr">
                    <a:solidFill>
                      <a:srgbClr val="F1F2F8"/>
                    </a:solidFill>
                  </a:tcPr>
                </a:tc>
                <a:tc>
                  <a:txBody>
                    <a:bodyPr/>
                    <a:lstStyle/>
                    <a:p>
                      <a:r>
                        <a:rPr sz="1900" i="0" b="0">
                          <a:solidFill>
                            <a:srgbClr val="1A1F36"/>
                          </a:solidFill>
                          <a:latin typeface="Calibri"/>
                        </a:rPr>
                        <a:t>Yes</a:t>
                      </a:r>
                    </a:p>
                  </a:txBody>
                  <a:tcPr marL="109728" marR="109728" marT="45720" marB="45720" anchor="ctr">
                    <a:solidFill>
                      <a:srgbClr val="F1F2F8"/>
                    </a:solidFill>
                  </a:tcPr>
                </a:tc>
                <a:tc>
                  <a:txBody>
                    <a:bodyPr/>
                    <a:lstStyle/>
                    <a:p>
                      <a:r>
                        <a:rPr sz="1900" i="0" b="0">
                          <a:solidFill>
                            <a:srgbClr val="1A1F36"/>
                          </a:solidFill>
                          <a:latin typeface="Calibri"/>
                        </a:rPr>
                        <a:t>No</a:t>
                      </a:r>
                    </a:p>
                  </a:txBody>
                  <a:tcPr marL="109728" marR="109728" marT="45720" marB="45720" anchor="ctr">
                    <a:solidFill>
                      <a:srgbClr val="F1F2F8"/>
                    </a:solidFill>
                  </a:tcPr>
                </a:tc>
                <a:tc>
                  <a:txBody>
                    <a:bodyPr/>
                    <a:lstStyle/>
                    <a:p>
                      <a:r>
                        <a:rPr sz="1900" i="0" b="0">
                          <a:solidFill>
                            <a:srgbClr val="1A1F36"/>
                          </a:solidFill>
                          <a:latin typeface="Calibri"/>
                        </a:rPr>
                        <a:t>No</a:t>
                      </a:r>
                    </a:p>
                  </a:txBody>
                  <a:tcPr marL="109728" marR="109728" marT="45720" marB="45720" anchor="ctr">
                    <a:solidFill>
                      <a:srgbClr val="F1F2F8"/>
                    </a:solidFill>
                  </a:tcPr>
                </a:tc>
              </a:tr>
              <a:tr h="640080">
                <a:tc>
                  <a:txBody>
                    <a:bodyPr/>
                    <a:lstStyle/>
                    <a:p>
                      <a:r>
                        <a:rPr sz="1900" i="0" b="1">
                          <a:solidFill>
                            <a:srgbClr val="1A1F36"/>
                          </a:solidFill>
                          <a:latin typeface="Calibri"/>
                        </a:rPr>
                        <a:t>Alcohol interaction</a:t>
                      </a:r>
                    </a:p>
                  </a:txBody>
                  <a:tcPr marL="109728" marR="109728" marT="45720" marB="45720" anchor="ctr">
                    <a:solidFill>
                      <a:srgbClr val="FFFFFF"/>
                    </a:solidFill>
                  </a:tcPr>
                </a:tc>
                <a:tc>
                  <a:txBody>
                    <a:bodyPr/>
                    <a:lstStyle/>
                    <a:p>
                      <a:r>
                        <a:rPr sz="1900" i="0" b="0">
                          <a:solidFill>
                            <a:srgbClr val="1A1F36"/>
                          </a:solidFill>
                          <a:latin typeface="Calibri"/>
                        </a:rPr>
                        <a:t>Dangerous</a:t>
                      </a:r>
                    </a:p>
                  </a:txBody>
                  <a:tcPr marL="109728" marR="109728" marT="45720" marB="45720" anchor="ctr">
                    <a:solidFill>
                      <a:srgbClr val="FFFFFF"/>
                    </a:solidFill>
                  </a:tcPr>
                </a:tc>
                <a:tc>
                  <a:txBody>
                    <a:bodyPr/>
                    <a:lstStyle/>
                    <a:p>
                      <a:r>
                        <a:rPr sz="1900" i="0" b="0">
                          <a:solidFill>
                            <a:srgbClr val="1A1F36"/>
                          </a:solidFill>
                          <a:latin typeface="Calibri"/>
                        </a:rPr>
                        <a:t>Minimal</a:t>
                      </a:r>
                    </a:p>
                  </a:txBody>
                  <a:tcPr marL="109728" marR="109728" marT="45720" marB="45720" anchor="ctr">
                    <a:solidFill>
                      <a:srgbClr val="FFFFFF"/>
                    </a:solidFill>
                  </a:tcPr>
                </a:tc>
                <a:tc>
                  <a:txBody>
                    <a:bodyPr/>
                    <a:lstStyle/>
                    <a:p>
                      <a:r>
                        <a:rPr sz="1900" i="0" b="0">
                          <a:solidFill>
                            <a:srgbClr val="1A1F36"/>
                          </a:solidFill>
                          <a:latin typeface="Calibri"/>
                        </a:rPr>
                        <a:t>Minor</a:t>
                      </a:r>
                    </a:p>
                  </a:txBody>
                  <a:tcPr marL="109728" marR="109728" marT="45720" marB="45720" anchor="ctr">
                    <a:solidFill>
                      <a:srgbClr val="FFFFFF"/>
                    </a:solidFill>
                  </a:tcPr>
                </a:tc>
              </a:tr>
              <a:tr h="640080">
                <a:tc>
                  <a:txBody>
                    <a:bodyPr/>
                    <a:lstStyle/>
                    <a:p>
                      <a:r>
                        <a:rPr sz="1900" i="0" b="1">
                          <a:solidFill>
                            <a:srgbClr val="1A1F36"/>
                          </a:solidFill>
                          <a:latin typeface="Calibri"/>
                        </a:rPr>
                        <a:t>Role in GAD</a:t>
                      </a:r>
                    </a:p>
                  </a:txBody>
                  <a:tcPr marL="109728" marR="109728" marT="45720" marB="45720" anchor="ctr">
                    <a:solidFill>
                      <a:srgbClr val="F1F2F8"/>
                    </a:solidFill>
                  </a:tcPr>
                </a:tc>
                <a:tc>
                  <a:txBody>
                    <a:bodyPr/>
                    <a:lstStyle/>
                    <a:p>
                      <a:r>
                        <a:rPr sz="1900" i="0" b="0">
                          <a:solidFill>
                            <a:srgbClr val="1A1F36"/>
                          </a:solidFill>
                          <a:latin typeface="Calibri"/>
                        </a:rPr>
                        <a:t>Short term only</a:t>
                      </a:r>
                    </a:p>
                  </a:txBody>
                  <a:tcPr marL="109728" marR="109728" marT="45720" marB="45720" anchor="ctr">
                    <a:solidFill>
                      <a:srgbClr val="F1F2F8"/>
                    </a:solidFill>
                  </a:tcPr>
                </a:tc>
                <a:tc>
                  <a:txBody>
                    <a:bodyPr/>
                    <a:lstStyle/>
                    <a:p>
                      <a:r>
                        <a:rPr sz="1900" i="0" b="0">
                          <a:solidFill>
                            <a:srgbClr val="1A1F36"/>
                          </a:solidFill>
                          <a:latin typeface="Calibri"/>
                        </a:rPr>
                        <a:t>Alternative</a:t>
                      </a:r>
                    </a:p>
                  </a:txBody>
                  <a:tcPr marL="109728" marR="109728" marT="45720" marB="45720" anchor="ctr">
                    <a:solidFill>
                      <a:srgbClr val="F1F2F8"/>
                    </a:solidFill>
                  </a:tcPr>
                </a:tc>
                <a:tc>
                  <a:txBody>
                    <a:bodyPr/>
                    <a:lstStyle/>
                    <a:p>
                      <a:r>
                        <a:rPr sz="1900" i="0" b="0">
                          <a:solidFill>
                            <a:srgbClr val="1A1F36"/>
                          </a:solidFill>
                          <a:latin typeface="Calibri"/>
                        </a:rPr>
                        <a:t>First choice</a:t>
                      </a:r>
                    </a:p>
                  </a:txBody>
                  <a:tcPr marL="109728" marR="109728" marT="45720" marB="45720" anchor="ctr">
                    <a:solidFill>
                      <a:srgbClr val="F1F2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Barbiturates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Barbiturates bind a different site on the GABA-A receptor. They make the channel </a:t>
            </a:r>
            <a:r>
              <a:rPr sz="1800" i="0" b="1">
                <a:solidFill>
                  <a:srgbClr val="1A1F36"/>
                </a:solidFill>
                <a:latin typeface="Calibri"/>
              </a:rPr>
              <a:t>stay open longer</a:t>
            </a:r>
            <a:r>
              <a:rPr sz="1800" i="0" b="0">
                <a:solidFill>
                  <a:srgbClr val="1A1F36"/>
                </a:solidFill>
                <a:latin typeface="Calibri"/>
              </a:rPr>
              <a:t>. At high doses they open the channel directly, without GABA, and they also block glutamate receptors. They have no ceiling effect, so overdose causes coma, breathing depression and death.</a:t>
            </a:r>
          </a:p>
        </p:txBody>
      </p:sp>
      <p:graphicFrame>
        <p:nvGraphicFramePr>
          <p:cNvPr id="12" name="Table 11"/>
          <p:cNvGraphicFramePr>
            <a:graphicFrameLocks noGrp="1"/>
          </p:cNvGraphicFramePr>
          <p:nvPr/>
        </p:nvGraphicFramePr>
        <p:xfrm>
          <a:off x="548640" y="3127248"/>
          <a:ext cx="11094413" cy="2560320"/>
        </p:xfrm>
        <a:graphic>
          <a:graphicData uri="http://schemas.openxmlformats.org/drawingml/2006/table">
            <a:tbl>
              <a:tblPr firstRow="0" bandRow="0">
                <a:tableStyleId>{5C22544A-7EE6-4342-B048-85BDC9FD1C3A}</a:tableStyleId>
              </a:tblPr>
              <a:tblGrid>
                <a:gridCol w="2914649"/>
                <a:gridCol w="2181224"/>
                <a:gridCol w="5998540"/>
              </a:tblGrid>
              <a:tr h="640080">
                <a:tc>
                  <a:txBody>
                    <a:bodyPr/>
                    <a:lstStyle/>
                    <a:p>
                      <a:r>
                        <a:rPr sz="1900" i="0" b="1">
                          <a:solidFill>
                            <a:srgbClr val="FFFFFF"/>
                          </a:solidFill>
                          <a:latin typeface="Calibri"/>
                        </a:rPr>
                        <a:t>Class</a:t>
                      </a:r>
                    </a:p>
                  </a:txBody>
                  <a:tcPr marL="109728" marR="109728" marT="45720" marB="45720" anchor="ctr">
                    <a:solidFill>
                      <a:srgbClr val="1B2A8C"/>
                    </a:solidFill>
                  </a:tcPr>
                </a:tc>
                <a:tc>
                  <a:txBody>
                    <a:bodyPr/>
                    <a:lstStyle/>
                    <a:p>
                      <a:r>
                        <a:rPr sz="1900" i="0" b="1">
                          <a:solidFill>
                            <a:srgbClr val="FFFFFF"/>
                          </a:solidFill>
                          <a:latin typeface="Calibri"/>
                        </a:rPr>
                        <a:t>Example</a:t>
                      </a:r>
                    </a:p>
                  </a:txBody>
                  <a:tcPr marL="109728" marR="109728" marT="45720" marB="45720" anchor="ctr">
                    <a:solidFill>
                      <a:srgbClr val="1B2A8C"/>
                    </a:solidFill>
                  </a:tcPr>
                </a:tc>
                <a:tc>
                  <a:txBody>
                    <a:bodyPr/>
                    <a:lstStyle/>
                    <a:p>
                      <a:r>
                        <a:rPr sz="1900" i="0" b="1">
                          <a:solidFill>
                            <a:srgbClr val="FFFFFF"/>
                          </a:solidFill>
                          <a:latin typeface="Calibri"/>
                        </a:rPr>
                        <a:t>Use</a:t>
                      </a:r>
                    </a:p>
                  </a:txBody>
                  <a:tcPr marL="109728" marR="109728" marT="45720" marB="45720" anchor="ctr">
                    <a:solidFill>
                      <a:srgbClr val="1B2A8C"/>
                    </a:solidFill>
                  </a:tcPr>
                </a:tc>
              </a:tr>
              <a:tr h="640080">
                <a:tc>
                  <a:txBody>
                    <a:bodyPr/>
                    <a:lstStyle/>
                    <a:p>
                      <a:r>
                        <a:rPr sz="2000" i="0" b="1">
                          <a:solidFill>
                            <a:srgbClr val="1A1F36"/>
                          </a:solidFill>
                          <a:latin typeface="Calibri"/>
                        </a:rPr>
                        <a:t>Ultra-short-acting</a:t>
                      </a:r>
                    </a:p>
                  </a:txBody>
                  <a:tcPr marL="109728" marR="109728" marT="45720" marB="45720" anchor="ctr">
                    <a:solidFill>
                      <a:srgbClr val="FFFFFF"/>
                    </a:solidFill>
                  </a:tcPr>
                </a:tc>
                <a:tc>
                  <a:txBody>
                    <a:bodyPr/>
                    <a:lstStyle/>
                    <a:p>
                      <a:r>
                        <a:rPr sz="2000" i="0" b="0">
                          <a:solidFill>
                            <a:srgbClr val="1A1F36"/>
                          </a:solidFill>
                          <a:latin typeface="Calibri"/>
                        </a:rPr>
                        <a:t>Thiopental</a:t>
                      </a:r>
                    </a:p>
                  </a:txBody>
                  <a:tcPr marL="109728" marR="109728" marT="45720" marB="45720" anchor="ctr">
                    <a:solidFill>
                      <a:srgbClr val="FFFFFF"/>
                    </a:solidFill>
                  </a:tcPr>
                </a:tc>
                <a:tc>
                  <a:txBody>
                    <a:bodyPr/>
                    <a:lstStyle/>
                    <a:p>
                      <a:r>
                        <a:rPr sz="2000" i="0" b="0">
                          <a:solidFill>
                            <a:srgbClr val="1A1F36"/>
                          </a:solidFill>
                          <a:latin typeface="Calibri"/>
                        </a:rPr>
                        <a:t>Induction of anaesthesia (now mostly replaced by propofol)</a:t>
                      </a:r>
                    </a:p>
                  </a:txBody>
                  <a:tcPr marL="109728" marR="109728" marT="45720" marB="45720" anchor="ctr">
                    <a:solidFill>
                      <a:srgbClr val="FFFFFF"/>
                    </a:solidFill>
                  </a:tcPr>
                </a:tc>
              </a:tr>
              <a:tr h="640080">
                <a:tc>
                  <a:txBody>
                    <a:bodyPr/>
                    <a:lstStyle/>
                    <a:p>
                      <a:r>
                        <a:rPr sz="2000" i="0" b="1">
                          <a:solidFill>
                            <a:srgbClr val="1A1F36"/>
                          </a:solidFill>
                          <a:latin typeface="Calibri"/>
                        </a:rPr>
                        <a:t>Short-acting</a:t>
                      </a:r>
                    </a:p>
                  </a:txBody>
                  <a:tcPr marL="109728" marR="109728" marT="45720" marB="45720" anchor="ctr">
                    <a:solidFill>
                      <a:srgbClr val="F1F2F8"/>
                    </a:solidFill>
                  </a:tcPr>
                </a:tc>
                <a:tc>
                  <a:txBody>
                    <a:bodyPr/>
                    <a:lstStyle/>
                    <a:p>
                      <a:r>
                        <a:rPr sz="2000" i="0" b="0">
                          <a:solidFill>
                            <a:srgbClr val="1A1F36"/>
                          </a:solidFill>
                          <a:latin typeface="Calibri"/>
                        </a:rPr>
                        <a:t>Pentobarbital</a:t>
                      </a:r>
                    </a:p>
                  </a:txBody>
                  <a:tcPr marL="109728" marR="109728" marT="45720" marB="45720" anchor="ctr">
                    <a:solidFill>
                      <a:srgbClr val="F1F2F8"/>
                    </a:solidFill>
                  </a:tcPr>
                </a:tc>
                <a:tc>
                  <a:txBody>
                    <a:bodyPr/>
                    <a:lstStyle/>
                    <a:p>
                      <a:r>
                        <a:rPr sz="2000" i="0" b="0">
                          <a:solidFill>
                            <a:srgbClr val="1A1F36"/>
                          </a:solidFill>
                          <a:latin typeface="Calibri"/>
                        </a:rPr>
                        <a:t>Barbiturate coma for raised intracranial pressure</a:t>
                      </a:r>
                    </a:p>
                  </a:txBody>
                  <a:tcPr marL="109728" marR="109728" marT="45720" marB="45720" anchor="ctr">
                    <a:solidFill>
                      <a:srgbClr val="F1F2F8"/>
                    </a:solidFill>
                  </a:tcPr>
                </a:tc>
              </a:tr>
              <a:tr h="640080">
                <a:tc>
                  <a:txBody>
                    <a:bodyPr/>
                    <a:lstStyle/>
                    <a:p>
                      <a:r>
                        <a:rPr sz="2000" i="0" b="1">
                          <a:solidFill>
                            <a:srgbClr val="1A1F36"/>
                          </a:solidFill>
                          <a:latin typeface="Calibri"/>
                        </a:rPr>
                        <a:t>Long-acting</a:t>
                      </a:r>
                    </a:p>
                  </a:txBody>
                  <a:tcPr marL="109728" marR="109728" marT="45720" marB="45720" anchor="ctr">
                    <a:solidFill>
                      <a:srgbClr val="FFFFFF"/>
                    </a:solidFill>
                  </a:tcPr>
                </a:tc>
                <a:tc>
                  <a:txBody>
                    <a:bodyPr/>
                    <a:lstStyle/>
                    <a:p>
                      <a:r>
                        <a:rPr sz="2000" i="0" b="0">
                          <a:solidFill>
                            <a:srgbClr val="1A1F36"/>
                          </a:solidFill>
                          <a:latin typeface="Calibri"/>
                        </a:rPr>
                        <a:t>Phenobarbital</a:t>
                      </a:r>
                    </a:p>
                  </a:txBody>
                  <a:tcPr marL="109728" marR="109728" marT="45720" marB="45720" anchor="ctr">
                    <a:solidFill>
                      <a:srgbClr val="FFFFFF"/>
                    </a:solidFill>
                  </a:tcPr>
                </a:tc>
                <a:tc>
                  <a:txBody>
                    <a:bodyPr/>
                    <a:lstStyle/>
                    <a:p>
                      <a:r>
                        <a:rPr sz="2000" i="0" b="0">
                          <a:solidFill>
                            <a:srgbClr val="1A1F36"/>
                          </a:solidFill>
                          <a:latin typeface="Calibri"/>
                        </a:rPr>
                        <a:t>Seizures, including neonatal seizures and status epilepticus</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Z-drugs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Zolpidem, zaleplon and eszopiclone (and zopiclone) are not benzodiazepines in structure. They act at the benzodiazepine site, with selectivity for GABA-A receptors that contain the </a:t>
            </a:r>
            <a:r>
              <a:rPr sz="1800" i="0" b="1">
                <a:solidFill>
                  <a:srgbClr val="1A1F36"/>
                </a:solidFill>
                <a:latin typeface="Calibri"/>
              </a:rPr>
              <a:t>α1 subunit</a:t>
            </a:r>
            <a:r>
              <a:rPr sz="1800" i="0" b="0">
                <a:solidFill>
                  <a:srgbClr val="1A1F36"/>
                </a:solidFill>
                <a:latin typeface="Calibri"/>
              </a:rPr>
              <a:t>. So they are hypnotic, with little anxiolytic, anticonvulsant or muscle-relaxant effect. Flumazenil reverses them.</a:t>
            </a:r>
          </a:p>
        </p:txBody>
      </p:sp>
      <p:sp>
        <p:nvSpPr>
          <p:cNvPr id="12" name="Oval 11"/>
          <p:cNvSpPr/>
          <p:nvPr/>
        </p:nvSpPr>
        <p:spPr>
          <a:xfrm>
            <a:off x="548640" y="314553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3163824"/>
            <a:ext cx="10500055" cy="1080389"/>
          </a:xfrm>
          <a:prstGeom prst="rect">
            <a:avLst/>
          </a:prstGeom>
          <a:noFill/>
        </p:spPr>
        <p:txBody>
          <a:bodyPr wrap="square" anchor="t" lIns="0" rIns="0" tIns="0" bIns="0">
            <a:spAutoFit/>
          </a:bodyPr>
          <a:lstStyle/>
          <a:p>
            <a:r>
              <a:rPr sz="2100" i="0" b="1">
                <a:solidFill>
                  <a:srgbClr val="1A1F36"/>
                </a:solidFill>
                <a:latin typeface="Calibri"/>
              </a:rPr>
              <a:t>Zolpidem:</a:t>
            </a:r>
            <a:r>
              <a:rPr sz="2100" i="0" b="0">
                <a:solidFill>
                  <a:srgbClr val="1A1F36"/>
                </a:solidFill>
                <a:latin typeface="Calibri"/>
              </a:rPr>
              <a:t> fast onset; half-life 2 to 3 hours. Women clear it more slowly; lower doses are advised.</a:t>
            </a:r>
          </a:p>
        </p:txBody>
      </p:sp>
      <p:sp>
        <p:nvSpPr>
          <p:cNvPr id="14" name="Oval 13"/>
          <p:cNvSpPr/>
          <p:nvPr/>
        </p:nvSpPr>
        <p:spPr>
          <a:xfrm>
            <a:off x="548640" y="42716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4289933"/>
            <a:ext cx="10500055" cy="747014"/>
          </a:xfrm>
          <a:prstGeom prst="rect">
            <a:avLst/>
          </a:prstGeom>
          <a:noFill/>
        </p:spPr>
        <p:txBody>
          <a:bodyPr wrap="square" anchor="t" lIns="0" rIns="0" tIns="0" bIns="0">
            <a:spAutoFit/>
          </a:bodyPr>
          <a:lstStyle/>
          <a:p>
            <a:r>
              <a:rPr sz="2100" i="0" b="1">
                <a:solidFill>
                  <a:srgbClr val="1A1F36"/>
                </a:solidFill>
                <a:latin typeface="Calibri"/>
              </a:rPr>
              <a:t>Zaleplon:</a:t>
            </a:r>
            <a:r>
              <a:rPr sz="2100" i="0" b="0">
                <a:solidFill>
                  <a:srgbClr val="1A1F36"/>
                </a:solidFill>
                <a:latin typeface="Calibri"/>
              </a:rPr>
              <a:t> half-life about 1 hour; for trouble falling asleep.</a:t>
            </a:r>
          </a:p>
        </p:txBody>
      </p:sp>
      <p:sp>
        <p:nvSpPr>
          <p:cNvPr id="16" name="Oval 15"/>
          <p:cNvSpPr/>
          <p:nvPr/>
        </p:nvSpPr>
        <p:spPr>
          <a:xfrm>
            <a:off x="548640" y="506437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5082667"/>
            <a:ext cx="10500055" cy="1080389"/>
          </a:xfrm>
          <a:prstGeom prst="rect">
            <a:avLst/>
          </a:prstGeom>
          <a:noFill/>
        </p:spPr>
        <p:txBody>
          <a:bodyPr wrap="square" anchor="t" lIns="0" rIns="0" tIns="0" bIns="0">
            <a:spAutoFit/>
          </a:bodyPr>
          <a:lstStyle/>
          <a:p>
            <a:r>
              <a:rPr sz="2100" i="0" b="1">
                <a:solidFill>
                  <a:srgbClr val="1A1F36"/>
                </a:solidFill>
                <a:latin typeface="Calibri"/>
              </a:rPr>
              <a:t>Eszopiclone:</a:t>
            </a:r>
            <a:r>
              <a:rPr sz="2100" i="0" b="0">
                <a:solidFill>
                  <a:srgbClr val="1A1F36"/>
                </a:solidFill>
                <a:latin typeface="Calibri"/>
              </a:rPr>
              <a:t> half-life about 6 hours; helps staying asleep but can cause next-morning impairment and a bitter taste.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Other Hypnotics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315772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228904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Z-drugs carry a boxed warning for </a:t>
            </a:r>
            <a:r>
              <a:rPr sz="2200" i="0" b="1">
                <a:solidFill>
                  <a:srgbClr val="1A1F36"/>
                </a:solidFill>
                <a:latin typeface="Calibri"/>
              </a:rPr>
              <a:t>complex sleep behaviours</a:t>
            </a:r>
            <a:r>
              <a:rPr sz="2200" i="0" b="0">
                <a:solidFill>
                  <a:srgbClr val="1A1F36"/>
                </a:solidFill>
                <a:latin typeface="Calibri"/>
              </a:rPr>
              <a:t>: sleep-walking, sleep-driving and other activities while not fully awake, sometimes with serious injury or death. Stop the drug if this happens. Warn patients about driving the next morning, and never to combine them with alcohol.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Generalised anxiety disorder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NICE uses a stepped approach:</a:t>
            </a:r>
          </a:p>
        </p:txBody>
      </p:sp>
      <p:sp>
        <p:nvSpPr>
          <p:cNvPr id="12" name="Oval 11"/>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272284"/>
            <a:ext cx="10500055" cy="771715"/>
          </a:xfrm>
          <a:prstGeom prst="rect">
            <a:avLst/>
          </a:prstGeom>
          <a:noFill/>
        </p:spPr>
        <p:txBody>
          <a:bodyPr wrap="square" anchor="t" lIns="0" rIns="0" tIns="0" bIns="0">
            <a:spAutoFit/>
          </a:bodyPr>
          <a:lstStyle/>
          <a:p>
            <a:r>
              <a:rPr sz="2100" i="0" b="0">
                <a:solidFill>
                  <a:srgbClr val="1A1F36"/>
                </a:solidFill>
                <a:latin typeface="Calibri"/>
              </a:rPr>
              <a:t>Education and active monitoring.</a:t>
            </a:r>
          </a:p>
        </p:txBody>
      </p:sp>
      <p:sp>
        <p:nvSpPr>
          <p:cNvPr id="14" name="Oval 13"/>
          <p:cNvSpPr/>
          <p:nvPr/>
        </p:nvSpPr>
        <p:spPr>
          <a:xfrm>
            <a:off x="548640" y="307143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089719"/>
            <a:ext cx="10500055" cy="771715"/>
          </a:xfrm>
          <a:prstGeom prst="rect">
            <a:avLst/>
          </a:prstGeom>
          <a:noFill/>
        </p:spPr>
        <p:txBody>
          <a:bodyPr wrap="square" anchor="t" lIns="0" rIns="0" tIns="0" bIns="0">
            <a:spAutoFit/>
          </a:bodyPr>
          <a:lstStyle/>
          <a:p>
            <a:r>
              <a:rPr sz="2100" i="0" b="0">
                <a:solidFill>
                  <a:srgbClr val="1A1F36"/>
                </a:solidFill>
                <a:latin typeface="Calibri"/>
              </a:rPr>
              <a:t>Guided self-help or psychoeducation groups.</a:t>
            </a:r>
          </a:p>
        </p:txBody>
      </p:sp>
      <p:sp>
        <p:nvSpPr>
          <p:cNvPr id="16" name="Oval 15"/>
          <p:cNvSpPr/>
          <p:nvPr/>
        </p:nvSpPr>
        <p:spPr>
          <a:xfrm>
            <a:off x="548640" y="388886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3907154"/>
            <a:ext cx="10500055" cy="1438465"/>
          </a:xfrm>
          <a:prstGeom prst="rect">
            <a:avLst/>
          </a:prstGeom>
          <a:noFill/>
        </p:spPr>
        <p:txBody>
          <a:bodyPr wrap="square" anchor="t" lIns="0" rIns="0" tIns="0" bIns="0">
            <a:spAutoFit/>
          </a:bodyPr>
          <a:lstStyle/>
          <a:p>
            <a:r>
              <a:rPr sz="2100" i="0" b="0">
                <a:solidFill>
                  <a:srgbClr val="1A1F36"/>
                </a:solidFill>
                <a:latin typeface="Calibri"/>
              </a:rPr>
              <a:t>Cognitive behavioural therapy (CBT) or applied relaxation, </a:t>
            </a:r>
            <a:r>
              <a:rPr sz="2100" i="0" b="1">
                <a:solidFill>
                  <a:srgbClr val="1A1F36"/>
                </a:solidFill>
                <a:latin typeface="Calibri"/>
              </a:rPr>
              <a:t>or</a:t>
            </a:r>
            <a:r>
              <a:rPr sz="2100" i="0" b="0">
                <a:solidFill>
                  <a:srgbClr val="1A1F36"/>
                </a:solidFill>
                <a:latin typeface="Calibri"/>
              </a:rPr>
              <a:t> a drug. The first-choice drug is an SSRI, such as sertraline. If it fails, try another SSRI or an SNRI. Pregabalin is an alternative.</a:t>
            </a:r>
          </a:p>
        </p:txBody>
      </p:sp>
      <p:sp>
        <p:nvSpPr>
          <p:cNvPr id="18" name="Oval 17"/>
          <p:cNvSpPr/>
          <p:nvPr/>
        </p:nvSpPr>
        <p:spPr>
          <a:xfrm>
            <a:off x="548640" y="537305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1143000" y="5391340"/>
            <a:ext cx="10500055" cy="771715"/>
          </a:xfrm>
          <a:prstGeom prst="rect">
            <a:avLst/>
          </a:prstGeom>
          <a:noFill/>
        </p:spPr>
        <p:txBody>
          <a:bodyPr wrap="square" anchor="t" lIns="0" rIns="0" tIns="0" bIns="0">
            <a:spAutoFit/>
          </a:bodyPr>
          <a:lstStyle/>
          <a:p>
            <a:r>
              <a:rPr sz="2100" i="0" b="0">
                <a:solidFill>
                  <a:srgbClr val="1A1F36"/>
                </a:solidFill>
                <a:latin typeface="Calibri"/>
              </a:rPr>
              <a:t>Specialist care for complex or resistant cases.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431288"/>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4" name="TextBox 13"/>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For long-term anxiety, choose an </a:t>
            </a:r>
            <a:r>
              <a:rPr sz="2200" i="0" b="1">
                <a:solidFill>
                  <a:srgbClr val="1A1F36"/>
                </a:solidFill>
                <a:latin typeface="Calibri"/>
              </a:rPr>
              <a:t>SSRI</a:t>
            </a:r>
            <a:r>
              <a:rPr sz="2200" i="0" b="0">
                <a:solidFill>
                  <a:srgbClr val="1A1F36"/>
                </a:solidFill>
                <a:latin typeface="Calibri"/>
              </a:rPr>
              <a:t>. For an acute crisis, a </a:t>
            </a:r>
            <a:r>
              <a:rPr sz="2200" i="0" b="1">
                <a:solidFill>
                  <a:srgbClr val="1A1F36"/>
                </a:solidFill>
                <a:latin typeface="Calibri"/>
              </a:rPr>
              <a:t>benzodiazepine</a:t>
            </a:r>
            <a:r>
              <a:rPr sz="2200" i="0" b="0">
                <a:solidFill>
                  <a:srgbClr val="1A1F36"/>
                </a:solidFill>
                <a:latin typeface="Calibri"/>
              </a:rPr>
              <a:t> works fast but only for a short time. For chronic insomnia, </a:t>
            </a:r>
            <a:r>
              <a:rPr sz="2200" i="0" b="1">
                <a:solidFill>
                  <a:srgbClr val="1A1F36"/>
                </a:solidFill>
                <a:latin typeface="Calibri"/>
              </a:rPr>
              <a:t>CBT-I</a:t>
            </a:r>
            <a:r>
              <a:rPr sz="2200" i="0" b="0">
                <a:solidFill>
                  <a:srgbClr val="1A1F36"/>
                </a:solidFill>
                <a:latin typeface="Calibri"/>
              </a:rPr>
              <a:t> comes before any drug.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813705"/>
                <a:gridCol w="3813705"/>
                <a:gridCol w="3467004"/>
              </a:tblGrid>
              <a:tr h="577215">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577215">
                <a:tc>
                  <a:txBody>
                    <a:bodyPr/>
                    <a:lstStyle/>
                    <a:p>
                      <a:r>
                        <a:rPr sz="2000" i="0" b="1">
                          <a:solidFill>
                            <a:srgbClr val="1A1F36"/>
                          </a:solidFill>
                          <a:latin typeface="Calibri"/>
                        </a:rPr>
                        <a:t>Alprazolam</a:t>
                      </a:r>
                    </a:p>
                  </a:txBody>
                  <a:tcPr marL="109728" marR="109728" marT="45720" marB="45720" anchor="ctr">
                    <a:solidFill>
                      <a:srgbClr val="FFFFFF"/>
                    </a:solidFill>
                  </a:tcPr>
                </a:tc>
                <a:tc>
                  <a:txBody>
                    <a:bodyPr/>
                    <a:lstStyle/>
                    <a:p>
                      <a:r>
                        <a:rPr sz="2000" i="0" b="0">
                          <a:solidFill>
                            <a:srgbClr val="1A1F36"/>
                          </a:solidFill>
                          <a:latin typeface="Calibri"/>
                        </a:rPr>
                        <a:t>Zolam</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Midazolam</a:t>
                      </a:r>
                    </a:p>
                  </a:txBody>
                  <a:tcPr marL="109728" marR="109728" marT="45720" marB="45720" anchor="ctr">
                    <a:solidFill>
                      <a:srgbClr val="F1F2F8"/>
                    </a:solidFill>
                  </a:tcPr>
                </a:tc>
                <a:tc>
                  <a:txBody>
                    <a:bodyPr/>
                    <a:lstStyle/>
                    <a:p>
                      <a:r>
                        <a:rPr sz="2000" i="0" b="0">
                          <a:solidFill>
                            <a:srgbClr val="1A1F36"/>
                          </a:solidFill>
                          <a:latin typeface="Calibri"/>
                        </a:rPr>
                        <a:t>Midathetic</a:t>
                      </a:r>
                    </a:p>
                  </a:txBody>
                  <a:tcPr marL="109728" marR="109728" marT="45720" marB="45720" anchor="ctr">
                    <a:solidFill>
                      <a:srgbClr val="F1F2F8"/>
                    </a:solidFill>
                  </a:tcPr>
                </a:tc>
                <a:tc>
                  <a:txBody>
                    <a:bodyPr/>
                    <a:lstStyle/>
                    <a:p>
                      <a:r>
                        <a:rPr sz="2000" i="0" b="0">
                          <a:solidFill>
                            <a:srgbClr val="1A1F36"/>
                          </a:solidFill>
                          <a:latin typeface="Calibri"/>
                        </a:rPr>
                        <a:t>Injection</a:t>
                      </a:r>
                    </a:p>
                  </a:txBody>
                  <a:tcPr marL="109728" marR="109728" marT="45720" marB="45720" anchor="ctr">
                    <a:solidFill>
                      <a:srgbClr val="F1F2F8"/>
                    </a:solidFill>
                  </a:tcPr>
                </a:tc>
              </a:tr>
              <a:tr h="577215">
                <a:tc>
                  <a:txBody>
                    <a:bodyPr/>
                    <a:lstStyle/>
                    <a:p>
                      <a:r>
                        <a:rPr sz="2000" i="0" b="1">
                          <a:solidFill>
                            <a:srgbClr val="1A1F36"/>
                          </a:solidFill>
                          <a:latin typeface="Calibri"/>
                        </a:rPr>
                        <a:t>Clonazepam</a:t>
                      </a:r>
                    </a:p>
                  </a:txBody>
                  <a:tcPr marL="109728" marR="109728" marT="45720" marB="45720" anchor="ctr">
                    <a:solidFill>
                      <a:srgbClr val="FFFFFF"/>
                    </a:solidFill>
                  </a:tcPr>
                </a:tc>
                <a:tc>
                  <a:txBody>
                    <a:bodyPr/>
                    <a:lstStyle/>
                    <a:p>
                      <a:r>
                        <a:rPr sz="2000" i="0" b="0">
                          <a:solidFill>
                            <a:srgbClr val="1A1F36"/>
                          </a:solidFill>
                          <a:latin typeface="Calibri"/>
                        </a:rPr>
                        <a:t>Rivotril</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Buspirone</a:t>
                      </a:r>
                    </a:p>
                  </a:txBody>
                  <a:tcPr marL="109728" marR="109728" marT="45720" marB="45720" anchor="ctr">
                    <a:solidFill>
                      <a:srgbClr val="F1F2F8"/>
                    </a:solidFill>
                  </a:tcPr>
                </a:tc>
                <a:tc>
                  <a:txBody>
                    <a:bodyPr/>
                    <a:lstStyle/>
                    <a:p>
                      <a:r>
                        <a:rPr sz="2000" i="0" b="0">
                          <a:solidFill>
                            <a:srgbClr val="1A1F36"/>
                          </a:solidFill>
                          <a:latin typeface="Calibri"/>
                        </a:rPr>
                        <a:t>Buspar</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Phenobarbitone</a:t>
                      </a:r>
                    </a:p>
                  </a:txBody>
                  <a:tcPr marL="109728" marR="109728" marT="45720" marB="45720" anchor="ctr">
                    <a:solidFill>
                      <a:srgbClr val="FFFFFF"/>
                    </a:solidFill>
                  </a:tcPr>
                </a:tc>
                <a:tc>
                  <a:txBody>
                    <a:bodyPr/>
                    <a:lstStyle/>
                    <a:p>
                      <a:r>
                        <a:rPr sz="2000" i="0" b="0">
                          <a:solidFill>
                            <a:srgbClr val="1A1F36"/>
                          </a:solidFill>
                          <a:latin typeface="Calibri"/>
                        </a:rPr>
                        <a:t>Sominaletta</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Eszopiclone</a:t>
                      </a:r>
                    </a:p>
                  </a:txBody>
                  <a:tcPr marL="109728" marR="109728" marT="45720" marB="45720" anchor="ctr">
                    <a:solidFill>
                      <a:srgbClr val="F1F2F8"/>
                    </a:solidFill>
                  </a:tcPr>
                </a:tc>
                <a:tc>
                  <a:txBody>
                    <a:bodyPr/>
                    <a:lstStyle/>
                    <a:p>
                      <a:r>
                        <a:rPr sz="2000" i="0" b="0">
                          <a:solidFill>
                            <a:srgbClr val="1A1F36"/>
                          </a:solidFill>
                          <a:latin typeface="Calibri"/>
                        </a:rPr>
                        <a:t>Night Calm</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Zolpidem</a:t>
                      </a:r>
                    </a:p>
                  </a:txBody>
                  <a:tcPr marL="109728" marR="109728" marT="45720" marB="45720" anchor="ctr">
                    <a:solidFill>
                      <a:srgbClr val="FFFFFF"/>
                    </a:solidFill>
                  </a:tcPr>
                </a:tc>
                <a:tc>
                  <a:txBody>
                    <a:bodyPr/>
                    <a:lstStyle/>
                    <a:p>
                      <a:r>
                        <a:rPr sz="2000" i="0" b="0">
                          <a:solidFill>
                            <a:srgbClr val="1A1F36"/>
                          </a:solidFill>
                          <a:latin typeface="Calibri"/>
                        </a:rPr>
                        <a:t>Zodium</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is a benzodiazepine overdose alone rarely fatal, but dangerous with alcohol or an opioid?</a:t>
            </a:r>
          </a:p>
        </p:txBody>
      </p:sp>
      <p:sp>
        <p:nvSpPr>
          <p:cNvPr id="13" name="Oval 12"/>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student asks for "something to sleep" before exams. What would you ask and advise?</a:t>
            </a:r>
          </a:p>
        </p:txBody>
      </p:sp>
      <p:sp>
        <p:nvSpPr>
          <p:cNvPr id="15" name="Oval 14"/>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is lorazepam preferred over diazepam in an 80-year-old woman with liver disease?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 benzodiazepines enhance GABA action?</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They open the chloride channel without GABA.</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They increase the frequency of channel opening when GABA binds.</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They inhibit GABA transaminase.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They block GABA reuptake.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 benzodiazepines enhance GABA action?</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They open the chloride channel without GABA.</a:t>
            </a:r>
          </a:p>
        </p:txBody>
      </p:sp>
      <p:sp>
        <p:nvSpPr>
          <p:cNvPr id="15" name="Rounded Rectangle 14"/>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They increase the frequency of channel opening when GABA binds.</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They inhibit GABA transaminase.</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They block GABA reuptake.</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Benzodiazepines are positive allosteric modulators that increase opening frequency. A is high-dose barbiturates. C is valproate. D is tiagabine.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benzodiazepine is long-acting because of an active metabolite?</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Lorazepam</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Oxazepam</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Diazepam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benzodiazepine is long-acting because of an active metabolite?</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Midazolam</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Lorazepam</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Oxazepam</a:t>
            </a:r>
          </a:p>
        </p:txBody>
      </p:sp>
      <p:sp>
        <p:nvSpPr>
          <p:cNvPr id="21" name="Rounded Rectangle 20"/>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Diazepam</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Diazepam and its metabolite nordiazepam act for a long time. A is short-acting. B and C are intermediate with no active metabolites.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takes diazepam for anxiety and drinks heavily at a party. What is the main danger?</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Breathing depression and coma</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Hypertensive crisis</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Seizures from enzyme induction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07</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7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takes diazepam for anxiety and drinks heavily at a party. What is the main danger?</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Breathing depression and coma</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Hypertensive crisis</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Seizures from enzyme induction</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Alcohol plus a benzodiazepine causes additive CNS and breathing depression. B, C and D are not caused.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7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709385"/>
          </a:xfrm>
          <a:prstGeom prst="rect">
            <a:avLst/>
          </a:prstGeom>
          <a:noFill/>
        </p:spPr>
        <p:txBody>
          <a:bodyPr wrap="square" anchor="t" lIns="0" rIns="0" tIns="0" bIns="0">
            <a:spAutoFit/>
          </a:bodyPr>
          <a:lstStyle/>
          <a:p>
            <a:r>
              <a:rPr sz="1700" i="0" b="0">
                <a:solidFill>
                  <a:srgbClr val="FFFFFF"/>
                </a:solidFill>
                <a:latin typeface="Calibri"/>
              </a:rPr>
              <a:t>Benzodiazepines increase the frequency of GABA-A channel opening; barbiturates increase its duration and can open it without GABA.</a:t>
            </a:r>
          </a:p>
        </p:txBody>
      </p:sp>
      <p:sp>
        <p:nvSpPr>
          <p:cNvPr id="7" name="Oval 6"/>
          <p:cNvSpPr/>
          <p:nvPr/>
        </p:nvSpPr>
        <p:spPr>
          <a:xfrm>
            <a:off x="548640" y="2602193"/>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620481"/>
            <a:ext cx="10500055" cy="709385"/>
          </a:xfrm>
          <a:prstGeom prst="rect">
            <a:avLst/>
          </a:prstGeom>
          <a:noFill/>
        </p:spPr>
        <p:txBody>
          <a:bodyPr wrap="square" anchor="t" lIns="0" rIns="0" tIns="0" bIns="0">
            <a:spAutoFit/>
          </a:bodyPr>
          <a:lstStyle/>
          <a:p>
            <a:r>
              <a:rPr sz="1700" i="0" b="0">
                <a:solidFill>
                  <a:srgbClr val="FFFFFF"/>
                </a:solidFill>
                <a:latin typeface="Calibri"/>
              </a:rPr>
              <a:t>Benzodiazepines are fairly safe alone, but fatal breathing depression can occur with alcohol, opioids or other depressants.</a:t>
            </a:r>
          </a:p>
        </p:txBody>
      </p:sp>
      <p:sp>
        <p:nvSpPr>
          <p:cNvPr id="9" name="Oval 8"/>
          <p:cNvSpPr/>
          <p:nvPr/>
        </p:nvSpPr>
        <p:spPr>
          <a:xfrm>
            <a:off x="548640" y="335729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375587"/>
            <a:ext cx="10500055" cy="709385"/>
          </a:xfrm>
          <a:prstGeom prst="rect">
            <a:avLst/>
          </a:prstGeom>
          <a:noFill/>
        </p:spPr>
        <p:txBody>
          <a:bodyPr wrap="square" anchor="t" lIns="0" rIns="0" tIns="0" bIns="0">
            <a:spAutoFit/>
          </a:bodyPr>
          <a:lstStyle/>
          <a:p>
            <a:r>
              <a:rPr sz="1700" i="0" b="0">
                <a:solidFill>
                  <a:srgbClr val="FFFFFF"/>
                </a:solidFill>
                <a:latin typeface="Calibri"/>
              </a:rPr>
              <a:t>Limit benzodiazepines and Z-drugs to 2 to 4 weeks; warn about driving, falls and dependence, and taper slowly.</a:t>
            </a:r>
          </a:p>
        </p:txBody>
      </p:sp>
      <p:sp>
        <p:nvSpPr>
          <p:cNvPr id="11" name="Oval 10"/>
          <p:cNvSpPr/>
          <p:nvPr/>
        </p:nvSpPr>
        <p:spPr>
          <a:xfrm>
            <a:off x="548640" y="4112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4130693"/>
            <a:ext cx="10500055" cy="439510"/>
          </a:xfrm>
          <a:prstGeom prst="rect">
            <a:avLst/>
          </a:prstGeom>
          <a:noFill/>
        </p:spPr>
        <p:txBody>
          <a:bodyPr wrap="square" anchor="t" lIns="0" rIns="0" tIns="0" bIns="0">
            <a:spAutoFit/>
          </a:bodyPr>
          <a:lstStyle/>
          <a:p>
            <a:r>
              <a:rPr sz="1700" i="0" b="0">
                <a:solidFill>
                  <a:srgbClr val="FFFFFF"/>
                </a:solidFill>
                <a:latin typeface="Calibri"/>
              </a:rPr>
              <a:t>Flumazenil blocks the benzodiazepine site; avoid it in dependent patients and mixed overdoses.</a:t>
            </a:r>
          </a:p>
        </p:txBody>
      </p:sp>
      <p:sp>
        <p:nvSpPr>
          <p:cNvPr id="13" name="Oval 12"/>
          <p:cNvSpPr/>
          <p:nvPr/>
        </p:nvSpPr>
        <p:spPr>
          <a:xfrm>
            <a:off x="548640" y="459763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615923"/>
            <a:ext cx="10500055" cy="439510"/>
          </a:xfrm>
          <a:prstGeom prst="rect">
            <a:avLst/>
          </a:prstGeom>
          <a:noFill/>
        </p:spPr>
        <p:txBody>
          <a:bodyPr wrap="square" anchor="t" lIns="0" rIns="0" tIns="0" bIns="0">
            <a:spAutoFit/>
          </a:bodyPr>
          <a:lstStyle/>
          <a:p>
            <a:r>
              <a:rPr sz="1700" i="0" b="0">
                <a:solidFill>
                  <a:srgbClr val="FFFFFF"/>
                </a:solidFill>
                <a:latin typeface="Calibri"/>
              </a:rPr>
              <a:t>SSRIs are first-choice drugs for GAD; buspirone is a slow-onset 5-HT1A partial agonist.</a:t>
            </a:r>
          </a:p>
        </p:txBody>
      </p:sp>
      <p:sp>
        <p:nvSpPr>
          <p:cNvPr id="15" name="Oval 14"/>
          <p:cNvSpPr/>
          <p:nvPr/>
        </p:nvSpPr>
        <p:spPr>
          <a:xfrm>
            <a:off x="548640" y="508286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101154"/>
            <a:ext cx="10500055" cy="439510"/>
          </a:xfrm>
          <a:prstGeom prst="rect">
            <a:avLst/>
          </a:prstGeom>
          <a:noFill/>
        </p:spPr>
        <p:txBody>
          <a:bodyPr wrap="square" anchor="t" lIns="0" rIns="0" tIns="0" bIns="0">
            <a:spAutoFit/>
          </a:bodyPr>
          <a:lstStyle/>
          <a:p>
            <a:r>
              <a:rPr sz="1700" i="0" b="0">
                <a:solidFill>
                  <a:srgbClr val="FFFFFF"/>
                </a:solidFill>
                <a:latin typeface="Calibri"/>
              </a:rPr>
              <a:t>Z-drugs are α1-selective hypnotics with a boxed warning for complex sleep behaviours.</a:t>
            </a:r>
          </a:p>
        </p:txBody>
      </p:sp>
      <p:sp>
        <p:nvSpPr>
          <p:cNvPr id="17" name="Oval 16"/>
          <p:cNvSpPr/>
          <p:nvPr/>
        </p:nvSpPr>
        <p:spPr>
          <a:xfrm>
            <a:off x="548640" y="55680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8" name="TextBox 17"/>
          <p:cNvSpPr txBox="1"/>
          <p:nvPr/>
        </p:nvSpPr>
        <p:spPr>
          <a:xfrm>
            <a:off x="1143000" y="5586385"/>
            <a:ext cx="10500055" cy="439510"/>
          </a:xfrm>
          <a:prstGeom prst="rect">
            <a:avLst/>
          </a:prstGeom>
          <a:noFill/>
        </p:spPr>
        <p:txBody>
          <a:bodyPr wrap="square" anchor="t" lIns="0" rIns="0" tIns="0" bIns="0">
            <a:spAutoFit/>
          </a:bodyPr>
          <a:lstStyle/>
          <a:p>
            <a:r>
              <a:rPr sz="1700" i="0" b="0">
                <a:solidFill>
                  <a:srgbClr val="FFFFFF"/>
                </a:solidFill>
                <a:latin typeface="Calibri"/>
              </a:rPr>
              <a:t>CBT-I is first-line for chronic insomnia.</a:t>
            </a:r>
          </a:p>
        </p:txBody>
      </p:sp>
      <p:pic>
        <p:nvPicPr>
          <p:cNvPr id="19" name="Picture 18"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20" name="Picture 19"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