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 is the main inhibitory transmitter in the brain. The GABA-A receptor is a chloride channel made of five subunits (mostly two α, two β and one γ). When GABA binds, the channel opens, Cl- enters and the neuron hyperpolarises, so it fires less. Drugs that enhance this effect produce, with rising dose, anxiety relief, sedation, sleep, anaesthesia, coma and finally breathing depression.</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About 90 s.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About 30 s.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Classes by duration.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150 s.  Next: Uses.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Benzodiazepines.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About 150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About 60 s.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About 60 s.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About 90 s.  Next: Z-drugs.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60 s.  Next: Sedating antihistamines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90 s.  Next: Other Hypnotics.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60 s.  Next: Generalised anxiety disorder.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60 s.  Next: Insomnia.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90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Benzodiazepines are positive allosteric modulators that increase opening frequency. A is high-dose barbiturates. C is valproate. D is tiagabine.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Diazepam and its metabolite nordiazepam act for a long time. A is short-acting. B and C are intermediate with no active metabolites.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Alcohol plus a benzodiazepine causes additive CNS and breathing depression. B, C and D are not caused.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Buspirone is a 5-HT1A partial agonist. A is a Z-drug. B is an H1 antihistamine. D is a benzodiazepine.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An SSRI such as sertraline is first choice for GAD. A is for short-term use only. C is not used. D is not used "as needed" because its onset is slow.</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Flumazenil blocks the benzodiazepine site. B is wrong; it does not block GABA.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Sleep-driving is a complex sleep behaviour, the boxed warning of Z-drugs. A, B and C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Lorazepam is only glucuronidated and has no active metabolites. A is irrelevant. B is wrong.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Barbiturates are dangerous in overdose, cause dependence and induce enzymes. B is wrong. C is wrong; they are inducers.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CBT-I is first-line for chronic insomnia. A and C are not for long-term use. D is not 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7</a:t>
            </a:r>
          </a:p>
          <a:p>
            <a:pPr>
              <a:spcBef>
                <a:spcPts val="1400"/>
              </a:spcBef>
            </a:pPr>
            <a:r>
              <a:rPr sz="3600" i="0" b="1">
                <a:solidFill>
                  <a:srgbClr val="FFFFFF"/>
                </a:solidFill>
                <a:latin typeface="Cambria"/>
              </a:rPr>
              <a:t>Anxiolytics, Sedatives and Hypnotics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45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Describe how benzodiazepines, barbiturates and Z-drugs act on the GABA-A receptor.</a:t>
            </a:r>
          </a:p>
        </p:txBody>
      </p:sp>
      <p:sp>
        <p:nvSpPr>
          <p:cNvPr id="10" name="Oval 9"/>
          <p:cNvSpPr/>
          <p:nvPr/>
        </p:nvSpPr>
        <p:spPr>
          <a:xfrm>
            <a:off x="548640" y="2432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814323"/>
          </a:xfrm>
          <a:prstGeom prst="rect">
            <a:avLst/>
          </a:prstGeom>
          <a:noFill/>
        </p:spPr>
        <p:txBody>
          <a:bodyPr wrap="square" anchor="t" lIns="0" rIns="0" tIns="0" bIns="0">
            <a:spAutoFit/>
          </a:bodyPr>
          <a:lstStyle/>
          <a:p>
            <a:r>
              <a:rPr sz="2000" i="0" b="0">
                <a:solidFill>
                  <a:srgbClr val="1A1F36"/>
                </a:solidFill>
                <a:latin typeface="Calibri"/>
              </a:rPr>
              <a:t>Classify benzodiazepines by duration of action and link duration to clinical use.</a:t>
            </a:r>
          </a:p>
        </p:txBody>
      </p:sp>
      <p:sp>
        <p:nvSpPr>
          <p:cNvPr id="12" name="Oval 11"/>
          <p:cNvSpPr/>
          <p:nvPr/>
        </p:nvSpPr>
        <p:spPr>
          <a:xfrm>
            <a:off x="548640" y="32928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11144"/>
            <a:ext cx="6629400" cy="1131824"/>
          </a:xfrm>
          <a:prstGeom prst="rect">
            <a:avLst/>
          </a:prstGeom>
          <a:noFill/>
        </p:spPr>
        <p:txBody>
          <a:bodyPr wrap="square" anchor="t" lIns="0" rIns="0" tIns="0" bIns="0">
            <a:spAutoFit/>
          </a:bodyPr>
          <a:lstStyle/>
          <a:p>
            <a:r>
              <a:rPr sz="2000" i="0" b="0">
                <a:solidFill>
                  <a:srgbClr val="1A1F36"/>
                </a:solidFill>
                <a:latin typeface="Calibri"/>
              </a:rPr>
              <a:t>Identify the risks of benzodiazepines, Z-drugs and barbiturates, including overdose, dependence and interactions.</a:t>
            </a:r>
          </a:p>
        </p:txBody>
      </p:sp>
      <p:sp>
        <p:nvSpPr>
          <p:cNvPr id="14" name="Oval 13"/>
          <p:cNvSpPr/>
          <p:nvPr/>
        </p:nvSpPr>
        <p:spPr>
          <a:xfrm>
            <a:off x="548640" y="44704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Compare buspirone, antidepressants and benzodiazepines in the treatment of anxiety.</a:t>
            </a:r>
          </a:p>
        </p:txBody>
      </p:sp>
      <p:sp>
        <p:nvSpPr>
          <p:cNvPr id="16" name="Oval 15"/>
          <p:cNvSpPr/>
          <p:nvPr/>
        </p:nvSpPr>
        <p:spPr>
          <a:xfrm>
            <a:off x="548640" y="53304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Plan the drug and non-drug treatment of generalised anxiety disorder and insomnia.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45</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1173987"/>
          </a:xfrm>
          <a:prstGeom prst="rect">
            <a:avLst/>
          </a:prstGeom>
          <a:noFill/>
        </p:spPr>
        <p:txBody>
          <a:bodyPr wrap="square" anchor="t" lIns="0" rIns="0" tIns="0" bIns="0">
            <a:spAutoFit/>
          </a:bodyPr>
          <a:lstStyle/>
          <a:p>
            <a:r>
              <a:rPr sz="2200" i="0" b="0">
                <a:solidFill>
                  <a:srgbClr val="1A1F36"/>
                </a:solidFill>
                <a:latin typeface="Calibri"/>
              </a:rPr>
              <a:t>Anxiety, Insomnia and CNS Depression</a:t>
            </a:r>
          </a:p>
        </p:txBody>
      </p:sp>
      <p:sp>
        <p:nvSpPr>
          <p:cNvPr id="10" name="Oval 9"/>
          <p:cNvSpPr/>
          <p:nvPr/>
        </p:nvSpPr>
        <p:spPr>
          <a:xfrm>
            <a:off x="548640" y="2792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810764"/>
            <a:ext cx="4678527" cy="824737"/>
          </a:xfrm>
          <a:prstGeom prst="rect">
            <a:avLst/>
          </a:prstGeom>
          <a:noFill/>
        </p:spPr>
        <p:txBody>
          <a:bodyPr wrap="square" anchor="t" lIns="0" rIns="0" tIns="0" bIns="0">
            <a:spAutoFit/>
          </a:bodyPr>
          <a:lstStyle/>
          <a:p>
            <a:r>
              <a:rPr sz="2200" i="0" b="0">
                <a:solidFill>
                  <a:srgbClr val="1A1F36"/>
                </a:solidFill>
                <a:latin typeface="Calibri"/>
              </a:rPr>
              <a:t>Benzodiazepines</a:t>
            </a:r>
          </a:p>
        </p:txBody>
      </p:sp>
      <p:sp>
        <p:nvSpPr>
          <p:cNvPr id="12" name="Oval 11"/>
          <p:cNvSpPr/>
          <p:nvPr/>
        </p:nvSpPr>
        <p:spPr>
          <a:xfrm>
            <a:off x="548640" y="3662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Other Anxiolytics</a:t>
            </a:r>
          </a:p>
        </p:txBody>
      </p:sp>
      <p:sp>
        <p:nvSpPr>
          <p:cNvPr id="14" name="Oval 13"/>
          <p:cNvSpPr/>
          <p:nvPr/>
        </p:nvSpPr>
        <p:spPr>
          <a:xfrm>
            <a:off x="548640" y="453339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80"/>
            <a:ext cx="4678527" cy="824737"/>
          </a:xfrm>
          <a:prstGeom prst="rect">
            <a:avLst/>
          </a:prstGeom>
          <a:noFill/>
        </p:spPr>
        <p:txBody>
          <a:bodyPr wrap="square" anchor="t" lIns="0" rIns="0" tIns="0" bIns="0">
            <a:spAutoFit/>
          </a:bodyPr>
          <a:lstStyle/>
          <a:p>
            <a:r>
              <a:rPr sz="2200" i="0" b="0">
                <a:solidFill>
                  <a:srgbClr val="1A1F36"/>
                </a:solidFill>
                <a:latin typeface="Calibri"/>
              </a:rPr>
              <a:t>Barbiturates</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Other Hypnotics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Anxiety, Insomnia and CNS Depression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a:t>
            </a:r>
          </a:p>
          <a:p>
            <a:pPr>
              <a:spcAft>
                <a:spcPts val="800"/>
              </a:spcAft>
            </a:pPr>
            <a:r>
              <a:rPr sz="2100" i="0" b="0">
                <a:solidFill>
                  <a:srgbClr val="1A1F36"/>
                </a:solidFill>
                <a:latin typeface="Calibri"/>
              </a:rPr>
              <a:t>Insomnia is difficulty falling asleep, staying asleep or waking too early, with poor daytime function.</a:t>
            </a:r>
          </a:p>
          <a:p>
            <a:pPr>
              <a:spcAft>
                <a:spcPts val="800"/>
              </a:spcAft>
            </a:pPr>
            <a:r>
              <a:rPr sz="2100" i="0" b="0">
                <a:solidFill>
                  <a:srgbClr val="1A1F36"/>
                </a:solidFill>
                <a:latin typeface="Calibri"/>
              </a:rPr>
              <a:t>Sedative–hypnotic drugs depress the CNS in a dose-related 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Anxiety, Insomnia and CNS Depression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1420085"/>
                <a:gridCol w="3638968"/>
                <a:gridCol w="6035361"/>
              </a:tblGrid>
              <a:tr h="640080">
                <a:tc>
                  <a:txBody>
                    <a:bodyPr/>
                    <a:lstStyle/>
                    <a:p>
                      <a:r>
                        <a:rPr sz="1700" i="0" b="1">
                          <a:solidFill>
                            <a:srgbClr val="FFFFFF"/>
                          </a:solidFill>
                          <a:latin typeface="Calibri"/>
                        </a:rPr>
                        <a:t>Dose</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r>
              <a:tr h="640080">
                <a:tc>
                  <a:txBody>
                    <a:bodyPr/>
                    <a:lstStyle/>
                    <a:p>
                      <a:r>
                        <a:rPr sz="1800" i="0" b="1">
                          <a:solidFill>
                            <a:srgbClr val="1A1F36"/>
                          </a:solidFill>
                          <a:latin typeface="Calibri"/>
                        </a:rPr>
                        <a:t>Low</a:t>
                      </a:r>
                    </a:p>
                  </a:txBody>
                  <a:tcPr marL="109728" marR="109728" marT="45720" marB="45720" anchor="ctr">
                    <a:solidFill>
                      <a:srgbClr val="FFFFFF"/>
                    </a:solidFill>
                  </a:tcPr>
                </a:tc>
                <a:tc>
                  <a:txBody>
                    <a:bodyPr/>
                    <a:lstStyle/>
                    <a:p>
                      <a:r>
                        <a:rPr sz="1800" i="0" b="0">
                          <a:solidFill>
                            <a:srgbClr val="1A1F36"/>
                          </a:solidFill>
                          <a:latin typeface="Calibri"/>
                        </a:rPr>
                        <a:t>Anxiety relief (anxiolysis)</a:t>
                      </a:r>
                    </a:p>
                  </a:txBody>
                  <a:tcPr marL="109728" marR="109728" marT="45720" marB="45720" anchor="ctr">
                    <a:solidFill>
                      <a:srgbClr val="FFFFFF"/>
                    </a:solidFill>
                  </a:tcPr>
                </a:tc>
                <a:tc>
                  <a:txBody>
                    <a:bodyPr/>
                    <a:lstStyle/>
                    <a:p>
                      <a:r>
                        <a:rPr sz="1800" i="0" b="0">
                          <a:solidFill>
                            <a:srgbClr val="1A1F36"/>
                          </a:solidFill>
                          <a:latin typeface="Calibri"/>
                        </a:rPr>
                        <a:t>Benzodiazepines; buspirone and antidepressants act differently</a:t>
                      </a:r>
                    </a:p>
                  </a:txBody>
                  <a:tcPr marL="109728" marR="109728" marT="45720" marB="45720" anchor="ctr">
                    <a:solidFill>
                      <a:srgbClr val="FFFFFF"/>
                    </a:solidFill>
                  </a:tcPr>
                </a:tc>
              </a:tr>
              <a:tr h="640080">
                <a:tc>
                  <a:txBody>
                    <a:bodyPr/>
                    <a:lstStyle/>
                    <a:p>
                      <a:r>
                        <a:rPr sz="1800" i="0" b="1">
                          <a:solidFill>
                            <a:srgbClr val="1A1F36"/>
                          </a:solidFill>
                          <a:latin typeface="Calibri"/>
                        </a:rPr>
                        <a:t>Moderate</a:t>
                      </a:r>
                    </a:p>
                  </a:txBody>
                  <a:tcPr marL="109728" marR="109728" marT="45720" marB="45720" anchor="ctr">
                    <a:solidFill>
                      <a:srgbClr val="F1F2F8"/>
                    </a:solidFill>
                  </a:tcPr>
                </a:tc>
                <a:tc>
                  <a:txBody>
                    <a:bodyPr/>
                    <a:lstStyle/>
                    <a:p>
                      <a:r>
                        <a:rPr sz="1800" i="0" b="0">
                          <a:solidFill>
                            <a:srgbClr val="1A1F36"/>
                          </a:solidFill>
                          <a:latin typeface="Calibri"/>
                        </a:rPr>
                        <a:t>Sedation</a:t>
                      </a:r>
                    </a:p>
                  </a:txBody>
                  <a:tcPr marL="109728" marR="109728" marT="45720" marB="45720" anchor="ctr">
                    <a:solidFill>
                      <a:srgbClr val="F1F2F8"/>
                    </a:solidFill>
                  </a:tcPr>
                </a:tc>
                <a:tc>
                  <a:txBody>
                    <a:bodyPr/>
                    <a:lstStyle/>
                    <a:p>
                      <a:r>
                        <a:rPr sz="1800" i="0" b="0">
                          <a:solidFill>
                            <a:srgbClr val="1A1F36"/>
                          </a:solidFill>
                          <a:latin typeface="Calibri"/>
                        </a:rPr>
                        <a:t>Benzodiazepines, barbiturates, sedating antihistamines</a:t>
                      </a:r>
                    </a:p>
                  </a:txBody>
                  <a:tcPr marL="109728" marR="109728" marT="45720" marB="45720" anchor="ctr">
                    <a:solidFill>
                      <a:srgbClr val="F1F2F8"/>
                    </a:solidFill>
                  </a:tcPr>
                </a:tc>
              </a:tr>
              <a:tr h="640080">
                <a:tc>
                  <a:txBody>
                    <a:bodyPr/>
                    <a:lstStyle/>
                    <a:p>
                      <a:r>
                        <a:rPr sz="1800" i="0" b="1">
                          <a:solidFill>
                            <a:srgbClr val="1A1F36"/>
                          </a:solidFill>
                          <a:latin typeface="Calibri"/>
                        </a:rPr>
                        <a:t>Higher</a:t>
                      </a:r>
                    </a:p>
                  </a:txBody>
                  <a:tcPr marL="109728" marR="109728" marT="45720" marB="45720" anchor="ctr">
                    <a:solidFill>
                      <a:srgbClr val="FFFFFF"/>
                    </a:solidFill>
                  </a:tcPr>
                </a:tc>
                <a:tc>
                  <a:txBody>
                    <a:bodyPr/>
                    <a:lstStyle/>
                    <a:p>
                      <a:r>
                        <a:rPr sz="1800" i="0" b="0">
                          <a:solidFill>
                            <a:srgbClr val="1A1F36"/>
                          </a:solidFill>
                          <a:latin typeface="Calibri"/>
                        </a:rPr>
                        <a:t>Sleep (hypnosis)</a:t>
                      </a:r>
                    </a:p>
                  </a:txBody>
                  <a:tcPr marL="109728" marR="109728" marT="45720" marB="45720" anchor="ctr">
                    <a:solidFill>
                      <a:srgbClr val="FFFFFF"/>
                    </a:solidFill>
                  </a:tcPr>
                </a:tc>
                <a:tc>
                  <a:txBody>
                    <a:bodyPr/>
                    <a:lstStyle/>
                    <a:p>
                      <a:r>
                        <a:rPr sz="1800" i="0" b="0">
                          <a:solidFill>
                            <a:srgbClr val="1A1F36"/>
                          </a:solidFill>
                          <a:latin typeface="Calibri"/>
                        </a:rPr>
                        <a:t>Benzodiazepines, Z-drugs, barbiturates</a:t>
                      </a:r>
                    </a:p>
                  </a:txBody>
                  <a:tcPr marL="109728" marR="109728" marT="45720" marB="45720" anchor="ctr">
                    <a:solidFill>
                      <a:srgbClr val="FFFFFF"/>
                    </a:solidFill>
                  </a:tcPr>
                </a:tc>
              </a:tr>
              <a:tr h="640080">
                <a:tc>
                  <a:txBody>
                    <a:bodyPr/>
                    <a:lstStyle/>
                    <a:p>
                      <a:r>
                        <a:rPr sz="1800" i="0" b="1">
                          <a:solidFill>
                            <a:srgbClr val="1A1F36"/>
                          </a:solidFill>
                          <a:latin typeface="Calibri"/>
                        </a:rPr>
                        <a:t>High</a:t>
                      </a:r>
                    </a:p>
                  </a:txBody>
                  <a:tcPr marL="109728" marR="109728" marT="45720" marB="45720" anchor="ctr">
                    <a:solidFill>
                      <a:srgbClr val="F1F2F8"/>
                    </a:solidFill>
                  </a:tcPr>
                </a:tc>
                <a:tc>
                  <a:txBody>
                    <a:bodyPr/>
                    <a:lstStyle/>
                    <a:p>
                      <a:r>
                        <a:rPr sz="1800" i="0" b="0">
                          <a:solidFill>
                            <a:srgbClr val="1A1F36"/>
                          </a:solidFill>
                          <a:latin typeface="Calibri"/>
                        </a:rPr>
                        <a:t>General anaesthesia</a:t>
                      </a:r>
                    </a:p>
                  </a:txBody>
                  <a:tcPr marL="109728" marR="109728" marT="45720" marB="45720" anchor="ctr">
                    <a:solidFill>
                      <a:srgbClr val="F1F2F8"/>
                    </a:solidFill>
                  </a:tcPr>
                </a:tc>
                <a:tc>
                  <a:txBody>
                    <a:bodyPr/>
                    <a:lstStyle/>
                    <a:p>
                      <a:r>
                        <a:rPr sz="1800" i="0" b="0">
                          <a:solidFill>
                            <a:srgbClr val="1A1F36"/>
                          </a:solidFill>
                          <a:latin typeface="Calibri"/>
                        </a:rPr>
                        <a:t>Midazolam, thiopental</a:t>
                      </a:r>
                    </a:p>
                  </a:txBody>
                  <a:tcPr marL="109728" marR="109728" marT="45720" marB="45720" anchor="ctr">
                    <a:solidFill>
                      <a:srgbClr val="F1F2F8"/>
                    </a:solidFill>
                  </a:tcPr>
                </a:tc>
              </a:tr>
              <a:tr h="640080">
                <a:tc>
                  <a:txBody>
                    <a:bodyPr/>
                    <a:lstStyle/>
                    <a:p>
                      <a:r>
                        <a:rPr sz="1800" i="0" b="1">
                          <a:solidFill>
                            <a:srgbClr val="1A1F36"/>
                          </a:solidFill>
                          <a:latin typeface="Calibri"/>
                        </a:rPr>
                        <a:t>Toxic</a:t>
                      </a:r>
                    </a:p>
                  </a:txBody>
                  <a:tcPr marL="109728" marR="109728" marT="45720" marB="45720" anchor="ctr">
                    <a:solidFill>
                      <a:srgbClr val="FFFFFF"/>
                    </a:solidFill>
                  </a:tcPr>
                </a:tc>
                <a:tc>
                  <a:txBody>
                    <a:bodyPr/>
                    <a:lstStyle/>
                    <a:p>
                      <a:r>
                        <a:rPr sz="1800" i="0" b="0">
                          <a:solidFill>
                            <a:srgbClr val="1A1F36"/>
                          </a:solidFill>
                          <a:latin typeface="Calibri"/>
                        </a:rPr>
                        <a:t>Coma, breathing depression, death</a:t>
                      </a:r>
                    </a:p>
                  </a:txBody>
                  <a:tcPr marL="109728" marR="109728" marT="45720" marB="45720" anchor="ctr">
                    <a:solidFill>
                      <a:srgbClr val="FFFFFF"/>
                    </a:solidFill>
                  </a:tcPr>
                </a:tc>
                <a:tc>
                  <a:txBody>
                    <a:bodyPr/>
                    <a:lstStyle/>
                    <a:p>
                      <a:r>
                        <a:rPr sz="1800" i="0" b="0">
                          <a:solidFill>
                            <a:srgbClr val="1A1F36"/>
                          </a:solidFill>
                          <a:latin typeface="Calibri"/>
                        </a:rPr>
                        <a:t>Barbiturates alone; benzodiazepines mainly with other depressants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Benzodiazepines bind to their own site on the GABA-A receptor, at the junction of the α and γ subunits. This site is separate from the GABA site. They are </a:t>
            </a:r>
            <a:r>
              <a:rPr sz="1800" i="0" b="1">
                <a:solidFill>
                  <a:srgbClr val="1A1F36"/>
                </a:solidFill>
                <a:latin typeface="Calibri"/>
              </a:rPr>
              <a:t>positive allosteric modulators</a:t>
            </a:r>
            <a:r>
              <a:rPr sz="1800" i="0" b="0">
                <a:solidFill>
                  <a:srgbClr val="1A1F36"/>
                </a:solidFill>
                <a:latin typeface="Calibri"/>
              </a:rPr>
              <a:t>: they do not open the channel alone. They make GABA more effective, so the channel </a:t>
            </a:r>
            <a:r>
              <a:rPr sz="1800" i="0" b="1">
                <a:solidFill>
                  <a:srgbClr val="1A1F36"/>
                </a:solidFill>
                <a:latin typeface="Calibri"/>
              </a:rPr>
              <a:t>opens more often</a:t>
            </a:r>
            <a:r>
              <a:rPr sz="1800" i="0" b="0">
                <a:solidFill>
                  <a:srgbClr val="1A1F36"/>
                </a:solidFill>
                <a:latin typeface="Calibri"/>
              </a:rPr>
              <a:t> when GABA binds. More Cl- enters, and the neuron is inhibited.</a:t>
            </a:r>
          </a:p>
        </p:txBody>
      </p:sp>
      <p:pic>
        <p:nvPicPr>
          <p:cNvPr id="9" name="Picture 8" descr="Top view of five subunits (two alpha, two beta, one gamma) around a chloride channel, with GABA sites between alpha and beta and the benzodiazepine site between alpha and gamma. A side panel summarises the action of each drug group."/>
          <p:cNvPicPr>
            <a:picLocks noChangeAspect="1"/>
          </p:cNvPicPr>
          <p:nvPr/>
        </p:nvPicPr>
        <p:blipFill>
          <a:blip r:embed="rId4"/>
          <a:stretch>
            <a:fillRect/>
          </a:stretch>
        </p:blipFill>
        <p:spPr>
          <a:xfrm>
            <a:off x="3403781" y="3127248"/>
            <a:ext cx="5384132" cy="2633472"/>
          </a:xfrm>
          <a:prstGeom prst="rect">
            <a:avLst/>
          </a:prstGeom>
        </p:spPr>
      </p:pic>
      <p:sp>
        <p:nvSpPr>
          <p:cNvPr id="10" name="TextBox 9"/>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The GABA-A receptor and the binding sites of GABA, benzodiazepines, Z-drugs, barbiturates and flumazenil.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Classes by duration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Because they need GABA to act, benzodiazepines have a ceiling effect. Alone, even in large overdose, they rarely stop breathing in healthy adults.</a:t>
            </a:r>
          </a:p>
        </p:txBody>
      </p:sp>
      <p:graphicFrame>
        <p:nvGraphicFramePr>
          <p:cNvPr id="9" name="Table 8"/>
          <p:cNvGraphicFramePr>
            <a:graphicFrameLocks noGrp="1"/>
          </p:cNvGraphicFramePr>
          <p:nvPr/>
        </p:nvGraphicFramePr>
        <p:xfrm>
          <a:off x="548640" y="2532887"/>
          <a:ext cx="11094413" cy="2560320"/>
        </p:xfrm>
        <a:graphic>
          <a:graphicData uri="http://schemas.openxmlformats.org/drawingml/2006/table">
            <a:tbl>
              <a:tblPr firstRow="0" bandRow="0">
                <a:tableStyleId>{5C22544A-7EE6-4342-B048-85BDC9FD1C3A}</a:tableStyleId>
              </a:tblPr>
              <a:tblGrid>
                <a:gridCol w="1957837"/>
                <a:gridCol w="4205725"/>
                <a:gridCol w="4930851"/>
              </a:tblGrid>
              <a:tr h="640080">
                <a:tc>
                  <a:txBody>
                    <a:bodyPr/>
                    <a:lstStyle/>
                    <a:p>
                      <a:r>
                        <a:rPr sz="1700" i="0" b="1">
                          <a:solidFill>
                            <a:srgbClr val="FFFFFF"/>
                          </a:solidFill>
                          <a:latin typeface="Calibri"/>
                        </a:rPr>
                        <a:t>Class</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Short-acting</a:t>
                      </a:r>
                    </a:p>
                  </a:txBody>
                  <a:tcPr marL="109728" marR="109728" marT="45720" marB="45720" anchor="ctr">
                    <a:solidFill>
                      <a:srgbClr val="FFFFFF"/>
                    </a:solidFill>
                  </a:tcPr>
                </a:tc>
                <a:tc>
                  <a:txBody>
                    <a:bodyPr/>
                    <a:lstStyle/>
                    <a:p>
                      <a:r>
                        <a:rPr sz="1800" i="0" b="0">
                          <a:solidFill>
                            <a:srgbClr val="1A1F36"/>
                          </a:solidFill>
                          <a:latin typeface="Calibri"/>
                        </a:rPr>
                        <a:t>Midazolam, triazolam</a:t>
                      </a:r>
                    </a:p>
                  </a:txBody>
                  <a:tcPr marL="109728" marR="109728" marT="45720" marB="45720" anchor="ctr">
                    <a:solidFill>
                      <a:srgbClr val="FFFFFF"/>
                    </a:solidFill>
                  </a:tcPr>
                </a:tc>
                <a:tc>
                  <a:txBody>
                    <a:bodyPr/>
                    <a:lstStyle/>
                    <a:p>
                      <a:r>
                        <a:rPr sz="1800" i="0" b="0">
                          <a:solidFill>
                            <a:srgbClr val="1A1F36"/>
                          </a:solidFill>
                          <a:latin typeface="Calibri"/>
                        </a:rPr>
                        <a:t>Midazolam is used IV for procedures; triazolam for trouble falling asleep</a:t>
                      </a:r>
                    </a:p>
                  </a:txBody>
                  <a:tcPr marL="109728" marR="109728" marT="45720" marB="45720" anchor="ctr">
                    <a:solidFill>
                      <a:srgbClr val="FFFFFF"/>
                    </a:solidFill>
                  </a:tcPr>
                </a:tc>
              </a:tr>
              <a:tr h="640080">
                <a:tc>
                  <a:txBody>
                    <a:bodyPr/>
                    <a:lstStyle/>
                    <a:p>
                      <a:r>
                        <a:rPr sz="1800" i="0" b="1">
                          <a:solidFill>
                            <a:srgbClr val="1A1F36"/>
                          </a:solidFill>
                          <a:latin typeface="Calibri"/>
                        </a:rPr>
                        <a:t>Intermediate-acting</a:t>
                      </a:r>
                    </a:p>
                  </a:txBody>
                  <a:tcPr marL="109728" marR="109728" marT="45720" marB="45720" anchor="ctr">
                    <a:solidFill>
                      <a:srgbClr val="F1F2F8"/>
                    </a:solidFill>
                  </a:tcPr>
                </a:tc>
                <a:tc>
                  <a:txBody>
                    <a:bodyPr/>
                    <a:lstStyle/>
                    <a:p>
                      <a:r>
                        <a:rPr sz="1800" i="0" b="0">
                          <a:solidFill>
                            <a:srgbClr val="1A1F36"/>
                          </a:solidFill>
                          <a:latin typeface="Calibri"/>
                        </a:rPr>
                        <a:t>Alprazolam, lorazepam, oxazepam, temazepam</a:t>
                      </a:r>
                    </a:p>
                  </a:txBody>
                  <a:tcPr marL="109728" marR="109728" marT="45720" marB="45720" anchor="ctr">
                    <a:solidFill>
                      <a:srgbClr val="F1F2F8"/>
                    </a:solidFill>
                  </a:tcPr>
                </a:tc>
                <a:tc>
                  <a:txBody>
                    <a:bodyPr/>
                    <a:lstStyle/>
                    <a:p>
                      <a:r>
                        <a:rPr sz="1800" i="0" b="0">
                          <a:solidFill>
                            <a:srgbClr val="1A1F36"/>
                          </a:solidFill>
                          <a:latin typeface="Calibri"/>
                        </a:rPr>
                        <a:t>Lorazepam and oxazepam have no active metabolites; safer in older people and in liver disease</a:t>
                      </a:r>
                    </a:p>
                  </a:txBody>
                  <a:tcPr marL="109728" marR="109728" marT="45720" marB="45720" anchor="ctr">
                    <a:solidFill>
                      <a:srgbClr val="F1F2F8"/>
                    </a:solidFill>
                  </a:tcPr>
                </a:tc>
              </a:tr>
              <a:tr h="640080">
                <a:tc>
                  <a:txBody>
                    <a:bodyPr/>
                    <a:lstStyle/>
                    <a:p>
                      <a:r>
                        <a:rPr sz="1800" i="0" b="1">
                          <a:solidFill>
                            <a:srgbClr val="1A1F36"/>
                          </a:solidFill>
                          <a:latin typeface="Calibri"/>
                        </a:rPr>
                        <a:t>Long-acting</a:t>
                      </a:r>
                    </a:p>
                  </a:txBody>
                  <a:tcPr marL="109728" marR="109728" marT="45720" marB="45720" anchor="ctr">
                    <a:solidFill>
                      <a:srgbClr val="FFFFFF"/>
                    </a:solidFill>
                  </a:tcPr>
                </a:tc>
                <a:tc>
                  <a:txBody>
                    <a:bodyPr/>
                    <a:lstStyle/>
                    <a:p>
                      <a:r>
                        <a:rPr sz="1800" i="0" b="0">
                          <a:solidFill>
                            <a:srgbClr val="1A1F36"/>
                          </a:solidFill>
                          <a:latin typeface="Calibri"/>
                        </a:rPr>
                        <a:t>Diazepam, chlordiazepoxide, clonazepam, flurazepam</a:t>
                      </a:r>
                    </a:p>
                  </a:txBody>
                  <a:tcPr marL="109728" marR="109728" marT="45720" marB="45720" anchor="ctr">
                    <a:solidFill>
                      <a:srgbClr val="FFFFFF"/>
                    </a:solidFill>
                  </a:tcPr>
                </a:tc>
                <a:tc>
                  <a:txBody>
                    <a:bodyPr/>
                    <a:lstStyle/>
                    <a:p>
                      <a:r>
                        <a:rPr sz="1800" i="0" b="0">
                          <a:solidFill>
                            <a:srgbClr val="1A1F36"/>
                          </a:solidFill>
                          <a:latin typeface="Calibri"/>
                        </a:rPr>
                        <a:t>Diazepam lasts 20–80 hours plus its active metabolite nordiazepam; hangover and build-up in older people</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Uses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Kinetics.</a:t>
            </a:r>
            <a:r>
              <a:rPr sz="1700" i="0" b="0">
                <a:solidFill>
                  <a:srgbClr val="1A1F36"/>
                </a:solidFill>
                <a:latin typeface="Calibri"/>
              </a:rPr>
              <a:t>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a:t>
            </a:r>
          </a:p>
          <a:p>
            <a:pPr>
              <a:spcAft>
                <a:spcPts val="800"/>
              </a:spcAft>
            </a:pPr>
            <a:r>
              <a:rPr sz="1700" i="0" b="1">
                <a:solidFill>
                  <a:srgbClr val="1A1F36"/>
                </a:solidFill>
                <a:latin typeface="Calibri"/>
              </a:rPr>
              <a:t>Short-term or maintenance use:</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277874"/>
          </a:xfrm>
          <a:prstGeom prst="rect">
            <a:avLst/>
          </a:prstGeom>
          <a:noFill/>
        </p:spPr>
        <p:txBody>
          <a:bodyPr wrap="square" anchor="t" lIns="0" rIns="0" tIns="0" bIns="0">
            <a:spAutoFit/>
          </a:bodyPr>
          <a:lstStyle/>
          <a:p>
            <a:r>
              <a:rPr sz="2100" i="0" b="0">
                <a:solidFill>
                  <a:srgbClr val="1A1F36"/>
                </a:solidFill>
                <a:latin typeface="Calibri"/>
              </a:rPr>
              <a:t>Short-term relief of severe anxiety or panic, for 2 to 4 weeks, often while an SSRI starts to work.</a:t>
            </a:r>
          </a:p>
        </p:txBody>
      </p:sp>
      <p:sp>
        <p:nvSpPr>
          <p:cNvPr id="11" name="Oval 10"/>
          <p:cNvSpPr/>
          <p:nvPr/>
        </p:nvSpPr>
        <p:spPr>
          <a:xfrm>
            <a:off x="5394959" y="28963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914650"/>
            <a:ext cx="5653735" cy="611124"/>
          </a:xfrm>
          <a:prstGeom prst="rect">
            <a:avLst/>
          </a:prstGeom>
          <a:noFill/>
        </p:spPr>
        <p:txBody>
          <a:bodyPr wrap="square" anchor="t" lIns="0" rIns="0" tIns="0" bIns="0">
            <a:spAutoFit/>
          </a:bodyPr>
          <a:lstStyle/>
          <a:p>
            <a:r>
              <a:rPr sz="2100" i="0" b="0">
                <a:solidFill>
                  <a:srgbClr val="1A1F36"/>
                </a:solidFill>
                <a:latin typeface="Calibri"/>
              </a:rPr>
              <a:t>Short-term insomnia.</a:t>
            </a:r>
          </a:p>
        </p:txBody>
      </p:sp>
      <p:sp>
        <p:nvSpPr>
          <p:cNvPr id="13" name="Oval 12"/>
          <p:cNvSpPr/>
          <p:nvPr/>
        </p:nvSpPr>
        <p:spPr>
          <a:xfrm>
            <a:off x="5394959"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571494"/>
            <a:ext cx="5653735" cy="944499"/>
          </a:xfrm>
          <a:prstGeom prst="rect">
            <a:avLst/>
          </a:prstGeom>
          <a:noFill/>
        </p:spPr>
        <p:txBody>
          <a:bodyPr wrap="square" anchor="t" lIns="0" rIns="0" tIns="0" bIns="0">
            <a:spAutoFit/>
          </a:bodyPr>
          <a:lstStyle/>
          <a:p>
            <a:r>
              <a:rPr sz="2100" i="0" b="0">
                <a:solidFill>
                  <a:srgbClr val="1A1F36"/>
                </a:solidFill>
                <a:latin typeface="Calibri"/>
              </a:rPr>
              <a:t>Alcohol withdrawal (chlordiazepoxide or diazepam; lorazepam in liver disease).</a:t>
            </a:r>
          </a:p>
        </p:txBody>
      </p:sp>
      <p:sp>
        <p:nvSpPr>
          <p:cNvPr id="15" name="Oval 14"/>
          <p:cNvSpPr/>
          <p:nvPr/>
        </p:nvSpPr>
        <p:spPr>
          <a:xfrm>
            <a:off x="5394959"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561713"/>
            <a:ext cx="5653735" cy="611124"/>
          </a:xfrm>
          <a:prstGeom prst="rect">
            <a:avLst/>
          </a:prstGeom>
          <a:noFill/>
        </p:spPr>
        <p:txBody>
          <a:bodyPr wrap="square" anchor="t" lIns="0" rIns="0" tIns="0" bIns="0">
            <a:spAutoFit/>
          </a:bodyPr>
          <a:lstStyle/>
          <a:p>
            <a:r>
              <a:rPr sz="2100" i="0" b="0">
                <a:solidFill>
                  <a:srgbClr val="1A1F36"/>
                </a:solidFill>
                <a:latin typeface="Calibri"/>
              </a:rPr>
              <a:t>Muscle spasm and spasticity (diazepam).</a:t>
            </a:r>
          </a:p>
        </p:txBody>
      </p:sp>
      <p:sp>
        <p:nvSpPr>
          <p:cNvPr id="17" name="Oval 16"/>
          <p:cNvSpPr/>
          <p:nvPr/>
        </p:nvSpPr>
        <p:spPr>
          <a:xfrm>
            <a:off x="5394959"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Some seizure types (clonazepam, clobazam), as add-on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Uses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Rescue and procedural use:</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and prolonged seizures. The drug depends on the route: IV lorazepam, IM or buccal midazolam, or rectal diazepam when there is no IV access (Chapter 5).</a:t>
            </a:r>
          </a:p>
        </p:txBody>
      </p:sp>
      <p:sp>
        <p:nvSpPr>
          <p:cNvPr id="11" name="Oval 10"/>
          <p:cNvSpPr/>
          <p:nvPr/>
        </p:nvSpPr>
        <p:spPr>
          <a:xfrm>
            <a:off x="548640" y="377532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93616"/>
            <a:ext cx="10500055" cy="808863"/>
          </a:xfrm>
          <a:prstGeom prst="rect">
            <a:avLst/>
          </a:prstGeom>
          <a:noFill/>
        </p:spPr>
        <p:txBody>
          <a:bodyPr wrap="square" anchor="t" lIns="0" rIns="0" tIns="0" bIns="0">
            <a:spAutoFit/>
          </a:bodyPr>
          <a:lstStyle/>
          <a:p>
            <a:r>
              <a:rPr sz="2100" i="0" b="0">
                <a:solidFill>
                  <a:srgbClr val="1A1F36"/>
                </a:solidFill>
                <a:latin typeface="Calibri"/>
              </a:rPr>
              <a:t>Sedation and amnesia for endoscopy and other procedures (IV midazolam).</a:t>
            </a:r>
          </a:p>
        </p:txBody>
      </p:sp>
      <p:sp>
        <p:nvSpPr>
          <p:cNvPr id="13" name="Oval 12"/>
          <p:cNvSpPr/>
          <p:nvPr/>
        </p:nvSpPr>
        <p:spPr>
          <a:xfrm>
            <a:off x="548640" y="462991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648200"/>
            <a:ext cx="10500055" cy="808863"/>
          </a:xfrm>
          <a:prstGeom prst="rect">
            <a:avLst/>
          </a:prstGeom>
          <a:noFill/>
        </p:spPr>
        <p:txBody>
          <a:bodyPr wrap="square" anchor="t" lIns="0" rIns="0" tIns="0" bIns="0">
            <a:spAutoFit/>
          </a:bodyPr>
          <a:lstStyle/>
          <a:p>
            <a:r>
              <a:rPr sz="2100" i="0" b="0">
                <a:solidFill>
                  <a:srgbClr val="1A1F36"/>
                </a:solidFill>
                <a:latin typeface="Calibri"/>
              </a:rPr>
              <a:t>Premedication before anaesthesia.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Benzodiazepines are </a:t>
            </a:r>
            <a:r>
              <a:rPr sz="2100" i="0" b="1">
                <a:solidFill>
                  <a:srgbClr val="1A1F36"/>
                </a:solidFill>
                <a:latin typeface="Calibri"/>
              </a:rPr>
              <a:t>not</a:t>
            </a:r>
            <a:r>
              <a:rPr sz="2100" i="0" b="0">
                <a:solidFill>
                  <a:srgbClr val="1A1F36"/>
                </a:solidFill>
                <a:latin typeface="Calibri"/>
              </a:rPr>
              <a:t> a treatment for obsessive–compulsive disorder or for depression.</a:t>
            </a:r>
          </a:p>
          <a:p>
            <a:pPr>
              <a:spcAft>
                <a:spcPts val="800"/>
              </a:spcAft>
            </a:pPr>
            <a:r>
              <a:rPr sz="2100" i="0" b="0">
                <a:solidFill>
                  <a:srgbClr val="1A1F36"/>
                </a:solidFill>
                <a:latin typeface="Calibri"/>
              </a:rPr>
              <a:t>Flumazenil is a competitive </a:t>
            </a:r>
            <a:r>
              <a:rPr sz="2100" i="0" b="1">
                <a:solidFill>
                  <a:srgbClr val="1A1F36"/>
                </a:solidFill>
                <a:latin typeface="Calibri"/>
              </a:rPr>
              <a:t>antagonist at the benzodiazepine site</a:t>
            </a:r>
            <a:r>
              <a:rPr sz="2100" i="0" b="0">
                <a:solidFill>
                  <a:srgbClr val="1A1F36"/>
                </a:solidFill>
                <a:latin typeface="Calibri"/>
              </a:rPr>
              <a:t> of the GABA-A receptor. It is not a GABA antagonist. It is given IV and quickly reverses benzodiazepine sedation, for example after a procedure. Its action is shorter than that of most benzodiazepines, so sedation can return; watch the patient.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946149"/>
          </a:xfrm>
          <a:prstGeom prst="rect">
            <a:avLst/>
          </a:prstGeom>
          <a:noFill/>
        </p:spPr>
        <p:txBody>
          <a:bodyPr wrap="square" anchor="t" lIns="0" rIns="0" tIns="0" bIns="0">
            <a:spAutoFit/>
          </a:bodyPr>
          <a:lstStyle/>
          <a:p>
            <a:r>
              <a:rPr sz="2100" i="0" b="0">
                <a:solidFill>
                  <a:srgbClr val="1A1F36"/>
                </a:solidFill>
                <a:latin typeface="Calibri"/>
              </a:rPr>
              <a:t>Drowsiness, impaired coordination and slow reactions, with next-day </a:t>
            </a:r>
            <a:r>
              <a:rPr sz="2100" i="0" b="1">
                <a:solidFill>
                  <a:srgbClr val="1A1F36"/>
                </a:solidFill>
                <a:latin typeface="Calibri"/>
              </a:rPr>
              <a:t>hangover</a:t>
            </a:r>
            <a:r>
              <a:rPr sz="2100" i="0" b="0">
                <a:solidFill>
                  <a:srgbClr val="1A1F36"/>
                </a:solidFill>
                <a:latin typeface="Calibri"/>
              </a:rPr>
              <a:t> from long-acting drugs.</a:t>
            </a:r>
          </a:p>
        </p:txBody>
      </p:sp>
      <p:sp>
        <p:nvSpPr>
          <p:cNvPr id="10" name="Oval 9"/>
          <p:cNvSpPr/>
          <p:nvPr/>
        </p:nvSpPr>
        <p:spPr>
          <a:xfrm>
            <a:off x="548640" y="256463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2926"/>
            <a:ext cx="10500055" cy="612775"/>
          </a:xfrm>
          <a:prstGeom prst="rect">
            <a:avLst/>
          </a:prstGeom>
          <a:noFill/>
        </p:spPr>
        <p:txBody>
          <a:bodyPr wrap="square" anchor="t" lIns="0" rIns="0" tIns="0" bIns="0">
            <a:spAutoFit/>
          </a:bodyPr>
          <a:lstStyle/>
          <a:p>
            <a:r>
              <a:rPr sz="2100" i="0" b="1">
                <a:solidFill>
                  <a:srgbClr val="1A1F36"/>
                </a:solidFill>
                <a:latin typeface="Calibri"/>
              </a:rPr>
              <a:t>Anterograde amnesia</a:t>
            </a:r>
            <a:r>
              <a:rPr sz="2100" i="0" b="0">
                <a:solidFill>
                  <a:srgbClr val="1A1F36"/>
                </a:solidFill>
                <a:latin typeface="Calibri"/>
              </a:rPr>
              <a:t>: new events are not remembered.</a:t>
            </a:r>
          </a:p>
        </p:txBody>
      </p:sp>
      <p:sp>
        <p:nvSpPr>
          <p:cNvPr id="12" name="Oval 11"/>
          <p:cNvSpPr/>
          <p:nvPr/>
        </p:nvSpPr>
        <p:spPr>
          <a:xfrm>
            <a:off x="548640" y="32231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241421"/>
            <a:ext cx="10500055" cy="612775"/>
          </a:xfrm>
          <a:prstGeom prst="rect">
            <a:avLst/>
          </a:prstGeom>
          <a:noFill/>
        </p:spPr>
        <p:txBody>
          <a:bodyPr wrap="square" anchor="t" lIns="0" rIns="0" tIns="0" bIns="0">
            <a:spAutoFit/>
          </a:bodyPr>
          <a:lstStyle/>
          <a:p>
            <a:r>
              <a:rPr sz="2100" i="0" b="0">
                <a:solidFill>
                  <a:srgbClr val="1A1F36"/>
                </a:solidFill>
                <a:latin typeface="Calibri"/>
              </a:rPr>
              <a:t>Falls, confusion and hip fracture in older people.</a:t>
            </a:r>
          </a:p>
        </p:txBody>
      </p:sp>
      <p:sp>
        <p:nvSpPr>
          <p:cNvPr id="14" name="Oval 13"/>
          <p:cNvSpPr/>
          <p:nvPr/>
        </p:nvSpPr>
        <p:spPr>
          <a:xfrm>
            <a:off x="548640" y="388162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899916"/>
            <a:ext cx="10500055" cy="612775"/>
          </a:xfrm>
          <a:prstGeom prst="rect">
            <a:avLst/>
          </a:prstGeom>
          <a:noFill/>
        </p:spPr>
        <p:txBody>
          <a:bodyPr wrap="square" anchor="t" lIns="0" rIns="0" tIns="0" bIns="0">
            <a:spAutoFit/>
          </a:bodyPr>
          <a:lstStyle/>
          <a:p>
            <a:r>
              <a:rPr sz="2100" i="0" b="0">
                <a:solidFill>
                  <a:srgbClr val="1A1F36"/>
                </a:solidFill>
                <a:latin typeface="Calibri"/>
              </a:rPr>
              <a:t>Paradoxical agitation, sometimes in children and older people.</a:t>
            </a:r>
          </a:p>
        </p:txBody>
      </p:sp>
      <p:sp>
        <p:nvSpPr>
          <p:cNvPr id="16" name="Oval 15"/>
          <p:cNvSpPr/>
          <p:nvPr/>
        </p:nvSpPr>
        <p:spPr>
          <a:xfrm>
            <a:off x="548640" y="454012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4558411"/>
            <a:ext cx="10500055" cy="612775"/>
          </a:xfrm>
          <a:prstGeom prst="rect">
            <a:avLst/>
          </a:prstGeom>
          <a:noFill/>
        </p:spPr>
        <p:txBody>
          <a:bodyPr wrap="square" anchor="t" lIns="0" rIns="0" tIns="0" bIns="0">
            <a:spAutoFit/>
          </a:bodyPr>
          <a:lstStyle/>
          <a:p>
            <a:r>
              <a:rPr sz="2100" i="0" b="1">
                <a:solidFill>
                  <a:srgbClr val="1A1F36"/>
                </a:solidFill>
                <a:latin typeface="Calibri"/>
              </a:rPr>
              <a:t>Tolerance and dependence</a:t>
            </a:r>
            <a:r>
              <a:rPr sz="2100" i="0" b="0">
                <a:solidFill>
                  <a:srgbClr val="1A1F36"/>
                </a:solidFill>
                <a:latin typeface="Calibri"/>
              </a:rPr>
              <a:t> after a few weeks of regular use.</a:t>
            </a:r>
          </a:p>
        </p:txBody>
      </p:sp>
      <p:sp>
        <p:nvSpPr>
          <p:cNvPr id="18" name="Oval 17"/>
          <p:cNvSpPr/>
          <p:nvPr/>
        </p:nvSpPr>
        <p:spPr>
          <a:xfrm>
            <a:off x="548640" y="519861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1143000" y="5216906"/>
            <a:ext cx="10500055" cy="946149"/>
          </a:xfrm>
          <a:prstGeom prst="rect">
            <a:avLst/>
          </a:prstGeom>
          <a:noFill/>
        </p:spPr>
        <p:txBody>
          <a:bodyPr wrap="square" anchor="t" lIns="0" rIns="0" tIns="0" bIns="0">
            <a:spAutoFit/>
          </a:bodyPr>
          <a:lstStyle/>
          <a:p>
            <a:r>
              <a:rPr sz="2100" i="0" b="1">
                <a:solidFill>
                  <a:srgbClr val="1A1F36"/>
                </a:solidFill>
                <a:latin typeface="Calibri"/>
              </a:rPr>
              <a:t>Withdrawal</a:t>
            </a:r>
            <a:r>
              <a:rPr sz="2100" i="0" b="0">
                <a:solidFill>
                  <a:srgbClr val="1A1F36"/>
                </a:solidFill>
                <a:latin typeface="Calibri"/>
              </a:rPr>
              <a:t> on sudden stopping: anxiety, insomnia, tremor, confusion and, rarely, seizures. It is worse and quicker with short-acting drugs.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1A1F36"/>
                </a:solidFill>
                <a:latin typeface="Calibri"/>
              </a:rPr>
              <a:t>Rebound insomnia</a:t>
            </a:r>
            <a:r>
              <a:rPr sz="2100" i="0" b="0">
                <a:solidFill>
                  <a:srgbClr val="1A1F36"/>
                </a:solidFill>
                <a:latin typeface="Calibri"/>
              </a:rPr>
              <a:t> after stopping hypnotic doses.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Pregnancy: neonatal sedation and withdrawal ("floppy infant") near term. They pass into breast milk.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Benzodiazepines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335584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2487168"/>
          </a:xfrm>
          <a:prstGeom prst="rect">
            <a:avLst/>
          </a:prstGeom>
          <a:noFill/>
        </p:spPr>
        <p:txBody>
          <a:bodyPr wrap="square" anchor="t" lIns="0" rIns="0" tIns="0" bIns="0">
            <a:spAutoFit/>
          </a:bodyPr>
          <a:lstStyle/>
          <a:p>
            <a:r>
              <a:rPr sz="1800" i="0" b="0">
                <a:solidFill>
                  <a:srgbClr val="1A1F36"/>
                </a:solidFill>
                <a:latin typeface="Calibri"/>
              </a:rPr>
              <a:t>Benzodiazepines have a wide margin of safety when taken </a:t>
            </a:r>
            <a:r>
              <a:rPr sz="1800" i="0" b="1">
                <a:solidFill>
                  <a:srgbClr val="1A1F36"/>
                </a:solidFill>
                <a:latin typeface="Calibri"/>
              </a:rPr>
              <a:t>alone</a:t>
            </a:r>
            <a:r>
              <a:rPr sz="1800" i="0" b="0">
                <a:solidFill>
                  <a:srgbClr val="1A1F36"/>
                </a:solidFill>
                <a:latin typeface="Calibri"/>
              </a:rPr>
              <a:t>. Combined with </a:t>
            </a:r>
            <a:r>
              <a:rPr sz="1800" i="0" b="1">
                <a:solidFill>
                  <a:srgbClr val="1A1F36"/>
                </a:solidFill>
                <a:latin typeface="Calibri"/>
              </a:rPr>
              <a:t>alcohol, opioids or other CNS depressants</a:t>
            </a:r>
            <a:r>
              <a:rPr sz="1800" i="0" b="0">
                <a:solidFill>
                  <a:srgbClr val="1A1F36"/>
                </a:solidFill>
                <a:latin typeface="Calibri"/>
              </a:rPr>
              <a:t>, they can cause deep sedation, breathing depression, coma and death. They carry a boxed warning for this combination, and for misuse, addiction, dependence and withdrawal. In older people they cause falls and confusion. Prescribe the lowest dose for the shortest time, usually no more than 2 to 4 weeks. Warn patients not to drive if drowsy and not to drink alcohol. Taper slowly after regular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Do not give flumazenil routinely in an unknown overdose. It can cause seizures in patients dependent on benzodiazepines and in mixed overdoses with tricyclic antidepressants. Supportive care is usually enough.</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Anxiolytics, Sedatives and Hypnotics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Buspirone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SSRIs (for example sertraline or escitalopram) and SNRIs (venlafaxine, duloxetine) are the </a:t>
            </a:r>
            <a:r>
              <a:rPr sz="1800" i="0" b="1">
                <a:solidFill>
                  <a:srgbClr val="1A1F36"/>
                </a:solidFill>
                <a:latin typeface="Calibri"/>
              </a:rPr>
              <a:t>first-choice drugs</a:t>
            </a:r>
            <a:r>
              <a:rPr sz="1800" i="0" b="0">
                <a:solidFill>
                  <a:srgbClr val="1A1F36"/>
                </a:solidFill>
                <a:latin typeface="Calibri"/>
              </a:rPr>
              <a:t> for long-term anxiety disorders such as GAD and panic disorder. They cause no dependence. They take 2 to 6 weeks to work, and anxiety can rise in the first days. So a benzodiazepine may be added for a short time at the start, then tapered.</a:t>
            </a:r>
          </a:p>
          <a:p>
            <a:pPr>
              <a:spcAft>
                <a:spcPts val="800"/>
              </a:spcAft>
            </a:pPr>
            <a:r>
              <a:rPr sz="1800" i="0" b="0">
                <a:solidFill>
                  <a:srgbClr val="1A1F36"/>
                </a:solidFill>
                <a:latin typeface="Calibri"/>
              </a:rPr>
              <a:t>Buspirone is a </a:t>
            </a:r>
            <a:r>
              <a:rPr sz="1800" i="0" b="1">
                <a:solidFill>
                  <a:srgbClr val="1A1F36"/>
                </a:solidFill>
                <a:latin typeface="Calibri"/>
              </a:rPr>
              <a:t>5-HT1A partial agonist</a:t>
            </a:r>
            <a:r>
              <a:rPr sz="1800" i="0" b="0">
                <a:solidFill>
                  <a:srgbClr val="1A1F36"/>
                </a:solidFill>
                <a:latin typeface="Calibri"/>
              </a:rPr>
              <a:t> with some D2 affinity. It treats GAD with efficacy similar to benzodiazepines. Its onset is slow, 1 to 2 weeks or more, so it is </a:t>
            </a:r>
            <a:r>
              <a:rPr sz="1800" i="0" b="1">
                <a:solidFill>
                  <a:srgbClr val="1A1F36"/>
                </a:solidFill>
                <a:latin typeface="Calibri"/>
              </a:rPr>
              <a:t>not</a:t>
            </a:r>
            <a:r>
              <a:rPr sz="1800" i="0" b="0">
                <a:solidFill>
                  <a:srgbClr val="1A1F36"/>
                </a:solidFill>
                <a:latin typeface="Calibri"/>
              </a:rPr>
              <a:t> used "as needed" for acute anxiety.</a:t>
            </a:r>
          </a:p>
          <a:p>
            <a:pPr>
              <a:spcAft>
                <a:spcPts val="800"/>
              </a:spcAft>
            </a:pPr>
            <a:r>
              <a:rPr sz="1800" i="0" b="0">
                <a:solidFill>
                  <a:srgbClr val="1A1F36"/>
                </a:solidFill>
                <a:latin typeface="Calibri"/>
              </a:rPr>
              <a:t>Advantages: little sedation, no amnesia, no dependence and no interaction with alcohol. It has no anticonvulsant or muscle-relaxant effect. It does not treat benzodiazepine withdrawal. Adverse effects: headache, dizziness, nausea and nervousness.</a:t>
            </a:r>
          </a:p>
          <a:p>
            <a:pPr>
              <a:spcAft>
                <a:spcPts val="800"/>
              </a:spcAft>
            </a:pPr>
            <a:r>
              <a:rPr sz="1800" i="0" b="0">
                <a:solidFill>
                  <a:srgbClr val="1A1F36"/>
                </a:solidFill>
                <a:latin typeface="Calibri"/>
              </a:rPr>
              <a:t>Other drugs used in anxiety: pregabalin (GAD), propranolol for physical symptoms of performance anxiety, and hydroxyzine for short-term relief.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Buspirone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3354125"/>
                <a:gridCol w="2064077"/>
                <a:gridCol w="2150080"/>
                <a:gridCol w="3526131"/>
              </a:tblGrid>
              <a:tr h="640080">
                <a:tc>
                  <a:txBody>
                    <a:bodyPr/>
                    <a:lstStyle/>
                    <a:p>
                      <a:r>
                        <a:rPr sz="1800" i="0" b="1">
                          <a:solidFill>
                            <a:srgbClr val="FFFFFF"/>
                          </a:solidFill>
                          <a:latin typeface="Calibri"/>
                        </a:rPr>
                        <a:t>Feature</a:t>
                      </a:r>
                    </a:p>
                  </a:txBody>
                  <a:tcPr marL="109728" marR="109728" marT="45720" marB="45720" anchor="ctr">
                    <a:solidFill>
                      <a:srgbClr val="1B2A8C"/>
                    </a:solidFill>
                  </a:tcPr>
                </a:tc>
                <a:tc>
                  <a:txBody>
                    <a:bodyPr/>
                    <a:lstStyle/>
                    <a:p>
                      <a:r>
                        <a:rPr sz="1800" i="0" b="1">
                          <a:solidFill>
                            <a:srgbClr val="FFFFFF"/>
                          </a:solidFill>
                          <a:latin typeface="Calibri"/>
                        </a:rPr>
                        <a:t>Benzodiazepines</a:t>
                      </a:r>
                    </a:p>
                  </a:txBody>
                  <a:tcPr marL="109728" marR="109728" marT="45720" marB="45720" anchor="ctr">
                    <a:solidFill>
                      <a:srgbClr val="1B2A8C"/>
                    </a:solidFill>
                  </a:tcPr>
                </a:tc>
                <a:tc>
                  <a:txBody>
                    <a:bodyPr/>
                    <a:lstStyle/>
                    <a:p>
                      <a:r>
                        <a:rPr sz="1800" i="0" b="1">
                          <a:solidFill>
                            <a:srgbClr val="FFFFFF"/>
                          </a:solidFill>
                          <a:latin typeface="Calibri"/>
                        </a:rPr>
                        <a:t>Buspirone</a:t>
                      </a:r>
                    </a:p>
                  </a:txBody>
                  <a:tcPr marL="109728" marR="109728" marT="45720" marB="45720" anchor="ctr">
                    <a:solidFill>
                      <a:srgbClr val="1B2A8C"/>
                    </a:solidFill>
                  </a:tcPr>
                </a:tc>
                <a:tc>
                  <a:txBody>
                    <a:bodyPr/>
                    <a:lstStyle/>
                    <a:p>
                      <a:r>
                        <a:rPr sz="1800" i="0" b="1">
                          <a:solidFill>
                            <a:srgbClr val="FFFFFF"/>
                          </a:solidFill>
                          <a:latin typeface="Calibri"/>
                        </a:rPr>
                        <a:t>SSRIs/SNRIs</a:t>
                      </a:r>
                    </a:p>
                  </a:txBody>
                  <a:tcPr marL="109728" marR="109728" marT="45720" marB="45720" anchor="ctr">
                    <a:solidFill>
                      <a:srgbClr val="1B2A8C"/>
                    </a:solidFill>
                  </a:tcPr>
                </a:tc>
              </a:tr>
              <a:tr h="640080">
                <a:tc>
                  <a:txBody>
                    <a:bodyPr/>
                    <a:lstStyle/>
                    <a:p>
                      <a:r>
                        <a:rPr sz="1900" i="0" b="1">
                          <a:solidFill>
                            <a:srgbClr val="1A1F36"/>
                          </a:solidFill>
                          <a:latin typeface="Calibri"/>
                        </a:rPr>
                        <a:t>Onset</a:t>
                      </a:r>
                    </a:p>
                  </a:txBody>
                  <a:tcPr marL="109728" marR="109728" marT="45720" marB="45720" anchor="ctr">
                    <a:solidFill>
                      <a:srgbClr val="FFFFFF"/>
                    </a:solidFill>
                  </a:tcPr>
                </a:tc>
                <a:tc>
                  <a:txBody>
                    <a:bodyPr/>
                    <a:lstStyle/>
                    <a:p>
                      <a:r>
                        <a:rPr sz="1900" i="0" b="0">
                          <a:solidFill>
                            <a:srgbClr val="1A1F36"/>
                          </a:solidFill>
                          <a:latin typeface="Calibri"/>
                        </a:rPr>
                        <a:t>Minutes to hours</a:t>
                      </a:r>
                    </a:p>
                  </a:txBody>
                  <a:tcPr marL="109728" marR="109728" marT="45720" marB="45720" anchor="ctr">
                    <a:solidFill>
                      <a:srgbClr val="FFFFFF"/>
                    </a:solidFill>
                  </a:tcPr>
                </a:tc>
                <a:tc>
                  <a:txBody>
                    <a:bodyPr/>
                    <a:lstStyle/>
                    <a:p>
                      <a:r>
                        <a:rPr sz="1900" i="0" b="0">
                          <a:solidFill>
                            <a:srgbClr val="1A1F36"/>
                          </a:solidFill>
                          <a:latin typeface="Calibri"/>
                        </a:rPr>
                        <a:t>1–2 weeks or more</a:t>
                      </a:r>
                    </a:p>
                  </a:txBody>
                  <a:tcPr marL="109728" marR="109728" marT="45720" marB="45720" anchor="ctr">
                    <a:solidFill>
                      <a:srgbClr val="FFFFFF"/>
                    </a:solidFill>
                  </a:tcPr>
                </a:tc>
                <a:tc>
                  <a:txBody>
                    <a:bodyPr/>
                    <a:lstStyle/>
                    <a:p>
                      <a:r>
                        <a:rPr sz="1900" i="0" b="0">
                          <a:solidFill>
                            <a:srgbClr val="1A1F36"/>
                          </a:solidFill>
                          <a:latin typeface="Calibri"/>
                        </a:rPr>
                        <a:t>2–6 weeks</a:t>
                      </a:r>
                    </a:p>
                  </a:txBody>
                  <a:tcPr marL="109728" marR="109728" marT="45720" marB="45720" anchor="ctr">
                    <a:solidFill>
                      <a:srgbClr val="FFFFFF"/>
                    </a:solidFill>
                  </a:tcPr>
                </a:tc>
              </a:tr>
              <a:tr h="640080">
                <a:tc>
                  <a:txBody>
                    <a:bodyPr/>
                    <a:lstStyle/>
                    <a:p>
                      <a:r>
                        <a:rPr sz="1900" i="0" b="1">
                          <a:solidFill>
                            <a:srgbClr val="1A1F36"/>
                          </a:solidFill>
                          <a:latin typeface="Calibri"/>
                        </a:rPr>
                        <a:t>Sedation</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r>
              <a:tr h="640080">
                <a:tc>
                  <a:txBody>
                    <a:bodyPr/>
                    <a:lstStyle/>
                    <a:p>
                      <a:r>
                        <a:rPr sz="1900" i="0" b="1">
                          <a:solidFill>
                            <a:srgbClr val="1A1F36"/>
                          </a:solidFill>
                          <a:latin typeface="Calibri"/>
                        </a:rPr>
                        <a:t>Dependence</a:t>
                      </a:r>
                    </a:p>
                  </a:txBody>
                  <a:tcPr marL="109728" marR="109728" marT="45720" marB="45720" anchor="ctr">
                    <a:solidFill>
                      <a:srgbClr val="FFFFFF"/>
                    </a:solidFill>
                  </a:tcPr>
                </a:tc>
                <a:tc>
                  <a:txBody>
                    <a:bodyPr/>
                    <a:lstStyle/>
                    <a:p>
                      <a:r>
                        <a:rPr sz="1900" i="0" b="0">
                          <a:solidFill>
                            <a:srgbClr val="1A1F36"/>
                          </a:solidFill>
                          <a:latin typeface="Calibri"/>
                        </a:rPr>
                        <a:t>Yes</a:t>
                      </a:r>
                    </a:p>
                  </a:txBody>
                  <a:tcPr marL="109728" marR="109728" marT="45720" marB="45720" anchor="ctr">
                    <a:solidFill>
                      <a:srgbClr val="FFFFFF"/>
                    </a:solidFill>
                  </a:tcPr>
                </a:tc>
                <a:tc>
                  <a:txBody>
                    <a:bodyPr/>
                    <a:lstStyle/>
                    <a:p>
                      <a:r>
                        <a:rPr sz="1900" i="0" b="0">
                          <a:solidFill>
                            <a:srgbClr val="1A1F36"/>
                          </a:solidFill>
                          <a:latin typeface="Calibri"/>
                        </a:rPr>
                        <a:t>No</a:t>
                      </a:r>
                    </a:p>
                  </a:txBody>
                  <a:tcPr marL="109728" marR="109728" marT="45720" marB="45720" anchor="ctr">
                    <a:solidFill>
                      <a:srgbClr val="FFFFFF"/>
                    </a:solidFill>
                  </a:tcPr>
                </a:tc>
                <a:tc>
                  <a:txBody>
                    <a:bodyPr/>
                    <a:lstStyle/>
                    <a:p>
                      <a:r>
                        <a:rPr sz="1900" i="0" b="0">
                          <a:solidFill>
                            <a:srgbClr val="1A1F36"/>
                          </a:solidFill>
                          <a:latin typeface="Calibri"/>
                        </a:rPr>
                        <a:t>No (but discontinuation symptoms)</a:t>
                      </a:r>
                    </a:p>
                  </a:txBody>
                  <a:tcPr marL="109728" marR="109728" marT="45720" marB="45720" anchor="ctr">
                    <a:solidFill>
                      <a:srgbClr val="FFFFFF"/>
                    </a:solidFill>
                  </a:tcPr>
                </a:tc>
              </a:tr>
              <a:tr h="640080">
                <a:tc>
                  <a:txBody>
                    <a:bodyPr/>
                    <a:lstStyle/>
                    <a:p>
                      <a:r>
                        <a:rPr sz="1900" i="0" b="1">
                          <a:solidFill>
                            <a:srgbClr val="1A1F36"/>
                          </a:solidFill>
                          <a:latin typeface="Calibri"/>
                        </a:rPr>
                        <a:t>Anticonvulsant, muscle relaxant</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r>
              <a:tr h="640080">
                <a:tc>
                  <a:txBody>
                    <a:bodyPr/>
                    <a:lstStyle/>
                    <a:p>
                      <a:r>
                        <a:rPr sz="1900" i="0" b="1">
                          <a:solidFill>
                            <a:srgbClr val="1A1F36"/>
                          </a:solidFill>
                          <a:latin typeface="Calibri"/>
                        </a:rPr>
                        <a:t>Alcohol interaction</a:t>
                      </a:r>
                    </a:p>
                  </a:txBody>
                  <a:tcPr marL="109728" marR="109728" marT="45720" marB="45720" anchor="ctr">
                    <a:solidFill>
                      <a:srgbClr val="FFFFFF"/>
                    </a:solidFill>
                  </a:tcPr>
                </a:tc>
                <a:tc>
                  <a:txBody>
                    <a:bodyPr/>
                    <a:lstStyle/>
                    <a:p>
                      <a:r>
                        <a:rPr sz="1900" i="0" b="0">
                          <a:solidFill>
                            <a:srgbClr val="1A1F36"/>
                          </a:solidFill>
                          <a:latin typeface="Calibri"/>
                        </a:rPr>
                        <a:t>Dangerous</a:t>
                      </a:r>
                    </a:p>
                  </a:txBody>
                  <a:tcPr marL="109728" marR="109728" marT="45720" marB="45720" anchor="ctr">
                    <a:solidFill>
                      <a:srgbClr val="FFFFFF"/>
                    </a:solidFill>
                  </a:tcPr>
                </a:tc>
                <a:tc>
                  <a:txBody>
                    <a:bodyPr/>
                    <a:lstStyle/>
                    <a:p>
                      <a:r>
                        <a:rPr sz="1900" i="0" b="0">
                          <a:solidFill>
                            <a:srgbClr val="1A1F36"/>
                          </a:solidFill>
                          <a:latin typeface="Calibri"/>
                        </a:rPr>
                        <a:t>Minimal</a:t>
                      </a:r>
                    </a:p>
                  </a:txBody>
                  <a:tcPr marL="109728" marR="109728" marT="45720" marB="45720" anchor="ctr">
                    <a:solidFill>
                      <a:srgbClr val="FFFFFF"/>
                    </a:solidFill>
                  </a:tcPr>
                </a:tc>
                <a:tc>
                  <a:txBody>
                    <a:bodyPr/>
                    <a:lstStyle/>
                    <a:p>
                      <a:r>
                        <a:rPr sz="1900" i="0" b="0">
                          <a:solidFill>
                            <a:srgbClr val="1A1F36"/>
                          </a:solidFill>
                          <a:latin typeface="Calibri"/>
                        </a:rPr>
                        <a:t>Minor</a:t>
                      </a:r>
                    </a:p>
                  </a:txBody>
                  <a:tcPr marL="109728" marR="109728" marT="45720" marB="45720" anchor="ctr">
                    <a:solidFill>
                      <a:srgbClr val="FFFFFF"/>
                    </a:solidFill>
                  </a:tcPr>
                </a:tc>
              </a:tr>
              <a:tr h="640080">
                <a:tc>
                  <a:txBody>
                    <a:bodyPr/>
                    <a:lstStyle/>
                    <a:p>
                      <a:r>
                        <a:rPr sz="1900" i="0" b="1">
                          <a:solidFill>
                            <a:srgbClr val="1A1F36"/>
                          </a:solidFill>
                          <a:latin typeface="Calibri"/>
                        </a:rPr>
                        <a:t>Role in GAD</a:t>
                      </a:r>
                    </a:p>
                  </a:txBody>
                  <a:tcPr marL="109728" marR="109728" marT="45720" marB="45720" anchor="ctr">
                    <a:solidFill>
                      <a:srgbClr val="F1F2F8"/>
                    </a:solidFill>
                  </a:tcPr>
                </a:tc>
                <a:tc>
                  <a:txBody>
                    <a:bodyPr/>
                    <a:lstStyle/>
                    <a:p>
                      <a:r>
                        <a:rPr sz="1900" i="0" b="0">
                          <a:solidFill>
                            <a:srgbClr val="1A1F36"/>
                          </a:solidFill>
                          <a:latin typeface="Calibri"/>
                        </a:rPr>
                        <a:t>Short term only</a:t>
                      </a:r>
                    </a:p>
                  </a:txBody>
                  <a:tcPr marL="109728" marR="109728" marT="45720" marB="45720" anchor="ctr">
                    <a:solidFill>
                      <a:srgbClr val="F1F2F8"/>
                    </a:solidFill>
                  </a:tcPr>
                </a:tc>
                <a:tc>
                  <a:txBody>
                    <a:bodyPr/>
                    <a:lstStyle/>
                    <a:p>
                      <a:r>
                        <a:rPr sz="1900" i="0" b="0">
                          <a:solidFill>
                            <a:srgbClr val="1A1F36"/>
                          </a:solidFill>
                          <a:latin typeface="Calibri"/>
                        </a:rPr>
                        <a:t>Alternative</a:t>
                      </a:r>
                    </a:p>
                  </a:txBody>
                  <a:tcPr marL="109728" marR="109728" marT="45720" marB="45720" anchor="ctr">
                    <a:solidFill>
                      <a:srgbClr val="F1F2F8"/>
                    </a:solidFill>
                  </a:tcPr>
                </a:tc>
                <a:tc>
                  <a:txBody>
                    <a:bodyPr/>
                    <a:lstStyle/>
                    <a:p>
                      <a:r>
                        <a:rPr sz="1900" i="0" b="0">
                          <a:solidFill>
                            <a:srgbClr val="1A1F36"/>
                          </a:solidFill>
                          <a:latin typeface="Calibri"/>
                        </a:rPr>
                        <a:t>First choice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Barbiturates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Barbiturates bind a different site on the GABA-A receptor. They make the channel </a:t>
            </a:r>
            <a:r>
              <a:rPr sz="1800" i="0" b="1">
                <a:solidFill>
                  <a:srgbClr val="1A1F36"/>
                </a:solidFill>
                <a:latin typeface="Calibri"/>
              </a:rPr>
              <a:t>stay open longer</a:t>
            </a:r>
            <a:r>
              <a:rPr sz="1800" i="0" b="0">
                <a:solidFill>
                  <a:srgbClr val="1A1F36"/>
                </a:solidFill>
                <a:latin typeface="Calibri"/>
              </a:rPr>
              <a:t>. At high doses they open the channel directly, without GABA, and they also block glutamate receptors. They have no ceiling effect, so overdose causes coma, breathing depression and death.</a:t>
            </a:r>
          </a:p>
        </p:txBody>
      </p:sp>
      <p:graphicFrame>
        <p:nvGraphicFramePr>
          <p:cNvPr id="9" name="Table 8"/>
          <p:cNvGraphicFramePr>
            <a:graphicFrameLocks noGrp="1"/>
          </p:cNvGraphicFramePr>
          <p:nvPr/>
        </p:nvGraphicFramePr>
        <p:xfrm>
          <a:off x="548640" y="3127248"/>
          <a:ext cx="11094413" cy="2560320"/>
        </p:xfrm>
        <a:graphic>
          <a:graphicData uri="http://schemas.openxmlformats.org/drawingml/2006/table">
            <a:tbl>
              <a:tblPr firstRow="0" bandRow="0">
                <a:tableStyleId>{5C22544A-7EE6-4342-B048-85BDC9FD1C3A}</a:tableStyleId>
              </a:tblPr>
              <a:tblGrid>
                <a:gridCol w="2508302"/>
                <a:gridCol w="2025936"/>
                <a:gridCol w="6560175"/>
              </a:tblGrid>
              <a:tr h="640080">
                <a:tc>
                  <a:txBody>
                    <a:bodyPr/>
                    <a:lstStyle/>
                    <a:p>
                      <a:r>
                        <a:rPr sz="1900" i="0" b="1">
                          <a:solidFill>
                            <a:srgbClr val="FFFFFF"/>
                          </a:solidFill>
                          <a:latin typeface="Calibri"/>
                        </a:rPr>
                        <a:t>Class</a:t>
                      </a:r>
                    </a:p>
                  </a:txBody>
                  <a:tcPr marL="109728" marR="109728" marT="45720" marB="45720" anchor="ctr">
                    <a:solidFill>
                      <a:srgbClr val="1B2A8C"/>
                    </a:solidFill>
                  </a:tcPr>
                </a:tc>
                <a:tc>
                  <a:txBody>
                    <a:bodyPr/>
                    <a:lstStyle/>
                    <a:p>
                      <a:r>
                        <a:rPr sz="1900" i="0" b="1">
                          <a:solidFill>
                            <a:srgbClr val="FFFFFF"/>
                          </a:solidFill>
                          <a:latin typeface="Calibri"/>
                        </a:rPr>
                        <a:t>Example</a:t>
                      </a:r>
                    </a:p>
                  </a:txBody>
                  <a:tcPr marL="109728" marR="109728" marT="45720" marB="45720" anchor="ctr">
                    <a:solidFill>
                      <a:srgbClr val="1B2A8C"/>
                    </a:solidFill>
                  </a:tcPr>
                </a:tc>
                <a:tc>
                  <a:txBody>
                    <a:bodyPr/>
                    <a:lstStyle/>
                    <a:p>
                      <a:r>
                        <a:rPr sz="1900" i="0" b="1">
                          <a:solidFill>
                            <a:srgbClr val="FFFFFF"/>
                          </a:solidFill>
                          <a:latin typeface="Calibri"/>
                        </a:rPr>
                        <a:t>Use</a:t>
                      </a:r>
                    </a:p>
                  </a:txBody>
                  <a:tcPr marL="109728" marR="109728" marT="45720" marB="45720" anchor="ctr">
                    <a:solidFill>
                      <a:srgbClr val="1B2A8C"/>
                    </a:solidFill>
                  </a:tcPr>
                </a:tc>
              </a:tr>
              <a:tr h="640080">
                <a:tc>
                  <a:txBody>
                    <a:bodyPr/>
                    <a:lstStyle/>
                    <a:p>
                      <a:r>
                        <a:rPr sz="2000" i="0" b="1">
                          <a:solidFill>
                            <a:srgbClr val="1A1F36"/>
                          </a:solidFill>
                          <a:latin typeface="Calibri"/>
                        </a:rPr>
                        <a:t>Ultra-short-acting</a:t>
                      </a:r>
                    </a:p>
                  </a:txBody>
                  <a:tcPr marL="109728" marR="109728" marT="45720" marB="45720" anchor="ctr">
                    <a:solidFill>
                      <a:srgbClr val="FFFFFF"/>
                    </a:solidFill>
                  </a:tcPr>
                </a:tc>
                <a:tc>
                  <a:txBody>
                    <a:bodyPr/>
                    <a:lstStyle/>
                    <a:p>
                      <a:r>
                        <a:rPr sz="2000" i="0" b="0">
                          <a:solidFill>
                            <a:srgbClr val="1A1F36"/>
                          </a:solidFill>
                          <a:latin typeface="Calibri"/>
                        </a:rPr>
                        <a:t>Thiopental</a:t>
                      </a:r>
                    </a:p>
                  </a:txBody>
                  <a:tcPr marL="109728" marR="109728" marT="45720" marB="45720" anchor="ctr">
                    <a:solidFill>
                      <a:srgbClr val="FFFFFF"/>
                    </a:solidFill>
                  </a:tcPr>
                </a:tc>
                <a:tc>
                  <a:txBody>
                    <a:bodyPr/>
                    <a:lstStyle/>
                    <a:p>
                      <a:r>
                        <a:rPr sz="2000" i="0" b="0">
                          <a:solidFill>
                            <a:srgbClr val="1A1F36"/>
                          </a:solidFill>
                          <a:latin typeface="Calibri"/>
                        </a:rPr>
                        <a:t>Induction of anaesthesia (now mostly replaced by propofol)</a:t>
                      </a:r>
                    </a:p>
                  </a:txBody>
                  <a:tcPr marL="109728" marR="109728" marT="45720" marB="45720" anchor="ctr">
                    <a:solidFill>
                      <a:srgbClr val="FFFFFF"/>
                    </a:solidFill>
                  </a:tcPr>
                </a:tc>
              </a:tr>
              <a:tr h="640080">
                <a:tc>
                  <a:txBody>
                    <a:bodyPr/>
                    <a:lstStyle/>
                    <a:p>
                      <a:r>
                        <a:rPr sz="2000" i="0" b="1">
                          <a:solidFill>
                            <a:srgbClr val="1A1F36"/>
                          </a:solidFill>
                          <a:latin typeface="Calibri"/>
                        </a:rPr>
                        <a:t>Short-acting</a:t>
                      </a:r>
                    </a:p>
                  </a:txBody>
                  <a:tcPr marL="109728" marR="109728" marT="45720" marB="45720" anchor="ctr">
                    <a:solidFill>
                      <a:srgbClr val="F1F2F8"/>
                    </a:solidFill>
                  </a:tcPr>
                </a:tc>
                <a:tc>
                  <a:txBody>
                    <a:bodyPr/>
                    <a:lstStyle/>
                    <a:p>
                      <a:r>
                        <a:rPr sz="2000" i="0" b="0">
                          <a:solidFill>
                            <a:srgbClr val="1A1F36"/>
                          </a:solidFill>
                          <a:latin typeface="Calibri"/>
                        </a:rPr>
                        <a:t>Pentobarbital</a:t>
                      </a:r>
                    </a:p>
                  </a:txBody>
                  <a:tcPr marL="109728" marR="109728" marT="45720" marB="45720" anchor="ctr">
                    <a:solidFill>
                      <a:srgbClr val="F1F2F8"/>
                    </a:solidFill>
                  </a:tcPr>
                </a:tc>
                <a:tc>
                  <a:txBody>
                    <a:bodyPr/>
                    <a:lstStyle/>
                    <a:p>
                      <a:r>
                        <a:rPr sz="2000" i="0" b="0">
                          <a:solidFill>
                            <a:srgbClr val="1A1F36"/>
                          </a:solidFill>
                          <a:latin typeface="Calibri"/>
                        </a:rPr>
                        <a:t>Barbiturate coma for raised intracranial pressure</a:t>
                      </a:r>
                    </a:p>
                  </a:txBody>
                  <a:tcPr marL="109728" marR="109728" marT="45720" marB="45720" anchor="ctr">
                    <a:solidFill>
                      <a:srgbClr val="F1F2F8"/>
                    </a:solidFill>
                  </a:tcPr>
                </a:tc>
              </a:tr>
              <a:tr h="640080">
                <a:tc>
                  <a:txBody>
                    <a:bodyPr/>
                    <a:lstStyle/>
                    <a:p>
                      <a:r>
                        <a:rPr sz="2000" i="0" b="1">
                          <a:solidFill>
                            <a:srgbClr val="1A1F36"/>
                          </a:solidFill>
                          <a:latin typeface="Calibri"/>
                        </a:rPr>
                        <a:t>Long-acting</a:t>
                      </a:r>
                    </a:p>
                  </a:txBody>
                  <a:tcPr marL="109728" marR="109728" marT="45720" marB="45720" anchor="ctr">
                    <a:solidFill>
                      <a:srgbClr val="FFFFFF"/>
                    </a:solidFill>
                  </a:tcPr>
                </a:tc>
                <a:tc>
                  <a:txBody>
                    <a:bodyPr/>
                    <a:lstStyle/>
                    <a:p>
                      <a:r>
                        <a:rPr sz="2000" i="0" b="0">
                          <a:solidFill>
                            <a:srgbClr val="1A1F36"/>
                          </a:solidFill>
                          <a:latin typeface="Calibri"/>
                        </a:rPr>
                        <a:t>Phenobarbital</a:t>
                      </a:r>
                    </a:p>
                  </a:txBody>
                  <a:tcPr marL="109728" marR="109728" marT="45720" marB="45720" anchor="ctr">
                    <a:solidFill>
                      <a:srgbClr val="FFFFFF"/>
                    </a:solidFill>
                  </a:tcPr>
                </a:tc>
                <a:tc>
                  <a:txBody>
                    <a:bodyPr/>
                    <a:lstStyle/>
                    <a:p>
                      <a:r>
                        <a:rPr sz="2000" i="0" b="0">
                          <a:solidFill>
                            <a:srgbClr val="1A1F36"/>
                          </a:solidFill>
                          <a:latin typeface="Calibri"/>
                        </a:rPr>
                        <a:t>Seizures, including neonatal seizures and status epilepticus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Barbiturates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Barbiturates are no longer used for anxiety or insomnia because of:</a:t>
            </a:r>
          </a:p>
          <a:p>
            <a:pPr>
              <a:spcAft>
                <a:spcPts val="800"/>
              </a:spcAft>
            </a:pPr>
            <a:r>
              <a:rPr sz="1700" i="0" b="0">
                <a:solidFill>
                  <a:srgbClr val="1A1F36"/>
                </a:solidFill>
                <a:latin typeface="Calibri"/>
              </a:rPr>
              <a:t>Barbiturates are </a:t>
            </a:r>
            <a:r>
              <a:rPr sz="1700" i="0" b="1">
                <a:solidFill>
                  <a:srgbClr val="1A1F36"/>
                </a:solidFill>
                <a:latin typeface="Calibri"/>
              </a:rPr>
              <a:t>anticonvulsants</a:t>
            </a:r>
            <a:r>
              <a:rPr sz="1700" i="0" b="0">
                <a:solidFill>
                  <a:srgbClr val="1A1F36"/>
                </a:solidFill>
                <a:latin typeface="Calibri"/>
              </a:rPr>
              <a:t>; it is their withdrawal that causes seizures. Their enzyme induction was once used for neonatal jaundice, but phototherapy is the treatment of choice.</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611124"/>
          </a:xfrm>
          <a:prstGeom prst="rect">
            <a:avLst/>
          </a:prstGeom>
          <a:noFill/>
        </p:spPr>
        <p:txBody>
          <a:bodyPr wrap="square" anchor="t" lIns="0" rIns="0" tIns="0" bIns="0">
            <a:spAutoFit/>
          </a:bodyPr>
          <a:lstStyle/>
          <a:p>
            <a:r>
              <a:rPr sz="2100" i="0" b="0">
                <a:solidFill>
                  <a:srgbClr val="1A1F36"/>
                </a:solidFill>
                <a:latin typeface="Calibri"/>
              </a:rPr>
              <a:t>A narrow margin of safety.</a:t>
            </a:r>
          </a:p>
        </p:txBody>
      </p:sp>
      <p:sp>
        <p:nvSpPr>
          <p:cNvPr id="11" name="Oval 10"/>
          <p:cNvSpPr/>
          <p:nvPr/>
        </p:nvSpPr>
        <p:spPr>
          <a:xfrm>
            <a:off x="5394959" y="22296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247900"/>
            <a:ext cx="5653735" cy="611124"/>
          </a:xfrm>
          <a:prstGeom prst="rect">
            <a:avLst/>
          </a:prstGeom>
          <a:noFill/>
        </p:spPr>
        <p:txBody>
          <a:bodyPr wrap="square" anchor="t" lIns="0" rIns="0" tIns="0" bIns="0">
            <a:spAutoFit/>
          </a:bodyPr>
          <a:lstStyle/>
          <a:p>
            <a:r>
              <a:rPr sz="2100" i="0" b="0">
                <a:solidFill>
                  <a:srgbClr val="1A1F36"/>
                </a:solidFill>
                <a:latin typeface="Calibri"/>
              </a:rPr>
              <a:t>Rapid tolerance and strong dependence.</a:t>
            </a:r>
          </a:p>
        </p:txBody>
      </p:sp>
      <p:sp>
        <p:nvSpPr>
          <p:cNvPr id="13" name="Oval 12"/>
          <p:cNvSpPr/>
          <p:nvPr/>
        </p:nvSpPr>
        <p:spPr>
          <a:xfrm>
            <a:off x="5394959" y="28864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2904744"/>
            <a:ext cx="5653735" cy="944499"/>
          </a:xfrm>
          <a:prstGeom prst="rect">
            <a:avLst/>
          </a:prstGeom>
          <a:noFill/>
        </p:spPr>
        <p:txBody>
          <a:bodyPr wrap="square" anchor="t" lIns="0" rIns="0" tIns="0" bIns="0">
            <a:spAutoFit/>
          </a:bodyPr>
          <a:lstStyle/>
          <a:p>
            <a:r>
              <a:rPr sz="2100" i="0" b="0">
                <a:solidFill>
                  <a:srgbClr val="1A1F36"/>
                </a:solidFill>
                <a:latin typeface="Calibri"/>
              </a:rPr>
              <a:t>Severe withdrawal, which can cause seizures and delirium.</a:t>
            </a:r>
          </a:p>
        </p:txBody>
      </p:sp>
      <p:sp>
        <p:nvSpPr>
          <p:cNvPr id="15" name="Oval 14"/>
          <p:cNvSpPr/>
          <p:nvPr/>
        </p:nvSpPr>
        <p:spPr>
          <a:xfrm>
            <a:off x="5394959" y="387667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3894963"/>
            <a:ext cx="5653735" cy="1277874"/>
          </a:xfrm>
          <a:prstGeom prst="rect">
            <a:avLst/>
          </a:prstGeom>
          <a:noFill/>
        </p:spPr>
        <p:txBody>
          <a:bodyPr wrap="square" anchor="t" lIns="0" rIns="0" tIns="0" bIns="0">
            <a:spAutoFit/>
          </a:bodyPr>
          <a:lstStyle/>
          <a:p>
            <a:r>
              <a:rPr sz="2100" i="0" b="0">
                <a:solidFill>
                  <a:srgbClr val="1A1F36"/>
                </a:solidFill>
                <a:latin typeface="Calibri"/>
              </a:rPr>
              <a:t>Strong </a:t>
            </a:r>
            <a:r>
              <a:rPr sz="2100" i="0" b="1">
                <a:solidFill>
                  <a:srgbClr val="1A1F36"/>
                </a:solidFill>
                <a:latin typeface="Calibri"/>
              </a:rPr>
              <a:t>CYP induction</a:t>
            </a:r>
            <a:r>
              <a:rPr sz="2100" i="0" b="0">
                <a:solidFill>
                  <a:srgbClr val="1A1F36"/>
                </a:solidFill>
                <a:latin typeface="Calibri"/>
              </a:rPr>
              <a:t>, which lowers the levels of warfarin, oral contraceptives and many other drugs.</a:t>
            </a:r>
          </a:p>
        </p:txBody>
      </p:sp>
      <p:sp>
        <p:nvSpPr>
          <p:cNvPr id="17" name="Oval 16"/>
          <p:cNvSpPr/>
          <p:nvPr/>
        </p:nvSpPr>
        <p:spPr>
          <a:xfrm>
            <a:off x="5394959"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Precipitation of acute intermittent porphyria.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Z-drugs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Zolpidem, zaleplon and eszopiclone (and zopiclone) are not benzodiazepines in structure. They act at the benzodiazepine site, with selectivity for GABA-A receptors that contain the </a:t>
            </a:r>
            <a:r>
              <a:rPr sz="1800" i="0" b="1">
                <a:solidFill>
                  <a:srgbClr val="1A1F36"/>
                </a:solidFill>
                <a:latin typeface="Calibri"/>
              </a:rPr>
              <a:t>α1 subunit</a:t>
            </a:r>
            <a:r>
              <a:rPr sz="1800" i="0" b="0">
                <a:solidFill>
                  <a:srgbClr val="1A1F36"/>
                </a:solidFill>
                <a:latin typeface="Calibri"/>
              </a:rPr>
              <a:t>. So they are hypnotic, with little anxiolytic, anticonvulsant or muscle-relaxant effect. Flumazenil reverses them.</a:t>
            </a:r>
          </a:p>
        </p:txBody>
      </p:sp>
      <p:sp>
        <p:nvSpPr>
          <p:cNvPr id="9" name="Oval 8"/>
          <p:cNvSpPr/>
          <p:nvPr/>
        </p:nvSpPr>
        <p:spPr>
          <a:xfrm>
            <a:off x="548640" y="314553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3163824"/>
            <a:ext cx="10500055" cy="1080389"/>
          </a:xfrm>
          <a:prstGeom prst="rect">
            <a:avLst/>
          </a:prstGeom>
          <a:noFill/>
        </p:spPr>
        <p:txBody>
          <a:bodyPr wrap="square" anchor="t" lIns="0" rIns="0" tIns="0" bIns="0">
            <a:spAutoFit/>
          </a:bodyPr>
          <a:lstStyle/>
          <a:p>
            <a:r>
              <a:rPr sz="2100" i="0" b="1">
                <a:solidFill>
                  <a:srgbClr val="1A1F36"/>
                </a:solidFill>
                <a:latin typeface="Calibri"/>
              </a:rPr>
              <a:t>Zolpidem:</a:t>
            </a:r>
            <a:r>
              <a:rPr sz="2100" i="0" b="0">
                <a:solidFill>
                  <a:srgbClr val="1A1F36"/>
                </a:solidFill>
                <a:latin typeface="Calibri"/>
              </a:rPr>
              <a:t> fast onset; half-life 2 to 3 hours. Women clear it more slowly; lower doses are advised.</a:t>
            </a:r>
          </a:p>
        </p:txBody>
      </p:sp>
      <p:sp>
        <p:nvSpPr>
          <p:cNvPr id="11" name="Oval 10"/>
          <p:cNvSpPr/>
          <p:nvPr/>
        </p:nvSpPr>
        <p:spPr>
          <a:xfrm>
            <a:off x="548640" y="42716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289933"/>
            <a:ext cx="10500055" cy="747014"/>
          </a:xfrm>
          <a:prstGeom prst="rect">
            <a:avLst/>
          </a:prstGeom>
          <a:noFill/>
        </p:spPr>
        <p:txBody>
          <a:bodyPr wrap="square" anchor="t" lIns="0" rIns="0" tIns="0" bIns="0">
            <a:spAutoFit/>
          </a:bodyPr>
          <a:lstStyle/>
          <a:p>
            <a:r>
              <a:rPr sz="2100" i="0" b="1">
                <a:solidFill>
                  <a:srgbClr val="1A1F36"/>
                </a:solidFill>
                <a:latin typeface="Calibri"/>
              </a:rPr>
              <a:t>Zaleplon:</a:t>
            </a:r>
            <a:r>
              <a:rPr sz="2100" i="0" b="0">
                <a:solidFill>
                  <a:srgbClr val="1A1F36"/>
                </a:solidFill>
                <a:latin typeface="Calibri"/>
              </a:rPr>
              <a:t> half-life about 1 hour; for trouble falling asleep.</a:t>
            </a:r>
          </a:p>
        </p:txBody>
      </p:sp>
      <p:sp>
        <p:nvSpPr>
          <p:cNvPr id="13" name="Oval 12"/>
          <p:cNvSpPr/>
          <p:nvPr/>
        </p:nvSpPr>
        <p:spPr>
          <a:xfrm>
            <a:off x="548640" y="506437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5082667"/>
            <a:ext cx="10500055" cy="1080389"/>
          </a:xfrm>
          <a:prstGeom prst="rect">
            <a:avLst/>
          </a:prstGeom>
          <a:noFill/>
        </p:spPr>
        <p:txBody>
          <a:bodyPr wrap="square" anchor="t" lIns="0" rIns="0" tIns="0" bIns="0">
            <a:spAutoFit/>
          </a:bodyPr>
          <a:lstStyle/>
          <a:p>
            <a:r>
              <a:rPr sz="2100" i="0" b="1">
                <a:solidFill>
                  <a:srgbClr val="1A1F36"/>
                </a:solidFill>
                <a:latin typeface="Calibri"/>
              </a:rPr>
              <a:t>Eszopiclone:</a:t>
            </a:r>
            <a:r>
              <a:rPr sz="2100" i="0" b="0">
                <a:solidFill>
                  <a:srgbClr val="1A1F36"/>
                </a:solidFill>
                <a:latin typeface="Calibri"/>
              </a:rPr>
              <a:t> half-life about 6 hours; helps staying asleep but can cause next-morning impairment and a bitter taste.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1A1F36"/>
                </a:solidFill>
                <a:latin typeface="Cambria"/>
              </a:rPr>
              <a:t>Sedating antihistamines and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cause less hangover and rebound than benzodiazepines, but tolerance, dependence and misuse still occur. They are controlled drugs.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260983"/>
          </a:xfrm>
          <a:prstGeom prst="rect">
            <a:avLst/>
          </a:prstGeom>
          <a:noFill/>
        </p:spPr>
        <p:txBody>
          <a:bodyPr wrap="square" anchor="t" lIns="0" rIns="0" tIns="0" bIns="0">
            <a:spAutoFit/>
          </a:bodyPr>
          <a:lstStyle/>
          <a:p>
            <a:r>
              <a:rPr sz="2000" i="0" b="1">
                <a:solidFill>
                  <a:srgbClr val="1A1F36"/>
                </a:solidFill>
                <a:latin typeface="Calibri"/>
              </a:rPr>
              <a:t>H1 antihistamines</a:t>
            </a:r>
            <a:r>
              <a:rPr sz="2000" i="0" b="0">
                <a:solidFill>
                  <a:srgbClr val="1A1F36"/>
                </a:solidFill>
                <a:latin typeface="Calibri"/>
              </a:rPr>
              <a:t> (diphenhydramine, doxylamine, hydroxyzine) are sold for occasional insomnia. Tolerance develops in days. Their antimuscarinic effects cause confusion and urinary retention in older people.</a:t>
            </a:r>
          </a:p>
        </p:txBody>
      </p:sp>
      <p:sp>
        <p:nvSpPr>
          <p:cNvPr id="11" name="Oval 10"/>
          <p:cNvSpPr/>
          <p:nvPr/>
        </p:nvSpPr>
        <p:spPr>
          <a:xfrm>
            <a:off x="548640" y="385787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876166"/>
            <a:ext cx="10500055" cy="943482"/>
          </a:xfrm>
          <a:prstGeom prst="rect">
            <a:avLst/>
          </a:prstGeom>
          <a:noFill/>
        </p:spPr>
        <p:txBody>
          <a:bodyPr wrap="square" anchor="t" lIns="0" rIns="0" tIns="0" bIns="0">
            <a:spAutoFit/>
          </a:bodyPr>
          <a:lstStyle/>
          <a:p>
            <a:r>
              <a:rPr sz="2000" i="0" b="1">
                <a:solidFill>
                  <a:srgbClr val="1A1F36"/>
                </a:solidFill>
                <a:latin typeface="Calibri"/>
              </a:rPr>
              <a:t>Low-dose doxepin</a:t>
            </a:r>
            <a:r>
              <a:rPr sz="2000" i="0" b="0">
                <a:solidFill>
                  <a:srgbClr val="1A1F36"/>
                </a:solidFill>
                <a:latin typeface="Calibri"/>
              </a:rPr>
              <a:t>, a tricyclic antidepressant, helps people stay asleep. At this dose its effect comes from </a:t>
            </a:r>
            <a:r>
              <a:rPr sz="2000" i="0" b="1">
                <a:solidFill>
                  <a:srgbClr val="1A1F36"/>
                </a:solidFill>
                <a:latin typeface="Calibri"/>
              </a:rPr>
              <a:t>H1 block</a:t>
            </a:r>
            <a:r>
              <a:rPr sz="2000" i="0" b="0">
                <a:solidFill>
                  <a:srgbClr val="1A1F36"/>
                </a:solidFill>
                <a:latin typeface="Calibri"/>
              </a:rPr>
              <a:t>, not from reuptake inhibition.</a:t>
            </a:r>
          </a:p>
        </p:txBody>
      </p:sp>
      <p:sp>
        <p:nvSpPr>
          <p:cNvPr id="13" name="Oval 12"/>
          <p:cNvSpPr/>
          <p:nvPr/>
        </p:nvSpPr>
        <p:spPr>
          <a:xfrm>
            <a:off x="548640" y="484708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865370"/>
            <a:ext cx="10500055" cy="625982"/>
          </a:xfrm>
          <a:prstGeom prst="rect">
            <a:avLst/>
          </a:prstGeom>
          <a:noFill/>
        </p:spPr>
        <p:txBody>
          <a:bodyPr wrap="square" anchor="t" lIns="0" rIns="0" tIns="0" bIns="0">
            <a:spAutoFit/>
          </a:bodyPr>
          <a:lstStyle/>
          <a:p>
            <a:r>
              <a:rPr sz="2000" i="0" b="1">
                <a:solidFill>
                  <a:srgbClr val="1A1F36"/>
                </a:solidFill>
                <a:latin typeface="Calibri"/>
              </a:rPr>
              <a:t>Trazodone</a:t>
            </a:r>
            <a:r>
              <a:rPr sz="2000" i="0" b="0">
                <a:solidFill>
                  <a:srgbClr val="1A1F36"/>
                </a:solidFill>
                <a:latin typeface="Calibri"/>
              </a:rPr>
              <a:t> and </a:t>
            </a:r>
            <a:r>
              <a:rPr sz="2000" i="0" b="1">
                <a:solidFill>
                  <a:srgbClr val="1A1F36"/>
                </a:solidFill>
                <a:latin typeface="Calibri"/>
              </a:rPr>
              <a:t>mirtazapine</a:t>
            </a:r>
            <a:r>
              <a:rPr sz="2000" i="0" b="0">
                <a:solidFill>
                  <a:srgbClr val="1A1F36"/>
                </a:solidFill>
                <a:latin typeface="Calibri"/>
              </a:rPr>
              <a:t> are used at night in depressed patients with insomnia.</a:t>
            </a:r>
          </a:p>
        </p:txBody>
      </p:sp>
      <p:sp>
        <p:nvSpPr>
          <p:cNvPr id="15" name="Oval 14"/>
          <p:cNvSpPr/>
          <p:nvPr/>
        </p:nvSpPr>
        <p:spPr>
          <a:xfrm>
            <a:off x="548640" y="55187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537072"/>
            <a:ext cx="10500055" cy="625982"/>
          </a:xfrm>
          <a:prstGeom prst="rect">
            <a:avLst/>
          </a:prstGeom>
          <a:noFill/>
        </p:spPr>
        <p:txBody>
          <a:bodyPr wrap="square" anchor="t" lIns="0" rIns="0" tIns="0" bIns="0">
            <a:spAutoFit/>
          </a:bodyPr>
          <a:lstStyle/>
          <a:p>
            <a:r>
              <a:rPr sz="2000" i="0" b="1">
                <a:solidFill>
                  <a:srgbClr val="1A1F36"/>
                </a:solidFill>
                <a:latin typeface="Calibri"/>
              </a:rPr>
              <a:t>Melatonin</a:t>
            </a:r>
            <a:r>
              <a:rPr sz="2000" i="0" b="0">
                <a:solidFill>
                  <a:srgbClr val="1A1F36"/>
                </a:solidFill>
                <a:latin typeface="Calibri"/>
              </a:rPr>
              <a:t> (modified release) is used for short-term insomnia in people over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Other Hypnotics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6430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95628"/>
          </a:xfrm>
          <a:prstGeom prst="rect">
            <a:avLst/>
          </a:prstGeom>
          <a:noFill/>
        </p:spPr>
        <p:txBody>
          <a:bodyPr wrap="square" anchor="t" lIns="0" rIns="0" tIns="0" bIns="0">
            <a:spAutoFit/>
          </a:bodyPr>
          <a:lstStyle/>
          <a:p>
            <a:r>
              <a:rPr sz="1800" i="0" b="0">
                <a:solidFill>
                  <a:srgbClr val="1A1F36"/>
                </a:solidFill>
                <a:latin typeface="Calibri"/>
              </a:rPr>
              <a:t>Z-drugs carry a boxed warning for </a:t>
            </a:r>
            <a:r>
              <a:rPr sz="1800" i="0" b="1">
                <a:solidFill>
                  <a:srgbClr val="1A1F36"/>
                </a:solidFill>
                <a:latin typeface="Calibri"/>
              </a:rPr>
              <a:t>complex sleep behaviours</a:t>
            </a:r>
            <a:r>
              <a:rPr sz="1800" i="0" b="0">
                <a:solidFill>
                  <a:srgbClr val="1A1F36"/>
                </a:solidFill>
                <a:latin typeface="Calibri"/>
              </a:rPr>
              <a:t>: sleep-walking, sleep-driving and other activities while not fully awake, sometimes with serious injury or death. Stop the drug if this happens. Warn patients about driving the next morning, and never to combine them with alcohol.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Generalised anxiety disorder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NICE uses a stepped approach:</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771715"/>
          </a:xfrm>
          <a:prstGeom prst="rect">
            <a:avLst/>
          </a:prstGeom>
          <a:noFill/>
        </p:spPr>
        <p:txBody>
          <a:bodyPr wrap="square" anchor="t" lIns="0" rIns="0" tIns="0" bIns="0">
            <a:spAutoFit/>
          </a:bodyPr>
          <a:lstStyle/>
          <a:p>
            <a:r>
              <a:rPr sz="2100" i="0" b="0">
                <a:solidFill>
                  <a:srgbClr val="1A1F36"/>
                </a:solidFill>
                <a:latin typeface="Calibri"/>
              </a:rPr>
              <a:t>Education and active monitoring.</a:t>
            </a:r>
          </a:p>
        </p:txBody>
      </p:sp>
      <p:sp>
        <p:nvSpPr>
          <p:cNvPr id="11" name="Oval 10"/>
          <p:cNvSpPr/>
          <p:nvPr/>
        </p:nvSpPr>
        <p:spPr>
          <a:xfrm>
            <a:off x="548640" y="307143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089719"/>
            <a:ext cx="10500055" cy="771715"/>
          </a:xfrm>
          <a:prstGeom prst="rect">
            <a:avLst/>
          </a:prstGeom>
          <a:noFill/>
        </p:spPr>
        <p:txBody>
          <a:bodyPr wrap="square" anchor="t" lIns="0" rIns="0" tIns="0" bIns="0">
            <a:spAutoFit/>
          </a:bodyPr>
          <a:lstStyle/>
          <a:p>
            <a:r>
              <a:rPr sz="2100" i="0" b="0">
                <a:solidFill>
                  <a:srgbClr val="1A1F36"/>
                </a:solidFill>
                <a:latin typeface="Calibri"/>
              </a:rPr>
              <a:t>Guided self-help or psychoeducation groups.</a:t>
            </a:r>
          </a:p>
        </p:txBody>
      </p:sp>
      <p:sp>
        <p:nvSpPr>
          <p:cNvPr id="13" name="Oval 12"/>
          <p:cNvSpPr/>
          <p:nvPr/>
        </p:nvSpPr>
        <p:spPr>
          <a:xfrm>
            <a:off x="548640" y="388886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907154"/>
            <a:ext cx="10500055" cy="1438465"/>
          </a:xfrm>
          <a:prstGeom prst="rect">
            <a:avLst/>
          </a:prstGeom>
          <a:noFill/>
        </p:spPr>
        <p:txBody>
          <a:bodyPr wrap="square" anchor="t" lIns="0" rIns="0" tIns="0" bIns="0">
            <a:spAutoFit/>
          </a:bodyPr>
          <a:lstStyle/>
          <a:p>
            <a:r>
              <a:rPr sz="2100" i="0" b="0">
                <a:solidFill>
                  <a:srgbClr val="1A1F36"/>
                </a:solidFill>
                <a:latin typeface="Calibri"/>
              </a:rPr>
              <a:t>Cognitive behavioural therapy (CBT) or applied relaxation, </a:t>
            </a:r>
            <a:r>
              <a:rPr sz="2100" i="0" b="1">
                <a:solidFill>
                  <a:srgbClr val="1A1F36"/>
                </a:solidFill>
                <a:latin typeface="Calibri"/>
              </a:rPr>
              <a:t>or</a:t>
            </a:r>
            <a:r>
              <a:rPr sz="2100" i="0" b="0">
                <a:solidFill>
                  <a:srgbClr val="1A1F36"/>
                </a:solidFill>
                <a:latin typeface="Calibri"/>
              </a:rPr>
              <a:t> a drug. The first-choice drug is an SSRI, such as sertraline. If it fails, try another SSRI or an SNRI. Pregabalin is an alternative.</a:t>
            </a:r>
          </a:p>
        </p:txBody>
      </p:sp>
      <p:sp>
        <p:nvSpPr>
          <p:cNvPr id="15" name="Oval 14"/>
          <p:cNvSpPr/>
          <p:nvPr/>
        </p:nvSpPr>
        <p:spPr>
          <a:xfrm>
            <a:off x="548640" y="537305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391340"/>
            <a:ext cx="10500055" cy="771715"/>
          </a:xfrm>
          <a:prstGeom prst="rect">
            <a:avLst/>
          </a:prstGeom>
          <a:noFill/>
        </p:spPr>
        <p:txBody>
          <a:bodyPr wrap="square" anchor="t" lIns="0" rIns="0" tIns="0" bIns="0">
            <a:spAutoFit/>
          </a:bodyPr>
          <a:lstStyle/>
          <a:p>
            <a:r>
              <a:rPr sz="2100" i="0" b="0">
                <a:solidFill>
                  <a:srgbClr val="1A1F36"/>
                </a:solidFill>
                <a:latin typeface="Calibri"/>
              </a:rPr>
              <a:t>Specialist care for complex or resistant cases.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Insomnia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 benzodiazepine is for a short crisis only (2 to 4 weeks), not for long-term care. When starting an SSRI in severe anxiety, an intermediate-acting benzodiazepine such as lorazepam may be added in the first weeks, then tapered.</a:t>
            </a:r>
          </a:p>
        </p:txBody>
      </p:sp>
      <p:sp>
        <p:nvSpPr>
          <p:cNvPr id="9" name="Oval 8"/>
          <p:cNvSpPr/>
          <p:nvPr/>
        </p:nvSpPr>
        <p:spPr>
          <a:xfrm>
            <a:off x="548640" y="2848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866644"/>
            <a:ext cx="10500055" cy="737006"/>
          </a:xfrm>
          <a:prstGeom prst="rect">
            <a:avLst/>
          </a:prstGeom>
          <a:noFill/>
        </p:spPr>
        <p:txBody>
          <a:bodyPr wrap="square" anchor="t" lIns="0" rIns="0" tIns="0" bIns="0">
            <a:spAutoFit/>
          </a:bodyPr>
          <a:lstStyle/>
          <a:p>
            <a:r>
              <a:rPr sz="1800" i="0" b="0">
                <a:solidFill>
                  <a:srgbClr val="1A1F36"/>
                </a:solidFill>
                <a:latin typeface="Calibri"/>
              </a:rPr>
              <a:t>First, look for a cause: pain, depression, sleep apnoea, heart failure, caffeine, alcohol or drugs.</a:t>
            </a:r>
          </a:p>
        </p:txBody>
      </p:sp>
      <p:sp>
        <p:nvSpPr>
          <p:cNvPr id="11" name="Oval 10"/>
          <p:cNvSpPr/>
          <p:nvPr/>
        </p:nvSpPr>
        <p:spPr>
          <a:xfrm>
            <a:off x="548640" y="363108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649370"/>
            <a:ext cx="10500055" cy="451256"/>
          </a:xfrm>
          <a:prstGeom prst="rect">
            <a:avLst/>
          </a:prstGeom>
          <a:noFill/>
        </p:spPr>
        <p:txBody>
          <a:bodyPr wrap="square" anchor="t" lIns="0" rIns="0" tIns="0" bIns="0">
            <a:spAutoFit/>
          </a:bodyPr>
          <a:lstStyle/>
          <a:p>
            <a:r>
              <a:rPr sz="1800" i="0" b="1">
                <a:solidFill>
                  <a:srgbClr val="1A1F36"/>
                </a:solidFill>
                <a:latin typeface="Calibri"/>
              </a:rPr>
              <a:t>CBT for insomnia</a:t>
            </a:r>
            <a:r>
              <a:rPr sz="1800" i="0" b="0">
                <a:solidFill>
                  <a:srgbClr val="1A1F36"/>
                </a:solidFill>
                <a:latin typeface="Calibri"/>
              </a:rPr>
              <a:t> (CBT-I) and sleep hygiene are first-line for chronic insomnia.</a:t>
            </a:r>
          </a:p>
        </p:txBody>
      </p:sp>
      <p:sp>
        <p:nvSpPr>
          <p:cNvPr id="13" name="Oval 12"/>
          <p:cNvSpPr/>
          <p:nvPr/>
        </p:nvSpPr>
        <p:spPr>
          <a:xfrm>
            <a:off x="548640" y="412805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146346"/>
            <a:ext cx="10500055" cy="737006"/>
          </a:xfrm>
          <a:prstGeom prst="rect">
            <a:avLst/>
          </a:prstGeom>
          <a:noFill/>
        </p:spPr>
        <p:txBody>
          <a:bodyPr wrap="square" anchor="t" lIns="0" rIns="0" tIns="0" bIns="0">
            <a:spAutoFit/>
          </a:bodyPr>
          <a:lstStyle/>
          <a:p>
            <a:r>
              <a:rPr sz="1800" i="0" b="0">
                <a:solidFill>
                  <a:srgbClr val="1A1F36"/>
                </a:solidFill>
                <a:latin typeface="Calibri"/>
              </a:rPr>
              <a:t>A hypnotic is for short-term use only: a Z-drug or short-acting benzodiazepine, for no more than 2 to 4 weeks, at the lowest dose.</a:t>
            </a:r>
          </a:p>
        </p:txBody>
      </p:sp>
      <p:sp>
        <p:nvSpPr>
          <p:cNvPr id="15" name="Oval 14"/>
          <p:cNvSpPr/>
          <p:nvPr/>
        </p:nvSpPr>
        <p:spPr>
          <a:xfrm>
            <a:off x="548640" y="491078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929073"/>
            <a:ext cx="10500055" cy="737006"/>
          </a:xfrm>
          <a:prstGeom prst="rect">
            <a:avLst/>
          </a:prstGeom>
          <a:noFill/>
        </p:spPr>
        <p:txBody>
          <a:bodyPr wrap="square" anchor="t" lIns="0" rIns="0" tIns="0" bIns="0">
            <a:spAutoFit/>
          </a:bodyPr>
          <a:lstStyle/>
          <a:p>
            <a:r>
              <a:rPr sz="1800" i="0" b="0">
                <a:solidFill>
                  <a:srgbClr val="1A1F36"/>
                </a:solidFill>
                <a:latin typeface="Calibri"/>
              </a:rPr>
              <a:t>Choose the drug by the problem: short-acting for falling asleep; longer-acting for staying asleep, accepting more hangover.</a:t>
            </a:r>
          </a:p>
        </p:txBody>
      </p:sp>
      <p:sp>
        <p:nvSpPr>
          <p:cNvPr id="17" name="Oval 16"/>
          <p:cNvSpPr/>
          <p:nvPr/>
        </p:nvSpPr>
        <p:spPr>
          <a:xfrm>
            <a:off x="548640" y="569351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711799"/>
            <a:ext cx="10500055" cy="451256"/>
          </a:xfrm>
          <a:prstGeom prst="rect">
            <a:avLst/>
          </a:prstGeom>
          <a:noFill/>
        </p:spPr>
        <p:txBody>
          <a:bodyPr wrap="square" anchor="t" lIns="0" rIns="0" tIns="0" bIns="0">
            <a:spAutoFit/>
          </a:bodyPr>
          <a:lstStyle/>
          <a:p>
            <a:r>
              <a:rPr sz="1800" i="0" b="0">
                <a:solidFill>
                  <a:srgbClr val="1A1F36"/>
                </a:solidFill>
                <a:latin typeface="Calibri"/>
              </a:rPr>
              <a:t>Avoid benzodiazepines and sedating antihistamines in older people where possible.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For long-term anxiety, choose an </a:t>
            </a:r>
            <a:r>
              <a:rPr sz="2100" i="0" b="1">
                <a:solidFill>
                  <a:srgbClr val="1A1F36"/>
                </a:solidFill>
                <a:latin typeface="Calibri"/>
              </a:rPr>
              <a:t>SSRI</a:t>
            </a:r>
            <a:r>
              <a:rPr sz="2100" i="0" b="0">
                <a:solidFill>
                  <a:srgbClr val="1A1F36"/>
                </a:solidFill>
                <a:latin typeface="Calibri"/>
              </a:rPr>
              <a:t>. For an acute crisis, a </a:t>
            </a:r>
            <a:r>
              <a:rPr sz="2100" i="0" b="1">
                <a:solidFill>
                  <a:srgbClr val="1A1F36"/>
                </a:solidFill>
                <a:latin typeface="Calibri"/>
              </a:rPr>
              <a:t>benzodiazepine</a:t>
            </a:r>
            <a:r>
              <a:rPr sz="2100" i="0" b="0">
                <a:solidFill>
                  <a:srgbClr val="1A1F36"/>
                </a:solidFill>
                <a:latin typeface="Calibri"/>
              </a:rPr>
              <a:t> works fast but only for a short time. For chronic insomnia, </a:t>
            </a:r>
            <a:r>
              <a:rPr sz="2100" i="0" b="1">
                <a:solidFill>
                  <a:srgbClr val="1A1F36"/>
                </a:solidFill>
                <a:latin typeface="Calibri"/>
              </a:rPr>
              <a:t>CBT-I</a:t>
            </a:r>
            <a:r>
              <a:rPr sz="2100" i="0" b="0">
                <a:solidFill>
                  <a:srgbClr val="1A1F36"/>
                </a:solidFill>
                <a:latin typeface="Calibri"/>
              </a:rPr>
              <a:t> comes before any drug.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813705"/>
                <a:gridCol w="3813705"/>
                <a:gridCol w="3467004"/>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Alprazolam</a:t>
                      </a:r>
                    </a:p>
                  </a:txBody>
                  <a:tcPr marL="109728" marR="109728" marT="45720" marB="45720" anchor="ctr">
                    <a:solidFill>
                      <a:srgbClr val="FFFFFF"/>
                    </a:solidFill>
                  </a:tcPr>
                </a:tc>
                <a:tc>
                  <a:txBody>
                    <a:bodyPr/>
                    <a:lstStyle/>
                    <a:p>
                      <a:r>
                        <a:rPr sz="2000" i="0" b="0">
                          <a:solidFill>
                            <a:srgbClr val="1A1F36"/>
                          </a:solidFill>
                          <a:latin typeface="Calibri"/>
                        </a:rPr>
                        <a:t>Zolam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Midazolam</a:t>
                      </a:r>
                    </a:p>
                  </a:txBody>
                  <a:tcPr marL="109728" marR="109728" marT="45720" marB="45720" anchor="ctr">
                    <a:solidFill>
                      <a:srgbClr val="F1F2F8"/>
                    </a:solidFill>
                  </a:tcPr>
                </a:tc>
                <a:tc>
                  <a:txBody>
                    <a:bodyPr/>
                    <a:lstStyle/>
                    <a:p>
                      <a:r>
                        <a:rPr sz="2000" i="0" b="0">
                          <a:solidFill>
                            <a:srgbClr val="1A1F36"/>
                          </a:solidFill>
                          <a:latin typeface="Calibri"/>
                        </a:rPr>
                        <a:t>Midathetic</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577215">
                <a:tc>
                  <a:txBody>
                    <a:bodyPr/>
                    <a:lstStyle/>
                    <a:p>
                      <a:r>
                        <a:rPr sz="2000" i="0" b="1">
                          <a:solidFill>
                            <a:srgbClr val="1A1F36"/>
                          </a:solidFill>
                          <a:latin typeface="Calibri"/>
                        </a:rPr>
                        <a:t>Clonazepam</a:t>
                      </a:r>
                    </a:p>
                  </a:txBody>
                  <a:tcPr marL="109728" marR="109728" marT="45720" marB="45720" anchor="ctr">
                    <a:solidFill>
                      <a:srgbClr val="FFFFFF"/>
                    </a:solidFill>
                  </a:tcPr>
                </a:tc>
                <a:tc>
                  <a:txBody>
                    <a:bodyPr/>
                    <a:lstStyle/>
                    <a:p>
                      <a:r>
                        <a:rPr sz="2000" i="0" b="0">
                          <a:solidFill>
                            <a:srgbClr val="1A1F36"/>
                          </a:solidFill>
                          <a:latin typeface="Calibri"/>
                        </a:rPr>
                        <a:t>Rivotril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Buspirone</a:t>
                      </a:r>
                    </a:p>
                  </a:txBody>
                  <a:tcPr marL="109728" marR="109728" marT="45720" marB="45720" anchor="ctr">
                    <a:solidFill>
                      <a:srgbClr val="F1F2F8"/>
                    </a:solidFill>
                  </a:tcPr>
                </a:tc>
                <a:tc>
                  <a:txBody>
                    <a:bodyPr/>
                    <a:lstStyle/>
                    <a:p>
                      <a:r>
                        <a:rPr sz="2000" i="0" b="0">
                          <a:solidFill>
                            <a:srgbClr val="1A1F36"/>
                          </a:solidFill>
                          <a:latin typeface="Calibri"/>
                        </a:rPr>
                        <a:t>Buspar</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Phenobarbitone</a:t>
                      </a:r>
                    </a:p>
                  </a:txBody>
                  <a:tcPr marL="109728" marR="109728" marT="45720" marB="45720" anchor="ctr">
                    <a:solidFill>
                      <a:srgbClr val="FFFFFF"/>
                    </a:solidFill>
                  </a:tcPr>
                </a:tc>
                <a:tc>
                  <a:txBody>
                    <a:bodyPr/>
                    <a:lstStyle/>
                    <a:p>
                      <a:r>
                        <a:rPr sz="2000" i="0" b="0">
                          <a:solidFill>
                            <a:srgbClr val="1A1F36"/>
                          </a:solidFill>
                          <a:latin typeface="Calibri"/>
                        </a:rPr>
                        <a:t>Sominaletta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Eszopiclone</a:t>
                      </a:r>
                    </a:p>
                  </a:txBody>
                  <a:tcPr marL="109728" marR="109728" marT="45720" marB="45720" anchor="ctr">
                    <a:solidFill>
                      <a:srgbClr val="F1F2F8"/>
                    </a:solidFill>
                  </a:tcPr>
                </a:tc>
                <a:tc>
                  <a:txBody>
                    <a:bodyPr/>
                    <a:lstStyle/>
                    <a:p>
                      <a:r>
                        <a:rPr sz="2000" i="0" b="0">
                          <a:solidFill>
                            <a:srgbClr val="1A1F36"/>
                          </a:solidFill>
                          <a:latin typeface="Calibri"/>
                        </a:rPr>
                        <a:t>Night Calm</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Zolpidem</a:t>
                      </a:r>
                    </a:p>
                  </a:txBody>
                  <a:tcPr marL="109728" marR="109728" marT="45720" marB="45720" anchor="ctr">
                    <a:solidFill>
                      <a:srgbClr val="FFFFFF"/>
                    </a:solidFill>
                  </a:tcPr>
                </a:tc>
                <a:tc>
                  <a:txBody>
                    <a:bodyPr/>
                    <a:lstStyle/>
                    <a:p>
                      <a:r>
                        <a:rPr sz="2000" i="0" b="0">
                          <a:solidFill>
                            <a:srgbClr val="1A1F36"/>
                          </a:solidFill>
                          <a:latin typeface="Calibri"/>
                        </a:rPr>
                        <a:t>Zodium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a benzodiazepine overdose alone rarely fatal, but dangerous with alcohol or an opioid?</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student asks for "something to sleep" before exams. What would you ask and advise?</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lorazepam preferred over diazepam in an 80-year-old woman with liver disease?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They open the chloride channel without GABA.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increase the frequency of channel opening when GABA binds.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inhibit GABA transaminase.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block GABA reuptake.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They open the chloride channel without GABA.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They increase the frequency of channel opening when GABA binds.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inhibit GABA transaminase.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block GABA reuptake.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Benzodiazepines are positive allosteric modulators that increase opening frequency. A is high-dose barbiturates. C is valproate. D is tiagabine.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Lorazepam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Oxazepam</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Diazepam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Lorazepam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Oxazepam</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Diazepam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Diazepam and its metabolite nordiazepam act for a long time. A is short-acting. B and C are intermediate with no active metabolites.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Breathing depression and coma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Seizures from enzyme induction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Breathing depression and coma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Seizures from enzyme induction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Alcohol plus a benzodiazepine causes additive CNS and breathing depression. B, C and D are not caused.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5-HT1A partial agonist used for GAD?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Zolpidem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Hydroxyzine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Buspirone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Alprazolam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5-HT1A partial agonist used for GAD?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Zolpidem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Hydroxyzine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Buspirone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Alprazolam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Buspirone is a 5-HT1A partial agonist. A is a Z-drug. B is an H1 antihistamine. D is a benzodiazepine.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35-year-old woman has had GAD for a year. Guided self-help has not helped, and she prefers medication. What is the first-choice drug?</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Alprazolam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Sertraline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Phenobarbital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Buspirone as needed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35-year-old woman has had GAD for a year. Guided self-help has not helped, and she prefers medication. What is the first-choice drug?</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Alprazolam</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Sertraline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Phenobarbital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Buspirone as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An SSRI such as sertraline is first choice for GAD. A is for short-term use only. C is not used. D is not used "as needed" because its onset is slow.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flumazenil?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Antagonist at the benzodiazepine site of the GABA-A receptor</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Antagonist at the GABA binding site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GABA-B agonist</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Inhibitor of benzodiazepine metabolism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flumazenil?</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Antagonist at the benzodiazepine site of the GABA-A receptor</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Antagonist at the GABA binding site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GABA-B agonist</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Inhibitor of benzodiazepine metabolism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Flumazenil blocks the benzodiazepine site. B is wrong; it does not block GABA. C and D are wrong.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zolpidem is found driving at night with no memory of it. What is this?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Paradoxical agitation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Rebound insomnia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Withdrawal seizure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 complex sleep behaviour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zolpidem is found driving at night with no memory of it. What is this?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Paradoxical agitation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Rebound insomnia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Withdrawal seizure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 complex sleep behaviour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Sleep-driving is a complex sleep behaviour, the boxed warning of Z-drugs. A, B and C do not fit.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lorazepam preferred to diazepam in an 82-year-old with liver cirrhosis?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is more potent.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a Z-drug.</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is only conjugated and has no active metabolites.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does not cross the blood-brain barrier.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lorazepam preferred to diazepam in an 82-year-old with liver cirrhosis?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is more potent.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a Z-drug.</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is only conjugated and has no active metabolites.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does not cross the blood-brain barrier.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Lorazepam is only glucuronidated and has no active metabolites. A is irrelevant. B is wrong. D is wrong.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are barbiturates no longer used for insomnia?</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Narrow safety margin, strong dependence and enzyme induction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do not cause sleep.</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are enzyme inhibitors.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have no effect on the GABA-A receptor.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are barbiturates no longer used for insomnia?</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Narrow safety margin, strong dependence and enzyme induction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They do not cause sleep.</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are enzyme inhibitors.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have no effect on the GABA-A receptor.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Barbiturates are dangerous in overdose, cause dependence and induce enzymes. B is wrong. C is wrong; they are inducers. D is wrong.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50-year-old man has had poor sleep for 6 months. No medical cause is found. What is first-line?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Long-term zolpidem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CBT for insomnia and sleep hygiene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Diphenhydramine nightly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Phenobarbital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50-year-old man has had poor sleep for 6 months. No medical cause is found. What is first-line?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Long-term zolpidem</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CBT for insomnia and sleep hygiene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Diphenhydramine nightly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Phenobarbital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CBT-I is first-line for chronic insomnia. A and C are not for long-term use. D is not used.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increase the frequency of GABA-A channel opening; barbiturates increase its duration and can open it without GABA.</a:t>
            </a:r>
          </a:p>
        </p:txBody>
      </p:sp>
      <p:sp>
        <p:nvSpPr>
          <p:cNvPr id="6" name="Oval 5"/>
          <p:cNvSpPr/>
          <p:nvPr/>
        </p:nvSpPr>
        <p:spPr>
          <a:xfrm>
            <a:off x="548640" y="260219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20481"/>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are fairly safe alone, but fatal breathing depression can occur with alcohol, opioids or other depressants.</a:t>
            </a:r>
          </a:p>
        </p:txBody>
      </p:sp>
      <p:sp>
        <p:nvSpPr>
          <p:cNvPr id="8" name="Oval 7"/>
          <p:cNvSpPr/>
          <p:nvPr/>
        </p:nvSpPr>
        <p:spPr>
          <a:xfrm>
            <a:off x="548640" y="335729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75587"/>
            <a:ext cx="10500055" cy="709385"/>
          </a:xfrm>
          <a:prstGeom prst="rect">
            <a:avLst/>
          </a:prstGeom>
          <a:noFill/>
        </p:spPr>
        <p:txBody>
          <a:bodyPr wrap="square" anchor="t" lIns="0" rIns="0" tIns="0" bIns="0">
            <a:spAutoFit/>
          </a:bodyPr>
          <a:lstStyle/>
          <a:p>
            <a:r>
              <a:rPr sz="1700" i="0" b="0">
                <a:solidFill>
                  <a:srgbClr val="FFFFFF"/>
                </a:solidFill>
                <a:latin typeface="Calibri"/>
              </a:rPr>
              <a:t>Limit benzodiazepines and Z-drugs to 2 to 4 weeks; warn about driving, falls and dependence, and taper slowly.</a:t>
            </a:r>
          </a:p>
        </p:txBody>
      </p:sp>
      <p:sp>
        <p:nvSpPr>
          <p:cNvPr id="10" name="Oval 9"/>
          <p:cNvSpPr/>
          <p:nvPr/>
        </p:nvSpPr>
        <p:spPr>
          <a:xfrm>
            <a:off x="548640" y="4112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130693"/>
            <a:ext cx="10500055" cy="439510"/>
          </a:xfrm>
          <a:prstGeom prst="rect">
            <a:avLst/>
          </a:prstGeom>
          <a:noFill/>
        </p:spPr>
        <p:txBody>
          <a:bodyPr wrap="square" anchor="t" lIns="0" rIns="0" tIns="0" bIns="0">
            <a:spAutoFit/>
          </a:bodyPr>
          <a:lstStyle/>
          <a:p>
            <a:r>
              <a:rPr sz="1700" i="0" b="0">
                <a:solidFill>
                  <a:srgbClr val="FFFFFF"/>
                </a:solidFill>
                <a:latin typeface="Calibri"/>
              </a:rPr>
              <a:t>Flumazenil blocks the benzodiazepine site; avoid it in dependent patients and mixed overdoses.</a:t>
            </a:r>
          </a:p>
        </p:txBody>
      </p:sp>
      <p:sp>
        <p:nvSpPr>
          <p:cNvPr id="12" name="Oval 11"/>
          <p:cNvSpPr/>
          <p:nvPr/>
        </p:nvSpPr>
        <p:spPr>
          <a:xfrm>
            <a:off x="548640" y="459763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615923"/>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first-choice drugs for GAD; buspirone is a slow-onset 5-HT1A partial agonist.</a:t>
            </a:r>
          </a:p>
        </p:txBody>
      </p:sp>
      <p:sp>
        <p:nvSpPr>
          <p:cNvPr id="14" name="Oval 13"/>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Z-drugs are α1-selective hypnotics with a boxed warning for complex sleep behaviours.</a:t>
            </a:r>
          </a:p>
        </p:txBody>
      </p:sp>
      <p:sp>
        <p:nvSpPr>
          <p:cNvPr id="16" name="Oval 15"/>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CBT-I is first-line for chronic insomnia.</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