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A nerve impulse travels when voltage-gated Na+ channels open and Na+ enters. Weak bases exist in two forms: the uncharged (unionised) base, which crosses lipid membranes, and the charged (ionised) cation, which does not. The pKa is the pH at which half is in each form. The lower the pH, the more a weak base is ionised.</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What Local Anaesthesia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anaesthetics cause a reversible loss of sensation in one part of the body without loss of consciousness. They are used in dentistry, minor surgery, spinal and epidural anaesthesia and nerve blocks. Small fibres are blocked first: thin myelinated Aδ fibres and unmyelinated C fibres, which carry pain and temperature. Larger touch and motor fibres are blocked later. So pain goes first, then touch, then movement.</a:t>
            </a:r>
          </a:p>
          <a:p/>
          <a:p>
            <a:r>
              <a:t>About 60 s.  Next: Mechanism.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Channels that open often are blocked more (use-dependent block). This is why lidocaine also treats fast ventricular arrhythmias.</a:t>
            </a:r>
          </a:p>
          <a:p/>
          <a:p>
            <a:r>
              <a:t>About 30 s.  Next: Mechanism.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Channels that open often are blocked more (use-dependent block). This is why lidocaine also treats fast ventricular arrhythmias.</a:t>
            </a:r>
          </a:p>
          <a:p/>
          <a:p>
            <a:r>
              <a:t>About 60 s.  Next: Esters and Amides.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Esters and Amides.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local anaesthetic has a lipophilic ring joined to a hydrophilic amine by an ester or an amide link. Key drugs: The closer the injection is to a large blood supply, the faster the drug is absorbed and the higher the risk of toxicity. Absorption is highest after intercostal blocks and lowest after subcutaneous infiltration.</a:t>
            </a:r>
          </a:p>
          <a:p/>
          <a:p>
            <a:r>
              <a:t>About 30 s.  Next: Esters and Amides (1/2).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local anaesthetic has a lipophilic ring joined to a hydrophilic amine by an ester or an amide link. Key drugs: The closer the injection is to a large blood supply, the faster the drug is absorbed and the higher the risk of toxicity. Absorption is highest after intercostal blocks and lowest after subcutaneous infiltration.</a:t>
            </a:r>
          </a:p>
          <a:p/>
          <a:p>
            <a:r>
              <a:t>About 60 s.  Next: Esters and Amides (2/2).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local anaesthetic has a lipophilic ring joined to a hydrophilic amine by an ester or an amide link. Key drugs: The closer the injection is to a large blood supply, the faster the drug is absorbed and the higher the risk of toxicity. Absorption is highest after intercostal blocks and lowest after subcutaneous infiltration.</a:t>
            </a:r>
          </a:p>
          <a:p/>
          <a:p>
            <a:r>
              <a:t>About 30 s.  Next: Ways of giving local anaesthetics.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local anaesthetic has a lipophilic ring joined to a hydrophilic amine by an ester or an amide link. Key drugs: The closer the injection is to a large blood supply, the faster the drug is absorbed and the higher the risk of toxicity. Absorption is highest after intercostal blocks and lowest after subcutaneous infiltration.</a:t>
            </a:r>
          </a:p>
          <a:p/>
          <a:p>
            <a:r>
              <a:t>About 60 s.  Next: Adding Adrenaline.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local anaesthetics dilate blood vessels. Adrenaline (epinephrine), a vasoconstrictor, is often added. It:</a:t>
            </a:r>
          </a:p>
          <a:p/>
          <a:p>
            <a:r>
              <a:t>About 30 s.  Next: Adding Adrenaline.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local anaesthetics dilate blood vessels. Adrenaline (epinephrine), a vasoconstrictor, is often added. It:</a:t>
            </a:r>
          </a:p>
          <a:p/>
          <a:p>
            <a:r>
              <a:t>About 30 s.  Next: Adverse Effects and LAST.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Toxicity comes from too high a dose or from accidental injection into a vein. This is local anaesthetic systemic toxicity (LAST). To prevent LAST: calculate the dose by weight, aspirate before injecting, inject slowly in small amounts, use ultrasound for nerve blocks, and monitor the patient. Management of LAST: Spinal anaesthesia has its own problems: hypotension and bradycardia from sympathetic block, post-dural puncture headache (from CSF leak) and, rarely, infection or nerve injury. Allergy is mostly to esters, through PABA. A patient allergic to one ester should receive an amide, not another ester.</a:t>
            </a:r>
          </a:p>
          <a:p/>
          <a:p>
            <a:r>
              <a:t>About 60 s.  Next: Adverse Effects and LAST.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Toxicity comes from too high a dose or from accidental injection into a vein. This is local anaesthetic systemic toxicity (LAST). To prevent LAST: calculate the dose by weight, aspirate before injecting, inject slowly in small amounts, use ultrasound for nerve blocks, and monitor the patient. Management of LAST: Spinal anaesthesia has its own problems: hypotension and bradycardia from sympathetic block, post-dural puncture headache (from CSF leak) and, rarely, infection or nerve injury. Allergy is mostly to esters, through PABA. A patient allergic to one ester should receive an amide, not another ester.</a:t>
            </a:r>
          </a:p>
          <a:p/>
          <a:p>
            <a:r>
              <a:t>About 60 s.  Next: Adverse Effects and LAST.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Toxicity comes from too high a dose or from accidental injection into a vein. This is local anaesthetic systemic toxicity (LAST). To prevent LAST: calculate the dose by weight, aspirate before injecting, inject slowly in small amounts, use ultrasound for nerve blocks, and monitor the patient. Management of LAST: Spinal anaesthesia has its own problems: hypotension and bradycardia from sympathetic block, post-dural puncture headache (from CSF leak) and, rarely, infection or nerve injury. Allergy is mostly to esters, through PABA. A patient allergic to one ester should receive an amide, not another ester.</a:t>
            </a:r>
          </a:p>
          <a:p/>
          <a:p>
            <a:r>
              <a:t>About 90 s.  Next: Adverse Effects and LAST.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Toxicity comes from too high a dose or from accidental injection into a vein. This is local anaesthetic systemic toxicity (LAST). To prevent LAST: calculate the dose by weight, aspirate before injecting, inject slowly in small amounts, use ultrasound for nerve blocks, and monitor the patient. Management of LAST: Spinal anaesthesia has its own problems: hypotension and bradycardia from sympathetic block, post-dural puncture headache (from CSF leak) and, rarely, infection or nerve injury. Allergy is mostly to esters, through PABA. A patient allergic to one ester should receive an amide, not another ester.</a:t>
            </a:r>
          </a:p>
          <a:p/>
          <a:p>
            <a:r>
              <a:t>About 90 s.  Next: Adverse Effects and LAST.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Toxicity comes from too high a dose or from accidental injection into a vein. This is local anaesthetic systemic toxicity (LAST). To prevent LAST: calculate the dose by weight, aspirate before injecting, inject slowly in small amounts, use ultrasound for nerve blocks, and monitor the patient. Management of LAST: Spinal anaesthesia has its own problems: hypotension and bradycardia from sympathetic block, post-dural puncture headache (from CSF leak) and, rarely, infection or nerve injury. Allergy is mostly to esters, through PABA. A patient allergic to one ester should receive an amide, not another ester.</a:t>
            </a:r>
          </a:p>
          <a:p/>
          <a:p>
            <a:r>
              <a:t>About 60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The ionised form binds inside the channel. A and B cross the membrane but do not block. D cannot reach the site.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Acidic pus ionises the drug outside the nerve, so less crosses the membrane. B, C and D are not the main reason.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Bupivacaine has two "i"s; it is an amide. A, B and C are esters.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Ropivacaine is an amide and does not cross-react with esters. A, C and D are esters.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Vasoconstriction slows absorption, prolonging the block and lowering toxicity. B, C and D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Poor digital circulation plus vasoconstriction can cause ischaemia. A, B and D have normal circulation; adrenaline is suitable.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Metallic taste, numb lips and seizure are early LAST. A causes rash and wheeze. C causes fainting. D occurs with volatile agents.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Lipid emulsion binds the drug and supports the heart. A treats malignant hyperthermia. B reverses benzodiazepines. C reverses opioids.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Bupivacaine is the most cardiotoxic. B and C are less toxic. D is topical only.</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Ropivacaine is long-acting and less cardiotoxic than bupivacaine. A is topical. B is topical. D is short-acting and rarely used.</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09</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9</a:t>
            </a:r>
          </a:p>
          <a:p>
            <a:pPr>
              <a:spcBef>
                <a:spcPts val="1400"/>
              </a:spcBef>
            </a:pPr>
            <a:r>
              <a:rPr sz="4400" i="0" b="1">
                <a:solidFill>
                  <a:srgbClr val="FFFFFF"/>
                </a:solidFill>
                <a:latin typeface="Cambria"/>
              </a:rPr>
              <a:t>Local Anaesthetics</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45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1011173"/>
          </a:xfrm>
          <a:prstGeom prst="rect">
            <a:avLst/>
          </a:prstGeom>
          <a:noFill/>
        </p:spPr>
        <p:txBody>
          <a:bodyPr wrap="square" anchor="t" lIns="0" rIns="0" tIns="0" bIns="0">
            <a:spAutoFit/>
          </a:bodyPr>
          <a:lstStyle/>
          <a:p>
            <a:r>
              <a:rPr sz="2100" i="0" b="0">
                <a:solidFill>
                  <a:srgbClr val="1A1F36"/>
                </a:solidFill>
                <a:latin typeface="Calibri"/>
              </a:rPr>
              <a:t>Explain how local anaesthetics block nerve conduction, including the role of pH and pKa.</a:t>
            </a:r>
          </a:p>
        </p:txBody>
      </p:sp>
      <p:sp>
        <p:nvSpPr>
          <p:cNvPr id="10" name="Oval 9"/>
          <p:cNvSpPr/>
          <p:nvPr/>
        </p:nvSpPr>
        <p:spPr>
          <a:xfrm>
            <a:off x="548640" y="262966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647949"/>
            <a:ext cx="6629400" cy="677799"/>
          </a:xfrm>
          <a:prstGeom prst="rect">
            <a:avLst/>
          </a:prstGeom>
          <a:noFill/>
        </p:spPr>
        <p:txBody>
          <a:bodyPr wrap="square" anchor="t" lIns="0" rIns="0" tIns="0" bIns="0">
            <a:spAutoFit/>
          </a:bodyPr>
          <a:lstStyle/>
          <a:p>
            <a:r>
              <a:rPr sz="2100" i="0" b="0">
                <a:solidFill>
                  <a:srgbClr val="1A1F36"/>
                </a:solidFill>
                <a:latin typeface="Calibri"/>
              </a:rPr>
              <a:t>Compare ester and amide local anaesthetics.</a:t>
            </a:r>
          </a:p>
        </p:txBody>
      </p:sp>
      <p:sp>
        <p:nvSpPr>
          <p:cNvPr id="12" name="Oval 11"/>
          <p:cNvSpPr/>
          <p:nvPr/>
        </p:nvSpPr>
        <p:spPr>
          <a:xfrm>
            <a:off x="548640" y="335318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71468"/>
            <a:ext cx="6629400" cy="1011173"/>
          </a:xfrm>
          <a:prstGeom prst="rect">
            <a:avLst/>
          </a:prstGeom>
          <a:noFill/>
        </p:spPr>
        <p:txBody>
          <a:bodyPr wrap="square" anchor="t" lIns="0" rIns="0" tIns="0" bIns="0">
            <a:spAutoFit/>
          </a:bodyPr>
          <a:lstStyle/>
          <a:p>
            <a:r>
              <a:rPr sz="2100" i="0" b="0">
                <a:solidFill>
                  <a:srgbClr val="1A1F36"/>
                </a:solidFill>
                <a:latin typeface="Calibri"/>
              </a:rPr>
              <a:t>Explain why adrenaline is added and where it must be avoided.</a:t>
            </a:r>
          </a:p>
        </p:txBody>
      </p:sp>
      <p:sp>
        <p:nvSpPr>
          <p:cNvPr id="14" name="Oval 13"/>
          <p:cNvSpPr/>
          <p:nvPr/>
        </p:nvSpPr>
        <p:spPr>
          <a:xfrm>
            <a:off x="548640" y="441007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428363"/>
            <a:ext cx="6629400" cy="1011173"/>
          </a:xfrm>
          <a:prstGeom prst="rect">
            <a:avLst/>
          </a:prstGeom>
          <a:noFill/>
        </p:spPr>
        <p:txBody>
          <a:bodyPr wrap="square" anchor="t" lIns="0" rIns="0" tIns="0" bIns="0">
            <a:spAutoFit/>
          </a:bodyPr>
          <a:lstStyle/>
          <a:p>
            <a:r>
              <a:rPr sz="2100" i="0" b="0">
                <a:solidFill>
                  <a:srgbClr val="1A1F36"/>
                </a:solidFill>
                <a:latin typeface="Calibri"/>
              </a:rPr>
              <a:t>Recognise and manage local anaesthetic systemic toxicity (LAST).</a:t>
            </a:r>
          </a:p>
        </p:txBody>
      </p:sp>
      <p:sp>
        <p:nvSpPr>
          <p:cNvPr id="16" name="Oval 15"/>
          <p:cNvSpPr/>
          <p:nvPr/>
        </p:nvSpPr>
        <p:spPr>
          <a:xfrm>
            <a:off x="548640" y="546696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485257"/>
            <a:ext cx="6629400" cy="677799"/>
          </a:xfrm>
          <a:prstGeom prst="rect">
            <a:avLst/>
          </a:prstGeom>
          <a:noFill/>
        </p:spPr>
        <p:txBody>
          <a:bodyPr wrap="square" anchor="t" lIns="0" rIns="0" tIns="0" bIns="0">
            <a:spAutoFit/>
          </a:bodyPr>
          <a:lstStyle/>
          <a:p>
            <a:r>
              <a:rPr sz="2100" i="0" b="0">
                <a:solidFill>
                  <a:srgbClr val="1A1F36"/>
                </a:solidFill>
                <a:latin typeface="Calibri"/>
              </a:rPr>
              <a:t>Choose a local anaesthetic for a patient.</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45</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824737"/>
          </a:xfrm>
          <a:prstGeom prst="rect">
            <a:avLst/>
          </a:prstGeom>
          <a:noFill/>
        </p:spPr>
        <p:txBody>
          <a:bodyPr wrap="square" anchor="t" lIns="0" rIns="0" tIns="0" bIns="0">
            <a:spAutoFit/>
          </a:bodyPr>
          <a:lstStyle/>
          <a:p>
            <a:r>
              <a:rPr sz="2200" i="0" b="0">
                <a:solidFill>
                  <a:srgbClr val="1A1F36"/>
                </a:solidFill>
                <a:latin typeface="Calibri"/>
              </a:rPr>
              <a:t>What Local Anaesthesia Does</a:t>
            </a:r>
          </a:p>
        </p:txBody>
      </p:sp>
      <p:sp>
        <p:nvSpPr>
          <p:cNvPr id="10" name="Oval 9"/>
          <p:cNvSpPr/>
          <p:nvPr/>
        </p:nvSpPr>
        <p:spPr>
          <a:xfrm>
            <a:off x="548640"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61514"/>
            <a:ext cx="4678527" cy="824737"/>
          </a:xfrm>
          <a:prstGeom prst="rect">
            <a:avLst/>
          </a:prstGeom>
          <a:noFill/>
        </p:spPr>
        <p:txBody>
          <a:bodyPr wrap="square" anchor="t" lIns="0" rIns="0" tIns="0" bIns="0">
            <a:spAutoFit/>
          </a:bodyPr>
          <a:lstStyle/>
          <a:p>
            <a:r>
              <a:rPr sz="2200" i="0" b="0">
                <a:solidFill>
                  <a:srgbClr val="1A1F36"/>
                </a:solidFill>
                <a:latin typeface="Calibri"/>
              </a:rPr>
              <a:t>Mechanism</a:t>
            </a:r>
          </a:p>
        </p:txBody>
      </p:sp>
      <p:sp>
        <p:nvSpPr>
          <p:cNvPr id="12" name="Oval 11"/>
          <p:cNvSpPr/>
          <p:nvPr/>
        </p:nvSpPr>
        <p:spPr>
          <a:xfrm>
            <a:off x="548640"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31972"/>
            <a:ext cx="4678527" cy="824737"/>
          </a:xfrm>
          <a:prstGeom prst="rect">
            <a:avLst/>
          </a:prstGeom>
          <a:noFill/>
        </p:spPr>
        <p:txBody>
          <a:bodyPr wrap="square" anchor="t" lIns="0" rIns="0" tIns="0" bIns="0">
            <a:spAutoFit/>
          </a:bodyPr>
          <a:lstStyle/>
          <a:p>
            <a:r>
              <a:rPr sz="2200" i="0" b="0">
                <a:solidFill>
                  <a:srgbClr val="1A1F36"/>
                </a:solidFill>
                <a:latin typeface="Calibri"/>
              </a:rPr>
              <a:t>Esters and Amides</a:t>
            </a:r>
          </a:p>
        </p:txBody>
      </p:sp>
      <p:sp>
        <p:nvSpPr>
          <p:cNvPr id="14" name="Oval 13"/>
          <p:cNvSpPr/>
          <p:nvPr/>
        </p:nvSpPr>
        <p:spPr>
          <a:xfrm>
            <a:off x="548640"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202430"/>
            <a:ext cx="4678527" cy="824737"/>
          </a:xfrm>
          <a:prstGeom prst="rect">
            <a:avLst/>
          </a:prstGeom>
          <a:noFill/>
        </p:spPr>
        <p:txBody>
          <a:bodyPr wrap="square" anchor="t" lIns="0" rIns="0" tIns="0" bIns="0">
            <a:spAutoFit/>
          </a:bodyPr>
          <a:lstStyle/>
          <a:p>
            <a:r>
              <a:rPr sz="2200" i="0" b="0">
                <a:solidFill>
                  <a:srgbClr val="1A1F36"/>
                </a:solidFill>
                <a:latin typeface="Calibri"/>
              </a:rPr>
              <a:t>Adding Adrenaline</a:t>
            </a:r>
          </a:p>
        </p:txBody>
      </p:sp>
      <p:sp>
        <p:nvSpPr>
          <p:cNvPr id="16" name="Oval 15"/>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Adverse Effects and LAST</a:t>
            </a:r>
          </a:p>
        </p:txBody>
      </p:sp>
      <p:sp>
        <p:nvSpPr>
          <p:cNvPr id="18" name="Oval 17"/>
          <p:cNvSpPr/>
          <p:nvPr/>
        </p:nvSpPr>
        <p:spPr>
          <a:xfrm>
            <a:off x="6370167"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2461514"/>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0" name="Oval 19"/>
          <p:cNvSpPr/>
          <p:nvPr/>
        </p:nvSpPr>
        <p:spPr>
          <a:xfrm>
            <a:off x="6370167" y="33136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3331972"/>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2" name="Oval 21"/>
          <p:cNvSpPr/>
          <p:nvPr/>
        </p:nvSpPr>
        <p:spPr>
          <a:xfrm>
            <a:off x="6370167" y="41841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4202430"/>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What Local Anaesthesia Does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475612"/>
          </a:xfrm>
          <a:prstGeom prst="rect">
            <a:avLst/>
          </a:prstGeom>
          <a:noFill/>
        </p:spPr>
        <p:txBody>
          <a:bodyPr wrap="square" anchor="t" lIns="0" rIns="0" tIns="0" bIns="0">
            <a:spAutoFit/>
          </a:bodyPr>
          <a:lstStyle/>
          <a:p>
            <a:r>
              <a:rPr sz="2100" i="0" b="0">
                <a:solidFill>
                  <a:srgbClr val="1A1F36"/>
                </a:solidFill>
                <a:latin typeface="Calibri"/>
              </a:rPr>
              <a:t>Local anaesthetics cause a </a:t>
            </a:r>
            <a:r>
              <a:rPr sz="2100" i="0" b="1">
                <a:solidFill>
                  <a:srgbClr val="1A1F36"/>
                </a:solidFill>
                <a:latin typeface="Calibri"/>
              </a:rPr>
              <a:t>reversible loss of sensation</a:t>
            </a:r>
            <a:r>
              <a:rPr sz="2100" i="0" b="0">
                <a:solidFill>
                  <a:srgbClr val="1A1F36"/>
                </a:solidFill>
                <a:latin typeface="Calibri"/>
              </a:rPr>
              <a:t> in one part of the body without loss of consciousness. They are used in dentistry, minor surgery, spinal and epidural anaesthesia and nerve blocks.</a:t>
            </a:r>
          </a:p>
        </p:txBody>
      </p:sp>
      <p:sp>
        <p:nvSpPr>
          <p:cNvPr id="10" name="Oval 9"/>
          <p:cNvSpPr/>
          <p:nvPr/>
        </p:nvSpPr>
        <p:spPr>
          <a:xfrm>
            <a:off x="548640" y="30941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3112388"/>
            <a:ext cx="10500055" cy="1475612"/>
          </a:xfrm>
          <a:prstGeom prst="rect">
            <a:avLst/>
          </a:prstGeom>
          <a:noFill/>
        </p:spPr>
        <p:txBody>
          <a:bodyPr wrap="square" anchor="t" lIns="0" rIns="0" tIns="0" bIns="0">
            <a:spAutoFit/>
          </a:bodyPr>
          <a:lstStyle/>
          <a:p>
            <a:r>
              <a:rPr sz="2100" i="0" b="0">
                <a:solidFill>
                  <a:srgbClr val="1A1F36"/>
                </a:solidFill>
                <a:latin typeface="Calibri"/>
              </a:rPr>
              <a:t>Small fibres are blocked first: thin myelinated Aδ fibres and unmyelinated C fibres, which carry pain and temperature. Larger touch and motor fibres are blocked later. So pain goes first, then touch, then movement.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Mechanism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pic>
        <p:nvPicPr>
          <p:cNvPr id="8" name="Picture 7" descr="Outside the nerve the drug exists as base and cation. The unionised base crosses the lipid membrane; inside, it becomes ionised and binds the inner side of the Na+ channel. Acidic tissue leaves more drug ionised outside."/>
          <p:cNvPicPr>
            <a:picLocks noChangeAspect="1"/>
          </p:cNvPicPr>
          <p:nvPr/>
        </p:nvPicPr>
        <p:blipFill>
          <a:blip r:embed="rId4"/>
          <a:stretch>
            <a:fillRect/>
          </a:stretch>
        </p:blipFill>
        <p:spPr>
          <a:xfrm>
            <a:off x="1589940" y="1554480"/>
            <a:ext cx="9011814" cy="4206240"/>
          </a:xfrm>
          <a:prstGeom prst="rect">
            <a:avLst/>
          </a:prstGeom>
        </p:spPr>
      </p:pic>
      <p:sp>
        <p:nvSpPr>
          <p:cNvPr id="9" name="TextBox 8"/>
          <p:cNvSpPr txBox="1"/>
          <p:nvPr/>
        </p:nvSpPr>
        <p:spPr>
          <a:xfrm>
            <a:off x="548640" y="5852159"/>
            <a:ext cx="11094415" cy="365760"/>
          </a:xfrm>
          <a:prstGeom prst="rect">
            <a:avLst/>
          </a:prstGeom>
          <a:noFill/>
        </p:spPr>
        <p:txBody>
          <a:bodyPr wrap="square" anchor="t" lIns="0" rIns="0" tIns="0" bIns="0">
            <a:spAutoFit/>
          </a:bodyPr>
          <a:lstStyle/>
          <a:p>
            <a:pPr algn="ctr"/>
            <a:r>
              <a:rPr sz="1300" i="1" b="0">
                <a:solidFill>
                  <a:srgbClr val="5A6072"/>
                </a:solidFill>
                <a:latin typeface="Calibri"/>
              </a:rPr>
              <a:t>How a local anaesthetic crosses the nerve membrane and blocks the Na+ channel from inside.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Mechanism</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Channels that open often are blocked more (use-dependent block). This is why lidocaine also treats fast ventricular arrhythmias.</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780764"/>
          </a:xfrm>
          <a:prstGeom prst="rect">
            <a:avLst/>
          </a:prstGeom>
          <a:noFill/>
        </p:spPr>
        <p:txBody>
          <a:bodyPr wrap="square" anchor="t" lIns="0" rIns="0" tIns="0" bIns="0">
            <a:spAutoFit/>
          </a:bodyPr>
          <a:lstStyle/>
          <a:p>
            <a:r>
              <a:rPr sz="2100" i="0" b="0">
                <a:solidFill>
                  <a:srgbClr val="1A1F36"/>
                </a:solidFill>
                <a:latin typeface="Calibri"/>
              </a:rPr>
              <a:t>Local anaesthetics are weak bases (pKa about 7.6 to 9).</a:t>
            </a:r>
          </a:p>
        </p:txBody>
      </p:sp>
      <p:sp>
        <p:nvSpPr>
          <p:cNvPr id="11" name="Oval 10"/>
          <p:cNvSpPr/>
          <p:nvPr/>
        </p:nvSpPr>
        <p:spPr>
          <a:xfrm>
            <a:off x="548640" y="337766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395948"/>
            <a:ext cx="10500055" cy="780764"/>
          </a:xfrm>
          <a:prstGeom prst="rect">
            <a:avLst/>
          </a:prstGeom>
          <a:noFill/>
        </p:spPr>
        <p:txBody>
          <a:bodyPr wrap="square" anchor="t" lIns="0" rIns="0" tIns="0" bIns="0">
            <a:spAutoFit/>
          </a:bodyPr>
          <a:lstStyle/>
          <a:p>
            <a:r>
              <a:rPr sz="2100" i="0" b="0">
                <a:solidFill>
                  <a:srgbClr val="1A1F36"/>
                </a:solidFill>
                <a:latin typeface="Calibri"/>
              </a:rPr>
              <a:t>The </a:t>
            </a:r>
            <a:r>
              <a:rPr sz="2100" i="0" b="1">
                <a:solidFill>
                  <a:srgbClr val="1A1F36"/>
                </a:solidFill>
                <a:latin typeface="Calibri"/>
              </a:rPr>
              <a:t>unionised</a:t>
            </a:r>
            <a:r>
              <a:rPr sz="2100" i="0" b="0">
                <a:solidFill>
                  <a:srgbClr val="1A1F36"/>
                </a:solidFill>
                <a:latin typeface="Calibri"/>
              </a:rPr>
              <a:t> base crosses the nerve membrane.</a:t>
            </a:r>
          </a:p>
        </p:txBody>
      </p:sp>
      <p:sp>
        <p:nvSpPr>
          <p:cNvPr id="13" name="Oval 12"/>
          <p:cNvSpPr/>
          <p:nvPr/>
        </p:nvSpPr>
        <p:spPr>
          <a:xfrm>
            <a:off x="548640" y="420414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222432"/>
            <a:ext cx="10500055" cy="780764"/>
          </a:xfrm>
          <a:prstGeom prst="rect">
            <a:avLst/>
          </a:prstGeom>
          <a:noFill/>
        </p:spPr>
        <p:txBody>
          <a:bodyPr wrap="square" anchor="t" lIns="0" rIns="0" tIns="0" bIns="0">
            <a:spAutoFit/>
          </a:bodyPr>
          <a:lstStyle/>
          <a:p>
            <a:r>
              <a:rPr sz="2100" i="0" b="0">
                <a:solidFill>
                  <a:srgbClr val="1A1F36"/>
                </a:solidFill>
                <a:latin typeface="Calibri"/>
              </a:rPr>
              <a:t>Inside the axon, part of it takes up a proton and becomes </a:t>
            </a:r>
            <a:r>
              <a:rPr sz="2100" i="0" b="1">
                <a:solidFill>
                  <a:srgbClr val="1A1F36"/>
                </a:solidFill>
                <a:latin typeface="Calibri"/>
              </a:rPr>
              <a:t>ionised</a:t>
            </a:r>
            <a:r>
              <a:rPr sz="2100" i="0" b="0">
                <a:solidFill>
                  <a:srgbClr val="1A1F36"/>
                </a:solidFill>
                <a:latin typeface="Calibri"/>
              </a:rPr>
              <a:t>.</a:t>
            </a:r>
          </a:p>
        </p:txBody>
      </p:sp>
      <p:sp>
        <p:nvSpPr>
          <p:cNvPr id="15" name="Oval 14"/>
          <p:cNvSpPr/>
          <p:nvPr/>
        </p:nvSpPr>
        <p:spPr>
          <a:xfrm>
            <a:off x="548640" y="503062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5048916"/>
            <a:ext cx="10500055" cy="1114139"/>
          </a:xfrm>
          <a:prstGeom prst="rect">
            <a:avLst/>
          </a:prstGeom>
          <a:noFill/>
        </p:spPr>
        <p:txBody>
          <a:bodyPr wrap="square" anchor="t" lIns="0" rIns="0" tIns="0" bIns="0">
            <a:spAutoFit/>
          </a:bodyPr>
          <a:lstStyle/>
          <a:p>
            <a:r>
              <a:rPr sz="2100" i="0" b="0">
                <a:solidFill>
                  <a:srgbClr val="1A1F36"/>
                </a:solidFill>
                <a:latin typeface="Calibri"/>
              </a:rPr>
              <a:t>The ionised form binds the inner side of the voltage-gated </a:t>
            </a:r>
            <a:r>
              <a:rPr sz="2100" i="0" b="1">
                <a:solidFill>
                  <a:srgbClr val="1A1F36"/>
                </a:solidFill>
                <a:latin typeface="Calibri"/>
              </a:rPr>
              <a:t>Na+ channel</a:t>
            </a:r>
            <a:r>
              <a:rPr sz="2100" i="0" b="0">
                <a:solidFill>
                  <a:srgbClr val="1A1F36"/>
                </a:solidFill>
                <a:latin typeface="Calibri"/>
              </a:rPr>
              <a:t> and blocks it. The nerve cannot fire.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9</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Local anaesthetics work poorly in </a:t>
            </a:r>
            <a:r>
              <a:rPr sz="2200" i="0" b="1">
                <a:solidFill>
                  <a:srgbClr val="1A1F36"/>
                </a:solidFill>
                <a:latin typeface="Calibri"/>
              </a:rPr>
              <a:t>infected tissue</a:t>
            </a:r>
            <a:r>
              <a:rPr sz="2200" i="0" b="0">
                <a:solidFill>
                  <a:srgbClr val="1A1F36"/>
                </a:solidFill>
                <a:latin typeface="Calibri"/>
              </a:rPr>
              <a:t>. Pus is acidic, so more drug is ionised outside the nerve and less crosses the membrane. A drug with a pKa close to body pH, such as lidocaine, has a faster onset.</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Local Anaesthetics</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42</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Esters and Amides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Every local anaesthetic has a lipophilic ring joined to a hydrophilic amine by an </a:t>
            </a:r>
            <a:r>
              <a:rPr sz="1800" i="0" b="1">
                <a:solidFill>
                  <a:srgbClr val="1A1F36"/>
                </a:solidFill>
                <a:latin typeface="Calibri"/>
              </a:rPr>
              <a:t>ester</a:t>
            </a:r>
            <a:r>
              <a:rPr sz="1800" i="0" b="0">
                <a:solidFill>
                  <a:srgbClr val="1A1F36"/>
                </a:solidFill>
                <a:latin typeface="Calibri"/>
              </a:rPr>
              <a:t> or an </a:t>
            </a:r>
            <a:r>
              <a:rPr sz="1800" i="0" b="1">
                <a:solidFill>
                  <a:srgbClr val="1A1F36"/>
                </a:solidFill>
                <a:latin typeface="Calibri"/>
              </a:rPr>
              <a:t>amide</a:t>
            </a:r>
            <a:r>
              <a:rPr sz="1800" i="0" b="0">
                <a:solidFill>
                  <a:srgbClr val="1A1F36"/>
                </a:solidFill>
                <a:latin typeface="Calibri"/>
              </a:rPr>
              <a:t> link.</a:t>
            </a:r>
          </a:p>
        </p:txBody>
      </p:sp>
      <p:graphicFrame>
        <p:nvGraphicFramePr>
          <p:cNvPr id="9" name="Table 8"/>
          <p:cNvGraphicFramePr>
            <a:graphicFrameLocks noGrp="1"/>
          </p:cNvGraphicFramePr>
          <p:nvPr/>
        </p:nvGraphicFramePr>
        <p:xfrm>
          <a:off x="548640" y="2532887"/>
          <a:ext cx="11094414" cy="3639306"/>
        </p:xfrm>
        <a:graphic>
          <a:graphicData uri="http://schemas.openxmlformats.org/drawingml/2006/table">
            <a:tbl>
              <a:tblPr firstRow="0" bandRow="0">
                <a:tableStyleId>{5C22544A-7EE6-4342-B048-85BDC9FD1C3A}</a:tableStyleId>
              </a:tblPr>
              <a:tblGrid>
                <a:gridCol w="1322513"/>
                <a:gridCol w="4775741"/>
                <a:gridCol w="4996160"/>
              </a:tblGrid>
              <a:tr h="606551">
                <a:tc>
                  <a:txBody>
                    <a:bodyPr/>
                    <a:lstStyle/>
                    <a:p>
                      <a:r>
                        <a:rPr sz="1700" i="0" b="1">
                          <a:solidFill>
                            <a:srgbClr val="FFFFFF"/>
                          </a:solidFill>
                          <a:latin typeface="Calibri"/>
                        </a:rPr>
                        <a:t>Feature</a:t>
                      </a:r>
                    </a:p>
                  </a:txBody>
                  <a:tcPr marL="109728" marR="109728" marT="45720" marB="45720" anchor="ctr">
                    <a:solidFill>
                      <a:srgbClr val="1B2A8C"/>
                    </a:solidFill>
                  </a:tcPr>
                </a:tc>
                <a:tc>
                  <a:txBody>
                    <a:bodyPr/>
                    <a:lstStyle/>
                    <a:p>
                      <a:r>
                        <a:rPr sz="1700" i="0" b="1">
                          <a:solidFill>
                            <a:srgbClr val="FFFFFF"/>
                          </a:solidFill>
                          <a:latin typeface="Calibri"/>
                        </a:rPr>
                        <a:t>Esters</a:t>
                      </a:r>
                    </a:p>
                  </a:txBody>
                  <a:tcPr marL="109728" marR="109728" marT="45720" marB="45720" anchor="ctr">
                    <a:solidFill>
                      <a:srgbClr val="1B2A8C"/>
                    </a:solidFill>
                  </a:tcPr>
                </a:tc>
                <a:tc>
                  <a:txBody>
                    <a:bodyPr/>
                    <a:lstStyle/>
                    <a:p>
                      <a:r>
                        <a:rPr sz="1700" i="0" b="1">
                          <a:solidFill>
                            <a:srgbClr val="FFFFFF"/>
                          </a:solidFill>
                          <a:latin typeface="Calibri"/>
                        </a:rPr>
                        <a:t>Amides</a:t>
                      </a:r>
                    </a:p>
                  </a:txBody>
                  <a:tcPr marL="109728" marR="109728" marT="45720" marB="45720" anchor="ctr">
                    <a:solidFill>
                      <a:srgbClr val="1B2A8C"/>
                    </a:solidFill>
                  </a:tcPr>
                </a:tc>
              </a:tr>
              <a:tr h="606551">
                <a:tc>
                  <a:txBody>
                    <a:bodyPr/>
                    <a:lstStyle/>
                    <a:p>
                      <a:r>
                        <a:rPr sz="1800" i="0" b="1">
                          <a:solidFill>
                            <a:srgbClr val="1A1F36"/>
                          </a:solidFill>
                          <a:latin typeface="Calibri"/>
                        </a:rPr>
                        <a:t>Examples</a:t>
                      </a:r>
                    </a:p>
                  </a:txBody>
                  <a:tcPr marL="109728" marR="109728" marT="45720" marB="45720" anchor="ctr">
                    <a:solidFill>
                      <a:srgbClr val="FFFFFF"/>
                    </a:solidFill>
                  </a:tcPr>
                </a:tc>
                <a:tc>
                  <a:txBody>
                    <a:bodyPr/>
                    <a:lstStyle/>
                    <a:p>
                      <a:r>
                        <a:rPr sz="1800" i="0" b="0">
                          <a:solidFill>
                            <a:srgbClr val="1A1F36"/>
                          </a:solidFill>
                          <a:latin typeface="Calibri"/>
                        </a:rPr>
                        <a:t>Procaine, chloroprocaine, tetracaine, benzocaine, cocaine</a:t>
                      </a:r>
                    </a:p>
                  </a:txBody>
                  <a:tcPr marL="109728" marR="109728" marT="45720" marB="45720" anchor="ctr">
                    <a:solidFill>
                      <a:srgbClr val="FFFFFF"/>
                    </a:solidFill>
                  </a:tcPr>
                </a:tc>
                <a:tc>
                  <a:txBody>
                    <a:bodyPr/>
                    <a:lstStyle/>
                    <a:p>
                      <a:r>
                        <a:rPr sz="1800" i="0" b="0">
                          <a:solidFill>
                            <a:srgbClr val="1A1F36"/>
                          </a:solidFill>
                          <a:latin typeface="Calibri"/>
                        </a:rPr>
                        <a:t>Lidocaine, prilocaine, mepivacaine, bupivacaine, ropivacaine, articaine</a:t>
                      </a:r>
                    </a:p>
                  </a:txBody>
                  <a:tcPr marL="109728" marR="109728" marT="45720" marB="45720" anchor="ctr">
                    <a:solidFill>
                      <a:srgbClr val="FFFFFF"/>
                    </a:solidFill>
                  </a:tcPr>
                </a:tc>
              </a:tr>
              <a:tr h="606551">
                <a:tc>
                  <a:txBody>
                    <a:bodyPr/>
                    <a:lstStyle/>
                    <a:p>
                      <a:r>
                        <a:rPr sz="1800" i="0" b="1">
                          <a:solidFill>
                            <a:srgbClr val="1A1F36"/>
                          </a:solidFill>
                          <a:latin typeface="Calibri"/>
                        </a:rPr>
                        <a:t>Metabolism</a:t>
                      </a:r>
                    </a:p>
                  </a:txBody>
                  <a:tcPr marL="109728" marR="109728" marT="45720" marB="45720" anchor="ctr">
                    <a:solidFill>
                      <a:srgbClr val="F1F2F8"/>
                    </a:solidFill>
                  </a:tcPr>
                </a:tc>
                <a:tc>
                  <a:txBody>
                    <a:bodyPr/>
                    <a:lstStyle/>
                    <a:p>
                      <a:r>
                        <a:rPr sz="1800" i="0" b="0">
                          <a:solidFill>
                            <a:srgbClr val="1A1F36"/>
                          </a:solidFill>
                          <a:latin typeface="Calibri"/>
                        </a:rPr>
                        <a:t>Plasma cholinesterase (fast)</a:t>
                      </a:r>
                    </a:p>
                  </a:txBody>
                  <a:tcPr marL="109728" marR="109728" marT="45720" marB="45720" anchor="ctr">
                    <a:solidFill>
                      <a:srgbClr val="F1F2F8"/>
                    </a:solidFill>
                  </a:tcPr>
                </a:tc>
                <a:tc>
                  <a:txBody>
                    <a:bodyPr/>
                    <a:lstStyle/>
                    <a:p>
                      <a:r>
                        <a:rPr sz="1800" i="0" b="0">
                          <a:solidFill>
                            <a:srgbClr val="1A1F36"/>
                          </a:solidFill>
                          <a:latin typeface="Calibri"/>
                        </a:rPr>
                        <a:t>Liver (slower)</a:t>
                      </a:r>
                    </a:p>
                  </a:txBody>
                  <a:tcPr marL="109728" marR="109728" marT="45720" marB="45720" anchor="ctr">
                    <a:solidFill>
                      <a:srgbClr val="F1F2F8"/>
                    </a:solidFill>
                  </a:tcPr>
                </a:tc>
              </a:tr>
              <a:tr h="606551">
                <a:tc>
                  <a:txBody>
                    <a:bodyPr/>
                    <a:lstStyle/>
                    <a:p>
                      <a:r>
                        <a:rPr sz="1800" i="0" b="1">
                          <a:solidFill>
                            <a:srgbClr val="1A1F36"/>
                          </a:solidFill>
                          <a:latin typeface="Calibri"/>
                        </a:rPr>
                        <a:t>Duration</a:t>
                      </a:r>
                    </a:p>
                  </a:txBody>
                  <a:tcPr marL="109728" marR="109728" marT="45720" marB="45720" anchor="ctr">
                    <a:solidFill>
                      <a:srgbClr val="FFFFFF"/>
                    </a:solidFill>
                  </a:tcPr>
                </a:tc>
                <a:tc>
                  <a:txBody>
                    <a:bodyPr/>
                    <a:lstStyle/>
                    <a:p>
                      <a:r>
                        <a:rPr sz="1800" i="0" b="0">
                          <a:solidFill>
                            <a:srgbClr val="1A1F36"/>
                          </a:solidFill>
                          <a:latin typeface="Calibri"/>
                        </a:rPr>
                        <a:t>Mostly short</a:t>
                      </a:r>
                    </a:p>
                  </a:txBody>
                  <a:tcPr marL="109728" marR="109728" marT="45720" marB="45720" anchor="ctr">
                    <a:solidFill>
                      <a:srgbClr val="FFFFFF"/>
                    </a:solidFill>
                  </a:tcPr>
                </a:tc>
                <a:tc>
                  <a:txBody>
                    <a:bodyPr/>
                    <a:lstStyle/>
                    <a:p>
                      <a:r>
                        <a:rPr sz="1800" i="0" b="0">
                          <a:solidFill>
                            <a:srgbClr val="1A1F36"/>
                          </a:solidFill>
                          <a:latin typeface="Calibri"/>
                        </a:rPr>
                        <a:t>Intermediate to long</a:t>
                      </a:r>
                    </a:p>
                  </a:txBody>
                  <a:tcPr marL="109728" marR="109728" marT="45720" marB="45720" anchor="ctr">
                    <a:solidFill>
                      <a:srgbClr val="FFFFFF"/>
                    </a:solidFill>
                  </a:tcPr>
                </a:tc>
              </a:tr>
              <a:tr h="606551">
                <a:tc>
                  <a:txBody>
                    <a:bodyPr/>
                    <a:lstStyle/>
                    <a:p>
                      <a:r>
                        <a:rPr sz="1800" i="0" b="1">
                          <a:solidFill>
                            <a:srgbClr val="1A1F36"/>
                          </a:solidFill>
                          <a:latin typeface="Calibri"/>
                        </a:rPr>
                        <a:t>Allergy</a:t>
                      </a:r>
                    </a:p>
                  </a:txBody>
                  <a:tcPr marL="109728" marR="109728" marT="45720" marB="45720" anchor="ctr">
                    <a:solidFill>
                      <a:srgbClr val="F1F2F8"/>
                    </a:solidFill>
                  </a:tcPr>
                </a:tc>
                <a:tc>
                  <a:txBody>
                    <a:bodyPr/>
                    <a:lstStyle/>
                    <a:p>
                      <a:r>
                        <a:rPr sz="1800" i="0" b="0">
                          <a:solidFill>
                            <a:srgbClr val="1A1F36"/>
                          </a:solidFill>
                          <a:latin typeface="Calibri"/>
                        </a:rPr>
                        <a:t>More common (from PABA metabolite)</a:t>
                      </a:r>
                    </a:p>
                  </a:txBody>
                  <a:tcPr marL="109728" marR="109728" marT="45720" marB="45720" anchor="ctr">
                    <a:solidFill>
                      <a:srgbClr val="F1F2F8"/>
                    </a:solidFill>
                  </a:tcPr>
                </a:tc>
                <a:tc>
                  <a:txBody>
                    <a:bodyPr/>
                    <a:lstStyle/>
                    <a:p>
                      <a:r>
                        <a:rPr sz="1800" i="0" b="0">
                          <a:solidFill>
                            <a:srgbClr val="1A1F36"/>
                          </a:solidFill>
                          <a:latin typeface="Calibri"/>
                        </a:rPr>
                        <a:t>Rare</a:t>
                      </a:r>
                    </a:p>
                  </a:txBody>
                  <a:tcPr marL="109728" marR="109728" marT="45720" marB="45720" anchor="ctr">
                    <a:solidFill>
                      <a:srgbClr val="F1F2F8"/>
                    </a:solidFill>
                  </a:tcPr>
                </a:tc>
              </a:tr>
              <a:tr h="606551">
                <a:tc>
                  <a:txBody>
                    <a:bodyPr/>
                    <a:lstStyle/>
                    <a:p>
                      <a:r>
                        <a:rPr sz="1800" i="0" b="1">
                          <a:solidFill>
                            <a:srgbClr val="1A1F36"/>
                          </a:solidFill>
                          <a:latin typeface="Calibri"/>
                        </a:rPr>
                        <a:t>Memory aid</a:t>
                      </a:r>
                    </a:p>
                  </a:txBody>
                  <a:tcPr marL="109728" marR="109728" marT="45720" marB="45720" anchor="ctr">
                    <a:solidFill>
                      <a:srgbClr val="FFFFFF"/>
                    </a:solidFill>
                  </a:tcPr>
                </a:tc>
                <a:tc>
                  <a:txBody>
                    <a:bodyPr/>
                    <a:lstStyle/>
                    <a:p>
                      <a:r>
                        <a:rPr sz="1800" i="0" b="0">
                          <a:solidFill>
                            <a:srgbClr val="1A1F36"/>
                          </a:solidFill>
                          <a:latin typeface="Calibri"/>
                        </a:rPr>
                        <a:t>One "i" in the name</a:t>
                      </a:r>
                    </a:p>
                  </a:txBody>
                  <a:tcPr marL="109728" marR="109728" marT="45720" marB="45720" anchor="ctr">
                    <a:solidFill>
                      <a:srgbClr val="FFFFFF"/>
                    </a:solidFill>
                  </a:tcPr>
                </a:tc>
                <a:tc>
                  <a:txBody>
                    <a:bodyPr/>
                    <a:lstStyle/>
                    <a:p>
                      <a:r>
                        <a:rPr sz="1800" i="0" b="0">
                          <a:solidFill>
                            <a:srgbClr val="1A1F36"/>
                          </a:solidFill>
                          <a:latin typeface="Calibri"/>
                        </a:rPr>
                        <a:t>Two "i"s in the name (li-do-ca-in-e)</a:t>
                      </a:r>
                    </a:p>
                  </a:txBody>
                  <a:tcPr marL="109728" marR="109728" marT="45720" marB="4572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Esters and Amides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Key drugs: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761174"/>
          </a:xfrm>
          <a:prstGeom prst="rect">
            <a:avLst/>
          </a:prstGeom>
          <a:noFill/>
        </p:spPr>
        <p:txBody>
          <a:bodyPr wrap="square" anchor="t" lIns="0" rIns="0" tIns="0" bIns="0">
            <a:spAutoFit/>
          </a:bodyPr>
          <a:lstStyle/>
          <a:p>
            <a:r>
              <a:rPr sz="1900" i="0" b="1">
                <a:solidFill>
                  <a:srgbClr val="1A1F36"/>
                </a:solidFill>
                <a:latin typeface="Calibri"/>
              </a:rPr>
              <a:t>Lidocaine:</a:t>
            </a:r>
            <a:r>
              <a:rPr sz="1900" i="0" b="0">
                <a:solidFill>
                  <a:srgbClr val="1A1F36"/>
                </a:solidFill>
                <a:latin typeface="Calibri"/>
              </a:rPr>
              <a:t> the most used agent. Fast onset, intermediate duration. Used by injection, topically (gel, spray, patch) and IV as a class Ib antiarrhythmic.</a:t>
            </a:r>
          </a:p>
        </p:txBody>
      </p:sp>
      <p:sp>
        <p:nvSpPr>
          <p:cNvPr id="11" name="Oval 10"/>
          <p:cNvSpPr/>
          <p:nvPr/>
        </p:nvSpPr>
        <p:spPr>
          <a:xfrm>
            <a:off x="548640" y="306089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079178"/>
            <a:ext cx="10500055" cy="761174"/>
          </a:xfrm>
          <a:prstGeom prst="rect">
            <a:avLst/>
          </a:prstGeom>
          <a:noFill/>
        </p:spPr>
        <p:txBody>
          <a:bodyPr wrap="square" anchor="t" lIns="0" rIns="0" tIns="0" bIns="0">
            <a:spAutoFit/>
          </a:bodyPr>
          <a:lstStyle/>
          <a:p>
            <a:r>
              <a:rPr sz="1900" i="0" b="1">
                <a:solidFill>
                  <a:srgbClr val="1A1F36"/>
                </a:solidFill>
                <a:latin typeface="Calibri"/>
              </a:rPr>
              <a:t>Bupivacaine:</a:t>
            </a:r>
            <a:r>
              <a:rPr sz="1900" i="0" b="0">
                <a:solidFill>
                  <a:srgbClr val="1A1F36"/>
                </a:solidFill>
                <a:latin typeface="Calibri"/>
              </a:rPr>
              <a:t> long-acting; used for spinal, epidural and nerve blocks. It is the most </a:t>
            </a:r>
            <a:r>
              <a:rPr sz="1900" i="0" b="1">
                <a:solidFill>
                  <a:srgbClr val="1A1F36"/>
                </a:solidFill>
                <a:latin typeface="Calibri"/>
              </a:rPr>
              <a:t>cardiotoxic</a:t>
            </a:r>
            <a:r>
              <a:rPr sz="1900" i="0" b="0">
                <a:solidFill>
                  <a:srgbClr val="1A1F36"/>
                </a:solidFill>
                <a:latin typeface="Calibri"/>
              </a:rPr>
              <a:t>; never give it IV.</a:t>
            </a:r>
          </a:p>
        </p:txBody>
      </p:sp>
      <p:sp>
        <p:nvSpPr>
          <p:cNvPr id="13" name="Oval 12"/>
          <p:cNvSpPr/>
          <p:nvPr/>
        </p:nvSpPr>
        <p:spPr>
          <a:xfrm>
            <a:off x="548640" y="38677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3886072"/>
            <a:ext cx="10500055" cy="459549"/>
          </a:xfrm>
          <a:prstGeom prst="rect">
            <a:avLst/>
          </a:prstGeom>
          <a:noFill/>
        </p:spPr>
        <p:txBody>
          <a:bodyPr wrap="square" anchor="t" lIns="0" rIns="0" tIns="0" bIns="0">
            <a:spAutoFit/>
          </a:bodyPr>
          <a:lstStyle/>
          <a:p>
            <a:r>
              <a:rPr sz="1900" i="0" b="1">
                <a:solidFill>
                  <a:srgbClr val="1A1F36"/>
                </a:solidFill>
                <a:latin typeface="Calibri"/>
              </a:rPr>
              <a:t>Ropivacaine:</a:t>
            </a:r>
            <a:r>
              <a:rPr sz="1900" i="0" b="0">
                <a:solidFill>
                  <a:srgbClr val="1A1F36"/>
                </a:solidFill>
                <a:latin typeface="Calibri"/>
              </a:rPr>
              <a:t> like bupivacaine but less cardiotoxic, with less motor block.</a:t>
            </a:r>
          </a:p>
        </p:txBody>
      </p:sp>
      <p:sp>
        <p:nvSpPr>
          <p:cNvPr id="15" name="Oval 14"/>
          <p:cNvSpPr/>
          <p:nvPr/>
        </p:nvSpPr>
        <p:spPr>
          <a:xfrm>
            <a:off x="548640" y="437305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4391342"/>
            <a:ext cx="10500055" cy="459549"/>
          </a:xfrm>
          <a:prstGeom prst="rect">
            <a:avLst/>
          </a:prstGeom>
          <a:noFill/>
        </p:spPr>
        <p:txBody>
          <a:bodyPr wrap="square" anchor="t" lIns="0" rIns="0" tIns="0" bIns="0">
            <a:spAutoFit/>
          </a:bodyPr>
          <a:lstStyle/>
          <a:p>
            <a:r>
              <a:rPr sz="1900" i="0" b="1">
                <a:solidFill>
                  <a:srgbClr val="1A1F36"/>
                </a:solidFill>
                <a:latin typeface="Calibri"/>
              </a:rPr>
              <a:t>Benzocaine:</a:t>
            </a:r>
            <a:r>
              <a:rPr sz="1900" i="0" b="0">
                <a:solidFill>
                  <a:srgbClr val="1A1F36"/>
                </a:solidFill>
                <a:latin typeface="Calibri"/>
              </a:rPr>
              <a:t> topical only (throat lozenges, mouth gels).</a:t>
            </a:r>
          </a:p>
        </p:txBody>
      </p:sp>
      <p:sp>
        <p:nvSpPr>
          <p:cNvPr id="17" name="Oval 16"/>
          <p:cNvSpPr/>
          <p:nvPr/>
        </p:nvSpPr>
        <p:spPr>
          <a:xfrm>
            <a:off x="548640" y="487832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1143000" y="4896611"/>
            <a:ext cx="10500055" cy="459549"/>
          </a:xfrm>
          <a:prstGeom prst="rect">
            <a:avLst/>
          </a:prstGeom>
          <a:noFill/>
        </p:spPr>
        <p:txBody>
          <a:bodyPr wrap="square" anchor="t" lIns="0" rIns="0" tIns="0" bIns="0">
            <a:spAutoFit/>
          </a:bodyPr>
          <a:lstStyle/>
          <a:p>
            <a:r>
              <a:rPr sz="1900" i="0" b="1">
                <a:solidFill>
                  <a:srgbClr val="1A1F36"/>
                </a:solidFill>
                <a:latin typeface="Calibri"/>
              </a:rPr>
              <a:t>Tetracaine and proxymetacaine:</a:t>
            </a:r>
            <a:r>
              <a:rPr sz="1900" i="0" b="0">
                <a:solidFill>
                  <a:srgbClr val="1A1F36"/>
                </a:solidFill>
                <a:latin typeface="Calibri"/>
              </a:rPr>
              <a:t> eye drops for eye procedures.</a:t>
            </a:r>
          </a:p>
        </p:txBody>
      </p:sp>
      <p:sp>
        <p:nvSpPr>
          <p:cNvPr id="19" name="Oval 18"/>
          <p:cNvSpPr/>
          <p:nvPr/>
        </p:nvSpPr>
        <p:spPr>
          <a:xfrm>
            <a:off x="548640" y="538359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20" name="TextBox 19"/>
          <p:cNvSpPr txBox="1"/>
          <p:nvPr/>
        </p:nvSpPr>
        <p:spPr>
          <a:xfrm>
            <a:off x="1143000" y="5401881"/>
            <a:ext cx="10500055" cy="761174"/>
          </a:xfrm>
          <a:prstGeom prst="rect">
            <a:avLst/>
          </a:prstGeom>
          <a:noFill/>
        </p:spPr>
        <p:txBody>
          <a:bodyPr wrap="square" anchor="t" lIns="0" rIns="0" tIns="0" bIns="0">
            <a:spAutoFit/>
          </a:bodyPr>
          <a:lstStyle/>
          <a:p>
            <a:r>
              <a:rPr sz="1900" i="0" b="1">
                <a:solidFill>
                  <a:srgbClr val="1A1F36"/>
                </a:solidFill>
                <a:latin typeface="Calibri"/>
              </a:rPr>
              <a:t>Cocaine:</a:t>
            </a:r>
            <a:r>
              <a:rPr sz="1900" i="0" b="0">
                <a:solidFill>
                  <a:srgbClr val="1A1F36"/>
                </a:solidFill>
                <a:latin typeface="Calibri"/>
              </a:rPr>
              <a:t> topical, for the nose. It blocks noradrenaline reuptake, so it is the only local anaesthetic that causes </a:t>
            </a:r>
            <a:r>
              <a:rPr sz="1900" i="0" b="1">
                <a:solidFill>
                  <a:srgbClr val="1A1F36"/>
                </a:solidFill>
                <a:latin typeface="Calibri"/>
              </a:rPr>
              <a:t>vasoconstriction</a:t>
            </a:r>
            <a:r>
              <a:rPr sz="1900" i="0" b="0">
                <a:solidFill>
                  <a:srgbClr val="1A1F36"/>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Esters and Amides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1">
                <a:solidFill>
                  <a:srgbClr val="1A1F36"/>
                </a:solidFill>
                <a:latin typeface="Calibri"/>
              </a:rPr>
              <a:t>Prilocaine</a:t>
            </a:r>
            <a:r>
              <a:rPr sz="2100" i="0" b="0">
                <a:solidFill>
                  <a:srgbClr val="1A1F36"/>
                </a:solidFill>
                <a:latin typeface="Calibri"/>
              </a:rPr>
              <a:t> (and high-dose benzocaine) can cause </a:t>
            </a:r>
            <a:r>
              <a:rPr sz="2100" i="0" b="1">
                <a:solidFill>
                  <a:srgbClr val="1A1F36"/>
                </a:solidFill>
                <a:latin typeface="Calibri"/>
              </a:rPr>
              <a:t>methaemoglobinaemia</a:t>
            </a:r>
            <a:r>
              <a:rPr sz="2100" i="0" b="0">
                <a:solidFill>
                  <a:srgbClr val="1A1F36"/>
                </a:solidFill>
                <a:latin typeface="Calibri"/>
              </a:rPr>
              <a:t>, especially in infants.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Ways of giving local anaesthetics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9270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The closer the injection is to a large blood supply, the faster the drug is absorbed and the higher the risk of toxicity. Absorption is highest after intercostal blocks and lowest after subcutaneous infiltration.</a:t>
            </a:r>
          </a:p>
        </p:txBody>
      </p:sp>
      <p:graphicFrame>
        <p:nvGraphicFramePr>
          <p:cNvPr id="9" name="Table 8"/>
          <p:cNvGraphicFramePr>
            <a:graphicFrameLocks noGrp="1"/>
          </p:cNvGraphicFramePr>
          <p:nvPr/>
        </p:nvGraphicFramePr>
        <p:xfrm>
          <a:off x="548640" y="2830068"/>
          <a:ext cx="11094414" cy="3342129"/>
        </p:xfrm>
        <a:graphic>
          <a:graphicData uri="http://schemas.openxmlformats.org/drawingml/2006/table">
            <a:tbl>
              <a:tblPr firstRow="0" bandRow="0">
                <a:tableStyleId>{5C22544A-7EE6-4342-B048-85BDC9FD1C3A}</a:tableStyleId>
              </a:tblPr>
              <a:tblGrid>
                <a:gridCol w="2498080"/>
                <a:gridCol w="4628795"/>
                <a:gridCol w="3967539"/>
              </a:tblGrid>
              <a:tr h="477447">
                <a:tc>
                  <a:txBody>
                    <a:bodyPr/>
                    <a:lstStyle/>
                    <a:p>
                      <a:r>
                        <a:rPr sz="1400" i="0" b="1">
                          <a:solidFill>
                            <a:srgbClr val="FFFFFF"/>
                          </a:solidFill>
                          <a:latin typeface="Calibri"/>
                        </a:rPr>
                        <a:t>Route</a:t>
                      </a:r>
                    </a:p>
                  </a:txBody>
                  <a:tcPr marL="109728" marR="109728" marT="45720" marB="45720" anchor="ctr">
                    <a:solidFill>
                      <a:srgbClr val="1B2A8C"/>
                    </a:solidFill>
                  </a:tcPr>
                </a:tc>
                <a:tc>
                  <a:txBody>
                    <a:bodyPr/>
                    <a:lstStyle/>
                    <a:p>
                      <a:r>
                        <a:rPr sz="1400" i="0" b="1">
                          <a:solidFill>
                            <a:srgbClr val="FFFFFF"/>
                          </a:solidFill>
                          <a:latin typeface="Calibri"/>
                        </a:rPr>
                        <a:t>How it is given</a:t>
                      </a:r>
                    </a:p>
                  </a:txBody>
                  <a:tcPr marL="109728" marR="109728" marT="45720" marB="45720" anchor="ctr">
                    <a:solidFill>
                      <a:srgbClr val="1B2A8C"/>
                    </a:solidFill>
                  </a:tcPr>
                </a:tc>
                <a:tc>
                  <a:txBody>
                    <a:bodyPr/>
                    <a:lstStyle/>
                    <a:p>
                      <a:r>
                        <a:rPr sz="1400" i="0" b="1">
                          <a:solidFill>
                            <a:srgbClr val="FFFFFF"/>
                          </a:solidFill>
                          <a:latin typeface="Calibri"/>
                        </a:rPr>
                        <a:t>Example use</a:t>
                      </a:r>
                    </a:p>
                  </a:txBody>
                  <a:tcPr marL="109728" marR="109728" marT="45720" marB="45720" anchor="ctr">
                    <a:solidFill>
                      <a:srgbClr val="1B2A8C"/>
                    </a:solidFill>
                  </a:tcPr>
                </a:tc>
              </a:tr>
              <a:tr h="477447">
                <a:tc>
                  <a:txBody>
                    <a:bodyPr/>
                    <a:lstStyle/>
                    <a:p>
                      <a:r>
                        <a:rPr sz="1500" i="0" b="1">
                          <a:solidFill>
                            <a:srgbClr val="1A1F36"/>
                          </a:solidFill>
                          <a:latin typeface="Calibri"/>
                        </a:rPr>
                        <a:t>Topical (surface)</a:t>
                      </a:r>
                    </a:p>
                  </a:txBody>
                  <a:tcPr marL="109728" marR="109728" marT="45720" marB="45720" anchor="ctr">
                    <a:solidFill>
                      <a:srgbClr val="FFFFFF"/>
                    </a:solidFill>
                  </a:tcPr>
                </a:tc>
                <a:tc>
                  <a:txBody>
                    <a:bodyPr/>
                    <a:lstStyle/>
                    <a:p>
                      <a:r>
                        <a:rPr sz="1500" i="0" b="0">
                          <a:solidFill>
                            <a:srgbClr val="1A1F36"/>
                          </a:solidFill>
                          <a:latin typeface="Calibri"/>
                        </a:rPr>
                        <a:t>Gel, spray, cream or drops on skin or mucosa</a:t>
                      </a:r>
                    </a:p>
                  </a:txBody>
                  <a:tcPr marL="109728" marR="109728" marT="45720" marB="45720" anchor="ctr">
                    <a:solidFill>
                      <a:srgbClr val="FFFFFF"/>
                    </a:solidFill>
                  </a:tcPr>
                </a:tc>
                <a:tc>
                  <a:txBody>
                    <a:bodyPr/>
                    <a:lstStyle/>
                    <a:p>
                      <a:r>
                        <a:rPr sz="1500" i="0" b="0">
                          <a:solidFill>
                            <a:srgbClr val="1A1F36"/>
                          </a:solidFill>
                          <a:latin typeface="Calibri"/>
                        </a:rPr>
                        <a:t>Mouth ulcers, eye procedures, before a cannula</a:t>
                      </a:r>
                    </a:p>
                  </a:txBody>
                  <a:tcPr marL="109728" marR="109728" marT="45720" marB="45720" anchor="ctr">
                    <a:solidFill>
                      <a:srgbClr val="FFFFFF"/>
                    </a:solidFill>
                  </a:tcPr>
                </a:tc>
              </a:tr>
              <a:tr h="477447">
                <a:tc>
                  <a:txBody>
                    <a:bodyPr/>
                    <a:lstStyle/>
                    <a:p>
                      <a:r>
                        <a:rPr sz="1500" i="0" b="1">
                          <a:solidFill>
                            <a:srgbClr val="1A1F36"/>
                          </a:solidFill>
                          <a:latin typeface="Calibri"/>
                        </a:rPr>
                        <a:t>Infiltration</a:t>
                      </a:r>
                    </a:p>
                  </a:txBody>
                  <a:tcPr marL="109728" marR="109728" marT="45720" marB="45720" anchor="ctr">
                    <a:solidFill>
                      <a:srgbClr val="F1F2F8"/>
                    </a:solidFill>
                  </a:tcPr>
                </a:tc>
                <a:tc>
                  <a:txBody>
                    <a:bodyPr/>
                    <a:lstStyle/>
                    <a:p>
                      <a:r>
                        <a:rPr sz="1500" i="0" b="0">
                          <a:solidFill>
                            <a:srgbClr val="1A1F36"/>
                          </a:solidFill>
                          <a:latin typeface="Calibri"/>
                        </a:rPr>
                        <a:t>Injected into the tissue around the area</a:t>
                      </a:r>
                    </a:p>
                  </a:txBody>
                  <a:tcPr marL="109728" marR="109728" marT="45720" marB="45720" anchor="ctr">
                    <a:solidFill>
                      <a:srgbClr val="F1F2F8"/>
                    </a:solidFill>
                  </a:tcPr>
                </a:tc>
                <a:tc>
                  <a:txBody>
                    <a:bodyPr/>
                    <a:lstStyle/>
                    <a:p>
                      <a:r>
                        <a:rPr sz="1500" i="0" b="0">
                          <a:solidFill>
                            <a:srgbClr val="1A1F36"/>
                          </a:solidFill>
                          <a:latin typeface="Calibri"/>
                        </a:rPr>
                        <a:t>Suturing a cut, dental work</a:t>
                      </a:r>
                    </a:p>
                  </a:txBody>
                  <a:tcPr marL="109728" marR="109728" marT="45720" marB="45720" anchor="ctr">
                    <a:solidFill>
                      <a:srgbClr val="F1F2F8"/>
                    </a:solidFill>
                  </a:tcPr>
                </a:tc>
              </a:tr>
              <a:tr h="477447">
                <a:tc>
                  <a:txBody>
                    <a:bodyPr/>
                    <a:lstStyle/>
                    <a:p>
                      <a:r>
                        <a:rPr sz="1500" i="0" b="1">
                          <a:solidFill>
                            <a:srgbClr val="1A1F36"/>
                          </a:solidFill>
                          <a:latin typeface="Calibri"/>
                        </a:rPr>
                        <a:t>Nerve block</a:t>
                      </a:r>
                    </a:p>
                  </a:txBody>
                  <a:tcPr marL="109728" marR="109728" marT="45720" marB="45720" anchor="ctr">
                    <a:solidFill>
                      <a:srgbClr val="FFFFFF"/>
                    </a:solidFill>
                  </a:tcPr>
                </a:tc>
                <a:tc>
                  <a:txBody>
                    <a:bodyPr/>
                    <a:lstStyle/>
                    <a:p>
                      <a:r>
                        <a:rPr sz="1500" i="0" b="0">
                          <a:solidFill>
                            <a:srgbClr val="1A1F36"/>
                          </a:solidFill>
                          <a:latin typeface="Calibri"/>
                        </a:rPr>
                        <a:t>Injected around a nerve or plexus</a:t>
                      </a:r>
                    </a:p>
                  </a:txBody>
                  <a:tcPr marL="109728" marR="109728" marT="45720" marB="45720" anchor="ctr">
                    <a:solidFill>
                      <a:srgbClr val="FFFFFF"/>
                    </a:solidFill>
                  </a:tcPr>
                </a:tc>
                <a:tc>
                  <a:txBody>
                    <a:bodyPr/>
                    <a:lstStyle/>
                    <a:p>
                      <a:r>
                        <a:rPr sz="1500" i="0" b="0">
                          <a:solidFill>
                            <a:srgbClr val="1A1F36"/>
                          </a:solidFill>
                          <a:latin typeface="Calibri"/>
                        </a:rPr>
                        <a:t>Surgery on a hand or foot</a:t>
                      </a:r>
                    </a:p>
                  </a:txBody>
                  <a:tcPr marL="109728" marR="109728" marT="45720" marB="45720" anchor="ctr">
                    <a:solidFill>
                      <a:srgbClr val="FFFFFF"/>
                    </a:solidFill>
                  </a:tcPr>
                </a:tc>
              </a:tr>
              <a:tr h="477447">
                <a:tc>
                  <a:txBody>
                    <a:bodyPr/>
                    <a:lstStyle/>
                    <a:p>
                      <a:r>
                        <a:rPr sz="1500" i="0" b="1">
                          <a:solidFill>
                            <a:srgbClr val="1A1F36"/>
                          </a:solidFill>
                          <a:latin typeface="Calibri"/>
                        </a:rPr>
                        <a:t>Epidural</a:t>
                      </a:r>
                    </a:p>
                  </a:txBody>
                  <a:tcPr marL="109728" marR="109728" marT="45720" marB="45720" anchor="ctr">
                    <a:solidFill>
                      <a:srgbClr val="F1F2F8"/>
                    </a:solidFill>
                  </a:tcPr>
                </a:tc>
                <a:tc>
                  <a:txBody>
                    <a:bodyPr/>
                    <a:lstStyle/>
                    <a:p>
                      <a:r>
                        <a:rPr sz="1500" i="0" b="0">
                          <a:solidFill>
                            <a:srgbClr val="1A1F36"/>
                          </a:solidFill>
                          <a:latin typeface="Calibri"/>
                        </a:rPr>
                        <a:t>Injected into the epidural space</a:t>
                      </a:r>
                    </a:p>
                  </a:txBody>
                  <a:tcPr marL="109728" marR="109728" marT="45720" marB="45720" anchor="ctr">
                    <a:solidFill>
                      <a:srgbClr val="F1F2F8"/>
                    </a:solidFill>
                  </a:tcPr>
                </a:tc>
                <a:tc>
                  <a:txBody>
                    <a:bodyPr/>
                    <a:lstStyle/>
                    <a:p>
                      <a:r>
                        <a:rPr sz="1500" i="0" b="0">
                          <a:solidFill>
                            <a:srgbClr val="1A1F36"/>
                          </a:solidFill>
                          <a:latin typeface="Calibri"/>
                        </a:rPr>
                        <a:t>Labour pain, pain after surgery</a:t>
                      </a:r>
                    </a:p>
                  </a:txBody>
                  <a:tcPr marL="109728" marR="109728" marT="45720" marB="45720" anchor="ctr">
                    <a:solidFill>
                      <a:srgbClr val="F1F2F8"/>
                    </a:solidFill>
                  </a:tcPr>
                </a:tc>
              </a:tr>
              <a:tr h="477447">
                <a:tc>
                  <a:txBody>
                    <a:bodyPr/>
                    <a:lstStyle/>
                    <a:p>
                      <a:r>
                        <a:rPr sz="1500" i="0" b="1">
                          <a:solidFill>
                            <a:srgbClr val="1A1F36"/>
                          </a:solidFill>
                          <a:latin typeface="Calibri"/>
                        </a:rPr>
                        <a:t>Spinal</a:t>
                      </a:r>
                    </a:p>
                  </a:txBody>
                  <a:tcPr marL="109728" marR="109728" marT="45720" marB="45720" anchor="ctr">
                    <a:solidFill>
                      <a:srgbClr val="FFFFFF"/>
                    </a:solidFill>
                  </a:tcPr>
                </a:tc>
                <a:tc>
                  <a:txBody>
                    <a:bodyPr/>
                    <a:lstStyle/>
                    <a:p>
                      <a:r>
                        <a:rPr sz="1500" i="0" b="0">
                          <a:solidFill>
                            <a:srgbClr val="1A1F36"/>
                          </a:solidFill>
                          <a:latin typeface="Calibri"/>
                        </a:rPr>
                        <a:t>Injected into the CSF</a:t>
                      </a:r>
                    </a:p>
                  </a:txBody>
                  <a:tcPr marL="109728" marR="109728" marT="45720" marB="45720" anchor="ctr">
                    <a:solidFill>
                      <a:srgbClr val="FFFFFF"/>
                    </a:solidFill>
                  </a:tcPr>
                </a:tc>
                <a:tc>
                  <a:txBody>
                    <a:bodyPr/>
                    <a:lstStyle/>
                    <a:p>
                      <a:r>
                        <a:rPr sz="1500" i="0" b="0">
                          <a:solidFill>
                            <a:srgbClr val="1A1F36"/>
                          </a:solidFill>
                          <a:latin typeface="Calibri"/>
                        </a:rPr>
                        <a:t>Caesarean section, lower-limb surgery</a:t>
                      </a:r>
                    </a:p>
                  </a:txBody>
                  <a:tcPr marL="109728" marR="109728" marT="45720" marB="45720" anchor="ctr">
                    <a:solidFill>
                      <a:srgbClr val="FFFFFF"/>
                    </a:solidFill>
                  </a:tcPr>
                </a:tc>
              </a:tr>
              <a:tr h="477447">
                <a:tc>
                  <a:txBody>
                    <a:bodyPr/>
                    <a:lstStyle/>
                    <a:p>
                      <a:r>
                        <a:rPr sz="1500" i="0" b="1">
                          <a:solidFill>
                            <a:srgbClr val="1A1F36"/>
                          </a:solidFill>
                          <a:latin typeface="Calibri"/>
                        </a:rPr>
                        <a:t>IV regional (Bier's block)</a:t>
                      </a:r>
                    </a:p>
                  </a:txBody>
                  <a:tcPr marL="109728" marR="109728" marT="45720" marB="45720" anchor="ctr">
                    <a:solidFill>
                      <a:srgbClr val="F1F2F8"/>
                    </a:solidFill>
                  </a:tcPr>
                </a:tc>
                <a:tc>
                  <a:txBody>
                    <a:bodyPr/>
                    <a:lstStyle/>
                    <a:p>
                      <a:r>
                        <a:rPr sz="1500" i="0" b="0">
                          <a:solidFill>
                            <a:srgbClr val="1A1F36"/>
                          </a:solidFill>
                          <a:latin typeface="Calibri"/>
                        </a:rPr>
                        <a:t>Injected into a vein of a limb isolated by a tourniquet</a:t>
                      </a:r>
                    </a:p>
                  </a:txBody>
                  <a:tcPr marL="109728" marR="109728" marT="45720" marB="45720" anchor="ctr">
                    <a:solidFill>
                      <a:srgbClr val="F1F2F8"/>
                    </a:solidFill>
                  </a:tcPr>
                </a:tc>
                <a:tc>
                  <a:txBody>
                    <a:bodyPr/>
                    <a:lstStyle/>
                    <a:p>
                      <a:r>
                        <a:rPr sz="1500" i="0" b="0">
                          <a:solidFill>
                            <a:srgbClr val="1A1F36"/>
                          </a:solidFill>
                          <a:latin typeface="Calibri"/>
                        </a:rPr>
                        <a:t>Short procedures on the forearm</a:t>
                      </a:r>
                    </a:p>
                  </a:txBody>
                  <a:tcPr marL="109728" marR="109728" marT="45720" marB="45720" anchor="ctr">
                    <a:solidFill>
                      <a:srgbClr val="F1F2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Adding Adrenaline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Most local anaesthetics dilate blood vessels. Adrenaline (epinephrine), a vasoconstrictor, is often added. It:</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808863"/>
          </a:xfrm>
          <a:prstGeom prst="rect">
            <a:avLst/>
          </a:prstGeom>
          <a:noFill/>
        </p:spPr>
        <p:txBody>
          <a:bodyPr wrap="square" anchor="t" lIns="0" rIns="0" tIns="0" bIns="0">
            <a:spAutoFit/>
          </a:bodyPr>
          <a:lstStyle/>
          <a:p>
            <a:r>
              <a:rPr sz="2100" i="0" b="0">
                <a:solidFill>
                  <a:srgbClr val="1A1F36"/>
                </a:solidFill>
                <a:latin typeface="Calibri"/>
              </a:rPr>
              <a:t>Slows absorption into the blood, so the block lasts longer.</a:t>
            </a:r>
          </a:p>
        </p:txBody>
      </p:sp>
      <p:sp>
        <p:nvSpPr>
          <p:cNvPr id="11" name="Oval 10"/>
          <p:cNvSpPr/>
          <p:nvPr/>
        </p:nvSpPr>
        <p:spPr>
          <a:xfrm>
            <a:off x="548640" y="340575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24046"/>
            <a:ext cx="10500055" cy="808863"/>
          </a:xfrm>
          <a:prstGeom prst="rect">
            <a:avLst/>
          </a:prstGeom>
          <a:noFill/>
        </p:spPr>
        <p:txBody>
          <a:bodyPr wrap="square" anchor="t" lIns="0" rIns="0" tIns="0" bIns="0">
            <a:spAutoFit/>
          </a:bodyPr>
          <a:lstStyle/>
          <a:p>
            <a:r>
              <a:rPr sz="2100" i="0" b="0">
                <a:solidFill>
                  <a:srgbClr val="1A1F36"/>
                </a:solidFill>
                <a:latin typeface="Calibri"/>
              </a:rPr>
              <a:t>Lowers blood levels and the risk of toxicity, so a higher dose is allowed.</a:t>
            </a:r>
          </a:p>
        </p:txBody>
      </p:sp>
      <p:sp>
        <p:nvSpPr>
          <p:cNvPr id="13" name="Oval 12"/>
          <p:cNvSpPr/>
          <p:nvPr/>
        </p:nvSpPr>
        <p:spPr>
          <a:xfrm>
            <a:off x="548640" y="426034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278630"/>
            <a:ext cx="10500055" cy="808863"/>
          </a:xfrm>
          <a:prstGeom prst="rect">
            <a:avLst/>
          </a:prstGeom>
          <a:noFill/>
        </p:spPr>
        <p:txBody>
          <a:bodyPr wrap="square" anchor="t" lIns="0" rIns="0" tIns="0" bIns="0">
            <a:spAutoFit/>
          </a:bodyPr>
          <a:lstStyle/>
          <a:p>
            <a:r>
              <a:rPr sz="2100" i="0" b="0">
                <a:solidFill>
                  <a:srgbClr val="1A1F36"/>
                </a:solidFill>
                <a:latin typeface="Calibri"/>
              </a:rPr>
              <a:t>Reduces bleeding in the surgical field.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Adding Adrenaline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3058668"/>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2189988"/>
          </a:xfrm>
          <a:prstGeom prst="rect">
            <a:avLst/>
          </a:prstGeom>
          <a:noFill/>
        </p:spPr>
        <p:txBody>
          <a:bodyPr wrap="square" anchor="t" lIns="0" rIns="0" tIns="0" bIns="0">
            <a:spAutoFit/>
          </a:bodyPr>
          <a:lstStyle/>
          <a:p>
            <a:r>
              <a:rPr sz="1800" i="0" b="0">
                <a:solidFill>
                  <a:srgbClr val="1A1F36"/>
                </a:solidFill>
                <a:latin typeface="Calibri"/>
              </a:rPr>
              <a:t>Adrenaline was once banned in fingers, toes, nose and ears for fear of gangrene. Current evidence shows that dilute adrenaline (1:100,000 to 1:200,000) is safe in digits with normal circulation. Avoid it where circulation is poor, such as in peripheral vascular disease, Raynaud's phenomenon or a crushed digit, and avoid it in the penis. Use it with care in severe heart disease, uncontrolled hypertension and hyperthyroidism.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and LAST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Toxicity comes from </a:t>
            </a:r>
            <a:r>
              <a:rPr sz="1800" i="0" b="1">
                <a:solidFill>
                  <a:srgbClr val="1A1F36"/>
                </a:solidFill>
                <a:latin typeface="Calibri"/>
              </a:rPr>
              <a:t>too high a dose</a:t>
            </a:r>
            <a:r>
              <a:rPr sz="1800" i="0" b="0">
                <a:solidFill>
                  <a:srgbClr val="1A1F36"/>
                </a:solidFill>
                <a:latin typeface="Calibri"/>
              </a:rPr>
              <a:t> or from </a:t>
            </a:r>
            <a:r>
              <a:rPr sz="1800" i="0" b="1">
                <a:solidFill>
                  <a:srgbClr val="1A1F36"/>
                </a:solidFill>
                <a:latin typeface="Calibri"/>
              </a:rPr>
              <a:t>accidental injection into a vein</a:t>
            </a:r>
            <a:r>
              <a:rPr sz="1800" i="0" b="0">
                <a:solidFill>
                  <a:srgbClr val="1A1F36"/>
                </a:solidFill>
                <a:latin typeface="Calibri"/>
              </a:rPr>
              <a:t>. This is local anaesthetic systemic toxicity (LAST).</a:t>
            </a:r>
          </a:p>
        </p:txBody>
      </p:sp>
      <p:graphicFrame>
        <p:nvGraphicFramePr>
          <p:cNvPr id="9" name="Table 8"/>
          <p:cNvGraphicFramePr>
            <a:graphicFrameLocks noGrp="1"/>
          </p:cNvGraphicFramePr>
          <p:nvPr/>
        </p:nvGraphicFramePr>
        <p:xfrm>
          <a:off x="548640" y="2532887"/>
          <a:ext cx="11094414" cy="3200400"/>
        </p:xfrm>
        <a:graphic>
          <a:graphicData uri="http://schemas.openxmlformats.org/drawingml/2006/table">
            <a:tbl>
              <a:tblPr firstRow="0" bandRow="0">
                <a:tableStyleId>{5C22544A-7EE6-4342-B048-85BDC9FD1C3A}</a:tableStyleId>
              </a:tblPr>
              <a:tblGrid>
                <a:gridCol w="2711968"/>
                <a:gridCol w="8382446"/>
              </a:tblGrid>
              <a:tr h="640080">
                <a:tc>
                  <a:txBody>
                    <a:bodyPr/>
                    <a:lstStyle/>
                    <a:p>
                      <a:r>
                        <a:rPr sz="1700" i="0" b="1">
                          <a:solidFill>
                            <a:srgbClr val="FFFFFF"/>
                          </a:solidFill>
                          <a:latin typeface="Calibri"/>
                        </a:rPr>
                        <a:t>Stage</a:t>
                      </a:r>
                    </a:p>
                  </a:txBody>
                  <a:tcPr marL="109728" marR="109728" marT="45720" marB="45720" anchor="ctr">
                    <a:solidFill>
                      <a:srgbClr val="1B2A8C"/>
                    </a:solidFill>
                  </a:tcPr>
                </a:tc>
                <a:tc>
                  <a:txBody>
                    <a:bodyPr/>
                    <a:lstStyle/>
                    <a:p>
                      <a:r>
                        <a:rPr sz="1700" i="0" b="1">
                          <a:solidFill>
                            <a:srgbClr val="FFFFFF"/>
                          </a:solidFill>
                          <a:latin typeface="Calibri"/>
                        </a:rPr>
                        <a:t>Features</a:t>
                      </a:r>
                    </a:p>
                  </a:txBody>
                  <a:tcPr marL="109728" marR="109728" marT="45720" marB="45720" anchor="ctr">
                    <a:solidFill>
                      <a:srgbClr val="1B2A8C"/>
                    </a:solidFill>
                  </a:tcPr>
                </a:tc>
              </a:tr>
              <a:tr h="640080">
                <a:tc>
                  <a:txBody>
                    <a:bodyPr/>
                    <a:lstStyle/>
                    <a:p>
                      <a:r>
                        <a:rPr sz="1800" i="0" b="1">
                          <a:solidFill>
                            <a:srgbClr val="1A1F36"/>
                          </a:solidFill>
                          <a:latin typeface="Calibri"/>
                        </a:rPr>
                        <a:t>Early warning</a:t>
                      </a:r>
                    </a:p>
                  </a:txBody>
                  <a:tcPr marL="109728" marR="109728" marT="45720" marB="45720" anchor="ctr">
                    <a:solidFill>
                      <a:srgbClr val="FFFFFF"/>
                    </a:solidFill>
                  </a:tcPr>
                </a:tc>
                <a:tc>
                  <a:txBody>
                    <a:bodyPr/>
                    <a:lstStyle/>
                    <a:p>
                      <a:r>
                        <a:rPr sz="1800" i="0" b="0">
                          <a:solidFill>
                            <a:srgbClr val="1A1F36"/>
                          </a:solidFill>
                          <a:latin typeface="Calibri"/>
                        </a:rPr>
                        <a:t>Numbness of tongue and lips, metallic taste, tinnitus, dizziness</a:t>
                      </a:r>
                    </a:p>
                  </a:txBody>
                  <a:tcPr marL="109728" marR="109728" marT="45720" marB="45720" anchor="ctr">
                    <a:solidFill>
                      <a:srgbClr val="FFFFFF"/>
                    </a:solidFill>
                  </a:tcPr>
                </a:tc>
              </a:tr>
              <a:tr h="640080">
                <a:tc>
                  <a:txBody>
                    <a:bodyPr/>
                    <a:lstStyle/>
                    <a:p>
                      <a:r>
                        <a:rPr sz="1800" i="0" b="1">
                          <a:solidFill>
                            <a:srgbClr val="1A1F36"/>
                          </a:solidFill>
                          <a:latin typeface="Calibri"/>
                        </a:rPr>
                        <a:t>CNS excitation</a:t>
                      </a:r>
                    </a:p>
                  </a:txBody>
                  <a:tcPr marL="109728" marR="109728" marT="45720" marB="45720" anchor="ctr">
                    <a:solidFill>
                      <a:srgbClr val="F1F2F8"/>
                    </a:solidFill>
                  </a:tcPr>
                </a:tc>
                <a:tc>
                  <a:txBody>
                    <a:bodyPr/>
                    <a:lstStyle/>
                    <a:p>
                      <a:r>
                        <a:rPr sz="1800" i="0" b="0">
                          <a:solidFill>
                            <a:srgbClr val="1A1F36"/>
                          </a:solidFill>
                          <a:latin typeface="Calibri"/>
                        </a:rPr>
                        <a:t>Restlessness, tremor, visual disturbance, then </a:t>
                      </a:r>
                      <a:r>
                        <a:rPr sz="1800" i="0" b="1">
                          <a:solidFill>
                            <a:srgbClr val="1A1F36"/>
                          </a:solidFill>
                          <a:latin typeface="Calibri"/>
                        </a:rPr>
                        <a:t>seizures</a:t>
                      </a:r>
                    </a:p>
                  </a:txBody>
                  <a:tcPr marL="109728" marR="109728" marT="45720" marB="45720" anchor="ctr">
                    <a:solidFill>
                      <a:srgbClr val="F1F2F8"/>
                    </a:solidFill>
                  </a:tcPr>
                </a:tc>
              </a:tr>
              <a:tr h="640080">
                <a:tc>
                  <a:txBody>
                    <a:bodyPr/>
                    <a:lstStyle/>
                    <a:p>
                      <a:r>
                        <a:rPr sz="1800" i="0" b="1">
                          <a:solidFill>
                            <a:srgbClr val="1A1F36"/>
                          </a:solidFill>
                          <a:latin typeface="Calibri"/>
                        </a:rPr>
                        <a:t>CNS depression</a:t>
                      </a:r>
                    </a:p>
                  </a:txBody>
                  <a:tcPr marL="109728" marR="109728" marT="45720" marB="45720" anchor="ctr">
                    <a:solidFill>
                      <a:srgbClr val="FFFFFF"/>
                    </a:solidFill>
                  </a:tcPr>
                </a:tc>
                <a:tc>
                  <a:txBody>
                    <a:bodyPr/>
                    <a:lstStyle/>
                    <a:p>
                      <a:r>
                        <a:rPr sz="1800" i="0" b="0">
                          <a:solidFill>
                            <a:srgbClr val="1A1F36"/>
                          </a:solidFill>
                          <a:latin typeface="Calibri"/>
                        </a:rPr>
                        <a:t>Coma, breathing arrest</a:t>
                      </a:r>
                    </a:p>
                  </a:txBody>
                  <a:tcPr marL="109728" marR="109728" marT="45720" marB="45720" anchor="ctr">
                    <a:solidFill>
                      <a:srgbClr val="FFFFFF"/>
                    </a:solidFill>
                  </a:tcPr>
                </a:tc>
              </a:tr>
              <a:tr h="640080">
                <a:tc>
                  <a:txBody>
                    <a:bodyPr/>
                    <a:lstStyle/>
                    <a:p>
                      <a:r>
                        <a:rPr sz="1800" i="0" b="1">
                          <a:solidFill>
                            <a:srgbClr val="1A1F36"/>
                          </a:solidFill>
                          <a:latin typeface="Calibri"/>
                        </a:rPr>
                        <a:t>Cardiovascular</a:t>
                      </a:r>
                    </a:p>
                  </a:txBody>
                  <a:tcPr marL="109728" marR="109728" marT="45720" marB="45720" anchor="ctr">
                    <a:solidFill>
                      <a:srgbClr val="F1F2F8"/>
                    </a:solidFill>
                  </a:tcPr>
                </a:tc>
                <a:tc>
                  <a:txBody>
                    <a:bodyPr/>
                    <a:lstStyle/>
                    <a:p>
                      <a:r>
                        <a:rPr sz="1800" i="0" b="0">
                          <a:solidFill>
                            <a:srgbClr val="1A1F36"/>
                          </a:solidFill>
                          <a:latin typeface="Calibri"/>
                        </a:rPr>
                        <a:t>Bradycardia, heart block, hypotension, ventricular arrhythmias, cardiac arrest (worst with bupivacaine)</a:t>
                      </a:r>
                    </a:p>
                  </a:txBody>
                  <a:tcPr marL="109728" marR="109728" marT="45720" marB="45720" anchor="ctr">
                    <a:solidFill>
                      <a:srgbClr val="F1F2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and LAST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2451091"/>
                <a:gridCol w="3870144"/>
                <a:gridCol w="4773178"/>
              </a:tblGrid>
              <a:tr h="640080">
                <a:tc>
                  <a:txBody>
                    <a:bodyPr/>
                    <a:lstStyle/>
                    <a:p>
                      <a:r>
                        <a:rPr sz="1900" i="0" b="1">
                          <a:solidFill>
                            <a:srgbClr val="FFFFFF"/>
                          </a:solidFill>
                          <a:latin typeface="Calibri"/>
                        </a:rPr>
                        <a:t>Drug</a:t>
                      </a:r>
                    </a:p>
                  </a:txBody>
                  <a:tcPr marL="109728" marR="109728" marT="45720" marB="45720" anchor="ctr">
                    <a:solidFill>
                      <a:srgbClr val="1B2A8C"/>
                    </a:solidFill>
                  </a:tcPr>
                </a:tc>
                <a:tc>
                  <a:txBody>
                    <a:bodyPr/>
                    <a:lstStyle/>
                    <a:p>
                      <a:r>
                        <a:rPr sz="1900" i="0" b="1">
                          <a:solidFill>
                            <a:srgbClr val="FFFFFF"/>
                          </a:solidFill>
                          <a:latin typeface="Calibri"/>
                        </a:rPr>
                        <a:t>Maximum dose, plain</a:t>
                      </a:r>
                    </a:p>
                  </a:txBody>
                  <a:tcPr marL="109728" marR="109728" marT="45720" marB="45720" anchor="ctr">
                    <a:solidFill>
                      <a:srgbClr val="1B2A8C"/>
                    </a:solidFill>
                  </a:tcPr>
                </a:tc>
                <a:tc>
                  <a:txBody>
                    <a:bodyPr/>
                    <a:lstStyle/>
                    <a:p>
                      <a:r>
                        <a:rPr sz="1900" i="0" b="1">
                          <a:solidFill>
                            <a:srgbClr val="FFFFFF"/>
                          </a:solidFill>
                          <a:latin typeface="Calibri"/>
                        </a:rPr>
                        <a:t>Maximum dose, with adrenaline</a:t>
                      </a:r>
                    </a:p>
                  </a:txBody>
                  <a:tcPr marL="109728" marR="109728" marT="45720" marB="45720" anchor="ctr">
                    <a:solidFill>
                      <a:srgbClr val="1B2A8C"/>
                    </a:solidFill>
                  </a:tcPr>
                </a:tc>
              </a:tr>
              <a:tr h="640080">
                <a:tc>
                  <a:txBody>
                    <a:bodyPr/>
                    <a:lstStyle/>
                    <a:p>
                      <a:r>
                        <a:rPr sz="2000" i="0" b="1">
                          <a:solidFill>
                            <a:srgbClr val="1A1F36"/>
                          </a:solidFill>
                          <a:latin typeface="Calibri"/>
                        </a:rPr>
                        <a:t>Lidocaine</a:t>
                      </a:r>
                    </a:p>
                  </a:txBody>
                  <a:tcPr marL="109728" marR="109728" marT="45720" marB="45720" anchor="ctr">
                    <a:solidFill>
                      <a:srgbClr val="FFFFFF"/>
                    </a:solidFill>
                  </a:tcPr>
                </a:tc>
                <a:tc>
                  <a:txBody>
                    <a:bodyPr/>
                    <a:lstStyle/>
                    <a:p>
                      <a:r>
                        <a:rPr sz="2000" i="0" b="0">
                          <a:solidFill>
                            <a:srgbClr val="1A1F36"/>
                          </a:solidFill>
                          <a:latin typeface="Calibri"/>
                        </a:rPr>
                        <a:t>4.5 mg/kg (max 300 mg)</a:t>
                      </a:r>
                    </a:p>
                  </a:txBody>
                  <a:tcPr marL="109728" marR="109728" marT="45720" marB="45720" anchor="ctr">
                    <a:solidFill>
                      <a:srgbClr val="FFFFFF"/>
                    </a:solidFill>
                  </a:tcPr>
                </a:tc>
                <a:tc>
                  <a:txBody>
                    <a:bodyPr/>
                    <a:lstStyle/>
                    <a:p>
                      <a:r>
                        <a:rPr sz="2000" i="0" b="0">
                          <a:solidFill>
                            <a:srgbClr val="1A1F36"/>
                          </a:solidFill>
                          <a:latin typeface="Calibri"/>
                        </a:rPr>
                        <a:t>7 mg/kg (max 500 mg)</a:t>
                      </a:r>
                    </a:p>
                  </a:txBody>
                  <a:tcPr marL="109728" marR="109728" marT="45720" marB="45720" anchor="ctr">
                    <a:solidFill>
                      <a:srgbClr val="FFFFFF"/>
                    </a:solidFill>
                  </a:tcPr>
                </a:tc>
              </a:tr>
              <a:tr h="640080">
                <a:tc>
                  <a:txBody>
                    <a:bodyPr/>
                    <a:lstStyle/>
                    <a:p>
                      <a:r>
                        <a:rPr sz="2000" i="0" b="1">
                          <a:solidFill>
                            <a:srgbClr val="1A1F36"/>
                          </a:solidFill>
                          <a:latin typeface="Calibri"/>
                        </a:rPr>
                        <a:t>Bupivacaine</a:t>
                      </a:r>
                    </a:p>
                  </a:txBody>
                  <a:tcPr marL="109728" marR="109728" marT="45720" marB="45720" anchor="ctr">
                    <a:solidFill>
                      <a:srgbClr val="F1F2F8"/>
                    </a:solidFill>
                  </a:tcPr>
                </a:tc>
                <a:tc>
                  <a:txBody>
                    <a:bodyPr/>
                    <a:lstStyle/>
                    <a:p>
                      <a:r>
                        <a:rPr sz="2000" i="0" b="0">
                          <a:solidFill>
                            <a:srgbClr val="1A1F36"/>
                          </a:solidFill>
                          <a:latin typeface="Calibri"/>
                        </a:rPr>
                        <a:t>2 mg/kg (max 150 mg)</a:t>
                      </a:r>
                    </a:p>
                  </a:txBody>
                  <a:tcPr marL="109728" marR="109728" marT="45720" marB="45720" anchor="ctr">
                    <a:solidFill>
                      <a:srgbClr val="F1F2F8"/>
                    </a:solidFill>
                  </a:tcPr>
                </a:tc>
                <a:tc>
                  <a:txBody>
                    <a:bodyPr/>
                    <a:lstStyle/>
                    <a:p>
                      <a:r>
                        <a:rPr sz="2000" i="0" b="0">
                          <a:solidFill>
                            <a:srgbClr val="1A1F36"/>
                          </a:solidFill>
                          <a:latin typeface="Calibri"/>
                        </a:rPr>
                        <a:t>2.5 mg/kg (max 200 mg)</a:t>
                      </a:r>
                    </a:p>
                  </a:txBody>
                  <a:tcPr marL="109728" marR="109728" marT="45720" marB="45720" anchor="ctr">
                    <a:solidFill>
                      <a:srgbClr val="F1F2F8"/>
                    </a:solidFill>
                  </a:tcPr>
                </a:tc>
              </a:tr>
              <a:tr h="640080">
                <a:tc>
                  <a:txBody>
                    <a:bodyPr/>
                    <a:lstStyle/>
                    <a:p>
                      <a:r>
                        <a:rPr sz="2000" i="0" b="1">
                          <a:solidFill>
                            <a:srgbClr val="1A1F36"/>
                          </a:solidFill>
                          <a:latin typeface="Calibri"/>
                        </a:rPr>
                        <a:t>Ropivacaine</a:t>
                      </a:r>
                    </a:p>
                  </a:txBody>
                  <a:tcPr marL="109728" marR="109728" marT="45720" marB="45720" anchor="ctr">
                    <a:solidFill>
                      <a:srgbClr val="FFFFFF"/>
                    </a:solidFill>
                  </a:tcPr>
                </a:tc>
                <a:tc>
                  <a:txBody>
                    <a:bodyPr/>
                    <a:lstStyle/>
                    <a:p>
                      <a:r>
                        <a:rPr sz="2000" i="0" b="0">
                          <a:solidFill>
                            <a:srgbClr val="1A1F36"/>
                          </a:solidFill>
                          <a:latin typeface="Calibri"/>
                        </a:rPr>
                        <a:t>3 mg/kg</a:t>
                      </a:r>
                    </a:p>
                  </a:txBody>
                  <a:tcPr marL="109728" marR="109728" marT="45720" marB="45720" anchor="ctr">
                    <a:solidFill>
                      <a:srgbClr val="FFFFFF"/>
                    </a:solidFill>
                  </a:tcPr>
                </a:tc>
                <a:tc>
                  <a:txBody>
                    <a:bodyPr/>
                    <a:lstStyle/>
                    <a:p>
                      <a:r>
                        <a:rPr sz="2000" i="0" b="0">
                          <a:solidFill>
                            <a:srgbClr val="1A1F36"/>
                          </a:solidFill>
                          <a:latin typeface="Calibri"/>
                        </a:rPr>
                        <a:t>—</a:t>
                      </a:r>
                    </a:p>
                  </a:txBody>
                  <a:tcPr marL="109728" marR="109728" marT="45720" marB="45720"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and LAST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To prevent LAST: calculate the dose by weight, aspirate before injecting, inject slowly in small amounts, use ultrasound for nerve blocks, and monitor the patient.</a:t>
            </a:r>
          </a:p>
          <a:p>
            <a:pPr>
              <a:spcAft>
                <a:spcPts val="800"/>
              </a:spcAft>
            </a:pPr>
            <a:r>
              <a:rPr sz="2100" i="0" b="1">
                <a:solidFill>
                  <a:srgbClr val="1A1F36"/>
                </a:solidFill>
                <a:latin typeface="Calibri"/>
              </a:rPr>
              <a:t>Management of LAST:</a:t>
            </a:r>
          </a:p>
          <a:p>
            <a:pPr>
              <a:spcAft>
                <a:spcPts val="800"/>
              </a:spcAft>
            </a:pPr>
            <a:r>
              <a:rPr sz="2100" i="0" b="1">
                <a:solidFill>
                  <a:srgbClr val="1A1F36"/>
                </a:solidFill>
                <a:latin typeface="Calibri"/>
              </a:rPr>
              <a:t>Spinal anaesthesia</a:t>
            </a:r>
            <a:r>
              <a:rPr sz="2100" i="0" b="0">
                <a:solidFill>
                  <a:srgbClr val="1A1F36"/>
                </a:solidFill>
                <a:latin typeface="Calibri"/>
              </a:rPr>
              <a:t> has its own problems: hypotension and bradycardia from sympathetic block, post-dural puncture headache (from CSF leak) and, rarely, infection or nerve injury.</a:t>
            </a:r>
          </a:p>
          <a:p>
            <a:pPr>
              <a:spcAft>
                <a:spcPts val="800"/>
              </a:spcAft>
            </a:pPr>
            <a:r>
              <a:rPr sz="2100" i="0" b="1">
                <a:solidFill>
                  <a:srgbClr val="1A1F36"/>
                </a:solidFill>
                <a:latin typeface="Calibri"/>
              </a:rPr>
              <a:t>Allergy</a:t>
            </a:r>
            <a:r>
              <a:rPr sz="2100" i="0" b="0">
                <a:solidFill>
                  <a:srgbClr val="1A1F36"/>
                </a:solidFill>
                <a:latin typeface="Calibri"/>
              </a:rPr>
              <a:t> is mostly to esters, through PABA. A patient allergic to one ester should receive an amide, not another ester.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and LAST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557212"/>
          </a:xfrm>
          <a:prstGeom prst="rect">
            <a:avLst/>
          </a:prstGeom>
          <a:noFill/>
        </p:spPr>
        <p:txBody>
          <a:bodyPr wrap="square" anchor="t" lIns="0" rIns="0" tIns="0" bIns="0">
            <a:spAutoFit/>
          </a:bodyPr>
          <a:lstStyle/>
          <a:p>
            <a:r>
              <a:rPr sz="2100" i="0" b="1">
                <a:solidFill>
                  <a:srgbClr val="1A1F36"/>
                </a:solidFill>
                <a:latin typeface="Calibri"/>
              </a:rPr>
              <a:t>Stop injecting</a:t>
            </a:r>
            <a:r>
              <a:rPr sz="2100" i="0" b="0">
                <a:solidFill>
                  <a:srgbClr val="1A1F36"/>
                </a:solidFill>
                <a:latin typeface="Calibri"/>
              </a:rPr>
              <a:t> and call for help.</a:t>
            </a:r>
          </a:p>
        </p:txBody>
      </p:sp>
      <p:sp>
        <p:nvSpPr>
          <p:cNvPr id="10" name="Oval 9"/>
          <p:cNvSpPr/>
          <p:nvPr/>
        </p:nvSpPr>
        <p:spPr>
          <a:xfrm>
            <a:off x="548640" y="21757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193988"/>
            <a:ext cx="10500055" cy="557212"/>
          </a:xfrm>
          <a:prstGeom prst="rect">
            <a:avLst/>
          </a:prstGeom>
          <a:noFill/>
        </p:spPr>
        <p:txBody>
          <a:bodyPr wrap="square" anchor="t" lIns="0" rIns="0" tIns="0" bIns="0">
            <a:spAutoFit/>
          </a:bodyPr>
          <a:lstStyle/>
          <a:p>
            <a:r>
              <a:rPr sz="2100" i="0" b="0">
                <a:solidFill>
                  <a:srgbClr val="1A1F36"/>
                </a:solidFill>
                <a:latin typeface="Calibri"/>
              </a:rPr>
              <a:t>Airway: 100% oxygen; ventilate if needed.</a:t>
            </a:r>
          </a:p>
        </p:txBody>
      </p:sp>
      <p:sp>
        <p:nvSpPr>
          <p:cNvPr id="12" name="Oval 11"/>
          <p:cNvSpPr/>
          <p:nvPr/>
        </p:nvSpPr>
        <p:spPr>
          <a:xfrm>
            <a:off x="548640" y="277863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2796921"/>
            <a:ext cx="10500055" cy="557212"/>
          </a:xfrm>
          <a:prstGeom prst="rect">
            <a:avLst/>
          </a:prstGeom>
          <a:noFill/>
        </p:spPr>
        <p:txBody>
          <a:bodyPr wrap="square" anchor="t" lIns="0" rIns="0" tIns="0" bIns="0">
            <a:spAutoFit/>
          </a:bodyPr>
          <a:lstStyle/>
          <a:p>
            <a:r>
              <a:rPr sz="2100" i="0" b="0">
                <a:solidFill>
                  <a:srgbClr val="1A1F36"/>
                </a:solidFill>
                <a:latin typeface="Calibri"/>
              </a:rPr>
              <a:t>Treat seizures with a </a:t>
            </a:r>
            <a:r>
              <a:rPr sz="2100" i="0" b="1">
                <a:solidFill>
                  <a:srgbClr val="1A1F36"/>
                </a:solidFill>
                <a:latin typeface="Calibri"/>
              </a:rPr>
              <a:t>benzodiazepine</a:t>
            </a:r>
            <a:r>
              <a:rPr sz="2100" i="0" b="0">
                <a:solidFill>
                  <a:srgbClr val="1A1F36"/>
                </a:solidFill>
                <a:latin typeface="Calibri"/>
              </a:rPr>
              <a:t>.</a:t>
            </a:r>
          </a:p>
        </p:txBody>
      </p:sp>
      <p:sp>
        <p:nvSpPr>
          <p:cNvPr id="14" name="Oval 13"/>
          <p:cNvSpPr/>
          <p:nvPr/>
        </p:nvSpPr>
        <p:spPr>
          <a:xfrm>
            <a:off x="548640" y="338156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3399853"/>
            <a:ext cx="10500055" cy="890587"/>
          </a:xfrm>
          <a:prstGeom prst="rect">
            <a:avLst/>
          </a:prstGeom>
          <a:noFill/>
        </p:spPr>
        <p:txBody>
          <a:bodyPr wrap="square" anchor="t" lIns="0" rIns="0" tIns="0" bIns="0">
            <a:spAutoFit/>
          </a:bodyPr>
          <a:lstStyle/>
          <a:p>
            <a:r>
              <a:rPr sz="2100" i="0" b="0">
                <a:solidFill>
                  <a:srgbClr val="1A1F36"/>
                </a:solidFill>
                <a:latin typeface="Calibri"/>
              </a:rPr>
              <a:t>Give </a:t>
            </a:r>
            <a:r>
              <a:rPr sz="2100" i="0" b="1">
                <a:solidFill>
                  <a:srgbClr val="1A1F36"/>
                </a:solidFill>
                <a:latin typeface="Calibri"/>
              </a:rPr>
              <a:t>20% lipid emulsion</a:t>
            </a:r>
            <a:r>
              <a:rPr sz="2100" i="0" b="0">
                <a:solidFill>
                  <a:srgbClr val="1A1F36"/>
                </a:solidFill>
                <a:latin typeface="Calibri"/>
              </a:rPr>
              <a:t> IV early: a bolus of 1.5 mL/kg (100 mL if over 70 kg) over 2–3 minutes, then an infusion of about 0.25 mL/kg/min.</a:t>
            </a:r>
          </a:p>
        </p:txBody>
      </p:sp>
      <p:sp>
        <p:nvSpPr>
          <p:cNvPr id="16" name="Oval 15"/>
          <p:cNvSpPr/>
          <p:nvPr/>
        </p:nvSpPr>
        <p:spPr>
          <a:xfrm>
            <a:off x="548640" y="431787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4336160"/>
            <a:ext cx="10500055" cy="1223962"/>
          </a:xfrm>
          <a:prstGeom prst="rect">
            <a:avLst/>
          </a:prstGeom>
          <a:noFill/>
        </p:spPr>
        <p:txBody>
          <a:bodyPr wrap="square" anchor="t" lIns="0" rIns="0" tIns="0" bIns="0">
            <a:spAutoFit/>
          </a:bodyPr>
          <a:lstStyle/>
          <a:p>
            <a:r>
              <a:rPr sz="2100" i="0" b="0">
                <a:solidFill>
                  <a:srgbClr val="1A1F36"/>
                </a:solidFill>
                <a:latin typeface="Calibri"/>
              </a:rPr>
              <a:t>If cardiac arrest occurs, start CPR and use </a:t>
            </a:r>
            <a:r>
              <a:rPr sz="2100" i="0" b="1">
                <a:solidFill>
                  <a:srgbClr val="1A1F36"/>
                </a:solidFill>
                <a:latin typeface="Calibri"/>
              </a:rPr>
              <a:t>small doses</a:t>
            </a:r>
            <a:r>
              <a:rPr sz="2100" i="0" b="0">
                <a:solidFill>
                  <a:srgbClr val="1A1F36"/>
                </a:solidFill>
                <a:latin typeface="Calibri"/>
              </a:rPr>
              <a:t> of adrenaline (≤1 microgram/kg). Avoid vasopressin, calcium-channel blockers, β-blockers and more local anaesthetic, such as lidocaine for arrhythmia.</a:t>
            </a:r>
          </a:p>
        </p:txBody>
      </p:sp>
      <p:sp>
        <p:nvSpPr>
          <p:cNvPr id="18" name="Oval 17"/>
          <p:cNvSpPr/>
          <p:nvPr/>
        </p:nvSpPr>
        <p:spPr>
          <a:xfrm>
            <a:off x="548640" y="558755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1143000" y="5605843"/>
            <a:ext cx="10500055" cy="557212"/>
          </a:xfrm>
          <a:prstGeom prst="rect">
            <a:avLst/>
          </a:prstGeom>
          <a:noFill/>
        </p:spPr>
        <p:txBody>
          <a:bodyPr wrap="square" anchor="t" lIns="0" rIns="0" tIns="0" bIns="0">
            <a:spAutoFit/>
          </a:bodyPr>
          <a:lstStyle/>
          <a:p>
            <a:r>
              <a:rPr sz="2100" i="0" b="0">
                <a:solidFill>
                  <a:srgbClr val="1A1F36"/>
                </a:solidFill>
                <a:latin typeface="Calibri"/>
              </a:rPr>
              <a:t>Continue monitoring; the arrest may be long.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 and LAST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In LAST, the specific treatment is </a:t>
            </a:r>
            <a:r>
              <a:rPr sz="2600" i="0" b="1">
                <a:solidFill>
                  <a:srgbClr val="1A1F36"/>
                </a:solidFill>
                <a:latin typeface="Calibri"/>
              </a:rPr>
              <a:t>20% lipid emulsion</a:t>
            </a:r>
            <a:r>
              <a:rPr sz="2600" i="0" b="0">
                <a:solidFill>
                  <a:srgbClr val="1A1F36"/>
                </a:solidFill>
                <a:latin typeface="Calibri"/>
              </a:rPr>
              <a:t>. Bupivacaine is the most cardiotoxic local anaesthetic.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4701023"/>
                <a:gridCol w="6393391"/>
              </a:tblGrid>
              <a:tr h="577215">
                <a:tc>
                  <a:txBody>
                    <a:bodyPr/>
                    <a:lstStyle/>
                    <a:p>
                      <a:r>
                        <a:rPr sz="1700" i="0" b="1">
                          <a:solidFill>
                            <a:srgbClr val="FFFFFF"/>
                          </a:solidFill>
                          <a:latin typeface="Calibri"/>
                        </a:rPr>
                        <a:t>Situation</a:t>
                      </a:r>
                    </a:p>
                  </a:txBody>
                  <a:tcPr marL="109728" marR="109728" marT="45720" marB="45720" anchor="ctr">
                    <a:solidFill>
                      <a:srgbClr val="1B2A8C"/>
                    </a:solidFill>
                  </a:tcPr>
                </a:tc>
                <a:tc>
                  <a:txBody>
                    <a:bodyPr/>
                    <a:lstStyle/>
                    <a:p>
                      <a:r>
                        <a:rPr sz="1700" i="0" b="1">
                          <a:solidFill>
                            <a:srgbClr val="FFFFFF"/>
                          </a:solidFill>
                          <a:latin typeface="Calibri"/>
                        </a:rPr>
                        <a:t>Suitable choice</a:t>
                      </a:r>
                    </a:p>
                  </a:txBody>
                  <a:tcPr marL="109728" marR="109728" marT="45720" marB="45720" anchor="ctr">
                    <a:solidFill>
                      <a:srgbClr val="1B2A8C"/>
                    </a:solidFill>
                  </a:tcPr>
                </a:tc>
              </a:tr>
              <a:tr h="577215">
                <a:tc>
                  <a:txBody>
                    <a:bodyPr/>
                    <a:lstStyle/>
                    <a:p>
                      <a:r>
                        <a:rPr sz="1800" i="0" b="1">
                          <a:solidFill>
                            <a:srgbClr val="1A1F36"/>
                          </a:solidFill>
                          <a:latin typeface="Calibri"/>
                        </a:rPr>
                        <a:t>Suturing a small cut on the arm</a:t>
                      </a:r>
                    </a:p>
                  </a:txBody>
                  <a:tcPr marL="109728" marR="109728" marT="45720" marB="45720" anchor="ctr">
                    <a:solidFill>
                      <a:srgbClr val="FFFFFF"/>
                    </a:solidFill>
                  </a:tcPr>
                </a:tc>
                <a:tc>
                  <a:txBody>
                    <a:bodyPr/>
                    <a:lstStyle/>
                    <a:p>
                      <a:r>
                        <a:rPr sz="1800" i="0" b="0">
                          <a:solidFill>
                            <a:srgbClr val="1A1F36"/>
                          </a:solidFill>
                          <a:latin typeface="Calibri"/>
                        </a:rPr>
                        <a:t>Lidocaine with adrenaline</a:t>
                      </a:r>
                    </a:p>
                  </a:txBody>
                  <a:tcPr marL="109728" marR="109728" marT="45720" marB="45720" anchor="ctr">
                    <a:solidFill>
                      <a:srgbClr val="FFFFFF"/>
                    </a:solidFill>
                  </a:tcPr>
                </a:tc>
              </a:tr>
              <a:tr h="577215">
                <a:tc>
                  <a:txBody>
                    <a:bodyPr/>
                    <a:lstStyle/>
                    <a:p>
                      <a:r>
                        <a:rPr sz="1800" i="0" b="1">
                          <a:solidFill>
                            <a:srgbClr val="1A1F36"/>
                          </a:solidFill>
                          <a:latin typeface="Calibri"/>
                        </a:rPr>
                        <a:t>Ring block of a finger</a:t>
                      </a:r>
                    </a:p>
                  </a:txBody>
                  <a:tcPr marL="109728" marR="109728" marT="45720" marB="45720" anchor="ctr">
                    <a:solidFill>
                      <a:srgbClr val="F1F2F8"/>
                    </a:solidFill>
                  </a:tcPr>
                </a:tc>
                <a:tc>
                  <a:txBody>
                    <a:bodyPr/>
                    <a:lstStyle/>
                    <a:p>
                      <a:r>
                        <a:rPr sz="1800" i="0" b="0">
                          <a:solidFill>
                            <a:srgbClr val="1A1F36"/>
                          </a:solidFill>
                          <a:latin typeface="Calibri"/>
                        </a:rPr>
                        <a:t>Lidocaine; dilute adrenaline only if circulation is normal</a:t>
                      </a:r>
                    </a:p>
                  </a:txBody>
                  <a:tcPr marL="109728" marR="109728" marT="45720" marB="45720" anchor="ctr">
                    <a:solidFill>
                      <a:srgbClr val="F1F2F8"/>
                    </a:solidFill>
                  </a:tcPr>
                </a:tc>
              </a:tr>
              <a:tr h="577215">
                <a:tc>
                  <a:txBody>
                    <a:bodyPr/>
                    <a:lstStyle/>
                    <a:p>
                      <a:r>
                        <a:rPr sz="1800" i="0" b="1">
                          <a:solidFill>
                            <a:srgbClr val="1A1F36"/>
                          </a:solidFill>
                          <a:latin typeface="Calibri"/>
                        </a:rPr>
                        <a:t>Long-lasting nerve block or epidural</a:t>
                      </a:r>
                    </a:p>
                  </a:txBody>
                  <a:tcPr marL="109728" marR="109728" marT="45720" marB="45720" anchor="ctr">
                    <a:solidFill>
                      <a:srgbClr val="FFFFFF"/>
                    </a:solidFill>
                  </a:tcPr>
                </a:tc>
                <a:tc>
                  <a:txBody>
                    <a:bodyPr/>
                    <a:lstStyle/>
                    <a:p>
                      <a:r>
                        <a:rPr sz="1800" i="0" b="0">
                          <a:solidFill>
                            <a:srgbClr val="1A1F36"/>
                          </a:solidFill>
                          <a:latin typeface="Calibri"/>
                        </a:rPr>
                        <a:t>Bupivacaine or ropivacaine (ropivacaine is safer for the heart)</a:t>
                      </a:r>
                    </a:p>
                  </a:txBody>
                  <a:tcPr marL="109728" marR="109728" marT="45720" marB="45720" anchor="ctr">
                    <a:solidFill>
                      <a:srgbClr val="FFFFFF"/>
                    </a:solidFill>
                  </a:tcPr>
                </a:tc>
              </a:tr>
              <a:tr h="577215">
                <a:tc>
                  <a:txBody>
                    <a:bodyPr/>
                    <a:lstStyle/>
                    <a:p>
                      <a:r>
                        <a:rPr sz="1800" i="0" b="1">
                          <a:solidFill>
                            <a:srgbClr val="1A1F36"/>
                          </a:solidFill>
                          <a:latin typeface="Calibri"/>
                        </a:rPr>
                        <a:t>Allergy to an ester (for example procaine)</a:t>
                      </a:r>
                    </a:p>
                  </a:txBody>
                  <a:tcPr marL="109728" marR="109728" marT="45720" marB="45720" anchor="ctr">
                    <a:solidFill>
                      <a:srgbClr val="F1F2F8"/>
                    </a:solidFill>
                  </a:tcPr>
                </a:tc>
                <a:tc>
                  <a:txBody>
                    <a:bodyPr/>
                    <a:lstStyle/>
                    <a:p>
                      <a:r>
                        <a:rPr sz="1800" i="0" b="0">
                          <a:solidFill>
                            <a:srgbClr val="1A1F36"/>
                          </a:solidFill>
                          <a:latin typeface="Calibri"/>
                        </a:rPr>
                        <a:t>An amide</a:t>
                      </a:r>
                    </a:p>
                  </a:txBody>
                  <a:tcPr marL="109728" marR="109728" marT="45720" marB="45720" anchor="ctr">
                    <a:solidFill>
                      <a:srgbClr val="F1F2F8"/>
                    </a:solidFill>
                  </a:tcPr>
                </a:tc>
              </a:tr>
              <a:tr h="577215">
                <a:tc>
                  <a:txBody>
                    <a:bodyPr/>
                    <a:lstStyle/>
                    <a:p>
                      <a:r>
                        <a:rPr sz="1800" i="0" b="1">
                          <a:solidFill>
                            <a:srgbClr val="1A1F36"/>
                          </a:solidFill>
                          <a:latin typeface="Calibri"/>
                        </a:rPr>
                        <a:t>Eye procedure</a:t>
                      </a:r>
                    </a:p>
                  </a:txBody>
                  <a:tcPr marL="109728" marR="109728" marT="45720" marB="45720" anchor="ctr">
                    <a:solidFill>
                      <a:srgbClr val="FFFFFF"/>
                    </a:solidFill>
                  </a:tcPr>
                </a:tc>
                <a:tc>
                  <a:txBody>
                    <a:bodyPr/>
                    <a:lstStyle/>
                    <a:p>
                      <a:r>
                        <a:rPr sz="1800" i="0" b="0">
                          <a:solidFill>
                            <a:srgbClr val="1A1F36"/>
                          </a:solidFill>
                          <a:latin typeface="Calibri"/>
                        </a:rPr>
                        <a:t>Tetracaine or proxymetacaine drops</a:t>
                      </a:r>
                    </a:p>
                  </a:txBody>
                  <a:tcPr marL="109728" marR="109728" marT="45720" marB="45720" anchor="ctr">
                    <a:solidFill>
                      <a:srgbClr val="FFFFFF"/>
                    </a:solidFill>
                  </a:tcPr>
                </a:tc>
              </a:tr>
              <a:tr h="577215">
                <a:tc>
                  <a:txBody>
                    <a:bodyPr/>
                    <a:lstStyle/>
                    <a:p>
                      <a:r>
                        <a:rPr sz="1800" i="0" b="1">
                          <a:solidFill>
                            <a:srgbClr val="1A1F36"/>
                          </a:solidFill>
                          <a:latin typeface="Calibri"/>
                        </a:rPr>
                        <a:t>Mouth ulcer, sore throat</a:t>
                      </a:r>
                    </a:p>
                  </a:txBody>
                  <a:tcPr marL="109728" marR="109728" marT="45720" marB="45720" anchor="ctr">
                    <a:solidFill>
                      <a:srgbClr val="F1F2F8"/>
                    </a:solidFill>
                  </a:tcPr>
                </a:tc>
                <a:tc>
                  <a:txBody>
                    <a:bodyPr/>
                    <a:lstStyle/>
                    <a:p>
                      <a:r>
                        <a:rPr sz="1800" i="0" b="0">
                          <a:solidFill>
                            <a:srgbClr val="1A1F36"/>
                          </a:solidFill>
                          <a:latin typeface="Calibri"/>
                        </a:rPr>
                        <a:t>Benzocaine or lidocaine topical</a:t>
                      </a:r>
                    </a:p>
                  </a:txBody>
                  <a:tcPr marL="109728" marR="109728" marT="45720" marB="45720" anchor="ctr">
                    <a:solidFill>
                      <a:srgbClr val="F1F2F8"/>
                    </a:solidFill>
                  </a:tcPr>
                </a:tc>
              </a:tr>
              <a:tr h="577215">
                <a:tc>
                  <a:txBody>
                    <a:bodyPr/>
                    <a:lstStyle/>
                    <a:p>
                      <a:r>
                        <a:rPr sz="1800" i="0" b="1">
                          <a:solidFill>
                            <a:srgbClr val="1A1F36"/>
                          </a:solidFill>
                          <a:latin typeface="Calibri"/>
                        </a:rPr>
                        <a:t>Needle procedures in children</a:t>
                      </a:r>
                    </a:p>
                  </a:txBody>
                  <a:tcPr marL="109728" marR="109728" marT="45720" marB="45720" anchor="ctr">
                    <a:solidFill>
                      <a:srgbClr val="FFFFFF"/>
                    </a:solidFill>
                  </a:tcPr>
                </a:tc>
                <a:tc>
                  <a:txBody>
                    <a:bodyPr/>
                    <a:lstStyle/>
                    <a:p>
                      <a:r>
                        <a:rPr sz="1800" i="0" b="0">
                          <a:solidFill>
                            <a:srgbClr val="1A1F36"/>
                          </a:solidFill>
                          <a:latin typeface="Calibri"/>
                        </a:rPr>
                        <a:t>Lidocaine–prilocaine cream (EMLA); watch methaemoglobinaemia in infants</a:t>
                      </a:r>
                    </a:p>
                  </a:txBody>
                  <a:tcPr marL="109728" marR="109728" marT="45720" marB="45720"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1920240"/>
        </p:xfrm>
        <a:graphic>
          <a:graphicData uri="http://schemas.openxmlformats.org/drawingml/2006/table">
            <a:tbl>
              <a:tblPr firstRow="0" bandRow="0">
                <a:tableStyleId>{5C22544A-7EE6-4342-B048-85BDC9FD1C3A}</a:tableStyleId>
              </a:tblPr>
              <a:tblGrid>
                <a:gridCol w="2241295"/>
                <a:gridCol w="2465425"/>
                <a:gridCol w="6387693"/>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Lidocaine</a:t>
                      </a:r>
                    </a:p>
                  </a:txBody>
                  <a:tcPr marL="109728" marR="109728" marT="45720" marB="45720" anchor="ctr">
                    <a:solidFill>
                      <a:srgbClr val="FFFFFF"/>
                    </a:solidFill>
                  </a:tcPr>
                </a:tc>
                <a:tc>
                  <a:txBody>
                    <a:bodyPr/>
                    <a:lstStyle/>
                    <a:p>
                      <a:r>
                        <a:rPr sz="2000" i="0" b="0">
                          <a:solidFill>
                            <a:srgbClr val="1A1F36"/>
                          </a:solidFill>
                          <a:latin typeface="Calibri"/>
                        </a:rPr>
                        <a:t>Xylocaine</a:t>
                      </a:r>
                    </a:p>
                  </a:txBody>
                  <a:tcPr marL="109728" marR="109728" marT="45720" marB="45720" anchor="ctr">
                    <a:solidFill>
                      <a:srgbClr val="FFFFFF"/>
                    </a:solidFill>
                  </a:tcPr>
                </a:tc>
                <a:tc>
                  <a:txBody>
                    <a:bodyPr/>
                    <a:lstStyle/>
                    <a:p>
                      <a:r>
                        <a:rPr sz="2000" i="0" b="0">
                          <a:solidFill>
                            <a:srgbClr val="1A1F36"/>
                          </a:solidFill>
                          <a:latin typeface="Calibri"/>
                        </a:rPr>
                        <a:t>Injection (plain and with adrenaline), gel, spray</a:t>
                      </a:r>
                    </a:p>
                  </a:txBody>
                  <a:tcPr marL="109728" marR="109728" marT="45720" marB="45720" anchor="ctr">
                    <a:solidFill>
                      <a:srgbClr val="FFFFFF"/>
                    </a:solidFill>
                  </a:tcPr>
                </a:tc>
              </a:tr>
              <a:tr h="640080">
                <a:tc>
                  <a:txBody>
                    <a:bodyPr/>
                    <a:lstStyle/>
                    <a:p>
                      <a:r>
                        <a:rPr sz="2000" i="0" b="1">
                          <a:solidFill>
                            <a:srgbClr val="1A1F36"/>
                          </a:solidFill>
                          <a:latin typeface="Calibri"/>
                        </a:rPr>
                        <a:t>Bupivacaine</a:t>
                      </a:r>
                    </a:p>
                  </a:txBody>
                  <a:tcPr marL="109728" marR="109728" marT="45720" marB="45720" anchor="ctr">
                    <a:solidFill>
                      <a:srgbClr val="F1F2F8"/>
                    </a:solidFill>
                  </a:tcPr>
                </a:tc>
                <a:tc>
                  <a:txBody>
                    <a:bodyPr/>
                    <a:lstStyle/>
                    <a:p>
                      <a:r>
                        <a:rPr sz="2000" i="0" b="0">
                          <a:solidFill>
                            <a:srgbClr val="1A1F36"/>
                          </a:solidFill>
                          <a:latin typeface="Calibri"/>
                        </a:rPr>
                        <a:t>Marcaine</a:t>
                      </a:r>
                    </a:p>
                  </a:txBody>
                  <a:tcPr marL="109728" marR="109728" marT="45720" marB="45720" anchor="ctr">
                    <a:solidFill>
                      <a:srgbClr val="F1F2F8"/>
                    </a:solidFill>
                  </a:tcPr>
                </a:tc>
                <a:tc>
                  <a:txBody>
                    <a:bodyPr/>
                    <a:lstStyle/>
                    <a:p>
                      <a:r>
                        <a:rPr sz="2000" i="0" b="0">
                          <a:solidFill>
                            <a:srgbClr val="1A1F36"/>
                          </a:solidFill>
                          <a:latin typeface="Calibri"/>
                        </a:rPr>
                        <a:t>Injection; heavy solution for spinal use</a:t>
                      </a:r>
                    </a:p>
                  </a:txBody>
                  <a:tcPr marL="109728" marR="109728" marT="45720" marB="45720" anchor="ctr">
                    <a:solidFill>
                      <a:srgbClr val="F1F2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808863"/>
          </a:xfrm>
          <a:prstGeom prst="rect">
            <a:avLst/>
          </a:prstGeom>
          <a:noFill/>
        </p:spPr>
        <p:txBody>
          <a:bodyPr wrap="square" anchor="t" lIns="0" rIns="0" tIns="0" bIns="0">
            <a:spAutoFit/>
          </a:bodyPr>
          <a:lstStyle/>
          <a:p>
            <a:r>
              <a:rPr sz="2100" i="0" b="0">
                <a:solidFill>
                  <a:srgbClr val="1A1F36"/>
                </a:solidFill>
                <a:latin typeface="Calibri"/>
              </a:rPr>
              <a:t>Why is a dental block harder to achieve near an abscess?</a:t>
            </a:r>
          </a:p>
        </p:txBody>
      </p:sp>
      <p:sp>
        <p:nvSpPr>
          <p:cNvPr id="10" name="Oval 9"/>
          <p:cNvSpPr/>
          <p:nvPr/>
        </p:nvSpPr>
        <p:spPr>
          <a:xfrm>
            <a:off x="548640" y="242735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445639"/>
            <a:ext cx="10500055" cy="808863"/>
          </a:xfrm>
          <a:prstGeom prst="rect">
            <a:avLst/>
          </a:prstGeom>
          <a:noFill/>
        </p:spPr>
        <p:txBody>
          <a:bodyPr wrap="square" anchor="t" lIns="0" rIns="0" tIns="0" bIns="0">
            <a:spAutoFit/>
          </a:bodyPr>
          <a:lstStyle/>
          <a:p>
            <a:r>
              <a:rPr sz="2100" i="0" b="0">
                <a:solidFill>
                  <a:srgbClr val="1A1F36"/>
                </a:solidFill>
                <a:latin typeface="Calibri"/>
              </a:rPr>
              <a:t>Why can more lidocaine be given when adrenaline is added?</a:t>
            </a:r>
          </a:p>
        </p:txBody>
      </p:sp>
      <p:sp>
        <p:nvSpPr>
          <p:cNvPr id="12" name="Oval 11"/>
          <p:cNvSpPr/>
          <p:nvPr/>
        </p:nvSpPr>
        <p:spPr>
          <a:xfrm>
            <a:off x="548640" y="328193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300222"/>
            <a:ext cx="10500055" cy="808863"/>
          </a:xfrm>
          <a:prstGeom prst="rect">
            <a:avLst/>
          </a:prstGeom>
          <a:noFill/>
        </p:spPr>
        <p:txBody>
          <a:bodyPr wrap="square" anchor="t" lIns="0" rIns="0" tIns="0" bIns="0">
            <a:spAutoFit/>
          </a:bodyPr>
          <a:lstStyle/>
          <a:p>
            <a:r>
              <a:rPr sz="2100" i="0" b="0">
                <a:solidFill>
                  <a:srgbClr val="1A1F36"/>
                </a:solidFill>
                <a:latin typeface="Calibri"/>
              </a:rPr>
              <a:t>A patient says "I am allergic to all local anaesthetics". What would you ask?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form of a local anaesthetic blocks the Na+ channel?</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The unionised form outside the nerve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The unionised form inside the nerve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The ionised form inside the nerve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The ionised form outside the nerve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form of a local anaesthetic blocks the Na+ channel?</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The unionised form outside the nerve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The unionised form inside the nerve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The ionised form inside the nerve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The ionised form outside the nerve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The ionised form binds inside the channel. A and B cross the membrane but do not block. D cannot reach the site.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a local anaesthetic work poorly in an abscess?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The acidic tissue ionises more drug outside the nerve.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Pus breaks down the drug.</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The nerves are larger.</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Blood flow is lower.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Why does a local anaesthetic work poorly in an abscess?</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The acidic tissue ionises more drug outside the nerve.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Pus breaks down the drug.</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The nerves are larger.</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Blood flow is lower.</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Acidic pus ionises the drug outside the nerve, so less crosses the membrane. B, C and D are not the main reason.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local anaesthetic is an amide?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Procaine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Tetracaine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Benzocaine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Bupivacaine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local anaesthetic is an amide?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Procaine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Tetracaine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Benzocaine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Bupivacaine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Bupivacaine has two "i"s; it is an amide. A, B and C are esters.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is allergic to procaine. What should be used for an epidural?</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Chloroprocaine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Ropivacaine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Tetracaine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Benzocaine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is allergic to procaine. What should be used for an epidural?</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Chloroprocaine</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Ropivacaine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Tetracaine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Benzocaine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Ropivacaine is an amide and does not cross-react with esters. A, C and D are esters.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main reason for adding adrenaline to lidocaine?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To prolong the block and lower blood levels of lidocaine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To speed onset by raising pH</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To treat allergy</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To prevent seizures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main reason for adding adrenaline to lidocaine?</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To prolong the block and lower blood levels of lidocaine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To speed onset by raising pH</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To treat allergy</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To prevent seizures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Vasoconstriction slows absorption, prolonging the block and lowering toxicity. B, C and D are wrong.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In which patient should adrenaline-containing local anaesthetic be avoided?</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 healthy adult with a forearm cut</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 child with a scalp wound</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 patient with Raynaud's phenomenon who needs a finger block</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 healthy adult with a thigh wound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In which patient should adrenaline-containing local anaesthetic be avoided?</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 healthy adult with a forearm cut</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A child with a scalp wound</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 patient with Raynaud's phenomenon who needs a finger block</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 healthy adult with a thigh wound</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Poor digital circulation plus vasoconstriction can cause ischaemia. A, B and D have normal circulation; adrenaline is suitable.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During a nerve block, a patient reports a metallic taste and numb lips, then has a seizure. What is the diagnosis?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Anaphylaxis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Local anaesthetic systemic toxicity</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Vasovagal attack</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Malignant hyperthermia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During a nerve block, a patient reports a metallic taste and numb lips, then has a seizure. What is the diagnosis?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Anaphylaxis</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Local anaesthetic systemic toxicity</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Vasovagal attack</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Malignant hyperthermia</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Metallic taste, numb lips and seizure are early LAST. A causes rash and wheeze. C causes fainting. D occurs with volatile agents.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specific treatment for the patient in Q7 if the heart becomes unstable?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Dantrolene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Flumazenil</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Naloxone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20% lipid emulsion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is the specific treatment for the patient in Q7 if the heart becomes unstable?</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Dantrolene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Flumazenil</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Naloxone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20% lipid emulsion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Lipid emulsion binds the drug and supports the heart. A treats malignant hyperthermia. B reverses benzodiazepines. C reverses opioids.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local anaesthetic is the most cardiotoxic?</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Bupivacaine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Lidocaine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Ropivacaine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Benzocaine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39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local anaesthetic is the most cardiotoxic?</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Bupivacaine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Lidocaine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Ropivacaine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Benzocaine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Bupivacaine is the most cardiotoxic. B and C are less toxic. D is topical only.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40 / 42</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agent is best for a long-lasting epidural in labour with the lowest cardiac risk?</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Cocaine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Benzocaine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Ropivacaine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Procaine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09</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9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9  ·  Local Anaesthetics</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41 / 42</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agent is best for a long-lasting epidural in labour with the lowest cardiac risk?</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Cocaine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Benzocaine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Ropivacaine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Procaine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Ropivacaine is long-acting and less cardiotoxic than bupivacaine. A is topical. B is topical. D is short-acting and rarely used.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9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862202"/>
          </a:xfrm>
          <a:prstGeom prst="rect">
            <a:avLst/>
          </a:prstGeom>
          <a:noFill/>
        </p:spPr>
        <p:txBody>
          <a:bodyPr wrap="square" anchor="t" lIns="0" rIns="0" tIns="0" bIns="0">
            <a:spAutoFit/>
          </a:bodyPr>
          <a:lstStyle/>
          <a:p>
            <a:r>
              <a:rPr sz="2100" i="0" b="0">
                <a:solidFill>
                  <a:srgbClr val="FFFFFF"/>
                </a:solidFill>
                <a:latin typeface="Calibri"/>
              </a:rPr>
              <a:t>The unionised base crosses the membrane; the ionised form blocks the Na+ channel from inside.</a:t>
            </a:r>
          </a:p>
        </p:txBody>
      </p:sp>
      <p:sp>
        <p:nvSpPr>
          <p:cNvPr id="6" name="Oval 5"/>
          <p:cNvSpPr/>
          <p:nvPr/>
        </p:nvSpPr>
        <p:spPr>
          <a:xfrm>
            <a:off x="548640" y="275501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773299"/>
            <a:ext cx="10500055" cy="528827"/>
          </a:xfrm>
          <a:prstGeom prst="rect">
            <a:avLst/>
          </a:prstGeom>
          <a:noFill/>
        </p:spPr>
        <p:txBody>
          <a:bodyPr wrap="square" anchor="t" lIns="0" rIns="0" tIns="0" bIns="0">
            <a:spAutoFit/>
          </a:bodyPr>
          <a:lstStyle/>
          <a:p>
            <a:r>
              <a:rPr sz="2100" i="0" b="0">
                <a:solidFill>
                  <a:srgbClr val="FFFFFF"/>
                </a:solidFill>
                <a:latin typeface="Calibri"/>
              </a:rPr>
              <a:t>Acidic (infected) tissue weakens the block.</a:t>
            </a:r>
          </a:p>
        </p:txBody>
      </p:sp>
      <p:sp>
        <p:nvSpPr>
          <p:cNvPr id="8" name="Oval 7"/>
          <p:cNvSpPr/>
          <p:nvPr/>
        </p:nvSpPr>
        <p:spPr>
          <a:xfrm>
            <a:off x="548640" y="332955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347847"/>
            <a:ext cx="10500055" cy="862202"/>
          </a:xfrm>
          <a:prstGeom prst="rect">
            <a:avLst/>
          </a:prstGeom>
          <a:noFill/>
        </p:spPr>
        <p:txBody>
          <a:bodyPr wrap="square" anchor="t" lIns="0" rIns="0" tIns="0" bIns="0">
            <a:spAutoFit/>
          </a:bodyPr>
          <a:lstStyle/>
          <a:p>
            <a:r>
              <a:rPr sz="2100" i="0" b="0">
                <a:solidFill>
                  <a:srgbClr val="FFFFFF"/>
                </a:solidFill>
                <a:latin typeface="Calibri"/>
              </a:rPr>
              <a:t>Esters are broken down by plasma cholinesterase and cause more allergy; amides are broken down by the liver.</a:t>
            </a:r>
          </a:p>
        </p:txBody>
      </p:sp>
      <p:sp>
        <p:nvSpPr>
          <p:cNvPr id="10" name="Oval 9"/>
          <p:cNvSpPr/>
          <p:nvPr/>
        </p:nvSpPr>
        <p:spPr>
          <a:xfrm>
            <a:off x="548640" y="423748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4255770"/>
            <a:ext cx="10500055" cy="862202"/>
          </a:xfrm>
          <a:prstGeom prst="rect">
            <a:avLst/>
          </a:prstGeom>
          <a:noFill/>
        </p:spPr>
        <p:txBody>
          <a:bodyPr wrap="square" anchor="t" lIns="0" rIns="0" tIns="0" bIns="0">
            <a:spAutoFit/>
          </a:bodyPr>
          <a:lstStyle/>
          <a:p>
            <a:r>
              <a:rPr sz="2100" i="0" b="0">
                <a:solidFill>
                  <a:srgbClr val="FFFFFF"/>
                </a:solidFill>
                <a:latin typeface="Calibri"/>
              </a:rPr>
              <a:t>Adrenaline prolongs the block and lowers toxicity; avoid it where the circulation is poor.</a:t>
            </a:r>
          </a:p>
        </p:txBody>
      </p:sp>
      <p:sp>
        <p:nvSpPr>
          <p:cNvPr id="12" name="Oval 11"/>
          <p:cNvSpPr/>
          <p:nvPr/>
        </p:nvSpPr>
        <p:spPr>
          <a:xfrm>
            <a:off x="548640" y="514540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5163693"/>
            <a:ext cx="10500055" cy="862202"/>
          </a:xfrm>
          <a:prstGeom prst="rect">
            <a:avLst/>
          </a:prstGeom>
          <a:noFill/>
        </p:spPr>
        <p:txBody>
          <a:bodyPr wrap="square" anchor="t" lIns="0" rIns="0" tIns="0" bIns="0">
            <a:spAutoFit/>
          </a:bodyPr>
          <a:lstStyle/>
          <a:p>
            <a:r>
              <a:rPr sz="2100" i="0" b="0">
                <a:solidFill>
                  <a:srgbClr val="FFFFFF"/>
                </a:solidFill>
                <a:latin typeface="Calibri"/>
              </a:rPr>
              <a:t>LAST starts with CNS signs and can end in cardiac arrest; stop injecting, treat seizures and give 20% lipid emulsion.</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