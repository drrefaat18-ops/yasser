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GABA-A receptors are Cl- channels that inhibit neurons (Chapter 7). NMDA receptors are glutamate-gated channels that excite them. Lipid-soluble drugs enter well-perfused organs such as the brain, heart and liver first, then move to muscle and fat. This redistribution ends the action of a single IV dose before the drug is metabolised.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4:30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6:30 of 40:00).  Next: Stages of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8:30 of 40:00).  Next: How Anaesthetics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Anaesthetics act on ion channels that control neuron excitability:</a:t>
            </a:r>
          </a:p>
          <a:p/>
          <a:p>
            <a:r>
              <a:t>Time: 2:30  (at 11:00 of 40:00).  Next: Speed: blood:gas solubility.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2:30  (at 13:30 of 40:00).  Next: Adverse effects of volatile 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2:00  (at 15:30 of 40:00).  Next: Inhaled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1:30  (at 17:00 of 40:00).  Next: Intravenous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 anaesthetics are very lipid-soluble. After a bolus they reach the brain within one arm-to-brain time, about 30 seconds. They wake the patient by redistribution to muscle and fat. After long infusions, fat becomes saturated and recovery is slower. Ketamine in more detail.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a:p/>
          <a:p>
            <a:r>
              <a:t>Time: 2:30  (at 19:30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21:30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2:00  (at 23:30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1:30  (at 25:00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Balanced anaesthesia uses several drugs, each at a lower dose. A is wrong; one drug would be toxic at the needed dose. B and C are wrong.</a:t>
            </a:r>
          </a:p>
          <a:p/>
          <a:p>
            <a:r>
              <a:t>Time: 0:45  (at 30:15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Ketamine blocks NMDA receptors. A, C and D enhance GABA-A.</a:t>
            </a:r>
          </a:p>
          <a:p/>
          <a:p>
            <a:r>
              <a:t>Time: 0:45  (at 31:45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Halothane has the lowest MAC. B, C and D have higher MAC values.</a:t>
            </a:r>
          </a:p>
          <a:p/>
          <a:p>
            <a:r>
              <a:t>Time: 0:45  (at 33:15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Low blood solubility means fast rise in brain level. A relates to potency; desflurane's MAC is higher. B and D are wrong.</a:t>
            </a:r>
          </a:p>
          <a:p/>
          <a:p>
            <a:r>
              <a:t>Time: 0:45  (at 34:45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Redistribution ends the effect of a single dose. B and C are wrong. D is for benzodiazepines.</a:t>
            </a:r>
          </a:p>
          <a:p/>
          <a:p>
            <a:r>
              <a:t>Time: 0:45  (at 36:15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27:30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29:30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31:00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32:30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37:00 of 40:00).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8</a:t>
            </a:r>
          </a:p>
          <a:p>
            <a:pPr>
              <a:spcBef>
                <a:spcPts val="1400"/>
              </a:spcBef>
            </a:pPr>
            <a:r>
              <a:rPr sz="4400" i="0" b="1">
                <a:solidFill>
                  <a:srgbClr val="FFFFFF"/>
                </a:solidFill>
                <a:latin typeface="Cambria"/>
              </a:rPr>
              <a:t>General Anaesthetics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5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77824"/>
          </a:xfrm>
          <a:prstGeom prst="rect">
            <a:avLst/>
          </a:prstGeom>
          <a:noFill/>
        </p:spPr>
        <p:txBody>
          <a:bodyPr wrap="square" anchor="t" lIns="0" rIns="0" tIns="0" bIns="0">
            <a:spAutoFit/>
          </a:bodyPr>
          <a:lstStyle/>
          <a:p>
            <a:r>
              <a:rPr sz="2100" i="0" b="0">
                <a:solidFill>
                  <a:srgbClr val="1A1F36"/>
                </a:solidFill>
                <a:latin typeface="Calibri"/>
              </a:rPr>
              <a:t>List the goals of general anaesthesia and explain balanced anaesthesia.</a:t>
            </a:r>
          </a:p>
        </p:txBody>
      </p:sp>
      <p:sp>
        <p:nvSpPr>
          <p:cNvPr id="10" name="Oval 9"/>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14600"/>
            <a:ext cx="6629400" cy="877824"/>
          </a:xfrm>
          <a:prstGeom prst="rect">
            <a:avLst/>
          </a:prstGeom>
          <a:noFill/>
        </p:spPr>
        <p:txBody>
          <a:bodyPr wrap="square" anchor="t" lIns="0" rIns="0" tIns="0" bIns="0">
            <a:spAutoFit/>
          </a:bodyPr>
          <a:lstStyle/>
          <a:p>
            <a:r>
              <a:rPr sz="2100" i="0" b="0">
                <a:solidFill>
                  <a:srgbClr val="1A1F36"/>
                </a:solidFill>
                <a:latin typeface="Calibri"/>
              </a:rPr>
              <a:t>Describe the mechanisms of inhaled and intravenous anaesthetics.</a:t>
            </a:r>
          </a:p>
        </p:txBody>
      </p:sp>
      <p:sp>
        <p:nvSpPr>
          <p:cNvPr id="12" name="Oval 11"/>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438144"/>
            <a:ext cx="6629400" cy="877824"/>
          </a:xfrm>
          <a:prstGeom prst="rect">
            <a:avLst/>
          </a:prstGeom>
          <a:noFill/>
        </p:spPr>
        <p:txBody>
          <a:bodyPr wrap="square" anchor="t" lIns="0" rIns="0" tIns="0" bIns="0">
            <a:spAutoFit/>
          </a:bodyPr>
          <a:lstStyle/>
          <a:p>
            <a:r>
              <a:rPr sz="2100" i="0" b="0">
                <a:solidFill>
                  <a:srgbClr val="1A1F36"/>
                </a:solidFill>
                <a:latin typeface="Calibri"/>
              </a:rPr>
              <a:t>Use MAC and blood:gas solubility to compare the potency and speed of inhaled anaesthetics.</a:t>
            </a:r>
          </a:p>
        </p:txBody>
      </p:sp>
      <p:sp>
        <p:nvSpPr>
          <p:cNvPr id="14" name="Oval 13"/>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361688"/>
            <a:ext cx="6629400" cy="877824"/>
          </a:xfrm>
          <a:prstGeom prst="rect">
            <a:avLst/>
          </a:prstGeom>
          <a:noFill/>
        </p:spPr>
        <p:txBody>
          <a:bodyPr wrap="square" anchor="t" lIns="0" rIns="0" tIns="0" bIns="0">
            <a:spAutoFit/>
          </a:bodyPr>
          <a:lstStyle/>
          <a:p>
            <a:r>
              <a:rPr sz="2100" i="0" b="0">
                <a:solidFill>
                  <a:srgbClr val="1A1F36"/>
                </a:solidFill>
                <a:latin typeface="Calibri"/>
              </a:rPr>
              <a:t>Compare the main intravenous anaesthetics and their adverse effects.</a:t>
            </a:r>
          </a:p>
        </p:txBody>
      </p:sp>
      <p:sp>
        <p:nvSpPr>
          <p:cNvPr id="16" name="Oval 15"/>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85231"/>
            <a:ext cx="6629400" cy="877824"/>
          </a:xfrm>
          <a:prstGeom prst="rect">
            <a:avLst/>
          </a:prstGeom>
          <a:noFill/>
        </p:spPr>
        <p:txBody>
          <a:bodyPr wrap="square" anchor="t" lIns="0" rIns="0" tIns="0" bIns="0">
            <a:spAutoFit/>
          </a:bodyPr>
          <a:lstStyle/>
          <a:p>
            <a:r>
              <a:rPr sz="2100" i="0" b="0">
                <a:solidFill>
                  <a:srgbClr val="1A1F36"/>
                </a:solidFill>
                <a:latin typeface="Calibri"/>
              </a:rPr>
              <a:t>Select an anaesthetic for a patient and recognise malignant hyperthermia.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5</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Goals and Balanced Anaesthesia</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Anaesthetics Work</a:t>
            </a:r>
          </a:p>
        </p:txBody>
      </p:sp>
      <p:sp>
        <p:nvSpPr>
          <p:cNvPr id="12" name="Oval 11"/>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Inhaled Anaesthetics</a:t>
            </a:r>
          </a:p>
        </p:txBody>
      </p:sp>
      <p:sp>
        <p:nvSpPr>
          <p:cNvPr id="14" name="Oval 13"/>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Intravenous Anaesthetics</a:t>
            </a:r>
          </a:p>
        </p:txBody>
      </p:sp>
      <p:sp>
        <p:nvSpPr>
          <p:cNvPr id="16" name="Oval 15"/>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18" name="Oval 17"/>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0" name="Oval 19"/>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Goals and Balanced Anaesthesia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General anaesthesia is a reversible, drug-induced loss of consciousness. It has five goals:</a:t>
            </a:r>
          </a:p>
        </p:txBody>
      </p:sp>
      <p:sp>
        <p:nvSpPr>
          <p:cNvPr id="9" name="Oval 8"/>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1A1F36"/>
                </a:solidFill>
                <a:latin typeface="Calibri"/>
              </a:rPr>
              <a:t>Unconsciousness.</a:t>
            </a:r>
          </a:p>
        </p:txBody>
      </p:sp>
      <p:sp>
        <p:nvSpPr>
          <p:cNvPr id="11" name="Oval 10"/>
          <p:cNvSpPr/>
          <p:nvPr/>
        </p:nvSpPr>
        <p:spPr>
          <a:xfrm>
            <a:off x="548640" y="297461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1A1F36"/>
                </a:solidFill>
                <a:latin typeface="Calibri"/>
              </a:rPr>
              <a:t>Amnesia.</a:t>
            </a:r>
          </a:p>
        </p:txBody>
      </p:sp>
      <p:sp>
        <p:nvSpPr>
          <p:cNvPr id="13" name="Oval 12"/>
          <p:cNvSpPr/>
          <p:nvPr/>
        </p:nvSpPr>
        <p:spPr>
          <a:xfrm>
            <a:off x="548640" y="369524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1A1F36"/>
                </a:solidFill>
                <a:latin typeface="Calibri"/>
              </a:rPr>
              <a:t>Analgesia.</a:t>
            </a:r>
          </a:p>
        </p:txBody>
      </p:sp>
      <p:sp>
        <p:nvSpPr>
          <p:cNvPr id="15" name="Oval 14"/>
          <p:cNvSpPr/>
          <p:nvPr/>
        </p:nvSpPr>
        <p:spPr>
          <a:xfrm>
            <a:off x="548640" y="441586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1A1F36"/>
                </a:solidFill>
                <a:latin typeface="Calibri"/>
              </a:rPr>
              <a:t>Muscle relaxation.</a:t>
            </a:r>
          </a:p>
        </p:txBody>
      </p:sp>
      <p:sp>
        <p:nvSpPr>
          <p:cNvPr id="17" name="Oval 16"/>
          <p:cNvSpPr/>
          <p:nvPr/>
        </p:nvSpPr>
        <p:spPr>
          <a:xfrm>
            <a:off x="548640" y="51364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1A1F36"/>
                </a:solidFill>
                <a:latin typeface="Calibri"/>
              </a:rPr>
              <a:t>Loss of autonomic reflexes (heart rate and blood pressure responses to surgery).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Goals and Balanced Anaesthesia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No single drug can give all five safely; the dose needed would depress the heart and breathing. So anaesthetists use </a:t>
            </a:r>
            <a:r>
              <a:rPr sz="1800" i="0" b="1">
                <a:solidFill>
                  <a:srgbClr val="1A1F36"/>
                </a:solidFill>
                <a:latin typeface="Calibri"/>
              </a:rPr>
              <a:t>balanced anaesthesia</a:t>
            </a:r>
            <a:r>
              <a:rPr sz="1800" i="0" b="0">
                <a:solidFill>
                  <a:srgbClr val="1A1F36"/>
                </a:solidFill>
                <a:latin typeface="Calibri"/>
              </a:rPr>
              <a:t>: several drugs, each at a lower dose, each for one or two goals.</a:t>
            </a:r>
          </a:p>
        </p:txBody>
      </p:sp>
      <p:pic>
        <p:nvPicPr>
          <p:cNvPr id="9" name="Picture 8" descr="A central hub labelled general anaesthesia linked to five boxes: unconsciousness, amnesia, analgesia, muscle relaxation and loss of autonomic reflexes, each with example drugs."/>
          <p:cNvPicPr>
            <a:picLocks noChangeAspect="1"/>
          </p:cNvPicPr>
          <p:nvPr/>
        </p:nvPicPr>
        <p:blipFill>
          <a:blip r:embed="rId4"/>
          <a:stretch>
            <a:fillRect/>
          </a:stretch>
        </p:blipFill>
        <p:spPr>
          <a:xfrm>
            <a:off x="3099990" y="2830068"/>
            <a:ext cx="5991714" cy="293065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5A6072"/>
                </a:solidFill>
                <a:latin typeface="Calibri"/>
              </a:rPr>
              <a:t>Balanced anaesthesia: the five goals and the drugs that provide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Stages of care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08710"/>
          </a:xfrm>
          <a:prstGeom prst="rect">
            <a:avLst/>
          </a:prstGeom>
          <a:noFill/>
        </p:spPr>
        <p:txBody>
          <a:bodyPr wrap="square" anchor="t" lIns="0" rIns="0" tIns="0" bIns="0">
            <a:spAutoFit/>
          </a:bodyPr>
          <a:lstStyle/>
          <a:p>
            <a:r>
              <a:rPr sz="2100" i="0" b="1">
                <a:solidFill>
                  <a:srgbClr val="1A1F36"/>
                </a:solidFill>
                <a:latin typeface="Calibri"/>
              </a:rPr>
              <a:t>Before surgery (premedication):</a:t>
            </a:r>
            <a:r>
              <a:rPr sz="2100" i="0" b="0">
                <a:solidFill>
                  <a:srgbClr val="1A1F36"/>
                </a:solidFill>
                <a:latin typeface="Calibri"/>
              </a:rPr>
              <a:t> an anxiolytic such as midazolam if needed; an antacid or H2 blocker and an antiemetic to reduce aspiration risk.</a:t>
            </a:r>
          </a:p>
        </p:txBody>
      </p:sp>
      <p:sp>
        <p:nvSpPr>
          <p:cNvPr id="10" name="Oval 9"/>
          <p:cNvSpPr/>
          <p:nvPr/>
        </p:nvSpPr>
        <p:spPr>
          <a:xfrm>
            <a:off x="548640" y="27271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45486"/>
            <a:ext cx="10500055" cy="1108710"/>
          </a:xfrm>
          <a:prstGeom prst="rect">
            <a:avLst/>
          </a:prstGeom>
          <a:noFill/>
        </p:spPr>
        <p:txBody>
          <a:bodyPr wrap="square" anchor="t" lIns="0" rIns="0" tIns="0" bIns="0">
            <a:spAutoFit/>
          </a:bodyPr>
          <a:lstStyle/>
          <a:p>
            <a:r>
              <a:rPr sz="2100" i="0" b="1">
                <a:solidFill>
                  <a:srgbClr val="1A1F36"/>
                </a:solidFill>
                <a:latin typeface="Calibri"/>
              </a:rPr>
              <a:t>Induction:</a:t>
            </a:r>
            <a:r>
              <a:rPr sz="2100" i="0" b="0">
                <a:solidFill>
                  <a:srgbClr val="1A1F36"/>
                </a:solidFill>
                <a:latin typeface="Calibri"/>
              </a:rPr>
              <a:t> usually an IV anaesthetic (propofol), because it is fast and pleasant. An inhaled agent (sevoflurane) is used in children who fear needles.</a:t>
            </a:r>
          </a:p>
        </p:txBody>
      </p:sp>
      <p:sp>
        <p:nvSpPr>
          <p:cNvPr id="12" name="Oval 11"/>
          <p:cNvSpPr/>
          <p:nvPr/>
        </p:nvSpPr>
        <p:spPr>
          <a:xfrm>
            <a:off x="548640" y="388162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899915"/>
            <a:ext cx="10500055" cy="1108710"/>
          </a:xfrm>
          <a:prstGeom prst="rect">
            <a:avLst/>
          </a:prstGeom>
          <a:noFill/>
        </p:spPr>
        <p:txBody>
          <a:bodyPr wrap="square" anchor="t" lIns="0" rIns="0" tIns="0" bIns="0">
            <a:spAutoFit/>
          </a:bodyPr>
          <a:lstStyle/>
          <a:p>
            <a:r>
              <a:rPr sz="2100" i="0" b="1">
                <a:solidFill>
                  <a:srgbClr val="1A1F36"/>
                </a:solidFill>
                <a:latin typeface="Calibri"/>
              </a:rPr>
              <a:t>Maintenance:</a:t>
            </a:r>
            <a:r>
              <a:rPr sz="2100" i="0" b="0">
                <a:solidFill>
                  <a:srgbClr val="1A1F36"/>
                </a:solidFill>
                <a:latin typeface="Calibri"/>
              </a:rPr>
              <a:t> an inhaled agent or a propofol infusion, plus an opioid and, if needed, a neuromuscular blocker (Chapter 6).</a:t>
            </a:r>
          </a:p>
        </p:txBody>
      </p:sp>
      <p:sp>
        <p:nvSpPr>
          <p:cNvPr id="14" name="Oval 13"/>
          <p:cNvSpPr/>
          <p:nvPr/>
        </p:nvSpPr>
        <p:spPr>
          <a:xfrm>
            <a:off x="548640" y="503605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054346"/>
            <a:ext cx="10500055" cy="1108710"/>
          </a:xfrm>
          <a:prstGeom prst="rect">
            <a:avLst/>
          </a:prstGeom>
          <a:noFill/>
        </p:spPr>
        <p:txBody>
          <a:bodyPr wrap="square" anchor="t" lIns="0" rIns="0" tIns="0" bIns="0">
            <a:spAutoFit/>
          </a:bodyPr>
          <a:lstStyle/>
          <a:p>
            <a:r>
              <a:rPr sz="2100" i="0" b="1">
                <a:solidFill>
                  <a:srgbClr val="1A1F36"/>
                </a:solidFill>
                <a:latin typeface="Calibri"/>
              </a:rPr>
              <a:t>Recovery:</a:t>
            </a:r>
            <a:r>
              <a:rPr sz="2100" i="0" b="0">
                <a:solidFill>
                  <a:srgbClr val="1A1F36"/>
                </a:solidFill>
                <a:latin typeface="Calibri"/>
              </a:rPr>
              <a:t> stop the drugs, reverse the blocker, and watch breathing and airway. Treat pain and nausea.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Anaesthetics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Anaesthetics act on ion channels that control neuron excitability:</a:t>
            </a:r>
          </a:p>
        </p:txBody>
      </p:sp>
      <p:graphicFrame>
        <p:nvGraphicFramePr>
          <p:cNvPr id="9" name="Table 8"/>
          <p:cNvGraphicFramePr>
            <a:graphicFrameLocks noGrp="1"/>
          </p:cNvGraphicFramePr>
          <p:nvPr/>
        </p:nvGraphicFramePr>
        <p:xfrm>
          <a:off x="548640" y="2235708"/>
          <a:ext cx="11094414" cy="2560320"/>
        </p:xfrm>
        <a:graphic>
          <a:graphicData uri="http://schemas.openxmlformats.org/drawingml/2006/table">
            <a:tbl>
              <a:tblPr firstRow="0" bandRow="0">
                <a:tableStyleId>{5C22544A-7EE6-4342-B048-85BDC9FD1C3A}</a:tableStyleId>
              </a:tblPr>
              <a:tblGrid>
                <a:gridCol w="4173128"/>
                <a:gridCol w="6921286"/>
              </a:tblGrid>
              <a:tr h="640080">
                <a:tc>
                  <a:txBody>
                    <a:bodyPr/>
                    <a:lstStyle/>
                    <a:p>
                      <a:r>
                        <a:rPr sz="1900" i="0" b="1">
                          <a:solidFill>
                            <a:srgbClr val="FFFFFF"/>
                          </a:solidFill>
                          <a:latin typeface="Calibri"/>
                        </a:rPr>
                        <a:t>Mechanism</a:t>
                      </a:r>
                    </a:p>
                  </a:txBody>
                  <a:tcPr marL="109728" marR="109728" marT="45720" marB="45720" anchor="ctr">
                    <a:solidFill>
                      <a:srgbClr val="1B2A8C"/>
                    </a:solidFill>
                  </a:tcPr>
                </a:tc>
                <a:tc>
                  <a:txBody>
                    <a:bodyPr/>
                    <a:lstStyle/>
                    <a:p>
                      <a:r>
                        <a:rPr sz="1900" i="0" b="1">
                          <a:solidFill>
                            <a:srgbClr val="FFFFFF"/>
                          </a:solidFill>
                          <a:latin typeface="Calibri"/>
                        </a:rPr>
                        <a:t>Drugs</a:t>
                      </a:r>
                    </a:p>
                  </a:txBody>
                  <a:tcPr marL="109728" marR="109728" marT="45720" marB="45720" anchor="ctr">
                    <a:solidFill>
                      <a:srgbClr val="1B2A8C"/>
                    </a:solidFill>
                  </a:tcPr>
                </a:tc>
              </a:tr>
              <a:tr h="640080">
                <a:tc>
                  <a:txBody>
                    <a:bodyPr/>
                    <a:lstStyle/>
                    <a:p>
                      <a:r>
                        <a:rPr sz="2000" i="0" b="1">
                          <a:solidFill>
                            <a:srgbClr val="1A1F36"/>
                          </a:solidFill>
                          <a:latin typeface="Calibri"/>
                        </a:rPr>
                        <a:t>Enhance GABA-A receptors</a:t>
                      </a:r>
                    </a:p>
                  </a:txBody>
                  <a:tcPr marL="109728" marR="109728" marT="45720" marB="45720" anchor="ctr">
                    <a:solidFill>
                      <a:srgbClr val="FFFFFF"/>
                    </a:solidFill>
                  </a:tcPr>
                </a:tc>
                <a:tc>
                  <a:txBody>
                    <a:bodyPr/>
                    <a:lstStyle/>
                    <a:p>
                      <a:r>
                        <a:rPr sz="2000" i="0" b="0">
                          <a:solidFill>
                            <a:srgbClr val="1A1F36"/>
                          </a:solidFill>
                          <a:latin typeface="Calibri"/>
                        </a:rPr>
                        <a:t>Propofol, etomidate, thiopental, benzodiazepines, volatile agents</a:t>
                      </a:r>
                    </a:p>
                  </a:txBody>
                  <a:tcPr marL="109728" marR="109728" marT="45720" marB="45720" anchor="ctr">
                    <a:solidFill>
                      <a:srgbClr val="FFFFFF"/>
                    </a:solidFill>
                  </a:tcPr>
                </a:tc>
              </a:tr>
              <a:tr h="640080">
                <a:tc>
                  <a:txBody>
                    <a:bodyPr/>
                    <a:lstStyle/>
                    <a:p>
                      <a:r>
                        <a:rPr sz="2000" i="0" b="1">
                          <a:solidFill>
                            <a:srgbClr val="1A1F36"/>
                          </a:solidFill>
                          <a:latin typeface="Calibri"/>
                        </a:rPr>
                        <a:t>Block NMDA receptors</a:t>
                      </a:r>
                    </a:p>
                  </a:txBody>
                  <a:tcPr marL="109728" marR="109728" marT="45720" marB="45720" anchor="ctr">
                    <a:solidFill>
                      <a:srgbClr val="F1F2F8"/>
                    </a:solidFill>
                  </a:tcPr>
                </a:tc>
                <a:tc>
                  <a:txBody>
                    <a:bodyPr/>
                    <a:lstStyle/>
                    <a:p>
                      <a:r>
                        <a:rPr sz="2000" i="0" b="0">
                          <a:solidFill>
                            <a:srgbClr val="1A1F36"/>
                          </a:solidFill>
                          <a:latin typeface="Calibri"/>
                        </a:rPr>
                        <a:t>Ketamine, nitrous oxide, xenon</a:t>
                      </a:r>
                    </a:p>
                  </a:txBody>
                  <a:tcPr marL="109728" marR="109728" marT="45720" marB="45720" anchor="ctr">
                    <a:solidFill>
                      <a:srgbClr val="F1F2F8"/>
                    </a:solidFill>
                  </a:tcPr>
                </a:tc>
              </a:tr>
              <a:tr h="640080">
                <a:tc>
                  <a:txBody>
                    <a:bodyPr/>
                    <a:lstStyle/>
                    <a:p>
                      <a:r>
                        <a:rPr sz="2000" i="0" b="1">
                          <a:solidFill>
                            <a:srgbClr val="1A1F36"/>
                          </a:solidFill>
                          <a:latin typeface="Calibri"/>
                        </a:rPr>
                        <a:t>Open two-pore K+ (K2P) channels</a:t>
                      </a:r>
                    </a:p>
                  </a:txBody>
                  <a:tcPr marL="109728" marR="109728" marT="45720" marB="45720" anchor="ctr">
                    <a:solidFill>
                      <a:srgbClr val="FFFFFF"/>
                    </a:solidFill>
                  </a:tcPr>
                </a:tc>
                <a:tc>
                  <a:txBody>
                    <a:bodyPr/>
                    <a:lstStyle/>
                    <a:p>
                      <a:r>
                        <a:rPr sz="2000" i="0" b="0">
                          <a:solidFill>
                            <a:srgbClr val="1A1F36"/>
                          </a:solidFill>
                          <a:latin typeface="Calibri"/>
                        </a:rPr>
                        <a:t>Volatile agents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Speed: blood:gas solubility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1" cy="3840480"/>
        </p:xfrm>
        <a:graphic>
          <a:graphicData uri="http://schemas.openxmlformats.org/drawingml/2006/table">
            <a:tbl>
              <a:tblPr firstRow="0" bandRow="0">
                <a:tableStyleId>{5C22544A-7EE6-4342-B048-85BDC9FD1C3A}</a:tableStyleId>
              </a:tblPr>
              <a:tblGrid>
                <a:gridCol w="1734184"/>
                <a:gridCol w="1124433"/>
                <a:gridCol w="2173905"/>
                <a:gridCol w="1203324"/>
                <a:gridCol w="4858565"/>
              </a:tblGrid>
              <a:tr h="640080">
                <a:tc>
                  <a:txBody>
                    <a:bodyPr/>
                    <a:lstStyle/>
                    <a:p>
                      <a:r>
                        <a:rPr sz="1700" i="0" b="1">
                          <a:solidFill>
                            <a:srgbClr val="FFFFFF"/>
                          </a:solidFill>
                          <a:latin typeface="Calibri"/>
                        </a:rPr>
                        <a:t>Agent</a:t>
                      </a:r>
                    </a:p>
                  </a:txBody>
                  <a:tcPr marL="109728" marR="109728" marT="45720" marB="45720" anchor="ctr">
                    <a:solidFill>
                      <a:srgbClr val="1B2A8C"/>
                    </a:solidFill>
                  </a:tcPr>
                </a:tc>
                <a:tc>
                  <a:txBody>
                    <a:bodyPr/>
                    <a:lstStyle/>
                    <a:p>
                      <a:r>
                        <a:rPr sz="1700" i="0" b="1">
                          <a:solidFill>
                            <a:srgbClr val="FFFFFF"/>
                          </a:solidFill>
                          <a:latin typeface="Calibri"/>
                        </a:rPr>
                        <a:t>MAC (%)</a:t>
                      </a:r>
                    </a:p>
                  </a:txBody>
                  <a:tcPr marL="109728" marR="109728" marT="45720" marB="45720" anchor="ctr">
                    <a:solidFill>
                      <a:srgbClr val="1B2A8C"/>
                    </a:solidFill>
                  </a:tcPr>
                </a:tc>
                <a:tc>
                  <a:txBody>
                    <a:bodyPr/>
                    <a:lstStyle/>
                    <a:p>
                      <a:r>
                        <a:rPr sz="1700" i="0" b="1">
                          <a:solidFill>
                            <a:srgbClr val="FFFFFF"/>
                          </a:solidFill>
                          <a:latin typeface="Calibri"/>
                        </a:rPr>
                        <a:t>Blood:gas coefficient</a:t>
                      </a:r>
                    </a:p>
                  </a:txBody>
                  <a:tcPr marL="109728" marR="109728" marT="45720" marB="45720" anchor="ctr">
                    <a:solidFill>
                      <a:srgbClr val="1B2A8C"/>
                    </a:solidFill>
                  </a:tcPr>
                </a:tc>
                <a:tc>
                  <a:txBody>
                    <a:bodyPr/>
                    <a:lstStyle/>
                    <a:p>
                      <a:r>
                        <a:rPr sz="1700" i="0" b="1">
                          <a:solidFill>
                            <a:srgbClr val="FFFFFF"/>
                          </a:solidFill>
                          <a:latin typeface="Calibri"/>
                        </a:rPr>
                        <a:t>Speed</a:t>
                      </a:r>
                    </a:p>
                  </a:txBody>
                  <a:tcPr marL="109728" marR="109728" marT="45720" marB="45720" anchor="ctr">
                    <a:solidFill>
                      <a:srgbClr val="1B2A8C"/>
                    </a:solidFill>
                  </a:tcPr>
                </a:tc>
                <a:tc>
                  <a:txBody>
                    <a:bodyPr/>
                    <a:lstStyle/>
                    <a:p>
                      <a:r>
                        <a:rPr sz="1700" i="0" b="1">
                          <a:solidFill>
                            <a:srgbClr val="FFFFFF"/>
                          </a:solidFill>
                          <a:latin typeface="Calibri"/>
                        </a:rPr>
                        <a:t>Key points</a:t>
                      </a:r>
                    </a:p>
                  </a:txBody>
                  <a:tcPr marL="109728" marR="109728" marT="45720" marB="45720" anchor="ctr">
                    <a:solidFill>
                      <a:srgbClr val="1B2A8C"/>
                    </a:solidFill>
                  </a:tcPr>
                </a:tc>
              </a:tr>
              <a:tr h="640080">
                <a:tc>
                  <a:txBody>
                    <a:bodyPr/>
                    <a:lstStyle/>
                    <a:p>
                      <a:r>
                        <a:rPr sz="1800" i="0" b="1">
                          <a:solidFill>
                            <a:srgbClr val="1A1F36"/>
                          </a:solidFill>
                          <a:latin typeface="Calibri"/>
                        </a:rPr>
                        <a:t>Nitrous oxide</a:t>
                      </a:r>
                    </a:p>
                  </a:txBody>
                  <a:tcPr marL="109728" marR="109728" marT="45720" marB="45720" anchor="ctr">
                    <a:solidFill>
                      <a:srgbClr val="FFFFFF"/>
                    </a:solidFill>
                  </a:tcPr>
                </a:tc>
                <a:tc>
                  <a:txBody>
                    <a:bodyPr/>
                    <a:lstStyle/>
                    <a:p>
                      <a:r>
                        <a:rPr sz="1800" i="0" b="0">
                          <a:solidFill>
                            <a:srgbClr val="1A1F36"/>
                          </a:solidFill>
                          <a:latin typeface="Calibri"/>
                        </a:rPr>
                        <a:t>104</a:t>
                      </a:r>
                    </a:p>
                  </a:txBody>
                  <a:tcPr marL="109728" marR="109728" marT="45720" marB="45720" anchor="ctr">
                    <a:solidFill>
                      <a:srgbClr val="FFFFFF"/>
                    </a:solidFill>
                  </a:tcPr>
                </a:tc>
                <a:tc>
                  <a:txBody>
                    <a:bodyPr/>
                    <a:lstStyle/>
                    <a:p>
                      <a:r>
                        <a:rPr sz="1800" i="0" b="0">
                          <a:solidFill>
                            <a:srgbClr val="1A1F36"/>
                          </a:solidFill>
                          <a:latin typeface="Calibri"/>
                        </a:rPr>
                        <a:t>0.47</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Weak; cannot be used alone; good analgesia; expands air spaces; long use lowers B12</a:t>
                      </a:r>
                    </a:p>
                  </a:txBody>
                  <a:tcPr marL="109728" marR="109728" marT="45720" marB="45720" anchor="ctr">
                    <a:solidFill>
                      <a:srgbClr val="FFFFFF"/>
                    </a:solidFill>
                  </a:tcPr>
                </a:tc>
              </a:tr>
              <a:tr h="640080">
                <a:tc>
                  <a:txBody>
                    <a:bodyPr/>
                    <a:lstStyle/>
                    <a:p>
                      <a:r>
                        <a:rPr sz="1800" i="0" b="1">
                          <a:solidFill>
                            <a:srgbClr val="1A1F36"/>
                          </a:solidFill>
                          <a:latin typeface="Calibri"/>
                        </a:rPr>
                        <a:t>Desflurane</a:t>
                      </a:r>
                    </a:p>
                  </a:txBody>
                  <a:tcPr marL="109728" marR="109728" marT="45720" marB="45720" anchor="ctr">
                    <a:solidFill>
                      <a:srgbClr val="F1F2F8"/>
                    </a:solidFill>
                  </a:tcPr>
                </a:tc>
                <a:tc>
                  <a:txBody>
                    <a:bodyPr/>
                    <a:lstStyle/>
                    <a:p>
                      <a:r>
                        <a:rPr sz="1800" i="0" b="0">
                          <a:solidFill>
                            <a:srgbClr val="1A1F36"/>
                          </a:solidFill>
                          <a:latin typeface="Calibri"/>
                        </a:rPr>
                        <a:t>6</a:t>
                      </a:r>
                    </a:p>
                  </a:txBody>
                  <a:tcPr marL="109728" marR="109728" marT="45720" marB="45720" anchor="ctr">
                    <a:solidFill>
                      <a:srgbClr val="F1F2F8"/>
                    </a:solidFill>
                  </a:tcPr>
                </a:tc>
                <a:tc>
                  <a:txBody>
                    <a:bodyPr/>
                    <a:lstStyle/>
                    <a:p>
                      <a:r>
                        <a:rPr sz="1800" i="0" b="0">
                          <a:solidFill>
                            <a:srgbClr val="1A1F36"/>
                          </a:solidFill>
                          <a:latin typeface="Calibri"/>
                        </a:rPr>
                        <a:t>0.42</a:t>
                      </a:r>
                    </a:p>
                  </a:txBody>
                  <a:tcPr marL="109728" marR="109728" marT="45720" marB="45720" anchor="ctr">
                    <a:solidFill>
                      <a:srgbClr val="F1F2F8"/>
                    </a:solidFill>
                  </a:tcPr>
                </a:tc>
                <a:tc>
                  <a:txBody>
                    <a:bodyPr/>
                    <a:lstStyle/>
                    <a:p>
                      <a:r>
                        <a:rPr sz="1800" i="0" b="0">
                          <a:solidFill>
                            <a:srgbClr val="1A1F36"/>
                          </a:solidFill>
                          <a:latin typeface="Calibri"/>
                        </a:rPr>
                        <a:t>Fastest</a:t>
                      </a:r>
                    </a:p>
                  </a:txBody>
                  <a:tcPr marL="109728" marR="109728" marT="45720" marB="45720" anchor="ctr">
                    <a:solidFill>
                      <a:srgbClr val="F1F2F8"/>
                    </a:solidFill>
                  </a:tcPr>
                </a:tc>
                <a:tc>
                  <a:txBody>
                    <a:bodyPr/>
                    <a:lstStyle/>
                    <a:p>
                      <a:r>
                        <a:rPr sz="1800" i="0" b="0">
                          <a:solidFill>
                            <a:srgbClr val="1A1F36"/>
                          </a:solidFill>
                          <a:latin typeface="Calibri"/>
                        </a:rPr>
                        <a:t>Irritates the airway (cough, bronchospasm); not for induction</a:t>
                      </a:r>
                    </a:p>
                  </a:txBody>
                  <a:tcPr marL="109728" marR="109728" marT="45720" marB="45720" anchor="ctr">
                    <a:solidFill>
                      <a:srgbClr val="F1F2F8"/>
                    </a:solidFill>
                  </a:tcPr>
                </a:tc>
              </a:tr>
              <a:tr h="640080">
                <a:tc>
                  <a:txBody>
                    <a:bodyPr/>
                    <a:lstStyle/>
                    <a:p>
                      <a:r>
                        <a:rPr sz="1800" i="0" b="1">
                          <a:solidFill>
                            <a:srgbClr val="1A1F36"/>
                          </a:solidFill>
                          <a:latin typeface="Calibri"/>
                        </a:rPr>
                        <a:t>Sevoflurane</a:t>
                      </a:r>
                    </a:p>
                  </a:txBody>
                  <a:tcPr marL="109728" marR="109728" marT="45720" marB="45720" anchor="ctr">
                    <a:solidFill>
                      <a:srgbClr val="FFFFFF"/>
                    </a:solidFill>
                  </a:tcPr>
                </a:tc>
                <a:tc>
                  <a:txBody>
                    <a:bodyPr/>
                    <a:lstStyle/>
                    <a:p>
                      <a:r>
                        <a:rPr sz="1800" i="0" b="0">
                          <a:solidFill>
                            <a:srgbClr val="1A1F36"/>
                          </a:solidFill>
                          <a:latin typeface="Calibri"/>
                        </a:rPr>
                        <a:t>2</a:t>
                      </a:r>
                    </a:p>
                  </a:txBody>
                  <a:tcPr marL="109728" marR="109728" marT="45720" marB="45720" anchor="ctr">
                    <a:solidFill>
                      <a:srgbClr val="FFFFFF"/>
                    </a:solidFill>
                  </a:tcPr>
                </a:tc>
                <a:tc>
                  <a:txBody>
                    <a:bodyPr/>
                    <a:lstStyle/>
                    <a:p>
                      <a:r>
                        <a:rPr sz="1800" i="0" b="0">
                          <a:solidFill>
                            <a:srgbClr val="1A1F36"/>
                          </a:solidFill>
                          <a:latin typeface="Calibri"/>
                        </a:rPr>
                        <a:t>0.65</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Sweet smell; no airway irritation; best for inhaled induction in children</a:t>
                      </a:r>
                    </a:p>
                  </a:txBody>
                  <a:tcPr marL="109728" marR="109728" marT="45720" marB="45720" anchor="ctr">
                    <a:solidFill>
                      <a:srgbClr val="FFFFFF"/>
                    </a:solidFill>
                  </a:tcPr>
                </a:tc>
              </a:tr>
              <a:tr h="640080">
                <a:tc>
                  <a:txBody>
                    <a:bodyPr/>
                    <a:lstStyle/>
                    <a:p>
                      <a:r>
                        <a:rPr sz="1800" i="0" b="1">
                          <a:solidFill>
                            <a:srgbClr val="1A1F36"/>
                          </a:solidFill>
                          <a:latin typeface="Calibri"/>
                        </a:rPr>
                        <a:t>Isoflurane</a:t>
                      </a:r>
                    </a:p>
                  </a:txBody>
                  <a:tcPr marL="109728" marR="109728" marT="45720" marB="45720" anchor="ctr">
                    <a:solidFill>
                      <a:srgbClr val="F1F2F8"/>
                    </a:solidFill>
                  </a:tcPr>
                </a:tc>
                <a:tc>
                  <a:txBody>
                    <a:bodyPr/>
                    <a:lstStyle/>
                    <a:p>
                      <a:r>
                        <a:rPr sz="1800" i="0" b="0">
                          <a:solidFill>
                            <a:srgbClr val="1A1F36"/>
                          </a:solidFill>
                          <a:latin typeface="Calibri"/>
                        </a:rPr>
                        <a:t>1.2</a:t>
                      </a:r>
                    </a:p>
                  </a:txBody>
                  <a:tcPr marL="109728" marR="109728" marT="45720" marB="45720" anchor="ctr">
                    <a:solidFill>
                      <a:srgbClr val="F1F2F8"/>
                    </a:solidFill>
                  </a:tcPr>
                </a:tc>
                <a:tc>
                  <a:txBody>
                    <a:bodyPr/>
                    <a:lstStyle/>
                    <a:p>
                      <a:r>
                        <a:rPr sz="1800" i="0" b="0">
                          <a:solidFill>
                            <a:srgbClr val="1A1F36"/>
                          </a:solidFill>
                          <a:latin typeface="Calibri"/>
                        </a:rPr>
                        <a:t>1.4</a:t>
                      </a:r>
                    </a:p>
                  </a:txBody>
                  <a:tcPr marL="109728" marR="109728" marT="45720" marB="45720" anchor="ctr">
                    <a:solidFill>
                      <a:srgbClr val="F1F2F8"/>
                    </a:solidFill>
                  </a:tcPr>
                </a:tc>
                <a:tc>
                  <a:txBody>
                    <a:bodyPr/>
                    <a:lstStyle/>
                    <a:p>
                      <a:r>
                        <a:rPr sz="1800" i="0" b="0">
                          <a:solidFill>
                            <a:srgbClr val="1A1F36"/>
                          </a:solidFill>
                          <a:latin typeface="Calibri"/>
                        </a:rPr>
                        <a:t>Slower</a:t>
                      </a:r>
                    </a:p>
                  </a:txBody>
                  <a:tcPr marL="109728" marR="109728" marT="45720" marB="45720" anchor="ctr">
                    <a:solidFill>
                      <a:srgbClr val="F1F2F8"/>
                    </a:solidFill>
                  </a:tcPr>
                </a:tc>
                <a:tc>
                  <a:txBody>
                    <a:bodyPr/>
                    <a:lstStyle/>
                    <a:p>
                      <a:r>
                        <a:rPr sz="1800" i="0" b="0">
                          <a:solidFill>
                            <a:srgbClr val="1A1F36"/>
                          </a:solidFill>
                          <a:latin typeface="Calibri"/>
                        </a:rPr>
                        <a:t>Pungent; cheap maintenance agent</a:t>
                      </a:r>
                    </a:p>
                  </a:txBody>
                  <a:tcPr marL="109728" marR="109728" marT="45720" marB="45720" anchor="ctr">
                    <a:solidFill>
                      <a:srgbClr val="F1F2F8"/>
                    </a:solidFill>
                  </a:tcPr>
                </a:tc>
              </a:tr>
              <a:tr h="640080">
                <a:tc>
                  <a:txBody>
                    <a:bodyPr/>
                    <a:lstStyle/>
                    <a:p>
                      <a:r>
                        <a:rPr sz="1800" i="0" b="1">
                          <a:solidFill>
                            <a:srgbClr val="1A1F36"/>
                          </a:solidFill>
                          <a:latin typeface="Calibri"/>
                        </a:rPr>
                        <a:t>Halothane</a:t>
                      </a:r>
                    </a:p>
                  </a:txBody>
                  <a:tcPr marL="109728" marR="109728" marT="45720" marB="45720" anchor="ctr">
                    <a:solidFill>
                      <a:srgbClr val="FFFFFF"/>
                    </a:solidFill>
                  </a:tcPr>
                </a:tc>
                <a:tc>
                  <a:txBody>
                    <a:bodyPr/>
                    <a:lstStyle/>
                    <a:p>
                      <a:r>
                        <a:rPr sz="1800" i="0" b="0">
                          <a:solidFill>
                            <a:srgbClr val="1A1F36"/>
                          </a:solidFill>
                          <a:latin typeface="Calibri"/>
                        </a:rPr>
                        <a:t>0.75</a:t>
                      </a:r>
                    </a:p>
                  </a:txBody>
                  <a:tcPr marL="109728" marR="109728" marT="45720" marB="45720" anchor="ctr">
                    <a:solidFill>
                      <a:srgbClr val="FFFFFF"/>
                    </a:solidFill>
                  </a:tcPr>
                </a:tc>
                <a:tc>
                  <a:txBody>
                    <a:bodyPr/>
                    <a:lstStyle/>
                    <a:p>
                      <a:r>
                        <a:rPr sz="1800" i="0" b="0">
                          <a:solidFill>
                            <a:srgbClr val="1A1F36"/>
                          </a:solidFill>
                          <a:latin typeface="Calibri"/>
                        </a:rPr>
                        <a:t>2.3</a:t>
                      </a:r>
                    </a:p>
                  </a:txBody>
                  <a:tcPr marL="109728" marR="109728" marT="45720" marB="45720" anchor="ctr">
                    <a:solidFill>
                      <a:srgbClr val="FFFFFF"/>
                    </a:solidFill>
                  </a:tcPr>
                </a:tc>
                <a:tc>
                  <a:txBody>
                    <a:bodyPr/>
                    <a:lstStyle/>
                    <a:p>
                      <a:r>
                        <a:rPr sz="1800" i="0" b="0">
                          <a:solidFill>
                            <a:srgbClr val="1A1F36"/>
                          </a:solidFill>
                          <a:latin typeface="Calibri"/>
                        </a:rPr>
                        <a:t>Slowest</a:t>
                      </a:r>
                    </a:p>
                  </a:txBody>
                  <a:tcPr marL="109728" marR="109728" marT="45720" marB="45720" anchor="ctr">
                    <a:solidFill>
                      <a:srgbClr val="FFFFFF"/>
                    </a:solidFill>
                  </a:tcPr>
                </a:tc>
                <a:tc>
                  <a:txBody>
                    <a:bodyPr/>
                    <a:lstStyle/>
                    <a:p>
                      <a:r>
                        <a:rPr sz="1800" i="0" b="0">
                          <a:solidFill>
                            <a:srgbClr val="1A1F36"/>
                          </a:solidFill>
                          <a:latin typeface="Calibri"/>
                        </a:rPr>
                        <a:t>Arrhythmias with adrenaline; rare halothane hepatitis</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volatile agents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077849"/>
          </a:xfrm>
          <a:prstGeom prst="rect">
            <a:avLst/>
          </a:prstGeom>
          <a:noFill/>
        </p:spPr>
        <p:txBody>
          <a:bodyPr wrap="square" anchor="t" lIns="0" rIns="0" tIns="0" bIns="0">
            <a:spAutoFit/>
          </a:bodyPr>
          <a:lstStyle/>
          <a:p>
            <a:r>
              <a:rPr sz="2100" i="0" b="0">
                <a:solidFill>
                  <a:srgbClr val="1A1F36"/>
                </a:solidFill>
                <a:latin typeface="Calibri"/>
              </a:rPr>
              <a:t>Dose-related fall in blood pressure (heart depression and vasodilation) and in breathing.</a:t>
            </a:r>
          </a:p>
        </p:txBody>
      </p:sp>
      <p:sp>
        <p:nvSpPr>
          <p:cNvPr id="10" name="Oval 9"/>
          <p:cNvSpPr/>
          <p:nvPr/>
        </p:nvSpPr>
        <p:spPr>
          <a:xfrm>
            <a:off x="548640" y="269633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14625"/>
            <a:ext cx="10500055" cy="744474"/>
          </a:xfrm>
          <a:prstGeom prst="rect">
            <a:avLst/>
          </a:prstGeom>
          <a:noFill/>
        </p:spPr>
        <p:txBody>
          <a:bodyPr wrap="square" anchor="t" lIns="0" rIns="0" tIns="0" bIns="0">
            <a:spAutoFit/>
          </a:bodyPr>
          <a:lstStyle/>
          <a:p>
            <a:r>
              <a:rPr sz="2100" i="0" b="0">
                <a:solidFill>
                  <a:srgbClr val="1A1F36"/>
                </a:solidFill>
                <a:latin typeface="Calibri"/>
              </a:rPr>
              <a:t>Raised intracranial pressure from cerebral vasodilation.</a:t>
            </a:r>
          </a:p>
        </p:txBody>
      </p:sp>
      <p:sp>
        <p:nvSpPr>
          <p:cNvPr id="12" name="Oval 11"/>
          <p:cNvSpPr/>
          <p:nvPr/>
        </p:nvSpPr>
        <p:spPr>
          <a:xfrm>
            <a:off x="548640" y="348653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04819"/>
            <a:ext cx="10500055" cy="1077849"/>
          </a:xfrm>
          <a:prstGeom prst="rect">
            <a:avLst/>
          </a:prstGeom>
          <a:noFill/>
        </p:spPr>
        <p:txBody>
          <a:bodyPr wrap="square" anchor="t" lIns="0" rIns="0" tIns="0" bIns="0">
            <a:spAutoFit/>
          </a:bodyPr>
          <a:lstStyle/>
          <a:p>
            <a:r>
              <a:rPr sz="2100" i="0" b="0">
                <a:solidFill>
                  <a:srgbClr val="1A1F36"/>
                </a:solidFill>
                <a:latin typeface="Calibri"/>
              </a:rPr>
              <a:t>Uterine relaxation: helpful to remove a retained placenta, but it increases bleeding after delivery.</a:t>
            </a:r>
          </a:p>
        </p:txBody>
      </p:sp>
      <p:sp>
        <p:nvSpPr>
          <p:cNvPr id="14" name="Oval 13"/>
          <p:cNvSpPr/>
          <p:nvPr/>
        </p:nvSpPr>
        <p:spPr>
          <a:xfrm>
            <a:off x="548640" y="46100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628388"/>
            <a:ext cx="10500055" cy="744474"/>
          </a:xfrm>
          <a:prstGeom prst="rect">
            <a:avLst/>
          </a:prstGeom>
          <a:noFill/>
        </p:spPr>
        <p:txBody>
          <a:bodyPr wrap="square" anchor="t" lIns="0" rIns="0" tIns="0" bIns="0">
            <a:spAutoFit/>
          </a:bodyPr>
          <a:lstStyle/>
          <a:p>
            <a:r>
              <a:rPr sz="2100" i="0" b="0">
                <a:solidFill>
                  <a:srgbClr val="1A1F36"/>
                </a:solidFill>
                <a:latin typeface="Calibri"/>
              </a:rPr>
              <a:t>Postoperative nausea and vomiting.</a:t>
            </a:r>
          </a:p>
        </p:txBody>
      </p:sp>
      <p:sp>
        <p:nvSpPr>
          <p:cNvPr id="16" name="Oval 15"/>
          <p:cNvSpPr/>
          <p:nvPr/>
        </p:nvSpPr>
        <p:spPr>
          <a:xfrm>
            <a:off x="548640" y="54002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418582"/>
            <a:ext cx="10500055" cy="744474"/>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in susceptible patients (Section 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Inhaled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31288"/>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MAC measures </a:t>
            </a:r>
            <a:r>
              <a:rPr sz="2200" i="0" b="1">
                <a:solidFill>
                  <a:srgbClr val="1A1F36"/>
                </a:solidFill>
                <a:latin typeface="Calibri"/>
              </a:rPr>
              <a:t>potency</a:t>
            </a:r>
            <a:r>
              <a:rPr sz="2200" i="0" b="0">
                <a:solidFill>
                  <a:srgbClr val="1A1F36"/>
                </a:solidFill>
                <a:latin typeface="Calibri"/>
              </a:rPr>
              <a:t> (low MAC = potent). Blood:gas solubility measures </a:t>
            </a:r>
            <a:r>
              <a:rPr sz="2200" i="0" b="1">
                <a:solidFill>
                  <a:srgbClr val="1A1F36"/>
                </a:solidFill>
                <a:latin typeface="Calibri"/>
              </a:rPr>
              <a:t>speed</a:t>
            </a:r>
            <a:r>
              <a:rPr sz="2200" i="0" b="0">
                <a:solidFill>
                  <a:srgbClr val="1A1F36"/>
                </a:solidFill>
                <a:latin typeface="Calibri"/>
              </a:rPr>
              <a:t> (low solubility = fast). Halothane is the most potent but slowest; N₂O is the least potent.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Intravenous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252219"/>
                <a:gridCol w="3165000"/>
                <a:gridCol w="3492686"/>
                <a:gridCol w="3184508"/>
              </a:tblGrid>
              <a:tr h="640080">
                <a:tc>
                  <a:txBody>
                    <a:bodyPr/>
                    <a:lstStyle/>
                    <a:p>
                      <a:r>
                        <a:rPr sz="1200" i="0" b="1">
                          <a:solidFill>
                            <a:srgbClr val="FFFFFF"/>
                          </a:solidFill>
                          <a:latin typeface="Calibri"/>
                        </a:rPr>
                        <a:t>Drug</a:t>
                      </a:r>
                    </a:p>
                  </a:txBody>
                  <a:tcPr marL="109728" marR="109728" marT="45720" marB="45720" anchor="ctr">
                    <a:solidFill>
                      <a:srgbClr val="1B2A8C"/>
                    </a:solidFill>
                  </a:tcPr>
                </a:tc>
                <a:tc>
                  <a:txBody>
                    <a:bodyPr/>
                    <a:lstStyle/>
                    <a:p>
                      <a:r>
                        <a:rPr sz="1200" i="0" b="1">
                          <a:solidFill>
                            <a:srgbClr val="FFFFFF"/>
                          </a:solidFill>
                          <a:latin typeface="Calibri"/>
                        </a:rPr>
                        <a:t>Main features</a:t>
                      </a:r>
                    </a:p>
                  </a:txBody>
                  <a:tcPr marL="109728" marR="109728" marT="45720" marB="45720" anchor="ctr">
                    <a:solidFill>
                      <a:srgbClr val="1B2A8C"/>
                    </a:solidFill>
                  </a:tcPr>
                </a:tc>
                <a:tc>
                  <a:txBody>
                    <a:bodyPr/>
                    <a:lstStyle/>
                    <a:p>
                      <a:r>
                        <a:rPr sz="1200" i="0" b="1">
                          <a:solidFill>
                            <a:srgbClr val="FFFFFF"/>
                          </a:solidFill>
                          <a:latin typeface="Calibri"/>
                        </a:rPr>
                        <a:t>Adverse effects</a:t>
                      </a:r>
                    </a:p>
                  </a:txBody>
                  <a:tcPr marL="109728" marR="109728" marT="45720" marB="45720" anchor="ctr">
                    <a:solidFill>
                      <a:srgbClr val="1B2A8C"/>
                    </a:solidFill>
                  </a:tcPr>
                </a:tc>
                <a:tc>
                  <a:txBody>
                    <a:bodyPr/>
                    <a:lstStyle/>
                    <a:p>
                      <a:r>
                        <a:rPr sz="1200" i="0" b="1">
                          <a:solidFill>
                            <a:srgbClr val="FFFFFF"/>
                          </a:solidFill>
                          <a:latin typeface="Calibri"/>
                        </a:rPr>
                        <a:t>Best use</a:t>
                      </a:r>
                    </a:p>
                  </a:txBody>
                  <a:tcPr marL="109728" marR="109728" marT="45720" marB="45720" anchor="ctr">
                    <a:solidFill>
                      <a:srgbClr val="1B2A8C"/>
                    </a:solidFill>
                  </a:tcPr>
                </a:tc>
              </a:tr>
              <a:tr h="640080">
                <a:tc>
                  <a:txBody>
                    <a:bodyPr/>
                    <a:lstStyle/>
                    <a:p>
                      <a:r>
                        <a:rPr sz="1300" i="0" b="1">
                          <a:solidFill>
                            <a:srgbClr val="1A1F36"/>
                          </a:solidFill>
                          <a:latin typeface="Calibri"/>
                        </a:rPr>
                        <a:t>Propofol</a:t>
                      </a:r>
                    </a:p>
                  </a:txBody>
                  <a:tcPr marL="109728" marR="109728" marT="45720" marB="45720" anchor="ctr">
                    <a:solidFill>
                      <a:srgbClr val="FFFFFF"/>
                    </a:solidFill>
                  </a:tcPr>
                </a:tc>
                <a:tc>
                  <a:txBody>
                    <a:bodyPr/>
                    <a:lstStyle/>
                    <a:p>
                      <a:r>
                        <a:rPr sz="1300" i="0" b="0">
                          <a:solidFill>
                            <a:srgbClr val="1A1F36"/>
                          </a:solidFill>
                          <a:latin typeface="Calibri"/>
                        </a:rPr>
                        <a:t>Fast, clear-headed recovery; antiemetic</a:t>
                      </a:r>
                    </a:p>
                  </a:txBody>
                  <a:tcPr marL="109728" marR="109728" marT="45720" marB="45720" anchor="ctr">
                    <a:solidFill>
                      <a:srgbClr val="FFFFFF"/>
                    </a:solidFill>
                  </a:tcPr>
                </a:tc>
                <a:tc>
                  <a:txBody>
                    <a:bodyPr/>
                    <a:lstStyle/>
                    <a:p>
                      <a:r>
                        <a:rPr sz="1300" i="0" b="0">
                          <a:solidFill>
                            <a:srgbClr val="1A1F36"/>
                          </a:solidFill>
                          <a:latin typeface="Calibri"/>
                        </a:rPr>
                        <a:t>Pain on injection; hypotension; breathing depression; propofol infusion syndrome (acidosis, rhabdomyolysis, hyperkalaemia, heart failure) with long high-dose infusions</a:t>
                      </a:r>
                    </a:p>
                  </a:txBody>
                  <a:tcPr marL="109728" marR="109728" marT="45720" marB="45720" anchor="ctr">
                    <a:solidFill>
                      <a:srgbClr val="FFFFFF"/>
                    </a:solidFill>
                  </a:tcPr>
                </a:tc>
                <a:tc>
                  <a:txBody>
                    <a:bodyPr/>
                    <a:lstStyle/>
                    <a:p>
                      <a:r>
                        <a:rPr sz="1300" i="0" b="0">
                          <a:solidFill>
                            <a:srgbClr val="1A1F36"/>
                          </a:solidFill>
                          <a:latin typeface="Calibri"/>
                        </a:rPr>
                        <a:t>Most inductions; maintenance by infusion; ICU sedation</a:t>
                      </a:r>
                    </a:p>
                  </a:txBody>
                  <a:tcPr marL="109728" marR="109728" marT="45720" marB="45720" anchor="ctr">
                    <a:solidFill>
                      <a:srgbClr val="FFFFFF"/>
                    </a:solidFill>
                  </a:tcPr>
                </a:tc>
              </a:tr>
              <a:tr h="640080">
                <a:tc>
                  <a:txBody>
                    <a:bodyPr/>
                    <a:lstStyle/>
                    <a:p>
                      <a:r>
                        <a:rPr sz="1300" i="0" b="1">
                          <a:solidFill>
                            <a:srgbClr val="1A1F36"/>
                          </a:solidFill>
                          <a:latin typeface="Calibri"/>
                        </a:rPr>
                        <a:t>Thiopental</a:t>
                      </a:r>
                    </a:p>
                  </a:txBody>
                  <a:tcPr marL="109728" marR="109728" marT="45720" marB="45720" anchor="ctr">
                    <a:solidFill>
                      <a:srgbClr val="F1F2F8"/>
                    </a:solidFill>
                  </a:tcPr>
                </a:tc>
                <a:tc>
                  <a:txBody>
                    <a:bodyPr/>
                    <a:lstStyle/>
                    <a:p>
                      <a:r>
                        <a:rPr sz="1300" i="0" b="0">
                          <a:solidFill>
                            <a:srgbClr val="1A1F36"/>
                          </a:solidFill>
                          <a:latin typeface="Calibri"/>
                        </a:rPr>
                        <a:t>Barbiturate; acts in about 20 s, lasts 5–15 min</a:t>
                      </a:r>
                    </a:p>
                  </a:txBody>
                  <a:tcPr marL="109728" marR="109728" marT="45720" marB="45720" anchor="ctr">
                    <a:solidFill>
                      <a:srgbClr val="F1F2F8"/>
                    </a:solidFill>
                  </a:tcPr>
                </a:tc>
                <a:tc>
                  <a:txBody>
                    <a:bodyPr/>
                    <a:lstStyle/>
                    <a:p>
                      <a:r>
                        <a:rPr sz="1300" i="0" b="0">
                          <a:solidFill>
                            <a:srgbClr val="1A1F36"/>
                          </a:solidFill>
                          <a:latin typeface="Calibri"/>
                        </a:rPr>
                        <a:t>Hypotension; tissue necrosis if injected outside the vein; enzyme induction; porphyria</a:t>
                      </a:r>
                    </a:p>
                  </a:txBody>
                  <a:tcPr marL="109728" marR="109728" marT="45720" marB="45720" anchor="ctr">
                    <a:solidFill>
                      <a:srgbClr val="F1F2F8"/>
                    </a:solidFill>
                  </a:tcPr>
                </a:tc>
                <a:tc>
                  <a:txBody>
                    <a:bodyPr/>
                    <a:lstStyle/>
                    <a:p>
                      <a:r>
                        <a:rPr sz="1300" i="0" b="0">
                          <a:solidFill>
                            <a:srgbClr val="1A1F36"/>
                          </a:solidFill>
                          <a:latin typeface="Calibri"/>
                        </a:rPr>
                        <a:t>Rarely now; raised intracranial pressure</a:t>
                      </a:r>
                    </a:p>
                  </a:txBody>
                  <a:tcPr marL="109728" marR="109728" marT="45720" marB="45720" anchor="ctr">
                    <a:solidFill>
                      <a:srgbClr val="F1F2F8"/>
                    </a:solidFill>
                  </a:tcPr>
                </a:tc>
              </a:tr>
              <a:tr h="640080">
                <a:tc>
                  <a:txBody>
                    <a:bodyPr/>
                    <a:lstStyle/>
                    <a:p>
                      <a:r>
                        <a:rPr sz="1300" i="0" b="1">
                          <a:solidFill>
                            <a:srgbClr val="1A1F36"/>
                          </a:solidFill>
                          <a:latin typeface="Calibri"/>
                        </a:rPr>
                        <a:t>Etomidate</a:t>
                      </a:r>
                    </a:p>
                  </a:txBody>
                  <a:tcPr marL="109728" marR="109728" marT="45720" marB="45720" anchor="ctr">
                    <a:solidFill>
                      <a:srgbClr val="FFFFFF"/>
                    </a:solidFill>
                  </a:tcPr>
                </a:tc>
                <a:tc>
                  <a:txBody>
                    <a:bodyPr/>
                    <a:lstStyle/>
                    <a:p>
                      <a:r>
                        <a:rPr sz="1300" i="0" b="0">
                          <a:solidFill>
                            <a:srgbClr val="1A1F36"/>
                          </a:solidFill>
                          <a:latin typeface="Calibri"/>
                        </a:rPr>
                        <a:t>Keeps blood pressure stable</a:t>
                      </a:r>
                    </a:p>
                  </a:txBody>
                  <a:tcPr marL="109728" marR="109728" marT="45720" marB="45720" anchor="ctr">
                    <a:solidFill>
                      <a:srgbClr val="FFFFFF"/>
                    </a:solidFill>
                  </a:tcPr>
                </a:tc>
                <a:tc>
                  <a:txBody>
                    <a:bodyPr/>
                    <a:lstStyle/>
                    <a:p>
                      <a:r>
                        <a:rPr sz="1300" i="0" b="0">
                          <a:solidFill>
                            <a:srgbClr val="1A1F36"/>
                          </a:solidFill>
                          <a:latin typeface="Calibri"/>
                        </a:rPr>
                        <a:t>Adrenal suppression (blocks 11β-hydroxylase); myoclonus; nausea</a:t>
                      </a:r>
                    </a:p>
                  </a:txBody>
                  <a:tcPr marL="109728" marR="109728" marT="45720" marB="45720" anchor="ctr">
                    <a:solidFill>
                      <a:srgbClr val="FFFFFF"/>
                    </a:solidFill>
                  </a:tcPr>
                </a:tc>
                <a:tc>
                  <a:txBody>
                    <a:bodyPr/>
                    <a:lstStyle/>
                    <a:p>
                      <a:r>
                        <a:rPr sz="1300" i="0" b="0">
                          <a:solidFill>
                            <a:srgbClr val="1A1F36"/>
                          </a:solidFill>
                          <a:latin typeface="Calibri"/>
                        </a:rPr>
                        <a:t>Unstable heart patients</a:t>
                      </a:r>
                    </a:p>
                  </a:txBody>
                  <a:tcPr marL="109728" marR="109728" marT="45720" marB="45720" anchor="ctr">
                    <a:solidFill>
                      <a:srgbClr val="FFFFFF"/>
                    </a:solidFill>
                  </a:tcPr>
                </a:tc>
              </a:tr>
              <a:tr h="640080">
                <a:tc>
                  <a:txBody>
                    <a:bodyPr/>
                    <a:lstStyle/>
                    <a:p>
                      <a:r>
                        <a:rPr sz="1300" i="0" b="1">
                          <a:solidFill>
                            <a:srgbClr val="1A1F36"/>
                          </a:solidFill>
                          <a:latin typeface="Calibri"/>
                        </a:rPr>
                        <a:t>Ketamine</a:t>
                      </a:r>
                    </a:p>
                  </a:txBody>
                  <a:tcPr marL="109728" marR="109728" marT="45720" marB="45720" anchor="ctr">
                    <a:solidFill>
                      <a:srgbClr val="F1F2F8"/>
                    </a:solidFill>
                  </a:tcPr>
                </a:tc>
                <a:tc>
                  <a:txBody>
                    <a:bodyPr/>
                    <a:lstStyle/>
                    <a:p>
                      <a:r>
                        <a:rPr sz="1300" i="0" b="0">
                          <a:solidFill>
                            <a:srgbClr val="1A1F36"/>
                          </a:solidFill>
                          <a:latin typeface="Calibri"/>
                        </a:rPr>
                        <a:t>NMDA antagonist; "dissociative" state; strong analgesia</a:t>
                      </a:r>
                    </a:p>
                  </a:txBody>
                  <a:tcPr marL="109728" marR="109728" marT="45720" marB="45720" anchor="ctr">
                    <a:solidFill>
                      <a:srgbClr val="F1F2F8"/>
                    </a:solidFill>
                  </a:tcPr>
                </a:tc>
                <a:tc>
                  <a:txBody>
                    <a:bodyPr/>
                    <a:lstStyle/>
                    <a:p>
                      <a:r>
                        <a:rPr sz="1300" i="0" b="0">
                          <a:solidFill>
                            <a:srgbClr val="1A1F36"/>
                          </a:solidFill>
                          <a:latin typeface="Calibri"/>
                        </a:rPr>
                        <a:t>Raises BP and heart rate; hallucinations and vivid dreams on waking; more secretions; raised intracranial pressure</a:t>
                      </a:r>
                    </a:p>
                  </a:txBody>
                  <a:tcPr marL="109728" marR="109728" marT="45720" marB="45720" anchor="ctr">
                    <a:solidFill>
                      <a:srgbClr val="F1F2F8"/>
                    </a:solidFill>
                  </a:tcPr>
                </a:tc>
                <a:tc>
                  <a:txBody>
                    <a:bodyPr/>
                    <a:lstStyle/>
                    <a:p>
                      <a:r>
                        <a:rPr sz="1300" i="0" b="0">
                          <a:solidFill>
                            <a:srgbClr val="1A1F36"/>
                          </a:solidFill>
                          <a:latin typeface="Calibri"/>
                        </a:rPr>
                        <a:t>Shock, trauma, asthma, children; painful procedures</a:t>
                      </a:r>
                    </a:p>
                  </a:txBody>
                  <a:tcPr marL="109728" marR="109728" marT="45720" marB="45720" anchor="ctr">
                    <a:solidFill>
                      <a:srgbClr val="F1F2F8"/>
                    </a:solidFill>
                  </a:tcPr>
                </a:tc>
              </a:tr>
              <a:tr h="640080">
                <a:tc>
                  <a:txBody>
                    <a:bodyPr/>
                    <a:lstStyle/>
                    <a:p>
                      <a:r>
                        <a:rPr sz="1300" i="0" b="1">
                          <a:solidFill>
                            <a:srgbClr val="1A1F36"/>
                          </a:solidFill>
                          <a:latin typeface="Calibri"/>
                        </a:rPr>
                        <a:t>Midazolam</a:t>
                      </a:r>
                    </a:p>
                  </a:txBody>
                  <a:tcPr marL="109728" marR="109728" marT="45720" marB="45720" anchor="ctr">
                    <a:solidFill>
                      <a:srgbClr val="FFFFFF"/>
                    </a:solidFill>
                  </a:tcPr>
                </a:tc>
                <a:tc>
                  <a:txBody>
                    <a:bodyPr/>
                    <a:lstStyle/>
                    <a:p>
                      <a:r>
                        <a:rPr sz="1300" i="0" b="0">
                          <a:solidFill>
                            <a:srgbClr val="1A1F36"/>
                          </a:solidFill>
                          <a:latin typeface="Calibri"/>
                        </a:rPr>
                        <a:t>Benzodiazepine; sedation and amnesia; reversed by flumazenil</a:t>
                      </a:r>
                    </a:p>
                  </a:txBody>
                  <a:tcPr marL="109728" marR="109728" marT="45720" marB="45720" anchor="ctr">
                    <a:solidFill>
                      <a:srgbClr val="FFFFFF"/>
                    </a:solidFill>
                  </a:tcPr>
                </a:tc>
                <a:tc>
                  <a:txBody>
                    <a:bodyPr/>
                    <a:lstStyle/>
                    <a:p>
                      <a:r>
                        <a:rPr sz="1300" i="0" b="0">
                          <a:solidFill>
                            <a:srgbClr val="1A1F36"/>
                          </a:solidFill>
                          <a:latin typeface="Calibri"/>
                        </a:rPr>
                        <a:t>Breathing depression, especially with opioids</a:t>
                      </a:r>
                    </a:p>
                  </a:txBody>
                  <a:tcPr marL="109728" marR="109728" marT="45720" marB="45720" anchor="ctr">
                    <a:solidFill>
                      <a:srgbClr val="FFFFFF"/>
                    </a:solidFill>
                  </a:tcPr>
                </a:tc>
                <a:tc>
                  <a:txBody>
                    <a:bodyPr/>
                    <a:lstStyle/>
                    <a:p>
                      <a:r>
                        <a:rPr sz="1300" i="0" b="0">
                          <a:solidFill>
                            <a:srgbClr val="1A1F36"/>
                          </a:solidFill>
                          <a:latin typeface="Calibri"/>
                        </a:rPr>
                        <a:t>Premedication; procedural sedation</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Choose the IV agent for the patient. In a patient in </a:t>
            </a:r>
            <a:r>
              <a:rPr sz="2200" i="0" b="1">
                <a:solidFill>
                  <a:srgbClr val="1A1F36"/>
                </a:solidFill>
                <a:latin typeface="Calibri"/>
              </a:rPr>
              <a:t>shock</a:t>
            </a:r>
            <a:r>
              <a:rPr sz="2200" i="0" b="0">
                <a:solidFill>
                  <a:srgbClr val="1A1F36"/>
                </a:solidFill>
                <a:latin typeface="Calibri"/>
              </a:rPr>
              <a:t> or with </a:t>
            </a:r>
            <a:r>
              <a:rPr sz="2200" i="0" b="1">
                <a:solidFill>
                  <a:srgbClr val="1A1F36"/>
                </a:solidFill>
                <a:latin typeface="Calibri"/>
              </a:rPr>
              <a:t>asthma</a:t>
            </a:r>
            <a:r>
              <a:rPr sz="2200" i="0" b="0">
                <a:solidFill>
                  <a:srgbClr val="1A1F36"/>
                </a:solidFill>
                <a:latin typeface="Calibri"/>
              </a:rPr>
              <a:t>, ketamine keeps blood pressure and opens the airways. In a patient with </a:t>
            </a:r>
            <a:r>
              <a:rPr sz="2200" i="0" b="1">
                <a:solidFill>
                  <a:srgbClr val="1A1F36"/>
                </a:solidFill>
                <a:latin typeface="Calibri"/>
              </a:rPr>
              <a:t>heart disease</a:t>
            </a:r>
            <a:r>
              <a:rPr sz="2200" i="0" b="0">
                <a:solidFill>
                  <a:srgbClr val="1A1F36"/>
                </a:solidFill>
                <a:latin typeface="Calibri"/>
              </a:rPr>
              <a:t> who needs stable blood pressure, etomidate is useful. For most healthy patients, propofol gives the smoothest recovery. Midazolam alone gives sedation without analgesia, so it suits endoscopy but not painful procedures.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General Anaesthetics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of the muscle ryanodine receptor (RyR1). Volatile agents </a:t>
            </a:r>
            <a:r>
              <a:rPr sz="2100" i="0" b="1">
                <a:solidFill>
                  <a:srgbClr val="1A1F36"/>
                </a:solidFill>
                <a:latin typeface="Calibri"/>
              </a:rPr>
              <a:t>or</a:t>
            </a:r>
            <a:r>
              <a:rPr sz="2100" i="0" b="0">
                <a:solidFill>
                  <a:srgbClr val="1A1F36"/>
                </a:solidFill>
                <a:latin typeface="Calibri"/>
              </a:rPr>
              <a:t> succinylcholine can trigger it; </a:t>
            </a:r>
            <a:r>
              <a:rPr sz="2100" i="0" b="1">
                <a:solidFill>
                  <a:srgbClr val="1A1F36"/>
                </a:solidFill>
                <a:latin typeface="Calibri"/>
              </a:rPr>
              <a:t>either one alone</a:t>
            </a:r>
            <a:r>
              <a:rPr sz="2100" i="0" b="0">
                <a:solidFill>
                  <a:srgbClr val="1A1F36"/>
                </a:solidFill>
                <a:latin typeface="Calibri"/>
              </a:rPr>
              <a:t> is enough. It is not triggered by N₂O, propofol, ketamine or local anaesthetics.</a:t>
            </a:r>
          </a:p>
        </p:txBody>
      </p:sp>
      <p:sp>
        <p:nvSpPr>
          <p:cNvPr id="10" name="Oval 9"/>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1A1F36"/>
                </a:solidFill>
                <a:latin typeface="Calibri"/>
              </a:rPr>
              <a:t>Features: rising end-tidal CO₂, tachycardia, muscle rigidity, fever, acidosis and hyperkalaemia. Treatment is </a:t>
            </a:r>
            <a:r>
              <a:rPr sz="2100" i="0" b="1">
                <a:solidFill>
                  <a:srgbClr val="1A1F36"/>
                </a:solidFill>
                <a:latin typeface="Calibri"/>
              </a:rPr>
              <a:t>IV dantrolene</a:t>
            </a:r>
            <a:r>
              <a:rPr sz="2100" i="0" b="0">
                <a:solidFill>
                  <a:srgbClr val="1A1F36"/>
                </a:solidFill>
                <a:latin typeface="Calibri"/>
              </a:rPr>
              <a:t>, 100% oxygen, cooling and support (Chapter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3128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Always ask about personal or family history of problems with anaesthesia. For a susceptible patient, use a trigger-free technique: propofol infusion, opioids and a non-depolarising blocker, with a vapour-free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Propofol</a:t>
                      </a:r>
                    </a:p>
                  </a:txBody>
                  <a:tcPr marL="109728" marR="109728" marT="45720" marB="45720" anchor="ctr">
                    <a:solidFill>
                      <a:srgbClr val="FFFFFF"/>
                    </a:solidFill>
                  </a:tcPr>
                </a:tc>
                <a:tc>
                  <a:txBody>
                    <a:bodyPr/>
                    <a:lstStyle/>
                    <a:p>
                      <a:r>
                        <a:rPr sz="2000" i="0" b="0">
                          <a:solidFill>
                            <a:srgbClr val="1A1F36"/>
                          </a:solidFill>
                          <a:latin typeface="Calibri"/>
                        </a:rPr>
                        <a:t>Diprivan</a:t>
                      </a:r>
                    </a:p>
                  </a:txBody>
                  <a:tcPr marL="109728" marR="109728" marT="45720" marB="45720" anchor="ctr">
                    <a:solidFill>
                      <a:srgbClr val="FFFFFF"/>
                    </a:solidFill>
                  </a:tcPr>
                </a:tc>
                <a:tc>
                  <a:txBody>
                    <a:bodyPr/>
                    <a:lstStyle/>
                    <a:p>
                      <a:r>
                        <a:rPr sz="2000" i="0" b="0">
                          <a:solidFill>
                            <a:srgbClr val="1A1F36"/>
                          </a:solidFill>
                          <a:latin typeface="Calibri"/>
                        </a:rPr>
                        <a:t>1% emulsion for injection</a:t>
                      </a:r>
                    </a:p>
                  </a:txBody>
                  <a:tcPr marL="109728" marR="109728" marT="45720" marB="45720" anchor="ctr">
                    <a:solidFill>
                      <a:srgbClr val="FFFFFF"/>
                    </a:solidFill>
                  </a:tcPr>
                </a:tc>
              </a:tr>
              <a:tr h="640080">
                <a:tc>
                  <a:txBody>
                    <a:bodyPr/>
                    <a:lstStyle/>
                    <a:p>
                      <a:r>
                        <a:rPr sz="2000" i="0" b="1">
                          <a:solidFill>
                            <a:srgbClr val="1A1F36"/>
                          </a:solidFill>
                          <a:latin typeface="Calibri"/>
                        </a:rPr>
                        <a:t>Ketamine</a:t>
                      </a:r>
                    </a:p>
                  </a:txBody>
                  <a:tcPr marL="109728" marR="109728" marT="45720" marB="45720" anchor="ctr">
                    <a:solidFill>
                      <a:srgbClr val="F1F2F8"/>
                    </a:solidFill>
                  </a:tcPr>
                </a:tc>
                <a:tc>
                  <a:txBody>
                    <a:bodyPr/>
                    <a:lstStyle/>
                    <a:p>
                      <a:r>
                        <a:rPr sz="2000" i="0" b="0">
                          <a:solidFill>
                            <a:srgbClr val="1A1F36"/>
                          </a:solidFill>
                          <a:latin typeface="Calibri"/>
                        </a:rPr>
                        <a:t>Ketalar</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640080">
                <a:tc>
                  <a:txBody>
                    <a:bodyPr/>
                    <a:lstStyle/>
                    <a:p>
                      <a:r>
                        <a:rPr sz="2000" i="0" b="1">
                          <a:solidFill>
                            <a:srgbClr val="1A1F36"/>
                          </a:solidFill>
                          <a:latin typeface="Calibri"/>
                        </a:rPr>
                        <a:t>Midazolam</a:t>
                      </a:r>
                    </a:p>
                  </a:txBody>
                  <a:tcPr marL="109728" marR="109728" marT="45720" marB="45720" anchor="ctr">
                    <a:solidFill>
                      <a:srgbClr val="FFFFFF"/>
                    </a:solidFill>
                  </a:tcPr>
                </a:tc>
                <a:tc>
                  <a:txBody>
                    <a:bodyPr/>
                    <a:lstStyle/>
                    <a:p>
                      <a:r>
                        <a:rPr sz="2000" i="0" b="0">
                          <a:solidFill>
                            <a:srgbClr val="1A1F36"/>
                          </a:solidFill>
                          <a:latin typeface="Calibri"/>
                        </a:rPr>
                        <a:t>Dormicum</a:t>
                      </a:r>
                    </a:p>
                  </a:txBody>
                  <a:tcPr marL="109728" marR="109728" marT="45720" marB="45720" anchor="ctr">
                    <a:solidFill>
                      <a:srgbClr val="FFFFFF"/>
                    </a:solidFill>
                  </a:tcPr>
                </a:tc>
                <a:tc>
                  <a:txBody>
                    <a:bodyPr/>
                    <a:lstStyle/>
                    <a:p>
                      <a:r>
                        <a:rPr sz="2000" i="0" b="0">
                          <a:solidFill>
                            <a:srgbClr val="1A1F36"/>
                          </a:solidFill>
                          <a:latin typeface="Calibri"/>
                        </a:rPr>
                        <a:t>Injection, tablets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 we use four or five drugs for one anaesthetic instead of one strong drug?</a:t>
            </a:r>
          </a:p>
        </p:txBody>
      </p:sp>
      <p:sp>
        <p:nvSpPr>
          <p:cNvPr id="10" name="Oval 9"/>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Sevoflurane and desflurane are both fast. Why is sevoflurane used for inhaled induction in children?</a:t>
            </a:r>
          </a:p>
        </p:txBody>
      </p:sp>
      <p:sp>
        <p:nvSpPr>
          <p:cNvPr id="12" name="Oval 11"/>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does a single dose of propofol wear off in minutes, while a 12-hour infusion wears off more slowly?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One drug gives all goals at safe doses.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avoids the need for an airway.</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removes the need for monitoring.</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Several drugs at lower doses give all goals with fewer adverse effects.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One drug gives all goals at safe doses.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avoids the need for an airway.</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removes the need for monitoring.</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Several drugs at lower doses give all goals with fewer adverse effects.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Balanced anaesthesia uses several drugs, each at a lower dose. A is wrong; one drug would be toxic at the needed dose. B and C are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Etomidate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Ketamine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Etomidate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Ketamine blocks NMDA receptors. A, C and D enhance GABA-A.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Halothane (MAC 0.75%)</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Sevoflurane (MAC 2%)</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Desflurane (MAC 6%)</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Nitrous oxide (MAC 104%)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Halothane (MAC 0.75%)</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Sevoflurane (MAC 2%)</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Desflurane (MAC 6%)</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Nitrous oxide (MAC 104%)</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Halothane has the lowest MAC. B, C and D have higher MAC values.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MAC.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more lipid-soluble.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blood:gas partition coefficient.</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is metabolised faster.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has a lower MAC.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more lipid-soluble.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has a lower blood:gas partition coefficient.</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is metabolised faster.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Low blood solubility means fast rise in brain level. A relates to potency; desflurane's MAC is higher. B and D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27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Redistribution from the brain to muscle and fat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Rapid renal excretion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Breakdown by plasma cholinesterase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Reversal by flumazenil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27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Redistribution from the brain to muscle and fat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Rapid renal excretion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Breakdown by plasma cholinesterase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Reversal by flumazenil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Redistribution ends the effect of a single dose. B and C are wrong. D is for benzodiazepines.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Anaesthesia aims for unconsciousness, amnesia, analgesia, muscle relaxation and loss of reflexes; balanced anaesthesia uses several drugs to achieve them.</a:t>
            </a:r>
          </a:p>
        </p:txBody>
      </p:sp>
      <p:sp>
        <p:nvSpPr>
          <p:cNvPr id="6" name="Oval 5"/>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Most anaesthetics enhance GABA-A; ketamine and N₂O block NMDA.</a:t>
            </a:r>
          </a:p>
        </p:txBody>
      </p:sp>
      <p:sp>
        <p:nvSpPr>
          <p:cNvPr id="8" name="Oval 7"/>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Low MAC means high potency; low blood:gas solubility means fast induction and recovery.</a:t>
            </a:r>
          </a:p>
        </p:txBody>
      </p:sp>
      <p:sp>
        <p:nvSpPr>
          <p:cNvPr id="10" name="Oval 9"/>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Propofol is the usual induction agent; ketamine suits shock, asthma and painful procedures; etomidate keeps blood pressure stable.</a:t>
            </a:r>
          </a:p>
        </p:txBody>
      </p:sp>
      <p:sp>
        <p:nvSpPr>
          <p:cNvPr id="12" name="Oval 11"/>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Volatile agents or succinylcholine, each alone, can trigger malignant hyperthermia; treat with dantrolene.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