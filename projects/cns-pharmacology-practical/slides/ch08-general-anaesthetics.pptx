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GABA-A receptors are Cl- channels that inhibit neurons (Chapter 7). NMDA receptors are glutamate-gated channels that excite them. Lipid-soluble drugs enter well-perfused organs such as the brain, heart and liver first, then move to muscle and fat. This redistribution ends the action of a single IV dose before the drug is metabolised.</a:t>
            </a:r>
          </a:p>
          <a:p/>
          <a:p>
            <a:r>
              <a:t>About 60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Goals and Balanced Anaesthesia.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anaesthesia is a reversible, drug-induced loss of consciousness. It has five goals: No single drug can give all five safely; the dose needed would depress the heart and breathing. So anaesthetists use balanced anaesthesia: several drugs, each at a lower dose, each for one or two goals.</a:t>
            </a:r>
          </a:p>
          <a:p/>
          <a:p>
            <a:r>
              <a:t>About 60 s.  Next: Goals and Balanced Anaesthesia.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anaesthesia is a reversible, drug-induced loss of consciousness. It has five goals: No single drug can give all five safely; the dose needed would depress the heart and breathing. So anaesthetists use balanced anaesthesia: several drugs, each at a lower dose, each for one or two goals.</a:t>
            </a:r>
          </a:p>
          <a:p/>
          <a:p>
            <a:r>
              <a:t>About 60 s.  Next: Stages of care.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anaesthesia is a reversible, drug-induced loss of consciousness. It has five goals: No single drug can give all five safely; the dose needed would depress the heart and breathing. So anaesthetists use balanced anaesthesia: several drugs, each at a lower dose, each for one or two goals.</a:t>
            </a:r>
          </a:p>
          <a:p/>
          <a:p>
            <a:r>
              <a:t>About 60 s.  Next: How Anaesthetics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Anaesthetics act on ion channels that control neuron excitability:</a:t>
            </a:r>
          </a:p>
          <a:p/>
          <a:p>
            <a:r>
              <a:t>About 30 s.  Next: Speed: blood:gas solubility.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Volatile liquids: sevoflurane, desflurane, isoflurane (halothane is now rarely used). Gas: nitrous oxide (N₂O). The minimum alveolar concentration (MAC) is the alveolar concentration that stops movement in 50% of patients in response to a skin incision. A low MAC means high potency. MAC falls in older people, with opioids and sedatives, and in pregnancy. It rises in children and in chronic alcohol use. The blood:gas partition coefficient shows how soluble the agent is in blood. A drug with low solubility saturates the blood quickly, so its brain level rises fast. Induction and recovery are fast. A highly soluble drug stays in the blood, and induction and recovery are slow.</a:t>
            </a:r>
          </a:p>
          <a:p/>
          <a:p>
            <a:r>
              <a:t>About 90 s.  Next: Speed: blood:gas solubility.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Volatile liquids: sevoflurane, desflurane, isoflurane (halothane is now rarely used). Gas: nitrous oxide (N₂O). The minimum alveolar concentration (MAC) is the alveolar concentration that stops movement in 50% of patients in response to a skin incision. A low MAC means high potency. MAC falls in older people, with opioids and sedatives, and in pregnancy. It rises in children and in chronic alcohol use. The blood:gas partition coefficient shows how soluble the agent is in blood. A drug with low solubility saturates the blood quickly, so its brain level rises fast. Induction and recovery are fast. A highly soluble drug stays in the blood, and induction and recovery are slow.</a:t>
            </a:r>
          </a:p>
          <a:p/>
          <a:p>
            <a:r>
              <a:t>About 60 s.  Next: Adverse effects of volatile agents.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Volatile liquids: sevoflurane, desflurane, isoflurane (halothane is now rarely used). Gas: nitrous oxide (N₂O). The minimum alveolar concentration (MAC) is the alveolar concentration that stops movement in 50% of patients in response to a skin incision. A low MAC means high potency. MAC falls in older people, with opioids and sedatives, and in pregnancy. It rises in children and in chronic alcohol use. The blood:gas partition coefficient shows how soluble the agent is in blood. A drug with low solubility saturates the blood quickly, so its brain level rises fast. Induction and recovery are fast. A highly soluble drug stays in the blood, and induction and recovery are slow.</a:t>
            </a:r>
          </a:p>
          <a:p/>
          <a:p>
            <a:r>
              <a:t>About 90 s.  Next: Inhaled Anaesthetics.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Volatile liquids: sevoflurane, desflurane, isoflurane (halothane is now rarely used). Gas: nitrous oxide (N₂O). The minimum alveolar concentration (MAC) is the alveolar concentration that stops movement in 50% of patients in response to a skin incision. A low MAC means high potency. MAC falls in older people, with opioids and sedatives, and in pregnancy. It rises in children and in chronic alcohol use. The blood:gas partition coefficient shows how soluble the agent is in blood. A drug with low solubility saturates the blood quickly, so its brain level rises fast. Induction and recovery are fast. A highly soluble drug stays in the blood, and induction and recovery are slow.</a:t>
            </a:r>
          </a:p>
          <a:p/>
          <a:p>
            <a:r>
              <a:t>About 60 s.  Next: Intravenous Anaesthetics.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 anaesthetics are very lipid-soluble. After a bolus they reach the brain within one arm-to-brain time, about 30 seconds. They wake the patient by redistribution to muscle and fat. After long infusions, fat becomes saturated and recovery is slower. Ketamine in more detail. Ketamine keeps the airway reflexes and causes only mild breathing depression. It is not free of respiratory effects: it increases secretions, and deep doses can still depress breathing. It stimulates the sympathetic system, so blood pressure rises. It relaxes bronchi. Emergence reactions are fewer in children and are reduced by a benzodiazepine.</a:t>
            </a:r>
          </a:p>
          <a:p/>
          <a:p>
            <a:r>
              <a:t>About 90 s.  Next: Intravenous Anaesthetics.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 anaesthetics are very lipid-soluble. After a bolus they reach the brain within one arm-to-brain time, about 30 seconds. They wake the patient by redistribution to muscle and fat. After long infusions, fat becomes saturated and recovery is slower. Ketamine in more detail. Ketamine keeps the airway reflexes and causes only mild breathing depression. It is not free of respiratory effects: it increases secretions, and deep doses can still depress breathing. It stimulates the sympathetic system, so blood pressure rises. It relaxes bronchi. Emergence reactions are fewer in children and are reduced by a benzodiazepine.</a:t>
            </a:r>
          </a:p>
          <a:p/>
          <a:p>
            <a:r>
              <a:t>About 60 s.  Next: Malignant Hyperthermia.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Malignant Hyperthermia.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Malignant hyperthermia is a rare inherited disorder of the muscle ryanodine receptor (RyR1). Volatile agents or succinylcholine can trigger it; either one alone is enough. It is not triggered by N₂O, propofol, ketamine or local anaesthetics. Features: rising end-tidal CO₂, tachycardia, muscle rigidity, fever, acidosis and hyperkalaemia. Treatment is IV dantrolene, 100% oxygen, cooling and support (Chapter 6).</a:t>
            </a:r>
          </a:p>
          <a:p/>
          <a:p>
            <a:r>
              <a:t>About 60 s.  Next: Malignant Hyperthermia.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Malignant hyperthermia is a rare inherited disorder of the muscle ryanodine receptor (RyR1). Volatile agents or succinylcholine can trigger it; either one alone is enough. It is not triggered by N₂O, propofol, ketamine or local anaesthetics. Features: rising end-tidal CO₂, tachycardia, muscle rigidity, fever, acidosis and hyperkalaemia. Treatment is IV dantrolene, 100% oxygen, cooling and support (Chapter 6).</a:t>
            </a:r>
          </a:p>
          <a:p/>
          <a:p>
            <a:r>
              <a:t>About 60 s.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Balanced anaesthesia uses several drugs, each at a lower dose. A is wrong; one drug would be toxic at the needed dose. B and C are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Ketamine blocks NMDA receptors. A, C and D enhance GABA-A.</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Halothane has the lowest MAC. B, C and D have higher MAC values.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Low blood solubility means fast rise in brain level. A relates to potency; desflurane's MAC is higher. B and D are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Redistribution ends the effect of a single dose. B and C are wrong. D is for benzodiazepines.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Etomidate blocks 11β-hydroxylase. A, B and C do not.</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Ketamine keeps blood pressure and gives strong analgesia. A and C lower blood pressure. D gives no analgesia.</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Midazolam gives sedation and amnesia for procedures without much pain. A causes emergence reactions. B and D are inhaled agents used in theatre.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Either a volatile agent or succinylcholine alone can trigger it. A is the treatment. C is wrong; it is life-threatening. D is wrong; it is inherited.</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Long high-dose propofol infusion can cause this syndrome. B occurs in theatre with triggers. C is etomidate. D is ketamine.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08</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8</a:t>
            </a:r>
          </a:p>
          <a:p>
            <a:pPr>
              <a:spcBef>
                <a:spcPts val="1400"/>
              </a:spcBef>
            </a:pPr>
            <a:r>
              <a:rPr sz="4400" i="0" b="1">
                <a:solidFill>
                  <a:srgbClr val="FFFFFF"/>
                </a:solidFill>
                <a:latin typeface="Cambria"/>
              </a:rPr>
              <a:t>General Anaesthetics</a:t>
            </a:r>
          </a:p>
          <a:p>
            <a:pPr>
              <a:spcBef>
                <a:spcPts val="1600"/>
              </a:spcBef>
            </a:pPr>
            <a:r>
              <a:rPr sz="2000" i="1" b="0">
                <a:solidFill>
                  <a:srgbClr val="DFE1EF"/>
                </a:solidFill>
                <a:latin typeface="Cambria"/>
              </a:rPr>
              <a:t>A Laboratory and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45 minutes  ·  10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Learning Objectives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6629400" cy="877824"/>
          </a:xfrm>
          <a:prstGeom prst="rect">
            <a:avLst/>
          </a:prstGeom>
          <a:noFill/>
        </p:spPr>
        <p:txBody>
          <a:bodyPr wrap="square" anchor="t" lIns="0" rIns="0" tIns="0" bIns="0">
            <a:spAutoFit/>
          </a:bodyPr>
          <a:lstStyle/>
          <a:p>
            <a:r>
              <a:rPr sz="2100" i="0" b="0">
                <a:solidFill>
                  <a:srgbClr val="1A1F36"/>
                </a:solidFill>
                <a:latin typeface="Calibri"/>
              </a:rPr>
              <a:t>List the goals of general anaesthesia and explain balanced anaesthesia.</a:t>
            </a:r>
          </a:p>
        </p:txBody>
      </p:sp>
      <p:sp>
        <p:nvSpPr>
          <p:cNvPr id="10" name="Oval 9"/>
          <p:cNvSpPr/>
          <p:nvPr/>
        </p:nvSpPr>
        <p:spPr>
          <a:xfrm>
            <a:off x="548640" y="24963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514600"/>
            <a:ext cx="6629400" cy="877824"/>
          </a:xfrm>
          <a:prstGeom prst="rect">
            <a:avLst/>
          </a:prstGeom>
          <a:noFill/>
        </p:spPr>
        <p:txBody>
          <a:bodyPr wrap="square" anchor="t" lIns="0" rIns="0" tIns="0" bIns="0">
            <a:spAutoFit/>
          </a:bodyPr>
          <a:lstStyle/>
          <a:p>
            <a:r>
              <a:rPr sz="2100" i="0" b="0">
                <a:solidFill>
                  <a:srgbClr val="1A1F36"/>
                </a:solidFill>
                <a:latin typeface="Calibri"/>
              </a:rPr>
              <a:t>Describe the mechanisms of inhaled and intravenous anaesthetics.</a:t>
            </a:r>
          </a:p>
        </p:txBody>
      </p:sp>
      <p:sp>
        <p:nvSpPr>
          <p:cNvPr id="12" name="Oval 11"/>
          <p:cNvSpPr/>
          <p:nvPr/>
        </p:nvSpPr>
        <p:spPr>
          <a:xfrm>
            <a:off x="548640" y="34198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438144"/>
            <a:ext cx="6629400" cy="877824"/>
          </a:xfrm>
          <a:prstGeom prst="rect">
            <a:avLst/>
          </a:prstGeom>
          <a:noFill/>
        </p:spPr>
        <p:txBody>
          <a:bodyPr wrap="square" anchor="t" lIns="0" rIns="0" tIns="0" bIns="0">
            <a:spAutoFit/>
          </a:bodyPr>
          <a:lstStyle/>
          <a:p>
            <a:r>
              <a:rPr sz="2100" i="0" b="0">
                <a:solidFill>
                  <a:srgbClr val="1A1F36"/>
                </a:solidFill>
                <a:latin typeface="Calibri"/>
              </a:rPr>
              <a:t>Use MAC and blood:gas solubility to compare the potency and speed of inhaled anaesthetics.</a:t>
            </a:r>
          </a:p>
        </p:txBody>
      </p:sp>
      <p:sp>
        <p:nvSpPr>
          <p:cNvPr id="14" name="Oval 13"/>
          <p:cNvSpPr/>
          <p:nvPr/>
        </p:nvSpPr>
        <p:spPr>
          <a:xfrm>
            <a:off x="548640" y="434339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361688"/>
            <a:ext cx="6629400" cy="877824"/>
          </a:xfrm>
          <a:prstGeom prst="rect">
            <a:avLst/>
          </a:prstGeom>
          <a:noFill/>
        </p:spPr>
        <p:txBody>
          <a:bodyPr wrap="square" anchor="t" lIns="0" rIns="0" tIns="0" bIns="0">
            <a:spAutoFit/>
          </a:bodyPr>
          <a:lstStyle/>
          <a:p>
            <a:r>
              <a:rPr sz="2100" i="0" b="0">
                <a:solidFill>
                  <a:srgbClr val="1A1F36"/>
                </a:solidFill>
                <a:latin typeface="Calibri"/>
              </a:rPr>
              <a:t>Compare the main intravenous anaesthetics and their adverse effects.</a:t>
            </a:r>
          </a:p>
        </p:txBody>
      </p:sp>
      <p:sp>
        <p:nvSpPr>
          <p:cNvPr id="16" name="Oval 15"/>
          <p:cNvSpPr/>
          <p:nvPr/>
        </p:nvSpPr>
        <p:spPr>
          <a:xfrm>
            <a:off x="548640" y="526694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285231"/>
            <a:ext cx="6629400" cy="877824"/>
          </a:xfrm>
          <a:prstGeom prst="rect">
            <a:avLst/>
          </a:prstGeom>
          <a:noFill/>
        </p:spPr>
        <p:txBody>
          <a:bodyPr wrap="square" anchor="t" lIns="0" rIns="0" tIns="0" bIns="0">
            <a:spAutoFit/>
          </a:bodyPr>
          <a:lstStyle/>
          <a:p>
            <a:r>
              <a:rPr sz="2100" i="0" b="0">
                <a:solidFill>
                  <a:srgbClr val="1A1F36"/>
                </a:solidFill>
                <a:latin typeface="Calibri"/>
              </a:rPr>
              <a:t>Select an anaesthetic for a patient and recognise malignant hyperthermia.</a:t>
            </a:r>
          </a:p>
        </p:txBody>
      </p:sp>
      <p:sp>
        <p:nvSpPr>
          <p:cNvPr id="18" name="Rounded Rectangle 17"/>
          <p:cNvSpPr/>
          <p:nvPr/>
        </p:nvSpPr>
        <p:spPr>
          <a:xfrm>
            <a:off x="8366760" y="1600200"/>
            <a:ext cx="3273552" cy="4526280"/>
          </a:xfrm>
          <a:prstGeom prst="roundRect">
            <a:avLst>
              <a:gd name="adj" fmla="val 5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45</a:t>
            </a:r>
          </a:p>
          <a:p>
            <a:r>
              <a:rPr sz="1200" i="0" b="1" spc="150">
                <a:solidFill>
                  <a:srgbClr val="5A6072"/>
                </a:solidFill>
                <a:latin typeface="Calibri"/>
              </a:rPr>
              <a:t>MINUTES</a:t>
            </a:r>
          </a:p>
          <a:p>
            <a:pPr>
              <a:spcBef>
                <a:spcPts val="1600"/>
              </a:spcBef>
            </a:pPr>
            <a:r>
              <a:rPr sz="5400" i="0" b="1">
                <a:solidFill>
                  <a:srgbClr val="1B2A8C"/>
                </a:solidFill>
                <a:latin typeface="Cambria"/>
              </a:rPr>
              <a:t>10</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1A1F36"/>
                </a:solidFill>
                <a:latin typeface="Calibri"/>
              </a:rPr>
              <a:t>Goals and Balanced Anaesthesia</a:t>
            </a:r>
          </a:p>
        </p:txBody>
      </p:sp>
      <p:sp>
        <p:nvSpPr>
          <p:cNvPr id="10" name="Oval 9"/>
          <p:cNvSpPr/>
          <p:nvPr/>
        </p:nvSpPr>
        <p:spPr>
          <a:xfrm>
            <a:off x="548640"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61514"/>
            <a:ext cx="4678527" cy="824737"/>
          </a:xfrm>
          <a:prstGeom prst="rect">
            <a:avLst/>
          </a:prstGeom>
          <a:noFill/>
        </p:spPr>
        <p:txBody>
          <a:bodyPr wrap="square" anchor="t" lIns="0" rIns="0" tIns="0" bIns="0">
            <a:spAutoFit/>
          </a:bodyPr>
          <a:lstStyle/>
          <a:p>
            <a:r>
              <a:rPr sz="2200" i="0" b="0">
                <a:solidFill>
                  <a:srgbClr val="1A1F36"/>
                </a:solidFill>
                <a:latin typeface="Calibri"/>
              </a:rPr>
              <a:t>How Anaesthetics Work</a:t>
            </a:r>
          </a:p>
        </p:txBody>
      </p:sp>
      <p:sp>
        <p:nvSpPr>
          <p:cNvPr id="12" name="Oval 11"/>
          <p:cNvSpPr/>
          <p:nvPr/>
        </p:nvSpPr>
        <p:spPr>
          <a:xfrm>
            <a:off x="548640" y="33136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331972"/>
            <a:ext cx="4678527" cy="824737"/>
          </a:xfrm>
          <a:prstGeom prst="rect">
            <a:avLst/>
          </a:prstGeom>
          <a:noFill/>
        </p:spPr>
        <p:txBody>
          <a:bodyPr wrap="square" anchor="t" lIns="0" rIns="0" tIns="0" bIns="0">
            <a:spAutoFit/>
          </a:bodyPr>
          <a:lstStyle/>
          <a:p>
            <a:r>
              <a:rPr sz="2200" i="0" b="0">
                <a:solidFill>
                  <a:srgbClr val="1A1F36"/>
                </a:solidFill>
                <a:latin typeface="Calibri"/>
              </a:rPr>
              <a:t>Inhaled Anaesthetics</a:t>
            </a:r>
          </a:p>
        </p:txBody>
      </p:sp>
      <p:sp>
        <p:nvSpPr>
          <p:cNvPr id="14" name="Oval 13"/>
          <p:cNvSpPr/>
          <p:nvPr/>
        </p:nvSpPr>
        <p:spPr>
          <a:xfrm>
            <a:off x="548640" y="41841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202430"/>
            <a:ext cx="4678527" cy="824737"/>
          </a:xfrm>
          <a:prstGeom prst="rect">
            <a:avLst/>
          </a:prstGeom>
          <a:noFill/>
        </p:spPr>
        <p:txBody>
          <a:bodyPr wrap="square" anchor="t" lIns="0" rIns="0" tIns="0" bIns="0">
            <a:spAutoFit/>
          </a:bodyPr>
          <a:lstStyle/>
          <a:p>
            <a:r>
              <a:rPr sz="2200" i="0" b="0">
                <a:solidFill>
                  <a:srgbClr val="1A1F36"/>
                </a:solidFill>
                <a:latin typeface="Calibri"/>
              </a:rPr>
              <a:t>Intravenous Anaesthetics</a:t>
            </a:r>
          </a:p>
        </p:txBody>
      </p:sp>
      <p:sp>
        <p:nvSpPr>
          <p:cNvPr id="16" name="Oval 15"/>
          <p:cNvSpPr/>
          <p:nvPr/>
        </p:nvSpPr>
        <p:spPr>
          <a:xfrm>
            <a:off x="6370167"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Malignant Hyperthermia</a:t>
            </a:r>
          </a:p>
        </p:txBody>
      </p:sp>
      <p:sp>
        <p:nvSpPr>
          <p:cNvPr id="18" name="Oval 17"/>
          <p:cNvSpPr/>
          <p:nvPr/>
        </p:nvSpPr>
        <p:spPr>
          <a:xfrm>
            <a:off x="6370167"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0" name="Oval 19"/>
          <p:cNvSpPr/>
          <p:nvPr/>
        </p:nvSpPr>
        <p:spPr>
          <a:xfrm>
            <a:off x="6370167" y="33136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1" name="TextBox 20"/>
          <p:cNvSpPr txBox="1"/>
          <p:nvPr/>
        </p:nvSpPr>
        <p:spPr>
          <a:xfrm>
            <a:off x="6964527" y="3331972"/>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Goals and Balanced Anaesthesia</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General anaesthesia is a reversible, drug-induced loss of consciousness. It has five goals:</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674903"/>
          </a:xfrm>
          <a:prstGeom prst="rect">
            <a:avLst/>
          </a:prstGeom>
          <a:noFill/>
        </p:spPr>
        <p:txBody>
          <a:bodyPr wrap="square" anchor="t" lIns="0" rIns="0" tIns="0" bIns="0">
            <a:spAutoFit/>
          </a:bodyPr>
          <a:lstStyle/>
          <a:p>
            <a:r>
              <a:rPr sz="2100" i="0" b="0">
                <a:solidFill>
                  <a:srgbClr val="1A1F36"/>
                </a:solidFill>
                <a:latin typeface="Calibri"/>
              </a:rPr>
              <a:t>Unconsciousness.</a:t>
            </a:r>
          </a:p>
        </p:txBody>
      </p:sp>
      <p:sp>
        <p:nvSpPr>
          <p:cNvPr id="11" name="Oval 10"/>
          <p:cNvSpPr/>
          <p:nvPr/>
        </p:nvSpPr>
        <p:spPr>
          <a:xfrm>
            <a:off x="548640" y="297461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2992907"/>
            <a:ext cx="10500055" cy="674903"/>
          </a:xfrm>
          <a:prstGeom prst="rect">
            <a:avLst/>
          </a:prstGeom>
          <a:noFill/>
        </p:spPr>
        <p:txBody>
          <a:bodyPr wrap="square" anchor="t" lIns="0" rIns="0" tIns="0" bIns="0">
            <a:spAutoFit/>
          </a:bodyPr>
          <a:lstStyle/>
          <a:p>
            <a:r>
              <a:rPr sz="2100" i="0" b="0">
                <a:solidFill>
                  <a:srgbClr val="1A1F36"/>
                </a:solidFill>
                <a:latin typeface="Calibri"/>
              </a:rPr>
              <a:t>Amnesia.</a:t>
            </a:r>
          </a:p>
        </p:txBody>
      </p:sp>
      <p:sp>
        <p:nvSpPr>
          <p:cNvPr id="13" name="Oval 12"/>
          <p:cNvSpPr/>
          <p:nvPr/>
        </p:nvSpPr>
        <p:spPr>
          <a:xfrm>
            <a:off x="548640" y="369524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3713530"/>
            <a:ext cx="10500055" cy="674903"/>
          </a:xfrm>
          <a:prstGeom prst="rect">
            <a:avLst/>
          </a:prstGeom>
          <a:noFill/>
        </p:spPr>
        <p:txBody>
          <a:bodyPr wrap="square" anchor="t" lIns="0" rIns="0" tIns="0" bIns="0">
            <a:spAutoFit/>
          </a:bodyPr>
          <a:lstStyle/>
          <a:p>
            <a:r>
              <a:rPr sz="2100" i="0" b="0">
                <a:solidFill>
                  <a:srgbClr val="1A1F36"/>
                </a:solidFill>
                <a:latin typeface="Calibri"/>
              </a:rPr>
              <a:t>Analgesia.</a:t>
            </a:r>
          </a:p>
        </p:txBody>
      </p:sp>
      <p:sp>
        <p:nvSpPr>
          <p:cNvPr id="15" name="Oval 14"/>
          <p:cNvSpPr/>
          <p:nvPr/>
        </p:nvSpPr>
        <p:spPr>
          <a:xfrm>
            <a:off x="548640" y="441586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4434154"/>
            <a:ext cx="10500055" cy="674903"/>
          </a:xfrm>
          <a:prstGeom prst="rect">
            <a:avLst/>
          </a:prstGeom>
          <a:noFill/>
        </p:spPr>
        <p:txBody>
          <a:bodyPr wrap="square" anchor="t" lIns="0" rIns="0" tIns="0" bIns="0">
            <a:spAutoFit/>
          </a:bodyPr>
          <a:lstStyle/>
          <a:p>
            <a:r>
              <a:rPr sz="2100" i="0" b="0">
                <a:solidFill>
                  <a:srgbClr val="1A1F36"/>
                </a:solidFill>
                <a:latin typeface="Calibri"/>
              </a:rPr>
              <a:t>Muscle relaxation.</a:t>
            </a:r>
          </a:p>
        </p:txBody>
      </p:sp>
      <p:sp>
        <p:nvSpPr>
          <p:cNvPr id="17" name="Oval 16"/>
          <p:cNvSpPr/>
          <p:nvPr/>
        </p:nvSpPr>
        <p:spPr>
          <a:xfrm>
            <a:off x="548640" y="513648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1143000" y="5154777"/>
            <a:ext cx="10500055" cy="1008278"/>
          </a:xfrm>
          <a:prstGeom prst="rect">
            <a:avLst/>
          </a:prstGeom>
          <a:noFill/>
        </p:spPr>
        <p:txBody>
          <a:bodyPr wrap="square" anchor="t" lIns="0" rIns="0" tIns="0" bIns="0">
            <a:spAutoFit/>
          </a:bodyPr>
          <a:lstStyle/>
          <a:p>
            <a:r>
              <a:rPr sz="2100" i="0" b="0">
                <a:solidFill>
                  <a:srgbClr val="1A1F36"/>
                </a:solidFill>
                <a:latin typeface="Calibri"/>
              </a:rPr>
              <a:t>Loss of autonomic reflexes (heart rate and blood pressure responses to surgery).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Goals and Balanced Anaesthesia</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No single drug can give all five safely; the dose needed would depress the heart and breathing. So anaesthetists use </a:t>
            </a:r>
            <a:r>
              <a:rPr sz="1800" i="0" b="1">
                <a:solidFill>
                  <a:srgbClr val="1A1F36"/>
                </a:solidFill>
                <a:latin typeface="Calibri"/>
              </a:rPr>
              <a:t>balanced anaesthesia</a:t>
            </a:r>
            <a:r>
              <a:rPr sz="1800" i="0" b="0">
                <a:solidFill>
                  <a:srgbClr val="1A1F36"/>
                </a:solidFill>
                <a:latin typeface="Calibri"/>
              </a:rPr>
              <a:t>: several drugs, each at a lower dose, each for one or two goals.</a:t>
            </a:r>
          </a:p>
        </p:txBody>
      </p:sp>
      <p:pic>
        <p:nvPicPr>
          <p:cNvPr id="9" name="Picture 8" descr="A central hub labelled general anaesthesia linked to five boxes: unconsciousness, amnesia, analgesia, muscle relaxation and loss of autonomic reflexes, each with example drugs."/>
          <p:cNvPicPr>
            <a:picLocks noChangeAspect="1"/>
          </p:cNvPicPr>
          <p:nvPr/>
        </p:nvPicPr>
        <p:blipFill>
          <a:blip r:embed="rId4"/>
          <a:stretch>
            <a:fillRect/>
          </a:stretch>
        </p:blipFill>
        <p:spPr>
          <a:xfrm>
            <a:off x="3099990" y="2830068"/>
            <a:ext cx="5991714" cy="2930651"/>
          </a:xfrm>
          <a:prstGeom prst="rect">
            <a:avLst/>
          </a:prstGeom>
        </p:spPr>
      </p:pic>
      <p:sp>
        <p:nvSpPr>
          <p:cNvPr id="10" name="TextBox 9"/>
          <p:cNvSpPr txBox="1"/>
          <p:nvPr/>
        </p:nvSpPr>
        <p:spPr>
          <a:xfrm>
            <a:off x="548640" y="5852158"/>
            <a:ext cx="11094415" cy="365760"/>
          </a:xfrm>
          <a:prstGeom prst="rect">
            <a:avLst/>
          </a:prstGeom>
          <a:noFill/>
        </p:spPr>
        <p:txBody>
          <a:bodyPr wrap="square" anchor="t" lIns="0" rIns="0" tIns="0" bIns="0">
            <a:spAutoFit/>
          </a:bodyPr>
          <a:lstStyle/>
          <a:p>
            <a:pPr algn="ctr"/>
            <a:r>
              <a:rPr sz="1300" i="1" b="0">
                <a:solidFill>
                  <a:srgbClr val="5A6072"/>
                </a:solidFill>
                <a:latin typeface="Calibri"/>
              </a:rPr>
              <a:t>Balanced anaesthesia: the five goals and the drugs that provide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Stages of care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08710"/>
          </a:xfrm>
          <a:prstGeom prst="rect">
            <a:avLst/>
          </a:prstGeom>
          <a:noFill/>
        </p:spPr>
        <p:txBody>
          <a:bodyPr wrap="square" anchor="t" lIns="0" rIns="0" tIns="0" bIns="0">
            <a:spAutoFit/>
          </a:bodyPr>
          <a:lstStyle/>
          <a:p>
            <a:r>
              <a:rPr sz="2100" i="0" b="1">
                <a:solidFill>
                  <a:srgbClr val="1A1F36"/>
                </a:solidFill>
                <a:latin typeface="Calibri"/>
              </a:rPr>
              <a:t>Before surgery (premedication):</a:t>
            </a:r>
            <a:r>
              <a:rPr sz="2100" i="0" b="0">
                <a:solidFill>
                  <a:srgbClr val="1A1F36"/>
                </a:solidFill>
                <a:latin typeface="Calibri"/>
              </a:rPr>
              <a:t> an anxiolytic such as midazolam if needed; an antacid or H2 blocker and an antiemetic to reduce aspiration risk.</a:t>
            </a:r>
          </a:p>
        </p:txBody>
      </p:sp>
      <p:sp>
        <p:nvSpPr>
          <p:cNvPr id="10" name="Oval 9"/>
          <p:cNvSpPr/>
          <p:nvPr/>
        </p:nvSpPr>
        <p:spPr>
          <a:xfrm>
            <a:off x="548640" y="272719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45486"/>
            <a:ext cx="10500055" cy="1108710"/>
          </a:xfrm>
          <a:prstGeom prst="rect">
            <a:avLst/>
          </a:prstGeom>
          <a:noFill/>
        </p:spPr>
        <p:txBody>
          <a:bodyPr wrap="square" anchor="t" lIns="0" rIns="0" tIns="0" bIns="0">
            <a:spAutoFit/>
          </a:bodyPr>
          <a:lstStyle/>
          <a:p>
            <a:r>
              <a:rPr sz="2100" i="0" b="1">
                <a:solidFill>
                  <a:srgbClr val="1A1F36"/>
                </a:solidFill>
                <a:latin typeface="Calibri"/>
              </a:rPr>
              <a:t>Induction:</a:t>
            </a:r>
            <a:r>
              <a:rPr sz="2100" i="0" b="0">
                <a:solidFill>
                  <a:srgbClr val="1A1F36"/>
                </a:solidFill>
                <a:latin typeface="Calibri"/>
              </a:rPr>
              <a:t> usually an IV anaesthetic (propofol), because it is fast and pleasant. An inhaled agent (sevoflurane) is used in children who fear needles.</a:t>
            </a:r>
          </a:p>
        </p:txBody>
      </p:sp>
      <p:sp>
        <p:nvSpPr>
          <p:cNvPr id="12" name="Oval 11"/>
          <p:cNvSpPr/>
          <p:nvPr/>
        </p:nvSpPr>
        <p:spPr>
          <a:xfrm>
            <a:off x="548640" y="388162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899915"/>
            <a:ext cx="10500055" cy="1108710"/>
          </a:xfrm>
          <a:prstGeom prst="rect">
            <a:avLst/>
          </a:prstGeom>
          <a:noFill/>
        </p:spPr>
        <p:txBody>
          <a:bodyPr wrap="square" anchor="t" lIns="0" rIns="0" tIns="0" bIns="0">
            <a:spAutoFit/>
          </a:bodyPr>
          <a:lstStyle/>
          <a:p>
            <a:r>
              <a:rPr sz="2100" i="0" b="1">
                <a:solidFill>
                  <a:srgbClr val="1A1F36"/>
                </a:solidFill>
                <a:latin typeface="Calibri"/>
              </a:rPr>
              <a:t>Maintenance:</a:t>
            </a:r>
            <a:r>
              <a:rPr sz="2100" i="0" b="0">
                <a:solidFill>
                  <a:srgbClr val="1A1F36"/>
                </a:solidFill>
                <a:latin typeface="Calibri"/>
              </a:rPr>
              <a:t> an inhaled agent or a propofol infusion, plus an opioid and, if needed, a neuromuscular blocker (Chapter 6).</a:t>
            </a:r>
          </a:p>
        </p:txBody>
      </p:sp>
      <p:sp>
        <p:nvSpPr>
          <p:cNvPr id="14" name="Oval 13"/>
          <p:cNvSpPr/>
          <p:nvPr/>
        </p:nvSpPr>
        <p:spPr>
          <a:xfrm>
            <a:off x="548640" y="503605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5054346"/>
            <a:ext cx="10500055" cy="1108710"/>
          </a:xfrm>
          <a:prstGeom prst="rect">
            <a:avLst/>
          </a:prstGeom>
          <a:noFill/>
        </p:spPr>
        <p:txBody>
          <a:bodyPr wrap="square" anchor="t" lIns="0" rIns="0" tIns="0" bIns="0">
            <a:spAutoFit/>
          </a:bodyPr>
          <a:lstStyle/>
          <a:p>
            <a:r>
              <a:rPr sz="2100" i="0" b="1">
                <a:solidFill>
                  <a:srgbClr val="1A1F36"/>
                </a:solidFill>
                <a:latin typeface="Calibri"/>
              </a:rPr>
              <a:t>Recovery:</a:t>
            </a:r>
            <a:r>
              <a:rPr sz="2100" i="0" b="0">
                <a:solidFill>
                  <a:srgbClr val="1A1F36"/>
                </a:solidFill>
                <a:latin typeface="Calibri"/>
              </a:rPr>
              <a:t> stop the drugs, reverse the blocker, and watch breathing and airway. Treat pain and nausea.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How Anaesthetics Work</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Anaesthetics act on ion channels that control neuron excitability:</a:t>
            </a:r>
          </a:p>
        </p:txBody>
      </p:sp>
      <p:graphicFrame>
        <p:nvGraphicFramePr>
          <p:cNvPr id="9" name="Table 8"/>
          <p:cNvGraphicFramePr>
            <a:graphicFrameLocks noGrp="1"/>
          </p:cNvGraphicFramePr>
          <p:nvPr/>
        </p:nvGraphicFramePr>
        <p:xfrm>
          <a:off x="548640" y="2235708"/>
          <a:ext cx="11094414" cy="2560320"/>
        </p:xfrm>
        <a:graphic>
          <a:graphicData uri="http://schemas.openxmlformats.org/drawingml/2006/table">
            <a:tbl>
              <a:tblPr firstRow="0" bandRow="0">
                <a:tableStyleId>{5C22544A-7EE6-4342-B048-85BDC9FD1C3A}</a:tableStyleId>
              </a:tblPr>
              <a:tblGrid>
                <a:gridCol w="4173128"/>
                <a:gridCol w="6921286"/>
              </a:tblGrid>
              <a:tr h="640080">
                <a:tc>
                  <a:txBody>
                    <a:bodyPr/>
                    <a:lstStyle/>
                    <a:p>
                      <a:r>
                        <a:rPr sz="1900" i="0" b="1">
                          <a:solidFill>
                            <a:srgbClr val="FFFFFF"/>
                          </a:solidFill>
                          <a:latin typeface="Calibri"/>
                        </a:rPr>
                        <a:t>Mechanism</a:t>
                      </a:r>
                    </a:p>
                  </a:txBody>
                  <a:tcPr marL="109728" marR="109728" marT="45720" marB="45720" anchor="ctr">
                    <a:solidFill>
                      <a:srgbClr val="1B2A8C"/>
                    </a:solidFill>
                  </a:tcPr>
                </a:tc>
                <a:tc>
                  <a:txBody>
                    <a:bodyPr/>
                    <a:lstStyle/>
                    <a:p>
                      <a:r>
                        <a:rPr sz="1900" i="0" b="1">
                          <a:solidFill>
                            <a:srgbClr val="FFFFFF"/>
                          </a:solidFill>
                          <a:latin typeface="Calibri"/>
                        </a:rPr>
                        <a:t>Drugs</a:t>
                      </a:r>
                    </a:p>
                  </a:txBody>
                  <a:tcPr marL="109728" marR="109728" marT="45720" marB="45720" anchor="ctr">
                    <a:solidFill>
                      <a:srgbClr val="1B2A8C"/>
                    </a:solidFill>
                  </a:tcPr>
                </a:tc>
              </a:tr>
              <a:tr h="640080">
                <a:tc>
                  <a:txBody>
                    <a:bodyPr/>
                    <a:lstStyle/>
                    <a:p>
                      <a:r>
                        <a:rPr sz="2000" i="0" b="1">
                          <a:solidFill>
                            <a:srgbClr val="1A1F36"/>
                          </a:solidFill>
                          <a:latin typeface="Calibri"/>
                        </a:rPr>
                        <a:t>Enhance GABA-A receptors</a:t>
                      </a:r>
                    </a:p>
                  </a:txBody>
                  <a:tcPr marL="109728" marR="109728" marT="45720" marB="45720" anchor="ctr">
                    <a:solidFill>
                      <a:srgbClr val="FFFFFF"/>
                    </a:solidFill>
                  </a:tcPr>
                </a:tc>
                <a:tc>
                  <a:txBody>
                    <a:bodyPr/>
                    <a:lstStyle/>
                    <a:p>
                      <a:r>
                        <a:rPr sz="2000" i="0" b="0">
                          <a:solidFill>
                            <a:srgbClr val="1A1F36"/>
                          </a:solidFill>
                          <a:latin typeface="Calibri"/>
                        </a:rPr>
                        <a:t>Propofol, etomidate, thiopental, benzodiazepines, volatile agents</a:t>
                      </a:r>
                    </a:p>
                  </a:txBody>
                  <a:tcPr marL="109728" marR="109728" marT="45720" marB="45720" anchor="ctr">
                    <a:solidFill>
                      <a:srgbClr val="FFFFFF"/>
                    </a:solidFill>
                  </a:tcPr>
                </a:tc>
              </a:tr>
              <a:tr h="640080">
                <a:tc>
                  <a:txBody>
                    <a:bodyPr/>
                    <a:lstStyle/>
                    <a:p>
                      <a:r>
                        <a:rPr sz="2000" i="0" b="1">
                          <a:solidFill>
                            <a:srgbClr val="1A1F36"/>
                          </a:solidFill>
                          <a:latin typeface="Calibri"/>
                        </a:rPr>
                        <a:t>Block NMDA receptors</a:t>
                      </a:r>
                    </a:p>
                  </a:txBody>
                  <a:tcPr marL="109728" marR="109728" marT="45720" marB="45720" anchor="ctr">
                    <a:solidFill>
                      <a:srgbClr val="F1F2F8"/>
                    </a:solidFill>
                  </a:tcPr>
                </a:tc>
                <a:tc>
                  <a:txBody>
                    <a:bodyPr/>
                    <a:lstStyle/>
                    <a:p>
                      <a:r>
                        <a:rPr sz="2000" i="0" b="0">
                          <a:solidFill>
                            <a:srgbClr val="1A1F36"/>
                          </a:solidFill>
                          <a:latin typeface="Calibri"/>
                        </a:rPr>
                        <a:t>Ketamine, nitrous oxide, xenon</a:t>
                      </a:r>
                    </a:p>
                  </a:txBody>
                  <a:tcPr marL="109728" marR="109728" marT="45720" marB="45720" anchor="ctr">
                    <a:solidFill>
                      <a:srgbClr val="F1F2F8"/>
                    </a:solidFill>
                  </a:tcPr>
                </a:tc>
              </a:tr>
              <a:tr h="640080">
                <a:tc>
                  <a:txBody>
                    <a:bodyPr/>
                    <a:lstStyle/>
                    <a:p>
                      <a:r>
                        <a:rPr sz="2000" i="0" b="1">
                          <a:solidFill>
                            <a:srgbClr val="1A1F36"/>
                          </a:solidFill>
                          <a:latin typeface="Calibri"/>
                        </a:rPr>
                        <a:t>Open two-pore K+ (K2P) channels</a:t>
                      </a:r>
                    </a:p>
                  </a:txBody>
                  <a:tcPr marL="109728" marR="109728" marT="45720" marB="45720" anchor="ctr">
                    <a:solidFill>
                      <a:srgbClr val="FFFFFF"/>
                    </a:solidFill>
                  </a:tcPr>
                </a:tc>
                <a:tc>
                  <a:txBody>
                    <a:bodyPr/>
                    <a:lstStyle/>
                    <a:p>
                      <a:r>
                        <a:rPr sz="2000" i="0" b="0">
                          <a:solidFill>
                            <a:srgbClr val="1A1F36"/>
                          </a:solidFill>
                          <a:latin typeface="Calibri"/>
                        </a:rPr>
                        <a:t>Volatile agents</a:t>
                      </a:r>
                    </a:p>
                  </a:txBody>
                  <a:tcPr marL="109728" marR="109728" marT="45720" marB="45720"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Speed: blood:gas solubility</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1">
                <a:solidFill>
                  <a:srgbClr val="1A1F36"/>
                </a:solidFill>
                <a:latin typeface="Calibri"/>
              </a:rPr>
              <a:t>Volatile liquids:</a:t>
            </a:r>
            <a:r>
              <a:rPr sz="2100" i="0" b="0">
                <a:solidFill>
                  <a:srgbClr val="1A1F36"/>
                </a:solidFill>
                <a:latin typeface="Calibri"/>
              </a:rPr>
              <a:t> sevoflurane, desflurane, isoflurane (halothane is now rarely used).</a:t>
            </a:r>
          </a:p>
          <a:p>
            <a:pPr>
              <a:spcAft>
                <a:spcPts val="800"/>
              </a:spcAft>
            </a:pPr>
            <a:r>
              <a:rPr sz="2100" i="0" b="1">
                <a:solidFill>
                  <a:srgbClr val="1A1F36"/>
                </a:solidFill>
                <a:latin typeface="Calibri"/>
              </a:rPr>
              <a:t>Gas:</a:t>
            </a:r>
            <a:r>
              <a:rPr sz="2100" i="0" b="0">
                <a:solidFill>
                  <a:srgbClr val="1A1F36"/>
                </a:solidFill>
                <a:latin typeface="Calibri"/>
              </a:rPr>
              <a:t> nitrous oxide (N₂O).</a:t>
            </a:r>
          </a:p>
          <a:p>
            <a:pPr>
              <a:spcAft>
                <a:spcPts val="800"/>
              </a:spcAft>
            </a:pPr>
            <a:r>
              <a:rPr sz="2100" i="0" b="0">
                <a:solidFill>
                  <a:srgbClr val="1A1F36"/>
                </a:solidFill>
                <a:latin typeface="Calibri"/>
              </a:rPr>
              <a:t>The </a:t>
            </a:r>
            <a:r>
              <a:rPr sz="2100" i="0" b="1">
                <a:solidFill>
                  <a:srgbClr val="1A1F36"/>
                </a:solidFill>
                <a:latin typeface="Calibri"/>
              </a:rPr>
              <a:t>minimum alveolar concentration (MAC)</a:t>
            </a:r>
            <a:r>
              <a:rPr sz="2100" i="0" b="0">
                <a:solidFill>
                  <a:srgbClr val="1A1F36"/>
                </a:solidFill>
                <a:latin typeface="Calibri"/>
              </a:rPr>
              <a:t> is the alveolar concentration that stops movement in 50% of patients in response to a skin incision. A </a:t>
            </a:r>
            <a:r>
              <a:rPr sz="2100" i="0" b="1">
                <a:solidFill>
                  <a:srgbClr val="1A1F36"/>
                </a:solidFill>
                <a:latin typeface="Calibri"/>
              </a:rPr>
              <a:t>low MAC means high potency</a:t>
            </a:r>
            <a:r>
              <a:rPr sz="2100" i="0" b="0">
                <a:solidFill>
                  <a:srgbClr val="1A1F36"/>
                </a:solidFill>
                <a:latin typeface="Calibri"/>
              </a:rPr>
              <a:t>. MAC falls in older people, with opioids and sedatives, and in pregnancy. It rises in children and in chronic alcohol use.</a:t>
            </a:r>
          </a:p>
          <a:p>
            <a:pPr>
              <a:spcAft>
                <a:spcPts val="800"/>
              </a:spcAft>
            </a:pPr>
            <a:r>
              <a:rPr sz="2100" i="0" b="0">
                <a:solidFill>
                  <a:srgbClr val="1A1F36"/>
                </a:solidFill>
                <a:latin typeface="Calibri"/>
              </a:rPr>
              <a:t>The </a:t>
            </a:r>
            <a:r>
              <a:rPr sz="2100" i="0" b="1">
                <a:solidFill>
                  <a:srgbClr val="1A1F36"/>
                </a:solidFill>
                <a:latin typeface="Calibri"/>
              </a:rPr>
              <a:t>blood:gas partition coefficient</a:t>
            </a:r>
            <a:r>
              <a:rPr sz="2100" i="0" b="0">
                <a:solidFill>
                  <a:srgbClr val="1A1F36"/>
                </a:solidFill>
                <a:latin typeface="Calibri"/>
              </a:rPr>
              <a:t> shows how soluble the agent is in blood. A drug with </a:t>
            </a:r>
            <a:r>
              <a:rPr sz="2100" i="0" b="1">
                <a:solidFill>
                  <a:srgbClr val="1A1F36"/>
                </a:solidFill>
                <a:latin typeface="Calibri"/>
              </a:rPr>
              <a:t>low</a:t>
            </a:r>
            <a:r>
              <a:rPr sz="2100" i="0" b="0">
                <a:solidFill>
                  <a:srgbClr val="1A1F36"/>
                </a:solidFill>
                <a:latin typeface="Calibri"/>
              </a:rPr>
              <a:t> solubility saturates the blood quickly, so its brain level rises fast. Induction and recovery are </a:t>
            </a:r>
            <a:r>
              <a:rPr sz="2100" i="0" b="1">
                <a:solidFill>
                  <a:srgbClr val="1A1F36"/>
                </a:solidFill>
                <a:latin typeface="Calibri"/>
              </a:rPr>
              <a:t>fast</a:t>
            </a:r>
            <a:r>
              <a:rPr sz="2100" i="0" b="0">
                <a:solidFill>
                  <a:srgbClr val="1A1F36"/>
                </a:solidFill>
                <a:latin typeface="Calibri"/>
              </a:rPr>
              <a:t>. A highly soluble drug stays in the blood, and induction and recovery are slow.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Speed: blood:gas solubility</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1" cy="3840480"/>
        </p:xfrm>
        <a:graphic>
          <a:graphicData uri="http://schemas.openxmlformats.org/drawingml/2006/table">
            <a:tbl>
              <a:tblPr firstRow="0" bandRow="0">
                <a:tableStyleId>{5C22544A-7EE6-4342-B048-85BDC9FD1C3A}</a:tableStyleId>
              </a:tblPr>
              <a:tblGrid>
                <a:gridCol w="1574207"/>
                <a:gridCol w="1124433"/>
                <a:gridCol w="2173905"/>
                <a:gridCol w="1124433"/>
                <a:gridCol w="5097433"/>
              </a:tblGrid>
              <a:tr h="640080">
                <a:tc>
                  <a:txBody>
                    <a:bodyPr/>
                    <a:lstStyle/>
                    <a:p>
                      <a:r>
                        <a:rPr sz="1700" i="0" b="1">
                          <a:solidFill>
                            <a:srgbClr val="FFFFFF"/>
                          </a:solidFill>
                          <a:latin typeface="Calibri"/>
                        </a:rPr>
                        <a:t>Agent</a:t>
                      </a:r>
                    </a:p>
                  </a:txBody>
                  <a:tcPr marL="109728" marR="109728" marT="45720" marB="45720" anchor="ctr">
                    <a:solidFill>
                      <a:srgbClr val="1B2A8C"/>
                    </a:solidFill>
                  </a:tcPr>
                </a:tc>
                <a:tc>
                  <a:txBody>
                    <a:bodyPr/>
                    <a:lstStyle/>
                    <a:p>
                      <a:r>
                        <a:rPr sz="1700" i="0" b="1">
                          <a:solidFill>
                            <a:srgbClr val="FFFFFF"/>
                          </a:solidFill>
                          <a:latin typeface="Calibri"/>
                        </a:rPr>
                        <a:t>MAC (%)</a:t>
                      </a:r>
                    </a:p>
                  </a:txBody>
                  <a:tcPr marL="109728" marR="109728" marT="45720" marB="45720" anchor="ctr">
                    <a:solidFill>
                      <a:srgbClr val="1B2A8C"/>
                    </a:solidFill>
                  </a:tcPr>
                </a:tc>
                <a:tc>
                  <a:txBody>
                    <a:bodyPr/>
                    <a:lstStyle/>
                    <a:p>
                      <a:r>
                        <a:rPr sz="1700" i="0" b="1">
                          <a:solidFill>
                            <a:srgbClr val="FFFFFF"/>
                          </a:solidFill>
                          <a:latin typeface="Calibri"/>
                        </a:rPr>
                        <a:t>Blood:gas coefficient</a:t>
                      </a:r>
                    </a:p>
                  </a:txBody>
                  <a:tcPr marL="109728" marR="109728" marT="45720" marB="45720" anchor="ctr">
                    <a:solidFill>
                      <a:srgbClr val="1B2A8C"/>
                    </a:solidFill>
                  </a:tcPr>
                </a:tc>
                <a:tc>
                  <a:txBody>
                    <a:bodyPr/>
                    <a:lstStyle/>
                    <a:p>
                      <a:r>
                        <a:rPr sz="1700" i="0" b="1">
                          <a:solidFill>
                            <a:srgbClr val="FFFFFF"/>
                          </a:solidFill>
                          <a:latin typeface="Calibri"/>
                        </a:rPr>
                        <a:t>Speed</a:t>
                      </a:r>
                    </a:p>
                  </a:txBody>
                  <a:tcPr marL="109728" marR="109728" marT="45720" marB="45720" anchor="ctr">
                    <a:solidFill>
                      <a:srgbClr val="1B2A8C"/>
                    </a:solidFill>
                  </a:tcPr>
                </a:tc>
                <a:tc>
                  <a:txBody>
                    <a:bodyPr/>
                    <a:lstStyle/>
                    <a:p>
                      <a:r>
                        <a:rPr sz="1700" i="0" b="1">
                          <a:solidFill>
                            <a:srgbClr val="FFFFFF"/>
                          </a:solidFill>
                          <a:latin typeface="Calibri"/>
                        </a:rPr>
                        <a:t>Key points</a:t>
                      </a:r>
                    </a:p>
                  </a:txBody>
                  <a:tcPr marL="109728" marR="109728" marT="45720" marB="45720" anchor="ctr">
                    <a:solidFill>
                      <a:srgbClr val="1B2A8C"/>
                    </a:solidFill>
                  </a:tcPr>
                </a:tc>
              </a:tr>
              <a:tr h="640080">
                <a:tc>
                  <a:txBody>
                    <a:bodyPr/>
                    <a:lstStyle/>
                    <a:p>
                      <a:r>
                        <a:rPr sz="1800" i="0" b="1">
                          <a:solidFill>
                            <a:srgbClr val="1A1F36"/>
                          </a:solidFill>
                          <a:latin typeface="Calibri"/>
                        </a:rPr>
                        <a:t>Nitrous oxide</a:t>
                      </a:r>
                    </a:p>
                  </a:txBody>
                  <a:tcPr marL="109728" marR="109728" marT="45720" marB="45720" anchor="ctr">
                    <a:solidFill>
                      <a:srgbClr val="FFFFFF"/>
                    </a:solidFill>
                  </a:tcPr>
                </a:tc>
                <a:tc>
                  <a:txBody>
                    <a:bodyPr/>
                    <a:lstStyle/>
                    <a:p>
                      <a:r>
                        <a:rPr sz="1800" i="0" b="0">
                          <a:solidFill>
                            <a:srgbClr val="1A1F36"/>
                          </a:solidFill>
                          <a:latin typeface="Calibri"/>
                        </a:rPr>
                        <a:t>104</a:t>
                      </a:r>
                    </a:p>
                  </a:txBody>
                  <a:tcPr marL="109728" marR="109728" marT="45720" marB="45720" anchor="ctr">
                    <a:solidFill>
                      <a:srgbClr val="FFFFFF"/>
                    </a:solidFill>
                  </a:tcPr>
                </a:tc>
                <a:tc>
                  <a:txBody>
                    <a:bodyPr/>
                    <a:lstStyle/>
                    <a:p>
                      <a:r>
                        <a:rPr sz="1800" i="0" b="0">
                          <a:solidFill>
                            <a:srgbClr val="1A1F36"/>
                          </a:solidFill>
                          <a:latin typeface="Calibri"/>
                        </a:rPr>
                        <a:t>0.47</a:t>
                      </a:r>
                    </a:p>
                  </a:txBody>
                  <a:tcPr marL="109728" marR="109728" marT="45720" marB="45720" anchor="ctr">
                    <a:solidFill>
                      <a:srgbClr val="FFFFFF"/>
                    </a:solidFill>
                  </a:tcPr>
                </a:tc>
                <a:tc>
                  <a:txBody>
                    <a:bodyPr/>
                    <a:lstStyle/>
                    <a:p>
                      <a:r>
                        <a:rPr sz="1800" i="0" b="0">
                          <a:solidFill>
                            <a:srgbClr val="1A1F36"/>
                          </a:solidFill>
                          <a:latin typeface="Calibri"/>
                        </a:rPr>
                        <a:t>Fast</a:t>
                      </a:r>
                    </a:p>
                  </a:txBody>
                  <a:tcPr marL="109728" marR="109728" marT="45720" marB="45720" anchor="ctr">
                    <a:solidFill>
                      <a:srgbClr val="FFFFFF"/>
                    </a:solidFill>
                  </a:tcPr>
                </a:tc>
                <a:tc>
                  <a:txBody>
                    <a:bodyPr/>
                    <a:lstStyle/>
                    <a:p>
                      <a:r>
                        <a:rPr sz="1800" i="0" b="0">
                          <a:solidFill>
                            <a:srgbClr val="1A1F36"/>
                          </a:solidFill>
                          <a:latin typeface="Calibri"/>
                        </a:rPr>
                        <a:t>Weak; cannot be used alone; good analgesia; expands air spaces; long use lowers B12</a:t>
                      </a:r>
                    </a:p>
                  </a:txBody>
                  <a:tcPr marL="109728" marR="109728" marT="45720" marB="45720" anchor="ctr">
                    <a:solidFill>
                      <a:srgbClr val="FFFFFF"/>
                    </a:solidFill>
                  </a:tcPr>
                </a:tc>
              </a:tr>
              <a:tr h="640080">
                <a:tc>
                  <a:txBody>
                    <a:bodyPr/>
                    <a:lstStyle/>
                    <a:p>
                      <a:r>
                        <a:rPr sz="1800" i="0" b="1">
                          <a:solidFill>
                            <a:srgbClr val="1A1F36"/>
                          </a:solidFill>
                          <a:latin typeface="Calibri"/>
                        </a:rPr>
                        <a:t>Desflurane</a:t>
                      </a:r>
                    </a:p>
                  </a:txBody>
                  <a:tcPr marL="109728" marR="109728" marT="45720" marB="45720" anchor="ctr">
                    <a:solidFill>
                      <a:srgbClr val="F1F2F8"/>
                    </a:solidFill>
                  </a:tcPr>
                </a:tc>
                <a:tc>
                  <a:txBody>
                    <a:bodyPr/>
                    <a:lstStyle/>
                    <a:p>
                      <a:r>
                        <a:rPr sz="1800" i="0" b="0">
                          <a:solidFill>
                            <a:srgbClr val="1A1F36"/>
                          </a:solidFill>
                          <a:latin typeface="Calibri"/>
                        </a:rPr>
                        <a:t>6</a:t>
                      </a:r>
                    </a:p>
                  </a:txBody>
                  <a:tcPr marL="109728" marR="109728" marT="45720" marB="45720" anchor="ctr">
                    <a:solidFill>
                      <a:srgbClr val="F1F2F8"/>
                    </a:solidFill>
                  </a:tcPr>
                </a:tc>
                <a:tc>
                  <a:txBody>
                    <a:bodyPr/>
                    <a:lstStyle/>
                    <a:p>
                      <a:r>
                        <a:rPr sz="1800" i="0" b="0">
                          <a:solidFill>
                            <a:srgbClr val="1A1F36"/>
                          </a:solidFill>
                          <a:latin typeface="Calibri"/>
                        </a:rPr>
                        <a:t>0.42</a:t>
                      </a:r>
                    </a:p>
                  </a:txBody>
                  <a:tcPr marL="109728" marR="109728" marT="45720" marB="45720" anchor="ctr">
                    <a:solidFill>
                      <a:srgbClr val="F1F2F8"/>
                    </a:solidFill>
                  </a:tcPr>
                </a:tc>
                <a:tc>
                  <a:txBody>
                    <a:bodyPr/>
                    <a:lstStyle/>
                    <a:p>
                      <a:r>
                        <a:rPr sz="1800" i="0" b="0">
                          <a:solidFill>
                            <a:srgbClr val="1A1F36"/>
                          </a:solidFill>
                          <a:latin typeface="Calibri"/>
                        </a:rPr>
                        <a:t>Fastest</a:t>
                      </a:r>
                    </a:p>
                  </a:txBody>
                  <a:tcPr marL="109728" marR="109728" marT="45720" marB="45720" anchor="ctr">
                    <a:solidFill>
                      <a:srgbClr val="F1F2F8"/>
                    </a:solidFill>
                  </a:tcPr>
                </a:tc>
                <a:tc>
                  <a:txBody>
                    <a:bodyPr/>
                    <a:lstStyle/>
                    <a:p>
                      <a:r>
                        <a:rPr sz="1800" i="0" b="0">
                          <a:solidFill>
                            <a:srgbClr val="1A1F36"/>
                          </a:solidFill>
                          <a:latin typeface="Calibri"/>
                        </a:rPr>
                        <a:t>Irritates the airway (cough, bronchospasm); not for induction</a:t>
                      </a:r>
                    </a:p>
                  </a:txBody>
                  <a:tcPr marL="109728" marR="109728" marT="45720" marB="45720" anchor="ctr">
                    <a:solidFill>
                      <a:srgbClr val="F1F2F8"/>
                    </a:solidFill>
                  </a:tcPr>
                </a:tc>
              </a:tr>
              <a:tr h="640080">
                <a:tc>
                  <a:txBody>
                    <a:bodyPr/>
                    <a:lstStyle/>
                    <a:p>
                      <a:r>
                        <a:rPr sz="1800" i="0" b="1">
                          <a:solidFill>
                            <a:srgbClr val="1A1F36"/>
                          </a:solidFill>
                          <a:latin typeface="Calibri"/>
                        </a:rPr>
                        <a:t>Sevoflurane</a:t>
                      </a:r>
                    </a:p>
                  </a:txBody>
                  <a:tcPr marL="109728" marR="109728" marT="45720" marB="45720" anchor="ctr">
                    <a:solidFill>
                      <a:srgbClr val="FFFFFF"/>
                    </a:solidFill>
                  </a:tcPr>
                </a:tc>
                <a:tc>
                  <a:txBody>
                    <a:bodyPr/>
                    <a:lstStyle/>
                    <a:p>
                      <a:r>
                        <a:rPr sz="1800" i="0" b="0">
                          <a:solidFill>
                            <a:srgbClr val="1A1F36"/>
                          </a:solidFill>
                          <a:latin typeface="Calibri"/>
                        </a:rPr>
                        <a:t>2</a:t>
                      </a:r>
                    </a:p>
                  </a:txBody>
                  <a:tcPr marL="109728" marR="109728" marT="45720" marB="45720" anchor="ctr">
                    <a:solidFill>
                      <a:srgbClr val="FFFFFF"/>
                    </a:solidFill>
                  </a:tcPr>
                </a:tc>
                <a:tc>
                  <a:txBody>
                    <a:bodyPr/>
                    <a:lstStyle/>
                    <a:p>
                      <a:r>
                        <a:rPr sz="1800" i="0" b="0">
                          <a:solidFill>
                            <a:srgbClr val="1A1F36"/>
                          </a:solidFill>
                          <a:latin typeface="Calibri"/>
                        </a:rPr>
                        <a:t>0.65</a:t>
                      </a:r>
                    </a:p>
                  </a:txBody>
                  <a:tcPr marL="109728" marR="109728" marT="45720" marB="45720" anchor="ctr">
                    <a:solidFill>
                      <a:srgbClr val="FFFFFF"/>
                    </a:solidFill>
                  </a:tcPr>
                </a:tc>
                <a:tc>
                  <a:txBody>
                    <a:bodyPr/>
                    <a:lstStyle/>
                    <a:p>
                      <a:r>
                        <a:rPr sz="1800" i="0" b="0">
                          <a:solidFill>
                            <a:srgbClr val="1A1F36"/>
                          </a:solidFill>
                          <a:latin typeface="Calibri"/>
                        </a:rPr>
                        <a:t>Fast</a:t>
                      </a:r>
                    </a:p>
                  </a:txBody>
                  <a:tcPr marL="109728" marR="109728" marT="45720" marB="45720" anchor="ctr">
                    <a:solidFill>
                      <a:srgbClr val="FFFFFF"/>
                    </a:solidFill>
                  </a:tcPr>
                </a:tc>
                <a:tc>
                  <a:txBody>
                    <a:bodyPr/>
                    <a:lstStyle/>
                    <a:p>
                      <a:r>
                        <a:rPr sz="1800" i="0" b="0">
                          <a:solidFill>
                            <a:srgbClr val="1A1F36"/>
                          </a:solidFill>
                          <a:latin typeface="Calibri"/>
                        </a:rPr>
                        <a:t>Sweet smell; no airway irritation; best for inhaled induction in children</a:t>
                      </a:r>
                    </a:p>
                  </a:txBody>
                  <a:tcPr marL="109728" marR="109728" marT="45720" marB="45720" anchor="ctr">
                    <a:solidFill>
                      <a:srgbClr val="FFFFFF"/>
                    </a:solidFill>
                  </a:tcPr>
                </a:tc>
              </a:tr>
              <a:tr h="640080">
                <a:tc>
                  <a:txBody>
                    <a:bodyPr/>
                    <a:lstStyle/>
                    <a:p>
                      <a:r>
                        <a:rPr sz="1800" i="0" b="1">
                          <a:solidFill>
                            <a:srgbClr val="1A1F36"/>
                          </a:solidFill>
                          <a:latin typeface="Calibri"/>
                        </a:rPr>
                        <a:t>Isoflurane</a:t>
                      </a:r>
                    </a:p>
                  </a:txBody>
                  <a:tcPr marL="109728" marR="109728" marT="45720" marB="45720" anchor="ctr">
                    <a:solidFill>
                      <a:srgbClr val="F1F2F8"/>
                    </a:solidFill>
                  </a:tcPr>
                </a:tc>
                <a:tc>
                  <a:txBody>
                    <a:bodyPr/>
                    <a:lstStyle/>
                    <a:p>
                      <a:r>
                        <a:rPr sz="1800" i="0" b="0">
                          <a:solidFill>
                            <a:srgbClr val="1A1F36"/>
                          </a:solidFill>
                          <a:latin typeface="Calibri"/>
                        </a:rPr>
                        <a:t>1.2</a:t>
                      </a:r>
                    </a:p>
                  </a:txBody>
                  <a:tcPr marL="109728" marR="109728" marT="45720" marB="45720" anchor="ctr">
                    <a:solidFill>
                      <a:srgbClr val="F1F2F8"/>
                    </a:solidFill>
                  </a:tcPr>
                </a:tc>
                <a:tc>
                  <a:txBody>
                    <a:bodyPr/>
                    <a:lstStyle/>
                    <a:p>
                      <a:r>
                        <a:rPr sz="1800" i="0" b="0">
                          <a:solidFill>
                            <a:srgbClr val="1A1F36"/>
                          </a:solidFill>
                          <a:latin typeface="Calibri"/>
                        </a:rPr>
                        <a:t>1.4</a:t>
                      </a:r>
                    </a:p>
                  </a:txBody>
                  <a:tcPr marL="109728" marR="109728" marT="45720" marB="45720" anchor="ctr">
                    <a:solidFill>
                      <a:srgbClr val="F1F2F8"/>
                    </a:solidFill>
                  </a:tcPr>
                </a:tc>
                <a:tc>
                  <a:txBody>
                    <a:bodyPr/>
                    <a:lstStyle/>
                    <a:p>
                      <a:r>
                        <a:rPr sz="1800" i="0" b="0">
                          <a:solidFill>
                            <a:srgbClr val="1A1F36"/>
                          </a:solidFill>
                          <a:latin typeface="Calibri"/>
                        </a:rPr>
                        <a:t>Slower</a:t>
                      </a:r>
                    </a:p>
                  </a:txBody>
                  <a:tcPr marL="109728" marR="109728" marT="45720" marB="45720" anchor="ctr">
                    <a:solidFill>
                      <a:srgbClr val="F1F2F8"/>
                    </a:solidFill>
                  </a:tcPr>
                </a:tc>
                <a:tc>
                  <a:txBody>
                    <a:bodyPr/>
                    <a:lstStyle/>
                    <a:p>
                      <a:r>
                        <a:rPr sz="1800" i="0" b="0">
                          <a:solidFill>
                            <a:srgbClr val="1A1F36"/>
                          </a:solidFill>
                          <a:latin typeface="Calibri"/>
                        </a:rPr>
                        <a:t>Pungent; cheap maintenance agent</a:t>
                      </a:r>
                    </a:p>
                  </a:txBody>
                  <a:tcPr marL="109728" marR="109728" marT="45720" marB="45720" anchor="ctr">
                    <a:solidFill>
                      <a:srgbClr val="F1F2F8"/>
                    </a:solidFill>
                  </a:tcPr>
                </a:tc>
              </a:tr>
              <a:tr h="640080">
                <a:tc>
                  <a:txBody>
                    <a:bodyPr/>
                    <a:lstStyle/>
                    <a:p>
                      <a:r>
                        <a:rPr sz="1800" i="0" b="1">
                          <a:solidFill>
                            <a:srgbClr val="1A1F36"/>
                          </a:solidFill>
                          <a:latin typeface="Calibri"/>
                        </a:rPr>
                        <a:t>Halothane</a:t>
                      </a:r>
                    </a:p>
                  </a:txBody>
                  <a:tcPr marL="109728" marR="109728" marT="45720" marB="45720" anchor="ctr">
                    <a:solidFill>
                      <a:srgbClr val="FFFFFF"/>
                    </a:solidFill>
                  </a:tcPr>
                </a:tc>
                <a:tc>
                  <a:txBody>
                    <a:bodyPr/>
                    <a:lstStyle/>
                    <a:p>
                      <a:r>
                        <a:rPr sz="1800" i="0" b="0">
                          <a:solidFill>
                            <a:srgbClr val="1A1F36"/>
                          </a:solidFill>
                          <a:latin typeface="Calibri"/>
                        </a:rPr>
                        <a:t>0.75</a:t>
                      </a:r>
                    </a:p>
                  </a:txBody>
                  <a:tcPr marL="109728" marR="109728" marT="45720" marB="45720" anchor="ctr">
                    <a:solidFill>
                      <a:srgbClr val="FFFFFF"/>
                    </a:solidFill>
                  </a:tcPr>
                </a:tc>
                <a:tc>
                  <a:txBody>
                    <a:bodyPr/>
                    <a:lstStyle/>
                    <a:p>
                      <a:r>
                        <a:rPr sz="1800" i="0" b="0">
                          <a:solidFill>
                            <a:srgbClr val="1A1F36"/>
                          </a:solidFill>
                          <a:latin typeface="Calibri"/>
                        </a:rPr>
                        <a:t>2.3</a:t>
                      </a:r>
                    </a:p>
                  </a:txBody>
                  <a:tcPr marL="109728" marR="109728" marT="45720" marB="45720" anchor="ctr">
                    <a:solidFill>
                      <a:srgbClr val="FFFFFF"/>
                    </a:solidFill>
                  </a:tcPr>
                </a:tc>
                <a:tc>
                  <a:txBody>
                    <a:bodyPr/>
                    <a:lstStyle/>
                    <a:p>
                      <a:r>
                        <a:rPr sz="1800" i="0" b="0">
                          <a:solidFill>
                            <a:srgbClr val="1A1F36"/>
                          </a:solidFill>
                          <a:latin typeface="Calibri"/>
                        </a:rPr>
                        <a:t>Slowest</a:t>
                      </a:r>
                    </a:p>
                  </a:txBody>
                  <a:tcPr marL="109728" marR="109728" marT="45720" marB="45720" anchor="ctr">
                    <a:solidFill>
                      <a:srgbClr val="FFFFFF"/>
                    </a:solidFill>
                  </a:tcPr>
                </a:tc>
                <a:tc>
                  <a:txBody>
                    <a:bodyPr/>
                    <a:lstStyle/>
                    <a:p>
                      <a:r>
                        <a:rPr sz="1800" i="0" b="0">
                          <a:solidFill>
                            <a:srgbClr val="1A1F36"/>
                          </a:solidFill>
                          <a:latin typeface="Calibri"/>
                        </a:rPr>
                        <a:t>Arrhythmias with adrenaline; rare halothane hepatitis</a:t>
                      </a:r>
                    </a:p>
                  </a:txBody>
                  <a:tcPr marL="109728" marR="109728" marT="45720" marB="4572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of volatile agents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077849"/>
          </a:xfrm>
          <a:prstGeom prst="rect">
            <a:avLst/>
          </a:prstGeom>
          <a:noFill/>
        </p:spPr>
        <p:txBody>
          <a:bodyPr wrap="square" anchor="t" lIns="0" rIns="0" tIns="0" bIns="0">
            <a:spAutoFit/>
          </a:bodyPr>
          <a:lstStyle/>
          <a:p>
            <a:r>
              <a:rPr sz="2100" i="0" b="0">
                <a:solidFill>
                  <a:srgbClr val="1A1F36"/>
                </a:solidFill>
                <a:latin typeface="Calibri"/>
              </a:rPr>
              <a:t>Dose-related fall in blood pressure (heart depression and vasodilation) and in breathing.</a:t>
            </a:r>
          </a:p>
        </p:txBody>
      </p:sp>
      <p:sp>
        <p:nvSpPr>
          <p:cNvPr id="10" name="Oval 9"/>
          <p:cNvSpPr/>
          <p:nvPr/>
        </p:nvSpPr>
        <p:spPr>
          <a:xfrm>
            <a:off x="548640" y="269633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14625"/>
            <a:ext cx="10500055" cy="744474"/>
          </a:xfrm>
          <a:prstGeom prst="rect">
            <a:avLst/>
          </a:prstGeom>
          <a:noFill/>
        </p:spPr>
        <p:txBody>
          <a:bodyPr wrap="square" anchor="t" lIns="0" rIns="0" tIns="0" bIns="0">
            <a:spAutoFit/>
          </a:bodyPr>
          <a:lstStyle/>
          <a:p>
            <a:r>
              <a:rPr sz="2100" i="0" b="0">
                <a:solidFill>
                  <a:srgbClr val="1A1F36"/>
                </a:solidFill>
                <a:latin typeface="Calibri"/>
              </a:rPr>
              <a:t>Raised intracranial pressure from cerebral vasodilation.</a:t>
            </a:r>
          </a:p>
        </p:txBody>
      </p:sp>
      <p:sp>
        <p:nvSpPr>
          <p:cNvPr id="12" name="Oval 11"/>
          <p:cNvSpPr/>
          <p:nvPr/>
        </p:nvSpPr>
        <p:spPr>
          <a:xfrm>
            <a:off x="548640" y="348653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504819"/>
            <a:ext cx="10500055" cy="1077849"/>
          </a:xfrm>
          <a:prstGeom prst="rect">
            <a:avLst/>
          </a:prstGeom>
          <a:noFill/>
        </p:spPr>
        <p:txBody>
          <a:bodyPr wrap="square" anchor="t" lIns="0" rIns="0" tIns="0" bIns="0">
            <a:spAutoFit/>
          </a:bodyPr>
          <a:lstStyle/>
          <a:p>
            <a:r>
              <a:rPr sz="2100" i="0" b="0">
                <a:solidFill>
                  <a:srgbClr val="1A1F36"/>
                </a:solidFill>
                <a:latin typeface="Calibri"/>
              </a:rPr>
              <a:t>Uterine relaxation: helpful to remove a retained placenta, but it increases bleeding after delivery.</a:t>
            </a:r>
          </a:p>
        </p:txBody>
      </p:sp>
      <p:sp>
        <p:nvSpPr>
          <p:cNvPr id="14" name="Oval 13"/>
          <p:cNvSpPr/>
          <p:nvPr/>
        </p:nvSpPr>
        <p:spPr>
          <a:xfrm>
            <a:off x="548640" y="461009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628388"/>
            <a:ext cx="10500055" cy="744474"/>
          </a:xfrm>
          <a:prstGeom prst="rect">
            <a:avLst/>
          </a:prstGeom>
          <a:noFill/>
        </p:spPr>
        <p:txBody>
          <a:bodyPr wrap="square" anchor="t" lIns="0" rIns="0" tIns="0" bIns="0">
            <a:spAutoFit/>
          </a:bodyPr>
          <a:lstStyle/>
          <a:p>
            <a:r>
              <a:rPr sz="2100" i="0" b="0">
                <a:solidFill>
                  <a:srgbClr val="1A1F36"/>
                </a:solidFill>
                <a:latin typeface="Calibri"/>
              </a:rPr>
              <a:t>Postoperative nausea and vomiting.</a:t>
            </a:r>
          </a:p>
        </p:txBody>
      </p:sp>
      <p:sp>
        <p:nvSpPr>
          <p:cNvPr id="16" name="Oval 15"/>
          <p:cNvSpPr/>
          <p:nvPr/>
        </p:nvSpPr>
        <p:spPr>
          <a:xfrm>
            <a:off x="548640" y="540029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418582"/>
            <a:ext cx="10500055" cy="744474"/>
          </a:xfrm>
          <a:prstGeom prst="rect">
            <a:avLst/>
          </a:prstGeom>
          <a:noFill/>
        </p:spPr>
        <p:txBody>
          <a:bodyPr wrap="square" anchor="t" lIns="0" rIns="0" tIns="0" bIns="0">
            <a:spAutoFit/>
          </a:bodyPr>
          <a:lstStyle/>
          <a:p>
            <a:r>
              <a:rPr sz="2100" i="0" b="1">
                <a:solidFill>
                  <a:srgbClr val="1A1F36"/>
                </a:solidFill>
                <a:latin typeface="Calibri"/>
              </a:rPr>
              <a:t>Malignant hyperthermia</a:t>
            </a:r>
            <a:r>
              <a:rPr sz="2100" i="0" b="0">
                <a:solidFill>
                  <a:srgbClr val="1A1F36"/>
                </a:solidFill>
                <a:latin typeface="Calibri"/>
              </a:rPr>
              <a:t> in susceptible patients (Section 8.5).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Inhaled Anaesthetics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100" i="0" b="0">
                <a:solidFill>
                  <a:srgbClr val="1A1F36"/>
                </a:solidFill>
                <a:latin typeface="Calibri"/>
              </a:rPr>
              <a:t>MAC measures </a:t>
            </a:r>
            <a:r>
              <a:rPr sz="2100" i="0" b="1">
                <a:solidFill>
                  <a:srgbClr val="1A1F36"/>
                </a:solidFill>
                <a:latin typeface="Calibri"/>
              </a:rPr>
              <a:t>potency</a:t>
            </a:r>
            <a:r>
              <a:rPr sz="2100" i="0" b="0">
                <a:solidFill>
                  <a:srgbClr val="1A1F36"/>
                </a:solidFill>
                <a:latin typeface="Calibri"/>
              </a:rPr>
              <a:t> (low MAC = potent). Blood:gas solubility measures </a:t>
            </a:r>
            <a:r>
              <a:rPr sz="2100" i="0" b="1">
                <a:solidFill>
                  <a:srgbClr val="1A1F36"/>
                </a:solidFill>
                <a:latin typeface="Calibri"/>
              </a:rPr>
              <a:t>speed</a:t>
            </a:r>
            <a:r>
              <a:rPr sz="2100" i="0" b="0">
                <a:solidFill>
                  <a:srgbClr val="1A1F36"/>
                </a:solidFill>
                <a:latin typeface="Calibri"/>
              </a:rPr>
              <a:t> (low solubility = fast). Halothane is the most potent but slowest; N₂O is the least potent.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Intravenous Anaesthetics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IV anaesthetics are very lipid-soluble. After a bolus they reach the brain within one arm-to-brain time, about 30 seconds. They wake the patient by redistribution to muscle and fat. After long infusions, fat becomes saturated and recovery is slower.</a:t>
            </a:r>
          </a:p>
          <a:p>
            <a:pPr>
              <a:spcAft>
                <a:spcPts val="800"/>
              </a:spcAft>
            </a:pPr>
            <a:r>
              <a:rPr sz="2100" i="0" b="1">
                <a:solidFill>
                  <a:srgbClr val="1A1F36"/>
                </a:solidFill>
                <a:latin typeface="Calibri"/>
              </a:rPr>
              <a:t>Ketamine in more detail.</a:t>
            </a:r>
            <a:r>
              <a:rPr sz="2100" i="0" b="0">
                <a:solidFill>
                  <a:srgbClr val="1A1F36"/>
                </a:solidFill>
                <a:latin typeface="Calibri"/>
              </a:rPr>
              <a:t> Ketamine keeps the airway reflexes and causes only mild breathing depression. It is not free of respiratory effects: it increases secretions, and deep doses can still depress breathing. It stimulates the sympathetic system, so blood pressure rises. It relaxes bronchi. Emergence reactions are fewer in children and are reduced by a benzodiazepine.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Intravenous Anaesthetics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840480"/>
        </p:xfrm>
        <a:graphic>
          <a:graphicData uri="http://schemas.openxmlformats.org/drawingml/2006/table">
            <a:tbl>
              <a:tblPr firstRow="0" bandRow="0">
                <a:tableStyleId>{5C22544A-7EE6-4342-B048-85BDC9FD1C3A}</a:tableStyleId>
              </a:tblPr>
              <a:tblGrid>
                <a:gridCol w="924534"/>
                <a:gridCol w="3492686"/>
                <a:gridCol w="3492686"/>
                <a:gridCol w="3184508"/>
              </a:tblGrid>
              <a:tr h="640080">
                <a:tc>
                  <a:txBody>
                    <a:bodyPr/>
                    <a:lstStyle/>
                    <a:p>
                      <a:r>
                        <a:rPr sz="1200" i="0" b="1">
                          <a:solidFill>
                            <a:srgbClr val="FFFFFF"/>
                          </a:solidFill>
                          <a:latin typeface="Calibri"/>
                        </a:rPr>
                        <a:t>Drug</a:t>
                      </a:r>
                    </a:p>
                  </a:txBody>
                  <a:tcPr marL="109728" marR="109728" marT="45720" marB="45720" anchor="ctr">
                    <a:solidFill>
                      <a:srgbClr val="1B2A8C"/>
                    </a:solidFill>
                  </a:tcPr>
                </a:tc>
                <a:tc>
                  <a:txBody>
                    <a:bodyPr/>
                    <a:lstStyle/>
                    <a:p>
                      <a:r>
                        <a:rPr sz="1200" i="0" b="1">
                          <a:solidFill>
                            <a:srgbClr val="FFFFFF"/>
                          </a:solidFill>
                          <a:latin typeface="Calibri"/>
                        </a:rPr>
                        <a:t>Main features</a:t>
                      </a:r>
                    </a:p>
                  </a:txBody>
                  <a:tcPr marL="109728" marR="109728" marT="45720" marB="45720" anchor="ctr">
                    <a:solidFill>
                      <a:srgbClr val="1B2A8C"/>
                    </a:solidFill>
                  </a:tcPr>
                </a:tc>
                <a:tc>
                  <a:txBody>
                    <a:bodyPr/>
                    <a:lstStyle/>
                    <a:p>
                      <a:r>
                        <a:rPr sz="1200" i="0" b="1">
                          <a:solidFill>
                            <a:srgbClr val="FFFFFF"/>
                          </a:solidFill>
                          <a:latin typeface="Calibri"/>
                        </a:rPr>
                        <a:t>Adverse effects</a:t>
                      </a:r>
                    </a:p>
                  </a:txBody>
                  <a:tcPr marL="109728" marR="109728" marT="45720" marB="45720" anchor="ctr">
                    <a:solidFill>
                      <a:srgbClr val="1B2A8C"/>
                    </a:solidFill>
                  </a:tcPr>
                </a:tc>
                <a:tc>
                  <a:txBody>
                    <a:bodyPr/>
                    <a:lstStyle/>
                    <a:p>
                      <a:r>
                        <a:rPr sz="1200" i="0" b="1">
                          <a:solidFill>
                            <a:srgbClr val="FFFFFF"/>
                          </a:solidFill>
                          <a:latin typeface="Calibri"/>
                        </a:rPr>
                        <a:t>Best use</a:t>
                      </a:r>
                    </a:p>
                  </a:txBody>
                  <a:tcPr marL="109728" marR="109728" marT="45720" marB="45720" anchor="ctr">
                    <a:solidFill>
                      <a:srgbClr val="1B2A8C"/>
                    </a:solidFill>
                  </a:tcPr>
                </a:tc>
              </a:tr>
              <a:tr h="640080">
                <a:tc>
                  <a:txBody>
                    <a:bodyPr/>
                    <a:lstStyle/>
                    <a:p>
                      <a:r>
                        <a:rPr sz="1300" i="0" b="1">
                          <a:solidFill>
                            <a:srgbClr val="1A1F36"/>
                          </a:solidFill>
                          <a:latin typeface="Calibri"/>
                        </a:rPr>
                        <a:t>Propofol</a:t>
                      </a:r>
                    </a:p>
                  </a:txBody>
                  <a:tcPr marL="109728" marR="109728" marT="45720" marB="45720" anchor="ctr">
                    <a:solidFill>
                      <a:srgbClr val="FFFFFF"/>
                    </a:solidFill>
                  </a:tcPr>
                </a:tc>
                <a:tc>
                  <a:txBody>
                    <a:bodyPr/>
                    <a:lstStyle/>
                    <a:p>
                      <a:r>
                        <a:rPr sz="1300" i="0" b="0">
                          <a:solidFill>
                            <a:srgbClr val="1A1F36"/>
                          </a:solidFill>
                          <a:latin typeface="Calibri"/>
                        </a:rPr>
                        <a:t>Fast, clear-headed recovery; antiemetic</a:t>
                      </a:r>
                    </a:p>
                  </a:txBody>
                  <a:tcPr marL="109728" marR="109728" marT="45720" marB="45720" anchor="ctr">
                    <a:solidFill>
                      <a:srgbClr val="FFFFFF"/>
                    </a:solidFill>
                  </a:tcPr>
                </a:tc>
                <a:tc>
                  <a:txBody>
                    <a:bodyPr/>
                    <a:lstStyle/>
                    <a:p>
                      <a:r>
                        <a:rPr sz="1300" i="0" b="0">
                          <a:solidFill>
                            <a:srgbClr val="1A1F36"/>
                          </a:solidFill>
                          <a:latin typeface="Calibri"/>
                        </a:rPr>
                        <a:t>Pain on injection; hypotension; breathing depression; propofol infusion syndrome (acidosis, rhabdomyolysis, hyperkalaemia, heart failure) with long high-dose infusions</a:t>
                      </a:r>
                    </a:p>
                  </a:txBody>
                  <a:tcPr marL="109728" marR="109728" marT="45720" marB="45720" anchor="ctr">
                    <a:solidFill>
                      <a:srgbClr val="FFFFFF"/>
                    </a:solidFill>
                  </a:tcPr>
                </a:tc>
                <a:tc>
                  <a:txBody>
                    <a:bodyPr/>
                    <a:lstStyle/>
                    <a:p>
                      <a:r>
                        <a:rPr sz="1300" i="0" b="0">
                          <a:solidFill>
                            <a:srgbClr val="1A1F36"/>
                          </a:solidFill>
                          <a:latin typeface="Calibri"/>
                        </a:rPr>
                        <a:t>Most inductions; maintenance by infusion; ICU sedation</a:t>
                      </a:r>
                    </a:p>
                  </a:txBody>
                  <a:tcPr marL="109728" marR="109728" marT="45720" marB="45720" anchor="ctr">
                    <a:solidFill>
                      <a:srgbClr val="FFFFFF"/>
                    </a:solidFill>
                  </a:tcPr>
                </a:tc>
              </a:tr>
              <a:tr h="640080">
                <a:tc>
                  <a:txBody>
                    <a:bodyPr/>
                    <a:lstStyle/>
                    <a:p>
                      <a:r>
                        <a:rPr sz="1300" i="0" b="1">
                          <a:solidFill>
                            <a:srgbClr val="1A1F36"/>
                          </a:solidFill>
                          <a:latin typeface="Calibri"/>
                        </a:rPr>
                        <a:t>Thiopental</a:t>
                      </a:r>
                    </a:p>
                  </a:txBody>
                  <a:tcPr marL="109728" marR="109728" marT="45720" marB="45720" anchor="ctr">
                    <a:solidFill>
                      <a:srgbClr val="F1F2F8"/>
                    </a:solidFill>
                  </a:tcPr>
                </a:tc>
                <a:tc>
                  <a:txBody>
                    <a:bodyPr/>
                    <a:lstStyle/>
                    <a:p>
                      <a:r>
                        <a:rPr sz="1300" i="0" b="0">
                          <a:solidFill>
                            <a:srgbClr val="1A1F36"/>
                          </a:solidFill>
                          <a:latin typeface="Calibri"/>
                        </a:rPr>
                        <a:t>Barbiturate; acts in about 20 s, lasts 5–15 min</a:t>
                      </a:r>
                    </a:p>
                  </a:txBody>
                  <a:tcPr marL="109728" marR="109728" marT="45720" marB="45720" anchor="ctr">
                    <a:solidFill>
                      <a:srgbClr val="F1F2F8"/>
                    </a:solidFill>
                  </a:tcPr>
                </a:tc>
                <a:tc>
                  <a:txBody>
                    <a:bodyPr/>
                    <a:lstStyle/>
                    <a:p>
                      <a:r>
                        <a:rPr sz="1300" i="0" b="0">
                          <a:solidFill>
                            <a:srgbClr val="1A1F36"/>
                          </a:solidFill>
                          <a:latin typeface="Calibri"/>
                        </a:rPr>
                        <a:t>Hypotension; tissue necrosis if injected outside the vein; enzyme induction; porphyria</a:t>
                      </a:r>
                    </a:p>
                  </a:txBody>
                  <a:tcPr marL="109728" marR="109728" marT="45720" marB="45720" anchor="ctr">
                    <a:solidFill>
                      <a:srgbClr val="F1F2F8"/>
                    </a:solidFill>
                  </a:tcPr>
                </a:tc>
                <a:tc>
                  <a:txBody>
                    <a:bodyPr/>
                    <a:lstStyle/>
                    <a:p>
                      <a:r>
                        <a:rPr sz="1300" i="0" b="0">
                          <a:solidFill>
                            <a:srgbClr val="1A1F36"/>
                          </a:solidFill>
                          <a:latin typeface="Calibri"/>
                        </a:rPr>
                        <a:t>Rarely now; raised intracranial pressure</a:t>
                      </a:r>
                    </a:p>
                  </a:txBody>
                  <a:tcPr marL="109728" marR="109728" marT="45720" marB="45720" anchor="ctr">
                    <a:solidFill>
                      <a:srgbClr val="F1F2F8"/>
                    </a:solidFill>
                  </a:tcPr>
                </a:tc>
              </a:tr>
              <a:tr h="640080">
                <a:tc>
                  <a:txBody>
                    <a:bodyPr/>
                    <a:lstStyle/>
                    <a:p>
                      <a:r>
                        <a:rPr sz="1300" i="0" b="1">
                          <a:solidFill>
                            <a:srgbClr val="1A1F36"/>
                          </a:solidFill>
                          <a:latin typeface="Calibri"/>
                        </a:rPr>
                        <a:t>Etomidate</a:t>
                      </a:r>
                    </a:p>
                  </a:txBody>
                  <a:tcPr marL="109728" marR="109728" marT="45720" marB="45720" anchor="ctr">
                    <a:solidFill>
                      <a:srgbClr val="FFFFFF"/>
                    </a:solidFill>
                  </a:tcPr>
                </a:tc>
                <a:tc>
                  <a:txBody>
                    <a:bodyPr/>
                    <a:lstStyle/>
                    <a:p>
                      <a:r>
                        <a:rPr sz="1300" i="0" b="0">
                          <a:solidFill>
                            <a:srgbClr val="1A1F36"/>
                          </a:solidFill>
                          <a:latin typeface="Calibri"/>
                        </a:rPr>
                        <a:t>Keeps blood pressure stable</a:t>
                      </a:r>
                    </a:p>
                  </a:txBody>
                  <a:tcPr marL="109728" marR="109728" marT="45720" marB="45720" anchor="ctr">
                    <a:solidFill>
                      <a:srgbClr val="FFFFFF"/>
                    </a:solidFill>
                  </a:tcPr>
                </a:tc>
                <a:tc>
                  <a:txBody>
                    <a:bodyPr/>
                    <a:lstStyle/>
                    <a:p>
                      <a:r>
                        <a:rPr sz="1300" i="0" b="0">
                          <a:solidFill>
                            <a:srgbClr val="1A1F36"/>
                          </a:solidFill>
                          <a:latin typeface="Calibri"/>
                        </a:rPr>
                        <a:t>Adrenal suppression (blocks 11β-hydroxylase); myoclonus; nausea</a:t>
                      </a:r>
                    </a:p>
                  </a:txBody>
                  <a:tcPr marL="109728" marR="109728" marT="45720" marB="45720" anchor="ctr">
                    <a:solidFill>
                      <a:srgbClr val="FFFFFF"/>
                    </a:solidFill>
                  </a:tcPr>
                </a:tc>
                <a:tc>
                  <a:txBody>
                    <a:bodyPr/>
                    <a:lstStyle/>
                    <a:p>
                      <a:r>
                        <a:rPr sz="1300" i="0" b="0">
                          <a:solidFill>
                            <a:srgbClr val="1A1F36"/>
                          </a:solidFill>
                          <a:latin typeface="Calibri"/>
                        </a:rPr>
                        <a:t>Unstable heart patients</a:t>
                      </a:r>
                    </a:p>
                  </a:txBody>
                  <a:tcPr marL="109728" marR="109728" marT="45720" marB="45720" anchor="ctr">
                    <a:solidFill>
                      <a:srgbClr val="FFFFFF"/>
                    </a:solidFill>
                  </a:tcPr>
                </a:tc>
              </a:tr>
              <a:tr h="640080">
                <a:tc>
                  <a:txBody>
                    <a:bodyPr/>
                    <a:lstStyle/>
                    <a:p>
                      <a:r>
                        <a:rPr sz="1300" i="0" b="1">
                          <a:solidFill>
                            <a:srgbClr val="1A1F36"/>
                          </a:solidFill>
                          <a:latin typeface="Calibri"/>
                        </a:rPr>
                        <a:t>Ketamine</a:t>
                      </a:r>
                    </a:p>
                  </a:txBody>
                  <a:tcPr marL="109728" marR="109728" marT="45720" marB="45720" anchor="ctr">
                    <a:solidFill>
                      <a:srgbClr val="F1F2F8"/>
                    </a:solidFill>
                  </a:tcPr>
                </a:tc>
                <a:tc>
                  <a:txBody>
                    <a:bodyPr/>
                    <a:lstStyle/>
                    <a:p>
                      <a:r>
                        <a:rPr sz="1300" i="0" b="0">
                          <a:solidFill>
                            <a:srgbClr val="1A1F36"/>
                          </a:solidFill>
                          <a:latin typeface="Calibri"/>
                        </a:rPr>
                        <a:t>NMDA antagonist; "dissociative" state; strong analgesia</a:t>
                      </a:r>
                    </a:p>
                  </a:txBody>
                  <a:tcPr marL="109728" marR="109728" marT="45720" marB="45720" anchor="ctr">
                    <a:solidFill>
                      <a:srgbClr val="F1F2F8"/>
                    </a:solidFill>
                  </a:tcPr>
                </a:tc>
                <a:tc>
                  <a:txBody>
                    <a:bodyPr/>
                    <a:lstStyle/>
                    <a:p>
                      <a:r>
                        <a:rPr sz="1300" i="0" b="0">
                          <a:solidFill>
                            <a:srgbClr val="1A1F36"/>
                          </a:solidFill>
                          <a:latin typeface="Calibri"/>
                        </a:rPr>
                        <a:t>Raises BP and heart rate; hallucinations and vivid dreams on waking; more secretions; raised intracranial pressure</a:t>
                      </a:r>
                    </a:p>
                  </a:txBody>
                  <a:tcPr marL="109728" marR="109728" marT="45720" marB="45720" anchor="ctr">
                    <a:solidFill>
                      <a:srgbClr val="F1F2F8"/>
                    </a:solidFill>
                  </a:tcPr>
                </a:tc>
                <a:tc>
                  <a:txBody>
                    <a:bodyPr/>
                    <a:lstStyle/>
                    <a:p>
                      <a:r>
                        <a:rPr sz="1300" i="0" b="0">
                          <a:solidFill>
                            <a:srgbClr val="1A1F36"/>
                          </a:solidFill>
                          <a:latin typeface="Calibri"/>
                        </a:rPr>
                        <a:t>Shock, trauma, asthma, children; painful procedures</a:t>
                      </a:r>
                    </a:p>
                  </a:txBody>
                  <a:tcPr marL="109728" marR="109728" marT="45720" marB="45720" anchor="ctr">
                    <a:solidFill>
                      <a:srgbClr val="F1F2F8"/>
                    </a:solidFill>
                  </a:tcPr>
                </a:tc>
              </a:tr>
              <a:tr h="640080">
                <a:tc>
                  <a:txBody>
                    <a:bodyPr/>
                    <a:lstStyle/>
                    <a:p>
                      <a:r>
                        <a:rPr sz="1300" i="0" b="1">
                          <a:solidFill>
                            <a:srgbClr val="1A1F36"/>
                          </a:solidFill>
                          <a:latin typeface="Calibri"/>
                        </a:rPr>
                        <a:t>Midazolam</a:t>
                      </a:r>
                    </a:p>
                  </a:txBody>
                  <a:tcPr marL="109728" marR="109728" marT="45720" marB="45720" anchor="ctr">
                    <a:solidFill>
                      <a:srgbClr val="FFFFFF"/>
                    </a:solidFill>
                  </a:tcPr>
                </a:tc>
                <a:tc>
                  <a:txBody>
                    <a:bodyPr/>
                    <a:lstStyle/>
                    <a:p>
                      <a:r>
                        <a:rPr sz="1300" i="0" b="0">
                          <a:solidFill>
                            <a:srgbClr val="1A1F36"/>
                          </a:solidFill>
                          <a:latin typeface="Calibri"/>
                        </a:rPr>
                        <a:t>Benzodiazepine; sedation and amnesia; reversed by flumazenil</a:t>
                      </a:r>
                    </a:p>
                  </a:txBody>
                  <a:tcPr marL="109728" marR="109728" marT="45720" marB="45720" anchor="ctr">
                    <a:solidFill>
                      <a:srgbClr val="FFFFFF"/>
                    </a:solidFill>
                  </a:tcPr>
                </a:tc>
                <a:tc>
                  <a:txBody>
                    <a:bodyPr/>
                    <a:lstStyle/>
                    <a:p>
                      <a:r>
                        <a:rPr sz="1300" i="0" b="0">
                          <a:solidFill>
                            <a:srgbClr val="1A1F36"/>
                          </a:solidFill>
                          <a:latin typeface="Calibri"/>
                        </a:rPr>
                        <a:t>Breathing depression, especially with opioids</a:t>
                      </a:r>
                    </a:p>
                  </a:txBody>
                  <a:tcPr marL="109728" marR="109728" marT="45720" marB="45720" anchor="ctr">
                    <a:solidFill>
                      <a:srgbClr val="FFFFFF"/>
                    </a:solidFill>
                  </a:tcPr>
                </a:tc>
                <a:tc>
                  <a:txBody>
                    <a:bodyPr/>
                    <a:lstStyle/>
                    <a:p>
                      <a:r>
                        <a:rPr sz="1300" i="0" b="0">
                          <a:solidFill>
                            <a:srgbClr val="1A1F36"/>
                          </a:solidFill>
                          <a:latin typeface="Calibri"/>
                        </a:rPr>
                        <a:t>Premedication; procedural sedation</a:t>
                      </a:r>
                    </a:p>
                  </a:txBody>
                  <a:tcPr marL="109728" marR="109728" marT="45720" marB="4572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8</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Choose the IV agent for the patient. In a patient in </a:t>
            </a:r>
            <a:r>
              <a:rPr sz="2200" i="0" b="1">
                <a:solidFill>
                  <a:srgbClr val="1A1F36"/>
                </a:solidFill>
                <a:latin typeface="Calibri"/>
              </a:rPr>
              <a:t>shock</a:t>
            </a:r>
            <a:r>
              <a:rPr sz="2200" i="0" b="0">
                <a:solidFill>
                  <a:srgbClr val="1A1F36"/>
                </a:solidFill>
                <a:latin typeface="Calibri"/>
              </a:rPr>
              <a:t> or with </a:t>
            </a:r>
            <a:r>
              <a:rPr sz="2200" i="0" b="1">
                <a:solidFill>
                  <a:srgbClr val="1A1F36"/>
                </a:solidFill>
                <a:latin typeface="Calibri"/>
              </a:rPr>
              <a:t>asthma</a:t>
            </a:r>
            <a:r>
              <a:rPr sz="2200" i="0" b="0">
                <a:solidFill>
                  <a:srgbClr val="1A1F36"/>
                </a:solidFill>
                <a:latin typeface="Calibri"/>
              </a:rPr>
              <a:t>, ketamine keeps blood pressure and opens the airways. In a patient with </a:t>
            </a:r>
            <a:r>
              <a:rPr sz="2200" i="0" b="1">
                <a:solidFill>
                  <a:srgbClr val="1A1F36"/>
                </a:solidFill>
                <a:latin typeface="Calibri"/>
              </a:rPr>
              <a:t>heart disease</a:t>
            </a:r>
            <a:r>
              <a:rPr sz="2200" i="0" b="0">
                <a:solidFill>
                  <a:srgbClr val="1A1F36"/>
                </a:solidFill>
                <a:latin typeface="Calibri"/>
              </a:rPr>
              <a:t> who needs stable blood pressure, etomidate is useful. For most healthy patients, propofol gives the smoothest recovery. Midazolam alone gives sedation without analgesia, so it suits endoscopy but not painful procedures.</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General Anaesthetics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39</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Malignant Hyperthermia</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808988"/>
          </a:xfrm>
          <a:prstGeom prst="rect">
            <a:avLst/>
          </a:prstGeom>
          <a:noFill/>
        </p:spPr>
        <p:txBody>
          <a:bodyPr wrap="square" anchor="t" lIns="0" rIns="0" tIns="0" bIns="0">
            <a:spAutoFit/>
          </a:bodyPr>
          <a:lstStyle/>
          <a:p>
            <a:r>
              <a:rPr sz="2100" i="0" b="0">
                <a:solidFill>
                  <a:srgbClr val="1A1F36"/>
                </a:solidFill>
                <a:latin typeface="Calibri"/>
              </a:rPr>
              <a:t>Malignant hyperthermia is a rare inherited disorder of the muscle ryanodine receptor (RyR1). Volatile agents </a:t>
            </a:r>
            <a:r>
              <a:rPr sz="2100" i="0" b="1">
                <a:solidFill>
                  <a:srgbClr val="1A1F36"/>
                </a:solidFill>
                <a:latin typeface="Calibri"/>
              </a:rPr>
              <a:t>or</a:t>
            </a:r>
            <a:r>
              <a:rPr sz="2100" i="0" b="0">
                <a:solidFill>
                  <a:srgbClr val="1A1F36"/>
                </a:solidFill>
                <a:latin typeface="Calibri"/>
              </a:rPr>
              <a:t> succinylcholine can trigger it; </a:t>
            </a:r>
            <a:r>
              <a:rPr sz="2100" i="0" b="1">
                <a:solidFill>
                  <a:srgbClr val="1A1F36"/>
                </a:solidFill>
                <a:latin typeface="Calibri"/>
              </a:rPr>
              <a:t>either one alone</a:t>
            </a:r>
            <a:r>
              <a:rPr sz="2100" i="0" b="0">
                <a:solidFill>
                  <a:srgbClr val="1A1F36"/>
                </a:solidFill>
                <a:latin typeface="Calibri"/>
              </a:rPr>
              <a:t> is enough. It is not triggered by N₂O, propofol, ketamine or local anaesthetics.</a:t>
            </a:r>
          </a:p>
        </p:txBody>
      </p:sp>
      <p:sp>
        <p:nvSpPr>
          <p:cNvPr id="10" name="Oval 9"/>
          <p:cNvSpPr/>
          <p:nvPr/>
        </p:nvSpPr>
        <p:spPr>
          <a:xfrm>
            <a:off x="548640" y="342747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3445764"/>
            <a:ext cx="10500055" cy="1475612"/>
          </a:xfrm>
          <a:prstGeom prst="rect">
            <a:avLst/>
          </a:prstGeom>
          <a:noFill/>
        </p:spPr>
        <p:txBody>
          <a:bodyPr wrap="square" anchor="t" lIns="0" rIns="0" tIns="0" bIns="0">
            <a:spAutoFit/>
          </a:bodyPr>
          <a:lstStyle/>
          <a:p>
            <a:r>
              <a:rPr sz="2100" i="0" b="0">
                <a:solidFill>
                  <a:srgbClr val="1A1F36"/>
                </a:solidFill>
                <a:latin typeface="Calibri"/>
              </a:rPr>
              <a:t>Features: rising end-tidal CO₂, tachycardia, muscle rigidity, fever, acidosis and hyperkalaemia. Treatment is </a:t>
            </a:r>
            <a:r>
              <a:rPr sz="2100" i="0" b="1">
                <a:solidFill>
                  <a:srgbClr val="1A1F36"/>
                </a:solidFill>
                <a:latin typeface="Calibri"/>
              </a:rPr>
              <a:t>IV dantrolene</a:t>
            </a:r>
            <a:r>
              <a:rPr sz="2100" i="0" b="0">
                <a:solidFill>
                  <a:srgbClr val="1A1F36"/>
                </a:solidFill>
                <a:latin typeface="Calibri"/>
              </a:rPr>
              <a:t>, 100% oxygen, cooling and support (Chapter 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Malignant Hyperthermia</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100" i="0" b="0">
                <a:solidFill>
                  <a:srgbClr val="1A1F36"/>
                </a:solidFill>
                <a:latin typeface="Calibri"/>
              </a:rPr>
              <a:t>Always ask about personal or family history of problems with anaesthesia. For a susceptible patient, use a trigger-free technique: propofol infusion, opioids and a non-depolarising blocker, with a vapour-free machine.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Brands in Egypt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2560320"/>
        </p:xfrm>
        <a:graphic>
          <a:graphicData uri="http://schemas.openxmlformats.org/drawingml/2006/table">
            <a:tbl>
              <a:tblPr firstRow="0" bandRow="0">
                <a:tableStyleId>{5C22544A-7EE6-4342-B048-85BDC9FD1C3A}</a:tableStyleId>
              </a:tblPr>
              <a:tblGrid>
                <a:gridCol w="2958510"/>
                <a:gridCol w="3254361"/>
                <a:gridCol w="4881542"/>
              </a:tblGrid>
              <a:tr h="640080">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640080">
                <a:tc>
                  <a:txBody>
                    <a:bodyPr/>
                    <a:lstStyle/>
                    <a:p>
                      <a:r>
                        <a:rPr sz="2000" i="0" b="1">
                          <a:solidFill>
                            <a:srgbClr val="1A1F36"/>
                          </a:solidFill>
                          <a:latin typeface="Calibri"/>
                        </a:rPr>
                        <a:t>Propofol</a:t>
                      </a:r>
                    </a:p>
                  </a:txBody>
                  <a:tcPr marL="109728" marR="109728" marT="45720" marB="45720" anchor="ctr">
                    <a:solidFill>
                      <a:srgbClr val="FFFFFF"/>
                    </a:solidFill>
                  </a:tcPr>
                </a:tc>
                <a:tc>
                  <a:txBody>
                    <a:bodyPr/>
                    <a:lstStyle/>
                    <a:p>
                      <a:r>
                        <a:rPr sz="2000" i="0" b="0">
                          <a:solidFill>
                            <a:srgbClr val="1A1F36"/>
                          </a:solidFill>
                          <a:latin typeface="Calibri"/>
                        </a:rPr>
                        <a:t>Diprivan</a:t>
                      </a:r>
                    </a:p>
                  </a:txBody>
                  <a:tcPr marL="109728" marR="109728" marT="45720" marB="45720" anchor="ctr">
                    <a:solidFill>
                      <a:srgbClr val="FFFFFF"/>
                    </a:solidFill>
                  </a:tcPr>
                </a:tc>
                <a:tc>
                  <a:txBody>
                    <a:bodyPr/>
                    <a:lstStyle/>
                    <a:p>
                      <a:r>
                        <a:rPr sz="2000" i="0" b="0">
                          <a:solidFill>
                            <a:srgbClr val="1A1F36"/>
                          </a:solidFill>
                          <a:latin typeface="Calibri"/>
                        </a:rPr>
                        <a:t>1% emulsion for injection</a:t>
                      </a:r>
                    </a:p>
                  </a:txBody>
                  <a:tcPr marL="109728" marR="109728" marT="45720" marB="45720" anchor="ctr">
                    <a:solidFill>
                      <a:srgbClr val="FFFFFF"/>
                    </a:solidFill>
                  </a:tcPr>
                </a:tc>
              </a:tr>
              <a:tr h="640080">
                <a:tc>
                  <a:txBody>
                    <a:bodyPr/>
                    <a:lstStyle/>
                    <a:p>
                      <a:r>
                        <a:rPr sz="2000" i="0" b="1">
                          <a:solidFill>
                            <a:srgbClr val="1A1F36"/>
                          </a:solidFill>
                          <a:latin typeface="Calibri"/>
                        </a:rPr>
                        <a:t>Ketamine</a:t>
                      </a:r>
                    </a:p>
                  </a:txBody>
                  <a:tcPr marL="109728" marR="109728" marT="45720" marB="45720" anchor="ctr">
                    <a:solidFill>
                      <a:srgbClr val="F1F2F8"/>
                    </a:solidFill>
                  </a:tcPr>
                </a:tc>
                <a:tc>
                  <a:txBody>
                    <a:bodyPr/>
                    <a:lstStyle/>
                    <a:p>
                      <a:r>
                        <a:rPr sz="2000" i="0" b="0">
                          <a:solidFill>
                            <a:srgbClr val="1A1F36"/>
                          </a:solidFill>
                          <a:latin typeface="Calibri"/>
                        </a:rPr>
                        <a:t>Ketalar</a:t>
                      </a:r>
                    </a:p>
                  </a:txBody>
                  <a:tcPr marL="109728" marR="109728" marT="45720" marB="45720" anchor="ctr">
                    <a:solidFill>
                      <a:srgbClr val="F1F2F8"/>
                    </a:solidFill>
                  </a:tcPr>
                </a:tc>
                <a:tc>
                  <a:txBody>
                    <a:bodyPr/>
                    <a:lstStyle/>
                    <a:p>
                      <a:r>
                        <a:rPr sz="2000" i="0" b="0">
                          <a:solidFill>
                            <a:srgbClr val="1A1F36"/>
                          </a:solidFill>
                          <a:latin typeface="Calibri"/>
                        </a:rPr>
                        <a:t>Injection</a:t>
                      </a:r>
                    </a:p>
                  </a:txBody>
                  <a:tcPr marL="109728" marR="109728" marT="45720" marB="45720" anchor="ctr">
                    <a:solidFill>
                      <a:srgbClr val="F1F2F8"/>
                    </a:solidFill>
                  </a:tcPr>
                </a:tc>
              </a:tr>
              <a:tr h="640080">
                <a:tc>
                  <a:txBody>
                    <a:bodyPr/>
                    <a:lstStyle/>
                    <a:p>
                      <a:r>
                        <a:rPr sz="2000" i="0" b="1">
                          <a:solidFill>
                            <a:srgbClr val="1A1F36"/>
                          </a:solidFill>
                          <a:latin typeface="Calibri"/>
                        </a:rPr>
                        <a:t>Midazolam</a:t>
                      </a:r>
                    </a:p>
                  </a:txBody>
                  <a:tcPr marL="109728" marR="109728" marT="45720" marB="45720" anchor="ctr">
                    <a:solidFill>
                      <a:srgbClr val="FFFFFF"/>
                    </a:solidFill>
                  </a:tcPr>
                </a:tc>
                <a:tc>
                  <a:txBody>
                    <a:bodyPr/>
                    <a:lstStyle/>
                    <a:p>
                      <a:r>
                        <a:rPr sz="2000" i="0" b="0">
                          <a:solidFill>
                            <a:srgbClr val="1A1F36"/>
                          </a:solidFill>
                          <a:latin typeface="Calibri"/>
                        </a:rPr>
                        <a:t>Dormicum</a:t>
                      </a:r>
                    </a:p>
                  </a:txBody>
                  <a:tcPr marL="109728" marR="109728" marT="45720" marB="45720" anchor="ctr">
                    <a:solidFill>
                      <a:srgbClr val="FFFFFF"/>
                    </a:solidFill>
                  </a:tcPr>
                </a:tc>
                <a:tc>
                  <a:txBody>
                    <a:bodyPr/>
                    <a:lstStyle/>
                    <a:p>
                      <a:r>
                        <a:rPr sz="2000" i="0" b="0">
                          <a:solidFill>
                            <a:srgbClr val="1A1F36"/>
                          </a:solidFill>
                          <a:latin typeface="Calibri"/>
                        </a:rPr>
                        <a:t>Injection, tablets</a:t>
                      </a:r>
                    </a:p>
                  </a:txBody>
                  <a:tcPr marL="109728" marR="109728" marT="45720" marB="45720"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For Discussion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1A1F36"/>
                </a:solidFill>
                <a:latin typeface="Calibri"/>
              </a:rPr>
              <a:t>Why do we use four or five drugs for one anaesthetic instead of one strong drug?</a:t>
            </a:r>
          </a:p>
        </p:txBody>
      </p:sp>
      <p:sp>
        <p:nvSpPr>
          <p:cNvPr id="10" name="Oval 9"/>
          <p:cNvSpPr/>
          <p:nvPr/>
        </p:nvSpPr>
        <p:spPr>
          <a:xfrm>
            <a:off x="548640" y="27607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79014"/>
            <a:ext cx="10500055" cy="1142237"/>
          </a:xfrm>
          <a:prstGeom prst="rect">
            <a:avLst/>
          </a:prstGeom>
          <a:noFill/>
        </p:spPr>
        <p:txBody>
          <a:bodyPr wrap="square" anchor="t" lIns="0" rIns="0" tIns="0" bIns="0">
            <a:spAutoFit/>
          </a:bodyPr>
          <a:lstStyle/>
          <a:p>
            <a:r>
              <a:rPr sz="2100" i="0" b="0">
                <a:solidFill>
                  <a:srgbClr val="1A1F36"/>
                </a:solidFill>
                <a:latin typeface="Calibri"/>
              </a:rPr>
              <a:t>Sevoflurane and desflurane are both fast. Why is sevoflurane used for inhaled induction in children?</a:t>
            </a:r>
          </a:p>
        </p:txBody>
      </p:sp>
      <p:sp>
        <p:nvSpPr>
          <p:cNvPr id="12" name="Oval 11"/>
          <p:cNvSpPr/>
          <p:nvPr/>
        </p:nvSpPr>
        <p:spPr>
          <a:xfrm>
            <a:off x="548640" y="394868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966971"/>
            <a:ext cx="10500055" cy="1142237"/>
          </a:xfrm>
          <a:prstGeom prst="rect">
            <a:avLst/>
          </a:prstGeom>
          <a:noFill/>
        </p:spPr>
        <p:txBody>
          <a:bodyPr wrap="square" anchor="t" lIns="0" rIns="0" tIns="0" bIns="0">
            <a:spAutoFit/>
          </a:bodyPr>
          <a:lstStyle/>
          <a:p>
            <a:r>
              <a:rPr sz="2100" i="0" b="0">
                <a:solidFill>
                  <a:srgbClr val="1A1F36"/>
                </a:solidFill>
                <a:latin typeface="Calibri"/>
              </a:rPr>
              <a:t>Why does a single dose of propofol wear off in minutes, while a 12-hour infusion wears off more slowly?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1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is balanced anaesthesia used?</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One drug gives all goals at safe doses.</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It avoids the need for an airway.</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It removes the need for monitoring.</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Several drugs at lower doses give all goals with fewer adverse effects.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1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is balanced anaesthesia used?</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One drug gives all goals at safe doses.</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It avoids the need for an airway.</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It removes the need for monitoring.</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Several drugs at lower doses give all goals with fewer adverse effects.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Balanced anaesthesia uses several drugs, each at a lower dose. A is wrong; one drug would be toxic at the needed dose. B and C are wrong.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2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anaesthetic acts mainly by blocking NMDA receptors?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Propofol</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Ketamine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Etomidate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Midazolam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2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anaesthetic acts mainly by blocking NMDA receptors?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Propofol</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Ketamine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Etomidate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Midazolam</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Ketamine blocks NMDA receptors. A, C and D enhance GABA-A.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3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inhaled agent is the most potent?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Halothane (MAC 0.75%)</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Sevoflurane (MAC 2%)</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Desflurane (MAC 6%)</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Nitrous oxide (MAC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3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inhaled agent is the most potent?</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Halothane (MAC 0.75%)</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Sevoflurane (MAC 2%)</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Desflurane (MAC 6%)</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Nitrous oxide (MAC 104%)</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Halothane has the lowest MAC. B, C and D have higher MAC values.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4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25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desflurane give faster induction and recovery than isoflurane?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It has a lower MAC.</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It is more lipid-soluble.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It has a lower blood:gas partition coefficient.</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It is metabolised faster.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4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26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desflurane give faster induction and recovery than isoflurane?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It has a lower MAC.</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It is more lipid-soluble.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It has a lower blood:gas partition coefficient.</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It is metabolised faster.</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Low blood solubility means fast rise in brain level. A relates to potency; desflurane's MAC is higher. B and D are wrong.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5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27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a patient wake within minutes after a single dose of propofol?</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Redistribution from the brain to muscle and fat</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Rapid renal excretion</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Breakdown by plasma cholinesterase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Reversal by flumazenil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5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28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a patient wake within minutes after a single dose of propofol?</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Redistribution from the brain to muscle and fat</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Rapid renal excretion</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Breakdown by plasma cholinesterase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Reversal by flumazenil</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Redistribution ends the effect of a single dose. B and C are wrong. D is for benzodiazepines.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6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29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IV anaesthetic causes adrenal suppression?</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Propofol</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Ketamine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Thiopental</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Etomidate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6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30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IV anaesthetic causes adrenal suppression?</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Propofol</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Ketamine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Thiopental</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Etomidate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Etomidate blocks 11β-hydroxylase. A, B and C do not.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7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31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A 6-year-old boy in shock after a road accident needs a painful procedure to set a fractured leg. Which agent is the best choice?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Propofol</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Ketamine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Thiopental</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Midazolam alone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7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32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A 6-year-old boy in shock after a road accident needs a painful procedure to set a fractured leg. Which agent is the best choice?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Propofol</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Ketamine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Thiopental</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Midazolam alone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Ketamine keeps blood pressure and gives strong analgesia. A and C lower blood pressure. D gives no analgesia.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8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33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the best sole agent for sedation during endoscopy?</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Ketamine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Sevoflurane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Midazolam</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Nitrous oxide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8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34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the best sole agent for sedation during endoscopy?</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Ketamine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Sevoflurane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Midazolam</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Nitrous oxide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Midazolam gives sedation and amnesia for procedures without much pain. A causes emergence reactions. B and D are inhaled agents used in theatre.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9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35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statement about malignant hyperthermia is correct?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It is triggered by dantrolene.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 volatile agent alone can trigger it.</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It is mild and self-limiting.</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It has no familial component.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9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36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statement about malignant hyperthermia is correct?</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It is triggered by dantrolene.</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A volatile agent alone can trigger it.</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It is mild and self-limiting.</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It has no familial component.</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Either a volatile agent or succinylcholine alone can trigger it. A is the treatment. C is wrong; it is life-threatening. D is wrong; it is inherited.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10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37 / 39</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A patient on a long propofol infusion in intensive care develops severe acidosis, muscle breakdown and heart failure. What is the likely cause?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Propofol infusion syndrome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Malignant hyperthermia</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Adrenal suppression</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Emergence delirium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8  ·  QUESTION 10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8  ·  General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38 / 39</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A patient on a long propofol infusion in intensive care develops severe acidosis, muscle breakdown and heart failure. What is the likely cause?</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Propofol infusion syndrome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Malignant hyperthermia</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Adrenal suppression</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Emergence delirium</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Long high-dose propofol infusion can cause this syndrome. B occurs in theatre with triggers. C is etomidate. D is ketamine.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8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5" name="TextBox 4"/>
          <p:cNvSpPr txBox="1"/>
          <p:nvPr/>
        </p:nvSpPr>
        <p:spPr>
          <a:xfrm>
            <a:off x="1143000" y="1865376"/>
            <a:ext cx="10500055" cy="862202"/>
          </a:xfrm>
          <a:prstGeom prst="rect">
            <a:avLst/>
          </a:prstGeom>
          <a:noFill/>
        </p:spPr>
        <p:txBody>
          <a:bodyPr wrap="square" anchor="t" lIns="0" rIns="0" tIns="0" bIns="0">
            <a:spAutoFit/>
          </a:bodyPr>
          <a:lstStyle/>
          <a:p>
            <a:r>
              <a:rPr sz="2100" i="0" b="0">
                <a:solidFill>
                  <a:srgbClr val="FFFFFF"/>
                </a:solidFill>
                <a:latin typeface="Calibri"/>
              </a:rPr>
              <a:t>Anaesthesia aims for unconsciousness, amnesia, analgesia, muscle relaxation and loss of reflexes; balanced anaesthesia uses several drugs to achieve them.</a:t>
            </a:r>
          </a:p>
        </p:txBody>
      </p:sp>
      <p:sp>
        <p:nvSpPr>
          <p:cNvPr id="6" name="Oval 5"/>
          <p:cNvSpPr/>
          <p:nvPr/>
        </p:nvSpPr>
        <p:spPr>
          <a:xfrm>
            <a:off x="548640" y="2755011"/>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7" name="TextBox 6"/>
          <p:cNvSpPr txBox="1"/>
          <p:nvPr/>
        </p:nvSpPr>
        <p:spPr>
          <a:xfrm>
            <a:off x="1143000" y="2773299"/>
            <a:ext cx="10500055" cy="528827"/>
          </a:xfrm>
          <a:prstGeom prst="rect">
            <a:avLst/>
          </a:prstGeom>
          <a:noFill/>
        </p:spPr>
        <p:txBody>
          <a:bodyPr wrap="square" anchor="t" lIns="0" rIns="0" tIns="0" bIns="0">
            <a:spAutoFit/>
          </a:bodyPr>
          <a:lstStyle/>
          <a:p>
            <a:r>
              <a:rPr sz="2100" i="0" b="0">
                <a:solidFill>
                  <a:srgbClr val="FFFFFF"/>
                </a:solidFill>
                <a:latin typeface="Calibri"/>
              </a:rPr>
              <a:t>Most anaesthetics enhance GABA-A; ketamine and N₂O block NMDA.</a:t>
            </a:r>
          </a:p>
        </p:txBody>
      </p:sp>
      <p:sp>
        <p:nvSpPr>
          <p:cNvPr id="8" name="Oval 7"/>
          <p:cNvSpPr/>
          <p:nvPr/>
        </p:nvSpPr>
        <p:spPr>
          <a:xfrm>
            <a:off x="548640" y="3329559"/>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9" name="TextBox 8"/>
          <p:cNvSpPr txBox="1"/>
          <p:nvPr/>
        </p:nvSpPr>
        <p:spPr>
          <a:xfrm>
            <a:off x="1143000" y="3347847"/>
            <a:ext cx="10500055" cy="862202"/>
          </a:xfrm>
          <a:prstGeom prst="rect">
            <a:avLst/>
          </a:prstGeom>
          <a:noFill/>
        </p:spPr>
        <p:txBody>
          <a:bodyPr wrap="square" anchor="t" lIns="0" rIns="0" tIns="0" bIns="0">
            <a:spAutoFit/>
          </a:bodyPr>
          <a:lstStyle/>
          <a:p>
            <a:r>
              <a:rPr sz="2100" i="0" b="0">
                <a:solidFill>
                  <a:srgbClr val="FFFFFF"/>
                </a:solidFill>
                <a:latin typeface="Calibri"/>
              </a:rPr>
              <a:t>Low MAC means high potency; low blood:gas solubility means fast induction and recovery.</a:t>
            </a:r>
          </a:p>
        </p:txBody>
      </p:sp>
      <p:sp>
        <p:nvSpPr>
          <p:cNvPr id="10" name="Oval 9"/>
          <p:cNvSpPr/>
          <p:nvPr/>
        </p:nvSpPr>
        <p:spPr>
          <a:xfrm>
            <a:off x="548640" y="4237482"/>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1" name="TextBox 10"/>
          <p:cNvSpPr txBox="1"/>
          <p:nvPr/>
        </p:nvSpPr>
        <p:spPr>
          <a:xfrm>
            <a:off x="1143000" y="4255770"/>
            <a:ext cx="10500055" cy="862202"/>
          </a:xfrm>
          <a:prstGeom prst="rect">
            <a:avLst/>
          </a:prstGeom>
          <a:noFill/>
        </p:spPr>
        <p:txBody>
          <a:bodyPr wrap="square" anchor="t" lIns="0" rIns="0" tIns="0" bIns="0">
            <a:spAutoFit/>
          </a:bodyPr>
          <a:lstStyle/>
          <a:p>
            <a:r>
              <a:rPr sz="2100" i="0" b="0">
                <a:solidFill>
                  <a:srgbClr val="FFFFFF"/>
                </a:solidFill>
                <a:latin typeface="Calibri"/>
              </a:rPr>
              <a:t>Propofol is the usual induction agent; ketamine suits shock, asthma and painful procedures; etomidate keeps blood pressure stable.</a:t>
            </a:r>
          </a:p>
        </p:txBody>
      </p:sp>
      <p:sp>
        <p:nvSpPr>
          <p:cNvPr id="12" name="Oval 11"/>
          <p:cNvSpPr/>
          <p:nvPr/>
        </p:nvSpPr>
        <p:spPr>
          <a:xfrm>
            <a:off x="548640" y="514540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3" name="TextBox 12"/>
          <p:cNvSpPr txBox="1"/>
          <p:nvPr/>
        </p:nvSpPr>
        <p:spPr>
          <a:xfrm>
            <a:off x="1143000" y="5163693"/>
            <a:ext cx="10500055" cy="862202"/>
          </a:xfrm>
          <a:prstGeom prst="rect">
            <a:avLst/>
          </a:prstGeom>
          <a:noFill/>
        </p:spPr>
        <p:txBody>
          <a:bodyPr wrap="square" anchor="t" lIns="0" rIns="0" tIns="0" bIns="0">
            <a:spAutoFit/>
          </a:bodyPr>
          <a:lstStyle/>
          <a:p>
            <a:r>
              <a:rPr sz="2100" i="0" b="0">
                <a:solidFill>
                  <a:srgbClr val="FFFFFF"/>
                </a:solidFill>
                <a:latin typeface="Calibri"/>
              </a:rPr>
              <a:t>Volatile agents or succinylcholine, each alone, can trigger malignant hyperthermia; treat with dantrolene.</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