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GABA-A receptors are Cl- channels that inhibit neurons (Chapter 7). NMDA receptors are glutamate-gated channels that excite them. Lipid-soluble drugs enter well-perfused organs such as the brain, heart and liver first, then move to muscle and fat. This redistribution ends the action of a single IV dose before the drug is metabolised.</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Goals and Balanced Anaesthesia.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anaesthesia is a reversible, drug-induced loss of consciousness. It has five goals: No single drug can give all five safely; the dose needed would depress the heart and breathing. So anaesthetists use balanced anaesthesia: several drugs, each at a lower dose, each for one or two goals.</a:t>
            </a:r>
          </a:p>
          <a:p/>
          <a:p>
            <a:r>
              <a:t>Time: 2:00  (at 4:30 of 40:00).  Next: Goals and Balanced Anaesthesia.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anaesthesia is a reversible, drug-induced loss of consciousness. It has five goals: No single drug can give all five safely; the dose needed would depress the heart and breathing. So anaesthetists use balanced anaesthesia: several drugs, each at a lower dose, each for one or two goals.</a:t>
            </a:r>
          </a:p>
          <a:p/>
          <a:p>
            <a:r>
              <a:t>Time: 2:00  (at 6:30 of 40:00).  Next: Stages of care.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anaesthesia is a reversible, drug-induced loss of consciousness. It has five goals: No single drug can give all five safely; the dose needed would depress the heart and breathing. So anaesthetists use balanced anaesthesia: several drugs, each at a lower dose, each for one or two goals.</a:t>
            </a:r>
          </a:p>
          <a:p/>
          <a:p>
            <a:r>
              <a:t>Time: 2:00  (at 8:30 of 40:00).  Next: How Anaesthetics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Anaesthetics act on ion channels that control neuron excitability:</a:t>
            </a:r>
          </a:p>
          <a:p/>
          <a:p>
            <a:r>
              <a:t>Time: 2:30  (at 11:00 of 40:00).  Next: Speed: blood:gas solubility.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Volatile liquids: sevoflurane, desflurane, isoflurane (halothane is now rarely used). Gas: nitrous oxide (N₂O). The minimum alveolar concentration (MAC) is the alveolar concentration that stops movement in 50% of patients in response to a skin incision. A low MAC means high potency. MAC falls in older people, with opioids and sedatives, and in pregnancy. It rises in children and in chronic alcohol use. The blood:gas partition coefficient shows how soluble the agent is in blood. A drug with low solubility saturates the blood quickly, so its brain level rises fast. Induction and recovery are fast. A highly soluble drug stays in the blood, and induction and recovery are slow.</a:t>
            </a:r>
          </a:p>
          <a:p/>
          <a:p>
            <a:r>
              <a:t>Time: 2:30  (at 13:30 of 40:00).  Next: Adverse effects of volatile agents.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Volatile liquids: sevoflurane, desflurane, isoflurane (halothane is now rarely used). Gas: nitrous oxide (N₂O). The minimum alveolar concentration (MAC) is the alveolar concentration that stops movement in 50% of patients in response to a skin incision. A low MAC means high potency. MAC falls in older people, with opioids and sedatives, and in pregnancy. It rises in children and in chronic alcohol use. The blood:gas partition coefficient shows how soluble the agent is in blood. A drug with low solubility saturates the blood quickly, so its brain level rises fast. Induction and recovery are fast. A highly soluble drug stays in the blood, and induction and recovery are slow.</a:t>
            </a:r>
          </a:p>
          <a:p/>
          <a:p>
            <a:r>
              <a:t>Time: 2:00  (at 15:30 of 40:00).  Next: Inhaled Anaesthetics.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Volatile liquids: sevoflurane, desflurane, isoflurane (halothane is now rarely used). Gas: nitrous oxide (N₂O). The minimum alveolar concentration (MAC) is the alveolar concentration that stops movement in 50% of patients in response to a skin incision. A low MAC means high potency. MAC falls in older people, with opioids and sedatives, and in pregnancy. It rises in children and in chronic alcohol use. The blood:gas partition coefficient shows how soluble the agent is in blood. A drug with low solubility saturates the blood quickly, so its brain level rises fast. Induction and recovery are fast. A highly soluble drug stays in the blood, and induction and recovery are slow.</a:t>
            </a:r>
          </a:p>
          <a:p/>
          <a:p>
            <a:r>
              <a:t>Time: 1:30  (at 17:00 of 40:00).  Next: Intravenous Anaesthetics.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 anaesthetics are very lipid-soluble. After a bolus they reach the brain within one arm-to-brain time, about 30 seconds. They wake the patient by redistribution to muscle and fat. After long infusions, fat becomes saturated and recovery is slower. Ketamine in more detail. Ketamine keeps the airway reflexes and causes only mild breathing depression. It is not free of respiratory effects: it increases secretions, and deep doses can still depress breathing. It stimulates the sympathetic system, so blood pressure rises. It relaxes bronchi. Emergence reactions are fewer in children and are reduced by a benzodiazepine.</a:t>
            </a:r>
          </a:p>
          <a:p/>
          <a:p>
            <a:r>
              <a:t>Time: 2:30  (at 19:30 of 40:00).  Next: Malignant Hyperthermia.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21:30 of 40:00).  Next: Malignant Hyperthermia.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Malignant hyperthermia is a rare inherited disorder of the muscle ryanodine receptor (RyR1). Volatile agents or succinylcholine can trigger it; either one alone is enough. It is not triggered by N₂O, propofol, ketamine or local anaesthetics. Features: rising end-tidal CO₂, tachycardia, muscle rigidity, fever, acidosis and hyperkalaemia. Treatment is IV dantrolene, 100% oxygen, cooling and support (Chapter 6).</a:t>
            </a:r>
          </a:p>
          <a:p/>
          <a:p>
            <a:r>
              <a:t>Time: 2:00  (at 23:30 of 40:00).  Next: Malignant Hyperthermia.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Malignant hyperthermia is a rare inherited disorder of the muscle ryanodine receptor (RyR1). Volatile agents or succinylcholine can trigger it; either one alone is enough. It is not triggered by N₂O, propofol, ketamine or local anaesthetics. Features: rising end-tidal CO₂, tachycardia, muscle rigidity, fever, acidosis and hyperkalaemia. Treatment is IV dantrolene, 100% oxygen, cooling and support (Chapter 6).</a:t>
            </a:r>
          </a:p>
          <a:p/>
          <a:p>
            <a:r>
              <a:t>Time: 1:30  (at 25:00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Balanced anaesthesia uses several drugs, each at a lower dose. A is wrong; one drug would be toxic at the needed dose. B and C are wrong.</a:t>
            </a:r>
          </a:p>
          <a:p/>
          <a:p>
            <a:r>
              <a:t>Time: 0:45  (at 30:15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Ketamine blocks NMDA receptors. A, C and D enhance GABA-A.</a:t>
            </a:r>
          </a:p>
          <a:p/>
          <a:p>
            <a:r>
              <a:t>Time: 0:45  (at 31:45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Halothane has the lowest MAC. B, C and D have higher MAC values.</a:t>
            </a:r>
          </a:p>
          <a:p/>
          <a:p>
            <a:r>
              <a:t>Time: 0:45  (at 33:15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Low blood solubility means fast rise in brain level. A relates to potency; desflurane's MAC is higher. B and D are wrong.</a:t>
            </a:r>
          </a:p>
          <a:p/>
          <a:p>
            <a:r>
              <a:t>Time: 0:45  (at 34:45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Redistribution ends the effect of a single dose. B and C are wrong. D is for benzodiazepines.</a:t>
            </a:r>
          </a:p>
          <a:p/>
          <a:p>
            <a:r>
              <a:t>Time: 0:45  (at 36:15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27:30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29:30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31:00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32:30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34:00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35:30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37:00 of 40:00).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3:00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08</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8</a:t>
            </a:r>
          </a:p>
          <a:p>
            <a:pPr>
              <a:spcBef>
                <a:spcPts val="1400"/>
              </a:spcBef>
            </a:pPr>
            <a:r>
              <a:rPr sz="4400" i="0" b="1">
                <a:solidFill>
                  <a:srgbClr val="FFFFFF"/>
                </a:solidFill>
                <a:latin typeface="Cambria"/>
              </a:rPr>
              <a:t>General Anaesthetics</a:t>
            </a:r>
          </a:p>
          <a:p>
            <a:pPr>
              <a:spcBef>
                <a:spcPts val="1600"/>
              </a:spcBef>
            </a:pPr>
            <a:r>
              <a:rPr sz="2000" i="1" b="0">
                <a:solidFill>
                  <a:srgbClr val="DFE1EF"/>
                </a:solidFill>
                <a:latin typeface="Cambria"/>
              </a:rPr>
              <a:t>A Laboratory and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5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Learning Objectives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6629400" cy="877824"/>
          </a:xfrm>
          <a:prstGeom prst="rect">
            <a:avLst/>
          </a:prstGeom>
          <a:noFill/>
        </p:spPr>
        <p:txBody>
          <a:bodyPr wrap="square" anchor="t" lIns="0" rIns="0" tIns="0" bIns="0">
            <a:spAutoFit/>
          </a:bodyPr>
          <a:lstStyle/>
          <a:p>
            <a:r>
              <a:rPr sz="2100" i="0" b="0">
                <a:solidFill>
                  <a:srgbClr val="1A1F36"/>
                </a:solidFill>
                <a:latin typeface="Calibri"/>
              </a:rPr>
              <a:t>List the goals of general anaesthesia and explain balanced anaesthesia.</a:t>
            </a:r>
          </a:p>
        </p:txBody>
      </p:sp>
      <p:sp>
        <p:nvSpPr>
          <p:cNvPr id="15" name="Oval 14"/>
          <p:cNvSpPr/>
          <p:nvPr/>
        </p:nvSpPr>
        <p:spPr>
          <a:xfrm>
            <a:off x="548640" y="24963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514600"/>
            <a:ext cx="6629400" cy="877824"/>
          </a:xfrm>
          <a:prstGeom prst="rect">
            <a:avLst/>
          </a:prstGeom>
          <a:noFill/>
        </p:spPr>
        <p:txBody>
          <a:bodyPr wrap="square" anchor="t" lIns="0" rIns="0" tIns="0" bIns="0">
            <a:spAutoFit/>
          </a:bodyPr>
          <a:lstStyle/>
          <a:p>
            <a:r>
              <a:rPr sz="2100" i="0" b="0">
                <a:solidFill>
                  <a:srgbClr val="1A1F36"/>
                </a:solidFill>
                <a:latin typeface="Calibri"/>
              </a:rPr>
              <a:t>Describe the mechanisms of inhaled and intravenous anaesthetics.</a:t>
            </a:r>
          </a:p>
        </p:txBody>
      </p:sp>
      <p:sp>
        <p:nvSpPr>
          <p:cNvPr id="17" name="Oval 16"/>
          <p:cNvSpPr/>
          <p:nvPr/>
        </p:nvSpPr>
        <p:spPr>
          <a:xfrm>
            <a:off x="548640" y="34198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438144"/>
            <a:ext cx="6629400" cy="877824"/>
          </a:xfrm>
          <a:prstGeom prst="rect">
            <a:avLst/>
          </a:prstGeom>
          <a:noFill/>
        </p:spPr>
        <p:txBody>
          <a:bodyPr wrap="square" anchor="t" lIns="0" rIns="0" tIns="0" bIns="0">
            <a:spAutoFit/>
          </a:bodyPr>
          <a:lstStyle/>
          <a:p>
            <a:r>
              <a:rPr sz="2100" i="0" b="0">
                <a:solidFill>
                  <a:srgbClr val="1A1F36"/>
                </a:solidFill>
                <a:latin typeface="Calibri"/>
              </a:rPr>
              <a:t>Use MAC and blood:gas solubility to compare the potency and speed of inhaled anaesthetics.</a:t>
            </a:r>
          </a:p>
        </p:txBody>
      </p:sp>
      <p:sp>
        <p:nvSpPr>
          <p:cNvPr id="19" name="Oval 18"/>
          <p:cNvSpPr/>
          <p:nvPr/>
        </p:nvSpPr>
        <p:spPr>
          <a:xfrm>
            <a:off x="548640" y="434339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0" name="TextBox 19"/>
          <p:cNvSpPr txBox="1"/>
          <p:nvPr/>
        </p:nvSpPr>
        <p:spPr>
          <a:xfrm>
            <a:off x="1143000" y="4361688"/>
            <a:ext cx="6629400" cy="877824"/>
          </a:xfrm>
          <a:prstGeom prst="rect">
            <a:avLst/>
          </a:prstGeom>
          <a:noFill/>
        </p:spPr>
        <p:txBody>
          <a:bodyPr wrap="square" anchor="t" lIns="0" rIns="0" tIns="0" bIns="0">
            <a:spAutoFit/>
          </a:bodyPr>
          <a:lstStyle/>
          <a:p>
            <a:r>
              <a:rPr sz="2100" i="0" b="0">
                <a:solidFill>
                  <a:srgbClr val="1A1F36"/>
                </a:solidFill>
                <a:latin typeface="Calibri"/>
              </a:rPr>
              <a:t>Compare the main intravenous anaesthetics and their adverse effects.</a:t>
            </a:r>
          </a:p>
        </p:txBody>
      </p:sp>
      <p:sp>
        <p:nvSpPr>
          <p:cNvPr id="21" name="Oval 20"/>
          <p:cNvSpPr/>
          <p:nvPr/>
        </p:nvSpPr>
        <p:spPr>
          <a:xfrm>
            <a:off x="548640" y="526694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2" name="TextBox 21"/>
          <p:cNvSpPr txBox="1"/>
          <p:nvPr/>
        </p:nvSpPr>
        <p:spPr>
          <a:xfrm>
            <a:off x="1143000" y="5285231"/>
            <a:ext cx="6629400" cy="877824"/>
          </a:xfrm>
          <a:prstGeom prst="rect">
            <a:avLst/>
          </a:prstGeom>
          <a:noFill/>
        </p:spPr>
        <p:txBody>
          <a:bodyPr wrap="square" anchor="t" lIns="0" rIns="0" tIns="0" bIns="0">
            <a:spAutoFit/>
          </a:bodyPr>
          <a:lstStyle/>
          <a:p>
            <a:r>
              <a:rPr sz="2100" i="0" b="0">
                <a:solidFill>
                  <a:srgbClr val="1A1F36"/>
                </a:solidFill>
                <a:latin typeface="Calibri"/>
              </a:rPr>
              <a:t>Select an anaesthetic for a patient and recognise malignant hyperthermia.</a:t>
            </a:r>
          </a:p>
        </p:txBody>
      </p:sp>
      <p:sp>
        <p:nvSpPr>
          <p:cNvPr id="23" name="Rounded Rectangle 22"/>
          <p:cNvSpPr/>
          <p:nvPr/>
        </p:nvSpPr>
        <p:spPr>
          <a:xfrm>
            <a:off x="8366760" y="1600200"/>
            <a:ext cx="3273552" cy="4526280"/>
          </a:xfrm>
          <a:prstGeom prst="roundRect">
            <a:avLst>
              <a:gd name="adj" fmla="val 5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5</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Goals and Balanced Anaesthesia</a:t>
            </a:r>
          </a:p>
        </p:txBody>
      </p:sp>
      <p:sp>
        <p:nvSpPr>
          <p:cNvPr id="15" name="Oval 14"/>
          <p:cNvSpPr/>
          <p:nvPr/>
        </p:nvSpPr>
        <p:spPr>
          <a:xfrm>
            <a:off x="548640"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1A1F36"/>
                </a:solidFill>
                <a:latin typeface="Calibri"/>
              </a:rPr>
              <a:t>How Anaesthetics Work</a:t>
            </a:r>
          </a:p>
        </p:txBody>
      </p:sp>
      <p:sp>
        <p:nvSpPr>
          <p:cNvPr id="17" name="Oval 16"/>
          <p:cNvSpPr/>
          <p:nvPr/>
        </p:nvSpPr>
        <p:spPr>
          <a:xfrm>
            <a:off x="548640"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1A1F36"/>
                </a:solidFill>
                <a:latin typeface="Calibri"/>
              </a:rPr>
              <a:t>Inhaled Anaesthetics</a:t>
            </a:r>
          </a:p>
        </p:txBody>
      </p:sp>
      <p:sp>
        <p:nvSpPr>
          <p:cNvPr id="19" name="Oval 18"/>
          <p:cNvSpPr/>
          <p:nvPr/>
        </p:nvSpPr>
        <p:spPr>
          <a:xfrm>
            <a:off x="548640"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0" name="TextBox 19"/>
          <p:cNvSpPr txBox="1"/>
          <p:nvPr/>
        </p:nvSpPr>
        <p:spPr>
          <a:xfrm>
            <a:off x="1143000" y="4202430"/>
            <a:ext cx="4678527" cy="824737"/>
          </a:xfrm>
          <a:prstGeom prst="rect">
            <a:avLst/>
          </a:prstGeom>
          <a:noFill/>
        </p:spPr>
        <p:txBody>
          <a:bodyPr wrap="square" anchor="t" lIns="0" rIns="0" tIns="0" bIns="0">
            <a:spAutoFit/>
          </a:bodyPr>
          <a:lstStyle/>
          <a:p>
            <a:r>
              <a:rPr sz="2200" i="0" b="0">
                <a:solidFill>
                  <a:srgbClr val="1A1F36"/>
                </a:solidFill>
                <a:latin typeface="Calibri"/>
              </a:rPr>
              <a:t>Intravenous Anaesthetics</a:t>
            </a:r>
          </a:p>
        </p:txBody>
      </p:sp>
      <p:sp>
        <p:nvSpPr>
          <p:cNvPr id="21" name="Oval 20"/>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2" name="TextBox 21"/>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Malignant Hyperthermia</a:t>
            </a:r>
          </a:p>
        </p:txBody>
      </p:sp>
      <p:sp>
        <p:nvSpPr>
          <p:cNvPr id="23" name="Oval 22"/>
          <p:cNvSpPr/>
          <p:nvPr/>
        </p:nvSpPr>
        <p:spPr>
          <a:xfrm>
            <a:off x="6370167"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4" name="TextBox 23"/>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5" name="Oval 24"/>
          <p:cNvSpPr/>
          <p:nvPr/>
        </p:nvSpPr>
        <p:spPr>
          <a:xfrm>
            <a:off x="6370167"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6" name="TextBox 25"/>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Goals and Balanced Anaesthesia</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315468"/>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General anaesthesia is a reversible, drug-induced loss of consciousness. It has five goals:</a:t>
            </a:r>
          </a:p>
        </p:txBody>
      </p:sp>
      <p:sp>
        <p:nvSpPr>
          <p:cNvPr id="15" name="Oval 14"/>
          <p:cNvSpPr/>
          <p:nvPr/>
        </p:nvSpPr>
        <p:spPr>
          <a:xfrm>
            <a:off x="548640" y="225399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1143000" y="2272284"/>
            <a:ext cx="10500055" cy="674903"/>
          </a:xfrm>
          <a:prstGeom prst="rect">
            <a:avLst/>
          </a:prstGeom>
          <a:noFill/>
        </p:spPr>
        <p:txBody>
          <a:bodyPr wrap="square" anchor="t" lIns="0" rIns="0" tIns="0" bIns="0">
            <a:spAutoFit/>
          </a:bodyPr>
          <a:lstStyle/>
          <a:p>
            <a:r>
              <a:rPr sz="2100" i="0" b="0">
                <a:solidFill>
                  <a:srgbClr val="1A1F36"/>
                </a:solidFill>
                <a:latin typeface="Calibri"/>
              </a:rPr>
              <a:t>Unconsciousness.</a:t>
            </a:r>
          </a:p>
        </p:txBody>
      </p:sp>
      <p:sp>
        <p:nvSpPr>
          <p:cNvPr id="17" name="Oval 16"/>
          <p:cNvSpPr/>
          <p:nvPr/>
        </p:nvSpPr>
        <p:spPr>
          <a:xfrm>
            <a:off x="548640" y="297461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1143000" y="2992907"/>
            <a:ext cx="10500055" cy="674903"/>
          </a:xfrm>
          <a:prstGeom prst="rect">
            <a:avLst/>
          </a:prstGeom>
          <a:noFill/>
        </p:spPr>
        <p:txBody>
          <a:bodyPr wrap="square" anchor="t" lIns="0" rIns="0" tIns="0" bIns="0">
            <a:spAutoFit/>
          </a:bodyPr>
          <a:lstStyle/>
          <a:p>
            <a:r>
              <a:rPr sz="2100" i="0" b="0">
                <a:solidFill>
                  <a:srgbClr val="1A1F36"/>
                </a:solidFill>
                <a:latin typeface="Calibri"/>
              </a:rPr>
              <a:t>Amnesia.</a:t>
            </a:r>
          </a:p>
        </p:txBody>
      </p:sp>
      <p:sp>
        <p:nvSpPr>
          <p:cNvPr id="19" name="Oval 18"/>
          <p:cNvSpPr/>
          <p:nvPr/>
        </p:nvSpPr>
        <p:spPr>
          <a:xfrm>
            <a:off x="548640" y="369524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20" name="TextBox 19"/>
          <p:cNvSpPr txBox="1"/>
          <p:nvPr/>
        </p:nvSpPr>
        <p:spPr>
          <a:xfrm>
            <a:off x="1143000" y="3713530"/>
            <a:ext cx="10500055" cy="674903"/>
          </a:xfrm>
          <a:prstGeom prst="rect">
            <a:avLst/>
          </a:prstGeom>
          <a:noFill/>
        </p:spPr>
        <p:txBody>
          <a:bodyPr wrap="square" anchor="t" lIns="0" rIns="0" tIns="0" bIns="0">
            <a:spAutoFit/>
          </a:bodyPr>
          <a:lstStyle/>
          <a:p>
            <a:r>
              <a:rPr sz="2100" i="0" b="0">
                <a:solidFill>
                  <a:srgbClr val="1A1F36"/>
                </a:solidFill>
                <a:latin typeface="Calibri"/>
              </a:rPr>
              <a:t>Analgesia.</a:t>
            </a:r>
          </a:p>
        </p:txBody>
      </p:sp>
      <p:sp>
        <p:nvSpPr>
          <p:cNvPr id="21" name="Oval 20"/>
          <p:cNvSpPr/>
          <p:nvPr/>
        </p:nvSpPr>
        <p:spPr>
          <a:xfrm>
            <a:off x="548640" y="441586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2" name="TextBox 21"/>
          <p:cNvSpPr txBox="1"/>
          <p:nvPr/>
        </p:nvSpPr>
        <p:spPr>
          <a:xfrm>
            <a:off x="1143000" y="4434154"/>
            <a:ext cx="10500055" cy="674903"/>
          </a:xfrm>
          <a:prstGeom prst="rect">
            <a:avLst/>
          </a:prstGeom>
          <a:noFill/>
        </p:spPr>
        <p:txBody>
          <a:bodyPr wrap="square" anchor="t" lIns="0" rIns="0" tIns="0" bIns="0">
            <a:spAutoFit/>
          </a:bodyPr>
          <a:lstStyle/>
          <a:p>
            <a:r>
              <a:rPr sz="2100" i="0" b="0">
                <a:solidFill>
                  <a:srgbClr val="1A1F36"/>
                </a:solidFill>
                <a:latin typeface="Calibri"/>
              </a:rPr>
              <a:t>Muscle relaxation.</a:t>
            </a:r>
          </a:p>
        </p:txBody>
      </p:sp>
      <p:sp>
        <p:nvSpPr>
          <p:cNvPr id="23" name="Oval 22"/>
          <p:cNvSpPr/>
          <p:nvPr/>
        </p:nvSpPr>
        <p:spPr>
          <a:xfrm>
            <a:off x="548640" y="513648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4" name="TextBox 23"/>
          <p:cNvSpPr txBox="1"/>
          <p:nvPr/>
        </p:nvSpPr>
        <p:spPr>
          <a:xfrm>
            <a:off x="1143000" y="5154777"/>
            <a:ext cx="10500055" cy="1008278"/>
          </a:xfrm>
          <a:prstGeom prst="rect">
            <a:avLst/>
          </a:prstGeom>
          <a:noFill/>
        </p:spPr>
        <p:txBody>
          <a:bodyPr wrap="square" anchor="t" lIns="0" rIns="0" tIns="0" bIns="0">
            <a:spAutoFit/>
          </a:bodyPr>
          <a:lstStyle/>
          <a:p>
            <a:r>
              <a:rPr sz="2100" i="0" b="0">
                <a:solidFill>
                  <a:srgbClr val="1A1F36"/>
                </a:solidFill>
                <a:latin typeface="Calibri"/>
              </a:rPr>
              <a:t>Loss of autonomic reflexes (heart rate and blood pressure responses to surgery).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Goals and Balanced Anaesthesia</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873252"/>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No single drug can give all five safely; the dose needed would depress the heart and breathing. So anaesthetists use </a:t>
            </a:r>
            <a:r>
              <a:rPr sz="1800" i="0" b="1">
                <a:solidFill>
                  <a:srgbClr val="1A1F36"/>
                </a:solidFill>
                <a:latin typeface="Calibri"/>
              </a:rPr>
              <a:t>balanced anaesthesia</a:t>
            </a:r>
            <a:r>
              <a:rPr sz="1800" i="0" b="0">
                <a:solidFill>
                  <a:srgbClr val="1A1F36"/>
                </a:solidFill>
                <a:latin typeface="Calibri"/>
              </a:rPr>
              <a:t>: several drugs, each at a lower dose, each for one or two goals.</a:t>
            </a:r>
          </a:p>
        </p:txBody>
      </p:sp>
      <p:sp>
        <p:nvSpPr>
          <p:cNvPr id="15" name="Rounded Rectangle 14"/>
          <p:cNvSpPr/>
          <p:nvPr/>
        </p:nvSpPr>
        <p:spPr>
          <a:xfrm>
            <a:off x="548640" y="2830068"/>
            <a:ext cx="11094415" cy="3342132"/>
          </a:xfrm>
          <a:prstGeom prst="roundRect">
            <a:avLst>
              <a:gd name="adj" fmla="val 3000"/>
            </a:avLst>
          </a:prstGeom>
          <a:solidFill>
            <a:srgbClr val="FFFFFF"/>
          </a:solidFill>
          <a:ln w="9525">
            <a:solidFill>
              <a:srgbClr val="DDDFEE"/>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 central hub labelled general anaesthesia linked to five boxes: unconsciousness, amnesia, analgesia, muscle relaxation and loss of autonomic reflexes, each with example drugs."/>
          <p:cNvPicPr>
            <a:picLocks noChangeAspect="1"/>
          </p:cNvPicPr>
          <p:nvPr/>
        </p:nvPicPr>
        <p:blipFill>
          <a:blip r:embed="rId5"/>
          <a:stretch>
            <a:fillRect/>
          </a:stretch>
        </p:blipFill>
        <p:spPr>
          <a:xfrm>
            <a:off x="3333677" y="2939796"/>
            <a:ext cx="5524341" cy="2702051"/>
          </a:xfrm>
          <a:prstGeom prst="rect">
            <a:avLst/>
          </a:prstGeom>
        </p:spPr>
      </p:pic>
      <p:sp>
        <p:nvSpPr>
          <p:cNvPr id="17" name="TextBox 16"/>
          <p:cNvSpPr txBox="1"/>
          <p:nvPr/>
        </p:nvSpPr>
        <p:spPr>
          <a:xfrm>
            <a:off x="685800" y="5733286"/>
            <a:ext cx="10820095" cy="365760"/>
          </a:xfrm>
          <a:prstGeom prst="rect">
            <a:avLst/>
          </a:prstGeom>
          <a:noFill/>
        </p:spPr>
        <p:txBody>
          <a:bodyPr wrap="square" anchor="t" lIns="0" rIns="0" tIns="0" bIns="0">
            <a:spAutoFit/>
          </a:bodyPr>
          <a:lstStyle/>
          <a:p>
            <a:pPr algn="ctr"/>
            <a:r>
              <a:rPr sz="1300" i="1" b="0">
                <a:solidFill>
                  <a:srgbClr val="5A6072"/>
                </a:solidFill>
                <a:latin typeface="Calibri"/>
              </a:rPr>
              <a:t>Balanced anaesthesia: the five goals and the drugs that provide each.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Stages of care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10500055" cy="1108710"/>
          </a:xfrm>
          <a:prstGeom prst="rect">
            <a:avLst/>
          </a:prstGeom>
          <a:noFill/>
        </p:spPr>
        <p:txBody>
          <a:bodyPr wrap="square" anchor="t" lIns="0" rIns="0" tIns="0" bIns="0">
            <a:spAutoFit/>
          </a:bodyPr>
          <a:lstStyle/>
          <a:p>
            <a:r>
              <a:rPr sz="2100" i="0" b="1">
                <a:solidFill>
                  <a:srgbClr val="1A1F36"/>
                </a:solidFill>
                <a:latin typeface="Calibri"/>
              </a:rPr>
              <a:t>Before surgery (premedication):</a:t>
            </a:r>
            <a:r>
              <a:rPr sz="2100" i="0" b="0">
                <a:solidFill>
                  <a:srgbClr val="1A1F36"/>
                </a:solidFill>
                <a:latin typeface="Calibri"/>
              </a:rPr>
              <a:t> an anxiolytic such as midazolam if needed; an antacid or H2 blocker and an antiemetic to reduce aspiration risk.</a:t>
            </a:r>
          </a:p>
        </p:txBody>
      </p:sp>
      <p:sp>
        <p:nvSpPr>
          <p:cNvPr id="15" name="Oval 14"/>
          <p:cNvSpPr/>
          <p:nvPr/>
        </p:nvSpPr>
        <p:spPr>
          <a:xfrm>
            <a:off x="548640" y="272719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745486"/>
            <a:ext cx="10500055" cy="1108710"/>
          </a:xfrm>
          <a:prstGeom prst="rect">
            <a:avLst/>
          </a:prstGeom>
          <a:noFill/>
        </p:spPr>
        <p:txBody>
          <a:bodyPr wrap="square" anchor="t" lIns="0" rIns="0" tIns="0" bIns="0">
            <a:spAutoFit/>
          </a:bodyPr>
          <a:lstStyle/>
          <a:p>
            <a:r>
              <a:rPr sz="2100" i="0" b="1">
                <a:solidFill>
                  <a:srgbClr val="1A1F36"/>
                </a:solidFill>
                <a:latin typeface="Calibri"/>
              </a:rPr>
              <a:t>Induction:</a:t>
            </a:r>
            <a:r>
              <a:rPr sz="2100" i="0" b="0">
                <a:solidFill>
                  <a:srgbClr val="1A1F36"/>
                </a:solidFill>
                <a:latin typeface="Calibri"/>
              </a:rPr>
              <a:t> usually an IV anaesthetic (propofol), because it is fast and pleasant. An inhaled agent (sevoflurane) is used in children who fear needles.</a:t>
            </a:r>
          </a:p>
        </p:txBody>
      </p:sp>
      <p:sp>
        <p:nvSpPr>
          <p:cNvPr id="17" name="Oval 16"/>
          <p:cNvSpPr/>
          <p:nvPr/>
        </p:nvSpPr>
        <p:spPr>
          <a:xfrm>
            <a:off x="548640" y="388162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899915"/>
            <a:ext cx="10500055" cy="1108710"/>
          </a:xfrm>
          <a:prstGeom prst="rect">
            <a:avLst/>
          </a:prstGeom>
          <a:noFill/>
        </p:spPr>
        <p:txBody>
          <a:bodyPr wrap="square" anchor="t" lIns="0" rIns="0" tIns="0" bIns="0">
            <a:spAutoFit/>
          </a:bodyPr>
          <a:lstStyle/>
          <a:p>
            <a:r>
              <a:rPr sz="2100" i="0" b="1">
                <a:solidFill>
                  <a:srgbClr val="1A1F36"/>
                </a:solidFill>
                <a:latin typeface="Calibri"/>
              </a:rPr>
              <a:t>Maintenance:</a:t>
            </a:r>
            <a:r>
              <a:rPr sz="2100" i="0" b="0">
                <a:solidFill>
                  <a:srgbClr val="1A1F36"/>
                </a:solidFill>
                <a:latin typeface="Calibri"/>
              </a:rPr>
              <a:t> an inhaled agent or a propofol infusion, plus an opioid and, if needed, a neuromuscular blocker (Chapter 6).</a:t>
            </a:r>
          </a:p>
        </p:txBody>
      </p:sp>
      <p:sp>
        <p:nvSpPr>
          <p:cNvPr id="19" name="Oval 18"/>
          <p:cNvSpPr/>
          <p:nvPr/>
        </p:nvSpPr>
        <p:spPr>
          <a:xfrm>
            <a:off x="548640" y="503605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0" name="TextBox 19"/>
          <p:cNvSpPr txBox="1"/>
          <p:nvPr/>
        </p:nvSpPr>
        <p:spPr>
          <a:xfrm>
            <a:off x="1143000" y="5054346"/>
            <a:ext cx="10500055" cy="1108710"/>
          </a:xfrm>
          <a:prstGeom prst="rect">
            <a:avLst/>
          </a:prstGeom>
          <a:noFill/>
        </p:spPr>
        <p:txBody>
          <a:bodyPr wrap="square" anchor="t" lIns="0" rIns="0" tIns="0" bIns="0">
            <a:spAutoFit/>
          </a:bodyPr>
          <a:lstStyle/>
          <a:p>
            <a:r>
              <a:rPr sz="2100" i="0" b="1">
                <a:solidFill>
                  <a:srgbClr val="1A1F36"/>
                </a:solidFill>
                <a:latin typeface="Calibri"/>
              </a:rPr>
              <a:t>Recovery:</a:t>
            </a:r>
            <a:r>
              <a:rPr sz="2100" i="0" b="0">
                <a:solidFill>
                  <a:srgbClr val="1A1F36"/>
                </a:solidFill>
                <a:latin typeface="Calibri"/>
              </a:rPr>
              <a:t> stop the drugs, reverse the blocker, and watch breathing and airway. Treat pain and nausea.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How Anaesthetics Work</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315468"/>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Anaesthetics act on ion channels that control neuron excitability:</a:t>
            </a:r>
          </a:p>
        </p:txBody>
      </p:sp>
      <p:graphicFrame>
        <p:nvGraphicFramePr>
          <p:cNvPr id="15" name="Table 14"/>
          <p:cNvGraphicFramePr>
            <a:graphicFrameLocks noGrp="1"/>
          </p:cNvGraphicFramePr>
          <p:nvPr/>
        </p:nvGraphicFramePr>
        <p:xfrm>
          <a:off x="548640" y="2235708"/>
          <a:ext cx="11094414" cy="2560320"/>
        </p:xfrm>
        <a:graphic>
          <a:graphicData uri="http://schemas.openxmlformats.org/drawingml/2006/table">
            <a:tbl>
              <a:tblPr firstRow="0" bandRow="0">
                <a:tableStyleId>{5C22544A-7EE6-4342-B048-85BDC9FD1C3A}</a:tableStyleId>
              </a:tblPr>
              <a:tblGrid>
                <a:gridCol w="4173128"/>
                <a:gridCol w="6921286"/>
              </a:tblGrid>
              <a:tr h="640080">
                <a:tc>
                  <a:txBody>
                    <a:bodyPr/>
                    <a:lstStyle/>
                    <a:p>
                      <a:r>
                        <a:rPr sz="1900" i="0" b="1">
                          <a:solidFill>
                            <a:srgbClr val="FFFFFF"/>
                          </a:solidFill>
                          <a:latin typeface="Calibri"/>
                        </a:rPr>
                        <a:t>Mechanism</a:t>
                      </a:r>
                    </a:p>
                  </a:txBody>
                  <a:tcPr marL="109728" marR="109728" marT="45720" marB="45720" anchor="ctr">
                    <a:solidFill>
                      <a:srgbClr val="1B2A8C"/>
                    </a:solidFill>
                  </a:tcPr>
                </a:tc>
                <a:tc>
                  <a:txBody>
                    <a:bodyPr/>
                    <a:lstStyle/>
                    <a:p>
                      <a:r>
                        <a:rPr sz="1900" i="0" b="1">
                          <a:solidFill>
                            <a:srgbClr val="FFFFFF"/>
                          </a:solidFill>
                          <a:latin typeface="Calibri"/>
                        </a:rPr>
                        <a:t>Drugs</a:t>
                      </a:r>
                    </a:p>
                  </a:txBody>
                  <a:tcPr marL="109728" marR="109728" marT="45720" marB="45720" anchor="ctr">
                    <a:solidFill>
                      <a:srgbClr val="1B2A8C"/>
                    </a:solidFill>
                  </a:tcPr>
                </a:tc>
              </a:tr>
              <a:tr h="640080">
                <a:tc>
                  <a:txBody>
                    <a:bodyPr/>
                    <a:lstStyle/>
                    <a:p>
                      <a:r>
                        <a:rPr sz="2000" i="0" b="1">
                          <a:solidFill>
                            <a:srgbClr val="1A1F36"/>
                          </a:solidFill>
                          <a:latin typeface="Calibri"/>
                        </a:rPr>
                        <a:t>Enhance GABA-A receptors</a:t>
                      </a:r>
                    </a:p>
                  </a:txBody>
                  <a:tcPr marL="109728" marR="109728" marT="45720" marB="45720" anchor="ctr">
                    <a:solidFill>
                      <a:srgbClr val="FFFFFF"/>
                    </a:solidFill>
                  </a:tcPr>
                </a:tc>
                <a:tc>
                  <a:txBody>
                    <a:bodyPr/>
                    <a:lstStyle/>
                    <a:p>
                      <a:r>
                        <a:rPr sz="2000" i="0" b="0">
                          <a:solidFill>
                            <a:srgbClr val="1A1F36"/>
                          </a:solidFill>
                          <a:latin typeface="Calibri"/>
                        </a:rPr>
                        <a:t>Propofol, etomidate, thiopental, benzodiazepines, volatile agents</a:t>
                      </a:r>
                    </a:p>
                  </a:txBody>
                  <a:tcPr marL="109728" marR="109728" marT="45720" marB="45720" anchor="ctr">
                    <a:solidFill>
                      <a:srgbClr val="FFFFFF"/>
                    </a:solidFill>
                  </a:tcPr>
                </a:tc>
              </a:tr>
              <a:tr h="640080">
                <a:tc>
                  <a:txBody>
                    <a:bodyPr/>
                    <a:lstStyle/>
                    <a:p>
                      <a:r>
                        <a:rPr sz="2000" i="0" b="1">
                          <a:solidFill>
                            <a:srgbClr val="1A1F36"/>
                          </a:solidFill>
                          <a:latin typeface="Calibri"/>
                        </a:rPr>
                        <a:t>Block NMDA receptors</a:t>
                      </a:r>
                    </a:p>
                  </a:txBody>
                  <a:tcPr marL="109728" marR="109728" marT="45720" marB="45720" anchor="ctr">
                    <a:solidFill>
                      <a:srgbClr val="F1F2F8"/>
                    </a:solidFill>
                  </a:tcPr>
                </a:tc>
                <a:tc>
                  <a:txBody>
                    <a:bodyPr/>
                    <a:lstStyle/>
                    <a:p>
                      <a:r>
                        <a:rPr sz="2000" i="0" b="0">
                          <a:solidFill>
                            <a:srgbClr val="1A1F36"/>
                          </a:solidFill>
                          <a:latin typeface="Calibri"/>
                        </a:rPr>
                        <a:t>Ketamine, nitrous oxide, xenon</a:t>
                      </a:r>
                    </a:p>
                  </a:txBody>
                  <a:tcPr marL="109728" marR="109728" marT="45720" marB="45720" anchor="ctr">
                    <a:solidFill>
                      <a:srgbClr val="F1F2F8"/>
                    </a:solidFill>
                  </a:tcPr>
                </a:tc>
              </a:tr>
              <a:tr h="640080">
                <a:tc>
                  <a:txBody>
                    <a:bodyPr/>
                    <a:lstStyle/>
                    <a:p>
                      <a:r>
                        <a:rPr sz="2000" i="0" b="1">
                          <a:solidFill>
                            <a:srgbClr val="1A1F36"/>
                          </a:solidFill>
                          <a:latin typeface="Calibri"/>
                        </a:rPr>
                        <a:t>Open two-pore K+ (K2P) channels</a:t>
                      </a:r>
                    </a:p>
                  </a:txBody>
                  <a:tcPr marL="109728" marR="109728" marT="45720" marB="45720" anchor="ctr">
                    <a:solidFill>
                      <a:srgbClr val="FFFFFF"/>
                    </a:solidFill>
                  </a:tcPr>
                </a:tc>
                <a:tc>
                  <a:txBody>
                    <a:bodyPr/>
                    <a:lstStyle/>
                    <a:p>
                      <a:r>
                        <a:rPr sz="2000" i="0" b="0">
                          <a:solidFill>
                            <a:srgbClr val="1A1F36"/>
                          </a:solidFill>
                          <a:latin typeface="Calibri"/>
                        </a:rPr>
                        <a:t>Volatile agents</a:t>
                      </a:r>
                    </a:p>
                  </a:txBody>
                  <a:tcPr marL="109728" marR="109728"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Speed: blood:gas solubility</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1" cy="3840480"/>
        </p:xfrm>
        <a:graphic>
          <a:graphicData uri="http://schemas.openxmlformats.org/drawingml/2006/table">
            <a:tbl>
              <a:tblPr firstRow="0" bandRow="0">
                <a:tableStyleId>{5C22544A-7EE6-4342-B048-85BDC9FD1C3A}</a:tableStyleId>
              </a:tblPr>
              <a:tblGrid>
                <a:gridCol w="1734184"/>
                <a:gridCol w="1124433"/>
                <a:gridCol w="2173905"/>
                <a:gridCol w="1203324"/>
                <a:gridCol w="4858565"/>
              </a:tblGrid>
              <a:tr h="640080">
                <a:tc>
                  <a:txBody>
                    <a:bodyPr/>
                    <a:lstStyle/>
                    <a:p>
                      <a:r>
                        <a:rPr sz="1700" i="0" b="1">
                          <a:solidFill>
                            <a:srgbClr val="FFFFFF"/>
                          </a:solidFill>
                          <a:latin typeface="Calibri"/>
                        </a:rPr>
                        <a:t>Agent</a:t>
                      </a:r>
                    </a:p>
                  </a:txBody>
                  <a:tcPr marL="109728" marR="109728" marT="45720" marB="45720" anchor="ctr">
                    <a:solidFill>
                      <a:srgbClr val="1B2A8C"/>
                    </a:solidFill>
                  </a:tcPr>
                </a:tc>
                <a:tc>
                  <a:txBody>
                    <a:bodyPr/>
                    <a:lstStyle/>
                    <a:p>
                      <a:r>
                        <a:rPr sz="1700" i="0" b="1">
                          <a:solidFill>
                            <a:srgbClr val="FFFFFF"/>
                          </a:solidFill>
                          <a:latin typeface="Calibri"/>
                        </a:rPr>
                        <a:t>MAC (%)</a:t>
                      </a:r>
                    </a:p>
                  </a:txBody>
                  <a:tcPr marL="109728" marR="109728" marT="45720" marB="45720" anchor="ctr">
                    <a:solidFill>
                      <a:srgbClr val="1B2A8C"/>
                    </a:solidFill>
                  </a:tcPr>
                </a:tc>
                <a:tc>
                  <a:txBody>
                    <a:bodyPr/>
                    <a:lstStyle/>
                    <a:p>
                      <a:r>
                        <a:rPr sz="1700" i="0" b="1">
                          <a:solidFill>
                            <a:srgbClr val="FFFFFF"/>
                          </a:solidFill>
                          <a:latin typeface="Calibri"/>
                        </a:rPr>
                        <a:t>Blood:gas coefficient</a:t>
                      </a:r>
                    </a:p>
                  </a:txBody>
                  <a:tcPr marL="109728" marR="109728" marT="45720" marB="45720" anchor="ctr">
                    <a:solidFill>
                      <a:srgbClr val="1B2A8C"/>
                    </a:solidFill>
                  </a:tcPr>
                </a:tc>
                <a:tc>
                  <a:txBody>
                    <a:bodyPr/>
                    <a:lstStyle/>
                    <a:p>
                      <a:r>
                        <a:rPr sz="1700" i="0" b="1">
                          <a:solidFill>
                            <a:srgbClr val="FFFFFF"/>
                          </a:solidFill>
                          <a:latin typeface="Calibri"/>
                        </a:rPr>
                        <a:t>Speed</a:t>
                      </a:r>
                    </a:p>
                  </a:txBody>
                  <a:tcPr marL="109728" marR="109728" marT="45720" marB="45720" anchor="ctr">
                    <a:solidFill>
                      <a:srgbClr val="1B2A8C"/>
                    </a:solidFill>
                  </a:tcPr>
                </a:tc>
                <a:tc>
                  <a:txBody>
                    <a:bodyPr/>
                    <a:lstStyle/>
                    <a:p>
                      <a:r>
                        <a:rPr sz="1700" i="0" b="1">
                          <a:solidFill>
                            <a:srgbClr val="FFFFFF"/>
                          </a:solidFill>
                          <a:latin typeface="Calibri"/>
                        </a:rPr>
                        <a:t>Key points</a:t>
                      </a:r>
                    </a:p>
                  </a:txBody>
                  <a:tcPr marL="109728" marR="109728" marT="45720" marB="45720" anchor="ctr">
                    <a:solidFill>
                      <a:srgbClr val="1B2A8C"/>
                    </a:solidFill>
                  </a:tcPr>
                </a:tc>
              </a:tr>
              <a:tr h="640080">
                <a:tc>
                  <a:txBody>
                    <a:bodyPr/>
                    <a:lstStyle/>
                    <a:p>
                      <a:r>
                        <a:rPr sz="1800" i="0" b="1">
                          <a:solidFill>
                            <a:srgbClr val="1A1F36"/>
                          </a:solidFill>
                          <a:latin typeface="Calibri"/>
                        </a:rPr>
                        <a:t>Nitrous oxide</a:t>
                      </a:r>
                    </a:p>
                  </a:txBody>
                  <a:tcPr marL="109728" marR="109728" marT="45720" marB="45720" anchor="ctr">
                    <a:solidFill>
                      <a:srgbClr val="FFFFFF"/>
                    </a:solidFill>
                  </a:tcPr>
                </a:tc>
                <a:tc>
                  <a:txBody>
                    <a:bodyPr/>
                    <a:lstStyle/>
                    <a:p>
                      <a:r>
                        <a:rPr sz="1800" i="0" b="0">
                          <a:solidFill>
                            <a:srgbClr val="1A1F36"/>
                          </a:solidFill>
                          <a:latin typeface="Calibri"/>
                        </a:rPr>
                        <a:t>104</a:t>
                      </a:r>
                    </a:p>
                  </a:txBody>
                  <a:tcPr marL="109728" marR="109728" marT="45720" marB="45720" anchor="ctr">
                    <a:solidFill>
                      <a:srgbClr val="FFFFFF"/>
                    </a:solidFill>
                  </a:tcPr>
                </a:tc>
                <a:tc>
                  <a:txBody>
                    <a:bodyPr/>
                    <a:lstStyle/>
                    <a:p>
                      <a:r>
                        <a:rPr sz="1800" i="0" b="0">
                          <a:solidFill>
                            <a:srgbClr val="1A1F36"/>
                          </a:solidFill>
                          <a:latin typeface="Calibri"/>
                        </a:rPr>
                        <a:t>0.47</a:t>
                      </a:r>
                    </a:p>
                  </a:txBody>
                  <a:tcPr marL="109728" marR="109728" marT="45720" marB="45720" anchor="ctr">
                    <a:solidFill>
                      <a:srgbClr val="FFFFFF"/>
                    </a:solidFill>
                  </a:tcPr>
                </a:tc>
                <a:tc>
                  <a:txBody>
                    <a:bodyPr/>
                    <a:lstStyle/>
                    <a:p>
                      <a:r>
                        <a:rPr sz="1800" i="0" b="0">
                          <a:solidFill>
                            <a:srgbClr val="1A1F36"/>
                          </a:solidFill>
                          <a:latin typeface="Calibri"/>
                        </a:rPr>
                        <a:t>Fast</a:t>
                      </a:r>
                    </a:p>
                  </a:txBody>
                  <a:tcPr marL="109728" marR="109728" marT="45720" marB="45720" anchor="ctr">
                    <a:solidFill>
                      <a:srgbClr val="FFFFFF"/>
                    </a:solidFill>
                  </a:tcPr>
                </a:tc>
                <a:tc>
                  <a:txBody>
                    <a:bodyPr/>
                    <a:lstStyle/>
                    <a:p>
                      <a:r>
                        <a:rPr sz="1800" i="0" b="0">
                          <a:solidFill>
                            <a:srgbClr val="1A1F36"/>
                          </a:solidFill>
                          <a:latin typeface="Calibri"/>
                        </a:rPr>
                        <a:t>Weak; cannot be used alone; good analgesia; expands air spaces; long use lowers B12</a:t>
                      </a:r>
                    </a:p>
                  </a:txBody>
                  <a:tcPr marL="109728" marR="109728" marT="45720" marB="45720" anchor="ctr">
                    <a:solidFill>
                      <a:srgbClr val="FFFFFF"/>
                    </a:solidFill>
                  </a:tcPr>
                </a:tc>
              </a:tr>
              <a:tr h="640080">
                <a:tc>
                  <a:txBody>
                    <a:bodyPr/>
                    <a:lstStyle/>
                    <a:p>
                      <a:r>
                        <a:rPr sz="1800" i="0" b="1">
                          <a:solidFill>
                            <a:srgbClr val="1A1F36"/>
                          </a:solidFill>
                          <a:latin typeface="Calibri"/>
                        </a:rPr>
                        <a:t>Desflurane</a:t>
                      </a:r>
                    </a:p>
                  </a:txBody>
                  <a:tcPr marL="109728" marR="109728" marT="45720" marB="45720" anchor="ctr">
                    <a:solidFill>
                      <a:srgbClr val="F1F2F8"/>
                    </a:solidFill>
                  </a:tcPr>
                </a:tc>
                <a:tc>
                  <a:txBody>
                    <a:bodyPr/>
                    <a:lstStyle/>
                    <a:p>
                      <a:r>
                        <a:rPr sz="1800" i="0" b="0">
                          <a:solidFill>
                            <a:srgbClr val="1A1F36"/>
                          </a:solidFill>
                          <a:latin typeface="Calibri"/>
                        </a:rPr>
                        <a:t>6</a:t>
                      </a:r>
                    </a:p>
                  </a:txBody>
                  <a:tcPr marL="109728" marR="109728" marT="45720" marB="45720" anchor="ctr">
                    <a:solidFill>
                      <a:srgbClr val="F1F2F8"/>
                    </a:solidFill>
                  </a:tcPr>
                </a:tc>
                <a:tc>
                  <a:txBody>
                    <a:bodyPr/>
                    <a:lstStyle/>
                    <a:p>
                      <a:r>
                        <a:rPr sz="1800" i="0" b="0">
                          <a:solidFill>
                            <a:srgbClr val="1A1F36"/>
                          </a:solidFill>
                          <a:latin typeface="Calibri"/>
                        </a:rPr>
                        <a:t>0.42</a:t>
                      </a:r>
                    </a:p>
                  </a:txBody>
                  <a:tcPr marL="109728" marR="109728" marT="45720" marB="45720" anchor="ctr">
                    <a:solidFill>
                      <a:srgbClr val="F1F2F8"/>
                    </a:solidFill>
                  </a:tcPr>
                </a:tc>
                <a:tc>
                  <a:txBody>
                    <a:bodyPr/>
                    <a:lstStyle/>
                    <a:p>
                      <a:r>
                        <a:rPr sz="1800" i="0" b="0">
                          <a:solidFill>
                            <a:srgbClr val="1A1F36"/>
                          </a:solidFill>
                          <a:latin typeface="Calibri"/>
                        </a:rPr>
                        <a:t>Fastest</a:t>
                      </a:r>
                    </a:p>
                  </a:txBody>
                  <a:tcPr marL="109728" marR="109728" marT="45720" marB="45720" anchor="ctr">
                    <a:solidFill>
                      <a:srgbClr val="F1F2F8"/>
                    </a:solidFill>
                  </a:tcPr>
                </a:tc>
                <a:tc>
                  <a:txBody>
                    <a:bodyPr/>
                    <a:lstStyle/>
                    <a:p>
                      <a:r>
                        <a:rPr sz="1800" i="0" b="0">
                          <a:solidFill>
                            <a:srgbClr val="1A1F36"/>
                          </a:solidFill>
                          <a:latin typeface="Calibri"/>
                        </a:rPr>
                        <a:t>Irritates the airway (cough, bronchospasm); not for induction</a:t>
                      </a:r>
                    </a:p>
                  </a:txBody>
                  <a:tcPr marL="109728" marR="109728" marT="45720" marB="45720" anchor="ctr">
                    <a:solidFill>
                      <a:srgbClr val="F1F2F8"/>
                    </a:solidFill>
                  </a:tcPr>
                </a:tc>
              </a:tr>
              <a:tr h="640080">
                <a:tc>
                  <a:txBody>
                    <a:bodyPr/>
                    <a:lstStyle/>
                    <a:p>
                      <a:r>
                        <a:rPr sz="1800" i="0" b="1">
                          <a:solidFill>
                            <a:srgbClr val="1A1F36"/>
                          </a:solidFill>
                          <a:latin typeface="Calibri"/>
                        </a:rPr>
                        <a:t>Sevoflurane</a:t>
                      </a:r>
                    </a:p>
                  </a:txBody>
                  <a:tcPr marL="109728" marR="109728" marT="45720" marB="45720" anchor="ctr">
                    <a:solidFill>
                      <a:srgbClr val="FFFFFF"/>
                    </a:solidFill>
                  </a:tcPr>
                </a:tc>
                <a:tc>
                  <a:txBody>
                    <a:bodyPr/>
                    <a:lstStyle/>
                    <a:p>
                      <a:r>
                        <a:rPr sz="1800" i="0" b="0">
                          <a:solidFill>
                            <a:srgbClr val="1A1F36"/>
                          </a:solidFill>
                          <a:latin typeface="Calibri"/>
                        </a:rPr>
                        <a:t>2</a:t>
                      </a:r>
                    </a:p>
                  </a:txBody>
                  <a:tcPr marL="109728" marR="109728" marT="45720" marB="45720" anchor="ctr">
                    <a:solidFill>
                      <a:srgbClr val="FFFFFF"/>
                    </a:solidFill>
                  </a:tcPr>
                </a:tc>
                <a:tc>
                  <a:txBody>
                    <a:bodyPr/>
                    <a:lstStyle/>
                    <a:p>
                      <a:r>
                        <a:rPr sz="1800" i="0" b="0">
                          <a:solidFill>
                            <a:srgbClr val="1A1F36"/>
                          </a:solidFill>
                          <a:latin typeface="Calibri"/>
                        </a:rPr>
                        <a:t>0.65</a:t>
                      </a:r>
                    </a:p>
                  </a:txBody>
                  <a:tcPr marL="109728" marR="109728" marT="45720" marB="45720" anchor="ctr">
                    <a:solidFill>
                      <a:srgbClr val="FFFFFF"/>
                    </a:solidFill>
                  </a:tcPr>
                </a:tc>
                <a:tc>
                  <a:txBody>
                    <a:bodyPr/>
                    <a:lstStyle/>
                    <a:p>
                      <a:r>
                        <a:rPr sz="1800" i="0" b="0">
                          <a:solidFill>
                            <a:srgbClr val="1A1F36"/>
                          </a:solidFill>
                          <a:latin typeface="Calibri"/>
                        </a:rPr>
                        <a:t>Fast</a:t>
                      </a:r>
                    </a:p>
                  </a:txBody>
                  <a:tcPr marL="109728" marR="109728" marT="45720" marB="45720" anchor="ctr">
                    <a:solidFill>
                      <a:srgbClr val="FFFFFF"/>
                    </a:solidFill>
                  </a:tcPr>
                </a:tc>
                <a:tc>
                  <a:txBody>
                    <a:bodyPr/>
                    <a:lstStyle/>
                    <a:p>
                      <a:r>
                        <a:rPr sz="1800" i="0" b="0">
                          <a:solidFill>
                            <a:srgbClr val="1A1F36"/>
                          </a:solidFill>
                          <a:latin typeface="Calibri"/>
                        </a:rPr>
                        <a:t>Sweet smell; no airway irritation; best for inhaled induction in children</a:t>
                      </a:r>
                    </a:p>
                  </a:txBody>
                  <a:tcPr marL="109728" marR="109728" marT="45720" marB="45720" anchor="ctr">
                    <a:solidFill>
                      <a:srgbClr val="FFFFFF"/>
                    </a:solidFill>
                  </a:tcPr>
                </a:tc>
              </a:tr>
              <a:tr h="640080">
                <a:tc>
                  <a:txBody>
                    <a:bodyPr/>
                    <a:lstStyle/>
                    <a:p>
                      <a:r>
                        <a:rPr sz="1800" i="0" b="1">
                          <a:solidFill>
                            <a:srgbClr val="1A1F36"/>
                          </a:solidFill>
                          <a:latin typeface="Calibri"/>
                        </a:rPr>
                        <a:t>Isoflurane</a:t>
                      </a:r>
                    </a:p>
                  </a:txBody>
                  <a:tcPr marL="109728" marR="109728" marT="45720" marB="45720" anchor="ctr">
                    <a:solidFill>
                      <a:srgbClr val="F1F2F8"/>
                    </a:solidFill>
                  </a:tcPr>
                </a:tc>
                <a:tc>
                  <a:txBody>
                    <a:bodyPr/>
                    <a:lstStyle/>
                    <a:p>
                      <a:r>
                        <a:rPr sz="1800" i="0" b="0">
                          <a:solidFill>
                            <a:srgbClr val="1A1F36"/>
                          </a:solidFill>
                          <a:latin typeface="Calibri"/>
                        </a:rPr>
                        <a:t>1.2</a:t>
                      </a:r>
                    </a:p>
                  </a:txBody>
                  <a:tcPr marL="109728" marR="109728" marT="45720" marB="45720" anchor="ctr">
                    <a:solidFill>
                      <a:srgbClr val="F1F2F8"/>
                    </a:solidFill>
                  </a:tcPr>
                </a:tc>
                <a:tc>
                  <a:txBody>
                    <a:bodyPr/>
                    <a:lstStyle/>
                    <a:p>
                      <a:r>
                        <a:rPr sz="1800" i="0" b="0">
                          <a:solidFill>
                            <a:srgbClr val="1A1F36"/>
                          </a:solidFill>
                          <a:latin typeface="Calibri"/>
                        </a:rPr>
                        <a:t>1.4</a:t>
                      </a:r>
                    </a:p>
                  </a:txBody>
                  <a:tcPr marL="109728" marR="109728" marT="45720" marB="45720" anchor="ctr">
                    <a:solidFill>
                      <a:srgbClr val="F1F2F8"/>
                    </a:solidFill>
                  </a:tcPr>
                </a:tc>
                <a:tc>
                  <a:txBody>
                    <a:bodyPr/>
                    <a:lstStyle/>
                    <a:p>
                      <a:r>
                        <a:rPr sz="1800" i="0" b="0">
                          <a:solidFill>
                            <a:srgbClr val="1A1F36"/>
                          </a:solidFill>
                          <a:latin typeface="Calibri"/>
                        </a:rPr>
                        <a:t>Slower</a:t>
                      </a:r>
                    </a:p>
                  </a:txBody>
                  <a:tcPr marL="109728" marR="109728" marT="45720" marB="45720" anchor="ctr">
                    <a:solidFill>
                      <a:srgbClr val="F1F2F8"/>
                    </a:solidFill>
                  </a:tcPr>
                </a:tc>
                <a:tc>
                  <a:txBody>
                    <a:bodyPr/>
                    <a:lstStyle/>
                    <a:p>
                      <a:r>
                        <a:rPr sz="1800" i="0" b="0">
                          <a:solidFill>
                            <a:srgbClr val="1A1F36"/>
                          </a:solidFill>
                          <a:latin typeface="Calibri"/>
                        </a:rPr>
                        <a:t>Pungent; cheap maintenance agent</a:t>
                      </a:r>
                    </a:p>
                  </a:txBody>
                  <a:tcPr marL="109728" marR="109728" marT="45720" marB="45720" anchor="ctr">
                    <a:solidFill>
                      <a:srgbClr val="F1F2F8"/>
                    </a:solidFill>
                  </a:tcPr>
                </a:tc>
              </a:tr>
              <a:tr h="640080">
                <a:tc>
                  <a:txBody>
                    <a:bodyPr/>
                    <a:lstStyle/>
                    <a:p>
                      <a:r>
                        <a:rPr sz="1800" i="0" b="1">
                          <a:solidFill>
                            <a:srgbClr val="1A1F36"/>
                          </a:solidFill>
                          <a:latin typeface="Calibri"/>
                        </a:rPr>
                        <a:t>Halothane</a:t>
                      </a:r>
                    </a:p>
                  </a:txBody>
                  <a:tcPr marL="109728" marR="109728" marT="45720" marB="45720" anchor="ctr">
                    <a:solidFill>
                      <a:srgbClr val="FFFFFF"/>
                    </a:solidFill>
                  </a:tcPr>
                </a:tc>
                <a:tc>
                  <a:txBody>
                    <a:bodyPr/>
                    <a:lstStyle/>
                    <a:p>
                      <a:r>
                        <a:rPr sz="1800" i="0" b="0">
                          <a:solidFill>
                            <a:srgbClr val="1A1F36"/>
                          </a:solidFill>
                          <a:latin typeface="Calibri"/>
                        </a:rPr>
                        <a:t>0.75</a:t>
                      </a:r>
                    </a:p>
                  </a:txBody>
                  <a:tcPr marL="109728" marR="109728" marT="45720" marB="45720" anchor="ctr">
                    <a:solidFill>
                      <a:srgbClr val="FFFFFF"/>
                    </a:solidFill>
                  </a:tcPr>
                </a:tc>
                <a:tc>
                  <a:txBody>
                    <a:bodyPr/>
                    <a:lstStyle/>
                    <a:p>
                      <a:r>
                        <a:rPr sz="1800" i="0" b="0">
                          <a:solidFill>
                            <a:srgbClr val="1A1F36"/>
                          </a:solidFill>
                          <a:latin typeface="Calibri"/>
                        </a:rPr>
                        <a:t>2.3</a:t>
                      </a:r>
                    </a:p>
                  </a:txBody>
                  <a:tcPr marL="109728" marR="109728" marT="45720" marB="45720" anchor="ctr">
                    <a:solidFill>
                      <a:srgbClr val="FFFFFF"/>
                    </a:solidFill>
                  </a:tcPr>
                </a:tc>
                <a:tc>
                  <a:txBody>
                    <a:bodyPr/>
                    <a:lstStyle/>
                    <a:p>
                      <a:r>
                        <a:rPr sz="1800" i="0" b="0">
                          <a:solidFill>
                            <a:srgbClr val="1A1F36"/>
                          </a:solidFill>
                          <a:latin typeface="Calibri"/>
                        </a:rPr>
                        <a:t>Slowest</a:t>
                      </a:r>
                    </a:p>
                  </a:txBody>
                  <a:tcPr marL="109728" marR="109728" marT="45720" marB="45720" anchor="ctr">
                    <a:solidFill>
                      <a:srgbClr val="FFFFFF"/>
                    </a:solidFill>
                  </a:tcPr>
                </a:tc>
                <a:tc>
                  <a:txBody>
                    <a:bodyPr/>
                    <a:lstStyle/>
                    <a:p>
                      <a:r>
                        <a:rPr sz="1800" i="0" b="0">
                          <a:solidFill>
                            <a:srgbClr val="1A1F36"/>
                          </a:solidFill>
                          <a:latin typeface="Calibri"/>
                        </a:rPr>
                        <a:t>Arrhythmias with adrenaline; rare halothane hepatitis</a:t>
                      </a:r>
                    </a:p>
                  </a:txBody>
                  <a:tcPr marL="109728" marR="109728" marT="45720" marB="4572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Adverse effects of volatile agents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10500055" cy="1077849"/>
          </a:xfrm>
          <a:prstGeom prst="rect">
            <a:avLst/>
          </a:prstGeom>
          <a:noFill/>
        </p:spPr>
        <p:txBody>
          <a:bodyPr wrap="square" anchor="t" lIns="0" rIns="0" tIns="0" bIns="0">
            <a:spAutoFit/>
          </a:bodyPr>
          <a:lstStyle/>
          <a:p>
            <a:r>
              <a:rPr sz="2100" i="0" b="0">
                <a:solidFill>
                  <a:srgbClr val="1A1F36"/>
                </a:solidFill>
                <a:latin typeface="Calibri"/>
              </a:rPr>
              <a:t>Dose-related fall in blood pressure (heart depression and vasodilation) and in breathing.</a:t>
            </a:r>
          </a:p>
        </p:txBody>
      </p:sp>
      <p:sp>
        <p:nvSpPr>
          <p:cNvPr id="15" name="Oval 14"/>
          <p:cNvSpPr/>
          <p:nvPr/>
        </p:nvSpPr>
        <p:spPr>
          <a:xfrm>
            <a:off x="548640" y="269633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714625"/>
            <a:ext cx="10500055" cy="744474"/>
          </a:xfrm>
          <a:prstGeom prst="rect">
            <a:avLst/>
          </a:prstGeom>
          <a:noFill/>
        </p:spPr>
        <p:txBody>
          <a:bodyPr wrap="square" anchor="t" lIns="0" rIns="0" tIns="0" bIns="0">
            <a:spAutoFit/>
          </a:bodyPr>
          <a:lstStyle/>
          <a:p>
            <a:r>
              <a:rPr sz="2100" i="0" b="0">
                <a:solidFill>
                  <a:srgbClr val="1A1F36"/>
                </a:solidFill>
                <a:latin typeface="Calibri"/>
              </a:rPr>
              <a:t>Raised intracranial pressure from cerebral vasodilation.</a:t>
            </a:r>
          </a:p>
        </p:txBody>
      </p:sp>
      <p:sp>
        <p:nvSpPr>
          <p:cNvPr id="17" name="Oval 16"/>
          <p:cNvSpPr/>
          <p:nvPr/>
        </p:nvSpPr>
        <p:spPr>
          <a:xfrm>
            <a:off x="548640" y="348653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504819"/>
            <a:ext cx="10500055" cy="1077849"/>
          </a:xfrm>
          <a:prstGeom prst="rect">
            <a:avLst/>
          </a:prstGeom>
          <a:noFill/>
        </p:spPr>
        <p:txBody>
          <a:bodyPr wrap="square" anchor="t" lIns="0" rIns="0" tIns="0" bIns="0">
            <a:spAutoFit/>
          </a:bodyPr>
          <a:lstStyle/>
          <a:p>
            <a:r>
              <a:rPr sz="2100" i="0" b="0">
                <a:solidFill>
                  <a:srgbClr val="1A1F36"/>
                </a:solidFill>
                <a:latin typeface="Calibri"/>
              </a:rPr>
              <a:t>Uterine relaxation: helpful to remove a retained placenta, but it increases bleeding after delivery.</a:t>
            </a:r>
          </a:p>
        </p:txBody>
      </p:sp>
      <p:sp>
        <p:nvSpPr>
          <p:cNvPr id="19" name="Oval 18"/>
          <p:cNvSpPr/>
          <p:nvPr/>
        </p:nvSpPr>
        <p:spPr>
          <a:xfrm>
            <a:off x="548640" y="461009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0" name="TextBox 19"/>
          <p:cNvSpPr txBox="1"/>
          <p:nvPr/>
        </p:nvSpPr>
        <p:spPr>
          <a:xfrm>
            <a:off x="1143000" y="4628388"/>
            <a:ext cx="10500055" cy="744474"/>
          </a:xfrm>
          <a:prstGeom prst="rect">
            <a:avLst/>
          </a:prstGeom>
          <a:noFill/>
        </p:spPr>
        <p:txBody>
          <a:bodyPr wrap="square" anchor="t" lIns="0" rIns="0" tIns="0" bIns="0">
            <a:spAutoFit/>
          </a:bodyPr>
          <a:lstStyle/>
          <a:p>
            <a:r>
              <a:rPr sz="2100" i="0" b="0">
                <a:solidFill>
                  <a:srgbClr val="1A1F36"/>
                </a:solidFill>
                <a:latin typeface="Calibri"/>
              </a:rPr>
              <a:t>Postoperative nausea and vomiting.</a:t>
            </a:r>
          </a:p>
        </p:txBody>
      </p:sp>
      <p:sp>
        <p:nvSpPr>
          <p:cNvPr id="21" name="Oval 20"/>
          <p:cNvSpPr/>
          <p:nvPr/>
        </p:nvSpPr>
        <p:spPr>
          <a:xfrm>
            <a:off x="548640" y="540029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2" name="TextBox 21"/>
          <p:cNvSpPr txBox="1"/>
          <p:nvPr/>
        </p:nvSpPr>
        <p:spPr>
          <a:xfrm>
            <a:off x="1143000" y="5418582"/>
            <a:ext cx="10500055" cy="744474"/>
          </a:xfrm>
          <a:prstGeom prst="rect">
            <a:avLst/>
          </a:prstGeom>
          <a:noFill/>
        </p:spPr>
        <p:txBody>
          <a:bodyPr wrap="square" anchor="t" lIns="0" rIns="0" tIns="0" bIns="0">
            <a:spAutoFit/>
          </a:bodyPr>
          <a:lstStyle/>
          <a:p>
            <a:r>
              <a:rPr sz="2100" i="0" b="1">
                <a:solidFill>
                  <a:srgbClr val="1A1F36"/>
                </a:solidFill>
                <a:latin typeface="Calibri"/>
              </a:rPr>
              <a:t>Malignant hyperthermia</a:t>
            </a:r>
            <a:r>
              <a:rPr sz="2100" i="0" b="0">
                <a:solidFill>
                  <a:srgbClr val="1A1F36"/>
                </a:solidFill>
                <a:latin typeface="Calibri"/>
              </a:rPr>
              <a:t> in susceptible patients (Section 8.5).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Inhaled Anaesthetics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431288"/>
          </a:xfrm>
          <a:prstGeom prst="roundRect">
            <a:avLst>
              <a:gd name="adj" fmla="val 6000"/>
            </a:avLst>
          </a:prstGeom>
          <a:solidFill>
            <a:srgbClr val="FDF4DC">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188720" cy="347472"/>
          </a:xfrm>
          <a:prstGeom prst="roundRect">
            <a:avLst>
              <a:gd name="adj" fmla="val 50000"/>
            </a:avLst>
          </a:prstGeom>
          <a:solidFill>
            <a:srgbClr val="8A6100"/>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6" name="TextBox 15"/>
          <p:cNvSpPr txBox="1"/>
          <p:nvPr/>
        </p:nvSpPr>
        <p:spPr>
          <a:xfrm>
            <a:off x="1920239" y="2788920"/>
            <a:ext cx="8351215" cy="1562608"/>
          </a:xfrm>
          <a:prstGeom prst="rect">
            <a:avLst/>
          </a:prstGeom>
          <a:noFill/>
        </p:spPr>
        <p:txBody>
          <a:bodyPr wrap="square" anchor="t" lIns="0" rIns="0" tIns="0" bIns="0">
            <a:spAutoFit/>
          </a:bodyPr>
          <a:lstStyle/>
          <a:p>
            <a:pPr>
              <a:spcBef>
                <a:spcPts val="0"/>
              </a:spcBef>
            </a:pPr>
            <a:r>
              <a:rPr sz="2200" i="0" b="0">
                <a:solidFill>
                  <a:srgbClr val="1A1F36"/>
                </a:solidFill>
                <a:latin typeface="Calibri"/>
              </a:rPr>
              <a:t>MAC measures </a:t>
            </a:r>
            <a:r>
              <a:rPr sz="2200" i="0" b="1">
                <a:solidFill>
                  <a:srgbClr val="1A1F36"/>
                </a:solidFill>
                <a:latin typeface="Calibri"/>
              </a:rPr>
              <a:t>potency</a:t>
            </a:r>
            <a:r>
              <a:rPr sz="2200" i="0" b="0">
                <a:solidFill>
                  <a:srgbClr val="1A1F36"/>
                </a:solidFill>
                <a:latin typeface="Calibri"/>
              </a:rPr>
              <a:t> (low MAC = potent). Blood:gas solubility measures </a:t>
            </a:r>
            <a:r>
              <a:rPr sz="2200" i="0" b="1">
                <a:solidFill>
                  <a:srgbClr val="1A1F36"/>
                </a:solidFill>
                <a:latin typeface="Calibri"/>
              </a:rPr>
              <a:t>speed</a:t>
            </a:r>
            <a:r>
              <a:rPr sz="2200" i="0" b="0">
                <a:solidFill>
                  <a:srgbClr val="1A1F36"/>
                </a:solidFill>
                <a:latin typeface="Calibri"/>
              </a:rPr>
              <a:t> (low solubility = fast). Halothane is the most potent but slowest; N₂O is the least potent.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Intravenous Anaesthetics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3" cy="3840480"/>
        </p:xfrm>
        <a:graphic>
          <a:graphicData uri="http://schemas.openxmlformats.org/drawingml/2006/table">
            <a:tbl>
              <a:tblPr firstRow="0" bandRow="0">
                <a:tableStyleId>{5C22544A-7EE6-4342-B048-85BDC9FD1C3A}</a:tableStyleId>
              </a:tblPr>
              <a:tblGrid>
                <a:gridCol w="1252219"/>
                <a:gridCol w="3165000"/>
                <a:gridCol w="3492686"/>
                <a:gridCol w="3184508"/>
              </a:tblGrid>
              <a:tr h="640080">
                <a:tc>
                  <a:txBody>
                    <a:bodyPr/>
                    <a:lstStyle/>
                    <a:p>
                      <a:r>
                        <a:rPr sz="1200" i="0" b="1">
                          <a:solidFill>
                            <a:srgbClr val="FFFFFF"/>
                          </a:solidFill>
                          <a:latin typeface="Calibri"/>
                        </a:rPr>
                        <a:t>Drug</a:t>
                      </a:r>
                    </a:p>
                  </a:txBody>
                  <a:tcPr marL="109728" marR="109728" marT="45720" marB="45720" anchor="ctr">
                    <a:solidFill>
                      <a:srgbClr val="1B2A8C"/>
                    </a:solidFill>
                  </a:tcPr>
                </a:tc>
                <a:tc>
                  <a:txBody>
                    <a:bodyPr/>
                    <a:lstStyle/>
                    <a:p>
                      <a:r>
                        <a:rPr sz="1200" i="0" b="1">
                          <a:solidFill>
                            <a:srgbClr val="FFFFFF"/>
                          </a:solidFill>
                          <a:latin typeface="Calibri"/>
                        </a:rPr>
                        <a:t>Main features</a:t>
                      </a:r>
                    </a:p>
                  </a:txBody>
                  <a:tcPr marL="109728" marR="109728" marT="45720" marB="45720" anchor="ctr">
                    <a:solidFill>
                      <a:srgbClr val="1B2A8C"/>
                    </a:solidFill>
                  </a:tcPr>
                </a:tc>
                <a:tc>
                  <a:txBody>
                    <a:bodyPr/>
                    <a:lstStyle/>
                    <a:p>
                      <a:r>
                        <a:rPr sz="1200" i="0" b="1">
                          <a:solidFill>
                            <a:srgbClr val="FFFFFF"/>
                          </a:solidFill>
                          <a:latin typeface="Calibri"/>
                        </a:rPr>
                        <a:t>Adverse effects</a:t>
                      </a:r>
                    </a:p>
                  </a:txBody>
                  <a:tcPr marL="109728" marR="109728" marT="45720" marB="45720" anchor="ctr">
                    <a:solidFill>
                      <a:srgbClr val="1B2A8C"/>
                    </a:solidFill>
                  </a:tcPr>
                </a:tc>
                <a:tc>
                  <a:txBody>
                    <a:bodyPr/>
                    <a:lstStyle/>
                    <a:p>
                      <a:r>
                        <a:rPr sz="1200" i="0" b="1">
                          <a:solidFill>
                            <a:srgbClr val="FFFFFF"/>
                          </a:solidFill>
                          <a:latin typeface="Calibri"/>
                        </a:rPr>
                        <a:t>Best use</a:t>
                      </a:r>
                    </a:p>
                  </a:txBody>
                  <a:tcPr marL="109728" marR="109728" marT="45720" marB="45720" anchor="ctr">
                    <a:solidFill>
                      <a:srgbClr val="1B2A8C"/>
                    </a:solidFill>
                  </a:tcPr>
                </a:tc>
              </a:tr>
              <a:tr h="640080">
                <a:tc>
                  <a:txBody>
                    <a:bodyPr/>
                    <a:lstStyle/>
                    <a:p>
                      <a:r>
                        <a:rPr sz="1300" i="0" b="1">
                          <a:solidFill>
                            <a:srgbClr val="1A1F36"/>
                          </a:solidFill>
                          <a:latin typeface="Calibri"/>
                        </a:rPr>
                        <a:t>Propofol</a:t>
                      </a:r>
                    </a:p>
                  </a:txBody>
                  <a:tcPr marL="109728" marR="109728" marT="45720" marB="45720" anchor="ctr">
                    <a:solidFill>
                      <a:srgbClr val="FFFFFF"/>
                    </a:solidFill>
                  </a:tcPr>
                </a:tc>
                <a:tc>
                  <a:txBody>
                    <a:bodyPr/>
                    <a:lstStyle/>
                    <a:p>
                      <a:r>
                        <a:rPr sz="1300" i="0" b="0">
                          <a:solidFill>
                            <a:srgbClr val="1A1F36"/>
                          </a:solidFill>
                          <a:latin typeface="Calibri"/>
                        </a:rPr>
                        <a:t>Fast, clear-headed recovery; antiemetic</a:t>
                      </a:r>
                    </a:p>
                  </a:txBody>
                  <a:tcPr marL="109728" marR="109728" marT="45720" marB="45720" anchor="ctr">
                    <a:solidFill>
                      <a:srgbClr val="FFFFFF"/>
                    </a:solidFill>
                  </a:tcPr>
                </a:tc>
                <a:tc>
                  <a:txBody>
                    <a:bodyPr/>
                    <a:lstStyle/>
                    <a:p>
                      <a:r>
                        <a:rPr sz="1300" i="0" b="0">
                          <a:solidFill>
                            <a:srgbClr val="1A1F36"/>
                          </a:solidFill>
                          <a:latin typeface="Calibri"/>
                        </a:rPr>
                        <a:t>Pain on injection; hypotension; breathing depression; propofol infusion syndrome (acidosis, rhabdomyolysis, hyperkalaemia, heart failure) with long high-dose infusions</a:t>
                      </a:r>
                    </a:p>
                  </a:txBody>
                  <a:tcPr marL="109728" marR="109728" marT="45720" marB="45720" anchor="ctr">
                    <a:solidFill>
                      <a:srgbClr val="FFFFFF"/>
                    </a:solidFill>
                  </a:tcPr>
                </a:tc>
                <a:tc>
                  <a:txBody>
                    <a:bodyPr/>
                    <a:lstStyle/>
                    <a:p>
                      <a:r>
                        <a:rPr sz="1300" i="0" b="0">
                          <a:solidFill>
                            <a:srgbClr val="1A1F36"/>
                          </a:solidFill>
                          <a:latin typeface="Calibri"/>
                        </a:rPr>
                        <a:t>Most inductions; maintenance by infusion; ICU sedation</a:t>
                      </a:r>
                    </a:p>
                  </a:txBody>
                  <a:tcPr marL="109728" marR="109728" marT="45720" marB="45720" anchor="ctr">
                    <a:solidFill>
                      <a:srgbClr val="FFFFFF"/>
                    </a:solidFill>
                  </a:tcPr>
                </a:tc>
              </a:tr>
              <a:tr h="640080">
                <a:tc>
                  <a:txBody>
                    <a:bodyPr/>
                    <a:lstStyle/>
                    <a:p>
                      <a:r>
                        <a:rPr sz="1300" i="0" b="1">
                          <a:solidFill>
                            <a:srgbClr val="1A1F36"/>
                          </a:solidFill>
                          <a:latin typeface="Calibri"/>
                        </a:rPr>
                        <a:t>Thiopental</a:t>
                      </a:r>
                    </a:p>
                  </a:txBody>
                  <a:tcPr marL="109728" marR="109728" marT="45720" marB="45720" anchor="ctr">
                    <a:solidFill>
                      <a:srgbClr val="F1F2F8"/>
                    </a:solidFill>
                  </a:tcPr>
                </a:tc>
                <a:tc>
                  <a:txBody>
                    <a:bodyPr/>
                    <a:lstStyle/>
                    <a:p>
                      <a:r>
                        <a:rPr sz="1300" i="0" b="0">
                          <a:solidFill>
                            <a:srgbClr val="1A1F36"/>
                          </a:solidFill>
                          <a:latin typeface="Calibri"/>
                        </a:rPr>
                        <a:t>Barbiturate; acts in about 20 s, lasts 5–15 min</a:t>
                      </a:r>
                    </a:p>
                  </a:txBody>
                  <a:tcPr marL="109728" marR="109728" marT="45720" marB="45720" anchor="ctr">
                    <a:solidFill>
                      <a:srgbClr val="F1F2F8"/>
                    </a:solidFill>
                  </a:tcPr>
                </a:tc>
                <a:tc>
                  <a:txBody>
                    <a:bodyPr/>
                    <a:lstStyle/>
                    <a:p>
                      <a:r>
                        <a:rPr sz="1300" i="0" b="0">
                          <a:solidFill>
                            <a:srgbClr val="1A1F36"/>
                          </a:solidFill>
                          <a:latin typeface="Calibri"/>
                        </a:rPr>
                        <a:t>Hypotension; tissue necrosis if injected outside the vein; enzyme induction; porphyria</a:t>
                      </a:r>
                    </a:p>
                  </a:txBody>
                  <a:tcPr marL="109728" marR="109728" marT="45720" marB="45720" anchor="ctr">
                    <a:solidFill>
                      <a:srgbClr val="F1F2F8"/>
                    </a:solidFill>
                  </a:tcPr>
                </a:tc>
                <a:tc>
                  <a:txBody>
                    <a:bodyPr/>
                    <a:lstStyle/>
                    <a:p>
                      <a:r>
                        <a:rPr sz="1300" i="0" b="0">
                          <a:solidFill>
                            <a:srgbClr val="1A1F36"/>
                          </a:solidFill>
                          <a:latin typeface="Calibri"/>
                        </a:rPr>
                        <a:t>Rarely now; raised intracranial pressure</a:t>
                      </a:r>
                    </a:p>
                  </a:txBody>
                  <a:tcPr marL="109728" marR="109728" marT="45720" marB="45720" anchor="ctr">
                    <a:solidFill>
                      <a:srgbClr val="F1F2F8"/>
                    </a:solidFill>
                  </a:tcPr>
                </a:tc>
              </a:tr>
              <a:tr h="640080">
                <a:tc>
                  <a:txBody>
                    <a:bodyPr/>
                    <a:lstStyle/>
                    <a:p>
                      <a:r>
                        <a:rPr sz="1300" i="0" b="1">
                          <a:solidFill>
                            <a:srgbClr val="1A1F36"/>
                          </a:solidFill>
                          <a:latin typeface="Calibri"/>
                        </a:rPr>
                        <a:t>Etomidate</a:t>
                      </a:r>
                    </a:p>
                  </a:txBody>
                  <a:tcPr marL="109728" marR="109728" marT="45720" marB="45720" anchor="ctr">
                    <a:solidFill>
                      <a:srgbClr val="FFFFFF"/>
                    </a:solidFill>
                  </a:tcPr>
                </a:tc>
                <a:tc>
                  <a:txBody>
                    <a:bodyPr/>
                    <a:lstStyle/>
                    <a:p>
                      <a:r>
                        <a:rPr sz="1300" i="0" b="0">
                          <a:solidFill>
                            <a:srgbClr val="1A1F36"/>
                          </a:solidFill>
                          <a:latin typeface="Calibri"/>
                        </a:rPr>
                        <a:t>Keeps blood pressure stable</a:t>
                      </a:r>
                    </a:p>
                  </a:txBody>
                  <a:tcPr marL="109728" marR="109728" marT="45720" marB="45720" anchor="ctr">
                    <a:solidFill>
                      <a:srgbClr val="FFFFFF"/>
                    </a:solidFill>
                  </a:tcPr>
                </a:tc>
                <a:tc>
                  <a:txBody>
                    <a:bodyPr/>
                    <a:lstStyle/>
                    <a:p>
                      <a:r>
                        <a:rPr sz="1300" i="0" b="0">
                          <a:solidFill>
                            <a:srgbClr val="1A1F36"/>
                          </a:solidFill>
                          <a:latin typeface="Calibri"/>
                        </a:rPr>
                        <a:t>Adrenal suppression (blocks 11β-hydroxylase); myoclonus; nausea</a:t>
                      </a:r>
                    </a:p>
                  </a:txBody>
                  <a:tcPr marL="109728" marR="109728" marT="45720" marB="45720" anchor="ctr">
                    <a:solidFill>
                      <a:srgbClr val="FFFFFF"/>
                    </a:solidFill>
                  </a:tcPr>
                </a:tc>
                <a:tc>
                  <a:txBody>
                    <a:bodyPr/>
                    <a:lstStyle/>
                    <a:p>
                      <a:r>
                        <a:rPr sz="1300" i="0" b="0">
                          <a:solidFill>
                            <a:srgbClr val="1A1F36"/>
                          </a:solidFill>
                          <a:latin typeface="Calibri"/>
                        </a:rPr>
                        <a:t>Unstable heart patients</a:t>
                      </a:r>
                    </a:p>
                  </a:txBody>
                  <a:tcPr marL="109728" marR="109728" marT="45720" marB="45720" anchor="ctr">
                    <a:solidFill>
                      <a:srgbClr val="FFFFFF"/>
                    </a:solidFill>
                  </a:tcPr>
                </a:tc>
              </a:tr>
              <a:tr h="640080">
                <a:tc>
                  <a:txBody>
                    <a:bodyPr/>
                    <a:lstStyle/>
                    <a:p>
                      <a:r>
                        <a:rPr sz="1300" i="0" b="1">
                          <a:solidFill>
                            <a:srgbClr val="1A1F36"/>
                          </a:solidFill>
                          <a:latin typeface="Calibri"/>
                        </a:rPr>
                        <a:t>Ketamine</a:t>
                      </a:r>
                    </a:p>
                  </a:txBody>
                  <a:tcPr marL="109728" marR="109728" marT="45720" marB="45720" anchor="ctr">
                    <a:solidFill>
                      <a:srgbClr val="F1F2F8"/>
                    </a:solidFill>
                  </a:tcPr>
                </a:tc>
                <a:tc>
                  <a:txBody>
                    <a:bodyPr/>
                    <a:lstStyle/>
                    <a:p>
                      <a:r>
                        <a:rPr sz="1300" i="0" b="0">
                          <a:solidFill>
                            <a:srgbClr val="1A1F36"/>
                          </a:solidFill>
                          <a:latin typeface="Calibri"/>
                        </a:rPr>
                        <a:t>NMDA antagonist; "dissociative" state; strong analgesia</a:t>
                      </a:r>
                    </a:p>
                  </a:txBody>
                  <a:tcPr marL="109728" marR="109728" marT="45720" marB="45720" anchor="ctr">
                    <a:solidFill>
                      <a:srgbClr val="F1F2F8"/>
                    </a:solidFill>
                  </a:tcPr>
                </a:tc>
                <a:tc>
                  <a:txBody>
                    <a:bodyPr/>
                    <a:lstStyle/>
                    <a:p>
                      <a:r>
                        <a:rPr sz="1300" i="0" b="0">
                          <a:solidFill>
                            <a:srgbClr val="1A1F36"/>
                          </a:solidFill>
                          <a:latin typeface="Calibri"/>
                        </a:rPr>
                        <a:t>Raises BP and heart rate; hallucinations and vivid dreams on waking; more secretions; raised intracranial pressure</a:t>
                      </a:r>
                    </a:p>
                  </a:txBody>
                  <a:tcPr marL="109728" marR="109728" marT="45720" marB="45720" anchor="ctr">
                    <a:solidFill>
                      <a:srgbClr val="F1F2F8"/>
                    </a:solidFill>
                  </a:tcPr>
                </a:tc>
                <a:tc>
                  <a:txBody>
                    <a:bodyPr/>
                    <a:lstStyle/>
                    <a:p>
                      <a:r>
                        <a:rPr sz="1300" i="0" b="0">
                          <a:solidFill>
                            <a:srgbClr val="1A1F36"/>
                          </a:solidFill>
                          <a:latin typeface="Calibri"/>
                        </a:rPr>
                        <a:t>Shock, trauma, asthma, children; painful procedures</a:t>
                      </a:r>
                    </a:p>
                  </a:txBody>
                  <a:tcPr marL="109728" marR="109728" marT="45720" marB="45720" anchor="ctr">
                    <a:solidFill>
                      <a:srgbClr val="F1F2F8"/>
                    </a:solidFill>
                  </a:tcPr>
                </a:tc>
              </a:tr>
              <a:tr h="640080">
                <a:tc>
                  <a:txBody>
                    <a:bodyPr/>
                    <a:lstStyle/>
                    <a:p>
                      <a:r>
                        <a:rPr sz="1300" i="0" b="1">
                          <a:solidFill>
                            <a:srgbClr val="1A1F36"/>
                          </a:solidFill>
                          <a:latin typeface="Calibri"/>
                        </a:rPr>
                        <a:t>Midazolam</a:t>
                      </a:r>
                    </a:p>
                  </a:txBody>
                  <a:tcPr marL="109728" marR="109728" marT="45720" marB="45720" anchor="ctr">
                    <a:solidFill>
                      <a:srgbClr val="FFFFFF"/>
                    </a:solidFill>
                  </a:tcPr>
                </a:tc>
                <a:tc>
                  <a:txBody>
                    <a:bodyPr/>
                    <a:lstStyle/>
                    <a:p>
                      <a:r>
                        <a:rPr sz="1300" i="0" b="0">
                          <a:solidFill>
                            <a:srgbClr val="1A1F36"/>
                          </a:solidFill>
                          <a:latin typeface="Calibri"/>
                        </a:rPr>
                        <a:t>Benzodiazepine; sedation and amnesia; reversed by flumazenil</a:t>
                      </a:r>
                    </a:p>
                  </a:txBody>
                  <a:tcPr marL="109728" marR="109728" marT="45720" marB="45720" anchor="ctr">
                    <a:solidFill>
                      <a:srgbClr val="FFFFFF"/>
                    </a:solidFill>
                  </a:tcPr>
                </a:tc>
                <a:tc>
                  <a:txBody>
                    <a:bodyPr/>
                    <a:lstStyle/>
                    <a:p>
                      <a:r>
                        <a:rPr sz="1300" i="0" b="0">
                          <a:solidFill>
                            <a:srgbClr val="1A1F36"/>
                          </a:solidFill>
                          <a:latin typeface="Calibri"/>
                        </a:rPr>
                        <a:t>Breathing depression, especially with opioids</a:t>
                      </a:r>
                    </a:p>
                  </a:txBody>
                  <a:tcPr marL="109728" marR="109728" marT="45720" marB="45720" anchor="ctr">
                    <a:solidFill>
                      <a:srgbClr val="FFFFFF"/>
                    </a:solidFill>
                  </a:tcPr>
                </a:tc>
                <a:tc>
                  <a:txBody>
                    <a:bodyPr/>
                    <a:lstStyle/>
                    <a:p>
                      <a:r>
                        <a:rPr sz="1300" i="0" b="0">
                          <a:solidFill>
                            <a:srgbClr val="1A1F36"/>
                          </a:solidFill>
                          <a:latin typeface="Calibri"/>
                        </a:rPr>
                        <a:t>Premedication; procedural sedation</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8</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Choose the IV agent for the patient. In a patient in </a:t>
            </a:r>
            <a:r>
              <a:rPr sz="2200" i="0" b="1">
                <a:solidFill>
                  <a:srgbClr val="1A1F36"/>
                </a:solidFill>
                <a:latin typeface="Calibri"/>
              </a:rPr>
              <a:t>shock</a:t>
            </a:r>
            <a:r>
              <a:rPr sz="2200" i="0" b="0">
                <a:solidFill>
                  <a:srgbClr val="1A1F36"/>
                </a:solidFill>
                <a:latin typeface="Calibri"/>
              </a:rPr>
              <a:t> or with </a:t>
            </a:r>
            <a:r>
              <a:rPr sz="2200" i="0" b="1">
                <a:solidFill>
                  <a:srgbClr val="1A1F36"/>
                </a:solidFill>
                <a:latin typeface="Calibri"/>
              </a:rPr>
              <a:t>asthma</a:t>
            </a:r>
            <a:r>
              <a:rPr sz="2200" i="0" b="0">
                <a:solidFill>
                  <a:srgbClr val="1A1F36"/>
                </a:solidFill>
                <a:latin typeface="Calibri"/>
              </a:rPr>
              <a:t>, ketamine keeps blood pressure and opens the airways. In a patient with </a:t>
            </a:r>
            <a:r>
              <a:rPr sz="2200" i="0" b="1">
                <a:solidFill>
                  <a:srgbClr val="1A1F36"/>
                </a:solidFill>
                <a:latin typeface="Calibri"/>
              </a:rPr>
              <a:t>heart disease</a:t>
            </a:r>
            <a:r>
              <a:rPr sz="2200" i="0" b="0">
                <a:solidFill>
                  <a:srgbClr val="1A1F36"/>
                </a:solidFill>
                <a:latin typeface="Calibri"/>
              </a:rPr>
              <a:t> who needs stable blood pressure, etomidate is useful. For most healthy patients, propofol gives the smoothest recovery. Midazolam alone gives sedation without analgesia, so it suits endoscopy but not painful procedures.</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General Anaesthetics</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27</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Malignant Hyperthermia</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10500055" cy="1808988"/>
          </a:xfrm>
          <a:prstGeom prst="rect">
            <a:avLst/>
          </a:prstGeom>
          <a:noFill/>
        </p:spPr>
        <p:txBody>
          <a:bodyPr wrap="square" anchor="t" lIns="0" rIns="0" tIns="0" bIns="0">
            <a:spAutoFit/>
          </a:bodyPr>
          <a:lstStyle/>
          <a:p>
            <a:r>
              <a:rPr sz="2100" i="0" b="0">
                <a:solidFill>
                  <a:srgbClr val="1A1F36"/>
                </a:solidFill>
                <a:latin typeface="Calibri"/>
              </a:rPr>
              <a:t>Malignant hyperthermia is a rare inherited disorder of the muscle ryanodine receptor (RyR1). Volatile agents </a:t>
            </a:r>
            <a:r>
              <a:rPr sz="2100" i="0" b="1">
                <a:solidFill>
                  <a:srgbClr val="1A1F36"/>
                </a:solidFill>
                <a:latin typeface="Calibri"/>
              </a:rPr>
              <a:t>or</a:t>
            </a:r>
            <a:r>
              <a:rPr sz="2100" i="0" b="0">
                <a:solidFill>
                  <a:srgbClr val="1A1F36"/>
                </a:solidFill>
                <a:latin typeface="Calibri"/>
              </a:rPr>
              <a:t> succinylcholine can trigger it; </a:t>
            </a:r>
            <a:r>
              <a:rPr sz="2100" i="0" b="1">
                <a:solidFill>
                  <a:srgbClr val="1A1F36"/>
                </a:solidFill>
                <a:latin typeface="Calibri"/>
              </a:rPr>
              <a:t>either one alone</a:t>
            </a:r>
            <a:r>
              <a:rPr sz="2100" i="0" b="0">
                <a:solidFill>
                  <a:srgbClr val="1A1F36"/>
                </a:solidFill>
                <a:latin typeface="Calibri"/>
              </a:rPr>
              <a:t> is enough. It is not triggered by N₂O, propofol, ketamine or local anaesthetics.</a:t>
            </a:r>
          </a:p>
        </p:txBody>
      </p:sp>
      <p:sp>
        <p:nvSpPr>
          <p:cNvPr id="15" name="Oval 14"/>
          <p:cNvSpPr/>
          <p:nvPr/>
        </p:nvSpPr>
        <p:spPr>
          <a:xfrm>
            <a:off x="548640" y="342747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3445764"/>
            <a:ext cx="10500055" cy="1475612"/>
          </a:xfrm>
          <a:prstGeom prst="rect">
            <a:avLst/>
          </a:prstGeom>
          <a:noFill/>
        </p:spPr>
        <p:txBody>
          <a:bodyPr wrap="square" anchor="t" lIns="0" rIns="0" tIns="0" bIns="0">
            <a:spAutoFit/>
          </a:bodyPr>
          <a:lstStyle/>
          <a:p>
            <a:r>
              <a:rPr sz="2100" i="0" b="0">
                <a:solidFill>
                  <a:srgbClr val="1A1F36"/>
                </a:solidFill>
                <a:latin typeface="Calibri"/>
              </a:rPr>
              <a:t>Features: rising end-tidal CO₂, tachycardia, muscle rigidity, fever, acidosis and hyperkalaemia. Treatment is </a:t>
            </a:r>
            <a:r>
              <a:rPr sz="2100" i="0" b="1">
                <a:solidFill>
                  <a:srgbClr val="1A1F36"/>
                </a:solidFill>
                <a:latin typeface="Calibri"/>
              </a:rPr>
              <a:t>IV dantrolene</a:t>
            </a:r>
            <a:r>
              <a:rPr sz="2100" i="0" b="0">
                <a:solidFill>
                  <a:srgbClr val="1A1F36"/>
                </a:solidFill>
                <a:latin typeface="Calibri"/>
              </a:rPr>
              <a:t>, 100% oxygen, cooling and support (Chapter 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Malignant Hyperthermia</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431288"/>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6" name="TextBox 15"/>
          <p:cNvSpPr txBox="1"/>
          <p:nvPr/>
        </p:nvSpPr>
        <p:spPr>
          <a:xfrm>
            <a:off x="1920239" y="2788920"/>
            <a:ext cx="8351215" cy="1562608"/>
          </a:xfrm>
          <a:prstGeom prst="rect">
            <a:avLst/>
          </a:prstGeom>
          <a:noFill/>
        </p:spPr>
        <p:txBody>
          <a:bodyPr wrap="square" anchor="t" lIns="0" rIns="0" tIns="0" bIns="0">
            <a:spAutoFit/>
          </a:bodyPr>
          <a:lstStyle/>
          <a:p>
            <a:pPr>
              <a:spcBef>
                <a:spcPts val="0"/>
              </a:spcBef>
            </a:pPr>
            <a:r>
              <a:rPr sz="2200" i="0" b="0">
                <a:solidFill>
                  <a:srgbClr val="1A1F36"/>
                </a:solidFill>
                <a:latin typeface="Calibri"/>
              </a:rPr>
              <a:t>Always ask about personal or family history of problems with anaesthesia. For a susceptible patient, use a trigger-free technique: propofol infusion, opioids and a non-depolarising blocker, with a vapour-free machine.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Brands in Egypt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27</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2958510"/>
                <a:gridCol w="3254361"/>
                <a:gridCol w="4881542"/>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Propofol</a:t>
                      </a:r>
                    </a:p>
                  </a:txBody>
                  <a:tcPr marL="109728" marR="109728" marT="45720" marB="45720" anchor="ctr">
                    <a:solidFill>
                      <a:srgbClr val="FFFFFF"/>
                    </a:solidFill>
                  </a:tcPr>
                </a:tc>
                <a:tc>
                  <a:txBody>
                    <a:bodyPr/>
                    <a:lstStyle/>
                    <a:p>
                      <a:r>
                        <a:rPr sz="2000" i="0" b="0">
                          <a:solidFill>
                            <a:srgbClr val="1A1F36"/>
                          </a:solidFill>
                          <a:latin typeface="Calibri"/>
                        </a:rPr>
                        <a:t>Diprivan</a:t>
                      </a:r>
                    </a:p>
                  </a:txBody>
                  <a:tcPr marL="109728" marR="109728" marT="45720" marB="45720" anchor="ctr">
                    <a:solidFill>
                      <a:srgbClr val="FFFFFF"/>
                    </a:solidFill>
                  </a:tcPr>
                </a:tc>
                <a:tc>
                  <a:txBody>
                    <a:bodyPr/>
                    <a:lstStyle/>
                    <a:p>
                      <a:r>
                        <a:rPr sz="2000" i="0" b="0">
                          <a:solidFill>
                            <a:srgbClr val="1A1F36"/>
                          </a:solidFill>
                          <a:latin typeface="Calibri"/>
                        </a:rPr>
                        <a:t>1% emulsion for injection</a:t>
                      </a:r>
                    </a:p>
                  </a:txBody>
                  <a:tcPr marL="109728" marR="109728" marT="45720" marB="45720" anchor="ctr">
                    <a:solidFill>
                      <a:srgbClr val="FFFFFF"/>
                    </a:solidFill>
                  </a:tcPr>
                </a:tc>
              </a:tr>
              <a:tr h="640080">
                <a:tc>
                  <a:txBody>
                    <a:bodyPr/>
                    <a:lstStyle/>
                    <a:p>
                      <a:r>
                        <a:rPr sz="2000" i="0" b="1">
                          <a:solidFill>
                            <a:srgbClr val="1A1F36"/>
                          </a:solidFill>
                          <a:latin typeface="Calibri"/>
                        </a:rPr>
                        <a:t>Ketamine</a:t>
                      </a:r>
                    </a:p>
                  </a:txBody>
                  <a:tcPr marL="109728" marR="109728" marT="45720" marB="45720" anchor="ctr">
                    <a:solidFill>
                      <a:srgbClr val="F1F2F8"/>
                    </a:solidFill>
                  </a:tcPr>
                </a:tc>
                <a:tc>
                  <a:txBody>
                    <a:bodyPr/>
                    <a:lstStyle/>
                    <a:p>
                      <a:r>
                        <a:rPr sz="2000" i="0" b="0">
                          <a:solidFill>
                            <a:srgbClr val="1A1F36"/>
                          </a:solidFill>
                          <a:latin typeface="Calibri"/>
                        </a:rPr>
                        <a:t>Ketalar</a:t>
                      </a:r>
                    </a:p>
                  </a:txBody>
                  <a:tcPr marL="109728" marR="109728" marT="45720" marB="45720" anchor="ctr">
                    <a:solidFill>
                      <a:srgbClr val="F1F2F8"/>
                    </a:solidFill>
                  </a:tcPr>
                </a:tc>
                <a:tc>
                  <a:txBody>
                    <a:bodyPr/>
                    <a:lstStyle/>
                    <a:p>
                      <a:r>
                        <a:rPr sz="2000" i="0" b="0">
                          <a:solidFill>
                            <a:srgbClr val="1A1F36"/>
                          </a:solidFill>
                          <a:latin typeface="Calibri"/>
                        </a:rPr>
                        <a:t>Injection</a:t>
                      </a:r>
                    </a:p>
                  </a:txBody>
                  <a:tcPr marL="109728" marR="109728" marT="45720" marB="45720" anchor="ctr">
                    <a:solidFill>
                      <a:srgbClr val="F1F2F8"/>
                    </a:solidFill>
                  </a:tcPr>
                </a:tc>
              </a:tr>
              <a:tr h="640080">
                <a:tc>
                  <a:txBody>
                    <a:bodyPr/>
                    <a:lstStyle/>
                    <a:p>
                      <a:r>
                        <a:rPr sz="2000" i="0" b="1">
                          <a:solidFill>
                            <a:srgbClr val="1A1F36"/>
                          </a:solidFill>
                          <a:latin typeface="Calibri"/>
                        </a:rPr>
                        <a:t>Midazolam</a:t>
                      </a:r>
                    </a:p>
                  </a:txBody>
                  <a:tcPr marL="109728" marR="109728" marT="45720" marB="45720" anchor="ctr">
                    <a:solidFill>
                      <a:srgbClr val="FFFFFF"/>
                    </a:solidFill>
                  </a:tcPr>
                </a:tc>
                <a:tc>
                  <a:txBody>
                    <a:bodyPr/>
                    <a:lstStyle/>
                    <a:p>
                      <a:r>
                        <a:rPr sz="2000" i="0" b="0">
                          <a:solidFill>
                            <a:srgbClr val="1A1F36"/>
                          </a:solidFill>
                          <a:latin typeface="Calibri"/>
                        </a:rPr>
                        <a:t>Dormicum</a:t>
                      </a:r>
                    </a:p>
                  </a:txBody>
                  <a:tcPr marL="109728" marR="109728" marT="45720" marB="45720" anchor="ctr">
                    <a:solidFill>
                      <a:srgbClr val="FFFFFF"/>
                    </a:solidFill>
                  </a:tcPr>
                </a:tc>
                <a:tc>
                  <a:txBody>
                    <a:bodyPr/>
                    <a:lstStyle/>
                    <a:p>
                      <a:r>
                        <a:rPr sz="2000" i="0" b="0">
                          <a:solidFill>
                            <a:srgbClr val="1A1F36"/>
                          </a:solidFill>
                          <a:latin typeface="Calibri"/>
                        </a:rPr>
                        <a:t>Injection, tablets</a:t>
                      </a:r>
                    </a:p>
                  </a:txBody>
                  <a:tcPr marL="109728" marR="109728" marT="45720" marB="45720"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For Discussion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27</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Why do we use four or five drugs for one anaesthetic instead of one strong drug?</a:t>
            </a:r>
          </a:p>
        </p:txBody>
      </p:sp>
      <p:sp>
        <p:nvSpPr>
          <p:cNvPr id="15" name="Oval 14"/>
          <p:cNvSpPr/>
          <p:nvPr/>
        </p:nvSpPr>
        <p:spPr>
          <a:xfrm>
            <a:off x="548640"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779014"/>
            <a:ext cx="10500055" cy="1142237"/>
          </a:xfrm>
          <a:prstGeom prst="rect">
            <a:avLst/>
          </a:prstGeom>
          <a:noFill/>
        </p:spPr>
        <p:txBody>
          <a:bodyPr wrap="square" anchor="t" lIns="0" rIns="0" tIns="0" bIns="0">
            <a:spAutoFit/>
          </a:bodyPr>
          <a:lstStyle/>
          <a:p>
            <a:r>
              <a:rPr sz="2100" i="0" b="0">
                <a:solidFill>
                  <a:srgbClr val="1A1F36"/>
                </a:solidFill>
                <a:latin typeface="Calibri"/>
              </a:rPr>
              <a:t>Sevoflurane and desflurane are both fast. Why is sevoflurane used for inhaled induction in children?</a:t>
            </a:r>
          </a:p>
        </p:txBody>
      </p:sp>
      <p:sp>
        <p:nvSpPr>
          <p:cNvPr id="17" name="Oval 16"/>
          <p:cNvSpPr/>
          <p:nvPr/>
        </p:nvSpPr>
        <p:spPr>
          <a:xfrm>
            <a:off x="548640" y="394868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966971"/>
            <a:ext cx="10500055" cy="1142237"/>
          </a:xfrm>
          <a:prstGeom prst="rect">
            <a:avLst/>
          </a:prstGeom>
          <a:noFill/>
        </p:spPr>
        <p:txBody>
          <a:bodyPr wrap="square" anchor="t" lIns="0" rIns="0" tIns="0" bIns="0">
            <a:spAutoFit/>
          </a:bodyPr>
          <a:lstStyle/>
          <a:p>
            <a:r>
              <a:rPr sz="2100" i="0" b="0">
                <a:solidFill>
                  <a:srgbClr val="1A1F36"/>
                </a:solidFill>
                <a:latin typeface="Calibri"/>
              </a:rPr>
              <a:t>Why does a single dose of propofol wear off in minutes, while a 12-hour infusion wears off more slowly?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  ·  QUESTION 1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is balanced anaesthesia used?</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One drug gives all goals at safe doses.</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avoids the need for an airway.</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removes the need for monitoring.</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Several drugs at lower doses give all goals with fewer adverse effects.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  ·  QUESTION 1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27</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is balanced anaesthesia used?</a:t>
            </a:r>
          </a:p>
        </p:txBody>
      </p:sp>
      <p:sp>
        <p:nvSpPr>
          <p:cNvPr id="14" name="Rounded Rectangle 13"/>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One drug gives all goals at safe doses.</a:t>
            </a:r>
          </a:p>
        </p:txBody>
      </p:sp>
      <p:sp>
        <p:nvSpPr>
          <p:cNvPr id="17" name="Rounded Rectangle 16"/>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It avoids the need for an airway.</a:t>
            </a:r>
          </a:p>
        </p:txBody>
      </p:sp>
      <p:sp>
        <p:nvSpPr>
          <p:cNvPr id="20" name="Rounded Rectangle 19"/>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It removes the need for monitoring.</a:t>
            </a:r>
          </a:p>
        </p:txBody>
      </p:sp>
      <p:sp>
        <p:nvSpPr>
          <p:cNvPr id="23" name="Rounded Rectangle 22"/>
          <p:cNvSpPr/>
          <p:nvPr/>
        </p:nvSpPr>
        <p:spPr>
          <a:xfrm>
            <a:off x="548640" y="4636008"/>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Several drugs at lower doses give all goals with fewer adverse effects.</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Balanced anaesthesia uses several drugs, each at a lower dose. A is wrong; one drug would be toxic at the needed dose. B and C are wrong.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  ·  QUESTION 2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anaesthetic acts mainly by blocking NMDA receptors?</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Propofol</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Ketamine</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Etomidate</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Midazolam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  ·  QUESTION 2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27</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anaesthetic acts mainly by blocking NMDA receptors?</a:t>
            </a:r>
          </a:p>
        </p:txBody>
      </p:sp>
      <p:sp>
        <p:nvSpPr>
          <p:cNvPr id="14" name="Rounded Rectangle 13"/>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Propofol</a:t>
            </a:r>
          </a:p>
        </p:txBody>
      </p:sp>
      <p:sp>
        <p:nvSpPr>
          <p:cNvPr id="17" name="Rounded Rectangle 16"/>
          <p:cNvSpPr/>
          <p:nvPr/>
        </p:nvSpPr>
        <p:spPr>
          <a:xfrm>
            <a:off x="548640" y="3282696"/>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Ketamine</a:t>
            </a:r>
          </a:p>
        </p:txBody>
      </p:sp>
      <p:sp>
        <p:nvSpPr>
          <p:cNvPr id="20" name="Rounded Rectangle 19"/>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Etomidate</a:t>
            </a:r>
          </a:p>
        </p:txBody>
      </p:sp>
      <p:sp>
        <p:nvSpPr>
          <p:cNvPr id="23" name="Rounded Rectangle 22"/>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Midazolam</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Ketamine blocks NMDA receptors. A, C and D enhance GABA-A.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  ·  QUESTION 3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inhaled agent is the most potent?</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Halothane (MAC 0.75%)</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Sevoflurane (MAC 2%)</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Desflurane (MAC 6%)</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Nitrous oxide (MAC 104%)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  ·  QUESTION 3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27</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inhaled agent is the most potent?</a:t>
            </a:r>
          </a:p>
        </p:txBody>
      </p:sp>
      <p:sp>
        <p:nvSpPr>
          <p:cNvPr id="14" name="Rounded Rectangle 13"/>
          <p:cNvSpPr/>
          <p:nvPr/>
        </p:nvSpPr>
        <p:spPr>
          <a:xfrm>
            <a:off x="548640" y="2606040"/>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Halothane (MAC 0.75%)</a:t>
            </a:r>
          </a:p>
        </p:txBody>
      </p:sp>
      <p:sp>
        <p:nvSpPr>
          <p:cNvPr id="17" name="Rounded Rectangle 16"/>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Sevoflurane (MAC 2%)</a:t>
            </a:r>
          </a:p>
        </p:txBody>
      </p:sp>
      <p:sp>
        <p:nvSpPr>
          <p:cNvPr id="20" name="Rounded Rectangle 19"/>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Desflurane (MAC 6%)</a:t>
            </a:r>
          </a:p>
        </p:txBody>
      </p:sp>
      <p:sp>
        <p:nvSpPr>
          <p:cNvPr id="23" name="Rounded Rectangle 22"/>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Nitrous oxide (MAC 104%)</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Halothane has the lowest MAC. B, C and D have higher MAC values.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  ·  QUESTION 4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desflurane give faster induction and recovery than isoflurane?</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It has a lower MAC.</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is more lipid-soluble.</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has a lower blood:gas partition coefficient.</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It is metabolised faster.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  ·  QUESTION 4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27</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desflurane give faster induction and recovery than isoflurane?</a:t>
            </a:r>
          </a:p>
        </p:txBody>
      </p:sp>
      <p:sp>
        <p:nvSpPr>
          <p:cNvPr id="14" name="Rounded Rectangle 13"/>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It has a lower MAC.</a:t>
            </a:r>
          </a:p>
        </p:txBody>
      </p:sp>
      <p:sp>
        <p:nvSpPr>
          <p:cNvPr id="17" name="Rounded Rectangle 16"/>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It is more lipid-soluble.</a:t>
            </a:r>
          </a:p>
        </p:txBody>
      </p:sp>
      <p:sp>
        <p:nvSpPr>
          <p:cNvPr id="20" name="Rounded Rectangle 19"/>
          <p:cNvSpPr/>
          <p:nvPr/>
        </p:nvSpPr>
        <p:spPr>
          <a:xfrm>
            <a:off x="548640" y="3959352"/>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It has a lower blood:gas partition coefficient.</a:t>
            </a:r>
          </a:p>
        </p:txBody>
      </p:sp>
      <p:sp>
        <p:nvSpPr>
          <p:cNvPr id="23" name="Rounded Rectangle 22"/>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It is metabolised faster.</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Low blood solubility means fast rise in brain level. A relates to potency; desflurane's MAC is higher. B and D are wrong.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  ·  QUESTION 5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25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a patient wake within minutes after a single dose of propofol?</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Redistribution from the brain to muscle and fat</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Rapid renal excretion</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Breakdown by plasma cholinesterase</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Reversal by flumazenil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  ·  QUESTION 5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26 / 27</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a patient wake within minutes after a single dose of propofol?</a:t>
            </a:r>
          </a:p>
        </p:txBody>
      </p:sp>
      <p:sp>
        <p:nvSpPr>
          <p:cNvPr id="14" name="Rounded Rectangle 13"/>
          <p:cNvSpPr/>
          <p:nvPr/>
        </p:nvSpPr>
        <p:spPr>
          <a:xfrm>
            <a:off x="548640" y="2606040"/>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Redistribution from the brain to muscle and fat</a:t>
            </a:r>
          </a:p>
        </p:txBody>
      </p:sp>
      <p:sp>
        <p:nvSpPr>
          <p:cNvPr id="17" name="Rounded Rectangle 16"/>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Rapid renal excretion</a:t>
            </a:r>
          </a:p>
        </p:txBody>
      </p:sp>
      <p:sp>
        <p:nvSpPr>
          <p:cNvPr id="20" name="Rounded Rectangle 19"/>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Breakdown by plasma cholinesterase</a:t>
            </a:r>
          </a:p>
        </p:txBody>
      </p:sp>
      <p:sp>
        <p:nvSpPr>
          <p:cNvPr id="23" name="Rounded Rectangle 22"/>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Reversal by flumazenil</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Redistribution ends the effect of a single dose. B and C are wrong. D is for benzodiazepines.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8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6" name="TextBox 5"/>
          <p:cNvSpPr txBox="1"/>
          <p:nvPr/>
        </p:nvSpPr>
        <p:spPr>
          <a:xfrm>
            <a:off x="1143000" y="1865376"/>
            <a:ext cx="10500055" cy="862202"/>
          </a:xfrm>
          <a:prstGeom prst="rect">
            <a:avLst/>
          </a:prstGeom>
          <a:noFill/>
        </p:spPr>
        <p:txBody>
          <a:bodyPr wrap="square" anchor="t" lIns="0" rIns="0" tIns="0" bIns="0">
            <a:spAutoFit/>
          </a:bodyPr>
          <a:lstStyle/>
          <a:p>
            <a:r>
              <a:rPr sz="2100" i="0" b="0">
                <a:solidFill>
                  <a:srgbClr val="FFFFFF"/>
                </a:solidFill>
                <a:latin typeface="Calibri"/>
              </a:rPr>
              <a:t>Anaesthesia aims for unconsciousness, amnesia, analgesia, muscle relaxation and loss of reflexes; balanced anaesthesia uses several drugs to achieve them.</a:t>
            </a:r>
          </a:p>
        </p:txBody>
      </p:sp>
      <p:sp>
        <p:nvSpPr>
          <p:cNvPr id="7" name="Oval 6"/>
          <p:cNvSpPr/>
          <p:nvPr/>
        </p:nvSpPr>
        <p:spPr>
          <a:xfrm>
            <a:off x="548640" y="275501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8" name="TextBox 7"/>
          <p:cNvSpPr txBox="1"/>
          <p:nvPr/>
        </p:nvSpPr>
        <p:spPr>
          <a:xfrm>
            <a:off x="1143000" y="2773299"/>
            <a:ext cx="10500055" cy="528827"/>
          </a:xfrm>
          <a:prstGeom prst="rect">
            <a:avLst/>
          </a:prstGeom>
          <a:noFill/>
        </p:spPr>
        <p:txBody>
          <a:bodyPr wrap="square" anchor="t" lIns="0" rIns="0" tIns="0" bIns="0">
            <a:spAutoFit/>
          </a:bodyPr>
          <a:lstStyle/>
          <a:p>
            <a:r>
              <a:rPr sz="2100" i="0" b="0">
                <a:solidFill>
                  <a:srgbClr val="FFFFFF"/>
                </a:solidFill>
                <a:latin typeface="Calibri"/>
              </a:rPr>
              <a:t>Most anaesthetics enhance GABA-A; ketamine and N₂O block NMDA.</a:t>
            </a:r>
          </a:p>
        </p:txBody>
      </p:sp>
      <p:sp>
        <p:nvSpPr>
          <p:cNvPr id="9" name="Oval 8"/>
          <p:cNvSpPr/>
          <p:nvPr/>
        </p:nvSpPr>
        <p:spPr>
          <a:xfrm>
            <a:off x="548640" y="332955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10" name="TextBox 9"/>
          <p:cNvSpPr txBox="1"/>
          <p:nvPr/>
        </p:nvSpPr>
        <p:spPr>
          <a:xfrm>
            <a:off x="1143000" y="3347847"/>
            <a:ext cx="10500055" cy="862202"/>
          </a:xfrm>
          <a:prstGeom prst="rect">
            <a:avLst/>
          </a:prstGeom>
          <a:noFill/>
        </p:spPr>
        <p:txBody>
          <a:bodyPr wrap="square" anchor="t" lIns="0" rIns="0" tIns="0" bIns="0">
            <a:spAutoFit/>
          </a:bodyPr>
          <a:lstStyle/>
          <a:p>
            <a:r>
              <a:rPr sz="2100" i="0" b="0">
                <a:solidFill>
                  <a:srgbClr val="FFFFFF"/>
                </a:solidFill>
                <a:latin typeface="Calibri"/>
              </a:rPr>
              <a:t>Low MAC means high potency; low blood:gas solubility means fast induction and recovery.</a:t>
            </a:r>
          </a:p>
        </p:txBody>
      </p:sp>
      <p:sp>
        <p:nvSpPr>
          <p:cNvPr id="11" name="Oval 10"/>
          <p:cNvSpPr/>
          <p:nvPr/>
        </p:nvSpPr>
        <p:spPr>
          <a:xfrm>
            <a:off x="548640" y="423748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2" name="TextBox 11"/>
          <p:cNvSpPr txBox="1"/>
          <p:nvPr/>
        </p:nvSpPr>
        <p:spPr>
          <a:xfrm>
            <a:off x="1143000" y="4255770"/>
            <a:ext cx="10500055" cy="862202"/>
          </a:xfrm>
          <a:prstGeom prst="rect">
            <a:avLst/>
          </a:prstGeom>
          <a:noFill/>
        </p:spPr>
        <p:txBody>
          <a:bodyPr wrap="square" anchor="t" lIns="0" rIns="0" tIns="0" bIns="0">
            <a:spAutoFit/>
          </a:bodyPr>
          <a:lstStyle/>
          <a:p>
            <a:r>
              <a:rPr sz="2100" i="0" b="0">
                <a:solidFill>
                  <a:srgbClr val="FFFFFF"/>
                </a:solidFill>
                <a:latin typeface="Calibri"/>
              </a:rPr>
              <a:t>Propofol is the usual induction agent; ketamine suits shock, asthma and painful procedures; etomidate keeps blood pressure stable.</a:t>
            </a:r>
          </a:p>
        </p:txBody>
      </p:sp>
      <p:sp>
        <p:nvSpPr>
          <p:cNvPr id="13" name="Oval 12"/>
          <p:cNvSpPr/>
          <p:nvPr/>
        </p:nvSpPr>
        <p:spPr>
          <a:xfrm>
            <a:off x="548640" y="514540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4" name="TextBox 13"/>
          <p:cNvSpPr txBox="1"/>
          <p:nvPr/>
        </p:nvSpPr>
        <p:spPr>
          <a:xfrm>
            <a:off x="1143000" y="5163693"/>
            <a:ext cx="10500055" cy="862202"/>
          </a:xfrm>
          <a:prstGeom prst="rect">
            <a:avLst/>
          </a:prstGeom>
          <a:noFill/>
        </p:spPr>
        <p:txBody>
          <a:bodyPr wrap="square" anchor="t" lIns="0" rIns="0" tIns="0" bIns="0">
            <a:spAutoFit/>
          </a:bodyPr>
          <a:lstStyle/>
          <a:p>
            <a:r>
              <a:rPr sz="2100" i="0" b="0">
                <a:solidFill>
                  <a:srgbClr val="FFFFFF"/>
                </a:solidFill>
                <a:latin typeface="Calibri"/>
              </a:rPr>
              <a:t>Volatile agents or succinylcholine, each alone, can trigger malignant hyperthermia; treat with dantrolene.</a:t>
            </a:r>
          </a:p>
        </p:txBody>
      </p:sp>
      <p:pic>
        <p:nvPicPr>
          <p:cNvPr id="15" name="Picture 14"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16" name="Picture 15"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