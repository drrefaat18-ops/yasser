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&gt; Quick Recap: Acetylcholine (ACh) is made from choline and acetyl-CoA by choline acetyltransferase. It acts on nicotinic and muscarinic receptors. Acetylcholinesterase (AChE) breaks ACh down in the synaptic cleft within milliseconds. Glutamate is the main excitatory transmitter of the brain. Its NMDA receptor is a calcium channel blocked by magnesium at rest. Too much calcium entry through NMDA receptors damages neurons. This is called excitotoxicity.</a:t>
            </a:r>
          </a:p>
          <a:p/>
          <a:p>
            <a:r>
              <a:t>Time: 1:30  (at 2:00 of 40:00).  Next: Roadmap.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we will cover, in order.</a:t>
            </a:r>
          </a:p>
          <a:p/>
          <a:p>
            <a:r>
              <a:t>Time: 0:30  (at 2:30 of 40:00).  Next: The Disease in Brief.</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Alzheimer's disease is the most common cause of dementia. It is a progressive neurodegenerative disease. Lost neurons do not regenerate. The disease has three main features: Two forms are recognised by age of onset. The brain shrinks (atrophy). The loss is greatest in the hippocampus, which forms new memories. Two lesions build up: Two chemical changes explain today's drugs: Age is the strongest risk factor. Others are family history, APOE ε4, head injury, low education, hearing loss, diabetes, hypertension, smoking and physical inactivity. Controlling blood pressure, diabetes and hearing loss may lower risk. Diagnosis is clinical. The doctor takes a history from the patient and a relative, and tests memory with a short scale. Blood tests exclude reversible causes such as low vitamin B12, hypothyroidism and drug side effects. Brain imaging supports the diagnosis. Amyloid PET or cerebrospinal fluid tests confirm amyloid when antibody treatment is considered.</a:t>
            </a:r>
          </a:p>
          <a:p/>
          <a:p>
            <a:r>
              <a:t>Time: 2:00  (at 4:30 of 40:00).  Next: The Disease in Brief.</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Alzheimer's disease is the most common cause of dementia. It is a progressive neurodegenerative disease. Lost neurons do not regenerate. The disease has three main features: Two forms are recognised by age of onset. The brain shrinks (atrophy). The loss is greatest in the hippocampus, which forms new memories. Two lesions build up: Two chemical changes explain today's drugs: Age is the strongest risk factor. Others are family history, APOE ε4, head injury, low education, hearing loss, diabetes, hypertension, smoking and physical inactivity. Controlling blood pressure, diabetes and hearing loss may lower risk. Diagnosis is clinical. The doctor takes a history from the patient and a relative, and tests memory with a short scale. Blood tests exclude reversible causes such as low vitamin B12, hypothyroidism and drug side effects. Brain imaging supports the diagnosis. Amyloid PET or cerebrospinal fluid tests confirm amyloid when antibody treatment is considered.</a:t>
            </a:r>
          </a:p>
          <a:p/>
          <a:p>
            <a:r>
              <a:t>Time: 2:30  (at 7:00 of 40:00).  Next: Risk factors and diagnosis.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Alzheimer's disease is the most common cause of dementia. It is a progressive neurodegenerative disease. Lost neurons do not regenerate. The disease has three main features: Two forms are recognised by age of onset. The brain shrinks (atrophy). The loss is greatest in the hippocampus, which forms new memories. Two lesions build up: Two chemical changes explain today's drugs: Age is the strongest risk factor. Others are family history, APOE ε4, head injury, low education, hearing loss, diabetes, hypertension, smoking and physical inactivity. Controlling blood pressure, diabetes and hearing loss may lower risk. Diagnosis is clinical. The doctor takes a history from the patient and a relative, and tests memory with a short scale. Blood tests exclude reversible causes such as low vitamin B12, hypothyroidism and drug side effects. Brain imaging supports the diagnosis. Amyloid PET or cerebrospinal fluid tests confirm amyloid when antibody treatment is considered.</a:t>
            </a:r>
          </a:p>
          <a:p/>
          <a:p>
            <a:r>
              <a:t>Time: 2:00  (at 9:00 of 40:00).  Next: Treatment Goals.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with the class: what would you ask, check and say?</a:t>
            </a:r>
          </a:p>
          <a:p/>
          <a:p>
            <a:r>
              <a:t>Time: 2:00  (at 11:00 of 40:00).  Next: Treatment Goals.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current drug cures Alzheimer's disease. The standard drugs are symptomatic. They may give a modest, temporary benefit in memory, thinking and daily function. They do not stop the underlying disease. Many patients improve a little or stay stable for months. The disease still progresses. The two standard drug groups are: Alzheimer's disease affects the whole family. Caregivers need clear information, support and a plan for later stages.</a:t>
            </a:r>
          </a:p>
          <a:p/>
          <a:p>
            <a:r>
              <a:t>Time: 2:00  (at 13:00 of 40:00).  Next: Cholinesterase Inhibitors.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with the class: what would you ask, check and say?</a:t>
            </a:r>
          </a:p>
          <a:p/>
          <a:p>
            <a:r>
              <a:t>Time: 2:00  (at 15:00 of 40:00).  Next: Cholinesterase Inhibitors.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Members: donepezil, rivastigmine and galantamine. They are first-line for mild to moderate disease. Mechanism. These drugs inhibit AChE in the brain. Acetylcholine then stays longer in the synapse. Cholinergic transmission improves, and so do attention and memory. Rivastigmine also inhibits butyrylcholinesterase. Galantamine also enhances nicotinic receptor responses. Selectivity is not complete. The drugs also raise acetylcholine outside the brain. This explains most adverse effects. Most adverse effects are cholinergic. Remember them with the muscarinic signs of excess ACh: Start with a low dose and increase slowly, usually every 4 weeks. This reduces GI effects.</a:t>
            </a:r>
          </a:p>
          <a:p/>
          <a:p>
            <a:r>
              <a:t>Time: 2:30  (at 17:30 of 40:00).  Next: Cholinesterase Inhibitors.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Members: donepezil, rivastigmine and galantamine. They are first-line for mild to moderate disease. Mechanism. These drugs inhibit AChE in the brain. Acetylcholine then stays longer in the synapse. Cholinergic transmission improves, and so do attention and memory. Rivastigmine also inhibits butyrylcholinesterase. Galantamine also enhances nicotinic receptor responses. Selectivity is not complete. The drugs also raise acetylcholine outside the brain. This explains most adverse effects. Most adverse effects are cholinergic. Remember them with the muscarinic signs of excess ACh: Start with a low dose and increase slowly, usually every 4 weeks. This reduces GI effects.</a:t>
            </a:r>
          </a:p>
          <a:p/>
          <a:p>
            <a:r>
              <a:t>Time: 1:30  (at 19:00 of 40:00).  Next: NMDA Receptor Antagonist: Memantine.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Mechanism. Memantine is a low-affinity, voltage-dependent blocker of the NMDA receptor channel. It blocks the constant, low-level leak of calcium caused by excess glutamate. It leaves the brief, strong signals needed for learning mostly intact. This is why it is well tolerated. Use. Memantine is used for moderate to severe Alzheimer's disease. It can be given alone or added to a cholinesterase inhibitor. It is also an option when a cholinesterase inhibitor is not tolerated or is contraindicated. Adverse effects. They are usually mild: dizziness, headache, confusion, agitation, constipation and sleepiness. Kinetics. Memantine is excreted mainly unchanged by the kidney. Reduce the dose in severe renal impairment.</a:t>
            </a:r>
          </a:p>
          <a:p/>
          <a:p>
            <a:r>
              <a:t>Time: 2:00  (at 21:00 of 40:00).  Next: Newer Disease-Modifying Antibodies.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Lecanemab and donanemab are monoclonal antibodies against β-amyloid. They remove amyloid plaques from the brain. In trials they slowed decline modestly in early Alzheimer's disease. They are given by intravenous infusion. Their use is limited: These drugs are specialist treatments. They are not yet widely available in Egypt.</a:t>
            </a:r>
          </a:p>
          <a:p/>
          <a:p>
            <a:r>
              <a:t>Time: 2:00  (at 23:00 of 40:00).  Next: Choosing a Drug.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Depression is common in Alzheimer's disease. Choose an antidepressant with few anticholinergic effects, because anticholinergic drugs worsen memory. An SSRI such as sertraline or citalopram is usually preferred. Avoid tricyclic antidepressants. Agitation and aggression are first managed without drugs. An antipsychotic is used only for severe, distressing symptoms or risk of harm. Risperidone is licensed for short-term use (up to 6 weeks) for persistent aggression. Antipsychotics raise the risk of stroke and death in people with dementia.</a:t>
            </a:r>
          </a:p>
          <a:p/>
          <a:p>
            <a:r>
              <a:t>Time: 2:30  (at 25:30 of 40:00).  Next: Choosing a Drug.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Depression is common in Alzheimer's disease. Choose an antidepressant with few anticholinergic effects, because anticholinergic drugs worsen memory. An SSRI such as sertraline or citalopram is usually preferred. Avoid tricyclic antidepressants. Agitation and aggression are first managed without drugs. An antipsychotic is used only for severe, distressing symptoms or risk of harm. Risperidone is licensed for short-term use (up to 6 weeks) for persistent aggression. Antipsychotics raise the risk of stroke and death in people with dementia.</a:t>
            </a:r>
          </a:p>
          <a:p/>
          <a:p>
            <a:r>
              <a:t>Time: 1:30  (at 27:00 of 40:00).  Next: Counselling the Patient and Caregiver.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counselling improves adherence and catches problems early. Speak to the caregiver as well as the patient. The patient may not remember the advice. Starting treatment Warning signs to report Practical support</a:t>
            </a:r>
          </a:p>
          <a:p/>
          <a:p>
            <a:r>
              <a:t>Time: 2:00  (at 29:00 of 40:00).  Next: Brands in Egypt.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B: Cholinesterase inhibitors raise acetylcholine and improve memory modestly. A, C and D do not improve memory in Alzheimer's disease.</a:t>
            </a:r>
          </a:p>
          <a:p/>
          <a:p>
            <a:r>
              <a:t>Time: 0:45  (at 34:15 of 40:00).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D: Memantine is an NMDA receptor antagonist and is often added to a cholinesterase inhibitor. A is a cholinesterase inhibitor. B is a dopamine agonist. C is an SSRI.</a:t>
            </a:r>
          </a:p>
          <a:p/>
          <a:p>
            <a:r>
              <a:t>Time: 0:45  (at 35:45 of 40:00).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B: Donepezil is symptomatic. A describes anti-amyloid antibodies. C and D are false.</a:t>
            </a:r>
          </a:p>
          <a:p/>
          <a:p>
            <a:r>
              <a:t>Time: 0:45  (at 37:15 of 40:00).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0:30  (at 0:30 of 40:00).  Next: Learning Objectives.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2:30  (at 31:30 of 40:00).  Next: For Discussion.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2:00  (at 33:30 of 40:00).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0:45  (at 35:00 of 40:00).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0:45  (at 36:30 of 40:00).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0:45  (at 38:00 of 40:00).</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2:00  (at 40:00 of 40:00).</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19.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3.png"/><Relationship Id="rId5"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4.png"/><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4.pn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4.pn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4.png"/><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4.png"/><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4.png"/><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4.png"/><Relationship Id="rId4"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4.png"/><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20.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2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4.png"/><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2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4.png"/><Relationship Id="rId4" Type="http://schemas.openxmlformats.org/officeDocument/2006/relationships/image" Target="../media/image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2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4.png"/><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2A8C"/>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589520" y="1097280"/>
            <a:ext cx="4754880" cy="5120640"/>
          </a:xfrm>
          <a:prstGeom prst="rect">
            <a:avLst/>
          </a:prstGeom>
          <a:noFill/>
        </p:spPr>
        <p:txBody>
          <a:bodyPr wrap="square" anchor="ctr" lIns="0" rIns="0" tIns="0" bIns="0">
            <a:spAutoFit/>
          </a:bodyPr>
          <a:lstStyle/>
          <a:p>
            <a:pPr algn="r"/>
            <a:r>
              <a:rPr sz="28000" i="0" b="1">
                <a:solidFill>
                  <a:srgbClr val="172477"/>
                </a:solidFill>
                <a:latin typeface="Cambria"/>
              </a:rPr>
              <a:t>01</a:t>
            </a:r>
          </a:p>
        </p:txBody>
      </p:sp>
      <p:pic>
        <p:nvPicPr>
          <p:cNvPr id="4" name="Picture 3" descr="port-said-university.png"/>
          <p:cNvPicPr>
            <a:picLocks noChangeAspect="1"/>
          </p:cNvPicPr>
          <p:nvPr/>
        </p:nvPicPr>
        <p:blipFill>
          <a:blip r:embed="rId3"/>
          <a:stretch>
            <a:fillRect/>
          </a:stretch>
        </p:blipFill>
        <p:spPr>
          <a:xfrm>
            <a:off x="548640" y="502920"/>
            <a:ext cx="960120" cy="960120"/>
          </a:xfrm>
          <a:prstGeom prst="rect">
            <a:avLst/>
          </a:prstGeom>
        </p:spPr>
      </p:pic>
      <p:pic>
        <p:nvPicPr>
          <p:cNvPr id="5" name="Picture 4" descr="faculty-of-pharmacy.png"/>
          <p:cNvPicPr>
            <a:picLocks noChangeAspect="1"/>
          </p:cNvPicPr>
          <p:nvPr/>
        </p:nvPicPr>
        <p:blipFill>
          <a:blip r:embed="rId4"/>
          <a:stretch>
            <a:fillRect/>
          </a:stretch>
        </p:blipFill>
        <p:spPr>
          <a:xfrm>
            <a:off x="1691640" y="502920"/>
            <a:ext cx="960120" cy="960120"/>
          </a:xfrm>
          <a:prstGeom prst="rect">
            <a:avLst/>
          </a:prstGeom>
        </p:spPr>
      </p:pic>
      <p:sp>
        <p:nvSpPr>
          <p:cNvPr id="6" name="TextBox 5"/>
          <p:cNvSpPr txBox="1"/>
          <p:nvPr/>
        </p:nvSpPr>
        <p:spPr>
          <a:xfrm>
            <a:off x="2971800" y="658368"/>
            <a:ext cx="6400800" cy="731520"/>
          </a:xfrm>
          <a:prstGeom prst="rect">
            <a:avLst/>
          </a:prstGeom>
          <a:noFill/>
        </p:spPr>
        <p:txBody>
          <a:bodyPr wrap="square" anchor="ctr" lIns="0" rIns="0" tIns="0" bIns="0">
            <a:spAutoFit/>
          </a:bodyPr>
          <a:lstStyle/>
          <a:p>
            <a:r>
              <a:rPr sz="1800" i="0" b="1">
                <a:solidFill>
                  <a:srgbClr val="FFFFFF"/>
                </a:solidFill>
                <a:latin typeface="Cambria"/>
              </a:rPr>
              <a:t>Faculty of Pharmacy</a:t>
            </a:r>
          </a:p>
          <a:p>
            <a:r>
              <a:rPr sz="1200" i="0" b="1" spc="200">
                <a:solidFill>
                  <a:srgbClr val="DFE1EF"/>
                </a:solidFill>
                <a:latin typeface="Calibri"/>
              </a:rPr>
              <a:t>PORT SAID UNIVERSITY</a:t>
            </a:r>
          </a:p>
        </p:txBody>
      </p:sp>
      <p:sp>
        <p:nvSpPr>
          <p:cNvPr id="7" name="TextBox 6"/>
          <p:cNvSpPr txBox="1"/>
          <p:nvPr/>
        </p:nvSpPr>
        <p:spPr>
          <a:xfrm>
            <a:off x="548640" y="2514600"/>
            <a:ext cx="6766560" cy="3108960"/>
          </a:xfrm>
          <a:prstGeom prst="rect">
            <a:avLst/>
          </a:prstGeom>
          <a:noFill/>
        </p:spPr>
        <p:txBody>
          <a:bodyPr wrap="square" anchor="t" lIns="0" rIns="0" tIns="0" bIns="0">
            <a:spAutoFit/>
          </a:bodyPr>
          <a:lstStyle/>
          <a:p>
            <a:r>
              <a:rPr sz="1400" i="0" b="1" spc="200">
                <a:solidFill>
                  <a:srgbClr val="DFE1EF"/>
                </a:solidFill>
                <a:latin typeface="Calibri"/>
              </a:rPr>
              <a:t>PRACTICAL PHARMACOLOGY OF THE CENTRAL NERVOUS SYSTEM  ·  SECTION 1</a:t>
            </a:r>
          </a:p>
          <a:p>
            <a:pPr>
              <a:spcBef>
                <a:spcPts val="1400"/>
              </a:spcBef>
            </a:pPr>
            <a:r>
              <a:rPr sz="4400" i="0" b="1">
                <a:solidFill>
                  <a:srgbClr val="FFFFFF"/>
                </a:solidFill>
                <a:latin typeface="Cambria"/>
              </a:rPr>
              <a:t>Alzheimer's Disease</a:t>
            </a:r>
          </a:p>
          <a:p>
            <a:pPr>
              <a:spcBef>
                <a:spcPts val="1600"/>
              </a:spcBef>
            </a:pPr>
            <a:r>
              <a:rPr sz="2000" i="1" b="0">
                <a:solidFill>
                  <a:srgbClr val="DFE1EF"/>
                </a:solidFill>
                <a:latin typeface="Cambria"/>
              </a:rPr>
              <a:t>A Laboratory and Section Guide</a:t>
            </a:r>
          </a:p>
        </p:txBody>
      </p:sp>
      <p:sp>
        <p:nvSpPr>
          <p:cNvPr id="8" name="TextBox 7"/>
          <p:cNvSpPr txBox="1"/>
          <p:nvPr/>
        </p:nvSpPr>
        <p:spPr>
          <a:xfrm>
            <a:off x="548640" y="5989320"/>
            <a:ext cx="8229600" cy="457200"/>
          </a:xfrm>
          <a:prstGeom prst="rect">
            <a:avLst/>
          </a:prstGeom>
          <a:noFill/>
        </p:spPr>
        <p:txBody>
          <a:bodyPr wrap="square" anchor="t" lIns="0" rIns="0" tIns="0" bIns="0">
            <a:spAutoFit/>
          </a:bodyPr>
          <a:lstStyle/>
          <a:p>
            <a:r>
              <a:rPr sz="1300" i="0" b="0">
                <a:solidFill>
                  <a:srgbClr val="DFE1EF"/>
                </a:solidFill>
                <a:latin typeface="Calibri"/>
              </a:rPr>
              <a:t>40 minutes  ·  3 questions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01</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1</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Learning Objectives</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1  ·  Alzheimer's Disease</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02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Oval 10"/>
          <p:cNvSpPr/>
          <p:nvPr/>
        </p:nvSpPr>
        <p:spPr>
          <a:xfrm>
            <a:off x="548640"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2" name="TextBox 11"/>
          <p:cNvSpPr txBox="1"/>
          <p:nvPr/>
        </p:nvSpPr>
        <p:spPr>
          <a:xfrm>
            <a:off x="1143000" y="1591056"/>
            <a:ext cx="6629400" cy="877824"/>
          </a:xfrm>
          <a:prstGeom prst="rect">
            <a:avLst/>
          </a:prstGeom>
          <a:noFill/>
        </p:spPr>
        <p:txBody>
          <a:bodyPr wrap="square" anchor="t" lIns="0" rIns="0" tIns="0" bIns="0">
            <a:spAutoFit/>
          </a:bodyPr>
          <a:lstStyle/>
          <a:p>
            <a:r>
              <a:rPr sz="2000" i="0" b="0">
                <a:solidFill>
                  <a:srgbClr val="1A1F36"/>
                </a:solidFill>
                <a:latin typeface="Calibri"/>
              </a:rPr>
              <a:t>Describe the brain and neurochemical changes of Alzheimer's disease that the drugs target.</a:t>
            </a:r>
          </a:p>
        </p:txBody>
      </p:sp>
      <p:sp>
        <p:nvSpPr>
          <p:cNvPr id="13" name="Oval 12"/>
          <p:cNvSpPr/>
          <p:nvPr/>
        </p:nvSpPr>
        <p:spPr>
          <a:xfrm>
            <a:off x="548640" y="2496312"/>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4" name="TextBox 13"/>
          <p:cNvSpPr txBox="1"/>
          <p:nvPr/>
        </p:nvSpPr>
        <p:spPr>
          <a:xfrm>
            <a:off x="1143000" y="2514600"/>
            <a:ext cx="6629400" cy="877824"/>
          </a:xfrm>
          <a:prstGeom prst="rect">
            <a:avLst/>
          </a:prstGeom>
          <a:noFill/>
        </p:spPr>
        <p:txBody>
          <a:bodyPr wrap="square" anchor="t" lIns="0" rIns="0" tIns="0" bIns="0">
            <a:spAutoFit/>
          </a:bodyPr>
          <a:lstStyle/>
          <a:p>
            <a:r>
              <a:rPr sz="2000" i="0" b="0">
                <a:solidFill>
                  <a:srgbClr val="1A1F36"/>
                </a:solidFill>
                <a:latin typeface="Calibri"/>
              </a:rPr>
              <a:t>Explain the mechanisms of cholinesterase inhibitors and memantine.</a:t>
            </a:r>
          </a:p>
        </p:txBody>
      </p:sp>
      <p:sp>
        <p:nvSpPr>
          <p:cNvPr id="15" name="Oval 14"/>
          <p:cNvSpPr/>
          <p:nvPr/>
        </p:nvSpPr>
        <p:spPr>
          <a:xfrm>
            <a:off x="548640" y="341985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6" name="TextBox 15"/>
          <p:cNvSpPr txBox="1"/>
          <p:nvPr/>
        </p:nvSpPr>
        <p:spPr>
          <a:xfrm>
            <a:off x="1143000" y="3438144"/>
            <a:ext cx="6629400" cy="877824"/>
          </a:xfrm>
          <a:prstGeom prst="rect">
            <a:avLst/>
          </a:prstGeom>
          <a:noFill/>
        </p:spPr>
        <p:txBody>
          <a:bodyPr wrap="square" anchor="t" lIns="0" rIns="0" tIns="0" bIns="0">
            <a:spAutoFit/>
          </a:bodyPr>
          <a:lstStyle/>
          <a:p>
            <a:r>
              <a:rPr sz="2000" i="0" b="0">
                <a:solidFill>
                  <a:srgbClr val="1A1F36"/>
                </a:solidFill>
                <a:latin typeface="Calibri"/>
              </a:rPr>
              <a:t>Compare donepezil, rivastigmine, galantamine and memantine in use, adverse effects and interactions.</a:t>
            </a:r>
          </a:p>
        </p:txBody>
      </p:sp>
      <p:sp>
        <p:nvSpPr>
          <p:cNvPr id="17" name="Oval 16"/>
          <p:cNvSpPr/>
          <p:nvPr/>
        </p:nvSpPr>
        <p:spPr>
          <a:xfrm>
            <a:off x="548640" y="4343399"/>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18" name="TextBox 17"/>
          <p:cNvSpPr txBox="1"/>
          <p:nvPr/>
        </p:nvSpPr>
        <p:spPr>
          <a:xfrm>
            <a:off x="1143000" y="4361688"/>
            <a:ext cx="6629400" cy="877824"/>
          </a:xfrm>
          <a:prstGeom prst="rect">
            <a:avLst/>
          </a:prstGeom>
          <a:noFill/>
        </p:spPr>
        <p:txBody>
          <a:bodyPr wrap="square" anchor="t" lIns="0" rIns="0" tIns="0" bIns="0">
            <a:spAutoFit/>
          </a:bodyPr>
          <a:lstStyle/>
          <a:p>
            <a:r>
              <a:rPr sz="2000" i="0" b="0">
                <a:solidFill>
                  <a:srgbClr val="1A1F36"/>
                </a:solidFill>
                <a:latin typeface="Calibri"/>
              </a:rPr>
              <a:t>Select a drug for a patient by disease stage and comorbidity.</a:t>
            </a:r>
          </a:p>
        </p:txBody>
      </p:sp>
      <p:sp>
        <p:nvSpPr>
          <p:cNvPr id="19" name="Oval 18"/>
          <p:cNvSpPr/>
          <p:nvPr/>
        </p:nvSpPr>
        <p:spPr>
          <a:xfrm>
            <a:off x="548640" y="5266943"/>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5</a:t>
            </a:r>
          </a:p>
        </p:txBody>
      </p:sp>
      <p:sp>
        <p:nvSpPr>
          <p:cNvPr id="20" name="TextBox 19"/>
          <p:cNvSpPr txBox="1"/>
          <p:nvPr/>
        </p:nvSpPr>
        <p:spPr>
          <a:xfrm>
            <a:off x="1143000" y="5285231"/>
            <a:ext cx="6629400" cy="877824"/>
          </a:xfrm>
          <a:prstGeom prst="rect">
            <a:avLst/>
          </a:prstGeom>
          <a:noFill/>
        </p:spPr>
        <p:txBody>
          <a:bodyPr wrap="square" anchor="t" lIns="0" rIns="0" tIns="0" bIns="0">
            <a:spAutoFit/>
          </a:bodyPr>
          <a:lstStyle/>
          <a:p>
            <a:r>
              <a:rPr sz="2000" i="0" b="0">
                <a:solidFill>
                  <a:srgbClr val="1A1F36"/>
                </a:solidFill>
                <a:latin typeface="Calibri"/>
              </a:rPr>
              <a:t>Counsel a patient and caregiver on realistic benefit, titration and safety.</a:t>
            </a:r>
          </a:p>
        </p:txBody>
      </p:sp>
      <p:sp>
        <p:nvSpPr>
          <p:cNvPr id="21" name="Rounded Rectangle 20"/>
          <p:cNvSpPr/>
          <p:nvPr/>
        </p:nvSpPr>
        <p:spPr>
          <a:xfrm>
            <a:off x="8366760" y="1600200"/>
            <a:ext cx="3273552" cy="4526280"/>
          </a:xfrm>
          <a:prstGeom prst="roundRect">
            <a:avLst>
              <a:gd name="adj" fmla="val 5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8628644" y="1664208"/>
            <a:ext cx="2749783"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41080" y="1874519"/>
            <a:ext cx="2743200" cy="4023360"/>
          </a:xfrm>
          <a:prstGeom prst="rect">
            <a:avLst/>
          </a:prstGeom>
          <a:noFill/>
        </p:spPr>
        <p:txBody>
          <a:bodyPr wrap="square" anchor="t" lIns="0" rIns="0" tIns="0" bIns="0">
            <a:spAutoFit/>
          </a:bodyPr>
          <a:lstStyle/>
          <a:p>
            <a:pPr>
              <a:spcBef>
                <a:spcPts val="0"/>
              </a:spcBef>
            </a:pPr>
            <a:r>
              <a:rPr sz="5400" i="0" b="1">
                <a:solidFill>
                  <a:srgbClr val="1B2A8C"/>
                </a:solidFill>
                <a:latin typeface="Cambria"/>
              </a:rPr>
              <a:t>40</a:t>
            </a:r>
          </a:p>
          <a:p>
            <a:r>
              <a:rPr sz="1200" i="0" b="1" spc="150">
                <a:solidFill>
                  <a:srgbClr val="5A6072"/>
                </a:solidFill>
                <a:latin typeface="Calibri"/>
              </a:rPr>
              <a:t>MINUTES</a:t>
            </a:r>
          </a:p>
          <a:p>
            <a:pPr>
              <a:spcBef>
                <a:spcPts val="1600"/>
              </a:spcBef>
            </a:pPr>
            <a:r>
              <a:rPr sz="5400" i="0" b="1">
                <a:solidFill>
                  <a:srgbClr val="1B2A8C"/>
                </a:solidFill>
                <a:latin typeface="Cambria"/>
              </a:rPr>
              <a:t>3</a:t>
            </a:r>
          </a:p>
          <a:p>
            <a:r>
              <a:rPr sz="1200" i="0" b="1" spc="150">
                <a:solidFill>
                  <a:srgbClr val="5A6072"/>
                </a:solidFill>
                <a:latin typeface="Calibri"/>
              </a:rPr>
              <a:t>QUESTIONS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01</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1</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Roadmap</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1  ·  Alzheimer's Disease</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03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Oval 10"/>
          <p:cNvSpPr/>
          <p:nvPr/>
        </p:nvSpPr>
        <p:spPr>
          <a:xfrm>
            <a:off x="548640"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2" name="TextBox 11"/>
          <p:cNvSpPr txBox="1"/>
          <p:nvPr/>
        </p:nvSpPr>
        <p:spPr>
          <a:xfrm>
            <a:off x="1143000" y="1591056"/>
            <a:ext cx="4678527" cy="738123"/>
          </a:xfrm>
          <a:prstGeom prst="rect">
            <a:avLst/>
          </a:prstGeom>
          <a:noFill/>
        </p:spPr>
        <p:txBody>
          <a:bodyPr wrap="square" anchor="t" lIns="0" rIns="0" tIns="0" bIns="0">
            <a:spAutoFit/>
          </a:bodyPr>
          <a:lstStyle/>
          <a:p>
            <a:r>
              <a:rPr sz="2200" i="0" b="0">
                <a:solidFill>
                  <a:srgbClr val="1A1F36"/>
                </a:solidFill>
                <a:latin typeface="Calibri"/>
              </a:rPr>
              <a:t>The Disease in Brief</a:t>
            </a:r>
          </a:p>
        </p:txBody>
      </p:sp>
      <p:sp>
        <p:nvSpPr>
          <p:cNvPr id="13" name="Oval 12"/>
          <p:cNvSpPr/>
          <p:nvPr/>
        </p:nvSpPr>
        <p:spPr>
          <a:xfrm>
            <a:off x="548640" y="2356612"/>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4" name="TextBox 13"/>
          <p:cNvSpPr txBox="1"/>
          <p:nvPr/>
        </p:nvSpPr>
        <p:spPr>
          <a:xfrm>
            <a:off x="1143000" y="2374900"/>
            <a:ext cx="4678527" cy="738123"/>
          </a:xfrm>
          <a:prstGeom prst="rect">
            <a:avLst/>
          </a:prstGeom>
          <a:noFill/>
        </p:spPr>
        <p:txBody>
          <a:bodyPr wrap="square" anchor="t" lIns="0" rIns="0" tIns="0" bIns="0">
            <a:spAutoFit/>
          </a:bodyPr>
          <a:lstStyle/>
          <a:p>
            <a:r>
              <a:rPr sz="2200" i="0" b="0">
                <a:solidFill>
                  <a:srgbClr val="1A1F36"/>
                </a:solidFill>
                <a:latin typeface="Calibri"/>
              </a:rPr>
              <a:t>Treatment Goals</a:t>
            </a:r>
          </a:p>
        </p:txBody>
      </p:sp>
      <p:sp>
        <p:nvSpPr>
          <p:cNvPr id="15" name="Oval 14"/>
          <p:cNvSpPr/>
          <p:nvPr/>
        </p:nvSpPr>
        <p:spPr>
          <a:xfrm>
            <a:off x="548640" y="314045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6" name="TextBox 15"/>
          <p:cNvSpPr txBox="1"/>
          <p:nvPr/>
        </p:nvSpPr>
        <p:spPr>
          <a:xfrm>
            <a:off x="1143000" y="3158744"/>
            <a:ext cx="4678527" cy="738123"/>
          </a:xfrm>
          <a:prstGeom prst="rect">
            <a:avLst/>
          </a:prstGeom>
          <a:noFill/>
        </p:spPr>
        <p:txBody>
          <a:bodyPr wrap="square" anchor="t" lIns="0" rIns="0" tIns="0" bIns="0">
            <a:spAutoFit/>
          </a:bodyPr>
          <a:lstStyle/>
          <a:p>
            <a:r>
              <a:rPr sz="2200" i="0" b="0">
                <a:solidFill>
                  <a:srgbClr val="1A1F36"/>
                </a:solidFill>
                <a:latin typeface="Calibri"/>
              </a:rPr>
              <a:t>Cholinesterase Inhibitors</a:t>
            </a:r>
          </a:p>
        </p:txBody>
      </p:sp>
      <p:sp>
        <p:nvSpPr>
          <p:cNvPr id="17" name="Oval 16"/>
          <p:cNvSpPr/>
          <p:nvPr/>
        </p:nvSpPr>
        <p:spPr>
          <a:xfrm>
            <a:off x="548640" y="3924299"/>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18" name="TextBox 17"/>
          <p:cNvSpPr txBox="1"/>
          <p:nvPr/>
        </p:nvSpPr>
        <p:spPr>
          <a:xfrm>
            <a:off x="1143000" y="3942588"/>
            <a:ext cx="4678527" cy="1087373"/>
          </a:xfrm>
          <a:prstGeom prst="rect">
            <a:avLst/>
          </a:prstGeom>
          <a:noFill/>
        </p:spPr>
        <p:txBody>
          <a:bodyPr wrap="square" anchor="t" lIns="0" rIns="0" tIns="0" bIns="0">
            <a:spAutoFit/>
          </a:bodyPr>
          <a:lstStyle/>
          <a:p>
            <a:r>
              <a:rPr sz="2200" i="0" b="0">
                <a:solidFill>
                  <a:srgbClr val="1A1F36"/>
                </a:solidFill>
                <a:latin typeface="Calibri"/>
              </a:rPr>
              <a:t>NMDA Receptor Antagonist: Memantine</a:t>
            </a:r>
          </a:p>
        </p:txBody>
      </p:sp>
      <p:sp>
        <p:nvSpPr>
          <p:cNvPr id="19" name="Oval 18"/>
          <p:cNvSpPr/>
          <p:nvPr/>
        </p:nvSpPr>
        <p:spPr>
          <a:xfrm>
            <a:off x="548640" y="5057394"/>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5</a:t>
            </a:r>
          </a:p>
        </p:txBody>
      </p:sp>
      <p:sp>
        <p:nvSpPr>
          <p:cNvPr id="20" name="TextBox 19"/>
          <p:cNvSpPr txBox="1"/>
          <p:nvPr/>
        </p:nvSpPr>
        <p:spPr>
          <a:xfrm>
            <a:off x="1143000" y="5075682"/>
            <a:ext cx="4678527" cy="1087373"/>
          </a:xfrm>
          <a:prstGeom prst="rect">
            <a:avLst/>
          </a:prstGeom>
          <a:noFill/>
        </p:spPr>
        <p:txBody>
          <a:bodyPr wrap="square" anchor="t" lIns="0" rIns="0" tIns="0" bIns="0">
            <a:spAutoFit/>
          </a:bodyPr>
          <a:lstStyle/>
          <a:p>
            <a:r>
              <a:rPr sz="2200" i="0" b="0">
                <a:solidFill>
                  <a:srgbClr val="1A1F36"/>
                </a:solidFill>
                <a:latin typeface="Calibri"/>
              </a:rPr>
              <a:t>Newer Disease-Modifying Antibodies</a:t>
            </a:r>
          </a:p>
        </p:txBody>
      </p:sp>
      <p:sp>
        <p:nvSpPr>
          <p:cNvPr id="21" name="Oval 20"/>
          <p:cNvSpPr/>
          <p:nvPr/>
        </p:nvSpPr>
        <p:spPr>
          <a:xfrm>
            <a:off x="6370167"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6</a:t>
            </a:r>
          </a:p>
        </p:txBody>
      </p:sp>
      <p:sp>
        <p:nvSpPr>
          <p:cNvPr id="22" name="TextBox 21"/>
          <p:cNvSpPr txBox="1"/>
          <p:nvPr/>
        </p:nvSpPr>
        <p:spPr>
          <a:xfrm>
            <a:off x="6964527" y="1591056"/>
            <a:ext cx="4678527" cy="824737"/>
          </a:xfrm>
          <a:prstGeom prst="rect">
            <a:avLst/>
          </a:prstGeom>
          <a:noFill/>
        </p:spPr>
        <p:txBody>
          <a:bodyPr wrap="square" anchor="t" lIns="0" rIns="0" tIns="0" bIns="0">
            <a:spAutoFit/>
          </a:bodyPr>
          <a:lstStyle/>
          <a:p>
            <a:r>
              <a:rPr sz="2200" i="0" b="0">
                <a:solidFill>
                  <a:srgbClr val="1A1F36"/>
                </a:solidFill>
                <a:latin typeface="Calibri"/>
              </a:rPr>
              <a:t>Choosing a Drug</a:t>
            </a:r>
          </a:p>
        </p:txBody>
      </p:sp>
      <p:sp>
        <p:nvSpPr>
          <p:cNvPr id="23" name="Oval 22"/>
          <p:cNvSpPr/>
          <p:nvPr/>
        </p:nvSpPr>
        <p:spPr>
          <a:xfrm>
            <a:off x="6370167" y="244322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7</a:t>
            </a:r>
          </a:p>
        </p:txBody>
      </p:sp>
      <p:sp>
        <p:nvSpPr>
          <p:cNvPr id="24" name="TextBox 23"/>
          <p:cNvSpPr txBox="1"/>
          <p:nvPr/>
        </p:nvSpPr>
        <p:spPr>
          <a:xfrm>
            <a:off x="6964527" y="2461514"/>
            <a:ext cx="4678527" cy="1173987"/>
          </a:xfrm>
          <a:prstGeom prst="rect">
            <a:avLst/>
          </a:prstGeom>
          <a:noFill/>
        </p:spPr>
        <p:txBody>
          <a:bodyPr wrap="square" anchor="t" lIns="0" rIns="0" tIns="0" bIns="0">
            <a:spAutoFit/>
          </a:bodyPr>
          <a:lstStyle/>
          <a:p>
            <a:r>
              <a:rPr sz="2200" i="0" b="0">
                <a:solidFill>
                  <a:srgbClr val="1A1F36"/>
                </a:solidFill>
                <a:latin typeface="Calibri"/>
              </a:rPr>
              <a:t>Counselling the Patient and Caregiver</a:t>
            </a:r>
          </a:p>
        </p:txBody>
      </p:sp>
      <p:sp>
        <p:nvSpPr>
          <p:cNvPr id="25" name="Oval 24"/>
          <p:cNvSpPr/>
          <p:nvPr/>
        </p:nvSpPr>
        <p:spPr>
          <a:xfrm>
            <a:off x="6370167" y="3662933"/>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8</a:t>
            </a:r>
          </a:p>
        </p:txBody>
      </p:sp>
      <p:sp>
        <p:nvSpPr>
          <p:cNvPr id="26" name="TextBox 25"/>
          <p:cNvSpPr txBox="1"/>
          <p:nvPr/>
        </p:nvSpPr>
        <p:spPr>
          <a:xfrm>
            <a:off x="6964527" y="3681221"/>
            <a:ext cx="4678527" cy="824737"/>
          </a:xfrm>
          <a:prstGeom prst="rect">
            <a:avLst/>
          </a:prstGeom>
          <a:noFill/>
        </p:spPr>
        <p:txBody>
          <a:bodyPr wrap="square" anchor="t" lIns="0" rIns="0" tIns="0" bIns="0">
            <a:spAutoFit/>
          </a:bodyPr>
          <a:lstStyle/>
          <a:p>
            <a:r>
              <a:rPr sz="2200" i="0" b="0">
                <a:solidFill>
                  <a:srgbClr val="1A1F36"/>
                </a:solidFill>
                <a:latin typeface="Calibri"/>
              </a:rPr>
              <a:t>Brands in Egypt</a:t>
            </a:r>
          </a:p>
        </p:txBody>
      </p:sp>
      <p:sp>
        <p:nvSpPr>
          <p:cNvPr id="27" name="Oval 26"/>
          <p:cNvSpPr/>
          <p:nvPr/>
        </p:nvSpPr>
        <p:spPr>
          <a:xfrm>
            <a:off x="6370167" y="4533391"/>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9</a:t>
            </a:r>
          </a:p>
        </p:txBody>
      </p:sp>
      <p:sp>
        <p:nvSpPr>
          <p:cNvPr id="28" name="TextBox 27"/>
          <p:cNvSpPr txBox="1"/>
          <p:nvPr/>
        </p:nvSpPr>
        <p:spPr>
          <a:xfrm>
            <a:off x="6964527" y="4551679"/>
            <a:ext cx="4678527" cy="824737"/>
          </a:xfrm>
          <a:prstGeom prst="rect">
            <a:avLst/>
          </a:prstGeom>
          <a:noFill/>
        </p:spPr>
        <p:txBody>
          <a:bodyPr wrap="square" anchor="t" lIns="0" rIns="0" tIns="0" bIns="0">
            <a:spAutoFit/>
          </a:bodyPr>
          <a:lstStyle/>
          <a:p>
            <a:r>
              <a:rPr sz="2200" i="0" b="0">
                <a:solidFill>
                  <a:srgbClr val="1A1F36"/>
                </a:solidFill>
                <a:latin typeface="Calibri"/>
              </a:rPr>
              <a:t>For Discussion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01</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1</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The Disease in Brief</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1  ·  Alzheimer's Disease</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04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TextBox 10"/>
          <p:cNvSpPr txBox="1"/>
          <p:nvPr/>
        </p:nvSpPr>
        <p:spPr>
          <a:xfrm>
            <a:off x="548640" y="1554480"/>
            <a:ext cx="11094415" cy="795528"/>
          </a:xfrm>
          <a:prstGeom prst="rect">
            <a:avLst/>
          </a:prstGeom>
          <a:noFill/>
        </p:spPr>
        <p:txBody>
          <a:bodyPr wrap="square" anchor="t" lIns="0" rIns="0" tIns="0" bIns="0">
            <a:spAutoFit/>
          </a:bodyPr>
          <a:lstStyle/>
          <a:p>
            <a:pPr>
              <a:spcAft>
                <a:spcPts val="800"/>
              </a:spcAft>
            </a:pPr>
            <a:r>
              <a:rPr sz="1800" i="0" b="0">
                <a:solidFill>
                  <a:srgbClr val="1A1F36"/>
                </a:solidFill>
                <a:latin typeface="Calibri"/>
              </a:rPr>
              <a:t>Alzheimer's disease is the most common cause of dementia. It is a progressive neurodegenerative disease. Lost neurons do not regenerate. The disease has three main features:</a:t>
            </a:r>
          </a:p>
        </p:txBody>
      </p:sp>
      <p:sp>
        <p:nvSpPr>
          <p:cNvPr id="12" name="Oval 11"/>
          <p:cNvSpPr/>
          <p:nvPr/>
        </p:nvSpPr>
        <p:spPr>
          <a:xfrm>
            <a:off x="548640" y="2551175"/>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3" name="TextBox 12"/>
          <p:cNvSpPr txBox="1"/>
          <p:nvPr/>
        </p:nvSpPr>
        <p:spPr>
          <a:xfrm>
            <a:off x="1143000" y="2569463"/>
            <a:ext cx="10500055" cy="808863"/>
          </a:xfrm>
          <a:prstGeom prst="rect">
            <a:avLst/>
          </a:prstGeom>
          <a:noFill/>
        </p:spPr>
        <p:txBody>
          <a:bodyPr wrap="square" anchor="t" lIns="0" rIns="0" tIns="0" bIns="0">
            <a:spAutoFit/>
          </a:bodyPr>
          <a:lstStyle/>
          <a:p>
            <a:r>
              <a:rPr sz="2100" i="0" b="1">
                <a:solidFill>
                  <a:srgbClr val="1A1F36"/>
                </a:solidFill>
                <a:latin typeface="Calibri"/>
              </a:rPr>
              <a:t>Memory loss</a:t>
            </a:r>
            <a:r>
              <a:rPr sz="2100" i="0" b="0">
                <a:solidFill>
                  <a:srgbClr val="1A1F36"/>
                </a:solidFill>
                <a:latin typeface="Calibri"/>
              </a:rPr>
              <a:t> that gets worse over time, starting with recent events.</a:t>
            </a:r>
          </a:p>
        </p:txBody>
      </p:sp>
      <p:sp>
        <p:nvSpPr>
          <p:cNvPr id="14" name="Oval 13"/>
          <p:cNvSpPr/>
          <p:nvPr/>
        </p:nvSpPr>
        <p:spPr>
          <a:xfrm>
            <a:off x="548640" y="340575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5" name="TextBox 14"/>
          <p:cNvSpPr txBox="1"/>
          <p:nvPr/>
        </p:nvSpPr>
        <p:spPr>
          <a:xfrm>
            <a:off x="1143000" y="3424046"/>
            <a:ext cx="10500055" cy="1142237"/>
          </a:xfrm>
          <a:prstGeom prst="rect">
            <a:avLst/>
          </a:prstGeom>
          <a:noFill/>
        </p:spPr>
        <p:txBody>
          <a:bodyPr wrap="square" anchor="t" lIns="0" rIns="0" tIns="0" bIns="0">
            <a:spAutoFit/>
          </a:bodyPr>
          <a:lstStyle/>
          <a:p>
            <a:r>
              <a:rPr sz="2100" i="0" b="1">
                <a:solidFill>
                  <a:srgbClr val="1A1F36"/>
                </a:solidFill>
                <a:latin typeface="Calibri"/>
              </a:rPr>
              <a:t>Cognitive decline</a:t>
            </a:r>
            <a:r>
              <a:rPr sz="2100" i="0" b="0">
                <a:solidFill>
                  <a:srgbClr val="1A1F36"/>
                </a:solidFill>
                <a:latin typeface="Calibri"/>
              </a:rPr>
              <a:t>: problems with language, planning and recognising people and objects.</a:t>
            </a:r>
          </a:p>
        </p:txBody>
      </p:sp>
      <p:sp>
        <p:nvSpPr>
          <p:cNvPr id="16" name="Oval 15"/>
          <p:cNvSpPr/>
          <p:nvPr/>
        </p:nvSpPr>
        <p:spPr>
          <a:xfrm>
            <a:off x="548640" y="459371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7" name="TextBox 16"/>
          <p:cNvSpPr txBox="1"/>
          <p:nvPr/>
        </p:nvSpPr>
        <p:spPr>
          <a:xfrm>
            <a:off x="1143000" y="4612004"/>
            <a:ext cx="10500055" cy="1142237"/>
          </a:xfrm>
          <a:prstGeom prst="rect">
            <a:avLst/>
          </a:prstGeom>
          <a:noFill/>
        </p:spPr>
        <p:txBody>
          <a:bodyPr wrap="square" anchor="t" lIns="0" rIns="0" tIns="0" bIns="0">
            <a:spAutoFit/>
          </a:bodyPr>
          <a:lstStyle/>
          <a:p>
            <a:r>
              <a:rPr sz="2100" i="0" b="1">
                <a:solidFill>
                  <a:srgbClr val="1A1F36"/>
                </a:solidFill>
                <a:latin typeface="Calibri"/>
              </a:rPr>
              <a:t>Behavioural and psychological symptoms</a:t>
            </a:r>
            <a:r>
              <a:rPr sz="2100" i="0" b="0">
                <a:solidFill>
                  <a:srgbClr val="1A1F36"/>
                </a:solidFill>
                <a:latin typeface="Calibri"/>
              </a:rPr>
              <a:t>: depression, agitation, aggression and psychosis.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01</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1</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The Disease in Brief</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1  ·  Alzheimer's Disease</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05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TextBox 10"/>
          <p:cNvSpPr txBox="1"/>
          <p:nvPr/>
        </p:nvSpPr>
        <p:spPr>
          <a:xfrm>
            <a:off x="548640" y="1554480"/>
            <a:ext cx="11094415" cy="498348"/>
          </a:xfrm>
          <a:prstGeom prst="rect">
            <a:avLst/>
          </a:prstGeom>
          <a:noFill/>
        </p:spPr>
        <p:txBody>
          <a:bodyPr wrap="square" anchor="t" lIns="0" rIns="0" tIns="0" bIns="0">
            <a:spAutoFit/>
          </a:bodyPr>
          <a:lstStyle/>
          <a:p>
            <a:pPr>
              <a:spcAft>
                <a:spcPts val="800"/>
              </a:spcAft>
            </a:pPr>
            <a:r>
              <a:rPr sz="1800" i="0" b="0">
                <a:solidFill>
                  <a:srgbClr val="1A1F36"/>
                </a:solidFill>
                <a:latin typeface="Calibri"/>
              </a:rPr>
              <a:t>Two forms are recognised by age of onset.</a:t>
            </a:r>
          </a:p>
        </p:txBody>
      </p:sp>
      <p:graphicFrame>
        <p:nvGraphicFramePr>
          <p:cNvPr id="12" name="Table 11"/>
          <p:cNvGraphicFramePr>
            <a:graphicFrameLocks noGrp="1"/>
          </p:cNvGraphicFramePr>
          <p:nvPr/>
        </p:nvGraphicFramePr>
        <p:xfrm>
          <a:off x="548640" y="2235708"/>
          <a:ext cx="11094414" cy="3200400"/>
        </p:xfrm>
        <a:graphic>
          <a:graphicData uri="http://schemas.openxmlformats.org/drawingml/2006/table">
            <a:tbl>
              <a:tblPr firstRow="0" bandRow="0">
                <a:tableStyleId>{5C22544A-7EE6-4342-B048-85BDC9FD1C3A}</a:tableStyleId>
              </a:tblPr>
              <a:tblGrid>
                <a:gridCol w="1921867"/>
                <a:gridCol w="5940316"/>
                <a:gridCol w="3232231"/>
              </a:tblGrid>
              <a:tr h="640080">
                <a:tc>
                  <a:txBody>
                    <a:bodyPr/>
                    <a:lstStyle/>
                    <a:p>
                      <a:r>
                        <a:rPr sz="1900" i="0" b="1">
                          <a:solidFill>
                            <a:srgbClr val="FFFFFF"/>
                          </a:solidFill>
                          <a:latin typeface="Calibri"/>
                        </a:rPr>
                        <a:t>Feature</a:t>
                      </a:r>
                    </a:p>
                  </a:txBody>
                  <a:tcPr marL="109728" marR="109728" marT="45720" marB="45720" anchor="ctr">
                    <a:solidFill>
                      <a:srgbClr val="1B2A8C"/>
                    </a:solidFill>
                  </a:tcPr>
                </a:tc>
                <a:tc>
                  <a:txBody>
                    <a:bodyPr/>
                    <a:lstStyle/>
                    <a:p>
                      <a:r>
                        <a:rPr sz="1900" i="0" b="1">
                          <a:solidFill>
                            <a:srgbClr val="FFFFFF"/>
                          </a:solidFill>
                          <a:latin typeface="Calibri"/>
                        </a:rPr>
                        <a:t>Early-onset</a:t>
                      </a:r>
                    </a:p>
                  </a:txBody>
                  <a:tcPr marL="109728" marR="109728" marT="45720" marB="45720" anchor="ctr">
                    <a:solidFill>
                      <a:srgbClr val="1B2A8C"/>
                    </a:solidFill>
                  </a:tcPr>
                </a:tc>
                <a:tc>
                  <a:txBody>
                    <a:bodyPr/>
                    <a:lstStyle/>
                    <a:p>
                      <a:r>
                        <a:rPr sz="1900" i="0" b="1">
                          <a:solidFill>
                            <a:srgbClr val="FFFFFF"/>
                          </a:solidFill>
                          <a:latin typeface="Calibri"/>
                        </a:rPr>
                        <a:t>Late-onset</a:t>
                      </a:r>
                    </a:p>
                  </a:txBody>
                  <a:tcPr marL="109728" marR="109728" marT="45720" marB="45720" anchor="ctr">
                    <a:solidFill>
                      <a:srgbClr val="1B2A8C"/>
                    </a:solidFill>
                  </a:tcPr>
                </a:tc>
              </a:tr>
              <a:tr h="640080">
                <a:tc>
                  <a:txBody>
                    <a:bodyPr/>
                    <a:lstStyle/>
                    <a:p>
                      <a:r>
                        <a:rPr sz="2000" i="0" b="1">
                          <a:solidFill>
                            <a:srgbClr val="1A1F36"/>
                          </a:solidFill>
                          <a:latin typeface="Calibri"/>
                        </a:rPr>
                        <a:t>Age at onset</a:t>
                      </a:r>
                    </a:p>
                  </a:txBody>
                  <a:tcPr marL="109728" marR="109728" marT="45720" marB="45720" anchor="ctr">
                    <a:solidFill>
                      <a:srgbClr val="FFFFFF"/>
                    </a:solidFill>
                  </a:tcPr>
                </a:tc>
                <a:tc>
                  <a:txBody>
                    <a:bodyPr/>
                    <a:lstStyle/>
                    <a:p>
                      <a:r>
                        <a:rPr sz="2000" i="0" b="0">
                          <a:solidFill>
                            <a:srgbClr val="1A1F36"/>
                          </a:solidFill>
                          <a:latin typeface="Calibri"/>
                        </a:rPr>
                        <a:t>Below 65 years</a:t>
                      </a:r>
                    </a:p>
                  </a:txBody>
                  <a:tcPr marL="109728" marR="109728" marT="45720" marB="45720" anchor="ctr">
                    <a:solidFill>
                      <a:srgbClr val="FFFFFF"/>
                    </a:solidFill>
                  </a:tcPr>
                </a:tc>
                <a:tc>
                  <a:txBody>
                    <a:bodyPr/>
                    <a:lstStyle/>
                    <a:p>
                      <a:r>
                        <a:rPr sz="2000" i="0" b="0">
                          <a:solidFill>
                            <a:srgbClr val="1A1F36"/>
                          </a:solidFill>
                          <a:latin typeface="Calibri"/>
                        </a:rPr>
                        <a:t>65 years or older</a:t>
                      </a:r>
                    </a:p>
                  </a:txBody>
                  <a:tcPr marL="109728" marR="109728" marT="45720" marB="45720" anchor="ctr">
                    <a:solidFill>
                      <a:srgbClr val="FFFFFF"/>
                    </a:solidFill>
                  </a:tcPr>
                </a:tc>
              </a:tr>
              <a:tr h="640080">
                <a:tc>
                  <a:txBody>
                    <a:bodyPr/>
                    <a:lstStyle/>
                    <a:p>
                      <a:r>
                        <a:rPr sz="2000" i="0" b="1">
                          <a:solidFill>
                            <a:srgbClr val="1A1F36"/>
                          </a:solidFill>
                          <a:latin typeface="Calibri"/>
                        </a:rPr>
                        <a:t>Share of cases</a:t>
                      </a:r>
                    </a:p>
                  </a:txBody>
                  <a:tcPr marL="109728" marR="109728" marT="45720" marB="45720" anchor="ctr">
                    <a:solidFill>
                      <a:srgbClr val="F1F2F8"/>
                    </a:solidFill>
                  </a:tcPr>
                </a:tc>
                <a:tc>
                  <a:txBody>
                    <a:bodyPr/>
                    <a:lstStyle/>
                    <a:p>
                      <a:r>
                        <a:rPr sz="2000" i="0" b="0">
                          <a:solidFill>
                            <a:srgbClr val="1A1F36"/>
                          </a:solidFill>
                          <a:latin typeface="Calibri"/>
                        </a:rPr>
                        <a:t>About 5%</a:t>
                      </a:r>
                    </a:p>
                  </a:txBody>
                  <a:tcPr marL="109728" marR="109728" marT="45720" marB="45720" anchor="ctr">
                    <a:solidFill>
                      <a:srgbClr val="F1F2F8"/>
                    </a:solidFill>
                  </a:tcPr>
                </a:tc>
                <a:tc>
                  <a:txBody>
                    <a:bodyPr/>
                    <a:lstStyle/>
                    <a:p>
                      <a:r>
                        <a:rPr sz="2000" i="0" b="0">
                          <a:solidFill>
                            <a:srgbClr val="1A1F36"/>
                          </a:solidFill>
                          <a:latin typeface="Calibri"/>
                        </a:rPr>
                        <a:t>About 95%</a:t>
                      </a:r>
                    </a:p>
                  </a:txBody>
                  <a:tcPr marL="109728" marR="109728" marT="45720" marB="45720" anchor="ctr">
                    <a:solidFill>
                      <a:srgbClr val="F1F2F8"/>
                    </a:solidFill>
                  </a:tcPr>
                </a:tc>
              </a:tr>
              <a:tr h="640080">
                <a:tc>
                  <a:txBody>
                    <a:bodyPr/>
                    <a:lstStyle/>
                    <a:p>
                      <a:r>
                        <a:rPr sz="2000" i="0" b="1">
                          <a:solidFill>
                            <a:srgbClr val="1A1F36"/>
                          </a:solidFill>
                          <a:latin typeface="Calibri"/>
                        </a:rPr>
                        <a:t>Genetics</a:t>
                      </a:r>
                    </a:p>
                  </a:txBody>
                  <a:tcPr marL="109728" marR="109728" marT="45720" marB="45720" anchor="ctr">
                    <a:solidFill>
                      <a:srgbClr val="FFFFFF"/>
                    </a:solidFill>
                  </a:tcPr>
                </a:tc>
                <a:tc>
                  <a:txBody>
                    <a:bodyPr/>
                    <a:lstStyle/>
                    <a:p>
                      <a:r>
                        <a:rPr sz="2000" i="0" b="0">
                          <a:solidFill>
                            <a:srgbClr val="1A1F36"/>
                          </a:solidFill>
                          <a:latin typeface="Calibri"/>
                        </a:rPr>
                        <a:t>Some families carry autosomal-dominant mutations (APP, PSEN1, PSEN2); under 1% of all cases</a:t>
                      </a:r>
                    </a:p>
                  </a:txBody>
                  <a:tcPr marL="109728" marR="109728" marT="45720" marB="45720" anchor="ctr">
                    <a:solidFill>
                      <a:srgbClr val="FFFFFF"/>
                    </a:solidFill>
                  </a:tcPr>
                </a:tc>
                <a:tc>
                  <a:txBody>
                    <a:bodyPr/>
                    <a:lstStyle/>
                    <a:p>
                      <a:r>
                        <a:rPr sz="2000" i="0" b="0">
                          <a:solidFill>
                            <a:srgbClr val="1A1F36"/>
                          </a:solidFill>
                          <a:latin typeface="Calibri"/>
                        </a:rPr>
                        <a:t>Sporadic; APOE ε4 raises risk</a:t>
                      </a:r>
                    </a:p>
                  </a:txBody>
                  <a:tcPr marL="109728" marR="109728" marT="45720" marB="45720" anchor="ctr">
                    <a:solidFill>
                      <a:srgbClr val="FFFFFF"/>
                    </a:solidFill>
                  </a:tcPr>
                </a:tc>
              </a:tr>
              <a:tr h="640080">
                <a:tc>
                  <a:txBody>
                    <a:bodyPr/>
                    <a:lstStyle/>
                    <a:p>
                      <a:r>
                        <a:rPr sz="2000" i="0" b="1">
                          <a:solidFill>
                            <a:srgbClr val="1A1F36"/>
                          </a:solidFill>
                          <a:latin typeface="Calibri"/>
                        </a:rPr>
                        <a:t>Progression</a:t>
                      </a:r>
                    </a:p>
                  </a:txBody>
                  <a:tcPr marL="109728" marR="109728" marT="45720" marB="45720" anchor="ctr">
                    <a:solidFill>
                      <a:srgbClr val="F1F2F8"/>
                    </a:solidFill>
                  </a:tcPr>
                </a:tc>
                <a:tc>
                  <a:txBody>
                    <a:bodyPr/>
                    <a:lstStyle/>
                    <a:p>
                      <a:r>
                        <a:rPr sz="2000" i="0" b="0">
                          <a:solidFill>
                            <a:srgbClr val="1A1F36"/>
                          </a:solidFill>
                          <a:latin typeface="Calibri"/>
                        </a:rPr>
                        <a:t>Often faster</a:t>
                      </a:r>
                    </a:p>
                  </a:txBody>
                  <a:tcPr marL="109728" marR="109728" marT="45720" marB="45720" anchor="ctr">
                    <a:solidFill>
                      <a:srgbClr val="F1F2F8"/>
                    </a:solidFill>
                  </a:tcPr>
                </a:tc>
                <a:tc>
                  <a:txBody>
                    <a:bodyPr/>
                    <a:lstStyle/>
                    <a:p>
                      <a:r>
                        <a:rPr sz="2000" i="0" b="0">
                          <a:solidFill>
                            <a:srgbClr val="1A1F36"/>
                          </a:solidFill>
                          <a:latin typeface="Calibri"/>
                        </a:rPr>
                        <a:t>Usually slower</a:t>
                      </a:r>
                    </a:p>
                  </a:txBody>
                  <a:tcPr marL="109728" marR="109728" marT="45720" marB="45720" anchor="ctr">
                    <a:solidFill>
                      <a:srgbClr val="F1F2F8"/>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01</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1</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Risk factors and diagnosis</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1  ·  Alzheimer's Disease</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06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pic>
        <p:nvPicPr>
          <p:cNvPr id="11" name="Picture 10" descr="Two panels. Left: acetylcholine released into the synapse is broken down by acetylcholinesterase, which donepezil blocks. Right: excess glutamate over-activates NMDA receptors; memantine blocks the open channel."/>
          <p:cNvPicPr>
            <a:picLocks noChangeAspect="1"/>
          </p:cNvPicPr>
          <p:nvPr/>
        </p:nvPicPr>
        <p:blipFill>
          <a:blip r:embed="rId5"/>
          <a:stretch>
            <a:fillRect/>
          </a:stretch>
        </p:blipFill>
        <p:spPr>
          <a:xfrm>
            <a:off x="1638917" y="1554480"/>
            <a:ext cx="8913860" cy="4160520"/>
          </a:xfrm>
          <a:prstGeom prst="rect">
            <a:avLst/>
          </a:prstGeom>
        </p:spPr>
      </p:pic>
      <p:sp>
        <p:nvSpPr>
          <p:cNvPr id="12" name="TextBox 11"/>
          <p:cNvSpPr txBox="1"/>
          <p:nvPr/>
        </p:nvSpPr>
        <p:spPr>
          <a:xfrm>
            <a:off x="548640" y="5806440"/>
            <a:ext cx="11094415" cy="365760"/>
          </a:xfrm>
          <a:prstGeom prst="rect">
            <a:avLst/>
          </a:prstGeom>
          <a:noFill/>
        </p:spPr>
        <p:txBody>
          <a:bodyPr wrap="square" anchor="t" lIns="0" rIns="0" tIns="0" bIns="0">
            <a:spAutoFit/>
          </a:bodyPr>
          <a:lstStyle/>
          <a:p>
            <a:pPr algn="ctr"/>
            <a:r>
              <a:rPr sz="1300" i="1" b="0">
                <a:solidFill>
                  <a:srgbClr val="5A6072"/>
                </a:solidFill>
                <a:latin typeface="Calibri"/>
              </a:rPr>
              <a:t>Cholinergic and glutamatergic synapses: where cholinesterase inhibitors and memantine act.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ectangle 2"/>
          <p:cNvSpPr/>
          <p:nvPr/>
        </p:nvSpPr>
        <p:spPr>
          <a:xfrm>
            <a:off x="0" y="0"/>
            <a:ext cx="3931920" cy="6858000"/>
          </a:xfrm>
          <a:prstGeom prst="rect">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88720"/>
            <a:ext cx="2926080" cy="2377440"/>
          </a:xfrm>
          <a:prstGeom prst="rect">
            <a:avLst/>
          </a:prstGeom>
          <a:noFill/>
        </p:spPr>
        <p:txBody>
          <a:bodyPr wrap="square" anchor="t" lIns="0" rIns="0" tIns="0" bIns="0">
            <a:spAutoFit/>
          </a:bodyPr>
          <a:lstStyle/>
          <a:p>
            <a:r>
              <a:rPr sz="13000" i="0" b="1">
                <a:solidFill>
                  <a:srgbClr val="F9F8F4"/>
                </a:solidFill>
                <a:latin typeface="Cambria"/>
              </a:rPr>
              <a:t>℞</a:t>
            </a:r>
          </a:p>
        </p:txBody>
      </p:sp>
      <p:sp>
        <p:nvSpPr>
          <p:cNvPr id="5" name="TextBox 4"/>
          <p:cNvSpPr txBox="1"/>
          <p:nvPr/>
        </p:nvSpPr>
        <p:spPr>
          <a:xfrm>
            <a:off x="548640" y="3977639"/>
            <a:ext cx="3017520" cy="1280160"/>
          </a:xfrm>
          <a:prstGeom prst="rect">
            <a:avLst/>
          </a:prstGeom>
          <a:noFill/>
        </p:spPr>
        <p:txBody>
          <a:bodyPr wrap="square" anchor="t" lIns="0" rIns="0" tIns="0" bIns="0">
            <a:spAutoFit/>
          </a:bodyPr>
          <a:lstStyle/>
          <a:p>
            <a:r>
              <a:rPr sz="3000" i="0" b="1">
                <a:solidFill>
                  <a:srgbClr val="FFFFFF"/>
                </a:solidFill>
                <a:latin typeface="Cambria"/>
              </a:rPr>
              <a:t>Clinical Pearl</a:t>
            </a:r>
          </a:p>
          <a:p>
            <a:r>
              <a:rPr sz="1400" i="0" b="1" spc="150">
                <a:solidFill>
                  <a:srgbClr val="F9F8F4"/>
                </a:solidFill>
                <a:latin typeface="Calibri"/>
              </a:rPr>
              <a:t>Section 1</a:t>
            </a:r>
          </a:p>
        </p:txBody>
      </p:sp>
      <p:sp>
        <p:nvSpPr>
          <p:cNvPr id="6" name="TextBox 5"/>
          <p:cNvSpPr txBox="1"/>
          <p:nvPr/>
        </p:nvSpPr>
        <p:spPr>
          <a:xfrm>
            <a:off x="4526280" y="822960"/>
            <a:ext cx="7132320" cy="5120640"/>
          </a:xfrm>
          <a:prstGeom prst="rect">
            <a:avLst/>
          </a:prstGeom>
          <a:noFill/>
        </p:spPr>
        <p:txBody>
          <a:bodyPr wrap="square" anchor="ctr" lIns="0" rIns="0" tIns="0" bIns="0">
            <a:spAutoFit/>
          </a:bodyPr>
          <a:lstStyle/>
          <a:p>
            <a:pPr>
              <a:spcBef>
                <a:spcPts val="0"/>
              </a:spcBef>
            </a:pPr>
            <a:r>
              <a:rPr sz="2200" i="0" b="0">
                <a:solidFill>
                  <a:srgbClr val="1A1F36"/>
                </a:solidFill>
                <a:latin typeface="Calibri"/>
              </a:rPr>
              <a:t>Before blaming dementia, review the medicines. Anticholinergics, benzodiazepines, opioids and sedating antihistamines can all cause confusion in older people.</a:t>
            </a:r>
          </a:p>
        </p:txBody>
      </p:sp>
      <p:sp>
        <p:nvSpPr>
          <p:cNvPr id="7" name="TextBox 6"/>
          <p:cNvSpPr txBox="1"/>
          <p:nvPr/>
        </p:nvSpPr>
        <p:spPr>
          <a:xfrm>
            <a:off x="452628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Alzheimer's Disease</a:t>
            </a:r>
          </a:p>
        </p:txBody>
      </p:sp>
      <p:sp>
        <p:nvSpPr>
          <p:cNvPr id="8" name="TextBox 7"/>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07 / 25</a:t>
            </a:r>
          </a:p>
        </p:txBody>
      </p:sp>
      <p:pic>
        <p:nvPicPr>
          <p:cNvPr id="9" name="Picture 8" descr="logo"/>
          <p:cNvPicPr>
            <a:picLocks noChangeAspect="1"/>
          </p:cNvPicPr>
          <p:nvPr/>
        </p:nvPicPr>
        <p:blipFill>
          <a:blip r:embed="rId4"/>
          <a:stretch>
            <a:fillRect/>
          </a:stretch>
        </p:blipFill>
        <p:spPr>
          <a:xfrm>
            <a:off x="11247120" y="6309360"/>
            <a:ext cx="384048" cy="384048"/>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01</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1</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Treatment Goals</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1  ·  Alzheimer's Disease</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08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TextBox 10"/>
          <p:cNvSpPr txBox="1"/>
          <p:nvPr/>
        </p:nvSpPr>
        <p:spPr>
          <a:xfrm>
            <a:off x="548640" y="1554480"/>
            <a:ext cx="4480560" cy="4617720"/>
          </a:xfrm>
          <a:prstGeom prst="rect">
            <a:avLst/>
          </a:prstGeom>
          <a:noFill/>
        </p:spPr>
        <p:txBody>
          <a:bodyPr wrap="square" anchor="t" lIns="0" rIns="0" tIns="0" bIns="0">
            <a:spAutoFit/>
          </a:bodyPr>
          <a:lstStyle/>
          <a:p>
            <a:pPr>
              <a:spcAft>
                <a:spcPts val="800"/>
              </a:spcAft>
            </a:pPr>
            <a:r>
              <a:rPr sz="1700" i="0" b="0">
                <a:solidFill>
                  <a:srgbClr val="1A1F36"/>
                </a:solidFill>
                <a:latin typeface="Calibri"/>
              </a:rPr>
              <a:t>No current drug cures Alzheimer's disease. The standard drugs are </a:t>
            </a:r>
            <a:r>
              <a:rPr sz="1700" i="0" b="1">
                <a:solidFill>
                  <a:srgbClr val="1A1F36"/>
                </a:solidFill>
                <a:latin typeface="Calibri"/>
              </a:rPr>
              <a:t>symptomatic</a:t>
            </a:r>
            <a:r>
              <a:rPr sz="1700" i="0" b="0">
                <a:solidFill>
                  <a:srgbClr val="1A1F36"/>
                </a:solidFill>
                <a:latin typeface="Calibri"/>
              </a:rPr>
              <a:t>. They may give a modest, temporary benefit in memory, thinking and daily function. They do not stop the underlying disease. Many patients improve a little or stay stable for months. The disease still progresses.</a:t>
            </a:r>
          </a:p>
          <a:p>
            <a:pPr>
              <a:spcAft>
                <a:spcPts val="800"/>
              </a:spcAft>
            </a:pPr>
            <a:r>
              <a:rPr sz="1700" i="0" b="0">
                <a:solidFill>
                  <a:srgbClr val="1A1F36"/>
                </a:solidFill>
                <a:latin typeface="Calibri"/>
              </a:rPr>
              <a:t>The two standard drug groups are:</a:t>
            </a:r>
          </a:p>
          <a:p>
            <a:pPr>
              <a:spcAft>
                <a:spcPts val="800"/>
              </a:spcAft>
            </a:pPr>
            <a:r>
              <a:rPr sz="1700" i="0" b="0">
                <a:solidFill>
                  <a:srgbClr val="1A1F36"/>
                </a:solidFill>
                <a:latin typeface="Calibri"/>
              </a:rPr>
              <a:t>Alzheimer's disease affects the whole family. Caregivers need clear information, support and a plan for later stages.</a:t>
            </a:r>
          </a:p>
        </p:txBody>
      </p:sp>
      <p:sp>
        <p:nvSpPr>
          <p:cNvPr id="12" name="Oval 11"/>
          <p:cNvSpPr/>
          <p:nvPr/>
        </p:nvSpPr>
        <p:spPr>
          <a:xfrm>
            <a:off x="5394959"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3" name="TextBox 12"/>
          <p:cNvSpPr txBox="1"/>
          <p:nvPr/>
        </p:nvSpPr>
        <p:spPr>
          <a:xfrm>
            <a:off x="5989320" y="1591056"/>
            <a:ext cx="5653735" cy="1475612"/>
          </a:xfrm>
          <a:prstGeom prst="rect">
            <a:avLst/>
          </a:prstGeom>
          <a:noFill/>
        </p:spPr>
        <p:txBody>
          <a:bodyPr wrap="square" anchor="t" lIns="0" rIns="0" tIns="0" bIns="0">
            <a:spAutoFit/>
          </a:bodyPr>
          <a:lstStyle/>
          <a:p>
            <a:r>
              <a:rPr sz="2100" i="0" b="1">
                <a:solidFill>
                  <a:srgbClr val="1A1F36"/>
                </a:solidFill>
                <a:latin typeface="Calibri"/>
              </a:rPr>
              <a:t>Cholinesterase inhibitors</a:t>
            </a:r>
            <a:r>
              <a:rPr sz="2100" i="0" b="0">
                <a:solidFill>
                  <a:srgbClr val="1A1F36"/>
                </a:solidFill>
                <a:latin typeface="Calibri"/>
              </a:rPr>
              <a:t>: donepezil, rivastigmine and galantamine. They raise acetylcholine.</a:t>
            </a:r>
          </a:p>
        </p:txBody>
      </p:sp>
      <p:sp>
        <p:nvSpPr>
          <p:cNvPr id="14" name="Oval 13"/>
          <p:cNvSpPr/>
          <p:nvPr/>
        </p:nvSpPr>
        <p:spPr>
          <a:xfrm>
            <a:off x="5394959" y="3094100"/>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5" name="TextBox 14"/>
          <p:cNvSpPr txBox="1"/>
          <p:nvPr/>
        </p:nvSpPr>
        <p:spPr>
          <a:xfrm>
            <a:off x="5989320" y="3112388"/>
            <a:ext cx="5653735" cy="1142237"/>
          </a:xfrm>
          <a:prstGeom prst="rect">
            <a:avLst/>
          </a:prstGeom>
          <a:noFill/>
        </p:spPr>
        <p:txBody>
          <a:bodyPr wrap="square" anchor="t" lIns="0" rIns="0" tIns="0" bIns="0">
            <a:spAutoFit/>
          </a:bodyPr>
          <a:lstStyle/>
          <a:p>
            <a:r>
              <a:rPr sz="2100" i="0" b="1">
                <a:solidFill>
                  <a:srgbClr val="1A1F36"/>
                </a:solidFill>
                <a:latin typeface="Calibri"/>
              </a:rPr>
              <a:t>NMDA receptor antagonist</a:t>
            </a:r>
            <a:r>
              <a:rPr sz="2100" i="0" b="0">
                <a:solidFill>
                  <a:srgbClr val="1A1F36"/>
                </a:solidFill>
                <a:latin typeface="Calibri"/>
              </a:rPr>
              <a:t>: memantine. It reduces harmful glutamate activity.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ectangle 2"/>
          <p:cNvSpPr/>
          <p:nvPr/>
        </p:nvSpPr>
        <p:spPr>
          <a:xfrm>
            <a:off x="0" y="0"/>
            <a:ext cx="3931920" cy="6858000"/>
          </a:xfrm>
          <a:prstGeom prst="rect">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88720"/>
            <a:ext cx="2926080" cy="2377440"/>
          </a:xfrm>
          <a:prstGeom prst="rect">
            <a:avLst/>
          </a:prstGeom>
          <a:noFill/>
        </p:spPr>
        <p:txBody>
          <a:bodyPr wrap="square" anchor="t" lIns="0" rIns="0" tIns="0" bIns="0">
            <a:spAutoFit/>
          </a:bodyPr>
          <a:lstStyle/>
          <a:p>
            <a:r>
              <a:rPr sz="13000" i="0" b="1">
                <a:solidFill>
                  <a:srgbClr val="F9F8F4"/>
                </a:solidFill>
                <a:latin typeface="Cambria"/>
              </a:rPr>
              <a:t>℞</a:t>
            </a:r>
          </a:p>
        </p:txBody>
      </p:sp>
      <p:sp>
        <p:nvSpPr>
          <p:cNvPr id="5" name="TextBox 4"/>
          <p:cNvSpPr txBox="1"/>
          <p:nvPr/>
        </p:nvSpPr>
        <p:spPr>
          <a:xfrm>
            <a:off x="548640" y="3977639"/>
            <a:ext cx="3017520" cy="1280160"/>
          </a:xfrm>
          <a:prstGeom prst="rect">
            <a:avLst/>
          </a:prstGeom>
          <a:noFill/>
        </p:spPr>
        <p:txBody>
          <a:bodyPr wrap="square" anchor="t" lIns="0" rIns="0" tIns="0" bIns="0">
            <a:spAutoFit/>
          </a:bodyPr>
          <a:lstStyle/>
          <a:p>
            <a:r>
              <a:rPr sz="3000" i="0" b="1">
                <a:solidFill>
                  <a:srgbClr val="FFFFFF"/>
                </a:solidFill>
                <a:latin typeface="Cambria"/>
              </a:rPr>
              <a:t>Clinical Pearl</a:t>
            </a:r>
          </a:p>
          <a:p>
            <a:r>
              <a:rPr sz="1400" i="0" b="1" spc="150">
                <a:solidFill>
                  <a:srgbClr val="F9F8F4"/>
                </a:solidFill>
                <a:latin typeface="Calibri"/>
              </a:rPr>
              <a:t>Section 1</a:t>
            </a:r>
          </a:p>
        </p:txBody>
      </p:sp>
      <p:sp>
        <p:nvSpPr>
          <p:cNvPr id="6" name="TextBox 5"/>
          <p:cNvSpPr txBox="1"/>
          <p:nvPr/>
        </p:nvSpPr>
        <p:spPr>
          <a:xfrm>
            <a:off x="4526280" y="822960"/>
            <a:ext cx="7132320" cy="5120640"/>
          </a:xfrm>
          <a:prstGeom prst="rect">
            <a:avLst/>
          </a:prstGeom>
          <a:noFill/>
        </p:spPr>
        <p:txBody>
          <a:bodyPr wrap="square" anchor="ctr" lIns="0" rIns="0" tIns="0" bIns="0">
            <a:spAutoFit/>
          </a:bodyPr>
          <a:lstStyle/>
          <a:p>
            <a:pPr>
              <a:spcBef>
                <a:spcPts val="0"/>
              </a:spcBef>
            </a:pPr>
            <a:r>
              <a:rPr sz="2200" i="0" b="0">
                <a:solidFill>
                  <a:srgbClr val="1A1F36"/>
                </a:solidFill>
                <a:latin typeface="Calibri"/>
              </a:rPr>
              <a:t>Set expectations before the first dose. Tell the family that the drug may help memory and daily activities a little. It will not reverse the disease. Agree when you will review benefit, usually after 3 to 6 months.</a:t>
            </a:r>
          </a:p>
        </p:txBody>
      </p:sp>
      <p:sp>
        <p:nvSpPr>
          <p:cNvPr id="7" name="TextBox 6"/>
          <p:cNvSpPr txBox="1"/>
          <p:nvPr/>
        </p:nvSpPr>
        <p:spPr>
          <a:xfrm>
            <a:off x="452628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Alzheimer's Disease</a:t>
            </a:r>
          </a:p>
        </p:txBody>
      </p:sp>
      <p:sp>
        <p:nvSpPr>
          <p:cNvPr id="8" name="TextBox 7"/>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09 / 25</a:t>
            </a:r>
          </a:p>
        </p:txBody>
      </p:sp>
      <p:pic>
        <p:nvPicPr>
          <p:cNvPr id="9" name="Picture 8" descr="logo"/>
          <p:cNvPicPr>
            <a:picLocks noChangeAspect="1"/>
          </p:cNvPicPr>
          <p:nvPr/>
        </p:nvPicPr>
        <p:blipFill>
          <a:blip r:embed="rId4"/>
          <a:stretch>
            <a:fillRect/>
          </a:stretch>
        </p:blipFill>
        <p:spPr>
          <a:xfrm>
            <a:off x="11247120" y="6309360"/>
            <a:ext cx="384048" cy="384048"/>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01</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1</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Cholinesterase Inhibitors</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1  ·  Alzheimer's Disease</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10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graphicFrame>
        <p:nvGraphicFramePr>
          <p:cNvPr id="11" name="Table 10"/>
          <p:cNvGraphicFramePr>
            <a:graphicFrameLocks noGrp="1"/>
          </p:cNvGraphicFramePr>
          <p:nvPr/>
        </p:nvGraphicFramePr>
        <p:xfrm>
          <a:off x="548640" y="1554480"/>
          <a:ext cx="11094413" cy="3200400"/>
        </p:xfrm>
        <a:graphic>
          <a:graphicData uri="http://schemas.openxmlformats.org/drawingml/2006/table">
            <a:tbl>
              <a:tblPr firstRow="0" bandRow="0">
                <a:tableStyleId>{5C22544A-7EE6-4342-B048-85BDC9FD1C3A}</a:tableStyleId>
              </a:tblPr>
              <a:tblGrid>
                <a:gridCol w="1601469"/>
                <a:gridCol w="2147306"/>
                <a:gridCol w="3766795"/>
                <a:gridCol w="3578843"/>
              </a:tblGrid>
              <a:tr h="640080">
                <a:tc>
                  <a:txBody>
                    <a:bodyPr/>
                    <a:lstStyle/>
                    <a:p>
                      <a:r>
                        <a:rPr sz="1700" i="0" b="1">
                          <a:solidFill>
                            <a:srgbClr val="FFFFFF"/>
                          </a:solidFill>
                          <a:latin typeface="Calibri"/>
                        </a:rPr>
                        <a:t>Feature</a:t>
                      </a:r>
                    </a:p>
                  </a:txBody>
                  <a:tcPr marL="109728" marR="109728" marT="45720" marB="45720" anchor="ctr">
                    <a:solidFill>
                      <a:srgbClr val="1B2A8C"/>
                    </a:solidFill>
                  </a:tcPr>
                </a:tc>
                <a:tc>
                  <a:txBody>
                    <a:bodyPr/>
                    <a:lstStyle/>
                    <a:p>
                      <a:r>
                        <a:rPr sz="1700" i="0" b="1">
                          <a:solidFill>
                            <a:srgbClr val="FFFFFF"/>
                          </a:solidFill>
                          <a:latin typeface="Calibri"/>
                        </a:rPr>
                        <a:t>Donepezil</a:t>
                      </a:r>
                    </a:p>
                  </a:txBody>
                  <a:tcPr marL="109728" marR="109728" marT="45720" marB="45720" anchor="ctr">
                    <a:solidFill>
                      <a:srgbClr val="1B2A8C"/>
                    </a:solidFill>
                  </a:tcPr>
                </a:tc>
                <a:tc>
                  <a:txBody>
                    <a:bodyPr/>
                    <a:lstStyle/>
                    <a:p>
                      <a:r>
                        <a:rPr sz="1700" i="0" b="1">
                          <a:solidFill>
                            <a:srgbClr val="FFFFFF"/>
                          </a:solidFill>
                          <a:latin typeface="Calibri"/>
                        </a:rPr>
                        <a:t>Rivastigmine</a:t>
                      </a:r>
                    </a:p>
                  </a:txBody>
                  <a:tcPr marL="109728" marR="109728" marT="45720" marB="45720" anchor="ctr">
                    <a:solidFill>
                      <a:srgbClr val="1B2A8C"/>
                    </a:solidFill>
                  </a:tcPr>
                </a:tc>
                <a:tc>
                  <a:txBody>
                    <a:bodyPr/>
                    <a:lstStyle/>
                    <a:p>
                      <a:r>
                        <a:rPr sz="1700" i="0" b="1">
                          <a:solidFill>
                            <a:srgbClr val="FFFFFF"/>
                          </a:solidFill>
                          <a:latin typeface="Calibri"/>
                        </a:rPr>
                        <a:t>Galantamine</a:t>
                      </a:r>
                    </a:p>
                  </a:txBody>
                  <a:tcPr marL="109728" marR="109728" marT="45720" marB="45720" anchor="ctr">
                    <a:solidFill>
                      <a:srgbClr val="1B2A8C"/>
                    </a:solidFill>
                  </a:tcPr>
                </a:tc>
              </a:tr>
              <a:tr h="640080">
                <a:tc>
                  <a:txBody>
                    <a:bodyPr/>
                    <a:lstStyle/>
                    <a:p>
                      <a:r>
                        <a:rPr sz="1800" i="0" b="1">
                          <a:solidFill>
                            <a:srgbClr val="1A1F36"/>
                          </a:solidFill>
                          <a:latin typeface="Calibri"/>
                        </a:rPr>
                        <a:t>Enzyme</a:t>
                      </a:r>
                    </a:p>
                  </a:txBody>
                  <a:tcPr marL="109728" marR="109728" marT="45720" marB="45720" anchor="ctr">
                    <a:solidFill>
                      <a:srgbClr val="FFFFFF"/>
                    </a:solidFill>
                  </a:tcPr>
                </a:tc>
                <a:tc>
                  <a:txBody>
                    <a:bodyPr/>
                    <a:lstStyle/>
                    <a:p>
                      <a:r>
                        <a:rPr sz="1800" i="0" b="0">
                          <a:solidFill>
                            <a:srgbClr val="1A1F36"/>
                          </a:solidFill>
                          <a:latin typeface="Calibri"/>
                        </a:rPr>
                        <a:t>AChE (reversible)</a:t>
                      </a:r>
                    </a:p>
                  </a:txBody>
                  <a:tcPr marL="109728" marR="109728" marT="45720" marB="45720" anchor="ctr">
                    <a:solidFill>
                      <a:srgbClr val="FFFFFF"/>
                    </a:solidFill>
                  </a:tcPr>
                </a:tc>
                <a:tc>
                  <a:txBody>
                    <a:bodyPr/>
                    <a:lstStyle/>
                    <a:p>
                      <a:r>
                        <a:rPr sz="1800" i="0" b="0">
                          <a:solidFill>
                            <a:srgbClr val="1A1F36"/>
                          </a:solidFill>
                          <a:latin typeface="Calibri"/>
                        </a:rPr>
                        <a:t>AChE and BuChE (pseudo-irreversible)</a:t>
                      </a:r>
                    </a:p>
                  </a:txBody>
                  <a:tcPr marL="109728" marR="109728" marT="45720" marB="45720" anchor="ctr">
                    <a:solidFill>
                      <a:srgbClr val="FFFFFF"/>
                    </a:solidFill>
                  </a:tcPr>
                </a:tc>
                <a:tc>
                  <a:txBody>
                    <a:bodyPr/>
                    <a:lstStyle/>
                    <a:p>
                      <a:r>
                        <a:rPr sz="1800" i="0" b="0">
                          <a:solidFill>
                            <a:srgbClr val="1A1F36"/>
                          </a:solidFill>
                          <a:latin typeface="Calibri"/>
                        </a:rPr>
                        <a:t>AChE (reversible) + nicotinic modulation</a:t>
                      </a:r>
                    </a:p>
                  </a:txBody>
                  <a:tcPr marL="109728" marR="109728" marT="45720" marB="45720" anchor="ctr">
                    <a:solidFill>
                      <a:srgbClr val="FFFFFF"/>
                    </a:solidFill>
                  </a:tcPr>
                </a:tc>
              </a:tr>
              <a:tr h="640080">
                <a:tc>
                  <a:txBody>
                    <a:bodyPr/>
                    <a:lstStyle/>
                    <a:p>
                      <a:r>
                        <a:rPr sz="1800" i="0" b="1">
                          <a:solidFill>
                            <a:srgbClr val="1A1F36"/>
                          </a:solidFill>
                          <a:latin typeface="Calibri"/>
                        </a:rPr>
                        <a:t>Dosing</a:t>
                      </a:r>
                    </a:p>
                  </a:txBody>
                  <a:tcPr marL="109728" marR="109728" marT="45720" marB="45720" anchor="ctr">
                    <a:solidFill>
                      <a:srgbClr val="F1F2F8"/>
                    </a:solidFill>
                  </a:tcPr>
                </a:tc>
                <a:tc>
                  <a:txBody>
                    <a:bodyPr/>
                    <a:lstStyle/>
                    <a:p>
                      <a:r>
                        <a:rPr sz="1800" i="0" b="0">
                          <a:solidFill>
                            <a:srgbClr val="1A1F36"/>
                          </a:solidFill>
                          <a:latin typeface="Calibri"/>
                        </a:rPr>
                        <a:t>Once daily</a:t>
                      </a:r>
                    </a:p>
                  </a:txBody>
                  <a:tcPr marL="109728" marR="109728" marT="45720" marB="45720" anchor="ctr">
                    <a:solidFill>
                      <a:srgbClr val="F1F2F8"/>
                    </a:solidFill>
                  </a:tcPr>
                </a:tc>
                <a:tc>
                  <a:txBody>
                    <a:bodyPr/>
                    <a:lstStyle/>
                    <a:p>
                      <a:r>
                        <a:rPr sz="1800" i="0" b="0">
                          <a:solidFill>
                            <a:srgbClr val="1A1F36"/>
                          </a:solidFill>
                          <a:latin typeface="Calibri"/>
                        </a:rPr>
                        <a:t>Twice daily with food, or daily patch</a:t>
                      </a:r>
                    </a:p>
                  </a:txBody>
                  <a:tcPr marL="109728" marR="109728" marT="45720" marB="45720" anchor="ctr">
                    <a:solidFill>
                      <a:srgbClr val="F1F2F8"/>
                    </a:solidFill>
                  </a:tcPr>
                </a:tc>
                <a:tc>
                  <a:txBody>
                    <a:bodyPr/>
                    <a:lstStyle/>
                    <a:p>
                      <a:r>
                        <a:rPr sz="1800" i="0" b="0">
                          <a:solidFill>
                            <a:srgbClr val="1A1F36"/>
                          </a:solidFill>
                          <a:latin typeface="Calibri"/>
                        </a:rPr>
                        <a:t>Twice daily or once-daily modified release</a:t>
                      </a:r>
                    </a:p>
                  </a:txBody>
                  <a:tcPr marL="109728" marR="109728" marT="45720" marB="45720" anchor="ctr">
                    <a:solidFill>
                      <a:srgbClr val="F1F2F8"/>
                    </a:solidFill>
                  </a:tcPr>
                </a:tc>
              </a:tr>
              <a:tr h="640080">
                <a:tc>
                  <a:txBody>
                    <a:bodyPr/>
                    <a:lstStyle/>
                    <a:p>
                      <a:r>
                        <a:rPr sz="1800" i="0" b="1">
                          <a:solidFill>
                            <a:srgbClr val="1A1F36"/>
                          </a:solidFill>
                          <a:latin typeface="Calibri"/>
                        </a:rPr>
                        <a:t>Metabolism</a:t>
                      </a:r>
                    </a:p>
                  </a:txBody>
                  <a:tcPr marL="109728" marR="109728" marT="45720" marB="45720" anchor="ctr">
                    <a:solidFill>
                      <a:srgbClr val="FFFFFF"/>
                    </a:solidFill>
                  </a:tcPr>
                </a:tc>
                <a:tc>
                  <a:txBody>
                    <a:bodyPr/>
                    <a:lstStyle/>
                    <a:p>
                      <a:r>
                        <a:rPr sz="1800" i="0" b="0">
                          <a:solidFill>
                            <a:srgbClr val="1A1F36"/>
                          </a:solidFill>
                          <a:latin typeface="Calibri"/>
                        </a:rPr>
                        <a:t>CYP2D6, CYP3A4</a:t>
                      </a:r>
                    </a:p>
                  </a:txBody>
                  <a:tcPr marL="109728" marR="109728" marT="45720" marB="45720" anchor="ctr">
                    <a:solidFill>
                      <a:srgbClr val="FFFFFF"/>
                    </a:solidFill>
                  </a:tcPr>
                </a:tc>
                <a:tc>
                  <a:txBody>
                    <a:bodyPr/>
                    <a:lstStyle/>
                    <a:p>
                      <a:r>
                        <a:rPr sz="1800" i="0" b="0">
                          <a:solidFill>
                            <a:srgbClr val="1A1F36"/>
                          </a:solidFill>
                          <a:latin typeface="Calibri"/>
                        </a:rPr>
                        <a:t>Esterases (no CYP)</a:t>
                      </a:r>
                    </a:p>
                  </a:txBody>
                  <a:tcPr marL="109728" marR="109728" marT="45720" marB="45720" anchor="ctr">
                    <a:solidFill>
                      <a:srgbClr val="FFFFFF"/>
                    </a:solidFill>
                  </a:tcPr>
                </a:tc>
                <a:tc>
                  <a:txBody>
                    <a:bodyPr/>
                    <a:lstStyle/>
                    <a:p>
                      <a:r>
                        <a:rPr sz="1800" i="0" b="0">
                          <a:solidFill>
                            <a:srgbClr val="1A1F36"/>
                          </a:solidFill>
                          <a:latin typeface="Calibri"/>
                        </a:rPr>
                        <a:t>CYP2D6, CYP3A4</a:t>
                      </a:r>
                    </a:p>
                  </a:txBody>
                  <a:tcPr marL="109728" marR="109728" marT="45720" marB="45720" anchor="ctr">
                    <a:solidFill>
                      <a:srgbClr val="FFFFFF"/>
                    </a:solidFill>
                  </a:tcPr>
                </a:tc>
              </a:tr>
              <a:tr h="640080">
                <a:tc>
                  <a:txBody>
                    <a:bodyPr/>
                    <a:lstStyle/>
                    <a:p>
                      <a:r>
                        <a:rPr sz="1800" i="0" b="1">
                          <a:solidFill>
                            <a:srgbClr val="1A1F36"/>
                          </a:solidFill>
                          <a:latin typeface="Calibri"/>
                        </a:rPr>
                        <a:t>Main advantage</a:t>
                      </a:r>
                    </a:p>
                  </a:txBody>
                  <a:tcPr marL="109728" marR="109728" marT="45720" marB="45720" anchor="ctr">
                    <a:solidFill>
                      <a:srgbClr val="F1F2F8"/>
                    </a:solidFill>
                  </a:tcPr>
                </a:tc>
                <a:tc>
                  <a:txBody>
                    <a:bodyPr/>
                    <a:lstStyle/>
                    <a:p>
                      <a:r>
                        <a:rPr sz="1800" i="0" b="0">
                          <a:solidFill>
                            <a:srgbClr val="1A1F36"/>
                          </a:solidFill>
                          <a:latin typeface="Calibri"/>
                        </a:rPr>
                        <a:t>Simple once-daily dose</a:t>
                      </a:r>
                    </a:p>
                  </a:txBody>
                  <a:tcPr marL="109728" marR="109728" marT="45720" marB="45720" anchor="ctr">
                    <a:solidFill>
                      <a:srgbClr val="F1F2F8"/>
                    </a:solidFill>
                  </a:tcPr>
                </a:tc>
                <a:tc>
                  <a:txBody>
                    <a:bodyPr/>
                    <a:lstStyle/>
                    <a:p>
                      <a:r>
                        <a:rPr sz="1800" i="0" b="0">
                          <a:solidFill>
                            <a:srgbClr val="1A1F36"/>
                          </a:solidFill>
                          <a:latin typeface="Calibri"/>
                        </a:rPr>
                        <a:t>Patch reduces GI effects; no CYP interactions</a:t>
                      </a:r>
                    </a:p>
                  </a:txBody>
                  <a:tcPr marL="109728" marR="109728" marT="45720" marB="45720" anchor="ctr">
                    <a:solidFill>
                      <a:srgbClr val="F1F2F8"/>
                    </a:solidFill>
                  </a:tcPr>
                </a:tc>
                <a:tc>
                  <a:txBody>
                    <a:bodyPr/>
                    <a:lstStyle/>
                    <a:p>
                      <a:r>
                        <a:rPr sz="1800" i="0" b="0">
                          <a:solidFill>
                            <a:srgbClr val="1A1F36"/>
                          </a:solidFill>
                          <a:latin typeface="Calibri"/>
                        </a:rPr>
                        <a:t>Two actions on cholinergic transmission</a:t>
                      </a:r>
                    </a:p>
                  </a:txBody>
                  <a:tcPr marL="109728" marR="109728" marT="45720" marB="45720" anchor="ctr">
                    <a:solidFill>
                      <a:srgbClr val="F1F2F8"/>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01</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1</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Cholinesterase Inhibitors</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1  ·  Alzheimer's Disease</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11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1645919" y="2103120"/>
            <a:ext cx="8899855" cy="3157728"/>
          </a:xfrm>
          <a:prstGeom prst="roundRect">
            <a:avLst>
              <a:gd name="adj" fmla="val 6000"/>
            </a:avLst>
          </a:prstGeom>
          <a:solidFill>
            <a:srgbClr val="FBEAEA">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965960" y="2167127"/>
            <a:ext cx="825977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920239" y="2331720"/>
            <a:ext cx="1074420" cy="347472"/>
          </a:xfrm>
          <a:prstGeom prst="roundRect">
            <a:avLst>
              <a:gd name="adj" fmla="val 50000"/>
            </a:avLst>
          </a:prstGeom>
          <a:solidFill>
            <a:srgbClr val="B3261E"/>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i="0" b="1">
                <a:solidFill>
                  <a:srgbClr val="FFFFFF"/>
                </a:solidFill>
                <a:latin typeface="Calibri"/>
              </a:rPr>
              <a:t>CAUTION</a:t>
            </a:r>
          </a:p>
        </p:txBody>
      </p:sp>
      <p:sp>
        <p:nvSpPr>
          <p:cNvPr id="14" name="TextBox 13"/>
          <p:cNvSpPr txBox="1"/>
          <p:nvPr/>
        </p:nvSpPr>
        <p:spPr>
          <a:xfrm>
            <a:off x="1920239" y="2788920"/>
            <a:ext cx="8351215" cy="2289047"/>
          </a:xfrm>
          <a:prstGeom prst="rect">
            <a:avLst/>
          </a:prstGeom>
          <a:noFill/>
        </p:spPr>
        <p:txBody>
          <a:bodyPr wrap="square" anchor="t" lIns="0" rIns="0" tIns="0" bIns="0">
            <a:spAutoFit/>
          </a:bodyPr>
          <a:lstStyle/>
          <a:p>
            <a:pPr>
              <a:spcBef>
                <a:spcPts val="0"/>
              </a:spcBef>
            </a:pPr>
            <a:r>
              <a:rPr sz="2200" i="0" b="0">
                <a:solidFill>
                  <a:srgbClr val="1A1F36"/>
                </a:solidFill>
                <a:latin typeface="Calibri"/>
              </a:rPr>
              <a:t>Cholinesterase inhibitors slow the heart. Check the pulse before starting and at each review. Use caution in patients with conduction disease or a slow heart rate. Take extra care with other drugs that slow the heart, such as beta-blockers, digoxin and verapamil. A fall or faint may be the first sign.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01</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1</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NMDA Receptor Antagonist: Memantine</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1  ·  Alzheimer's Disease</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12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Oval 10"/>
          <p:cNvSpPr/>
          <p:nvPr/>
        </p:nvSpPr>
        <p:spPr>
          <a:xfrm>
            <a:off x="548640"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2" name="TextBox 11"/>
          <p:cNvSpPr txBox="1"/>
          <p:nvPr/>
        </p:nvSpPr>
        <p:spPr>
          <a:xfrm>
            <a:off x="1143000" y="1591056"/>
            <a:ext cx="10500055" cy="1525428"/>
          </a:xfrm>
          <a:prstGeom prst="rect">
            <a:avLst/>
          </a:prstGeom>
          <a:noFill/>
        </p:spPr>
        <p:txBody>
          <a:bodyPr wrap="square" anchor="t" lIns="0" rIns="0" tIns="0" bIns="0">
            <a:spAutoFit/>
          </a:bodyPr>
          <a:lstStyle/>
          <a:p>
            <a:r>
              <a:rPr sz="2100" i="0" b="1">
                <a:solidFill>
                  <a:srgbClr val="1A1F36"/>
                </a:solidFill>
                <a:latin typeface="Calibri"/>
              </a:rPr>
              <a:t>Mechanism.</a:t>
            </a:r>
            <a:r>
              <a:rPr sz="2100" i="0" b="0">
                <a:solidFill>
                  <a:srgbClr val="1A1F36"/>
                </a:solidFill>
                <a:latin typeface="Calibri"/>
              </a:rPr>
              <a:t> Memantine is a low-affinity, voltage-dependent blocker of the NMDA receptor channel. It blocks the constant, low-level leak of calcium caused by excess glutamate. It leaves the brief, strong signals needed for learning mostly intact. This is why it is well tolerated.</a:t>
            </a:r>
          </a:p>
        </p:txBody>
      </p:sp>
      <p:sp>
        <p:nvSpPr>
          <p:cNvPr id="13" name="Oval 12"/>
          <p:cNvSpPr/>
          <p:nvPr/>
        </p:nvSpPr>
        <p:spPr>
          <a:xfrm>
            <a:off x="548640" y="314391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4" name="TextBox 13"/>
          <p:cNvSpPr txBox="1"/>
          <p:nvPr/>
        </p:nvSpPr>
        <p:spPr>
          <a:xfrm>
            <a:off x="1143000" y="3162204"/>
            <a:ext cx="10500055" cy="1192053"/>
          </a:xfrm>
          <a:prstGeom prst="rect">
            <a:avLst/>
          </a:prstGeom>
          <a:noFill/>
        </p:spPr>
        <p:txBody>
          <a:bodyPr wrap="square" anchor="t" lIns="0" rIns="0" tIns="0" bIns="0">
            <a:spAutoFit/>
          </a:bodyPr>
          <a:lstStyle/>
          <a:p>
            <a:r>
              <a:rPr sz="2100" i="0" b="1">
                <a:solidFill>
                  <a:srgbClr val="1A1F36"/>
                </a:solidFill>
                <a:latin typeface="Calibri"/>
              </a:rPr>
              <a:t>Use.</a:t>
            </a:r>
            <a:r>
              <a:rPr sz="2100" i="0" b="0">
                <a:solidFill>
                  <a:srgbClr val="1A1F36"/>
                </a:solidFill>
                <a:latin typeface="Calibri"/>
              </a:rPr>
              <a:t> Memantine is used for moderate to severe Alzheimer's disease. It can be given alone or added to a cholinesterase inhibitor. It is also an option when a cholinesterase inhibitor is not tolerated or is contraindicated.</a:t>
            </a:r>
          </a:p>
        </p:txBody>
      </p:sp>
      <p:sp>
        <p:nvSpPr>
          <p:cNvPr id="15" name="Oval 14"/>
          <p:cNvSpPr/>
          <p:nvPr/>
        </p:nvSpPr>
        <p:spPr>
          <a:xfrm>
            <a:off x="548640" y="4381690"/>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6" name="TextBox 15"/>
          <p:cNvSpPr txBox="1"/>
          <p:nvPr/>
        </p:nvSpPr>
        <p:spPr>
          <a:xfrm>
            <a:off x="1143000" y="4399978"/>
            <a:ext cx="10500055" cy="858678"/>
          </a:xfrm>
          <a:prstGeom prst="rect">
            <a:avLst/>
          </a:prstGeom>
          <a:noFill/>
        </p:spPr>
        <p:txBody>
          <a:bodyPr wrap="square" anchor="t" lIns="0" rIns="0" tIns="0" bIns="0">
            <a:spAutoFit/>
          </a:bodyPr>
          <a:lstStyle/>
          <a:p>
            <a:r>
              <a:rPr sz="2100" i="0" b="1">
                <a:solidFill>
                  <a:srgbClr val="1A1F36"/>
                </a:solidFill>
                <a:latin typeface="Calibri"/>
              </a:rPr>
              <a:t>Adverse effects.</a:t>
            </a:r>
            <a:r>
              <a:rPr sz="2100" i="0" b="0">
                <a:solidFill>
                  <a:srgbClr val="1A1F36"/>
                </a:solidFill>
                <a:latin typeface="Calibri"/>
              </a:rPr>
              <a:t> They are usually mild: dizziness, headache, confusion, agitation, constipation and sleepiness.</a:t>
            </a:r>
          </a:p>
        </p:txBody>
      </p:sp>
      <p:sp>
        <p:nvSpPr>
          <p:cNvPr id="17" name="Oval 16"/>
          <p:cNvSpPr/>
          <p:nvPr/>
        </p:nvSpPr>
        <p:spPr>
          <a:xfrm>
            <a:off x="548640" y="5286089"/>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18" name="TextBox 17"/>
          <p:cNvSpPr txBox="1"/>
          <p:nvPr/>
        </p:nvSpPr>
        <p:spPr>
          <a:xfrm>
            <a:off x="1143000" y="5304377"/>
            <a:ext cx="10500055" cy="858678"/>
          </a:xfrm>
          <a:prstGeom prst="rect">
            <a:avLst/>
          </a:prstGeom>
          <a:noFill/>
        </p:spPr>
        <p:txBody>
          <a:bodyPr wrap="square" anchor="t" lIns="0" rIns="0" tIns="0" bIns="0">
            <a:spAutoFit/>
          </a:bodyPr>
          <a:lstStyle/>
          <a:p>
            <a:r>
              <a:rPr sz="2100" i="0" b="1">
                <a:solidFill>
                  <a:srgbClr val="1A1F36"/>
                </a:solidFill>
                <a:latin typeface="Calibri"/>
              </a:rPr>
              <a:t>Kinetics.</a:t>
            </a:r>
            <a:r>
              <a:rPr sz="2100" i="0" b="0">
                <a:solidFill>
                  <a:srgbClr val="1A1F36"/>
                </a:solidFill>
                <a:latin typeface="Calibri"/>
              </a:rPr>
              <a:t> Memantine is excreted mainly unchanged by the kidney. Reduce the dose in severe renal impairment.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01</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1</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Newer Disease-Modifying Antibodies</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1  ·  Alzheimer's Disease</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13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TextBox 10"/>
          <p:cNvSpPr txBox="1"/>
          <p:nvPr/>
        </p:nvSpPr>
        <p:spPr>
          <a:xfrm>
            <a:off x="548640" y="1554480"/>
            <a:ext cx="4480560" cy="4617720"/>
          </a:xfrm>
          <a:prstGeom prst="rect">
            <a:avLst/>
          </a:prstGeom>
          <a:noFill/>
        </p:spPr>
        <p:txBody>
          <a:bodyPr wrap="square" anchor="t" lIns="0" rIns="0" tIns="0" bIns="0">
            <a:spAutoFit/>
          </a:bodyPr>
          <a:lstStyle/>
          <a:p>
            <a:pPr>
              <a:spcAft>
                <a:spcPts val="800"/>
              </a:spcAft>
            </a:pPr>
            <a:r>
              <a:rPr sz="1700" i="0" b="0">
                <a:solidFill>
                  <a:srgbClr val="1A1F36"/>
                </a:solidFill>
                <a:latin typeface="Calibri"/>
              </a:rPr>
              <a:t>Lecanemab and donanemab are monoclonal antibodies against β-amyloid. They remove amyloid plaques from the brain. In trials they slowed decline modestly in early Alzheimer's disease. They are given by intravenous infusion.</a:t>
            </a:r>
          </a:p>
          <a:p>
            <a:pPr>
              <a:spcAft>
                <a:spcPts val="800"/>
              </a:spcAft>
            </a:pPr>
            <a:r>
              <a:rPr sz="1700" i="0" b="0">
                <a:solidFill>
                  <a:srgbClr val="1A1F36"/>
                </a:solidFill>
                <a:latin typeface="Calibri"/>
              </a:rPr>
              <a:t>Their use is limited:</a:t>
            </a:r>
          </a:p>
          <a:p>
            <a:pPr>
              <a:spcAft>
                <a:spcPts val="800"/>
              </a:spcAft>
            </a:pPr>
            <a:r>
              <a:rPr sz="1700" i="0" b="0">
                <a:solidFill>
                  <a:srgbClr val="1A1F36"/>
                </a:solidFill>
                <a:latin typeface="Calibri"/>
              </a:rPr>
              <a:t>These drugs are specialist treatments. They are not yet widely available in Egypt.</a:t>
            </a:r>
          </a:p>
        </p:txBody>
      </p:sp>
      <p:sp>
        <p:nvSpPr>
          <p:cNvPr id="12" name="Oval 11"/>
          <p:cNvSpPr/>
          <p:nvPr/>
        </p:nvSpPr>
        <p:spPr>
          <a:xfrm>
            <a:off x="5394959"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3" name="TextBox 12"/>
          <p:cNvSpPr txBox="1"/>
          <p:nvPr/>
        </p:nvSpPr>
        <p:spPr>
          <a:xfrm>
            <a:off x="5989320" y="1591056"/>
            <a:ext cx="5653735" cy="1475612"/>
          </a:xfrm>
          <a:prstGeom prst="rect">
            <a:avLst/>
          </a:prstGeom>
          <a:noFill/>
        </p:spPr>
        <p:txBody>
          <a:bodyPr wrap="square" anchor="t" lIns="0" rIns="0" tIns="0" bIns="0">
            <a:spAutoFit/>
          </a:bodyPr>
          <a:lstStyle/>
          <a:p>
            <a:r>
              <a:rPr sz="2100" i="0" b="0">
                <a:solidFill>
                  <a:srgbClr val="1A1F36"/>
                </a:solidFill>
                <a:latin typeface="Calibri"/>
              </a:rPr>
              <a:t>Only for early disease (mild cognitive impairment or mild dementia) with proven amyloid.</a:t>
            </a:r>
          </a:p>
        </p:txBody>
      </p:sp>
      <p:sp>
        <p:nvSpPr>
          <p:cNvPr id="14" name="Oval 13"/>
          <p:cNvSpPr/>
          <p:nvPr/>
        </p:nvSpPr>
        <p:spPr>
          <a:xfrm>
            <a:off x="5394959" y="3094100"/>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5" name="TextBox 14"/>
          <p:cNvSpPr txBox="1"/>
          <p:nvPr/>
        </p:nvSpPr>
        <p:spPr>
          <a:xfrm>
            <a:off x="5989320" y="3112388"/>
            <a:ext cx="5653735" cy="1475612"/>
          </a:xfrm>
          <a:prstGeom prst="rect">
            <a:avLst/>
          </a:prstGeom>
          <a:noFill/>
        </p:spPr>
        <p:txBody>
          <a:bodyPr wrap="square" anchor="t" lIns="0" rIns="0" tIns="0" bIns="0">
            <a:spAutoFit/>
          </a:bodyPr>
          <a:lstStyle/>
          <a:p>
            <a:r>
              <a:rPr sz="2100" i="0" b="0">
                <a:solidFill>
                  <a:srgbClr val="1A1F36"/>
                </a:solidFill>
                <a:latin typeface="Calibri"/>
              </a:rPr>
              <a:t>They can cause </a:t>
            </a:r>
            <a:r>
              <a:rPr sz="2100" i="0" b="1">
                <a:solidFill>
                  <a:srgbClr val="1A1F36"/>
                </a:solidFill>
                <a:latin typeface="Calibri"/>
              </a:rPr>
              <a:t>amyloid-related imaging abnormalities (ARIA)</a:t>
            </a:r>
            <a:r>
              <a:rPr sz="2100" i="0" b="0">
                <a:solidFill>
                  <a:srgbClr val="1A1F36"/>
                </a:solidFill>
                <a:latin typeface="Calibri"/>
              </a:rPr>
              <a:t>: brain swelling or small bleeds. Regular MRI monitoring is needed.</a:t>
            </a:r>
          </a:p>
        </p:txBody>
      </p:sp>
      <p:sp>
        <p:nvSpPr>
          <p:cNvPr id="16" name="Oval 15"/>
          <p:cNvSpPr/>
          <p:nvPr/>
        </p:nvSpPr>
        <p:spPr>
          <a:xfrm>
            <a:off x="5394959" y="4615433"/>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7" name="TextBox 16"/>
          <p:cNvSpPr txBox="1"/>
          <p:nvPr/>
        </p:nvSpPr>
        <p:spPr>
          <a:xfrm>
            <a:off x="5989320" y="4633722"/>
            <a:ext cx="5653735" cy="1475612"/>
          </a:xfrm>
          <a:prstGeom prst="rect">
            <a:avLst/>
          </a:prstGeom>
          <a:noFill/>
        </p:spPr>
        <p:txBody>
          <a:bodyPr wrap="square" anchor="t" lIns="0" rIns="0" tIns="0" bIns="0">
            <a:spAutoFit/>
          </a:bodyPr>
          <a:lstStyle/>
          <a:p>
            <a:r>
              <a:rPr sz="2100" i="0" b="0">
                <a:solidFill>
                  <a:srgbClr val="1A1F36"/>
                </a:solidFill>
                <a:latin typeface="Calibri"/>
              </a:rPr>
              <a:t>The risk of ARIA is higher in people with two copies of APOE ε4 and in those taking anticoagulants.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01</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1</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Choosing a Drug</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1  ·  Alzheimer's Disease</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14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graphicFrame>
        <p:nvGraphicFramePr>
          <p:cNvPr id="11" name="Table 10"/>
          <p:cNvGraphicFramePr>
            <a:graphicFrameLocks noGrp="1"/>
          </p:cNvGraphicFramePr>
          <p:nvPr/>
        </p:nvGraphicFramePr>
        <p:xfrm>
          <a:off x="548640" y="1554480"/>
          <a:ext cx="11094414" cy="4480560"/>
        </p:xfrm>
        <a:graphic>
          <a:graphicData uri="http://schemas.openxmlformats.org/drawingml/2006/table">
            <a:tbl>
              <a:tblPr firstRow="0" bandRow="0">
                <a:tableStyleId>{5C22544A-7EE6-4342-B048-85BDC9FD1C3A}</a:tableStyleId>
              </a:tblPr>
              <a:tblGrid>
                <a:gridCol w="4314494"/>
                <a:gridCol w="3355718"/>
                <a:gridCol w="3424202"/>
              </a:tblGrid>
              <a:tr h="640080">
                <a:tc>
                  <a:txBody>
                    <a:bodyPr/>
                    <a:lstStyle/>
                    <a:p>
                      <a:r>
                        <a:rPr sz="1700" i="0" b="1">
                          <a:solidFill>
                            <a:srgbClr val="FFFFFF"/>
                          </a:solidFill>
                          <a:latin typeface="Calibri"/>
                        </a:rPr>
                        <a:t>Situation</a:t>
                      </a:r>
                    </a:p>
                  </a:txBody>
                  <a:tcPr marL="109728" marR="109728" marT="45720" marB="45720" anchor="ctr">
                    <a:solidFill>
                      <a:srgbClr val="1B2A8C"/>
                    </a:solidFill>
                  </a:tcPr>
                </a:tc>
                <a:tc>
                  <a:txBody>
                    <a:bodyPr/>
                    <a:lstStyle/>
                    <a:p>
                      <a:r>
                        <a:rPr sz="1700" i="0" b="1">
                          <a:solidFill>
                            <a:srgbClr val="FFFFFF"/>
                          </a:solidFill>
                          <a:latin typeface="Calibri"/>
                        </a:rPr>
                        <a:t>Preferred choice</a:t>
                      </a:r>
                    </a:p>
                  </a:txBody>
                  <a:tcPr marL="109728" marR="109728" marT="45720" marB="45720" anchor="ctr">
                    <a:solidFill>
                      <a:srgbClr val="1B2A8C"/>
                    </a:solidFill>
                  </a:tcPr>
                </a:tc>
                <a:tc>
                  <a:txBody>
                    <a:bodyPr/>
                    <a:lstStyle/>
                    <a:p>
                      <a:r>
                        <a:rPr sz="1700" i="0" b="1">
                          <a:solidFill>
                            <a:srgbClr val="FFFFFF"/>
                          </a:solidFill>
                          <a:latin typeface="Calibri"/>
                        </a:rPr>
                        <a:t>Notes</a:t>
                      </a:r>
                    </a:p>
                  </a:txBody>
                  <a:tcPr marL="109728" marR="109728" marT="45720" marB="45720" anchor="ctr">
                    <a:solidFill>
                      <a:srgbClr val="1B2A8C"/>
                    </a:solidFill>
                  </a:tcPr>
                </a:tc>
              </a:tr>
              <a:tr h="640080">
                <a:tc>
                  <a:txBody>
                    <a:bodyPr/>
                    <a:lstStyle/>
                    <a:p>
                      <a:r>
                        <a:rPr sz="1800" i="0" b="1">
                          <a:solidFill>
                            <a:srgbClr val="1A1F36"/>
                          </a:solidFill>
                          <a:latin typeface="Calibri"/>
                        </a:rPr>
                        <a:t>Mild to moderate disease</a:t>
                      </a:r>
                    </a:p>
                  </a:txBody>
                  <a:tcPr marL="109728" marR="109728" marT="45720" marB="45720" anchor="ctr">
                    <a:solidFill>
                      <a:srgbClr val="FFFFFF"/>
                    </a:solidFill>
                  </a:tcPr>
                </a:tc>
                <a:tc>
                  <a:txBody>
                    <a:bodyPr/>
                    <a:lstStyle/>
                    <a:p>
                      <a:r>
                        <a:rPr sz="1800" i="0" b="0">
                          <a:solidFill>
                            <a:srgbClr val="1A1F36"/>
                          </a:solidFill>
                          <a:latin typeface="Calibri"/>
                        </a:rPr>
                        <a:t>Donepezil, rivastigmine or galantamine</a:t>
                      </a:r>
                    </a:p>
                  </a:txBody>
                  <a:tcPr marL="109728" marR="109728" marT="45720" marB="45720" anchor="ctr">
                    <a:solidFill>
                      <a:srgbClr val="FFFFFF"/>
                    </a:solidFill>
                  </a:tcPr>
                </a:tc>
                <a:tc>
                  <a:txBody>
                    <a:bodyPr/>
                    <a:lstStyle/>
                    <a:p>
                      <a:r>
                        <a:rPr sz="1800" i="0" b="0">
                          <a:solidFill>
                            <a:srgbClr val="1A1F36"/>
                          </a:solidFill>
                          <a:latin typeface="Calibri"/>
                        </a:rPr>
                        <a:t>Choose by dosing, cost and adverse effects</a:t>
                      </a:r>
                    </a:p>
                  </a:txBody>
                  <a:tcPr marL="109728" marR="109728" marT="45720" marB="45720" anchor="ctr">
                    <a:solidFill>
                      <a:srgbClr val="FFFFFF"/>
                    </a:solidFill>
                  </a:tcPr>
                </a:tc>
              </a:tr>
              <a:tr h="640080">
                <a:tc>
                  <a:txBody>
                    <a:bodyPr/>
                    <a:lstStyle/>
                    <a:p>
                      <a:r>
                        <a:rPr sz="1800" i="0" b="1">
                          <a:solidFill>
                            <a:srgbClr val="1A1F36"/>
                          </a:solidFill>
                          <a:latin typeface="Calibri"/>
                        </a:rPr>
                        <a:t>Nausea or poor adherence to tablets</a:t>
                      </a:r>
                    </a:p>
                  </a:txBody>
                  <a:tcPr marL="109728" marR="109728" marT="45720" marB="45720" anchor="ctr">
                    <a:solidFill>
                      <a:srgbClr val="F1F2F8"/>
                    </a:solidFill>
                  </a:tcPr>
                </a:tc>
                <a:tc>
                  <a:txBody>
                    <a:bodyPr/>
                    <a:lstStyle/>
                    <a:p>
                      <a:r>
                        <a:rPr sz="1800" i="0" b="0">
                          <a:solidFill>
                            <a:srgbClr val="1A1F36"/>
                          </a:solidFill>
                          <a:latin typeface="Calibri"/>
                        </a:rPr>
                        <a:t>Rivastigmine patch</a:t>
                      </a:r>
                    </a:p>
                  </a:txBody>
                  <a:tcPr marL="109728" marR="109728" marT="45720" marB="45720" anchor="ctr">
                    <a:solidFill>
                      <a:srgbClr val="F1F2F8"/>
                    </a:solidFill>
                  </a:tcPr>
                </a:tc>
                <a:tc>
                  <a:txBody>
                    <a:bodyPr/>
                    <a:lstStyle/>
                    <a:p>
                      <a:r>
                        <a:rPr sz="1800" i="0" b="0">
                          <a:solidFill>
                            <a:srgbClr val="1A1F36"/>
                          </a:solidFill>
                          <a:latin typeface="Calibri"/>
                        </a:rPr>
                        <a:t>Fewer GI effects</a:t>
                      </a:r>
                    </a:p>
                  </a:txBody>
                  <a:tcPr marL="109728" marR="109728" marT="45720" marB="45720" anchor="ctr">
                    <a:solidFill>
                      <a:srgbClr val="F1F2F8"/>
                    </a:solidFill>
                  </a:tcPr>
                </a:tc>
              </a:tr>
              <a:tr h="640080">
                <a:tc>
                  <a:txBody>
                    <a:bodyPr/>
                    <a:lstStyle/>
                    <a:p>
                      <a:r>
                        <a:rPr sz="1800" i="0" b="1">
                          <a:solidFill>
                            <a:srgbClr val="1A1F36"/>
                          </a:solidFill>
                          <a:latin typeface="Calibri"/>
                        </a:rPr>
                        <a:t>Moderate disease, AChE inhibitor not tolerated</a:t>
                      </a:r>
                    </a:p>
                  </a:txBody>
                  <a:tcPr marL="109728" marR="109728" marT="45720" marB="45720" anchor="ctr">
                    <a:solidFill>
                      <a:srgbClr val="FFFFFF"/>
                    </a:solidFill>
                  </a:tcPr>
                </a:tc>
                <a:tc>
                  <a:txBody>
                    <a:bodyPr/>
                    <a:lstStyle/>
                    <a:p>
                      <a:r>
                        <a:rPr sz="1800" i="0" b="0">
                          <a:solidFill>
                            <a:srgbClr val="1A1F36"/>
                          </a:solidFill>
                          <a:latin typeface="Calibri"/>
                        </a:rPr>
                        <a:t>Memantine</a:t>
                      </a:r>
                    </a:p>
                  </a:txBody>
                  <a:tcPr marL="109728" marR="109728" marT="45720" marB="45720" anchor="ctr">
                    <a:solidFill>
                      <a:srgbClr val="FFFFFF"/>
                    </a:solidFill>
                  </a:tcPr>
                </a:tc>
                <a:tc>
                  <a:txBody>
                    <a:bodyPr/>
                    <a:lstStyle/>
                    <a:p>
                      <a:r>
                        <a:rPr sz="1800" i="0" b="0">
                          <a:solidFill>
                            <a:srgbClr val="1A1F36"/>
                          </a:solidFill>
                          <a:latin typeface="Calibri"/>
                        </a:rPr>
                        <a:t>Also if AChE inhibitor contraindicated</a:t>
                      </a:r>
                    </a:p>
                  </a:txBody>
                  <a:tcPr marL="109728" marR="109728" marT="45720" marB="45720" anchor="ctr">
                    <a:solidFill>
                      <a:srgbClr val="FFFFFF"/>
                    </a:solidFill>
                  </a:tcPr>
                </a:tc>
              </a:tr>
              <a:tr h="640080">
                <a:tc>
                  <a:txBody>
                    <a:bodyPr/>
                    <a:lstStyle/>
                    <a:p>
                      <a:r>
                        <a:rPr sz="1800" i="0" b="1">
                          <a:solidFill>
                            <a:srgbClr val="1A1F36"/>
                          </a:solidFill>
                          <a:latin typeface="Calibri"/>
                        </a:rPr>
                        <a:t>Severe disease</a:t>
                      </a:r>
                    </a:p>
                  </a:txBody>
                  <a:tcPr marL="109728" marR="109728" marT="45720" marB="45720" anchor="ctr">
                    <a:solidFill>
                      <a:srgbClr val="F1F2F8"/>
                    </a:solidFill>
                  </a:tcPr>
                </a:tc>
                <a:tc>
                  <a:txBody>
                    <a:bodyPr/>
                    <a:lstStyle/>
                    <a:p>
                      <a:r>
                        <a:rPr sz="1800" i="0" b="0">
                          <a:solidFill>
                            <a:srgbClr val="1A1F36"/>
                          </a:solidFill>
                          <a:latin typeface="Calibri"/>
                        </a:rPr>
                        <a:t>Memantine</a:t>
                      </a:r>
                    </a:p>
                  </a:txBody>
                  <a:tcPr marL="109728" marR="109728" marT="45720" marB="45720" anchor="ctr">
                    <a:solidFill>
                      <a:srgbClr val="F1F2F8"/>
                    </a:solidFill>
                  </a:tcPr>
                </a:tc>
                <a:tc>
                  <a:txBody>
                    <a:bodyPr/>
                    <a:lstStyle/>
                    <a:p>
                      <a:r>
                        <a:rPr sz="1800" i="0" b="0">
                          <a:solidFill>
                            <a:srgbClr val="1A1F36"/>
                          </a:solidFill>
                          <a:latin typeface="Calibri"/>
                        </a:rPr>
                        <a:t>Can continue or add to an AChE inhibitor</a:t>
                      </a:r>
                    </a:p>
                  </a:txBody>
                  <a:tcPr marL="109728" marR="109728" marT="45720" marB="45720" anchor="ctr">
                    <a:solidFill>
                      <a:srgbClr val="F1F2F8"/>
                    </a:solidFill>
                  </a:tcPr>
                </a:tc>
              </a:tr>
              <a:tr h="640080">
                <a:tc>
                  <a:txBody>
                    <a:bodyPr/>
                    <a:lstStyle/>
                    <a:p>
                      <a:r>
                        <a:rPr sz="1800" i="0" b="1">
                          <a:solidFill>
                            <a:srgbClr val="1A1F36"/>
                          </a:solidFill>
                          <a:latin typeface="Calibri"/>
                        </a:rPr>
                        <a:t>Moderate to severe disease already on an AChE inhibitor</a:t>
                      </a:r>
                    </a:p>
                  </a:txBody>
                  <a:tcPr marL="109728" marR="109728" marT="45720" marB="45720" anchor="ctr">
                    <a:solidFill>
                      <a:srgbClr val="FFFFFF"/>
                    </a:solidFill>
                  </a:tcPr>
                </a:tc>
                <a:tc>
                  <a:txBody>
                    <a:bodyPr/>
                    <a:lstStyle/>
                    <a:p>
                      <a:r>
                        <a:rPr sz="1800" i="0" b="0">
                          <a:solidFill>
                            <a:srgbClr val="1A1F36"/>
                          </a:solidFill>
                          <a:latin typeface="Calibri"/>
                        </a:rPr>
                        <a:t>Consider adding memantine</a:t>
                      </a:r>
                    </a:p>
                  </a:txBody>
                  <a:tcPr marL="109728" marR="109728" marT="45720" marB="45720" anchor="ctr">
                    <a:solidFill>
                      <a:srgbClr val="FFFFFF"/>
                    </a:solidFill>
                  </a:tcPr>
                </a:tc>
                <a:tc>
                  <a:txBody>
                    <a:bodyPr/>
                    <a:lstStyle/>
                    <a:p>
                      <a:r>
                        <a:rPr sz="1800" i="0" b="0">
                          <a:solidFill>
                            <a:srgbClr val="1A1F36"/>
                          </a:solidFill>
                          <a:latin typeface="Calibri"/>
                        </a:rPr>
                        <a:t>Combination is common practice</a:t>
                      </a:r>
                    </a:p>
                  </a:txBody>
                  <a:tcPr marL="109728" marR="109728" marT="45720" marB="45720" anchor="ctr">
                    <a:solidFill>
                      <a:srgbClr val="FFFFFF"/>
                    </a:solidFill>
                  </a:tcPr>
                </a:tc>
              </a:tr>
              <a:tr h="640080">
                <a:tc>
                  <a:txBody>
                    <a:bodyPr/>
                    <a:lstStyle/>
                    <a:p>
                      <a:r>
                        <a:rPr sz="1800" i="0" b="1">
                          <a:solidFill>
                            <a:srgbClr val="1A1F36"/>
                          </a:solidFill>
                          <a:latin typeface="Calibri"/>
                        </a:rPr>
                        <a:t>Bradycardia or heart block</a:t>
                      </a:r>
                    </a:p>
                  </a:txBody>
                  <a:tcPr marL="109728" marR="109728" marT="45720" marB="45720" anchor="ctr">
                    <a:solidFill>
                      <a:srgbClr val="F1F2F8"/>
                    </a:solidFill>
                  </a:tcPr>
                </a:tc>
                <a:tc>
                  <a:txBody>
                    <a:bodyPr/>
                    <a:lstStyle/>
                    <a:p>
                      <a:r>
                        <a:rPr sz="1800" i="0" b="0">
                          <a:solidFill>
                            <a:srgbClr val="1A1F36"/>
                          </a:solidFill>
                          <a:latin typeface="Calibri"/>
                        </a:rPr>
                        <a:t>Avoid AChE inhibitors; consider memantine</a:t>
                      </a:r>
                    </a:p>
                  </a:txBody>
                  <a:tcPr marL="109728" marR="109728" marT="45720" marB="45720" anchor="ctr">
                    <a:solidFill>
                      <a:srgbClr val="F1F2F8"/>
                    </a:solidFill>
                  </a:tcPr>
                </a:tc>
                <a:tc>
                  <a:txBody>
                    <a:bodyPr/>
                    <a:lstStyle/>
                    <a:p>
                      <a:r>
                        <a:rPr sz="1800" i="0" b="0">
                          <a:solidFill>
                            <a:srgbClr val="1A1F36"/>
                          </a:solidFill>
                          <a:latin typeface="Calibri"/>
                        </a:rPr>
                        <a:t>Check ECG</a:t>
                      </a:r>
                    </a:p>
                  </a:txBody>
                  <a:tcPr marL="109728" marR="109728" marT="45720" marB="45720" anchor="ctr">
                    <a:solidFill>
                      <a:srgbClr val="F1F2F8"/>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01</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1</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Choosing a Drug</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1  ·  Alzheimer's Disease</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15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1645919" y="2103120"/>
            <a:ext cx="8899855" cy="2377440"/>
          </a:xfrm>
          <a:prstGeom prst="roundRect">
            <a:avLst>
              <a:gd name="adj" fmla="val 6000"/>
            </a:avLst>
          </a:prstGeom>
          <a:solidFill>
            <a:srgbClr val="FBEAEA">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965960" y="2167127"/>
            <a:ext cx="825977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920239" y="2331720"/>
            <a:ext cx="1074420" cy="347472"/>
          </a:xfrm>
          <a:prstGeom prst="roundRect">
            <a:avLst>
              <a:gd name="adj" fmla="val 50000"/>
            </a:avLst>
          </a:prstGeom>
          <a:solidFill>
            <a:srgbClr val="B3261E"/>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i="0" b="1">
                <a:solidFill>
                  <a:srgbClr val="FFFFFF"/>
                </a:solidFill>
                <a:latin typeface="Calibri"/>
              </a:rPr>
              <a:t>CAUTION</a:t>
            </a:r>
          </a:p>
        </p:txBody>
      </p:sp>
      <p:sp>
        <p:nvSpPr>
          <p:cNvPr id="14" name="TextBox 13"/>
          <p:cNvSpPr txBox="1"/>
          <p:nvPr/>
        </p:nvSpPr>
        <p:spPr>
          <a:xfrm>
            <a:off x="1920239" y="2788920"/>
            <a:ext cx="8351215" cy="1508760"/>
          </a:xfrm>
          <a:prstGeom prst="rect">
            <a:avLst/>
          </a:prstGeom>
          <a:noFill/>
        </p:spPr>
        <p:txBody>
          <a:bodyPr wrap="square" anchor="t" lIns="0" rIns="0" tIns="0" bIns="0">
            <a:spAutoFit/>
          </a:bodyPr>
          <a:lstStyle/>
          <a:p>
            <a:pPr>
              <a:spcBef>
                <a:spcPts val="0"/>
              </a:spcBef>
            </a:pPr>
            <a:r>
              <a:rPr sz="2500" i="0" b="0">
                <a:solidFill>
                  <a:srgbClr val="1A1F36"/>
                </a:solidFill>
                <a:latin typeface="Calibri"/>
              </a:rPr>
              <a:t>Avoid anticholinergic drugs in people with dementia. Check the whole medication list, including over-the-counter sleep aids and bladder drugs.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01</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1</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Counselling the Patient and Caregiver</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1  ·  Alzheimer's Disease</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16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TextBox 10"/>
          <p:cNvSpPr txBox="1"/>
          <p:nvPr/>
        </p:nvSpPr>
        <p:spPr>
          <a:xfrm>
            <a:off x="548640" y="1554480"/>
            <a:ext cx="11094415" cy="1202436"/>
          </a:xfrm>
          <a:prstGeom prst="rect">
            <a:avLst/>
          </a:prstGeom>
          <a:noFill/>
        </p:spPr>
        <p:txBody>
          <a:bodyPr wrap="square" anchor="t" lIns="0" rIns="0" tIns="0" bIns="0">
            <a:spAutoFit/>
          </a:bodyPr>
          <a:lstStyle/>
          <a:p>
            <a:pPr>
              <a:spcAft>
                <a:spcPts val="800"/>
              </a:spcAft>
            </a:pPr>
            <a:r>
              <a:rPr sz="1800" i="0" b="0">
                <a:solidFill>
                  <a:srgbClr val="1A1F36"/>
                </a:solidFill>
                <a:latin typeface="Calibri"/>
              </a:rPr>
              <a:t>Good counselling improves adherence and catches problems early. Speak to the caregiver as well as the patient. The patient may not remember the advice.</a:t>
            </a:r>
          </a:p>
          <a:p>
            <a:pPr>
              <a:spcAft>
                <a:spcPts val="800"/>
              </a:spcAft>
            </a:pPr>
            <a:r>
              <a:rPr sz="1800" i="0" b="1">
                <a:solidFill>
                  <a:srgbClr val="1A1F36"/>
                </a:solidFill>
                <a:latin typeface="Calibri"/>
              </a:rPr>
              <a:t>Starting treatment</a:t>
            </a:r>
          </a:p>
        </p:txBody>
      </p:sp>
      <p:sp>
        <p:nvSpPr>
          <p:cNvPr id="12" name="Oval 11"/>
          <p:cNvSpPr/>
          <p:nvPr/>
        </p:nvSpPr>
        <p:spPr>
          <a:xfrm>
            <a:off x="548640" y="2958084"/>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3" name="TextBox 12"/>
          <p:cNvSpPr txBox="1"/>
          <p:nvPr/>
        </p:nvSpPr>
        <p:spPr>
          <a:xfrm>
            <a:off x="1143000" y="2976372"/>
            <a:ext cx="10500055" cy="473760"/>
          </a:xfrm>
          <a:prstGeom prst="rect">
            <a:avLst/>
          </a:prstGeom>
          <a:noFill/>
        </p:spPr>
        <p:txBody>
          <a:bodyPr wrap="square" anchor="t" lIns="0" rIns="0" tIns="0" bIns="0">
            <a:spAutoFit/>
          </a:bodyPr>
          <a:lstStyle/>
          <a:p>
            <a:r>
              <a:rPr sz="2000" i="0" b="0">
                <a:solidFill>
                  <a:srgbClr val="1A1F36"/>
                </a:solidFill>
                <a:latin typeface="Calibri"/>
              </a:rPr>
              <a:t>Explain the aim: a modest, temporary help with memory and daily life.</a:t>
            </a:r>
          </a:p>
        </p:txBody>
      </p:sp>
      <p:sp>
        <p:nvSpPr>
          <p:cNvPr id="14" name="Oval 13"/>
          <p:cNvSpPr/>
          <p:nvPr/>
        </p:nvSpPr>
        <p:spPr>
          <a:xfrm>
            <a:off x="548640" y="3477564"/>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5" name="TextBox 14"/>
          <p:cNvSpPr txBox="1"/>
          <p:nvPr/>
        </p:nvSpPr>
        <p:spPr>
          <a:xfrm>
            <a:off x="1143000" y="3495852"/>
            <a:ext cx="10500055" cy="473760"/>
          </a:xfrm>
          <a:prstGeom prst="rect">
            <a:avLst/>
          </a:prstGeom>
          <a:noFill/>
        </p:spPr>
        <p:txBody>
          <a:bodyPr wrap="square" anchor="t" lIns="0" rIns="0" tIns="0" bIns="0">
            <a:spAutoFit/>
          </a:bodyPr>
          <a:lstStyle/>
          <a:p>
            <a:r>
              <a:rPr sz="2000" i="0" b="0">
                <a:solidFill>
                  <a:srgbClr val="1A1F36"/>
                </a:solidFill>
                <a:latin typeface="Calibri"/>
              </a:rPr>
              <a:t>Give the starting dose and the date of the next dose increase.</a:t>
            </a:r>
          </a:p>
        </p:txBody>
      </p:sp>
      <p:sp>
        <p:nvSpPr>
          <p:cNvPr id="16" name="Oval 15"/>
          <p:cNvSpPr/>
          <p:nvPr/>
        </p:nvSpPr>
        <p:spPr>
          <a:xfrm>
            <a:off x="548640" y="3997045"/>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7" name="TextBox 16"/>
          <p:cNvSpPr txBox="1"/>
          <p:nvPr/>
        </p:nvSpPr>
        <p:spPr>
          <a:xfrm>
            <a:off x="1143000" y="4015333"/>
            <a:ext cx="10500055" cy="791260"/>
          </a:xfrm>
          <a:prstGeom prst="rect">
            <a:avLst/>
          </a:prstGeom>
          <a:noFill/>
        </p:spPr>
        <p:txBody>
          <a:bodyPr wrap="square" anchor="t" lIns="0" rIns="0" tIns="0" bIns="0">
            <a:spAutoFit/>
          </a:bodyPr>
          <a:lstStyle/>
          <a:p>
            <a:r>
              <a:rPr sz="2000" i="0" b="0">
                <a:solidFill>
                  <a:srgbClr val="1A1F36"/>
                </a:solidFill>
                <a:latin typeface="Calibri"/>
              </a:rPr>
              <a:t>Take donepezil once daily. Some patients sleep badly or have vivid dreams; morning dosing helps.</a:t>
            </a:r>
          </a:p>
        </p:txBody>
      </p:sp>
      <p:sp>
        <p:nvSpPr>
          <p:cNvPr id="18" name="Oval 17"/>
          <p:cNvSpPr/>
          <p:nvPr/>
        </p:nvSpPr>
        <p:spPr>
          <a:xfrm>
            <a:off x="548640" y="483402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19" name="TextBox 18"/>
          <p:cNvSpPr txBox="1"/>
          <p:nvPr/>
        </p:nvSpPr>
        <p:spPr>
          <a:xfrm>
            <a:off x="1143000" y="4852314"/>
            <a:ext cx="10500055" cy="473760"/>
          </a:xfrm>
          <a:prstGeom prst="rect">
            <a:avLst/>
          </a:prstGeom>
          <a:noFill/>
        </p:spPr>
        <p:txBody>
          <a:bodyPr wrap="square" anchor="t" lIns="0" rIns="0" tIns="0" bIns="0">
            <a:spAutoFit/>
          </a:bodyPr>
          <a:lstStyle/>
          <a:p>
            <a:r>
              <a:rPr sz="2000" i="0" b="0">
                <a:solidFill>
                  <a:srgbClr val="1A1F36"/>
                </a:solidFill>
                <a:latin typeface="Calibri"/>
              </a:rPr>
              <a:t>Take rivastigmine capsules with breakfast and the evening meal.</a:t>
            </a:r>
          </a:p>
        </p:txBody>
      </p:sp>
      <p:sp>
        <p:nvSpPr>
          <p:cNvPr id="20" name="Oval 19"/>
          <p:cNvSpPr/>
          <p:nvPr/>
        </p:nvSpPr>
        <p:spPr>
          <a:xfrm>
            <a:off x="548640" y="5353507"/>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5</a:t>
            </a:r>
          </a:p>
        </p:txBody>
      </p:sp>
      <p:sp>
        <p:nvSpPr>
          <p:cNvPr id="21" name="TextBox 20"/>
          <p:cNvSpPr txBox="1"/>
          <p:nvPr/>
        </p:nvSpPr>
        <p:spPr>
          <a:xfrm>
            <a:off x="1143000" y="5371795"/>
            <a:ext cx="10500055" cy="791260"/>
          </a:xfrm>
          <a:prstGeom prst="rect">
            <a:avLst/>
          </a:prstGeom>
          <a:noFill/>
        </p:spPr>
        <p:txBody>
          <a:bodyPr wrap="square" anchor="t" lIns="0" rIns="0" tIns="0" bIns="0">
            <a:spAutoFit/>
          </a:bodyPr>
          <a:lstStyle/>
          <a:p>
            <a:r>
              <a:rPr sz="2000" i="0" b="0">
                <a:solidFill>
                  <a:srgbClr val="1A1F36"/>
                </a:solidFill>
                <a:latin typeface="Calibri"/>
              </a:rPr>
              <a:t>Apply a new rivastigmine patch each day to clean, dry, hairless skin on the back, upper arm or chest. Remove the old patch first. Change the site each day.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01</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1</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Brands in Egypt</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1  ·  Alzheimer's Disease</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17 / 25</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graphicFrame>
        <p:nvGraphicFramePr>
          <p:cNvPr id="11" name="Table 10"/>
          <p:cNvGraphicFramePr>
            <a:graphicFrameLocks noGrp="1"/>
          </p:cNvGraphicFramePr>
          <p:nvPr/>
        </p:nvGraphicFramePr>
        <p:xfrm>
          <a:off x="548640" y="1554480"/>
          <a:ext cx="11094413" cy="2560320"/>
        </p:xfrm>
        <a:graphic>
          <a:graphicData uri="http://schemas.openxmlformats.org/drawingml/2006/table">
            <a:tbl>
              <a:tblPr firstRow="0" bandRow="0">
                <a:tableStyleId>{5C22544A-7EE6-4342-B048-85BDC9FD1C3A}</a:tableStyleId>
              </a:tblPr>
              <a:tblGrid>
                <a:gridCol w="2580096"/>
                <a:gridCol w="3999149"/>
                <a:gridCol w="4515168"/>
              </a:tblGrid>
              <a:tr h="640080">
                <a:tc>
                  <a:txBody>
                    <a:bodyPr/>
                    <a:lstStyle/>
                    <a:p>
                      <a:r>
                        <a:rPr sz="1900" i="0" b="1">
                          <a:solidFill>
                            <a:srgbClr val="FFFFFF"/>
                          </a:solidFill>
                          <a:latin typeface="Calibri"/>
                        </a:rPr>
                        <a:t>Generic name</a:t>
                      </a:r>
                    </a:p>
                  </a:txBody>
                  <a:tcPr marL="109728" marR="109728" marT="45720" marB="45720" anchor="ctr">
                    <a:solidFill>
                      <a:srgbClr val="1B2A8C"/>
                    </a:solidFill>
                  </a:tcPr>
                </a:tc>
                <a:tc>
                  <a:txBody>
                    <a:bodyPr/>
                    <a:lstStyle/>
                    <a:p>
                      <a:r>
                        <a:rPr sz="1900" i="0" b="1">
                          <a:solidFill>
                            <a:srgbClr val="FFFFFF"/>
                          </a:solidFill>
                          <a:latin typeface="Calibri"/>
                        </a:rPr>
                        <a:t>Brand examples</a:t>
                      </a:r>
                    </a:p>
                  </a:txBody>
                  <a:tcPr marL="109728" marR="109728" marT="45720" marB="45720" anchor="ctr">
                    <a:solidFill>
                      <a:srgbClr val="1B2A8C"/>
                    </a:solidFill>
                  </a:tcPr>
                </a:tc>
                <a:tc>
                  <a:txBody>
                    <a:bodyPr/>
                    <a:lstStyle/>
                    <a:p>
                      <a:r>
                        <a:rPr sz="1900" i="0" b="1">
                          <a:solidFill>
                            <a:srgbClr val="FFFFFF"/>
                          </a:solidFill>
                          <a:latin typeface="Calibri"/>
                        </a:rPr>
                        <a:t>Dosage forms</a:t>
                      </a:r>
                    </a:p>
                  </a:txBody>
                  <a:tcPr marL="109728" marR="109728" marT="45720" marB="45720" anchor="ctr">
                    <a:solidFill>
                      <a:srgbClr val="1B2A8C"/>
                    </a:solidFill>
                  </a:tcPr>
                </a:tc>
              </a:tr>
              <a:tr h="640080">
                <a:tc>
                  <a:txBody>
                    <a:bodyPr/>
                    <a:lstStyle/>
                    <a:p>
                      <a:r>
                        <a:rPr sz="2000" i="0" b="1">
                          <a:solidFill>
                            <a:srgbClr val="1A1F36"/>
                          </a:solidFill>
                          <a:latin typeface="Calibri"/>
                        </a:rPr>
                        <a:t>Donepezil</a:t>
                      </a:r>
                    </a:p>
                  </a:txBody>
                  <a:tcPr marL="109728" marR="109728" marT="45720" marB="45720" anchor="ctr">
                    <a:solidFill>
                      <a:srgbClr val="FFFFFF"/>
                    </a:solidFill>
                  </a:tcPr>
                </a:tc>
                <a:tc>
                  <a:txBody>
                    <a:bodyPr/>
                    <a:lstStyle/>
                    <a:p>
                      <a:r>
                        <a:rPr sz="2000" i="0" b="0">
                          <a:solidFill>
                            <a:srgbClr val="1A1F36"/>
                          </a:solidFill>
                          <a:latin typeface="Calibri"/>
                        </a:rPr>
                        <a:t>Aricept</a:t>
                      </a:r>
                    </a:p>
                  </a:txBody>
                  <a:tcPr marL="109728" marR="109728" marT="45720" marB="45720" anchor="ctr">
                    <a:solidFill>
                      <a:srgbClr val="FFFFFF"/>
                    </a:solidFill>
                  </a:tcPr>
                </a:tc>
                <a:tc>
                  <a:txBody>
                    <a:bodyPr/>
                    <a:lstStyle/>
                    <a:p>
                      <a:r>
                        <a:rPr sz="2000" i="0" b="0">
                          <a:solidFill>
                            <a:srgbClr val="1A1F36"/>
                          </a:solidFill>
                          <a:latin typeface="Calibri"/>
                        </a:rPr>
                        <a:t>Tablets</a:t>
                      </a:r>
                    </a:p>
                  </a:txBody>
                  <a:tcPr marL="109728" marR="109728" marT="45720" marB="45720" anchor="ctr">
                    <a:solidFill>
                      <a:srgbClr val="FFFFFF"/>
                    </a:solidFill>
                  </a:tcPr>
                </a:tc>
              </a:tr>
              <a:tr h="640080">
                <a:tc>
                  <a:txBody>
                    <a:bodyPr/>
                    <a:lstStyle/>
                    <a:p>
                      <a:r>
                        <a:rPr sz="2000" i="0" b="1">
                          <a:solidFill>
                            <a:srgbClr val="1A1F36"/>
                          </a:solidFill>
                          <a:latin typeface="Calibri"/>
                        </a:rPr>
                        <a:t>Rivastigmine</a:t>
                      </a:r>
                    </a:p>
                  </a:txBody>
                  <a:tcPr marL="109728" marR="109728" marT="45720" marB="45720" anchor="ctr">
                    <a:solidFill>
                      <a:srgbClr val="F1F2F8"/>
                    </a:solidFill>
                  </a:tcPr>
                </a:tc>
                <a:tc>
                  <a:txBody>
                    <a:bodyPr/>
                    <a:lstStyle/>
                    <a:p>
                      <a:r>
                        <a:rPr sz="2000" i="0" b="0">
                          <a:solidFill>
                            <a:srgbClr val="1A1F36"/>
                          </a:solidFill>
                          <a:latin typeface="Calibri"/>
                        </a:rPr>
                        <a:t>Exelon</a:t>
                      </a:r>
                    </a:p>
                  </a:txBody>
                  <a:tcPr marL="109728" marR="109728" marT="45720" marB="45720" anchor="ctr">
                    <a:solidFill>
                      <a:srgbClr val="F1F2F8"/>
                    </a:solidFill>
                  </a:tcPr>
                </a:tc>
                <a:tc>
                  <a:txBody>
                    <a:bodyPr/>
                    <a:lstStyle/>
                    <a:p>
                      <a:r>
                        <a:rPr sz="2000" i="0" b="0">
                          <a:solidFill>
                            <a:srgbClr val="1A1F36"/>
                          </a:solidFill>
                          <a:latin typeface="Calibri"/>
                        </a:rPr>
                        <a:t>Capsules, transdermal patch</a:t>
                      </a:r>
                    </a:p>
                  </a:txBody>
                  <a:tcPr marL="109728" marR="109728" marT="45720" marB="45720" anchor="ctr">
                    <a:solidFill>
                      <a:srgbClr val="F1F2F8"/>
                    </a:solidFill>
                  </a:tcPr>
                </a:tc>
              </a:tr>
              <a:tr h="640080">
                <a:tc>
                  <a:txBody>
                    <a:bodyPr/>
                    <a:lstStyle/>
                    <a:p>
                      <a:r>
                        <a:rPr sz="2000" i="0" b="1">
                          <a:solidFill>
                            <a:srgbClr val="1A1F36"/>
                          </a:solidFill>
                          <a:latin typeface="Calibri"/>
                        </a:rPr>
                        <a:t>Memantine</a:t>
                      </a:r>
                    </a:p>
                  </a:txBody>
                  <a:tcPr marL="109728" marR="109728" marT="45720" marB="45720" anchor="ctr">
                    <a:solidFill>
                      <a:srgbClr val="FFFFFF"/>
                    </a:solidFill>
                  </a:tcPr>
                </a:tc>
                <a:tc>
                  <a:txBody>
                    <a:bodyPr/>
                    <a:lstStyle/>
                    <a:p>
                      <a:r>
                        <a:rPr sz="2000" i="0" b="0">
                          <a:solidFill>
                            <a:srgbClr val="1A1F36"/>
                          </a:solidFill>
                          <a:latin typeface="Calibri"/>
                        </a:rPr>
                        <a:t>Ebixa, Alzmenda, Memexa</a:t>
                      </a:r>
                    </a:p>
                  </a:txBody>
                  <a:tcPr marL="109728" marR="109728" marT="45720" marB="45720" anchor="ctr">
                    <a:solidFill>
                      <a:srgbClr val="FFFFFF"/>
                    </a:solidFill>
                  </a:tcPr>
                </a:tc>
                <a:tc>
                  <a:txBody>
                    <a:bodyPr/>
                    <a:lstStyle/>
                    <a:p>
                      <a:r>
                        <a:rPr sz="2000" i="0" b="0">
                          <a:solidFill>
                            <a:srgbClr val="1A1F36"/>
                          </a:solidFill>
                          <a:latin typeface="Calibri"/>
                        </a:rPr>
                        <a:t>Tablets</a:t>
                      </a:r>
                    </a:p>
                  </a:txBody>
                  <a:tcPr marL="109728" marR="109728" marT="45720" marB="45720" anchor="ctr">
                    <a:solidFill>
                      <a:srgbClr val="FFFFFF"/>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01</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1</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For Discussion</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1  ·  Alzheimer's Disease</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18 / 25</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sp>
        <p:nvSpPr>
          <p:cNvPr id="11" name="Oval 10"/>
          <p:cNvSpPr/>
          <p:nvPr/>
        </p:nvSpPr>
        <p:spPr>
          <a:xfrm>
            <a:off x="548640"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2" name="TextBox 11"/>
          <p:cNvSpPr txBox="1"/>
          <p:nvPr/>
        </p:nvSpPr>
        <p:spPr>
          <a:xfrm>
            <a:off x="1143000" y="1591056"/>
            <a:ext cx="10500055" cy="1142237"/>
          </a:xfrm>
          <a:prstGeom prst="rect">
            <a:avLst/>
          </a:prstGeom>
          <a:noFill/>
        </p:spPr>
        <p:txBody>
          <a:bodyPr wrap="square" anchor="t" lIns="0" rIns="0" tIns="0" bIns="0">
            <a:spAutoFit/>
          </a:bodyPr>
          <a:lstStyle/>
          <a:p>
            <a:r>
              <a:rPr sz="2100" i="0" b="0">
                <a:solidFill>
                  <a:srgbClr val="1A1F36"/>
                </a:solidFill>
                <a:latin typeface="Calibri"/>
              </a:rPr>
              <a:t>A daughter asks why her father's memory is still getting worse after 6 months on donepezil. How do you explain what the drug can and cannot do?</a:t>
            </a:r>
          </a:p>
        </p:txBody>
      </p:sp>
      <p:sp>
        <p:nvSpPr>
          <p:cNvPr id="13" name="Oval 12"/>
          <p:cNvSpPr/>
          <p:nvPr/>
        </p:nvSpPr>
        <p:spPr>
          <a:xfrm>
            <a:off x="548640" y="276072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4" name="TextBox 13"/>
          <p:cNvSpPr txBox="1"/>
          <p:nvPr/>
        </p:nvSpPr>
        <p:spPr>
          <a:xfrm>
            <a:off x="1143000" y="2779014"/>
            <a:ext cx="10500055" cy="1142237"/>
          </a:xfrm>
          <a:prstGeom prst="rect">
            <a:avLst/>
          </a:prstGeom>
          <a:noFill/>
        </p:spPr>
        <p:txBody>
          <a:bodyPr wrap="square" anchor="t" lIns="0" rIns="0" tIns="0" bIns="0">
            <a:spAutoFit/>
          </a:bodyPr>
          <a:lstStyle/>
          <a:p>
            <a:r>
              <a:rPr sz="2100" i="0" b="0">
                <a:solidFill>
                  <a:srgbClr val="1A1F36"/>
                </a:solidFill>
                <a:latin typeface="Calibri"/>
              </a:rPr>
              <a:t>An 80-year-old woman on donepezil starts bisoprolol and faints. What happened, and what would you recommend?</a:t>
            </a:r>
          </a:p>
        </p:txBody>
      </p:sp>
      <p:sp>
        <p:nvSpPr>
          <p:cNvPr id="15" name="Oval 14"/>
          <p:cNvSpPr/>
          <p:nvPr/>
        </p:nvSpPr>
        <p:spPr>
          <a:xfrm>
            <a:off x="548640" y="3948683"/>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6" name="TextBox 15"/>
          <p:cNvSpPr txBox="1"/>
          <p:nvPr/>
        </p:nvSpPr>
        <p:spPr>
          <a:xfrm>
            <a:off x="1143000" y="3966971"/>
            <a:ext cx="10500055" cy="1142237"/>
          </a:xfrm>
          <a:prstGeom prst="rect">
            <a:avLst/>
          </a:prstGeom>
          <a:noFill/>
        </p:spPr>
        <p:txBody>
          <a:bodyPr wrap="square" anchor="t" lIns="0" rIns="0" tIns="0" bIns="0">
            <a:spAutoFit/>
          </a:bodyPr>
          <a:lstStyle/>
          <a:p>
            <a:r>
              <a:rPr sz="2100" i="0" b="0">
                <a:solidFill>
                  <a:srgbClr val="1A1F36"/>
                </a:solidFill>
                <a:latin typeface="Calibri"/>
              </a:rPr>
              <a:t>Why is an SSRI a better choice than amitriptyline for depression in a patient with Alzheimer's disease?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01</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1  ·  QUESTION 1 OF 3</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Your turn</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1  ·  Alzheimer's Disease</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19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TextBox 10"/>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Modest improvement in memory in Alzheimer's disease can occur with drugs that increase transmission at which receptors?</a:t>
            </a:r>
          </a:p>
        </p:txBody>
      </p:sp>
      <p:sp>
        <p:nvSpPr>
          <p:cNvPr id="12" name="Rounded Rectangle 11"/>
          <p:cNvSpPr/>
          <p:nvPr/>
        </p:nvSpPr>
        <p:spPr>
          <a:xfrm>
            <a:off x="548640" y="2697480"/>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4" name="TextBox 13"/>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Adrenergic</a:t>
            </a:r>
          </a:p>
        </p:txBody>
      </p:sp>
      <p:sp>
        <p:nvSpPr>
          <p:cNvPr id="15" name="Rounded Rectangle 14"/>
          <p:cNvSpPr/>
          <p:nvPr/>
        </p:nvSpPr>
        <p:spPr>
          <a:xfrm>
            <a:off x="548640" y="3465576"/>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7" name="TextBox 16"/>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Cholinergic</a:t>
            </a:r>
          </a:p>
        </p:txBody>
      </p:sp>
      <p:sp>
        <p:nvSpPr>
          <p:cNvPr id="18" name="Rounded Rectangle 17"/>
          <p:cNvSpPr/>
          <p:nvPr/>
        </p:nvSpPr>
        <p:spPr>
          <a:xfrm>
            <a:off x="548640" y="4233672"/>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20" name="TextBox 19"/>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Dopaminergic</a:t>
            </a:r>
          </a:p>
        </p:txBody>
      </p:sp>
      <p:sp>
        <p:nvSpPr>
          <p:cNvPr id="21" name="Rounded Rectangle 20"/>
          <p:cNvSpPr/>
          <p:nvPr/>
        </p:nvSpPr>
        <p:spPr>
          <a:xfrm>
            <a:off x="548640" y="5001768"/>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3" name="TextBox 22"/>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GABAergic</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01</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1  ·  QUESTION 1 OF 3  ·  ANSWER</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Check your answer</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1  ·  Alzheimer's Disease</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20 / 25</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sp>
        <p:nvSpPr>
          <p:cNvPr id="11" name="TextBox 10"/>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Modest improvement in memory in Alzheimer's disease can occur with drugs that increase transmission at which receptors?</a:t>
            </a:r>
          </a:p>
        </p:txBody>
      </p:sp>
      <p:sp>
        <p:nvSpPr>
          <p:cNvPr id="12" name="Rounded Rectangle 11"/>
          <p:cNvSpPr/>
          <p:nvPr/>
        </p:nvSpPr>
        <p:spPr>
          <a:xfrm>
            <a:off x="548640" y="2606040"/>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2670048"/>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A</a:t>
            </a:r>
          </a:p>
        </p:txBody>
      </p:sp>
      <p:sp>
        <p:nvSpPr>
          <p:cNvPr id="14" name="TextBox 13"/>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5A6072"/>
                </a:solidFill>
                <a:latin typeface="Calibri"/>
              </a:rPr>
              <a:t>Adrenergic</a:t>
            </a:r>
          </a:p>
        </p:txBody>
      </p:sp>
      <p:sp>
        <p:nvSpPr>
          <p:cNvPr id="15" name="Rounded Rectangle 14"/>
          <p:cNvSpPr/>
          <p:nvPr/>
        </p:nvSpPr>
        <p:spPr>
          <a:xfrm>
            <a:off x="548640" y="3282696"/>
            <a:ext cx="11094415" cy="548640"/>
          </a:xfrm>
          <a:prstGeom prst="roundRect">
            <a:avLst>
              <a:gd name="adj" fmla="val 18000"/>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3346703"/>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B</a:t>
            </a:r>
          </a:p>
        </p:txBody>
      </p:sp>
      <p:sp>
        <p:nvSpPr>
          <p:cNvPr id="17" name="TextBox 16"/>
          <p:cNvSpPr txBox="1"/>
          <p:nvPr/>
        </p:nvSpPr>
        <p:spPr>
          <a:xfrm>
            <a:off x="1371600" y="3282696"/>
            <a:ext cx="10088575" cy="548640"/>
          </a:xfrm>
          <a:prstGeom prst="rect">
            <a:avLst/>
          </a:prstGeom>
          <a:noFill/>
        </p:spPr>
        <p:txBody>
          <a:bodyPr wrap="square" anchor="ctr" lIns="0" rIns="0" tIns="0" bIns="0">
            <a:spAutoFit/>
          </a:bodyPr>
          <a:lstStyle/>
          <a:p>
            <a:r>
              <a:rPr sz="1900" i="0" b="1">
                <a:solidFill>
                  <a:srgbClr val="FFFFFF"/>
                </a:solidFill>
                <a:latin typeface="Calibri"/>
              </a:rPr>
              <a:t>Cholinergic</a:t>
            </a:r>
          </a:p>
        </p:txBody>
      </p:sp>
      <p:sp>
        <p:nvSpPr>
          <p:cNvPr id="18" name="Rounded Rectangle 17"/>
          <p:cNvSpPr/>
          <p:nvPr/>
        </p:nvSpPr>
        <p:spPr>
          <a:xfrm>
            <a:off x="548640" y="3959352"/>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20" name="TextBox 19"/>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Dopaminergic</a:t>
            </a:r>
          </a:p>
        </p:txBody>
      </p:sp>
      <p:sp>
        <p:nvSpPr>
          <p:cNvPr id="21" name="Rounded Rectangle 20"/>
          <p:cNvSpPr/>
          <p:nvPr/>
        </p:nvSpPr>
        <p:spPr>
          <a:xfrm>
            <a:off x="548640" y="4636008"/>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3" name="TextBox 22"/>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GABAergic</a:t>
            </a:r>
          </a:p>
        </p:txBody>
      </p:sp>
      <p:sp>
        <p:nvSpPr>
          <p:cNvPr id="24" name="TextBox 23"/>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26227"/>
                </a:solidFill>
                <a:latin typeface="Calibri"/>
              </a:rPr>
              <a:t>Why:  </a:t>
            </a:r>
            <a:r>
              <a:rPr sz="1500" i="0" b="0">
                <a:solidFill>
                  <a:srgbClr val="1A1F36"/>
                </a:solidFill>
                <a:latin typeface="Calibri"/>
              </a:rPr>
              <a:t>Cholinesterase inhibitors raise acetylcholine and improve memory modestly. A, C and D do not improve memory in Alzheimer's disease.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01</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1  ·  QUESTION 2 OF 3</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Your turn</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1  ·  Alzheimer's Disease</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21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TextBox 10"/>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Which drug blocks glutamate NMDA receptors and can be combined with a cholinesterase inhibitor?</a:t>
            </a:r>
          </a:p>
        </p:txBody>
      </p:sp>
      <p:sp>
        <p:nvSpPr>
          <p:cNvPr id="12" name="Rounded Rectangle 11"/>
          <p:cNvSpPr/>
          <p:nvPr/>
        </p:nvSpPr>
        <p:spPr>
          <a:xfrm>
            <a:off x="548640" y="2697480"/>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4" name="TextBox 13"/>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Rivastigmine</a:t>
            </a:r>
          </a:p>
        </p:txBody>
      </p:sp>
      <p:sp>
        <p:nvSpPr>
          <p:cNvPr id="15" name="Rounded Rectangle 14"/>
          <p:cNvSpPr/>
          <p:nvPr/>
        </p:nvSpPr>
        <p:spPr>
          <a:xfrm>
            <a:off x="548640" y="3465576"/>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7" name="TextBox 16"/>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Ropinirole</a:t>
            </a:r>
          </a:p>
        </p:txBody>
      </p:sp>
      <p:sp>
        <p:nvSpPr>
          <p:cNvPr id="18" name="Rounded Rectangle 17"/>
          <p:cNvSpPr/>
          <p:nvPr/>
        </p:nvSpPr>
        <p:spPr>
          <a:xfrm>
            <a:off x="548640" y="4233672"/>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20" name="TextBox 19"/>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Fluoxetine</a:t>
            </a:r>
          </a:p>
        </p:txBody>
      </p:sp>
      <p:sp>
        <p:nvSpPr>
          <p:cNvPr id="21" name="Rounded Rectangle 20"/>
          <p:cNvSpPr/>
          <p:nvPr/>
        </p:nvSpPr>
        <p:spPr>
          <a:xfrm>
            <a:off x="548640" y="5001768"/>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3" name="TextBox 22"/>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Memantine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01</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1  ·  QUESTION 2 OF 3  ·  ANSWER</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Check your answer</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1  ·  Alzheimer's Disease</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22 / 25</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sp>
        <p:nvSpPr>
          <p:cNvPr id="11" name="TextBox 10"/>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Which drug blocks glutamate NMDA receptors and can be combined with a cholinesterase inhibitor?</a:t>
            </a:r>
          </a:p>
        </p:txBody>
      </p:sp>
      <p:sp>
        <p:nvSpPr>
          <p:cNvPr id="12" name="Rounded Rectangle 11"/>
          <p:cNvSpPr/>
          <p:nvPr/>
        </p:nvSpPr>
        <p:spPr>
          <a:xfrm>
            <a:off x="548640" y="2606040"/>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2670048"/>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A</a:t>
            </a:r>
          </a:p>
        </p:txBody>
      </p:sp>
      <p:sp>
        <p:nvSpPr>
          <p:cNvPr id="14" name="TextBox 13"/>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5A6072"/>
                </a:solidFill>
                <a:latin typeface="Calibri"/>
              </a:rPr>
              <a:t>Rivastigmine</a:t>
            </a:r>
          </a:p>
        </p:txBody>
      </p:sp>
      <p:sp>
        <p:nvSpPr>
          <p:cNvPr id="15" name="Rounded Rectangle 14"/>
          <p:cNvSpPr/>
          <p:nvPr/>
        </p:nvSpPr>
        <p:spPr>
          <a:xfrm>
            <a:off x="548640" y="3282696"/>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7" name="TextBox 16"/>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Ropinirole</a:t>
            </a:r>
          </a:p>
        </p:txBody>
      </p:sp>
      <p:sp>
        <p:nvSpPr>
          <p:cNvPr id="18" name="Rounded Rectangle 17"/>
          <p:cNvSpPr/>
          <p:nvPr/>
        </p:nvSpPr>
        <p:spPr>
          <a:xfrm>
            <a:off x="548640" y="3959352"/>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20" name="TextBox 19"/>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Fluoxetine</a:t>
            </a:r>
          </a:p>
        </p:txBody>
      </p:sp>
      <p:sp>
        <p:nvSpPr>
          <p:cNvPr id="21" name="Rounded Rectangle 20"/>
          <p:cNvSpPr/>
          <p:nvPr/>
        </p:nvSpPr>
        <p:spPr>
          <a:xfrm>
            <a:off x="548640" y="4636008"/>
            <a:ext cx="11094415" cy="548640"/>
          </a:xfrm>
          <a:prstGeom prst="roundRect">
            <a:avLst>
              <a:gd name="adj" fmla="val 18000"/>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13232" y="4700016"/>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D</a:t>
            </a:r>
          </a:p>
        </p:txBody>
      </p:sp>
      <p:sp>
        <p:nvSpPr>
          <p:cNvPr id="23" name="TextBox 22"/>
          <p:cNvSpPr txBox="1"/>
          <p:nvPr/>
        </p:nvSpPr>
        <p:spPr>
          <a:xfrm>
            <a:off x="1371600" y="4636008"/>
            <a:ext cx="10088575" cy="548640"/>
          </a:xfrm>
          <a:prstGeom prst="rect">
            <a:avLst/>
          </a:prstGeom>
          <a:noFill/>
        </p:spPr>
        <p:txBody>
          <a:bodyPr wrap="square" anchor="ctr" lIns="0" rIns="0" tIns="0" bIns="0">
            <a:spAutoFit/>
          </a:bodyPr>
          <a:lstStyle/>
          <a:p>
            <a:r>
              <a:rPr sz="1900" i="0" b="1">
                <a:solidFill>
                  <a:srgbClr val="FFFFFF"/>
                </a:solidFill>
                <a:latin typeface="Calibri"/>
              </a:rPr>
              <a:t>Memantine</a:t>
            </a:r>
          </a:p>
        </p:txBody>
      </p:sp>
      <p:sp>
        <p:nvSpPr>
          <p:cNvPr id="24" name="TextBox 23"/>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26227"/>
                </a:solidFill>
                <a:latin typeface="Calibri"/>
              </a:rPr>
              <a:t>Why:  </a:t>
            </a:r>
            <a:r>
              <a:rPr sz="1500" i="0" b="0">
                <a:solidFill>
                  <a:srgbClr val="1A1F36"/>
                </a:solidFill>
                <a:latin typeface="Calibri"/>
              </a:rPr>
              <a:t>Memantine is an NMDA receptor antagonist and is often added to a cholinesterase inhibitor. A is a cholinesterase inhibitor. B is a dopamine agonist. C is an SSRI.</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01</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1  ·  QUESTION 3 OF 3</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Your turn</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1  ·  Alzheimer's Disease</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23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TextBox 10"/>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Which statement about donepezil is correct?</a:t>
            </a:r>
          </a:p>
        </p:txBody>
      </p:sp>
      <p:sp>
        <p:nvSpPr>
          <p:cNvPr id="12" name="Rounded Rectangle 11"/>
          <p:cNvSpPr/>
          <p:nvPr/>
        </p:nvSpPr>
        <p:spPr>
          <a:xfrm>
            <a:off x="548640" y="2697480"/>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4" name="TextBox 13"/>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It removes amyloid plaques.</a:t>
            </a:r>
          </a:p>
        </p:txBody>
      </p:sp>
      <p:sp>
        <p:nvSpPr>
          <p:cNvPr id="15" name="Rounded Rectangle 14"/>
          <p:cNvSpPr/>
          <p:nvPr/>
        </p:nvSpPr>
        <p:spPr>
          <a:xfrm>
            <a:off x="548640" y="3465576"/>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7" name="TextBox 16"/>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It gives modest symptomatic benefit.</a:t>
            </a:r>
          </a:p>
        </p:txBody>
      </p:sp>
      <p:sp>
        <p:nvSpPr>
          <p:cNvPr id="18" name="Rounded Rectangle 17"/>
          <p:cNvSpPr/>
          <p:nvPr/>
        </p:nvSpPr>
        <p:spPr>
          <a:xfrm>
            <a:off x="548640" y="4233672"/>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20" name="TextBox 19"/>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It reverses neuron loss.</a:t>
            </a:r>
          </a:p>
        </p:txBody>
      </p:sp>
      <p:sp>
        <p:nvSpPr>
          <p:cNvPr id="21" name="Rounded Rectangle 20"/>
          <p:cNvSpPr/>
          <p:nvPr/>
        </p:nvSpPr>
        <p:spPr>
          <a:xfrm>
            <a:off x="548640" y="5001768"/>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3" name="TextBox 22"/>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It stops disease progression.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01</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1  ·  QUESTION 3 OF 3  ·  ANSWER</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Check your answer</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1  ·  Alzheimer's Disease</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24 / 25</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sp>
        <p:nvSpPr>
          <p:cNvPr id="11" name="TextBox 10"/>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Which statement about donepezil is correct?</a:t>
            </a:r>
          </a:p>
        </p:txBody>
      </p:sp>
      <p:sp>
        <p:nvSpPr>
          <p:cNvPr id="12" name="Rounded Rectangle 11"/>
          <p:cNvSpPr/>
          <p:nvPr/>
        </p:nvSpPr>
        <p:spPr>
          <a:xfrm>
            <a:off x="548640" y="2606040"/>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2670048"/>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A</a:t>
            </a:r>
          </a:p>
        </p:txBody>
      </p:sp>
      <p:sp>
        <p:nvSpPr>
          <p:cNvPr id="14" name="TextBox 13"/>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5A6072"/>
                </a:solidFill>
                <a:latin typeface="Calibri"/>
              </a:rPr>
              <a:t>It removes amyloid plaques.</a:t>
            </a:r>
          </a:p>
        </p:txBody>
      </p:sp>
      <p:sp>
        <p:nvSpPr>
          <p:cNvPr id="15" name="Rounded Rectangle 14"/>
          <p:cNvSpPr/>
          <p:nvPr/>
        </p:nvSpPr>
        <p:spPr>
          <a:xfrm>
            <a:off x="548640" y="3282696"/>
            <a:ext cx="11094415" cy="548640"/>
          </a:xfrm>
          <a:prstGeom prst="roundRect">
            <a:avLst>
              <a:gd name="adj" fmla="val 18000"/>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3346703"/>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B</a:t>
            </a:r>
          </a:p>
        </p:txBody>
      </p:sp>
      <p:sp>
        <p:nvSpPr>
          <p:cNvPr id="17" name="TextBox 16"/>
          <p:cNvSpPr txBox="1"/>
          <p:nvPr/>
        </p:nvSpPr>
        <p:spPr>
          <a:xfrm>
            <a:off x="1371600" y="3282696"/>
            <a:ext cx="10088575" cy="548640"/>
          </a:xfrm>
          <a:prstGeom prst="rect">
            <a:avLst/>
          </a:prstGeom>
          <a:noFill/>
        </p:spPr>
        <p:txBody>
          <a:bodyPr wrap="square" anchor="ctr" lIns="0" rIns="0" tIns="0" bIns="0">
            <a:spAutoFit/>
          </a:bodyPr>
          <a:lstStyle/>
          <a:p>
            <a:r>
              <a:rPr sz="1900" i="0" b="1">
                <a:solidFill>
                  <a:srgbClr val="FFFFFF"/>
                </a:solidFill>
                <a:latin typeface="Calibri"/>
              </a:rPr>
              <a:t>It gives modest symptomatic benefit.</a:t>
            </a:r>
          </a:p>
        </p:txBody>
      </p:sp>
      <p:sp>
        <p:nvSpPr>
          <p:cNvPr id="18" name="Rounded Rectangle 17"/>
          <p:cNvSpPr/>
          <p:nvPr/>
        </p:nvSpPr>
        <p:spPr>
          <a:xfrm>
            <a:off x="548640" y="3959352"/>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20" name="TextBox 19"/>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It reverses neuron loss.</a:t>
            </a:r>
          </a:p>
        </p:txBody>
      </p:sp>
      <p:sp>
        <p:nvSpPr>
          <p:cNvPr id="21" name="Rounded Rectangle 20"/>
          <p:cNvSpPr/>
          <p:nvPr/>
        </p:nvSpPr>
        <p:spPr>
          <a:xfrm>
            <a:off x="548640" y="4636008"/>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3" name="TextBox 22"/>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It stops disease progression.</a:t>
            </a:r>
          </a:p>
        </p:txBody>
      </p:sp>
      <p:sp>
        <p:nvSpPr>
          <p:cNvPr id="24" name="TextBox 23"/>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26227"/>
                </a:solidFill>
                <a:latin typeface="Calibri"/>
              </a:rPr>
              <a:t>Why:  </a:t>
            </a:r>
            <a:r>
              <a:rPr sz="1500" i="0" b="0">
                <a:solidFill>
                  <a:srgbClr val="1A1F36"/>
                </a:solidFill>
                <a:latin typeface="Calibri"/>
              </a:rPr>
              <a:t>Donepezil is symptomatic. A describes anti-amyloid antibodies. C and D are false.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B2A8C"/>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48640" y="502920"/>
            <a:ext cx="7315200" cy="365760"/>
          </a:xfrm>
          <a:prstGeom prst="rect">
            <a:avLst/>
          </a:prstGeom>
          <a:noFill/>
        </p:spPr>
        <p:txBody>
          <a:bodyPr wrap="square" anchor="t" lIns="0" rIns="0" tIns="0" bIns="0">
            <a:spAutoFit/>
          </a:bodyPr>
          <a:lstStyle/>
          <a:p>
            <a:r>
              <a:rPr sz="1300" i="0" b="1" spc="200">
                <a:solidFill>
                  <a:srgbClr val="DFE1EF"/>
                </a:solidFill>
                <a:latin typeface="Calibri"/>
              </a:rPr>
              <a:t>SECTION 1  ·  SUMMARY</a:t>
            </a:r>
          </a:p>
        </p:txBody>
      </p:sp>
      <p:sp>
        <p:nvSpPr>
          <p:cNvPr id="4" name="TextBox 3"/>
          <p:cNvSpPr txBox="1"/>
          <p:nvPr/>
        </p:nvSpPr>
        <p:spPr>
          <a:xfrm>
            <a:off x="548640" y="822960"/>
            <a:ext cx="9144000" cy="731520"/>
          </a:xfrm>
          <a:prstGeom prst="rect">
            <a:avLst/>
          </a:prstGeom>
          <a:noFill/>
        </p:spPr>
        <p:txBody>
          <a:bodyPr wrap="square" anchor="t" lIns="0" rIns="0" tIns="0" bIns="0">
            <a:spAutoFit/>
          </a:bodyPr>
          <a:lstStyle/>
          <a:p>
            <a:r>
              <a:rPr sz="3600" i="0" b="1">
                <a:solidFill>
                  <a:srgbClr val="FFFFFF"/>
                </a:solidFill>
                <a:latin typeface="Cambria"/>
              </a:rPr>
              <a:t>Key Takeaways</a:t>
            </a:r>
          </a:p>
        </p:txBody>
      </p:sp>
      <p:sp>
        <p:nvSpPr>
          <p:cNvPr id="5" name="Oval 4"/>
          <p:cNvSpPr/>
          <p:nvPr/>
        </p:nvSpPr>
        <p:spPr>
          <a:xfrm>
            <a:off x="548640" y="1847088"/>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1</a:t>
            </a:r>
          </a:p>
        </p:txBody>
      </p:sp>
      <p:sp>
        <p:nvSpPr>
          <p:cNvPr id="6" name="TextBox 5"/>
          <p:cNvSpPr txBox="1"/>
          <p:nvPr/>
        </p:nvSpPr>
        <p:spPr>
          <a:xfrm>
            <a:off x="1143000" y="1865376"/>
            <a:ext cx="10500055" cy="468992"/>
          </a:xfrm>
          <a:prstGeom prst="rect">
            <a:avLst/>
          </a:prstGeom>
          <a:noFill/>
        </p:spPr>
        <p:txBody>
          <a:bodyPr wrap="square" anchor="t" lIns="0" rIns="0" tIns="0" bIns="0">
            <a:spAutoFit/>
          </a:bodyPr>
          <a:lstStyle/>
          <a:p>
            <a:r>
              <a:rPr sz="1900" i="0" b="0">
                <a:solidFill>
                  <a:srgbClr val="FFFFFF"/>
                </a:solidFill>
                <a:latin typeface="Calibri"/>
              </a:rPr>
              <a:t>Alzheimer's disease causes loss of cholinergic neurons and harmful glutamate activity.</a:t>
            </a:r>
          </a:p>
        </p:txBody>
      </p:sp>
      <p:sp>
        <p:nvSpPr>
          <p:cNvPr id="7" name="Oval 6"/>
          <p:cNvSpPr/>
          <p:nvPr/>
        </p:nvSpPr>
        <p:spPr>
          <a:xfrm>
            <a:off x="548640" y="2361800"/>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2</a:t>
            </a:r>
          </a:p>
        </p:txBody>
      </p:sp>
      <p:sp>
        <p:nvSpPr>
          <p:cNvPr id="8" name="TextBox 7"/>
          <p:cNvSpPr txBox="1"/>
          <p:nvPr/>
        </p:nvSpPr>
        <p:spPr>
          <a:xfrm>
            <a:off x="1143000" y="2380088"/>
            <a:ext cx="10500055" cy="770617"/>
          </a:xfrm>
          <a:prstGeom prst="rect">
            <a:avLst/>
          </a:prstGeom>
          <a:noFill/>
        </p:spPr>
        <p:txBody>
          <a:bodyPr wrap="square" anchor="t" lIns="0" rIns="0" tIns="0" bIns="0">
            <a:spAutoFit/>
          </a:bodyPr>
          <a:lstStyle/>
          <a:p>
            <a:r>
              <a:rPr sz="1900" i="0" b="0">
                <a:solidFill>
                  <a:srgbClr val="FFFFFF"/>
                </a:solidFill>
                <a:latin typeface="Calibri"/>
              </a:rPr>
              <a:t>Cholinesterase inhibitors raise brain acetylcholine; memantine blocks excessive NMDA receptor activity.</a:t>
            </a:r>
          </a:p>
        </p:txBody>
      </p:sp>
      <p:sp>
        <p:nvSpPr>
          <p:cNvPr id="9" name="Oval 8"/>
          <p:cNvSpPr/>
          <p:nvPr/>
        </p:nvSpPr>
        <p:spPr>
          <a:xfrm>
            <a:off x="548640" y="3178138"/>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3</a:t>
            </a:r>
          </a:p>
        </p:txBody>
      </p:sp>
      <p:sp>
        <p:nvSpPr>
          <p:cNvPr id="10" name="TextBox 9"/>
          <p:cNvSpPr txBox="1"/>
          <p:nvPr/>
        </p:nvSpPr>
        <p:spPr>
          <a:xfrm>
            <a:off x="1143000" y="3196426"/>
            <a:ext cx="10500055" cy="468992"/>
          </a:xfrm>
          <a:prstGeom prst="rect">
            <a:avLst/>
          </a:prstGeom>
          <a:noFill/>
        </p:spPr>
        <p:txBody>
          <a:bodyPr wrap="square" anchor="t" lIns="0" rIns="0" tIns="0" bIns="0">
            <a:spAutoFit/>
          </a:bodyPr>
          <a:lstStyle/>
          <a:p>
            <a:r>
              <a:rPr sz="1900" i="0" b="0">
                <a:solidFill>
                  <a:srgbClr val="FFFFFF"/>
                </a:solidFill>
                <a:latin typeface="Calibri"/>
              </a:rPr>
              <a:t>Standard drugs give modest symptomatic benefit and do not stop the disease.</a:t>
            </a:r>
          </a:p>
        </p:txBody>
      </p:sp>
      <p:sp>
        <p:nvSpPr>
          <p:cNvPr id="11" name="Oval 10"/>
          <p:cNvSpPr/>
          <p:nvPr/>
        </p:nvSpPr>
        <p:spPr>
          <a:xfrm>
            <a:off x="548640" y="3692851"/>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4</a:t>
            </a:r>
          </a:p>
        </p:txBody>
      </p:sp>
      <p:sp>
        <p:nvSpPr>
          <p:cNvPr id="12" name="TextBox 11"/>
          <p:cNvSpPr txBox="1"/>
          <p:nvPr/>
        </p:nvSpPr>
        <p:spPr>
          <a:xfrm>
            <a:off x="1143000" y="3711139"/>
            <a:ext cx="10500055" cy="770617"/>
          </a:xfrm>
          <a:prstGeom prst="rect">
            <a:avLst/>
          </a:prstGeom>
          <a:noFill/>
        </p:spPr>
        <p:txBody>
          <a:bodyPr wrap="square" anchor="t" lIns="0" rIns="0" tIns="0" bIns="0">
            <a:spAutoFit/>
          </a:bodyPr>
          <a:lstStyle/>
          <a:p>
            <a:r>
              <a:rPr sz="1900" i="0" b="0">
                <a:solidFill>
                  <a:srgbClr val="FFFFFF"/>
                </a:solidFill>
                <a:latin typeface="Calibri"/>
              </a:rPr>
              <a:t>Cholinesterase inhibitors cause GI and cardiac effects; start low, go slow and check the pulse.</a:t>
            </a:r>
          </a:p>
        </p:txBody>
      </p:sp>
      <p:sp>
        <p:nvSpPr>
          <p:cNvPr id="13" name="Oval 12"/>
          <p:cNvSpPr/>
          <p:nvPr/>
        </p:nvSpPr>
        <p:spPr>
          <a:xfrm>
            <a:off x="548640" y="4509189"/>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5</a:t>
            </a:r>
          </a:p>
        </p:txBody>
      </p:sp>
      <p:sp>
        <p:nvSpPr>
          <p:cNvPr id="14" name="TextBox 13"/>
          <p:cNvSpPr txBox="1"/>
          <p:nvPr/>
        </p:nvSpPr>
        <p:spPr>
          <a:xfrm>
            <a:off x="1143000" y="4527477"/>
            <a:ext cx="10500055" cy="468992"/>
          </a:xfrm>
          <a:prstGeom prst="rect">
            <a:avLst/>
          </a:prstGeom>
          <a:noFill/>
        </p:spPr>
        <p:txBody>
          <a:bodyPr wrap="square" anchor="t" lIns="0" rIns="0" tIns="0" bIns="0">
            <a:spAutoFit/>
          </a:bodyPr>
          <a:lstStyle/>
          <a:p>
            <a:r>
              <a:rPr sz="1900" i="0" b="0">
                <a:solidFill>
                  <a:srgbClr val="FFFFFF"/>
                </a:solidFill>
                <a:latin typeface="Calibri"/>
              </a:rPr>
              <a:t>Rivastigmine has no CYP metabolism and comes as a patch.</a:t>
            </a:r>
          </a:p>
        </p:txBody>
      </p:sp>
      <p:sp>
        <p:nvSpPr>
          <p:cNvPr id="15" name="Oval 14"/>
          <p:cNvSpPr/>
          <p:nvPr/>
        </p:nvSpPr>
        <p:spPr>
          <a:xfrm>
            <a:off x="548640" y="5023902"/>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6</a:t>
            </a:r>
          </a:p>
        </p:txBody>
      </p:sp>
      <p:sp>
        <p:nvSpPr>
          <p:cNvPr id="16" name="TextBox 15"/>
          <p:cNvSpPr txBox="1"/>
          <p:nvPr/>
        </p:nvSpPr>
        <p:spPr>
          <a:xfrm>
            <a:off x="1143000" y="5042190"/>
            <a:ext cx="10500055" cy="468992"/>
          </a:xfrm>
          <a:prstGeom prst="rect">
            <a:avLst/>
          </a:prstGeom>
          <a:noFill/>
        </p:spPr>
        <p:txBody>
          <a:bodyPr wrap="square" anchor="t" lIns="0" rIns="0" tIns="0" bIns="0">
            <a:spAutoFit/>
          </a:bodyPr>
          <a:lstStyle/>
          <a:p>
            <a:r>
              <a:rPr sz="1900" i="0" b="0">
                <a:solidFill>
                  <a:srgbClr val="FFFFFF"/>
                </a:solidFill>
                <a:latin typeface="Calibri"/>
              </a:rPr>
              <a:t>Memantine is for moderate to severe disease, alone or with a cholinesterase inhibitor.</a:t>
            </a:r>
          </a:p>
        </p:txBody>
      </p:sp>
      <p:sp>
        <p:nvSpPr>
          <p:cNvPr id="17" name="Oval 16"/>
          <p:cNvSpPr/>
          <p:nvPr/>
        </p:nvSpPr>
        <p:spPr>
          <a:xfrm>
            <a:off x="548640" y="5538615"/>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7</a:t>
            </a:r>
          </a:p>
        </p:txBody>
      </p:sp>
      <p:sp>
        <p:nvSpPr>
          <p:cNvPr id="18" name="TextBox 17"/>
          <p:cNvSpPr txBox="1"/>
          <p:nvPr/>
        </p:nvSpPr>
        <p:spPr>
          <a:xfrm>
            <a:off x="1143000" y="5556903"/>
            <a:ext cx="10500055" cy="468992"/>
          </a:xfrm>
          <a:prstGeom prst="rect">
            <a:avLst/>
          </a:prstGeom>
          <a:noFill/>
        </p:spPr>
        <p:txBody>
          <a:bodyPr wrap="square" anchor="t" lIns="0" rIns="0" tIns="0" bIns="0">
            <a:spAutoFit/>
          </a:bodyPr>
          <a:lstStyle/>
          <a:p>
            <a:r>
              <a:rPr sz="1900" i="0" b="0">
                <a:solidFill>
                  <a:srgbClr val="FFFFFF"/>
                </a:solidFill>
                <a:latin typeface="Calibri"/>
              </a:rPr>
              <a:t>Avoid anticholinergic drugs; prefer an SSRI for depression.</a:t>
            </a:r>
          </a:p>
        </p:txBody>
      </p:sp>
      <p:pic>
        <p:nvPicPr>
          <p:cNvPr id="19" name="Picture 18" descr="port-said-university.png"/>
          <p:cNvPicPr>
            <a:picLocks noChangeAspect="1"/>
          </p:cNvPicPr>
          <p:nvPr/>
        </p:nvPicPr>
        <p:blipFill>
          <a:blip r:embed="rId3"/>
          <a:stretch>
            <a:fillRect/>
          </a:stretch>
        </p:blipFill>
        <p:spPr>
          <a:xfrm>
            <a:off x="10378440" y="6144768"/>
            <a:ext cx="548640" cy="548640"/>
          </a:xfrm>
          <a:prstGeom prst="rect">
            <a:avLst/>
          </a:prstGeom>
        </p:spPr>
      </p:pic>
      <p:pic>
        <p:nvPicPr>
          <p:cNvPr id="20" name="Picture 19" descr="faculty-of-pharmacy.png"/>
          <p:cNvPicPr>
            <a:picLocks noChangeAspect="1"/>
          </p:cNvPicPr>
          <p:nvPr/>
        </p:nvPicPr>
        <p:blipFill>
          <a:blip r:embed="rId4"/>
          <a:stretch>
            <a:fillRect/>
          </a:stretch>
        </p:blipFill>
        <p:spPr>
          <a:xfrm>
            <a:off x="11036808" y="6144768"/>
            <a:ext cx="548640" cy="54864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