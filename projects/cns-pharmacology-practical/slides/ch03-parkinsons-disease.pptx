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Dopamine is made from tyrosine: tyrosine → L-dopa → dopamine. The enzyme that makes dopamine from L-dopa is aromatic L-amino acid decarboxylase (AADC, dopa decarboxylase). Dopamine is broken down by MAO-B in the brain and by COMT. Dopamine itself does not cross the blood-brain barrier; L-dopa does, using an amino-acid transporter. In the striatum, dopamine and acetylcholine balance each other to control movement.</a:t>
            </a:r>
          </a:p>
          <a:p/>
          <a:p>
            <a:r>
              <a:t>About 60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The Disease in Brief.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Parkinson's disease is a chronic neurodegenerative disease of unknown cause. Dopamine neurons of the substantia nigra die. They project to the striatum (the nigrostriatal pathway). There, dopamine stimulates D1 receptors on the direct pathway and inhibits D2 receptors on the indirect pathway. Both actions make movement easier. Acetylcholine from striatal interneurons opposes dopamine. With less dopamine, movement becomes slow and acetylcholine becomes relatively dominant. Motor features: Non-motor features: depression, anxiety, sleep disturbance, constipation, loss of smell, postural hypotension and, later, dementia and psychosis. Treatment aims to raise dopamine activity or lower acetylcholine activity. It improves symptoms but does not stop the disease.</a:t>
            </a:r>
          </a:p>
          <a:p/>
          <a:p>
            <a:r>
              <a:t>About 90 s.  Next: The Disease in Brief.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Parkinson's disease is a chronic neurodegenerative disease of unknown cause. Dopamine neurons of the substantia nigra die. They project to the striatum (the nigrostriatal pathway). There, dopamine stimulates D1 receptors on the direct pathway and inhibits D2 receptors on the indirect pathway. Both actions make movement easier. Acetylcholine from striatal interneurons opposes dopamine. With less dopamine, movement becomes slow and acetylcholine becomes relatively dominant. Motor features: Non-motor features: depression, anxiety, sleep disturbance, constipation, loss of smell, postural hypotension and, later, dementia and psychosis. Treatment aims to raise dopamine activity or lower acetylcholine activity. It improves symptoms but does not stop the disease.</a:t>
            </a:r>
          </a:p>
          <a:p/>
          <a:p>
            <a:r>
              <a:t>About 60 s.  Next: Levodopa.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Levodopa (L-dopa) is the most effective drug for Parkinson's disease. It is a precursor of dopamine. Kinetics. Carbidopa (or benserazide) is a peripheral AADC inhibitor. It does not cross the blood-brain barrier. It is always given with levodopa. Carbidopa: COMT inhibitors (entacapone; opicapone; tolcapone) block the other peripheral breakdown route. Levodopa then lasts longer, and "wearing-off" is reduced. Tolcapone is rarely used because it can damage the liver. MAO-B inhibitors (selegiline, rasagiline, safinamide) block dopamine breakdown in the brain. After some years of levodopa, most patients develop fluctuations: They reflect disease progression and levodopa's short half-life. Options are smaller, more frequent doses; modified-release levodopa; adding a COMT inhibitor, an MAO-B inhibitor or a dopamine agonist; and amantadine for dyskinesia.</a:t>
            </a:r>
          </a:p>
          <a:p/>
          <a:p>
            <a:r>
              <a:t>About 90 s.  Next: Levodopa.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Levodopa (L-dopa) is the most effective drug for Parkinson's disease. It is a precursor of dopamine. Kinetics. Carbidopa (or benserazide) is a peripheral AADC inhibitor. It does not cross the blood-brain barrier. It is always given with levodopa. Carbidopa: COMT inhibitors (entacapone; opicapone; tolcapone) block the other peripheral breakdown route. Levodopa then lasts longer, and "wearing-off" is reduced. Tolcapone is rarely used because it can damage the liver. MAO-B inhibitors (selegiline, rasagiline, safinamide) block dopamine breakdown in the brain. After some years of levodopa, most patients develop fluctuations: They reflect disease progression and levodopa's short half-life. Options are smaller, more frequent doses; modified-release levodopa; adding a COMT inhibitor, an MAO-B inhibitor or a dopamine agonist; and amantadine for dyskinesia.</a:t>
            </a:r>
          </a:p>
          <a:p/>
          <a:p>
            <a:r>
              <a:t>About 90 s.  Next: Levodopa.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Levodopa (L-dopa) is the most effective drug for Parkinson's disease. It is a precursor of dopamine. Kinetics. Carbidopa (or benserazide) is a peripheral AADC inhibitor. It does not cross the blood-brain barrier. It is always given with levodopa. Carbidopa: COMT inhibitors (entacapone; opicapone; tolcapone) block the other peripheral breakdown route. Levodopa then lasts longer, and "wearing-off" is reduced. Tolcapone is rarely used because it can damage the liver. MAO-B inhibitors (selegiline, rasagiline, safinamide) block dopamine breakdown in the brain. After some years of levodopa, most patients develop fluctuations: They reflect disease progression and levodopa's short half-life. Options are smaller, more frequent doses; modified-release levodopa; adding a COMT inhibitor, an MAO-B inhibitor or a dopamine agonist; and amantadine for dyskinesia.</a:t>
            </a:r>
          </a:p>
          <a:p/>
          <a:p>
            <a:r>
              <a:t>About 90 s.  Next: Motor fluctuations.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Levodopa (L-dopa) is the most effective drug for Parkinson's disease. It is a precursor of dopamine. Kinetics. Carbidopa (or benserazide) is a peripheral AADC inhibitor. It does not cross the blood-brain barrier. It is always given with levodopa. Carbidopa: COMT inhibitors (entacapone; opicapone; tolcapone) block the other peripheral breakdown route. Levodopa then lasts longer, and "wearing-off" is reduced. Tolcapone is rarely used because it can damage the liver. MAO-B inhibitors (selegiline, rasagiline, safinamide) block dopamine breakdown in the brain. After some years of levodopa, most patients develop fluctuations: They reflect disease progression and levodopa's short half-life. Options are smaller, more frequent doses; modified-release levodopa; adding a COMT inhibitor, an MAO-B inhibitor or a dopamine agonist; and amantadine for dyskinesia.</a:t>
            </a:r>
          </a:p>
          <a:p/>
          <a:p>
            <a:r>
              <a:t>About 90 s.  Next: Adverse effects of levodopa.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Levodopa (L-dopa) is the most effective drug for Parkinson's disease. It is a precursor of dopamine. Kinetics. Carbidopa (or benserazide) is a peripheral AADC inhibitor. It does not cross the blood-brain barrier. It is always given with levodopa. Carbidopa: COMT inhibitors (entacapone; opicapone; tolcapone) block the other peripheral breakdown route. Levodopa then lasts longer, and "wearing-off" is reduced. Tolcapone is rarely used because it can damage the liver. MAO-B inhibitors (selegiline, rasagiline, safinamide) block dopamine breakdown in the brain. After some years of levodopa, most patients develop fluctuations: They reflect disease progression and levodopa's short half-life. Options are smaller, more frequent doses; modified-release levodopa; adding a COMT inhibitor, an MAO-B inhibitor or a dopamine agonist; and amantadine for dyskinesia.</a:t>
            </a:r>
          </a:p>
          <a:p/>
          <a:p>
            <a:r>
              <a:t>About 60 s.  Next: Drug interactions.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Levodopa (L-dopa) is the most effective drug for Parkinson's disease. It is a precursor of dopamine. Kinetics. Carbidopa (or benserazide) is a peripheral AADC inhibitor. It does not cross the blood-brain barrier. It is always given with levodopa. Carbidopa: COMT inhibitors (entacapone; opicapone; tolcapone) block the other peripheral breakdown route. Levodopa then lasts longer, and "wearing-off" is reduced. Tolcapone is rarely used because it can damage the liver. MAO-B inhibitors (selegiline, rasagiline, safinamide) block dopamine breakdown in the brain. After some years of levodopa, most patients develop fluctuations: They reflect disease progression and levodopa's short half-life. Options are smaller, more frequent doses; modified-release levodopa; adding a COMT inhibitor, an MAO-B inhibitor or a dopamine agonist; and amantadine for dyskinesia.</a:t>
            </a:r>
          </a:p>
          <a:p/>
          <a:p>
            <a:r>
              <a:t>About 90 s.  Next: Levodopa.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Levodopa (L-dopa) is the most effective drug for Parkinson's disease. It is a precursor of dopamine. Kinetics. Carbidopa (or benserazide) is a peripheral AADC inhibitor. It does not cross the blood-brain barrier. It is always given with levodopa. Carbidopa: COMT inhibitors (entacapone; opicapone; tolcapone) block the other peripheral breakdown route. Levodopa then lasts longer, and "wearing-off" is reduced. Tolcapone is rarely used because it can damage the liver. MAO-B inhibitors (selegiline, rasagiline, safinamide) block dopamine breakdown in the brain. After some years of levodopa, most patients develop fluctuations: They reflect disease progression and levodopa's short half-life. Options are smaller, more frequent doses; modified-release levodopa; adding a COMT inhibitor, an MAO-B inhibitor or a dopamine agonist; and amantadine for dyskinesia.</a:t>
            </a:r>
          </a:p>
          <a:p/>
          <a:p>
            <a:r>
              <a:t>About 60 s.  Next: Dopamine Agonists.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Dopamine Agonists.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Dopamine agonists act directly on D2 and D3 receptors. They do not need conversion by neurons. They last longer than levodopa and cause fewer motor fluctuations. They cause more hallucinations, sleepiness and impulse-control disorders. Adverse effects: nausea, postural hypotension, hallucinations, confusion, sudden sleep attacks and impulse-control disorders.</a:t>
            </a:r>
          </a:p>
          <a:p/>
          <a:p>
            <a:r>
              <a:t>About 60 s.  Next: Dopamine Agonists.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Dopamine agonists act directly on D2 and D3 receptors. They do not need conversion by neurons. They last longer than levodopa and cause fewer motor fluctuations. They cause more hallucinations, sleepiness and impulse-control disorders. Adverse effects: nausea, postural hypotension, hallucinations, confusion, sudden sleep attacks and impulse-control disorders.</a:t>
            </a:r>
          </a:p>
          <a:p/>
          <a:p>
            <a:r>
              <a:t>About 30 s.  Next: MAO-B Inhibitors.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 selegiline, rasagiline and safinamide. Mechanism: selective inhibition of MAO-B, the main enzyme that breaks down dopamine in the striatum. Brain dopamine rises. Use: alone in early disease (mild benefit) or added to levodopa to reduce wearing-off. Safety: at normal doses they do not cause the "cheese reaction", because MAO-A in the gut still breaks down tyramine. Selectivity is lost at high doses. Combining them with pethidine, tramadol or serotonergic antidepressants can cause serotonin syndrome.</a:t>
            </a:r>
          </a:p>
          <a:p/>
          <a:p>
            <a:r>
              <a:t>About 60 s.  Next: Amantadine and Anticholinergics.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Amantadine is an antiviral found by chance to help Parkinson's disease. It increases dopamine release, reduces dopamine reuptake and blocks NMDA receptors. It is now used mainly for levodopa-induced dyskinesia. Adverse effects: nausea, dizziness, confusion, postural hypotension, ankle oedema and livedo reticularis (mottled skin). Anticholinergics (trihexyphenidyl, biperiden, benztropine, orphenadrine) block central muscarinic receptors and restore the dopamine–acetylcholine balance. They help tremor more than slowness. They cause dry mouth, constipation, urinary retention, blurred vision and confusion. They worsen memory, glaucoma and prostatic enlargement. Avoid them in older people. Large doses cause hallucinations and can be misused.</a:t>
            </a:r>
          </a:p>
          <a:p/>
          <a:p>
            <a:r>
              <a:t>About 90 s.  Next: Amantadine and Anticholinergics.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Amantadine is an antiviral found by chance to help Parkinson's disease. It increases dopamine release, reduces dopamine reuptake and blocks NMDA receptors. It is now used mainly for levodopa-induced dyskinesia. Adverse effects: nausea, dizziness, confusion, postural hypotension, ankle oedema and livedo reticularis (mottled skin). Anticholinergics (trihexyphenidyl, biperiden, benztropine, orphenadrine) block central muscarinic receptors and restore the dopamine–acetylcholine balance. They help tremor more than slowness. They cause dry mouth, constipation, urinary retention, blurred vision and confusion. They worsen memory, glaucoma and prostatic enlargement. Avoid them in older people. Large doses cause hallucinations and can be misused.</a:t>
            </a:r>
          </a:p>
          <a:p/>
          <a:p>
            <a:r>
              <a:t>About 60 s.  Next: Choosing a Drug.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Dopamine neurons of the substantia nigra die. A is Alzheimer's disease. C and D are not the cause.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Carbidopa blocks peripheral AADC, so a lower levodopa dose works. B, C and D are not reduced.</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Carbidopa and entacapone both act on levodopa metabolism. A, B and D add carbidopa or entacapone without levodopa, where they do nothing.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Carbidopa prevents peripheral dopamine formation. A, B and C do not reduce these effects.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Domperidone does not cross the blood-brain barrier. B, C and D block central D2 receptors and worsen parkinsonism.</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Agonists commonly cause impulse-control disorders. A is phenytoin. C is clozapine. D is not typical.</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Amantadine's NMDA block reduces dyskinesia. A, B and D can increase dyskinesia.</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Anticholinergics cause urinary retention and confusion. B is ergot agonists. C and D are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Carbidopa prevents the pyridoxine interaction. A is wrong with carbidopa. B and C are not caused by vitamins.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Entacapone prolongs each levodopa dose and treats wearing-off. A worsens symptoms. B blocks levodopa. C causes confusion.</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03</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3</a:t>
            </a:r>
          </a:p>
          <a:p>
            <a:pPr>
              <a:spcBef>
                <a:spcPts val="1400"/>
              </a:spcBef>
            </a:pPr>
            <a:r>
              <a:rPr sz="4400" i="0" b="1">
                <a:solidFill>
                  <a:srgbClr val="FFFFFF"/>
                </a:solidFill>
                <a:latin typeface="Cambria"/>
              </a:rPr>
              <a:t>Parkinson's Disease</a:t>
            </a:r>
          </a:p>
          <a:p>
            <a:pPr>
              <a:spcBef>
                <a:spcPts val="1600"/>
              </a:spcBef>
            </a:pPr>
            <a:r>
              <a:rPr sz="2000" i="1" b="0">
                <a:solidFill>
                  <a:srgbClr val="DFE1EF"/>
                </a:solidFill>
                <a:latin typeface="Cambria"/>
              </a:rPr>
              <a:t>A Laboratory and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60 minutes  ·  10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Learning Objectives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6629400" cy="944499"/>
          </a:xfrm>
          <a:prstGeom prst="rect">
            <a:avLst/>
          </a:prstGeom>
          <a:noFill/>
        </p:spPr>
        <p:txBody>
          <a:bodyPr wrap="square" anchor="t" lIns="0" rIns="0" tIns="0" bIns="0">
            <a:spAutoFit/>
          </a:bodyPr>
          <a:lstStyle/>
          <a:p>
            <a:r>
              <a:rPr sz="2100" i="0" b="0">
                <a:solidFill>
                  <a:srgbClr val="1A1F36"/>
                </a:solidFill>
                <a:latin typeface="Calibri"/>
              </a:rPr>
              <a:t>Explain the dopamine–acetylcholine imbalance of Parkinson's disease.</a:t>
            </a:r>
          </a:p>
        </p:txBody>
      </p:sp>
      <p:sp>
        <p:nvSpPr>
          <p:cNvPr id="10" name="Oval 9"/>
          <p:cNvSpPr/>
          <p:nvPr/>
        </p:nvSpPr>
        <p:spPr>
          <a:xfrm>
            <a:off x="548640" y="2562987"/>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581275"/>
            <a:ext cx="6629400" cy="944499"/>
          </a:xfrm>
          <a:prstGeom prst="rect">
            <a:avLst/>
          </a:prstGeom>
          <a:noFill/>
        </p:spPr>
        <p:txBody>
          <a:bodyPr wrap="square" anchor="t" lIns="0" rIns="0" tIns="0" bIns="0">
            <a:spAutoFit/>
          </a:bodyPr>
          <a:lstStyle/>
          <a:p>
            <a:r>
              <a:rPr sz="2100" i="0" b="0">
                <a:solidFill>
                  <a:srgbClr val="1A1F36"/>
                </a:solidFill>
                <a:latin typeface="Calibri"/>
              </a:rPr>
              <a:t>Describe how carbidopa, COMT inhibitors and MAO-B inhibitors improve levodopa therapy.</a:t>
            </a:r>
          </a:p>
        </p:txBody>
      </p:sp>
      <p:sp>
        <p:nvSpPr>
          <p:cNvPr id="12" name="Oval 11"/>
          <p:cNvSpPr/>
          <p:nvPr/>
        </p:nvSpPr>
        <p:spPr>
          <a:xfrm>
            <a:off x="548640" y="355320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571494"/>
            <a:ext cx="6629400" cy="944499"/>
          </a:xfrm>
          <a:prstGeom prst="rect">
            <a:avLst/>
          </a:prstGeom>
          <a:noFill/>
        </p:spPr>
        <p:txBody>
          <a:bodyPr wrap="square" anchor="t" lIns="0" rIns="0" tIns="0" bIns="0">
            <a:spAutoFit/>
          </a:bodyPr>
          <a:lstStyle/>
          <a:p>
            <a:r>
              <a:rPr sz="2100" i="0" b="0">
                <a:solidFill>
                  <a:srgbClr val="1A1F36"/>
                </a:solidFill>
                <a:latin typeface="Calibri"/>
              </a:rPr>
              <a:t>Compare levodopa, dopamine agonists, MAO-B inhibitors, amantadine and anticholinergics.</a:t>
            </a:r>
          </a:p>
        </p:txBody>
      </p:sp>
      <p:sp>
        <p:nvSpPr>
          <p:cNvPr id="14" name="Oval 13"/>
          <p:cNvSpPr/>
          <p:nvPr/>
        </p:nvSpPr>
        <p:spPr>
          <a:xfrm>
            <a:off x="548640" y="454342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561713"/>
            <a:ext cx="6629400" cy="944499"/>
          </a:xfrm>
          <a:prstGeom prst="rect">
            <a:avLst/>
          </a:prstGeom>
          <a:noFill/>
        </p:spPr>
        <p:txBody>
          <a:bodyPr wrap="square" anchor="t" lIns="0" rIns="0" tIns="0" bIns="0">
            <a:spAutoFit/>
          </a:bodyPr>
          <a:lstStyle/>
          <a:p>
            <a:r>
              <a:rPr sz="2100" i="0" b="0">
                <a:solidFill>
                  <a:srgbClr val="1A1F36"/>
                </a:solidFill>
                <a:latin typeface="Calibri"/>
              </a:rPr>
              <a:t>Identify key adverse effects and interactions of antiparkinsonian drugs.</a:t>
            </a:r>
          </a:p>
        </p:txBody>
      </p:sp>
      <p:sp>
        <p:nvSpPr>
          <p:cNvPr id="16" name="Oval 15"/>
          <p:cNvSpPr/>
          <p:nvPr/>
        </p:nvSpPr>
        <p:spPr>
          <a:xfrm>
            <a:off x="548640" y="553364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551932"/>
            <a:ext cx="6629400" cy="611124"/>
          </a:xfrm>
          <a:prstGeom prst="rect">
            <a:avLst/>
          </a:prstGeom>
          <a:noFill/>
        </p:spPr>
        <p:txBody>
          <a:bodyPr wrap="square" anchor="t" lIns="0" rIns="0" tIns="0" bIns="0">
            <a:spAutoFit/>
          </a:bodyPr>
          <a:lstStyle/>
          <a:p>
            <a:r>
              <a:rPr sz="2100" i="0" b="0">
                <a:solidFill>
                  <a:srgbClr val="1A1F36"/>
                </a:solidFill>
                <a:latin typeface="Calibri"/>
              </a:rPr>
              <a:t>Choose a treatment plan for a patient.</a:t>
            </a:r>
          </a:p>
        </p:txBody>
      </p:sp>
      <p:sp>
        <p:nvSpPr>
          <p:cNvPr id="18" name="Rounded Rectangle 17"/>
          <p:cNvSpPr/>
          <p:nvPr/>
        </p:nvSpPr>
        <p:spPr>
          <a:xfrm>
            <a:off x="8366760" y="1600200"/>
            <a:ext cx="3273552" cy="4526280"/>
          </a:xfrm>
          <a:prstGeom prst="roundRect">
            <a:avLst>
              <a:gd name="adj" fmla="val 5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60</a:t>
            </a:r>
          </a:p>
          <a:p>
            <a:r>
              <a:rPr sz="1200" i="0" b="1" spc="150">
                <a:solidFill>
                  <a:srgbClr val="5A6072"/>
                </a:solidFill>
                <a:latin typeface="Calibri"/>
              </a:rPr>
              <a:t>MINUTES</a:t>
            </a:r>
          </a:p>
          <a:p>
            <a:pPr>
              <a:spcBef>
                <a:spcPts val="1600"/>
              </a:spcBef>
            </a:pPr>
            <a:r>
              <a:rPr sz="5400" i="0" b="1">
                <a:solidFill>
                  <a:srgbClr val="1B2A8C"/>
                </a:solidFill>
                <a:latin typeface="Cambria"/>
              </a:rPr>
              <a:t>10</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1A1F36"/>
                </a:solidFill>
                <a:latin typeface="Calibri"/>
              </a:rPr>
              <a:t>The Disease in Brief</a:t>
            </a:r>
          </a:p>
        </p:txBody>
      </p:sp>
      <p:sp>
        <p:nvSpPr>
          <p:cNvPr id="10" name="Oval 9"/>
          <p:cNvSpPr/>
          <p:nvPr/>
        </p:nvSpPr>
        <p:spPr>
          <a:xfrm>
            <a:off x="548640" y="24432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1A1F36"/>
                </a:solidFill>
                <a:latin typeface="Calibri"/>
              </a:rPr>
              <a:t>Levodopa</a:t>
            </a:r>
          </a:p>
        </p:txBody>
      </p:sp>
      <p:sp>
        <p:nvSpPr>
          <p:cNvPr id="12" name="Oval 11"/>
          <p:cNvSpPr/>
          <p:nvPr/>
        </p:nvSpPr>
        <p:spPr>
          <a:xfrm>
            <a:off x="548640" y="331368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331972"/>
            <a:ext cx="4678527" cy="824737"/>
          </a:xfrm>
          <a:prstGeom prst="rect">
            <a:avLst/>
          </a:prstGeom>
          <a:noFill/>
        </p:spPr>
        <p:txBody>
          <a:bodyPr wrap="square" anchor="t" lIns="0" rIns="0" tIns="0" bIns="0">
            <a:spAutoFit/>
          </a:bodyPr>
          <a:lstStyle/>
          <a:p>
            <a:r>
              <a:rPr sz="2200" i="0" b="0">
                <a:solidFill>
                  <a:srgbClr val="1A1F36"/>
                </a:solidFill>
                <a:latin typeface="Calibri"/>
              </a:rPr>
              <a:t>Dopamine Agonists</a:t>
            </a:r>
          </a:p>
        </p:txBody>
      </p:sp>
      <p:sp>
        <p:nvSpPr>
          <p:cNvPr id="14" name="Oval 13"/>
          <p:cNvSpPr/>
          <p:nvPr/>
        </p:nvSpPr>
        <p:spPr>
          <a:xfrm>
            <a:off x="548640" y="418414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202430"/>
            <a:ext cx="4678527" cy="824737"/>
          </a:xfrm>
          <a:prstGeom prst="rect">
            <a:avLst/>
          </a:prstGeom>
          <a:noFill/>
        </p:spPr>
        <p:txBody>
          <a:bodyPr wrap="square" anchor="t" lIns="0" rIns="0" tIns="0" bIns="0">
            <a:spAutoFit/>
          </a:bodyPr>
          <a:lstStyle/>
          <a:p>
            <a:r>
              <a:rPr sz="2200" i="0" b="0">
                <a:solidFill>
                  <a:srgbClr val="1A1F36"/>
                </a:solidFill>
                <a:latin typeface="Calibri"/>
              </a:rPr>
              <a:t>MAO-B Inhibitors</a:t>
            </a:r>
          </a:p>
        </p:txBody>
      </p:sp>
      <p:sp>
        <p:nvSpPr>
          <p:cNvPr id="16" name="Oval 15"/>
          <p:cNvSpPr/>
          <p:nvPr/>
        </p:nvSpPr>
        <p:spPr>
          <a:xfrm>
            <a:off x="6370167"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Amantadine and Anticholinergics</a:t>
            </a:r>
          </a:p>
        </p:txBody>
      </p:sp>
      <p:sp>
        <p:nvSpPr>
          <p:cNvPr id="18" name="Oval 17"/>
          <p:cNvSpPr/>
          <p:nvPr/>
        </p:nvSpPr>
        <p:spPr>
          <a:xfrm>
            <a:off x="6370167" y="24432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19" name="TextBox 18"/>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1A1F36"/>
                </a:solidFill>
                <a:latin typeface="Calibri"/>
              </a:rPr>
              <a:t>Choosing a Drug</a:t>
            </a:r>
          </a:p>
        </p:txBody>
      </p:sp>
      <p:sp>
        <p:nvSpPr>
          <p:cNvPr id="20" name="Oval 19"/>
          <p:cNvSpPr/>
          <p:nvPr/>
        </p:nvSpPr>
        <p:spPr>
          <a:xfrm>
            <a:off x="6370167" y="331368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1" name="TextBox 20"/>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2" name="Oval 21"/>
          <p:cNvSpPr/>
          <p:nvPr/>
        </p:nvSpPr>
        <p:spPr>
          <a:xfrm>
            <a:off x="6370167" y="418414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3" name="TextBox 22"/>
          <p:cNvSpPr txBox="1"/>
          <p:nvPr/>
        </p:nvSpPr>
        <p:spPr>
          <a:xfrm>
            <a:off x="6964527" y="4202430"/>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The Disease in Brief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1A1F36"/>
                </a:solidFill>
                <a:latin typeface="Calibri"/>
              </a:rPr>
              <a:t>Parkinson's disease is a chronic neurodegenerative disease of unknown cause. Dopamine neurons of the substantia nigra die. They project to the striatum (the nigrostriatal pathway). There, dopamine stimulates D1 receptors on the direct pathway and inhibits D2 receptors on the indirect pathway. Both actions make movement easier. Acetylcholine from striatal interneurons opposes dopamine. With less dopamine, movement becomes slow and acetylcholine becomes relatively dominant.</a:t>
            </a:r>
          </a:p>
          <a:p>
            <a:pPr>
              <a:spcAft>
                <a:spcPts val="800"/>
              </a:spcAft>
            </a:pPr>
            <a:r>
              <a:rPr sz="2100" i="0" b="1">
                <a:solidFill>
                  <a:srgbClr val="1A1F36"/>
                </a:solidFill>
                <a:latin typeface="Calibri"/>
              </a:rPr>
              <a:t>Motor features:</a:t>
            </a:r>
          </a:p>
          <a:p>
            <a:pPr>
              <a:spcAft>
                <a:spcPts val="800"/>
              </a:spcAft>
            </a:pPr>
            <a:r>
              <a:rPr sz="2100" i="0" b="1">
                <a:solidFill>
                  <a:srgbClr val="1A1F36"/>
                </a:solidFill>
                <a:latin typeface="Calibri"/>
              </a:rPr>
              <a:t>Non-motor features:</a:t>
            </a:r>
            <a:r>
              <a:rPr sz="2100" i="0" b="0">
                <a:solidFill>
                  <a:srgbClr val="1A1F36"/>
                </a:solidFill>
                <a:latin typeface="Calibri"/>
              </a:rPr>
              <a:t> depression, anxiety, sleep disturbance, constipation, loss of smell, postural hypotension and, later, dementia and psychosis.</a:t>
            </a:r>
          </a:p>
          <a:p>
            <a:pPr>
              <a:spcAft>
                <a:spcPts val="800"/>
              </a:spcAft>
            </a:pPr>
            <a:r>
              <a:rPr sz="2100" i="0" b="0">
                <a:solidFill>
                  <a:srgbClr val="1A1F36"/>
                </a:solidFill>
                <a:latin typeface="Calibri"/>
              </a:rPr>
              <a:t>Treatment aims to raise dopamine activity or lower acetylcholine activity. It improves symptoms but does not stop the disease.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The Disease in Brief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808863"/>
          </a:xfrm>
          <a:prstGeom prst="rect">
            <a:avLst/>
          </a:prstGeom>
          <a:noFill/>
        </p:spPr>
        <p:txBody>
          <a:bodyPr wrap="square" anchor="t" lIns="0" rIns="0" tIns="0" bIns="0">
            <a:spAutoFit/>
          </a:bodyPr>
          <a:lstStyle/>
          <a:p>
            <a:r>
              <a:rPr sz="2100" i="0" b="0">
                <a:solidFill>
                  <a:srgbClr val="1A1F36"/>
                </a:solidFill>
                <a:latin typeface="Calibri"/>
              </a:rPr>
              <a:t>Resting tremor ("pill-rolling").</a:t>
            </a:r>
          </a:p>
        </p:txBody>
      </p:sp>
      <p:sp>
        <p:nvSpPr>
          <p:cNvPr id="10" name="Oval 9"/>
          <p:cNvSpPr/>
          <p:nvPr/>
        </p:nvSpPr>
        <p:spPr>
          <a:xfrm>
            <a:off x="548640" y="242735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45639"/>
            <a:ext cx="10500055" cy="808863"/>
          </a:xfrm>
          <a:prstGeom prst="rect">
            <a:avLst/>
          </a:prstGeom>
          <a:noFill/>
        </p:spPr>
        <p:txBody>
          <a:bodyPr wrap="square" anchor="t" lIns="0" rIns="0" tIns="0" bIns="0">
            <a:spAutoFit/>
          </a:bodyPr>
          <a:lstStyle/>
          <a:p>
            <a:r>
              <a:rPr sz="2100" i="0" b="0">
                <a:solidFill>
                  <a:srgbClr val="1A1F36"/>
                </a:solidFill>
                <a:latin typeface="Calibri"/>
              </a:rPr>
              <a:t>Rigidity ("cogwheel").</a:t>
            </a:r>
          </a:p>
        </p:txBody>
      </p:sp>
      <p:sp>
        <p:nvSpPr>
          <p:cNvPr id="12" name="Oval 11"/>
          <p:cNvSpPr/>
          <p:nvPr/>
        </p:nvSpPr>
        <p:spPr>
          <a:xfrm>
            <a:off x="548640" y="328193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300222"/>
            <a:ext cx="10500055" cy="808863"/>
          </a:xfrm>
          <a:prstGeom prst="rect">
            <a:avLst/>
          </a:prstGeom>
          <a:noFill/>
        </p:spPr>
        <p:txBody>
          <a:bodyPr wrap="square" anchor="t" lIns="0" rIns="0" tIns="0" bIns="0">
            <a:spAutoFit/>
          </a:bodyPr>
          <a:lstStyle/>
          <a:p>
            <a:r>
              <a:rPr sz="2100" i="0" b="0">
                <a:solidFill>
                  <a:srgbClr val="1A1F36"/>
                </a:solidFill>
                <a:latin typeface="Calibri"/>
              </a:rPr>
              <a:t>Bradykinesia: slow movement, small shuffling steps, reduced facial expression.</a:t>
            </a:r>
          </a:p>
        </p:txBody>
      </p:sp>
      <p:sp>
        <p:nvSpPr>
          <p:cNvPr id="14" name="Oval 13"/>
          <p:cNvSpPr/>
          <p:nvPr/>
        </p:nvSpPr>
        <p:spPr>
          <a:xfrm>
            <a:off x="548640" y="413651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154805"/>
            <a:ext cx="10500055" cy="808863"/>
          </a:xfrm>
          <a:prstGeom prst="rect">
            <a:avLst/>
          </a:prstGeom>
          <a:noFill/>
        </p:spPr>
        <p:txBody>
          <a:bodyPr wrap="square" anchor="t" lIns="0" rIns="0" tIns="0" bIns="0">
            <a:spAutoFit/>
          </a:bodyPr>
          <a:lstStyle/>
          <a:p>
            <a:r>
              <a:rPr sz="2100" i="0" b="0">
                <a:solidFill>
                  <a:srgbClr val="1A1F36"/>
                </a:solidFill>
                <a:latin typeface="Calibri"/>
              </a:rPr>
              <a:t>Postural instability in later disease.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Levodopa</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Levodopa (L-dopa) is the most effective drug for Parkinson's disease. It is a precursor of dopamine.</a:t>
            </a:r>
          </a:p>
          <a:p>
            <a:pPr>
              <a:spcAft>
                <a:spcPts val="800"/>
              </a:spcAft>
            </a:pPr>
            <a:r>
              <a:rPr sz="1800" i="0" b="1">
                <a:solidFill>
                  <a:srgbClr val="1A1F36"/>
                </a:solidFill>
                <a:latin typeface="Calibri"/>
              </a:rPr>
              <a:t>Kinetics.</a:t>
            </a:r>
          </a:p>
        </p:txBody>
      </p:sp>
      <p:sp>
        <p:nvSpPr>
          <p:cNvPr id="9" name="Oval 8"/>
          <p:cNvSpPr/>
          <p:nvPr/>
        </p:nvSpPr>
        <p:spPr>
          <a:xfrm>
            <a:off x="548640" y="295808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976372"/>
            <a:ext cx="10500055" cy="1031747"/>
          </a:xfrm>
          <a:prstGeom prst="rect">
            <a:avLst/>
          </a:prstGeom>
          <a:noFill/>
        </p:spPr>
        <p:txBody>
          <a:bodyPr wrap="square" anchor="t" lIns="0" rIns="0" tIns="0" bIns="0">
            <a:spAutoFit/>
          </a:bodyPr>
          <a:lstStyle/>
          <a:p>
            <a:r>
              <a:rPr sz="2100" i="0" b="0">
                <a:solidFill>
                  <a:srgbClr val="1A1F36"/>
                </a:solidFill>
                <a:latin typeface="Calibri"/>
              </a:rPr>
              <a:t>Absorbed from the small intestine by an amino-acid transporter. Protein-rich meals compete with it and reduce absorption and brain entry.</a:t>
            </a:r>
          </a:p>
        </p:txBody>
      </p:sp>
      <p:sp>
        <p:nvSpPr>
          <p:cNvPr id="11" name="Oval 10"/>
          <p:cNvSpPr/>
          <p:nvPr/>
        </p:nvSpPr>
        <p:spPr>
          <a:xfrm>
            <a:off x="548640" y="403555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4053839"/>
            <a:ext cx="10500055" cy="698372"/>
          </a:xfrm>
          <a:prstGeom prst="rect">
            <a:avLst/>
          </a:prstGeom>
          <a:noFill/>
        </p:spPr>
        <p:txBody>
          <a:bodyPr wrap="square" anchor="t" lIns="0" rIns="0" tIns="0" bIns="0">
            <a:spAutoFit/>
          </a:bodyPr>
          <a:lstStyle/>
          <a:p>
            <a:r>
              <a:rPr sz="2100" i="0" b="0">
                <a:solidFill>
                  <a:srgbClr val="1A1F36"/>
                </a:solidFill>
                <a:latin typeface="Calibri"/>
              </a:rPr>
              <a:t>Short half-life (1 to 2 hours).</a:t>
            </a:r>
          </a:p>
        </p:txBody>
      </p:sp>
      <p:sp>
        <p:nvSpPr>
          <p:cNvPr id="13" name="Oval 12"/>
          <p:cNvSpPr/>
          <p:nvPr/>
        </p:nvSpPr>
        <p:spPr>
          <a:xfrm>
            <a:off x="548640" y="477964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4797932"/>
            <a:ext cx="10500055" cy="1365123"/>
          </a:xfrm>
          <a:prstGeom prst="rect">
            <a:avLst/>
          </a:prstGeom>
          <a:noFill/>
        </p:spPr>
        <p:txBody>
          <a:bodyPr wrap="square" anchor="t" lIns="0" rIns="0" tIns="0" bIns="0">
            <a:spAutoFit/>
          </a:bodyPr>
          <a:lstStyle/>
          <a:p>
            <a:r>
              <a:rPr sz="2100" i="0" b="0">
                <a:solidFill>
                  <a:srgbClr val="1A1F36"/>
                </a:solidFill>
                <a:latin typeface="Calibri"/>
              </a:rPr>
              <a:t>Given alone, most of a dose is converted to dopamine </a:t>
            </a:r>
            <a:r>
              <a:rPr sz="2100" i="0" b="1">
                <a:solidFill>
                  <a:srgbClr val="1A1F36"/>
                </a:solidFill>
                <a:latin typeface="Calibri"/>
              </a:rPr>
              <a:t>outside</a:t>
            </a:r>
            <a:r>
              <a:rPr sz="2100" i="0" b="0">
                <a:solidFill>
                  <a:srgbClr val="1A1F36"/>
                </a:solidFill>
                <a:latin typeface="Calibri"/>
              </a:rPr>
              <a:t> the brain by peripheral AADC. Only about 1 to 5% reaches the brain. Peripheral dopamine causes nausea, vomiting, hypotension and arrhythmia.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Levodopa</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1">
                <a:solidFill>
                  <a:srgbClr val="1A1F36"/>
                </a:solidFill>
                <a:latin typeface="Calibri"/>
              </a:rPr>
              <a:t>Carbidopa</a:t>
            </a:r>
            <a:r>
              <a:rPr sz="1800" i="0" b="0">
                <a:solidFill>
                  <a:srgbClr val="1A1F36"/>
                </a:solidFill>
                <a:latin typeface="Calibri"/>
              </a:rPr>
              <a:t> (or benserazide) is a peripheral AADC inhibitor. It does not cross the blood-brain barrier. It is always given with levodopa. Carbidopa:</a:t>
            </a:r>
          </a:p>
        </p:txBody>
      </p:sp>
      <p:sp>
        <p:nvSpPr>
          <p:cNvPr id="9" name="Oval 8"/>
          <p:cNvSpPr/>
          <p:nvPr/>
        </p:nvSpPr>
        <p:spPr>
          <a:xfrm>
            <a:off x="548640" y="255117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569463"/>
            <a:ext cx="10500055" cy="1142237"/>
          </a:xfrm>
          <a:prstGeom prst="rect">
            <a:avLst/>
          </a:prstGeom>
          <a:noFill/>
        </p:spPr>
        <p:txBody>
          <a:bodyPr wrap="square" anchor="t" lIns="0" rIns="0" tIns="0" bIns="0">
            <a:spAutoFit/>
          </a:bodyPr>
          <a:lstStyle/>
          <a:p>
            <a:r>
              <a:rPr sz="2100" i="0" b="0">
                <a:solidFill>
                  <a:srgbClr val="1A1F36"/>
                </a:solidFill>
                <a:latin typeface="Calibri"/>
              </a:rPr>
              <a:t>Raises the share of levodopa reaching the brain (to about 10%) and lowers the dose needed by about 75%.</a:t>
            </a:r>
          </a:p>
        </p:txBody>
      </p:sp>
      <p:sp>
        <p:nvSpPr>
          <p:cNvPr id="11" name="Oval 10"/>
          <p:cNvSpPr/>
          <p:nvPr/>
        </p:nvSpPr>
        <p:spPr>
          <a:xfrm>
            <a:off x="548640" y="373913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757421"/>
            <a:ext cx="10500055" cy="808863"/>
          </a:xfrm>
          <a:prstGeom prst="rect">
            <a:avLst/>
          </a:prstGeom>
          <a:noFill/>
        </p:spPr>
        <p:txBody>
          <a:bodyPr wrap="square" anchor="t" lIns="0" rIns="0" tIns="0" bIns="0">
            <a:spAutoFit/>
          </a:bodyPr>
          <a:lstStyle/>
          <a:p>
            <a:r>
              <a:rPr sz="2100" i="0" b="0">
                <a:solidFill>
                  <a:srgbClr val="1A1F36"/>
                </a:solidFill>
                <a:latin typeface="Calibri"/>
              </a:rPr>
              <a:t>Reduces peripheral adverse effects.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Levodopa</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1">
                <a:solidFill>
                  <a:srgbClr val="1A1F36"/>
                </a:solidFill>
                <a:latin typeface="Calibri"/>
              </a:rPr>
              <a:t>COMT inhibitors</a:t>
            </a:r>
            <a:r>
              <a:rPr sz="1700" i="0" b="0">
                <a:solidFill>
                  <a:srgbClr val="1A1F36"/>
                </a:solidFill>
                <a:latin typeface="Calibri"/>
              </a:rPr>
              <a:t> (entacapone; opicapone; tolcapone) block the other peripheral breakdown route. Levodopa then lasts longer, and "wearing-off" is reduced. Tolcapone is rarely used because it can damage the liver.</a:t>
            </a:r>
          </a:p>
          <a:p>
            <a:pPr>
              <a:spcAft>
                <a:spcPts val="800"/>
              </a:spcAft>
            </a:pPr>
            <a:r>
              <a:rPr sz="1700" i="0" b="1">
                <a:solidFill>
                  <a:srgbClr val="1A1F36"/>
                </a:solidFill>
                <a:latin typeface="Calibri"/>
              </a:rPr>
              <a:t>MAO-B inhibitors</a:t>
            </a:r>
            <a:r>
              <a:rPr sz="1700" i="0" b="0">
                <a:solidFill>
                  <a:srgbClr val="1A1F36"/>
                </a:solidFill>
                <a:latin typeface="Calibri"/>
              </a:rPr>
              <a:t> (selegiline, rasagiline, safinamide) block dopamine breakdown in the brain.</a:t>
            </a:r>
          </a:p>
        </p:txBody>
      </p:sp>
      <p:pic>
        <p:nvPicPr>
          <p:cNvPr id="9" name="Picture 8" descr="In the periphery, levodopa is converted by AADC to dopamine (blocked by carbidopa) and by COMT to 3-O-methyldopa (blocked by entacapone). Levodopa crosses the blood-brain barrier and brain AADC makes dopamine, which MAO-B breaks down; selegiline and rasagiline block this."/>
          <p:cNvPicPr>
            <a:picLocks noChangeAspect="1"/>
          </p:cNvPicPr>
          <p:nvPr/>
        </p:nvPicPr>
        <p:blipFill>
          <a:blip r:embed="rId4"/>
          <a:stretch>
            <a:fillRect/>
          </a:stretch>
        </p:blipFill>
        <p:spPr>
          <a:xfrm>
            <a:off x="5394959" y="1554480"/>
            <a:ext cx="6248095" cy="2984278"/>
          </a:xfrm>
          <a:prstGeom prst="rect">
            <a:avLst/>
          </a:prstGeom>
        </p:spPr>
      </p:pic>
      <p:sp>
        <p:nvSpPr>
          <p:cNvPr id="10" name="TextBox 9"/>
          <p:cNvSpPr txBox="1"/>
          <p:nvPr/>
        </p:nvSpPr>
        <p:spPr>
          <a:xfrm>
            <a:off x="5394959" y="4630197"/>
            <a:ext cx="6248095" cy="365760"/>
          </a:xfrm>
          <a:prstGeom prst="rect">
            <a:avLst/>
          </a:prstGeom>
          <a:noFill/>
        </p:spPr>
        <p:txBody>
          <a:bodyPr wrap="square" anchor="t" lIns="0" rIns="0" tIns="0" bIns="0">
            <a:spAutoFit/>
          </a:bodyPr>
          <a:lstStyle/>
          <a:p>
            <a:pPr algn="ctr"/>
            <a:r>
              <a:rPr sz="1300" i="1" b="0">
                <a:solidFill>
                  <a:srgbClr val="5A6072"/>
                </a:solidFill>
                <a:latin typeface="Calibri"/>
              </a:rPr>
              <a:t>Levodopa from gut to brain, with the sites of carbidopa, entacapone and MAO-B inhibitors.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Motor fluctuations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After some years of levodopa, most patients develop fluctuations:</a:t>
            </a:r>
          </a:p>
        </p:txBody>
      </p:sp>
      <p:sp>
        <p:nvSpPr>
          <p:cNvPr id="9" name="Oval 8"/>
          <p:cNvSpPr/>
          <p:nvPr/>
        </p:nvSpPr>
        <p:spPr>
          <a:xfrm>
            <a:off x="548640" y="225399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272284"/>
            <a:ext cx="10500055" cy="808863"/>
          </a:xfrm>
          <a:prstGeom prst="rect">
            <a:avLst/>
          </a:prstGeom>
          <a:noFill/>
        </p:spPr>
        <p:txBody>
          <a:bodyPr wrap="square" anchor="t" lIns="0" rIns="0" tIns="0" bIns="0">
            <a:spAutoFit/>
          </a:bodyPr>
          <a:lstStyle/>
          <a:p>
            <a:r>
              <a:rPr sz="2100" i="0" b="1">
                <a:solidFill>
                  <a:srgbClr val="1A1F36"/>
                </a:solidFill>
                <a:latin typeface="Calibri"/>
              </a:rPr>
              <a:t>Wearing-off:</a:t>
            </a:r>
            <a:r>
              <a:rPr sz="2100" i="0" b="0">
                <a:solidFill>
                  <a:srgbClr val="1A1F36"/>
                </a:solidFill>
                <a:latin typeface="Calibri"/>
              </a:rPr>
              <a:t> symptoms return before the next dose.</a:t>
            </a:r>
          </a:p>
        </p:txBody>
      </p:sp>
      <p:sp>
        <p:nvSpPr>
          <p:cNvPr id="11" name="Oval 10"/>
          <p:cNvSpPr/>
          <p:nvPr/>
        </p:nvSpPr>
        <p:spPr>
          <a:xfrm>
            <a:off x="548640" y="3108579"/>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126867"/>
            <a:ext cx="10500055" cy="1142237"/>
          </a:xfrm>
          <a:prstGeom prst="rect">
            <a:avLst/>
          </a:prstGeom>
          <a:noFill/>
        </p:spPr>
        <p:txBody>
          <a:bodyPr wrap="square" anchor="t" lIns="0" rIns="0" tIns="0" bIns="0">
            <a:spAutoFit/>
          </a:bodyPr>
          <a:lstStyle/>
          <a:p>
            <a:r>
              <a:rPr sz="2100" i="0" b="1">
                <a:solidFill>
                  <a:srgbClr val="1A1F36"/>
                </a:solidFill>
                <a:latin typeface="Calibri"/>
              </a:rPr>
              <a:t>On–off phenomenon:</a:t>
            </a:r>
            <a:r>
              <a:rPr sz="2100" i="0" b="0">
                <a:solidFill>
                  <a:srgbClr val="1A1F36"/>
                </a:solidFill>
                <a:latin typeface="Calibri"/>
              </a:rPr>
              <a:t> sudden swings between mobility ("on") and immobility ("off").</a:t>
            </a:r>
          </a:p>
        </p:txBody>
      </p:sp>
      <p:sp>
        <p:nvSpPr>
          <p:cNvPr id="13" name="Oval 12"/>
          <p:cNvSpPr/>
          <p:nvPr/>
        </p:nvSpPr>
        <p:spPr>
          <a:xfrm>
            <a:off x="548640" y="4296537"/>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4314825"/>
            <a:ext cx="10500055" cy="808863"/>
          </a:xfrm>
          <a:prstGeom prst="rect">
            <a:avLst/>
          </a:prstGeom>
          <a:noFill/>
        </p:spPr>
        <p:txBody>
          <a:bodyPr wrap="square" anchor="t" lIns="0" rIns="0" tIns="0" bIns="0">
            <a:spAutoFit/>
          </a:bodyPr>
          <a:lstStyle/>
          <a:p>
            <a:r>
              <a:rPr sz="2100" i="0" b="1">
                <a:solidFill>
                  <a:srgbClr val="1A1F36"/>
                </a:solidFill>
                <a:latin typeface="Calibri"/>
              </a:rPr>
              <a:t>Dyskinesia:</a:t>
            </a:r>
            <a:r>
              <a:rPr sz="2100" i="0" b="0">
                <a:solidFill>
                  <a:srgbClr val="1A1F36"/>
                </a:solidFill>
                <a:latin typeface="Calibri"/>
              </a:rPr>
              <a:t> involuntary writhing movements, often at peak dose.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Adverse effects of levodopa</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They reflect disease progression and levodopa's short half-life. Options are smaller, more frequent doses; modified-release levodopa; adding a COMT inhibitor, an MAO-B inhibitor or a dopamine agonist; and amantadine for dyskinesia.</a:t>
            </a:r>
          </a:p>
        </p:txBody>
      </p:sp>
      <p:graphicFrame>
        <p:nvGraphicFramePr>
          <p:cNvPr id="9" name="Table 8"/>
          <p:cNvGraphicFramePr>
            <a:graphicFrameLocks noGrp="1"/>
          </p:cNvGraphicFramePr>
          <p:nvPr/>
        </p:nvGraphicFramePr>
        <p:xfrm>
          <a:off x="548640" y="2830068"/>
          <a:ext cx="11094414" cy="3342129"/>
        </p:xfrm>
        <a:graphic>
          <a:graphicData uri="http://schemas.openxmlformats.org/drawingml/2006/table">
            <a:tbl>
              <a:tblPr firstRow="0" bandRow="0">
                <a:tableStyleId>{5C22544A-7EE6-4342-B048-85BDC9FD1C3A}</a:tableStyleId>
              </a:tblPr>
              <a:tblGrid>
                <a:gridCol w="1740300"/>
                <a:gridCol w="4930851"/>
                <a:gridCol w="4423263"/>
              </a:tblGrid>
              <a:tr h="477447">
                <a:tc>
                  <a:txBody>
                    <a:bodyPr/>
                    <a:lstStyle/>
                    <a:p>
                      <a:r>
                        <a:rPr sz="1200" i="0" b="1">
                          <a:solidFill>
                            <a:srgbClr val="FFFFFF"/>
                          </a:solidFill>
                          <a:latin typeface="Calibri"/>
                        </a:rPr>
                        <a:t>Group</a:t>
                      </a:r>
                    </a:p>
                  </a:txBody>
                  <a:tcPr marL="109728" marR="109728" marT="45720" marB="45720" anchor="ctr">
                    <a:solidFill>
                      <a:srgbClr val="1B2A8C"/>
                    </a:solidFill>
                  </a:tcPr>
                </a:tc>
                <a:tc>
                  <a:txBody>
                    <a:bodyPr/>
                    <a:lstStyle/>
                    <a:p>
                      <a:r>
                        <a:rPr sz="1200" i="0" b="1">
                          <a:solidFill>
                            <a:srgbClr val="FFFFFF"/>
                          </a:solidFill>
                          <a:latin typeface="Calibri"/>
                        </a:rPr>
                        <a:t>Effect</a:t>
                      </a:r>
                    </a:p>
                  </a:txBody>
                  <a:tcPr marL="109728" marR="109728" marT="45720" marB="45720" anchor="ctr">
                    <a:solidFill>
                      <a:srgbClr val="1B2A8C"/>
                    </a:solidFill>
                  </a:tcPr>
                </a:tc>
                <a:tc>
                  <a:txBody>
                    <a:bodyPr/>
                    <a:lstStyle/>
                    <a:p>
                      <a:r>
                        <a:rPr sz="1200" i="0" b="1">
                          <a:solidFill>
                            <a:srgbClr val="FFFFFF"/>
                          </a:solidFill>
                          <a:latin typeface="Calibri"/>
                        </a:rPr>
                        <a:t>Cause</a:t>
                      </a:r>
                    </a:p>
                  </a:txBody>
                  <a:tcPr marL="109728" marR="109728" marT="45720" marB="45720" anchor="ctr">
                    <a:solidFill>
                      <a:srgbClr val="1B2A8C"/>
                    </a:solidFill>
                  </a:tcPr>
                </a:tc>
              </a:tr>
              <a:tr h="477447">
                <a:tc>
                  <a:txBody>
                    <a:bodyPr/>
                    <a:lstStyle/>
                    <a:p>
                      <a:r>
                        <a:rPr sz="1300" i="0" b="1">
                          <a:solidFill>
                            <a:srgbClr val="1A1F36"/>
                          </a:solidFill>
                          <a:latin typeface="Calibri"/>
                        </a:rPr>
                        <a:t>Gastrointestinal</a:t>
                      </a:r>
                    </a:p>
                  </a:txBody>
                  <a:tcPr marL="109728" marR="109728" marT="45720" marB="45720" anchor="ctr">
                    <a:solidFill>
                      <a:srgbClr val="FFFFFF"/>
                    </a:solidFill>
                  </a:tcPr>
                </a:tc>
                <a:tc>
                  <a:txBody>
                    <a:bodyPr/>
                    <a:lstStyle/>
                    <a:p>
                      <a:r>
                        <a:rPr sz="1300" i="0" b="0">
                          <a:solidFill>
                            <a:srgbClr val="1A1F36"/>
                          </a:solidFill>
                          <a:latin typeface="Calibri"/>
                        </a:rPr>
                        <a:t>Nausea, vomiting</a:t>
                      </a:r>
                    </a:p>
                  </a:txBody>
                  <a:tcPr marL="109728" marR="109728" marT="45720" marB="45720" anchor="ctr">
                    <a:solidFill>
                      <a:srgbClr val="FFFFFF"/>
                    </a:solidFill>
                  </a:tcPr>
                </a:tc>
                <a:tc>
                  <a:txBody>
                    <a:bodyPr/>
                    <a:lstStyle/>
                    <a:p>
                      <a:r>
                        <a:rPr sz="1300" i="0" b="0">
                          <a:solidFill>
                            <a:srgbClr val="1A1F36"/>
                          </a:solidFill>
                          <a:latin typeface="Calibri"/>
                        </a:rPr>
                        <a:t>Dopamine at the CTZ (outside the blood-brain barrier)</a:t>
                      </a:r>
                    </a:p>
                  </a:txBody>
                  <a:tcPr marL="109728" marR="109728" marT="45720" marB="45720" anchor="ctr">
                    <a:solidFill>
                      <a:srgbClr val="FFFFFF"/>
                    </a:solidFill>
                  </a:tcPr>
                </a:tc>
              </a:tr>
              <a:tr h="477447">
                <a:tc>
                  <a:txBody>
                    <a:bodyPr/>
                    <a:lstStyle/>
                    <a:p>
                      <a:r>
                        <a:rPr sz="1300" i="0" b="1">
                          <a:solidFill>
                            <a:srgbClr val="1A1F36"/>
                          </a:solidFill>
                          <a:latin typeface="Calibri"/>
                        </a:rPr>
                        <a:t>Cardiovascular</a:t>
                      </a:r>
                    </a:p>
                  </a:txBody>
                  <a:tcPr marL="109728" marR="109728" marT="45720" marB="45720" anchor="ctr">
                    <a:solidFill>
                      <a:srgbClr val="F1F2F8"/>
                    </a:solidFill>
                  </a:tcPr>
                </a:tc>
                <a:tc>
                  <a:txBody>
                    <a:bodyPr/>
                    <a:lstStyle/>
                    <a:p>
                      <a:r>
                        <a:rPr sz="1300" i="0" b="0">
                          <a:solidFill>
                            <a:srgbClr val="1A1F36"/>
                          </a:solidFill>
                          <a:latin typeface="Calibri"/>
                        </a:rPr>
                        <a:t>Postural hypotension, arrhythmia</a:t>
                      </a:r>
                    </a:p>
                  </a:txBody>
                  <a:tcPr marL="109728" marR="109728" marT="45720" marB="45720" anchor="ctr">
                    <a:solidFill>
                      <a:srgbClr val="F1F2F8"/>
                    </a:solidFill>
                  </a:tcPr>
                </a:tc>
                <a:tc>
                  <a:txBody>
                    <a:bodyPr/>
                    <a:lstStyle/>
                    <a:p>
                      <a:r>
                        <a:rPr sz="1300" i="0" b="0">
                          <a:solidFill>
                            <a:srgbClr val="1A1F36"/>
                          </a:solidFill>
                          <a:latin typeface="Calibri"/>
                        </a:rPr>
                        <a:t>Peripheral dopamine and noradrenaline</a:t>
                      </a:r>
                    </a:p>
                  </a:txBody>
                  <a:tcPr marL="109728" marR="109728" marT="45720" marB="45720" anchor="ctr">
                    <a:solidFill>
                      <a:srgbClr val="F1F2F8"/>
                    </a:solidFill>
                  </a:tcPr>
                </a:tc>
              </a:tr>
              <a:tr h="477447">
                <a:tc>
                  <a:txBody>
                    <a:bodyPr/>
                    <a:lstStyle/>
                    <a:p>
                      <a:r>
                        <a:rPr sz="1300" i="0" b="1">
                          <a:solidFill>
                            <a:srgbClr val="1A1F36"/>
                          </a:solidFill>
                          <a:latin typeface="Calibri"/>
                        </a:rPr>
                        <a:t>Psychiatric</a:t>
                      </a:r>
                    </a:p>
                  </a:txBody>
                  <a:tcPr marL="109728" marR="109728" marT="45720" marB="45720" anchor="ctr">
                    <a:solidFill>
                      <a:srgbClr val="FFFFFF"/>
                    </a:solidFill>
                  </a:tcPr>
                </a:tc>
                <a:tc>
                  <a:txBody>
                    <a:bodyPr/>
                    <a:lstStyle/>
                    <a:p>
                      <a:r>
                        <a:rPr sz="1300" i="0" b="0">
                          <a:solidFill>
                            <a:srgbClr val="1A1F36"/>
                          </a:solidFill>
                          <a:latin typeface="Calibri"/>
                        </a:rPr>
                        <a:t>Hallucinations, confusion, vivid dreams</a:t>
                      </a:r>
                    </a:p>
                  </a:txBody>
                  <a:tcPr marL="109728" marR="109728" marT="45720" marB="45720" anchor="ctr">
                    <a:solidFill>
                      <a:srgbClr val="FFFFFF"/>
                    </a:solidFill>
                  </a:tcPr>
                </a:tc>
                <a:tc>
                  <a:txBody>
                    <a:bodyPr/>
                    <a:lstStyle/>
                    <a:p>
                      <a:r>
                        <a:rPr sz="1300" i="0" b="0">
                          <a:solidFill>
                            <a:srgbClr val="1A1F36"/>
                          </a:solidFill>
                          <a:latin typeface="Calibri"/>
                        </a:rPr>
                        <a:t>Dopamine in mesolimbic and mesocortical pathways</a:t>
                      </a:r>
                    </a:p>
                  </a:txBody>
                  <a:tcPr marL="109728" marR="109728" marT="45720" marB="45720" anchor="ctr">
                    <a:solidFill>
                      <a:srgbClr val="FFFFFF"/>
                    </a:solidFill>
                  </a:tcPr>
                </a:tc>
              </a:tr>
              <a:tr h="477447">
                <a:tc>
                  <a:txBody>
                    <a:bodyPr/>
                    <a:lstStyle/>
                    <a:p>
                      <a:r>
                        <a:rPr sz="1300" i="0" b="1">
                          <a:solidFill>
                            <a:srgbClr val="1A1F36"/>
                          </a:solidFill>
                          <a:latin typeface="Calibri"/>
                        </a:rPr>
                        <a:t>Motor</a:t>
                      </a:r>
                    </a:p>
                  </a:txBody>
                  <a:tcPr marL="109728" marR="109728" marT="45720" marB="45720" anchor="ctr">
                    <a:solidFill>
                      <a:srgbClr val="F1F2F8"/>
                    </a:solidFill>
                  </a:tcPr>
                </a:tc>
                <a:tc>
                  <a:txBody>
                    <a:bodyPr/>
                    <a:lstStyle/>
                    <a:p>
                      <a:r>
                        <a:rPr sz="1300" i="0" b="0">
                          <a:solidFill>
                            <a:srgbClr val="1A1F36"/>
                          </a:solidFill>
                          <a:latin typeface="Calibri"/>
                        </a:rPr>
                        <a:t>Dyskinesia, on–off</a:t>
                      </a:r>
                    </a:p>
                  </a:txBody>
                  <a:tcPr marL="109728" marR="109728" marT="45720" marB="45720" anchor="ctr">
                    <a:solidFill>
                      <a:srgbClr val="F1F2F8"/>
                    </a:solidFill>
                  </a:tcPr>
                </a:tc>
                <a:tc>
                  <a:txBody>
                    <a:bodyPr/>
                    <a:lstStyle/>
                    <a:p>
                      <a:r>
                        <a:rPr sz="1300" i="0" b="0">
                          <a:solidFill>
                            <a:srgbClr val="1A1F36"/>
                          </a:solidFill>
                          <a:latin typeface="Calibri"/>
                        </a:rPr>
                        <a:t>Long-term treatment and disease progression</a:t>
                      </a:r>
                    </a:p>
                  </a:txBody>
                  <a:tcPr marL="109728" marR="109728" marT="45720" marB="45720" anchor="ctr">
                    <a:solidFill>
                      <a:srgbClr val="F1F2F8"/>
                    </a:solidFill>
                  </a:tcPr>
                </a:tc>
              </a:tr>
              <a:tr h="477447">
                <a:tc>
                  <a:txBody>
                    <a:bodyPr/>
                    <a:lstStyle/>
                    <a:p>
                      <a:r>
                        <a:rPr sz="1300" i="0" b="1">
                          <a:solidFill>
                            <a:srgbClr val="1A1F36"/>
                          </a:solidFill>
                          <a:latin typeface="Calibri"/>
                        </a:rPr>
                        <a:t>Behaviour</a:t>
                      </a:r>
                    </a:p>
                  </a:txBody>
                  <a:tcPr marL="109728" marR="109728" marT="45720" marB="45720" anchor="ctr">
                    <a:solidFill>
                      <a:srgbClr val="FFFFFF"/>
                    </a:solidFill>
                  </a:tcPr>
                </a:tc>
                <a:tc>
                  <a:txBody>
                    <a:bodyPr/>
                    <a:lstStyle/>
                    <a:p>
                      <a:r>
                        <a:rPr sz="1300" i="0" b="0">
                          <a:solidFill>
                            <a:srgbClr val="1A1F36"/>
                          </a:solidFill>
                          <a:latin typeface="Calibri"/>
                        </a:rPr>
                        <a:t>Impulse-control disorders (gambling, shopping, hypersexuality)</a:t>
                      </a:r>
                    </a:p>
                  </a:txBody>
                  <a:tcPr marL="109728" marR="109728" marT="45720" marB="45720" anchor="ctr">
                    <a:solidFill>
                      <a:srgbClr val="FFFFFF"/>
                    </a:solidFill>
                  </a:tcPr>
                </a:tc>
                <a:tc>
                  <a:txBody>
                    <a:bodyPr/>
                    <a:lstStyle/>
                    <a:p>
                      <a:r>
                        <a:rPr sz="1300" i="0" b="0">
                          <a:solidFill>
                            <a:srgbClr val="1A1F36"/>
                          </a:solidFill>
                          <a:latin typeface="Calibri"/>
                        </a:rPr>
                        <a:t>More common with dopamine agonists</a:t>
                      </a:r>
                    </a:p>
                  </a:txBody>
                  <a:tcPr marL="109728" marR="109728" marT="45720" marB="45720" anchor="ctr">
                    <a:solidFill>
                      <a:srgbClr val="FFFFFF"/>
                    </a:solidFill>
                  </a:tcPr>
                </a:tc>
              </a:tr>
              <a:tr h="477447">
                <a:tc>
                  <a:txBody>
                    <a:bodyPr/>
                    <a:lstStyle/>
                    <a:p>
                      <a:r>
                        <a:rPr sz="1300" i="0" b="1">
                          <a:solidFill>
                            <a:srgbClr val="1A1F36"/>
                          </a:solidFill>
                          <a:latin typeface="Calibri"/>
                        </a:rPr>
                        <a:t>Other</a:t>
                      </a:r>
                    </a:p>
                  </a:txBody>
                  <a:tcPr marL="109728" marR="109728" marT="45720" marB="45720" anchor="ctr">
                    <a:solidFill>
                      <a:srgbClr val="F1F2F8"/>
                    </a:solidFill>
                  </a:tcPr>
                </a:tc>
                <a:tc>
                  <a:txBody>
                    <a:bodyPr/>
                    <a:lstStyle/>
                    <a:p>
                      <a:r>
                        <a:rPr sz="1300" i="0" b="0">
                          <a:solidFill>
                            <a:srgbClr val="1A1F36"/>
                          </a:solidFill>
                          <a:latin typeface="Calibri"/>
                        </a:rPr>
                        <a:t>Dark urine and sweat</a:t>
                      </a:r>
                    </a:p>
                  </a:txBody>
                  <a:tcPr marL="109728" marR="109728" marT="45720" marB="45720" anchor="ctr">
                    <a:solidFill>
                      <a:srgbClr val="F1F2F8"/>
                    </a:solidFill>
                  </a:tcPr>
                </a:tc>
                <a:tc>
                  <a:txBody>
                    <a:bodyPr/>
                    <a:lstStyle/>
                    <a:p>
                      <a:r>
                        <a:rPr sz="1300" i="0" b="0">
                          <a:solidFill>
                            <a:srgbClr val="1A1F36"/>
                          </a:solidFill>
                          <a:latin typeface="Calibri"/>
                        </a:rPr>
                        <a:t>Oxidation of catecholamine metabolites; harmless</a:t>
                      </a:r>
                    </a:p>
                  </a:txBody>
                  <a:tcPr marL="109728" marR="109728" marT="45720" marB="45720" anchor="ctr">
                    <a:solidFill>
                      <a:srgbClr val="F1F2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Drug interactions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944499"/>
          </a:xfrm>
          <a:prstGeom prst="rect">
            <a:avLst/>
          </a:prstGeom>
          <a:noFill/>
        </p:spPr>
        <p:txBody>
          <a:bodyPr wrap="square" anchor="t" lIns="0" rIns="0" tIns="0" bIns="0">
            <a:spAutoFit/>
          </a:bodyPr>
          <a:lstStyle/>
          <a:p>
            <a:r>
              <a:rPr sz="2100" i="0" b="1">
                <a:solidFill>
                  <a:srgbClr val="1A1F36"/>
                </a:solidFill>
                <a:latin typeface="Calibri"/>
              </a:rPr>
              <a:t>Non-selective MAO inhibitors</a:t>
            </a:r>
            <a:r>
              <a:rPr sz="2100" i="0" b="0">
                <a:solidFill>
                  <a:srgbClr val="1A1F36"/>
                </a:solidFill>
                <a:latin typeface="Calibri"/>
              </a:rPr>
              <a:t> (phenelzine, tranylcypromine): hypertensive crisis. Stop them at least 2 weeks before levodopa.</a:t>
            </a:r>
          </a:p>
        </p:txBody>
      </p:sp>
      <p:sp>
        <p:nvSpPr>
          <p:cNvPr id="10" name="Oval 9"/>
          <p:cNvSpPr/>
          <p:nvPr/>
        </p:nvSpPr>
        <p:spPr>
          <a:xfrm>
            <a:off x="548640" y="2562987"/>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581275"/>
            <a:ext cx="10500055" cy="944499"/>
          </a:xfrm>
          <a:prstGeom prst="rect">
            <a:avLst/>
          </a:prstGeom>
          <a:noFill/>
        </p:spPr>
        <p:txBody>
          <a:bodyPr wrap="square" anchor="t" lIns="0" rIns="0" tIns="0" bIns="0">
            <a:spAutoFit/>
          </a:bodyPr>
          <a:lstStyle/>
          <a:p>
            <a:r>
              <a:rPr sz="2100" i="0" b="1">
                <a:solidFill>
                  <a:srgbClr val="1A1F36"/>
                </a:solidFill>
                <a:latin typeface="Calibri"/>
              </a:rPr>
              <a:t>Antipsychotics</a:t>
            </a:r>
            <a:r>
              <a:rPr sz="2100" i="0" b="0">
                <a:solidFill>
                  <a:srgbClr val="1A1F36"/>
                </a:solidFill>
                <a:latin typeface="Calibri"/>
              </a:rPr>
              <a:t> block the effect of levodopa. If psychosis develops, use low-dose quetiapine or clozapine.</a:t>
            </a:r>
          </a:p>
        </p:txBody>
      </p:sp>
      <p:sp>
        <p:nvSpPr>
          <p:cNvPr id="12" name="Oval 11"/>
          <p:cNvSpPr/>
          <p:nvPr/>
        </p:nvSpPr>
        <p:spPr>
          <a:xfrm>
            <a:off x="548640" y="355320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571494"/>
            <a:ext cx="10500055" cy="944499"/>
          </a:xfrm>
          <a:prstGeom prst="rect">
            <a:avLst/>
          </a:prstGeom>
          <a:noFill/>
        </p:spPr>
        <p:txBody>
          <a:bodyPr wrap="square" anchor="t" lIns="0" rIns="0" tIns="0" bIns="0">
            <a:spAutoFit/>
          </a:bodyPr>
          <a:lstStyle/>
          <a:p>
            <a:r>
              <a:rPr sz="2100" i="0" b="1">
                <a:solidFill>
                  <a:srgbClr val="1A1F36"/>
                </a:solidFill>
                <a:latin typeface="Calibri"/>
              </a:rPr>
              <a:t>Pyridoxine (vitamin B6)</a:t>
            </a:r>
            <a:r>
              <a:rPr sz="2100" i="0" b="0">
                <a:solidFill>
                  <a:srgbClr val="1A1F36"/>
                </a:solidFill>
                <a:latin typeface="Calibri"/>
              </a:rPr>
              <a:t> speeds peripheral decarboxylation of levodopa given alone. With carbidopa–levodopa this is not clinically important.</a:t>
            </a:r>
          </a:p>
        </p:txBody>
      </p:sp>
      <p:sp>
        <p:nvSpPr>
          <p:cNvPr id="14" name="Oval 13"/>
          <p:cNvSpPr/>
          <p:nvPr/>
        </p:nvSpPr>
        <p:spPr>
          <a:xfrm>
            <a:off x="548640" y="454342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561713"/>
            <a:ext cx="10500055" cy="611124"/>
          </a:xfrm>
          <a:prstGeom prst="rect">
            <a:avLst/>
          </a:prstGeom>
          <a:noFill/>
        </p:spPr>
        <p:txBody>
          <a:bodyPr wrap="square" anchor="t" lIns="0" rIns="0" tIns="0" bIns="0">
            <a:spAutoFit/>
          </a:bodyPr>
          <a:lstStyle/>
          <a:p>
            <a:r>
              <a:rPr sz="2100" i="0" b="1">
                <a:solidFill>
                  <a:srgbClr val="1A1F36"/>
                </a:solidFill>
                <a:latin typeface="Calibri"/>
              </a:rPr>
              <a:t>Iron</a:t>
            </a:r>
            <a:r>
              <a:rPr sz="2100" i="0" b="0">
                <a:solidFill>
                  <a:srgbClr val="1A1F36"/>
                </a:solidFill>
                <a:latin typeface="Calibri"/>
              </a:rPr>
              <a:t> reduces levodopa absorption; separate the doses.</a:t>
            </a:r>
          </a:p>
        </p:txBody>
      </p:sp>
      <p:sp>
        <p:nvSpPr>
          <p:cNvPr id="16" name="Oval 15"/>
          <p:cNvSpPr/>
          <p:nvPr/>
        </p:nvSpPr>
        <p:spPr>
          <a:xfrm>
            <a:off x="548640" y="5200269"/>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218557"/>
            <a:ext cx="10500055" cy="944499"/>
          </a:xfrm>
          <a:prstGeom prst="rect">
            <a:avLst/>
          </a:prstGeom>
          <a:noFill/>
        </p:spPr>
        <p:txBody>
          <a:bodyPr wrap="square" anchor="t" lIns="0" rIns="0" tIns="0" bIns="0">
            <a:spAutoFit/>
          </a:bodyPr>
          <a:lstStyle/>
          <a:p>
            <a:r>
              <a:rPr sz="2100" i="0" b="1">
                <a:solidFill>
                  <a:srgbClr val="1A1F36"/>
                </a:solidFill>
                <a:latin typeface="Calibri"/>
              </a:rPr>
              <a:t>Protein-rich meals</a:t>
            </a:r>
            <a:r>
              <a:rPr sz="2100" i="0" b="0">
                <a:solidFill>
                  <a:srgbClr val="1A1F36"/>
                </a:solidFill>
                <a:latin typeface="Calibri"/>
              </a:rPr>
              <a:t> reduce effect; take levodopa 30 minutes before meals if response is erratic.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Levodopa</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DF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8A61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1A1F36"/>
                </a:solidFill>
                <a:latin typeface="Calibri"/>
              </a:rPr>
              <a:t>The pyridoxine interaction applies to levodopa </a:t>
            </a:r>
            <a:r>
              <a:rPr sz="2600" i="0" b="1">
                <a:solidFill>
                  <a:srgbClr val="1A1F36"/>
                </a:solidFill>
                <a:latin typeface="Calibri"/>
              </a:rPr>
              <a:t>alone</a:t>
            </a:r>
            <a:r>
              <a:rPr sz="2600" i="0" b="0">
                <a:solidFill>
                  <a:srgbClr val="1A1F36"/>
                </a:solidFill>
                <a:latin typeface="Calibri"/>
              </a:rPr>
              <a:t>. Carbidopa removes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DE5"/>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1EDE5"/>
                </a:solidFill>
                <a:latin typeface="Calibri"/>
              </a:rPr>
              <a:t>Section 3</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1A1F36"/>
                </a:solidFill>
                <a:latin typeface="Calibri"/>
              </a:rPr>
              <a:t>For levodopa-induced nausea, use </a:t>
            </a:r>
            <a:r>
              <a:rPr sz="2200" i="0" b="1">
                <a:solidFill>
                  <a:srgbClr val="1A1F36"/>
                </a:solidFill>
                <a:latin typeface="Calibri"/>
              </a:rPr>
              <a:t>domperidone</a:t>
            </a:r>
            <a:r>
              <a:rPr sz="2200" i="0" b="0">
                <a:solidFill>
                  <a:srgbClr val="1A1F36"/>
                </a:solidFill>
                <a:latin typeface="Calibri"/>
              </a:rPr>
              <a:t>. It blocks D2 receptors in the CTZ but does not cross the blood-brain barrier, so it does not worsen parkinsonism. Metoclopramide and prochlorperazine cross it and must be avoided.</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Parkinson's Disease</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42</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Dopamine Agonists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Dopamine agonists act directly on D2 and D3 receptors. They do not need conversion by neurons. They last longer than levodopa and cause fewer motor fluctuations. They cause more hallucinations, sleepiness and impulse-control disorders.</a:t>
            </a:r>
          </a:p>
          <a:p>
            <a:pPr>
              <a:spcAft>
                <a:spcPts val="800"/>
              </a:spcAft>
            </a:pPr>
            <a:r>
              <a:rPr sz="1700" i="0" b="1">
                <a:solidFill>
                  <a:srgbClr val="1A1F36"/>
                </a:solidFill>
                <a:latin typeface="Calibri"/>
              </a:rPr>
              <a:t>Adverse effects:</a:t>
            </a:r>
            <a:r>
              <a:rPr sz="1700" i="0" b="0">
                <a:solidFill>
                  <a:srgbClr val="1A1F36"/>
                </a:solidFill>
                <a:latin typeface="Calibri"/>
              </a:rPr>
              <a:t> nausea, postural hypotension, hallucinations, confusion, sudden sleep attacks and impulse-control disorders.</a:t>
            </a:r>
          </a:p>
        </p:txBody>
      </p:sp>
      <p:sp>
        <p:nvSpPr>
          <p:cNvPr id="9" name="Oval 8"/>
          <p:cNvSpPr/>
          <p:nvPr/>
        </p:nvSpPr>
        <p:spPr>
          <a:xfrm>
            <a:off x="5394959"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5989320" y="1591056"/>
            <a:ext cx="5653735" cy="1475612"/>
          </a:xfrm>
          <a:prstGeom prst="rect">
            <a:avLst/>
          </a:prstGeom>
          <a:noFill/>
        </p:spPr>
        <p:txBody>
          <a:bodyPr wrap="square" anchor="t" lIns="0" rIns="0" tIns="0" bIns="0">
            <a:spAutoFit/>
          </a:bodyPr>
          <a:lstStyle/>
          <a:p>
            <a:r>
              <a:rPr sz="2100" i="0" b="1">
                <a:solidFill>
                  <a:srgbClr val="1A1F36"/>
                </a:solidFill>
                <a:latin typeface="Calibri"/>
              </a:rPr>
              <a:t>Non-ergot agonists</a:t>
            </a:r>
            <a:r>
              <a:rPr sz="2100" i="0" b="0">
                <a:solidFill>
                  <a:srgbClr val="1A1F36"/>
                </a:solidFill>
                <a:latin typeface="Calibri"/>
              </a:rPr>
              <a:t> (first choice): pramipexole, ropinirole and rotigotine (a daily skin patch).</a:t>
            </a:r>
          </a:p>
        </p:txBody>
      </p:sp>
      <p:sp>
        <p:nvSpPr>
          <p:cNvPr id="11" name="Oval 10"/>
          <p:cNvSpPr/>
          <p:nvPr/>
        </p:nvSpPr>
        <p:spPr>
          <a:xfrm>
            <a:off x="5394959" y="3094100"/>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5989320" y="3112388"/>
            <a:ext cx="5653735" cy="1808988"/>
          </a:xfrm>
          <a:prstGeom prst="rect">
            <a:avLst/>
          </a:prstGeom>
          <a:noFill/>
        </p:spPr>
        <p:txBody>
          <a:bodyPr wrap="square" anchor="t" lIns="0" rIns="0" tIns="0" bIns="0">
            <a:spAutoFit/>
          </a:bodyPr>
          <a:lstStyle/>
          <a:p>
            <a:r>
              <a:rPr sz="2100" i="0" b="1">
                <a:solidFill>
                  <a:srgbClr val="1A1F36"/>
                </a:solidFill>
                <a:latin typeface="Calibri"/>
              </a:rPr>
              <a:t>Ergot agonists</a:t>
            </a:r>
            <a:r>
              <a:rPr sz="2100" i="0" b="0">
                <a:solidFill>
                  <a:srgbClr val="1A1F36"/>
                </a:solidFill>
                <a:latin typeface="Calibri"/>
              </a:rPr>
              <a:t>: bromocriptine and cabergoline. They are rarely used for Parkinson's disease now. They can cause pulmonary, retroperitoneal and heart-valve fibrosis.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Dopamine Agonists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100" i="0" b="0">
                <a:solidFill>
                  <a:srgbClr val="1A1F36"/>
                </a:solidFill>
                <a:latin typeface="Calibri"/>
              </a:rPr>
              <a:t>Ask every patient on a dopamine agonist, and the family, about gambling, shopping, eating or sexual behaviour. Warn about sudden sleep; patients should not drive if it occurs. Do not stop agonists suddenly.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MAO-B Inhibitors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691991"/>
          </a:xfrm>
          <a:prstGeom prst="rect">
            <a:avLst/>
          </a:prstGeom>
          <a:noFill/>
        </p:spPr>
        <p:txBody>
          <a:bodyPr wrap="square" anchor="t" lIns="0" rIns="0" tIns="0" bIns="0">
            <a:spAutoFit/>
          </a:bodyPr>
          <a:lstStyle/>
          <a:p>
            <a:r>
              <a:rPr sz="2100" i="0" b="1">
                <a:solidFill>
                  <a:srgbClr val="1A1F36"/>
                </a:solidFill>
                <a:latin typeface="Calibri"/>
              </a:rPr>
              <a:t>Members:</a:t>
            </a:r>
            <a:r>
              <a:rPr sz="2100" i="0" b="0">
                <a:solidFill>
                  <a:srgbClr val="1A1F36"/>
                </a:solidFill>
                <a:latin typeface="Calibri"/>
              </a:rPr>
              <a:t> selegiline, rasagiline and safinamide.</a:t>
            </a:r>
          </a:p>
        </p:txBody>
      </p:sp>
      <p:sp>
        <p:nvSpPr>
          <p:cNvPr id="10" name="Oval 9"/>
          <p:cNvSpPr/>
          <p:nvPr/>
        </p:nvSpPr>
        <p:spPr>
          <a:xfrm>
            <a:off x="548640" y="2310479"/>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328767"/>
            <a:ext cx="10500055" cy="1025366"/>
          </a:xfrm>
          <a:prstGeom prst="rect">
            <a:avLst/>
          </a:prstGeom>
          <a:noFill/>
        </p:spPr>
        <p:txBody>
          <a:bodyPr wrap="square" anchor="t" lIns="0" rIns="0" tIns="0" bIns="0">
            <a:spAutoFit/>
          </a:bodyPr>
          <a:lstStyle/>
          <a:p>
            <a:r>
              <a:rPr sz="2100" i="0" b="1">
                <a:solidFill>
                  <a:srgbClr val="1A1F36"/>
                </a:solidFill>
                <a:latin typeface="Calibri"/>
              </a:rPr>
              <a:t>Mechanism:</a:t>
            </a:r>
            <a:r>
              <a:rPr sz="2100" i="0" b="0">
                <a:solidFill>
                  <a:srgbClr val="1A1F36"/>
                </a:solidFill>
                <a:latin typeface="Calibri"/>
              </a:rPr>
              <a:t> selective inhibition of MAO-B, the main enzyme that breaks down dopamine in the striatum. Brain dopamine rises.</a:t>
            </a:r>
          </a:p>
        </p:txBody>
      </p:sp>
      <p:sp>
        <p:nvSpPr>
          <p:cNvPr id="12" name="Oval 11"/>
          <p:cNvSpPr/>
          <p:nvPr/>
        </p:nvSpPr>
        <p:spPr>
          <a:xfrm>
            <a:off x="548640" y="338156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399853"/>
            <a:ext cx="10500055" cy="1025366"/>
          </a:xfrm>
          <a:prstGeom prst="rect">
            <a:avLst/>
          </a:prstGeom>
          <a:noFill/>
        </p:spPr>
        <p:txBody>
          <a:bodyPr wrap="square" anchor="t" lIns="0" rIns="0" tIns="0" bIns="0">
            <a:spAutoFit/>
          </a:bodyPr>
          <a:lstStyle/>
          <a:p>
            <a:r>
              <a:rPr sz="2100" i="0" b="1">
                <a:solidFill>
                  <a:srgbClr val="1A1F36"/>
                </a:solidFill>
                <a:latin typeface="Calibri"/>
              </a:rPr>
              <a:t>Use:</a:t>
            </a:r>
            <a:r>
              <a:rPr sz="2100" i="0" b="0">
                <a:solidFill>
                  <a:srgbClr val="1A1F36"/>
                </a:solidFill>
                <a:latin typeface="Calibri"/>
              </a:rPr>
              <a:t> alone in early disease (mild benefit) or added to levodopa to reduce wearing-off.</a:t>
            </a:r>
          </a:p>
        </p:txBody>
      </p:sp>
      <p:sp>
        <p:nvSpPr>
          <p:cNvPr id="14" name="Oval 13"/>
          <p:cNvSpPr/>
          <p:nvPr/>
        </p:nvSpPr>
        <p:spPr>
          <a:xfrm>
            <a:off x="548640" y="445265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470939"/>
            <a:ext cx="10500055" cy="1692116"/>
          </a:xfrm>
          <a:prstGeom prst="rect">
            <a:avLst/>
          </a:prstGeom>
          <a:noFill/>
        </p:spPr>
        <p:txBody>
          <a:bodyPr wrap="square" anchor="t" lIns="0" rIns="0" tIns="0" bIns="0">
            <a:spAutoFit/>
          </a:bodyPr>
          <a:lstStyle/>
          <a:p>
            <a:r>
              <a:rPr sz="2100" i="0" b="1">
                <a:solidFill>
                  <a:srgbClr val="1A1F36"/>
                </a:solidFill>
                <a:latin typeface="Calibri"/>
              </a:rPr>
              <a:t>Safety:</a:t>
            </a:r>
            <a:r>
              <a:rPr sz="2100" i="0" b="0">
                <a:solidFill>
                  <a:srgbClr val="1A1F36"/>
                </a:solidFill>
                <a:latin typeface="Calibri"/>
              </a:rPr>
              <a:t> at normal doses they do not cause the "cheese reaction", because MAO-A in the gut still breaks down tyramine. Selectivity is lost at high doses. Combining them with pethidine, tramadol or serotonergic antidepressants can cause serotonin syndrome.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Amantadine and Anticholinergics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1">
                <a:solidFill>
                  <a:srgbClr val="1A1F36"/>
                </a:solidFill>
                <a:latin typeface="Calibri"/>
              </a:rPr>
              <a:t>Amantadine</a:t>
            </a:r>
            <a:r>
              <a:rPr sz="2100" i="0" b="0">
                <a:solidFill>
                  <a:srgbClr val="1A1F36"/>
                </a:solidFill>
                <a:latin typeface="Calibri"/>
              </a:rPr>
              <a:t> is an antiviral found by chance to help Parkinson's disease. It increases dopamine release, reduces dopamine reuptake and blocks NMDA receptors. It is now used mainly for levodopa-induced dyskinesia. Adverse effects: nausea, dizziness, confusion, postural hypotension, ankle oedema and livedo reticularis (mottled skin).</a:t>
            </a:r>
          </a:p>
          <a:p>
            <a:pPr>
              <a:spcAft>
                <a:spcPts val="800"/>
              </a:spcAft>
            </a:pPr>
            <a:r>
              <a:rPr sz="2100" i="0" b="1">
                <a:solidFill>
                  <a:srgbClr val="1A1F36"/>
                </a:solidFill>
                <a:latin typeface="Calibri"/>
              </a:rPr>
              <a:t>Anticholinergics</a:t>
            </a:r>
            <a:r>
              <a:rPr sz="2100" i="0" b="0">
                <a:solidFill>
                  <a:srgbClr val="1A1F36"/>
                </a:solidFill>
                <a:latin typeface="Calibri"/>
              </a:rPr>
              <a:t> (trihexyphenidyl, biperiden, benztropine, orphenadrine) block central muscarinic receptors and restore the dopamine–acetylcholine balance. They help tremor more than slowness. They cause dry mouth, constipation, urinary retention, blurred vision and confusion. They worsen memory, glaucoma and prostatic enlargement. Avoid them in older people. Large doses cause hallucinations and can be misused.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Amantadine and Anticholinergics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4480560"/>
        </p:xfrm>
        <a:graphic>
          <a:graphicData uri="http://schemas.openxmlformats.org/drawingml/2006/table">
            <a:tbl>
              <a:tblPr firstRow="0" bandRow="0">
                <a:tableStyleId>{5C22544A-7EE6-4342-B048-85BDC9FD1C3A}</a:tableStyleId>
              </a:tblPr>
              <a:tblGrid>
                <a:gridCol w="2964156"/>
                <a:gridCol w="3811058"/>
                <a:gridCol w="4319199"/>
              </a:tblGrid>
              <a:tr h="640080">
                <a:tc>
                  <a:txBody>
                    <a:bodyPr/>
                    <a:lstStyle/>
                    <a:p>
                      <a:r>
                        <a:rPr sz="1700" i="0" b="1">
                          <a:solidFill>
                            <a:srgbClr val="FFFFFF"/>
                          </a:solidFill>
                          <a:latin typeface="Calibri"/>
                        </a:rPr>
                        <a:t>Drug group</a:t>
                      </a:r>
                    </a:p>
                  </a:txBody>
                  <a:tcPr marL="109728" marR="109728" marT="45720" marB="45720" anchor="ctr">
                    <a:solidFill>
                      <a:srgbClr val="1B2A8C"/>
                    </a:solidFill>
                  </a:tcPr>
                </a:tc>
                <a:tc>
                  <a:txBody>
                    <a:bodyPr/>
                    <a:lstStyle/>
                    <a:p>
                      <a:r>
                        <a:rPr sz="1700" i="0" b="1">
                          <a:solidFill>
                            <a:srgbClr val="FFFFFF"/>
                          </a:solidFill>
                          <a:latin typeface="Calibri"/>
                        </a:rPr>
                        <a:t>Main benefit</a:t>
                      </a:r>
                    </a:p>
                  </a:txBody>
                  <a:tcPr marL="109728" marR="109728" marT="45720" marB="45720" anchor="ctr">
                    <a:solidFill>
                      <a:srgbClr val="1B2A8C"/>
                    </a:solidFill>
                  </a:tcPr>
                </a:tc>
                <a:tc>
                  <a:txBody>
                    <a:bodyPr/>
                    <a:lstStyle/>
                    <a:p>
                      <a:r>
                        <a:rPr sz="1700" i="0" b="1">
                          <a:solidFill>
                            <a:srgbClr val="FFFFFF"/>
                          </a:solidFill>
                          <a:latin typeface="Calibri"/>
                        </a:rPr>
                        <a:t>Main problems</a:t>
                      </a:r>
                    </a:p>
                  </a:txBody>
                  <a:tcPr marL="109728" marR="109728" marT="45720" marB="45720" anchor="ctr">
                    <a:solidFill>
                      <a:srgbClr val="1B2A8C"/>
                    </a:solidFill>
                  </a:tcPr>
                </a:tc>
              </a:tr>
              <a:tr h="640080">
                <a:tc>
                  <a:txBody>
                    <a:bodyPr/>
                    <a:lstStyle/>
                    <a:p>
                      <a:r>
                        <a:rPr sz="1800" i="0" b="1">
                          <a:solidFill>
                            <a:srgbClr val="1A1F36"/>
                          </a:solidFill>
                          <a:latin typeface="Calibri"/>
                        </a:rPr>
                        <a:t>Levodopa + carbidopa</a:t>
                      </a:r>
                    </a:p>
                  </a:txBody>
                  <a:tcPr marL="109728" marR="109728" marT="45720" marB="45720" anchor="ctr">
                    <a:solidFill>
                      <a:srgbClr val="FFFFFF"/>
                    </a:solidFill>
                  </a:tcPr>
                </a:tc>
                <a:tc>
                  <a:txBody>
                    <a:bodyPr/>
                    <a:lstStyle/>
                    <a:p>
                      <a:r>
                        <a:rPr sz="1800" i="0" b="0">
                          <a:solidFill>
                            <a:srgbClr val="1A1F36"/>
                          </a:solidFill>
                          <a:latin typeface="Calibri"/>
                        </a:rPr>
                        <a:t>Most effective for all motor symptoms</a:t>
                      </a:r>
                    </a:p>
                  </a:txBody>
                  <a:tcPr marL="109728" marR="109728" marT="45720" marB="45720" anchor="ctr">
                    <a:solidFill>
                      <a:srgbClr val="FFFFFF"/>
                    </a:solidFill>
                  </a:tcPr>
                </a:tc>
                <a:tc>
                  <a:txBody>
                    <a:bodyPr/>
                    <a:lstStyle/>
                    <a:p>
                      <a:r>
                        <a:rPr sz="1800" i="0" b="0">
                          <a:solidFill>
                            <a:srgbClr val="1A1F36"/>
                          </a:solidFill>
                          <a:latin typeface="Calibri"/>
                        </a:rPr>
                        <a:t>Fluctuations and dyskinesia over time</a:t>
                      </a:r>
                    </a:p>
                  </a:txBody>
                  <a:tcPr marL="109728" marR="109728" marT="45720" marB="45720" anchor="ctr">
                    <a:solidFill>
                      <a:srgbClr val="FFFFFF"/>
                    </a:solidFill>
                  </a:tcPr>
                </a:tc>
              </a:tr>
              <a:tr h="640080">
                <a:tc>
                  <a:txBody>
                    <a:bodyPr/>
                    <a:lstStyle/>
                    <a:p>
                      <a:r>
                        <a:rPr sz="1800" i="0" b="1">
                          <a:solidFill>
                            <a:srgbClr val="1A1F36"/>
                          </a:solidFill>
                          <a:latin typeface="Calibri"/>
                        </a:rPr>
                        <a:t>Non-ergot dopamine agonists</a:t>
                      </a:r>
                    </a:p>
                  </a:txBody>
                  <a:tcPr marL="109728" marR="109728" marT="45720" marB="45720" anchor="ctr">
                    <a:solidFill>
                      <a:srgbClr val="F1F2F8"/>
                    </a:solidFill>
                  </a:tcPr>
                </a:tc>
                <a:tc>
                  <a:txBody>
                    <a:bodyPr/>
                    <a:lstStyle/>
                    <a:p>
                      <a:r>
                        <a:rPr sz="1800" i="0" b="0">
                          <a:solidFill>
                            <a:srgbClr val="1A1F36"/>
                          </a:solidFill>
                          <a:latin typeface="Calibri"/>
                        </a:rPr>
                        <a:t>Longer action, fewer fluctuations</a:t>
                      </a:r>
                    </a:p>
                  </a:txBody>
                  <a:tcPr marL="109728" marR="109728" marT="45720" marB="45720" anchor="ctr">
                    <a:solidFill>
                      <a:srgbClr val="F1F2F8"/>
                    </a:solidFill>
                  </a:tcPr>
                </a:tc>
                <a:tc>
                  <a:txBody>
                    <a:bodyPr/>
                    <a:lstStyle/>
                    <a:p>
                      <a:r>
                        <a:rPr sz="1800" i="0" b="0">
                          <a:solidFill>
                            <a:srgbClr val="1A1F36"/>
                          </a:solidFill>
                          <a:latin typeface="Calibri"/>
                        </a:rPr>
                        <a:t>Hallucinations, sleepiness, impulse control</a:t>
                      </a:r>
                    </a:p>
                  </a:txBody>
                  <a:tcPr marL="109728" marR="109728" marT="45720" marB="45720" anchor="ctr">
                    <a:solidFill>
                      <a:srgbClr val="F1F2F8"/>
                    </a:solidFill>
                  </a:tcPr>
                </a:tc>
              </a:tr>
              <a:tr h="640080">
                <a:tc>
                  <a:txBody>
                    <a:bodyPr/>
                    <a:lstStyle/>
                    <a:p>
                      <a:r>
                        <a:rPr sz="1800" i="0" b="1">
                          <a:solidFill>
                            <a:srgbClr val="1A1F36"/>
                          </a:solidFill>
                          <a:latin typeface="Calibri"/>
                        </a:rPr>
                        <a:t>MAO-B inhibitors</a:t>
                      </a:r>
                    </a:p>
                  </a:txBody>
                  <a:tcPr marL="109728" marR="109728" marT="45720" marB="45720" anchor="ctr">
                    <a:solidFill>
                      <a:srgbClr val="FFFFFF"/>
                    </a:solidFill>
                  </a:tcPr>
                </a:tc>
                <a:tc>
                  <a:txBody>
                    <a:bodyPr/>
                    <a:lstStyle/>
                    <a:p>
                      <a:r>
                        <a:rPr sz="1800" i="0" b="0">
                          <a:solidFill>
                            <a:srgbClr val="1A1F36"/>
                          </a:solidFill>
                          <a:latin typeface="Calibri"/>
                        </a:rPr>
                        <a:t>Mild; reduce wearing-off</a:t>
                      </a:r>
                    </a:p>
                  </a:txBody>
                  <a:tcPr marL="109728" marR="109728" marT="45720" marB="45720" anchor="ctr">
                    <a:solidFill>
                      <a:srgbClr val="FFFFFF"/>
                    </a:solidFill>
                  </a:tcPr>
                </a:tc>
                <a:tc>
                  <a:txBody>
                    <a:bodyPr/>
                    <a:lstStyle/>
                    <a:p>
                      <a:r>
                        <a:rPr sz="1800" i="0" b="0">
                          <a:solidFill>
                            <a:srgbClr val="1A1F36"/>
                          </a:solidFill>
                          <a:latin typeface="Calibri"/>
                        </a:rPr>
                        <a:t>Interactions at high dose</a:t>
                      </a:r>
                    </a:p>
                  </a:txBody>
                  <a:tcPr marL="109728" marR="109728" marT="45720" marB="45720" anchor="ctr">
                    <a:solidFill>
                      <a:srgbClr val="FFFFFF"/>
                    </a:solidFill>
                  </a:tcPr>
                </a:tc>
              </a:tr>
              <a:tr h="640080">
                <a:tc>
                  <a:txBody>
                    <a:bodyPr/>
                    <a:lstStyle/>
                    <a:p>
                      <a:r>
                        <a:rPr sz="1800" i="0" b="1">
                          <a:solidFill>
                            <a:srgbClr val="1A1F36"/>
                          </a:solidFill>
                          <a:latin typeface="Calibri"/>
                        </a:rPr>
                        <a:t>COMT inhibitors</a:t>
                      </a:r>
                    </a:p>
                  </a:txBody>
                  <a:tcPr marL="109728" marR="109728" marT="45720" marB="45720" anchor="ctr">
                    <a:solidFill>
                      <a:srgbClr val="F1F2F8"/>
                    </a:solidFill>
                  </a:tcPr>
                </a:tc>
                <a:tc>
                  <a:txBody>
                    <a:bodyPr/>
                    <a:lstStyle/>
                    <a:p>
                      <a:r>
                        <a:rPr sz="1800" i="0" b="0">
                          <a:solidFill>
                            <a:srgbClr val="1A1F36"/>
                          </a:solidFill>
                          <a:latin typeface="Calibri"/>
                        </a:rPr>
                        <a:t>Prolong each levodopa dose</a:t>
                      </a:r>
                    </a:p>
                  </a:txBody>
                  <a:tcPr marL="109728" marR="109728" marT="45720" marB="45720" anchor="ctr">
                    <a:solidFill>
                      <a:srgbClr val="F1F2F8"/>
                    </a:solidFill>
                  </a:tcPr>
                </a:tc>
                <a:tc>
                  <a:txBody>
                    <a:bodyPr/>
                    <a:lstStyle/>
                    <a:p>
                      <a:r>
                        <a:rPr sz="1800" i="0" b="0">
                          <a:solidFill>
                            <a:srgbClr val="1A1F36"/>
                          </a:solidFill>
                          <a:latin typeface="Calibri"/>
                        </a:rPr>
                        <a:t>Dyskinesia; tolcapone liver toxicity</a:t>
                      </a:r>
                    </a:p>
                  </a:txBody>
                  <a:tcPr marL="109728" marR="109728" marT="45720" marB="45720" anchor="ctr">
                    <a:solidFill>
                      <a:srgbClr val="F1F2F8"/>
                    </a:solidFill>
                  </a:tcPr>
                </a:tc>
              </a:tr>
              <a:tr h="640080">
                <a:tc>
                  <a:txBody>
                    <a:bodyPr/>
                    <a:lstStyle/>
                    <a:p>
                      <a:r>
                        <a:rPr sz="1800" i="0" b="1">
                          <a:solidFill>
                            <a:srgbClr val="1A1F36"/>
                          </a:solidFill>
                          <a:latin typeface="Calibri"/>
                        </a:rPr>
                        <a:t>Amantadine</a:t>
                      </a:r>
                    </a:p>
                  </a:txBody>
                  <a:tcPr marL="109728" marR="109728" marT="45720" marB="45720" anchor="ctr">
                    <a:solidFill>
                      <a:srgbClr val="FFFFFF"/>
                    </a:solidFill>
                  </a:tcPr>
                </a:tc>
                <a:tc>
                  <a:txBody>
                    <a:bodyPr/>
                    <a:lstStyle/>
                    <a:p>
                      <a:r>
                        <a:rPr sz="1800" i="0" b="0">
                          <a:solidFill>
                            <a:srgbClr val="1A1F36"/>
                          </a:solidFill>
                          <a:latin typeface="Calibri"/>
                        </a:rPr>
                        <a:t>Reduces dyskinesia</a:t>
                      </a:r>
                    </a:p>
                  </a:txBody>
                  <a:tcPr marL="109728" marR="109728" marT="45720" marB="45720" anchor="ctr">
                    <a:solidFill>
                      <a:srgbClr val="FFFFFF"/>
                    </a:solidFill>
                  </a:tcPr>
                </a:tc>
                <a:tc>
                  <a:txBody>
                    <a:bodyPr/>
                    <a:lstStyle/>
                    <a:p>
                      <a:r>
                        <a:rPr sz="1800" i="0" b="0">
                          <a:solidFill>
                            <a:srgbClr val="1A1F36"/>
                          </a:solidFill>
                          <a:latin typeface="Calibri"/>
                        </a:rPr>
                        <a:t>Confusion, livedo reticularis</a:t>
                      </a:r>
                    </a:p>
                  </a:txBody>
                  <a:tcPr marL="109728" marR="109728" marT="45720" marB="45720" anchor="ctr">
                    <a:solidFill>
                      <a:srgbClr val="FFFFFF"/>
                    </a:solidFill>
                  </a:tcPr>
                </a:tc>
              </a:tr>
              <a:tr h="640080">
                <a:tc>
                  <a:txBody>
                    <a:bodyPr/>
                    <a:lstStyle/>
                    <a:p>
                      <a:r>
                        <a:rPr sz="1800" i="0" b="1">
                          <a:solidFill>
                            <a:srgbClr val="1A1F36"/>
                          </a:solidFill>
                          <a:latin typeface="Calibri"/>
                        </a:rPr>
                        <a:t>Anticholinergics</a:t>
                      </a:r>
                    </a:p>
                  </a:txBody>
                  <a:tcPr marL="109728" marR="109728" marT="45720" marB="45720" anchor="ctr">
                    <a:solidFill>
                      <a:srgbClr val="F1F2F8"/>
                    </a:solidFill>
                  </a:tcPr>
                </a:tc>
                <a:tc>
                  <a:txBody>
                    <a:bodyPr/>
                    <a:lstStyle/>
                    <a:p>
                      <a:r>
                        <a:rPr sz="1800" i="0" b="0">
                          <a:solidFill>
                            <a:srgbClr val="1A1F36"/>
                          </a:solidFill>
                          <a:latin typeface="Calibri"/>
                        </a:rPr>
                        <a:t>Tremor in young patients</a:t>
                      </a:r>
                    </a:p>
                  </a:txBody>
                  <a:tcPr marL="109728" marR="109728" marT="45720" marB="45720" anchor="ctr">
                    <a:solidFill>
                      <a:srgbClr val="F1F2F8"/>
                    </a:solidFill>
                  </a:tcPr>
                </a:tc>
                <a:tc>
                  <a:txBody>
                    <a:bodyPr/>
                    <a:lstStyle/>
                    <a:p>
                      <a:r>
                        <a:rPr sz="1800" i="0" b="0">
                          <a:solidFill>
                            <a:srgbClr val="1A1F36"/>
                          </a:solidFill>
                          <a:latin typeface="Calibri"/>
                        </a:rPr>
                        <a:t>Confusion, retention; avoid in elderly</a:t>
                      </a:r>
                    </a:p>
                  </a:txBody>
                  <a:tcPr marL="109728" marR="109728" marT="45720" marB="45720" anchor="ctr">
                    <a:solidFill>
                      <a:srgbClr val="F1F2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Choosing a Drug</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4480560"/>
        </p:xfrm>
        <a:graphic>
          <a:graphicData uri="http://schemas.openxmlformats.org/drawingml/2006/table">
            <a:tbl>
              <a:tblPr firstRow="0" bandRow="0">
                <a:tableStyleId>{5C22544A-7EE6-4342-B048-85BDC9FD1C3A}</a:tableStyleId>
              </a:tblPr>
              <a:tblGrid>
                <a:gridCol w="5200507"/>
                <a:gridCol w="5893907"/>
              </a:tblGrid>
              <a:tr h="640080">
                <a:tc>
                  <a:txBody>
                    <a:bodyPr/>
                    <a:lstStyle/>
                    <a:p>
                      <a:r>
                        <a:rPr sz="1700" i="0" b="1">
                          <a:solidFill>
                            <a:srgbClr val="FFFFFF"/>
                          </a:solidFill>
                          <a:latin typeface="Calibri"/>
                        </a:rPr>
                        <a:t>Situation</a:t>
                      </a:r>
                    </a:p>
                  </a:txBody>
                  <a:tcPr marL="109728" marR="109728" marT="45720" marB="45720" anchor="ctr">
                    <a:solidFill>
                      <a:srgbClr val="1B2A8C"/>
                    </a:solidFill>
                  </a:tcPr>
                </a:tc>
                <a:tc>
                  <a:txBody>
                    <a:bodyPr/>
                    <a:lstStyle/>
                    <a:p>
                      <a:r>
                        <a:rPr sz="1700" i="0" b="1">
                          <a:solidFill>
                            <a:srgbClr val="FFFFFF"/>
                          </a:solidFill>
                          <a:latin typeface="Calibri"/>
                        </a:rPr>
                        <a:t>Suggested choice</a:t>
                      </a:r>
                    </a:p>
                  </a:txBody>
                  <a:tcPr marL="109728" marR="109728" marT="45720" marB="45720" anchor="ctr">
                    <a:solidFill>
                      <a:srgbClr val="1B2A8C"/>
                    </a:solidFill>
                  </a:tcPr>
                </a:tc>
              </a:tr>
              <a:tr h="640080">
                <a:tc>
                  <a:txBody>
                    <a:bodyPr/>
                    <a:lstStyle/>
                    <a:p>
                      <a:r>
                        <a:rPr sz="1800" i="0" b="1">
                          <a:solidFill>
                            <a:srgbClr val="1A1F36"/>
                          </a:solidFill>
                          <a:latin typeface="Calibri"/>
                        </a:rPr>
                        <a:t>Early disease, motor symptoms affect quality of life</a:t>
                      </a:r>
                    </a:p>
                  </a:txBody>
                  <a:tcPr marL="109728" marR="109728" marT="45720" marB="45720" anchor="ctr">
                    <a:solidFill>
                      <a:srgbClr val="FFFFFF"/>
                    </a:solidFill>
                  </a:tcPr>
                </a:tc>
                <a:tc>
                  <a:txBody>
                    <a:bodyPr/>
                    <a:lstStyle/>
                    <a:p>
                      <a:r>
                        <a:rPr sz="1800" i="0" b="0">
                          <a:solidFill>
                            <a:srgbClr val="1A1F36"/>
                          </a:solidFill>
                          <a:latin typeface="Calibri"/>
                        </a:rPr>
                        <a:t>Levodopa + carbidopa</a:t>
                      </a:r>
                    </a:p>
                  </a:txBody>
                  <a:tcPr marL="109728" marR="109728" marT="45720" marB="45720" anchor="ctr">
                    <a:solidFill>
                      <a:srgbClr val="FFFFFF"/>
                    </a:solidFill>
                  </a:tcPr>
                </a:tc>
              </a:tr>
              <a:tr h="640080">
                <a:tc>
                  <a:txBody>
                    <a:bodyPr/>
                    <a:lstStyle/>
                    <a:p>
                      <a:r>
                        <a:rPr sz="1800" i="0" b="1">
                          <a:solidFill>
                            <a:srgbClr val="1A1F36"/>
                          </a:solidFill>
                          <a:latin typeface="Calibri"/>
                        </a:rPr>
                        <a:t>Early disease, mild symptoms</a:t>
                      </a:r>
                    </a:p>
                  </a:txBody>
                  <a:tcPr marL="109728" marR="109728" marT="45720" marB="45720" anchor="ctr">
                    <a:solidFill>
                      <a:srgbClr val="F1F2F8"/>
                    </a:solidFill>
                  </a:tcPr>
                </a:tc>
                <a:tc>
                  <a:txBody>
                    <a:bodyPr/>
                    <a:lstStyle/>
                    <a:p>
                      <a:r>
                        <a:rPr sz="1800" i="0" b="0">
                          <a:solidFill>
                            <a:srgbClr val="1A1F36"/>
                          </a:solidFill>
                          <a:latin typeface="Calibri"/>
                        </a:rPr>
                        <a:t>Dopamine agonist or MAO-B inhibitor (discuss impulse-control risk)</a:t>
                      </a:r>
                    </a:p>
                  </a:txBody>
                  <a:tcPr marL="109728" marR="109728" marT="45720" marB="45720" anchor="ctr">
                    <a:solidFill>
                      <a:srgbClr val="F1F2F8"/>
                    </a:solidFill>
                  </a:tcPr>
                </a:tc>
              </a:tr>
              <a:tr h="640080">
                <a:tc>
                  <a:txBody>
                    <a:bodyPr/>
                    <a:lstStyle/>
                    <a:p>
                      <a:r>
                        <a:rPr sz="1800" i="0" b="1">
                          <a:solidFill>
                            <a:srgbClr val="1A1F36"/>
                          </a:solidFill>
                          <a:latin typeface="Calibri"/>
                        </a:rPr>
                        <a:t>Wearing-off on levodopa</a:t>
                      </a:r>
                    </a:p>
                  </a:txBody>
                  <a:tcPr marL="109728" marR="109728" marT="45720" marB="45720" anchor="ctr">
                    <a:solidFill>
                      <a:srgbClr val="FFFFFF"/>
                    </a:solidFill>
                  </a:tcPr>
                </a:tc>
                <a:tc>
                  <a:txBody>
                    <a:bodyPr/>
                    <a:lstStyle/>
                    <a:p>
                      <a:r>
                        <a:rPr sz="1800" i="0" b="0">
                          <a:solidFill>
                            <a:srgbClr val="1A1F36"/>
                          </a:solidFill>
                          <a:latin typeface="Calibri"/>
                        </a:rPr>
                        <a:t>Add a COMT inhibitor, MAO-B inhibitor or dopamine agonist</a:t>
                      </a:r>
                    </a:p>
                  </a:txBody>
                  <a:tcPr marL="109728" marR="109728" marT="45720" marB="45720" anchor="ctr">
                    <a:solidFill>
                      <a:srgbClr val="FFFFFF"/>
                    </a:solidFill>
                  </a:tcPr>
                </a:tc>
              </a:tr>
              <a:tr h="640080">
                <a:tc>
                  <a:txBody>
                    <a:bodyPr/>
                    <a:lstStyle/>
                    <a:p>
                      <a:r>
                        <a:rPr sz="1800" i="0" b="1">
                          <a:solidFill>
                            <a:srgbClr val="1A1F36"/>
                          </a:solidFill>
                          <a:latin typeface="Calibri"/>
                        </a:rPr>
                        <a:t>Levodopa-induced dyskinesia</a:t>
                      </a:r>
                    </a:p>
                  </a:txBody>
                  <a:tcPr marL="109728" marR="109728" marT="45720" marB="45720" anchor="ctr">
                    <a:solidFill>
                      <a:srgbClr val="F1F2F8"/>
                    </a:solidFill>
                  </a:tcPr>
                </a:tc>
                <a:tc>
                  <a:txBody>
                    <a:bodyPr/>
                    <a:lstStyle/>
                    <a:p>
                      <a:r>
                        <a:rPr sz="1800" i="0" b="0">
                          <a:solidFill>
                            <a:srgbClr val="1A1F36"/>
                          </a:solidFill>
                          <a:latin typeface="Calibri"/>
                        </a:rPr>
                        <a:t>Adjust levodopa; add amantadine</a:t>
                      </a:r>
                    </a:p>
                  </a:txBody>
                  <a:tcPr marL="109728" marR="109728" marT="45720" marB="45720" anchor="ctr">
                    <a:solidFill>
                      <a:srgbClr val="F1F2F8"/>
                    </a:solidFill>
                  </a:tcPr>
                </a:tc>
              </a:tr>
              <a:tr h="640080">
                <a:tc>
                  <a:txBody>
                    <a:bodyPr/>
                    <a:lstStyle/>
                    <a:p>
                      <a:r>
                        <a:rPr sz="1800" i="0" b="1">
                          <a:solidFill>
                            <a:srgbClr val="1A1F36"/>
                          </a:solidFill>
                          <a:latin typeface="Calibri"/>
                        </a:rPr>
                        <a:t>Nausea from treatment</a:t>
                      </a:r>
                    </a:p>
                  </a:txBody>
                  <a:tcPr marL="109728" marR="109728" marT="45720" marB="45720" anchor="ctr">
                    <a:solidFill>
                      <a:srgbClr val="FFFFFF"/>
                    </a:solidFill>
                  </a:tcPr>
                </a:tc>
                <a:tc>
                  <a:txBody>
                    <a:bodyPr/>
                    <a:lstStyle/>
                    <a:p>
                      <a:r>
                        <a:rPr sz="1800" i="0" b="0">
                          <a:solidFill>
                            <a:srgbClr val="1A1F36"/>
                          </a:solidFill>
                          <a:latin typeface="Calibri"/>
                        </a:rPr>
                        <a:t>Domperidone</a:t>
                      </a:r>
                    </a:p>
                  </a:txBody>
                  <a:tcPr marL="109728" marR="109728" marT="45720" marB="45720" anchor="ctr">
                    <a:solidFill>
                      <a:srgbClr val="FFFFFF"/>
                    </a:solidFill>
                  </a:tcPr>
                </a:tc>
              </a:tr>
              <a:tr h="640080">
                <a:tc>
                  <a:txBody>
                    <a:bodyPr/>
                    <a:lstStyle/>
                    <a:p>
                      <a:r>
                        <a:rPr sz="1800" i="0" b="1">
                          <a:solidFill>
                            <a:srgbClr val="1A1F36"/>
                          </a:solidFill>
                          <a:latin typeface="Calibri"/>
                        </a:rPr>
                        <a:t>Psychosis in Parkinson's disease</a:t>
                      </a:r>
                    </a:p>
                  </a:txBody>
                  <a:tcPr marL="109728" marR="109728" marT="45720" marB="45720" anchor="ctr">
                    <a:solidFill>
                      <a:srgbClr val="F1F2F8"/>
                    </a:solidFill>
                  </a:tcPr>
                </a:tc>
                <a:tc>
                  <a:txBody>
                    <a:bodyPr/>
                    <a:lstStyle/>
                    <a:p>
                      <a:r>
                        <a:rPr sz="1800" i="0" b="0">
                          <a:solidFill>
                            <a:srgbClr val="1A1F36"/>
                          </a:solidFill>
                          <a:latin typeface="Calibri"/>
                        </a:rPr>
                        <a:t>Reduce anticholinergics and agonists first; then low-dose quetiapine or clozapine</a:t>
                      </a:r>
                    </a:p>
                  </a:txBody>
                  <a:tcPr marL="109728" marR="109728" marT="45720" marB="45720" anchor="ctr">
                    <a:solidFill>
                      <a:srgbClr val="F1F2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Brands in Egypt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1920240"/>
        </p:xfrm>
        <a:graphic>
          <a:graphicData uri="http://schemas.openxmlformats.org/drawingml/2006/table">
            <a:tbl>
              <a:tblPr firstRow="0" bandRow="0">
                <a:tableStyleId>{5C22544A-7EE6-4342-B048-85BDC9FD1C3A}</a:tableStyleId>
              </a:tblPr>
              <a:tblGrid>
                <a:gridCol w="3376561"/>
                <a:gridCol w="5306024"/>
                <a:gridCol w="2411829"/>
              </a:tblGrid>
              <a:tr h="640080">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640080">
                <a:tc>
                  <a:txBody>
                    <a:bodyPr/>
                    <a:lstStyle/>
                    <a:p>
                      <a:r>
                        <a:rPr sz="2000" i="0" b="1">
                          <a:solidFill>
                            <a:srgbClr val="1A1F36"/>
                          </a:solidFill>
                          <a:latin typeface="Calibri"/>
                        </a:rPr>
                        <a:t>Carbidopa + levodopa</a:t>
                      </a:r>
                    </a:p>
                  </a:txBody>
                  <a:tcPr marL="109728" marR="109728" marT="45720" marB="45720" anchor="ctr">
                    <a:solidFill>
                      <a:srgbClr val="FFFFFF"/>
                    </a:solidFill>
                  </a:tcPr>
                </a:tc>
                <a:tc>
                  <a:txBody>
                    <a:bodyPr/>
                    <a:lstStyle/>
                    <a:p>
                      <a:r>
                        <a:rPr sz="2000" i="0" b="0">
                          <a:solidFill>
                            <a:srgbClr val="1A1F36"/>
                          </a:solidFill>
                          <a:latin typeface="Calibri"/>
                        </a:rPr>
                        <a:t>Sinemet, Shatoo (controlled release)</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640080">
                <a:tc>
                  <a:txBody>
                    <a:bodyPr/>
                    <a:lstStyle/>
                    <a:p>
                      <a:r>
                        <a:rPr sz="2000" i="0" b="1">
                          <a:solidFill>
                            <a:srgbClr val="1A1F36"/>
                          </a:solidFill>
                          <a:latin typeface="Calibri"/>
                        </a:rPr>
                        <a:t>Biperiden</a:t>
                      </a:r>
                    </a:p>
                  </a:txBody>
                  <a:tcPr marL="109728" marR="109728" marT="45720" marB="45720" anchor="ctr">
                    <a:solidFill>
                      <a:srgbClr val="F1F2F8"/>
                    </a:solidFill>
                  </a:tcPr>
                </a:tc>
                <a:tc>
                  <a:txBody>
                    <a:bodyPr/>
                    <a:lstStyle/>
                    <a:p>
                      <a:r>
                        <a:rPr sz="2000" i="0" b="0">
                          <a:solidFill>
                            <a:srgbClr val="1A1F36"/>
                          </a:solidFill>
                          <a:latin typeface="Calibri"/>
                        </a:rPr>
                        <a:t>Cogintol, Biperiden (Pharco)</a:t>
                      </a:r>
                    </a:p>
                  </a:txBody>
                  <a:tcPr marL="109728" marR="109728" marT="45720" marB="45720" anchor="ctr">
                    <a:solidFill>
                      <a:srgbClr val="F1F2F8"/>
                    </a:solidFill>
                  </a:tcPr>
                </a:tc>
                <a:tc>
                  <a:txBody>
                    <a:bodyPr/>
                    <a:lstStyle/>
                    <a:p>
                      <a:r>
                        <a:rPr sz="2000" i="0" b="0">
                          <a:solidFill>
                            <a:srgbClr val="1A1F36"/>
                          </a:solidFill>
                          <a:latin typeface="Calibri"/>
                        </a:rPr>
                        <a:t>Tablets</a:t>
                      </a:r>
                    </a:p>
                  </a:txBody>
                  <a:tcPr marL="109728" marR="109728" marT="45720" marB="45720" anchor="ctr">
                    <a:solidFill>
                      <a:srgbClr val="F1F2F8"/>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For Discussion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142237"/>
          </a:xfrm>
          <a:prstGeom prst="rect">
            <a:avLst/>
          </a:prstGeom>
          <a:noFill/>
        </p:spPr>
        <p:txBody>
          <a:bodyPr wrap="square" anchor="t" lIns="0" rIns="0" tIns="0" bIns="0">
            <a:spAutoFit/>
          </a:bodyPr>
          <a:lstStyle/>
          <a:p>
            <a:r>
              <a:rPr sz="2100" i="0" b="0">
                <a:solidFill>
                  <a:srgbClr val="1A1F36"/>
                </a:solidFill>
                <a:latin typeface="Calibri"/>
              </a:rPr>
              <a:t>Why is carbidopa always given with levodopa, and why does it not reduce levodopa's effect in the brain?</a:t>
            </a:r>
          </a:p>
        </p:txBody>
      </p:sp>
      <p:sp>
        <p:nvSpPr>
          <p:cNvPr id="10" name="Oval 9"/>
          <p:cNvSpPr/>
          <p:nvPr/>
        </p:nvSpPr>
        <p:spPr>
          <a:xfrm>
            <a:off x="548640" y="27607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779014"/>
            <a:ext cx="10500055" cy="1142237"/>
          </a:xfrm>
          <a:prstGeom prst="rect">
            <a:avLst/>
          </a:prstGeom>
          <a:noFill/>
        </p:spPr>
        <p:txBody>
          <a:bodyPr wrap="square" anchor="t" lIns="0" rIns="0" tIns="0" bIns="0">
            <a:spAutoFit/>
          </a:bodyPr>
          <a:lstStyle/>
          <a:p>
            <a:r>
              <a:rPr sz="2100" i="0" b="0">
                <a:solidFill>
                  <a:srgbClr val="1A1F36"/>
                </a:solidFill>
                <a:latin typeface="Calibri"/>
              </a:rPr>
              <a:t>A patient on levodopa becomes nauseated. Why is domperidone chosen instead of metoclopramide?</a:t>
            </a:r>
          </a:p>
        </p:txBody>
      </p:sp>
      <p:sp>
        <p:nvSpPr>
          <p:cNvPr id="12" name="Oval 11"/>
          <p:cNvSpPr/>
          <p:nvPr/>
        </p:nvSpPr>
        <p:spPr>
          <a:xfrm>
            <a:off x="548640" y="394868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966971"/>
            <a:ext cx="10500055" cy="1142237"/>
          </a:xfrm>
          <a:prstGeom prst="rect">
            <a:avLst/>
          </a:prstGeom>
          <a:noFill/>
        </p:spPr>
        <p:txBody>
          <a:bodyPr wrap="square" anchor="t" lIns="0" rIns="0" tIns="0" bIns="0">
            <a:spAutoFit/>
          </a:bodyPr>
          <a:lstStyle/>
          <a:p>
            <a:r>
              <a:rPr sz="2100" i="0" b="0">
                <a:solidFill>
                  <a:srgbClr val="1A1F36"/>
                </a:solidFill>
                <a:latin typeface="Calibri"/>
              </a:rPr>
              <a:t>A 60-year-old man on pramipexole has started spending his savings on gambling. What is happening, and what would you advise?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1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Parkinson's disease results mainly from loss of which neurons?</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Cholinergic neurons of the basal forebrain</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Dopamine neurons of the substantia nigra</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Serotonin neurons of the raphe nuclei</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GABA neurons of the cortex</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1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Parkinson's disease results mainly from loss of which neurons?</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Cholinergic neurons of the basal forebrain</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Dopamine neurons of the substantia nigra</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Serotonin neurons of the raphe nuclei</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GABA neurons of the cortex</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Dopamine neurons of the substantia nigra die. A is Alzheimer's disease. C and D are not the cause.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2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24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56-year-old man with Parkinson's disease starts carbidopa with levodopa. What does carbidopa reduce?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The levodopa dose needed for a therapeutic effect</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Levodopa-induced dyskinesia</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The time to onset in the brain</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Brain dopamine synthesis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2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25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56-year-old man with Parkinson's disease starts carbidopa with levodopa. What does carbidopa reduce?</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The levodopa dose needed for a therapeutic effect</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Levodopa-induced dyskinesia</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The time to onset in the brain</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Brain dopamine synthesis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Carbidopa blocks peripheral AADC, so a lower levodopa dose works. B, C and D are not reduced.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3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26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combination is an appropriate treatment plan?</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Amantadine, carbidopa and entacapone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Ropinirole, carbidopa and selegiline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Levodopa, carbidopa and entacapone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Pramipexole, carbidopa and entacapone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3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27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combination is an appropriate treatment plan?</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Amantadine, carbidopa and entacapone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Ropinirole, carbidopa and selegiline</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Levodopa, carbidopa and entacapone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Pramipexole, carbidopa and entacapone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Carbidopa and entacapone both act on levodopa metabolism. A, B and D add carbidopa or entacapone without levodopa, where they do nothing.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4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28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Peripheral adverse effects of levodopa, such as nausea and hypotension, are reduced by adding which drug?</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Amantadine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Ropinirole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Tolcapone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Carbidopa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4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29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Peripheral adverse effects of levodopa, such as nausea and hypotension, are reduced by adding which drug?</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Amantadine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Ropinirole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Tolcapone</a:t>
            </a:r>
          </a:p>
        </p:txBody>
      </p:sp>
      <p:sp>
        <p:nvSpPr>
          <p:cNvPr id="18" name="Rounded Rectangle 17"/>
          <p:cNvSpPr/>
          <p:nvPr/>
        </p:nvSpPr>
        <p:spPr>
          <a:xfrm>
            <a:off x="548640" y="4636008"/>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Carbidopa</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Carbidopa prevents peripheral dopamine formation. A, B and C do not reduce these effects.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5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30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patient on levodopa has nausea. Which antiemetic is the best choice?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Domperidone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Metoclopramide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Prochlorperazine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Haloperidol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5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31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patient on levodopa has nausea. Which antiemetic is the best choice?</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Domperidone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Metoclopramide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Prochlorperazine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Haloperidol</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Domperidone does not cross the blood-brain barrier. B, C and D block central D2 receptors and worsen parkinsonism.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6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32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adverse effect is most typical of dopamine agonists?</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Gingival hyperplasia</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Impulse-control disorders</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Agranulocytosis</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Hyperkalaemia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6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33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adverse effect is most typical of dopamine agonists?</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Gingival hyperplasia</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Impulse-control disorders</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Agranulocytosis</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Hyperkalaemia</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Agonists commonly cause impulse-control disorders. A is phenytoin. C is clozapine. D is not typical.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7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34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reduces levodopa-induced dyskinesia?</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Carbidopa</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Entacapone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Amantadine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Selegiline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7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35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reduces levodopa-induced dyskinesia?</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Carbidopa</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Entacapone</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Amantadine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Selegiline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Amantadine's NMDA block reduces dyskinesia. A, B and D can increase dyskinesia.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8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36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should trihexyphenidyl be avoided in a 78-year-old man with prostatic enlargement?</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It causes urinary retention and confusion.</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It causes pulmonary fibrosis.</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It causes a cheese reaction.</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It raises blood pressure.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8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37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should trihexyphenidyl be avoided in a 78-year-old man with prostatic enlargement?</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It causes urinary retention and confusion.</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It causes pulmonary fibrosis.</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It causes a cheese reaction.</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It raises blood pressure.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Anticholinergics cause urinary retention and confusion. B is ergot agonists. C and D are wrong.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9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38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patient takes carbidopa–levodopa. His doctor adds a vitamin B complex. What is the effect?</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Levodopa is fully inactivated.</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Hypertensive crisis</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Serotonin syndrome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No clinically important effect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9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39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patient takes carbidopa–levodopa. His doctor adds a vitamin B complex. What is the effect?</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Levodopa is fully inactivated.</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Hypertensive crisis</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Serotonin syndrome</a:t>
            </a:r>
          </a:p>
        </p:txBody>
      </p:sp>
      <p:sp>
        <p:nvSpPr>
          <p:cNvPr id="18" name="Rounded Rectangle 17"/>
          <p:cNvSpPr/>
          <p:nvPr/>
        </p:nvSpPr>
        <p:spPr>
          <a:xfrm>
            <a:off x="548640" y="4636008"/>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No clinically important effect</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Carbidopa prevents the pyridoxine interaction. A is wrong with carbidopa. B and C are not caused by vitamins.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10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40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68-year-old woman on levodopa finds that her symptoms return an hour before each dose. What is the best option?</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Stop levodopa</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Add haloperidol</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Add trihexyphenidyl</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Add entacapone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10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41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68-year-old woman on levodopa finds that her symptoms return an hour before each dose. What is the best option?</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Stop levodopa</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Add haloperidol</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Add trihexyphenidyl</a:t>
            </a:r>
          </a:p>
        </p:txBody>
      </p:sp>
      <p:sp>
        <p:nvSpPr>
          <p:cNvPr id="18" name="Rounded Rectangle 17"/>
          <p:cNvSpPr/>
          <p:nvPr/>
        </p:nvSpPr>
        <p:spPr>
          <a:xfrm>
            <a:off x="548640" y="4636008"/>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Add entacapone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Entacapone prolongs each levodopa dose and treats wearing-off. A worsens symptoms. B blocks levodopa. C causes confusion.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3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5" name="TextBox 4"/>
          <p:cNvSpPr txBox="1"/>
          <p:nvPr/>
        </p:nvSpPr>
        <p:spPr>
          <a:xfrm>
            <a:off x="1143000" y="1865376"/>
            <a:ext cx="10500055" cy="866986"/>
          </a:xfrm>
          <a:prstGeom prst="rect">
            <a:avLst/>
          </a:prstGeom>
          <a:noFill/>
        </p:spPr>
        <p:txBody>
          <a:bodyPr wrap="square" anchor="t" lIns="0" rIns="0" tIns="0" bIns="0">
            <a:spAutoFit/>
          </a:bodyPr>
          <a:lstStyle/>
          <a:p>
            <a:r>
              <a:rPr sz="2000" i="0" b="0">
                <a:solidFill>
                  <a:srgbClr val="FFFFFF"/>
                </a:solidFill>
                <a:latin typeface="Calibri"/>
              </a:rPr>
              <a:t>Parkinson's disease is a loss of nigrostriatal dopamine, leaving acetylcholine dominant.</a:t>
            </a:r>
          </a:p>
        </p:txBody>
      </p:sp>
      <p:sp>
        <p:nvSpPr>
          <p:cNvPr id="6" name="Oval 5"/>
          <p:cNvSpPr/>
          <p:nvPr/>
        </p:nvSpPr>
        <p:spPr>
          <a:xfrm>
            <a:off x="548640" y="2759794"/>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7" name="TextBox 6"/>
          <p:cNvSpPr txBox="1"/>
          <p:nvPr/>
        </p:nvSpPr>
        <p:spPr>
          <a:xfrm>
            <a:off x="1143000" y="2778082"/>
            <a:ext cx="10500055" cy="549486"/>
          </a:xfrm>
          <a:prstGeom prst="rect">
            <a:avLst/>
          </a:prstGeom>
          <a:noFill/>
        </p:spPr>
        <p:txBody>
          <a:bodyPr wrap="square" anchor="t" lIns="0" rIns="0" tIns="0" bIns="0">
            <a:spAutoFit/>
          </a:bodyPr>
          <a:lstStyle/>
          <a:p>
            <a:r>
              <a:rPr sz="2000" i="0" b="0">
                <a:solidFill>
                  <a:srgbClr val="FFFFFF"/>
                </a:solidFill>
                <a:latin typeface="Calibri"/>
              </a:rPr>
              <a:t>Levodopa is the most effective drug; carbidopa stops its peripheral conversion.</a:t>
            </a:r>
          </a:p>
        </p:txBody>
      </p:sp>
      <p:sp>
        <p:nvSpPr>
          <p:cNvPr id="8" name="Oval 7"/>
          <p:cNvSpPr/>
          <p:nvPr/>
        </p:nvSpPr>
        <p:spPr>
          <a:xfrm>
            <a:off x="548640" y="3355001"/>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9" name="TextBox 8"/>
          <p:cNvSpPr txBox="1"/>
          <p:nvPr/>
        </p:nvSpPr>
        <p:spPr>
          <a:xfrm>
            <a:off x="1143000" y="3373289"/>
            <a:ext cx="10500055" cy="549486"/>
          </a:xfrm>
          <a:prstGeom prst="rect">
            <a:avLst/>
          </a:prstGeom>
          <a:noFill/>
        </p:spPr>
        <p:txBody>
          <a:bodyPr wrap="square" anchor="t" lIns="0" rIns="0" tIns="0" bIns="0">
            <a:spAutoFit/>
          </a:bodyPr>
          <a:lstStyle/>
          <a:p>
            <a:r>
              <a:rPr sz="2000" i="0" b="0">
                <a:solidFill>
                  <a:srgbClr val="FFFFFF"/>
                </a:solidFill>
                <a:latin typeface="Calibri"/>
              </a:rPr>
              <a:t>COMT and MAO-B inhibitors prolong levodopa's effect.</a:t>
            </a:r>
          </a:p>
        </p:txBody>
      </p:sp>
      <p:sp>
        <p:nvSpPr>
          <p:cNvPr id="10" name="Oval 9"/>
          <p:cNvSpPr/>
          <p:nvPr/>
        </p:nvSpPr>
        <p:spPr>
          <a:xfrm>
            <a:off x="548640" y="3950207"/>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1" name="TextBox 10"/>
          <p:cNvSpPr txBox="1"/>
          <p:nvPr/>
        </p:nvSpPr>
        <p:spPr>
          <a:xfrm>
            <a:off x="1143000" y="3968496"/>
            <a:ext cx="10500055" cy="866986"/>
          </a:xfrm>
          <a:prstGeom prst="rect">
            <a:avLst/>
          </a:prstGeom>
          <a:noFill/>
        </p:spPr>
        <p:txBody>
          <a:bodyPr wrap="square" anchor="t" lIns="0" rIns="0" tIns="0" bIns="0">
            <a:spAutoFit/>
          </a:bodyPr>
          <a:lstStyle/>
          <a:p>
            <a:r>
              <a:rPr sz="2000" i="0" b="0">
                <a:solidFill>
                  <a:srgbClr val="FFFFFF"/>
                </a:solidFill>
                <a:latin typeface="Calibri"/>
              </a:rPr>
              <a:t>Non-ergot dopamine agonists are first-choice agonists; watch for impulse-control disorders and sleep attacks.</a:t>
            </a:r>
          </a:p>
        </p:txBody>
      </p:sp>
      <p:sp>
        <p:nvSpPr>
          <p:cNvPr id="12" name="Oval 11"/>
          <p:cNvSpPr/>
          <p:nvPr/>
        </p:nvSpPr>
        <p:spPr>
          <a:xfrm>
            <a:off x="548640" y="4862914"/>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3" name="TextBox 12"/>
          <p:cNvSpPr txBox="1"/>
          <p:nvPr/>
        </p:nvSpPr>
        <p:spPr>
          <a:xfrm>
            <a:off x="1143000" y="4881202"/>
            <a:ext cx="10500055" cy="549486"/>
          </a:xfrm>
          <a:prstGeom prst="rect">
            <a:avLst/>
          </a:prstGeom>
          <a:noFill/>
        </p:spPr>
        <p:txBody>
          <a:bodyPr wrap="square" anchor="t" lIns="0" rIns="0" tIns="0" bIns="0">
            <a:spAutoFit/>
          </a:bodyPr>
          <a:lstStyle/>
          <a:p>
            <a:r>
              <a:rPr sz="2000" i="0" b="0">
                <a:solidFill>
                  <a:srgbClr val="FFFFFF"/>
                </a:solidFill>
                <a:latin typeface="Calibri"/>
              </a:rPr>
              <a:t>Use domperidone for nausea; avoid antipsychotics and metoclopramide.</a:t>
            </a:r>
          </a:p>
        </p:txBody>
      </p:sp>
      <p:sp>
        <p:nvSpPr>
          <p:cNvPr id="14" name="Oval 13"/>
          <p:cNvSpPr/>
          <p:nvPr/>
        </p:nvSpPr>
        <p:spPr>
          <a:xfrm>
            <a:off x="548640" y="5458121"/>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6</a:t>
            </a:r>
          </a:p>
        </p:txBody>
      </p:sp>
      <p:sp>
        <p:nvSpPr>
          <p:cNvPr id="15" name="TextBox 14"/>
          <p:cNvSpPr txBox="1"/>
          <p:nvPr/>
        </p:nvSpPr>
        <p:spPr>
          <a:xfrm>
            <a:off x="1143000" y="5476409"/>
            <a:ext cx="10500055" cy="549486"/>
          </a:xfrm>
          <a:prstGeom prst="rect">
            <a:avLst/>
          </a:prstGeom>
          <a:noFill/>
        </p:spPr>
        <p:txBody>
          <a:bodyPr wrap="square" anchor="t" lIns="0" rIns="0" tIns="0" bIns="0">
            <a:spAutoFit/>
          </a:bodyPr>
          <a:lstStyle/>
          <a:p>
            <a:r>
              <a:rPr sz="2000" i="0" b="0">
                <a:solidFill>
                  <a:srgbClr val="FFFFFF"/>
                </a:solidFill>
                <a:latin typeface="Calibri"/>
              </a:rPr>
              <a:t>Anticholinergics help tremor but cause confusion; avoid in older people.</a:t>
            </a:r>
          </a:p>
        </p:txBody>
      </p:sp>
      <p:pic>
        <p:nvPicPr>
          <p:cNvPr id="16" name="Picture 15"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7" name="Picture 16"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