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&gt; Quick Recap: Dopamine is made from tyrosine: tyrosine → L-dopa → dopamine. The enzyme that makes dopamine from L-dopa is aromatic L-amino acid decarboxylase (AADC, dopa decarboxylase). Dopamine is broken down by MAO-B in the brain and by COMT. Dopamine itself does not cross the blood-brain barrier; L-dopa does, using an amino-acid transporter. In the striatum, dopamine and acetylcholine balance each other to control movement.</a:t>
            </a:r>
          </a:p>
          <a:p/>
          <a:p>
            <a:r>
              <a:t>Time: 1:30  (at 2:00 of 40:00).  Next: Roadmap.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will cover, in order.</a:t>
            </a:r>
          </a:p>
          <a:p/>
          <a:p>
            <a:r>
              <a:t>Time: 0:30  (at 2:30 of 40:00).  Next: The Disease in Brief.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Parkinson's disease is a chronic neurodegenerative disease of unknown cause. Dopamine neurons of the substantia nigra die. They project to the striatum (the nigrostriatal pathway). There, dopamine stimulates D1 receptors on the direct pathway and inhibits D2 receptors on the indirect pathway. Both actions make movement easier. Acetylcholine from striatal interneurons opposes dopamine. With less dopamine, movement becomes slow and acetylcholine becomes relatively dominant. Motor features: Non-motor features: depression, anxiety, sleep disturbance, constipation, loss of smell, postural hypotension and, later, dementia and psychosis. Treatment aims to raise dopamine activity or lower acetylcholine activity. It improves symptoms but does not stop the disease.</a:t>
            </a:r>
          </a:p>
          <a:p/>
          <a:p>
            <a:r>
              <a:t>Time: 2:00  (at 4:30 of 40:00).  Next: Levodopa.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Levodopa (L-dopa) is the most effective drug for Parkinson's disease. It is a precursor of dopamine. Kinetics. Carbidopa (or benserazide) is a peripheral AADC inhibitor. It does not cross the blood-brain barrier. It is always given with levodopa. Carbidopa: COMT inhibitors (entacapone; opicapone; tolcapone) block the other peripheral breakdown route. Levodopa then lasts longer, and "wearing-off" is reduced. Tolcapone is rarely used because it can damage the liver. MAO-B inhibitors (selegiline, rasagiline, safinamide) block dopamine breakdown in the brain. After some years of levodopa, most patients develop fluctuations: They reflect disease progression and levodopa's short half-life. Options are smaller, more frequent doses; modified-release levodopa; adding a COMT inhibitor, an MAO-B inhibitor or a dopamine agonist; and amantadine for dyskinesia.</a:t>
            </a:r>
          </a:p>
          <a:p/>
          <a:p>
            <a:r>
              <a:t>Time: 2:00  (at 6:30 of 40:00).  Next: Levodopa.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Levodopa (L-dopa) is the most effective drug for Parkinson's disease. It is a precursor of dopamine. Kinetics. Carbidopa (or benserazide) is a peripheral AADC inhibitor. It does not cross the blood-brain barrier. It is always given with levodopa. Carbidopa: COMT inhibitors (entacapone; opicapone; tolcapone) block the other peripheral breakdown route. Levodopa then lasts longer, and "wearing-off" is reduced. Tolcapone is rarely used because it can damage the liver. MAO-B inhibitors (selegiline, rasagiline, safinamide) block dopamine breakdown in the brain. After some years of levodopa, most patients develop fluctuations: They reflect disease progression and levodopa's short half-life. Options are smaller, more frequent doses; modified-release levodopa; adding a COMT inhibitor, an MAO-B inhibitor or a dopamine agonist; and amantadine for dyskinesia.</a:t>
            </a:r>
          </a:p>
          <a:p/>
          <a:p>
            <a:r>
              <a:t>Time: 2:00  (at 8:30 of 40:00).  Next: Levodopa.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Levodopa (L-dopa) is the most effective drug for Parkinson's disease. It is a precursor of dopamine. Kinetics. Carbidopa (or benserazide) is a peripheral AADC inhibitor. It does not cross the blood-brain barrier. It is always given with levodopa. Carbidopa: COMT inhibitors (entacapone; opicapone; tolcapone) block the other peripheral breakdown route. Levodopa then lasts longer, and "wearing-off" is reduced. Tolcapone is rarely used because it can damage the liver. MAO-B inhibitors (selegiline, rasagiline, safinamide) block dopamine breakdown in the brain. After some years of levodopa, most patients develop fluctuations: They reflect disease progression and levodopa's short half-life. Options are smaller, more frequent doses; modified-release levodopa; adding a COMT inhibitor, an MAO-B inhibitor or a dopamine agonist; and amantadine for dyskinesia.</a:t>
            </a:r>
          </a:p>
          <a:p/>
          <a:p>
            <a:r>
              <a:t>Time: 2:00  (at 10:30 of 40:00).  Next: Motor fluctuations.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Levodopa (L-dopa) is the most effective drug for Parkinson's disease. It is a precursor of dopamine. Kinetics. Carbidopa (or benserazide) is a peripheral AADC inhibitor. It does not cross the blood-brain barrier. It is always given with levodopa. Carbidopa: COMT inhibitors (entacapone; opicapone; tolcapone) block the other peripheral breakdown route. Levodopa then lasts longer, and "wearing-off" is reduced. Tolcapone is rarely used because it can damage the liver. MAO-B inhibitors (selegiline, rasagiline, safinamide) block dopamine breakdown in the brain. After some years of levodopa, most patients develop fluctuations: They reflect disease progression and levodopa's short half-life. Options are smaller, more frequent doses; modified-release levodopa; adding a COMT inhibitor, an MAO-B inhibitor or a dopamine agonist; and amantadine for dyskinesia.</a:t>
            </a:r>
          </a:p>
          <a:p/>
          <a:p>
            <a:r>
              <a:t>Time: 2:00  (at 12:30 of 40:00).  Next: Adverse effects of levodopa.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Levodopa (L-dopa) is the most effective drug for Parkinson's disease. It is a precursor of dopamine. Kinetics. Carbidopa (or benserazide) is a peripheral AADC inhibitor. It does not cross the blood-brain barrier. It is always given with levodopa. Carbidopa: COMT inhibitors (entacapone; opicapone; tolcapone) block the other peripheral breakdown route. Levodopa then lasts longer, and "wearing-off" is reduced. Tolcapone is rarely used because it can damage the liver. MAO-B inhibitors (selegiline, rasagiline, safinamide) block dopamine breakdown in the brain. After some years of levodopa, most patients develop fluctuations: They reflect disease progression and levodopa's short half-life. Options are smaller, more frequent doses; modified-release levodopa; adding a COMT inhibitor, an MAO-B inhibitor or a dopamine agonist; and amantadine for dyskinesia.</a:t>
            </a:r>
          </a:p>
          <a:p/>
          <a:p>
            <a:r>
              <a:t>Time: 2:30  (at 15:00 of 40:00).  Next: Levodopa.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Levodopa (L-dopa) is the most effective drug for Parkinson's disease. It is a precursor of dopamine. Kinetics. Carbidopa (or benserazide) is a peripheral AADC inhibitor. It does not cross the blood-brain barrier. It is always given with levodopa. Carbidopa: COMT inhibitors (entacapone; opicapone; tolcapone) block the other peripheral breakdown route. Levodopa then lasts longer, and "wearing-off" is reduced. Tolcapone is rarely used because it can damage the liver. MAO-B inhibitors (selegiline, rasagiline, safinamide) block dopamine breakdown in the brain. After some years of levodopa, most patients develop fluctuations: They reflect disease progression and levodopa's short half-life. Options are smaller, more frequent doses; modified-release levodopa; adding a COMT inhibitor, an MAO-B inhibitor or a dopamine agonist; and amantadine for dyskinesia.</a:t>
            </a:r>
          </a:p>
          <a:p/>
          <a:p>
            <a:r>
              <a:t>Time: 1:30  (at 16:30 of 40:00).  Next: Dopamine Agonists.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with the class: what would you ask, check and say?</a:t>
            </a:r>
          </a:p>
          <a:p/>
          <a:p>
            <a:r>
              <a:t>Time: 2:00  (at 18:30 of 40:00).  Next: Dopamine Agonists.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Dopamine agonists act directly on D2 and D3 receptors. They do not need conversion by neurons. They last longer than levodopa and cause fewer motor fluctuations. They cause more hallucinations, sleepiness and impulse-control disorders. Adverse effects: nausea, postural hypotension, hallucinations, confusion, sudden sleep attacks and impulse-control disorders.</a:t>
            </a:r>
          </a:p>
          <a:p/>
          <a:p>
            <a:r>
              <a:t>Time: 2:00  (at 20:30 of 40:00).  Next: Dopamine Agonists.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Dopamine agonists act directly on D2 and D3 receptors. They do not need conversion by neurons. They last longer than levodopa and cause fewer motor fluctuations. They cause more hallucinations, sleepiness and impulse-control disorders. Adverse effects: nausea, postural hypotension, hallucinations, confusion, sudden sleep attacks and impulse-control disorders.</a:t>
            </a:r>
          </a:p>
          <a:p/>
          <a:p>
            <a:r>
              <a:t>Time: 1:30  (at 22:00 of 40:00).  Next: MAO-B Inhibitors.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Members: selegiline, rasagiline and safinamide. Mechanism: selective inhibition of MAO-B, the main enzyme that breaks down dopamine in the striatum. Brain dopamine rises. Use: alone in early disease (mild benefit) or added to levodopa to reduce wearing-off. Safety: at normal doses they do not cause the "cheese reaction", because MAO-A in the gut still breaks down tyramine. Selectivity is lost at high doses. Combining them with pethidine, tramadol or serotonergic antidepressants can cause serotonin syndrome.</a:t>
            </a:r>
          </a:p>
          <a:p/>
          <a:p>
            <a:r>
              <a:t>Time: 2:00  (at 24:00 of 40:00).  Next: Amantadine and Anticholinergics.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Amantadine is an antiviral found by chance to help Parkinson's disease. It increases dopamine release, reduces dopamine reuptake and blocks NMDA receptors. It is now used mainly for levodopa-induced dyskinesia. Adverse effects: nausea, dizziness, confusion, postural hypotension, ankle oedema and livedo reticularis (mottled skin). Anticholinergics (trihexyphenidyl, biperiden, benztropine, orphenadrine) block central muscarinic receptors and restore the dopamine–acetylcholine balance. They help tremor more than slowness. They cause dry mouth, constipation, urinary retention, blurred vision and confusion. They worsen memory, glaucoma and prostatic enlargement. Avoid them in older people. Large doses cause hallucinations and can be misused.</a:t>
            </a:r>
          </a:p>
          <a:p/>
          <a:p>
            <a:r>
              <a:t>Time: 2:30  (at 26:30 of 40:00).  Next: Choosing a Drug.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 Dopamine neurons of the substantia nigra die. A is Alzheimer's disease. C and D are not the cause.</a:t>
            </a:r>
          </a:p>
          <a:p/>
          <a:p>
            <a:r>
              <a:t>Time: 0:45  (at 34:15 of 40:00).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 Carbidopa blocks peripheral AADC, so a lower levodopa dose works. B, C and D are not reduced.</a:t>
            </a:r>
          </a:p>
          <a:p/>
          <a:p>
            <a:r>
              <a:t>Time: 0:45  (at 35:45 of 40:00).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C: Carbidopa and entacapone both act on levodopa metabolism. A, B and D add carbidopa or entacapone without levodopa, where they do nothing.</a:t>
            </a:r>
          </a:p>
          <a:p/>
          <a:p>
            <a:r>
              <a:t>Time: 0:45  (at 37:15 of 40:00).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0:30  (at 0:30 of 40:00).  Next: Learning Objectives.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2:30  (at 29:00 of 40:00).  Next: Brands in Egypt.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2:30  (at 31:30 of 40:00).  Next: For Discussion.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2:00  (at 33:30 of 40:00).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0:45  (at 35:00 of 40:00).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0:45  (at 36:30 of 40:00).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0:45  (at 38:00 of 40:00).</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2:00  (at 40:00 of 40:00).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notesSlide" Target="../notesSlides/notesSlide1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notesSlide" Target="../notesSlides/notesSlide2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notesSlide" Target="../notesSlides/notesSlide2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notesSlide" Target="../notesSlides/notesSlide2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notesSlide" Target="../notesSlides/notesSlide2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8C"/>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589520" y="1097280"/>
            <a:ext cx="4754880" cy="5120640"/>
          </a:xfrm>
          <a:prstGeom prst="rect">
            <a:avLst/>
          </a:prstGeom>
          <a:noFill/>
        </p:spPr>
        <p:txBody>
          <a:bodyPr wrap="square" anchor="ctr" lIns="0" rIns="0" tIns="0" bIns="0">
            <a:spAutoFit/>
          </a:bodyPr>
          <a:lstStyle/>
          <a:p>
            <a:pPr algn="r"/>
            <a:r>
              <a:rPr sz="28000" i="0" b="1">
                <a:solidFill>
                  <a:srgbClr val="172477"/>
                </a:solidFill>
                <a:latin typeface="Cambria"/>
              </a:rPr>
              <a:t>03</a:t>
            </a:r>
          </a:p>
        </p:txBody>
      </p:sp>
      <p:pic>
        <p:nvPicPr>
          <p:cNvPr id="4" name="Picture 3" descr="port-said-university.png"/>
          <p:cNvPicPr>
            <a:picLocks noChangeAspect="1"/>
          </p:cNvPicPr>
          <p:nvPr/>
        </p:nvPicPr>
        <p:blipFill>
          <a:blip r:embed="rId3"/>
          <a:stretch>
            <a:fillRect/>
          </a:stretch>
        </p:blipFill>
        <p:spPr>
          <a:xfrm>
            <a:off x="548640" y="502920"/>
            <a:ext cx="960120" cy="960120"/>
          </a:xfrm>
          <a:prstGeom prst="rect">
            <a:avLst/>
          </a:prstGeom>
        </p:spPr>
      </p:pic>
      <p:pic>
        <p:nvPicPr>
          <p:cNvPr id="5" name="Picture 4" descr="faculty-of-pharmacy.png"/>
          <p:cNvPicPr>
            <a:picLocks noChangeAspect="1"/>
          </p:cNvPicPr>
          <p:nvPr/>
        </p:nvPicPr>
        <p:blipFill>
          <a:blip r:embed="rId4"/>
          <a:stretch>
            <a:fillRect/>
          </a:stretch>
        </p:blipFill>
        <p:spPr>
          <a:xfrm>
            <a:off x="1691640" y="502920"/>
            <a:ext cx="960120" cy="960120"/>
          </a:xfrm>
          <a:prstGeom prst="rect">
            <a:avLst/>
          </a:prstGeom>
        </p:spPr>
      </p:pic>
      <p:sp>
        <p:nvSpPr>
          <p:cNvPr id="6" name="TextBox 5"/>
          <p:cNvSpPr txBox="1"/>
          <p:nvPr/>
        </p:nvSpPr>
        <p:spPr>
          <a:xfrm>
            <a:off x="2971800" y="658368"/>
            <a:ext cx="6400800" cy="731520"/>
          </a:xfrm>
          <a:prstGeom prst="rect">
            <a:avLst/>
          </a:prstGeom>
          <a:noFill/>
        </p:spPr>
        <p:txBody>
          <a:bodyPr wrap="square" anchor="ctr" lIns="0" rIns="0" tIns="0" bIns="0">
            <a:spAutoFit/>
          </a:bodyPr>
          <a:lstStyle/>
          <a:p>
            <a:r>
              <a:rPr sz="1800" i="0" b="1">
                <a:solidFill>
                  <a:srgbClr val="FFFFFF"/>
                </a:solidFill>
                <a:latin typeface="Cambria"/>
              </a:rPr>
              <a:t>Faculty of Pharmacy</a:t>
            </a:r>
          </a:p>
          <a:p>
            <a:r>
              <a:rPr sz="1200" i="0" b="1" spc="200">
                <a:solidFill>
                  <a:srgbClr val="DFE1EF"/>
                </a:solidFill>
                <a:latin typeface="Calibri"/>
              </a:rPr>
              <a:t>PORT SAID UNIVERSITY</a:t>
            </a:r>
          </a:p>
        </p:txBody>
      </p:sp>
      <p:sp>
        <p:nvSpPr>
          <p:cNvPr id="7" name="TextBox 6"/>
          <p:cNvSpPr txBox="1"/>
          <p:nvPr/>
        </p:nvSpPr>
        <p:spPr>
          <a:xfrm>
            <a:off x="548640" y="2514600"/>
            <a:ext cx="6766560" cy="3108960"/>
          </a:xfrm>
          <a:prstGeom prst="rect">
            <a:avLst/>
          </a:prstGeom>
          <a:noFill/>
        </p:spPr>
        <p:txBody>
          <a:bodyPr wrap="square" anchor="t" lIns="0" rIns="0" tIns="0" bIns="0">
            <a:spAutoFit/>
          </a:bodyPr>
          <a:lstStyle/>
          <a:p>
            <a:r>
              <a:rPr sz="1400" i="0" b="1" spc="200">
                <a:solidFill>
                  <a:srgbClr val="DFE1EF"/>
                </a:solidFill>
                <a:latin typeface="Calibri"/>
              </a:rPr>
              <a:t>PRACTICAL PHARMACOLOGY OF THE CENTRAL NERVOUS SYSTEM  ·  SECTION 3</a:t>
            </a:r>
          </a:p>
          <a:p>
            <a:pPr>
              <a:spcBef>
                <a:spcPts val="1400"/>
              </a:spcBef>
            </a:pPr>
            <a:r>
              <a:rPr sz="4400" i="0" b="1">
                <a:solidFill>
                  <a:srgbClr val="FFFFFF"/>
                </a:solidFill>
                <a:latin typeface="Cambria"/>
              </a:rPr>
              <a:t>Parkinson's Disease</a:t>
            </a:r>
          </a:p>
          <a:p>
            <a:pPr>
              <a:spcBef>
                <a:spcPts val="1600"/>
              </a:spcBef>
            </a:pPr>
            <a:r>
              <a:rPr sz="2000" i="1" b="0">
                <a:solidFill>
                  <a:srgbClr val="DFE1EF"/>
                </a:solidFill>
                <a:latin typeface="Cambria"/>
              </a:rPr>
              <a:t>A Laboratory and Section Guide</a:t>
            </a:r>
          </a:p>
        </p:txBody>
      </p:sp>
      <p:sp>
        <p:nvSpPr>
          <p:cNvPr id="8" name="TextBox 7"/>
          <p:cNvSpPr txBox="1"/>
          <p:nvPr/>
        </p:nvSpPr>
        <p:spPr>
          <a:xfrm>
            <a:off x="548640" y="5989320"/>
            <a:ext cx="8229600" cy="457200"/>
          </a:xfrm>
          <a:prstGeom prst="rect">
            <a:avLst/>
          </a:prstGeom>
          <a:noFill/>
        </p:spPr>
        <p:txBody>
          <a:bodyPr wrap="square" anchor="t" lIns="0" rIns="0" tIns="0" bIns="0">
            <a:spAutoFit/>
          </a:bodyPr>
          <a:lstStyle/>
          <a:p>
            <a:r>
              <a:rPr sz="1300" i="0" b="0">
                <a:solidFill>
                  <a:srgbClr val="DFE1EF"/>
                </a:solidFill>
                <a:latin typeface="Calibri"/>
              </a:rPr>
              <a:t>40 minutes  ·  3 questions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8EAF4"/>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1B2A8C"/>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03</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826227"/>
                </a:solidFill>
                <a:latin typeface="Calibri"/>
              </a:rPr>
              <a:t>SECTION 3</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1B2A8C"/>
                </a:solidFill>
                <a:latin typeface="Cambria"/>
              </a:rPr>
              <a:t>Learning Objectives</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3  ·  Parkinson's Disease</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02 / 25</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48640" y="1572768"/>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4" name="TextBox 13"/>
          <p:cNvSpPr txBox="1"/>
          <p:nvPr/>
        </p:nvSpPr>
        <p:spPr>
          <a:xfrm>
            <a:off x="1143000" y="1591056"/>
            <a:ext cx="6629400" cy="944499"/>
          </a:xfrm>
          <a:prstGeom prst="rect">
            <a:avLst/>
          </a:prstGeom>
          <a:noFill/>
        </p:spPr>
        <p:txBody>
          <a:bodyPr wrap="square" anchor="t" lIns="0" rIns="0" tIns="0" bIns="0">
            <a:spAutoFit/>
          </a:bodyPr>
          <a:lstStyle/>
          <a:p>
            <a:r>
              <a:rPr sz="2100" i="0" b="0">
                <a:solidFill>
                  <a:srgbClr val="1A1F36"/>
                </a:solidFill>
                <a:latin typeface="Calibri"/>
              </a:rPr>
              <a:t>Explain the dopamine–acetylcholine imbalance of Parkinson's disease.</a:t>
            </a:r>
          </a:p>
        </p:txBody>
      </p:sp>
      <p:sp>
        <p:nvSpPr>
          <p:cNvPr id="15" name="Oval 14"/>
          <p:cNvSpPr/>
          <p:nvPr/>
        </p:nvSpPr>
        <p:spPr>
          <a:xfrm>
            <a:off x="548640" y="2562987"/>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6" name="TextBox 15"/>
          <p:cNvSpPr txBox="1"/>
          <p:nvPr/>
        </p:nvSpPr>
        <p:spPr>
          <a:xfrm>
            <a:off x="1143000" y="2581275"/>
            <a:ext cx="6629400" cy="944499"/>
          </a:xfrm>
          <a:prstGeom prst="rect">
            <a:avLst/>
          </a:prstGeom>
          <a:noFill/>
        </p:spPr>
        <p:txBody>
          <a:bodyPr wrap="square" anchor="t" lIns="0" rIns="0" tIns="0" bIns="0">
            <a:spAutoFit/>
          </a:bodyPr>
          <a:lstStyle/>
          <a:p>
            <a:r>
              <a:rPr sz="2100" i="0" b="0">
                <a:solidFill>
                  <a:srgbClr val="1A1F36"/>
                </a:solidFill>
                <a:latin typeface="Calibri"/>
              </a:rPr>
              <a:t>Describe how carbidopa, COMT inhibitors and MAO-B inhibitors improve levodopa therapy.</a:t>
            </a:r>
          </a:p>
        </p:txBody>
      </p:sp>
      <p:sp>
        <p:nvSpPr>
          <p:cNvPr id="17" name="Oval 16"/>
          <p:cNvSpPr/>
          <p:nvPr/>
        </p:nvSpPr>
        <p:spPr>
          <a:xfrm>
            <a:off x="548640" y="3553206"/>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8" name="TextBox 17"/>
          <p:cNvSpPr txBox="1"/>
          <p:nvPr/>
        </p:nvSpPr>
        <p:spPr>
          <a:xfrm>
            <a:off x="1143000" y="3571494"/>
            <a:ext cx="6629400" cy="944499"/>
          </a:xfrm>
          <a:prstGeom prst="rect">
            <a:avLst/>
          </a:prstGeom>
          <a:noFill/>
        </p:spPr>
        <p:txBody>
          <a:bodyPr wrap="square" anchor="t" lIns="0" rIns="0" tIns="0" bIns="0">
            <a:spAutoFit/>
          </a:bodyPr>
          <a:lstStyle/>
          <a:p>
            <a:r>
              <a:rPr sz="2100" i="0" b="0">
                <a:solidFill>
                  <a:srgbClr val="1A1F36"/>
                </a:solidFill>
                <a:latin typeface="Calibri"/>
              </a:rPr>
              <a:t>Compare levodopa, dopamine agonists, MAO-B inhibitors, amantadine and anticholinergics.</a:t>
            </a:r>
          </a:p>
        </p:txBody>
      </p:sp>
      <p:sp>
        <p:nvSpPr>
          <p:cNvPr id="19" name="Oval 18"/>
          <p:cNvSpPr/>
          <p:nvPr/>
        </p:nvSpPr>
        <p:spPr>
          <a:xfrm>
            <a:off x="548640" y="4543425"/>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4</a:t>
            </a:r>
          </a:p>
        </p:txBody>
      </p:sp>
      <p:sp>
        <p:nvSpPr>
          <p:cNvPr id="20" name="TextBox 19"/>
          <p:cNvSpPr txBox="1"/>
          <p:nvPr/>
        </p:nvSpPr>
        <p:spPr>
          <a:xfrm>
            <a:off x="1143000" y="4561713"/>
            <a:ext cx="6629400" cy="944499"/>
          </a:xfrm>
          <a:prstGeom prst="rect">
            <a:avLst/>
          </a:prstGeom>
          <a:noFill/>
        </p:spPr>
        <p:txBody>
          <a:bodyPr wrap="square" anchor="t" lIns="0" rIns="0" tIns="0" bIns="0">
            <a:spAutoFit/>
          </a:bodyPr>
          <a:lstStyle/>
          <a:p>
            <a:r>
              <a:rPr sz="2100" i="0" b="0">
                <a:solidFill>
                  <a:srgbClr val="1A1F36"/>
                </a:solidFill>
                <a:latin typeface="Calibri"/>
              </a:rPr>
              <a:t>Identify key adverse effects and interactions of antiparkinsonian drugs.</a:t>
            </a:r>
          </a:p>
        </p:txBody>
      </p:sp>
      <p:sp>
        <p:nvSpPr>
          <p:cNvPr id="21" name="Oval 20"/>
          <p:cNvSpPr/>
          <p:nvPr/>
        </p:nvSpPr>
        <p:spPr>
          <a:xfrm>
            <a:off x="548640" y="5533644"/>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5</a:t>
            </a:r>
          </a:p>
        </p:txBody>
      </p:sp>
      <p:sp>
        <p:nvSpPr>
          <p:cNvPr id="22" name="TextBox 21"/>
          <p:cNvSpPr txBox="1"/>
          <p:nvPr/>
        </p:nvSpPr>
        <p:spPr>
          <a:xfrm>
            <a:off x="1143000" y="5551932"/>
            <a:ext cx="6629400" cy="611124"/>
          </a:xfrm>
          <a:prstGeom prst="rect">
            <a:avLst/>
          </a:prstGeom>
          <a:noFill/>
        </p:spPr>
        <p:txBody>
          <a:bodyPr wrap="square" anchor="t" lIns="0" rIns="0" tIns="0" bIns="0">
            <a:spAutoFit/>
          </a:bodyPr>
          <a:lstStyle/>
          <a:p>
            <a:r>
              <a:rPr sz="2100" i="0" b="0">
                <a:solidFill>
                  <a:srgbClr val="1A1F36"/>
                </a:solidFill>
                <a:latin typeface="Calibri"/>
              </a:rPr>
              <a:t>Choose a treatment plan for a patient.</a:t>
            </a:r>
          </a:p>
        </p:txBody>
      </p:sp>
      <p:sp>
        <p:nvSpPr>
          <p:cNvPr id="23" name="Rounded Rectangle 22"/>
          <p:cNvSpPr/>
          <p:nvPr/>
        </p:nvSpPr>
        <p:spPr>
          <a:xfrm>
            <a:off x="8366760" y="1600200"/>
            <a:ext cx="3273552" cy="4526280"/>
          </a:xfrm>
          <a:prstGeom prst="roundRect">
            <a:avLst>
              <a:gd name="adj" fmla="val 5000"/>
            </a:avLst>
          </a:prstGeom>
          <a:solidFill>
            <a:srgbClr val="F1F2F8">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628644" y="1664208"/>
            <a:ext cx="2749783"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41080" y="1874519"/>
            <a:ext cx="2743200" cy="4023360"/>
          </a:xfrm>
          <a:prstGeom prst="rect">
            <a:avLst/>
          </a:prstGeom>
          <a:noFill/>
        </p:spPr>
        <p:txBody>
          <a:bodyPr wrap="square" anchor="t" lIns="0" rIns="0" tIns="0" bIns="0">
            <a:spAutoFit/>
          </a:bodyPr>
          <a:lstStyle/>
          <a:p>
            <a:pPr>
              <a:spcBef>
                <a:spcPts val="0"/>
              </a:spcBef>
            </a:pPr>
            <a:r>
              <a:rPr sz="5400" i="0" b="1">
                <a:solidFill>
                  <a:srgbClr val="1B2A8C"/>
                </a:solidFill>
                <a:latin typeface="Cambria"/>
              </a:rPr>
              <a:t>40</a:t>
            </a:r>
          </a:p>
          <a:p>
            <a:r>
              <a:rPr sz="1200" i="0" b="1" spc="150">
                <a:solidFill>
                  <a:srgbClr val="5A6072"/>
                </a:solidFill>
                <a:latin typeface="Calibri"/>
              </a:rPr>
              <a:t>MINUTES</a:t>
            </a:r>
          </a:p>
          <a:p>
            <a:pPr>
              <a:spcBef>
                <a:spcPts val="1600"/>
              </a:spcBef>
            </a:pPr>
            <a:r>
              <a:rPr sz="5400" i="0" b="1">
                <a:solidFill>
                  <a:srgbClr val="1B2A8C"/>
                </a:solidFill>
                <a:latin typeface="Cambria"/>
              </a:rPr>
              <a:t>3</a:t>
            </a:r>
          </a:p>
          <a:p>
            <a:r>
              <a:rPr sz="1200" i="0" b="1" spc="150">
                <a:solidFill>
                  <a:srgbClr val="5A6072"/>
                </a:solidFill>
                <a:latin typeface="Calibri"/>
              </a:rPr>
              <a:t>QUESTIONS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8EAF4"/>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1B2A8C"/>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03</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826227"/>
                </a:solidFill>
                <a:latin typeface="Calibri"/>
              </a:rPr>
              <a:t>SECTION 3</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1B2A8C"/>
                </a:solidFill>
                <a:latin typeface="Cambria"/>
              </a:rPr>
              <a:t>Roadmap</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3  ·  Parkinson's Disease</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03 / 25</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48640" y="1572768"/>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4" name="TextBox 13"/>
          <p:cNvSpPr txBox="1"/>
          <p:nvPr/>
        </p:nvSpPr>
        <p:spPr>
          <a:xfrm>
            <a:off x="1143000" y="1591056"/>
            <a:ext cx="4678527" cy="824737"/>
          </a:xfrm>
          <a:prstGeom prst="rect">
            <a:avLst/>
          </a:prstGeom>
          <a:noFill/>
        </p:spPr>
        <p:txBody>
          <a:bodyPr wrap="square" anchor="t" lIns="0" rIns="0" tIns="0" bIns="0">
            <a:spAutoFit/>
          </a:bodyPr>
          <a:lstStyle/>
          <a:p>
            <a:r>
              <a:rPr sz="2200" i="0" b="0">
                <a:solidFill>
                  <a:srgbClr val="1A1F36"/>
                </a:solidFill>
                <a:latin typeface="Calibri"/>
              </a:rPr>
              <a:t>The Disease in Brief</a:t>
            </a:r>
          </a:p>
        </p:txBody>
      </p:sp>
      <p:sp>
        <p:nvSpPr>
          <p:cNvPr id="15" name="Oval 14"/>
          <p:cNvSpPr/>
          <p:nvPr/>
        </p:nvSpPr>
        <p:spPr>
          <a:xfrm>
            <a:off x="548640" y="2443226"/>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6" name="TextBox 15"/>
          <p:cNvSpPr txBox="1"/>
          <p:nvPr/>
        </p:nvSpPr>
        <p:spPr>
          <a:xfrm>
            <a:off x="1143000" y="2461514"/>
            <a:ext cx="4678527" cy="824737"/>
          </a:xfrm>
          <a:prstGeom prst="rect">
            <a:avLst/>
          </a:prstGeom>
          <a:noFill/>
        </p:spPr>
        <p:txBody>
          <a:bodyPr wrap="square" anchor="t" lIns="0" rIns="0" tIns="0" bIns="0">
            <a:spAutoFit/>
          </a:bodyPr>
          <a:lstStyle/>
          <a:p>
            <a:r>
              <a:rPr sz="2200" i="0" b="0">
                <a:solidFill>
                  <a:srgbClr val="1A1F36"/>
                </a:solidFill>
                <a:latin typeface="Calibri"/>
              </a:rPr>
              <a:t>Levodopa</a:t>
            </a:r>
          </a:p>
        </p:txBody>
      </p:sp>
      <p:sp>
        <p:nvSpPr>
          <p:cNvPr id="17" name="Oval 16"/>
          <p:cNvSpPr/>
          <p:nvPr/>
        </p:nvSpPr>
        <p:spPr>
          <a:xfrm>
            <a:off x="548640" y="3313684"/>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8" name="TextBox 17"/>
          <p:cNvSpPr txBox="1"/>
          <p:nvPr/>
        </p:nvSpPr>
        <p:spPr>
          <a:xfrm>
            <a:off x="1143000" y="3331972"/>
            <a:ext cx="4678527" cy="824737"/>
          </a:xfrm>
          <a:prstGeom prst="rect">
            <a:avLst/>
          </a:prstGeom>
          <a:noFill/>
        </p:spPr>
        <p:txBody>
          <a:bodyPr wrap="square" anchor="t" lIns="0" rIns="0" tIns="0" bIns="0">
            <a:spAutoFit/>
          </a:bodyPr>
          <a:lstStyle/>
          <a:p>
            <a:r>
              <a:rPr sz="2200" i="0" b="0">
                <a:solidFill>
                  <a:srgbClr val="1A1F36"/>
                </a:solidFill>
                <a:latin typeface="Calibri"/>
              </a:rPr>
              <a:t>Dopamine Agonists</a:t>
            </a:r>
          </a:p>
        </p:txBody>
      </p:sp>
      <p:sp>
        <p:nvSpPr>
          <p:cNvPr id="19" name="Oval 18"/>
          <p:cNvSpPr/>
          <p:nvPr/>
        </p:nvSpPr>
        <p:spPr>
          <a:xfrm>
            <a:off x="548640" y="4184141"/>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4</a:t>
            </a:r>
          </a:p>
        </p:txBody>
      </p:sp>
      <p:sp>
        <p:nvSpPr>
          <p:cNvPr id="20" name="TextBox 19"/>
          <p:cNvSpPr txBox="1"/>
          <p:nvPr/>
        </p:nvSpPr>
        <p:spPr>
          <a:xfrm>
            <a:off x="1143000" y="4202430"/>
            <a:ext cx="4678527" cy="824737"/>
          </a:xfrm>
          <a:prstGeom prst="rect">
            <a:avLst/>
          </a:prstGeom>
          <a:noFill/>
        </p:spPr>
        <p:txBody>
          <a:bodyPr wrap="square" anchor="t" lIns="0" rIns="0" tIns="0" bIns="0">
            <a:spAutoFit/>
          </a:bodyPr>
          <a:lstStyle/>
          <a:p>
            <a:r>
              <a:rPr sz="2200" i="0" b="0">
                <a:solidFill>
                  <a:srgbClr val="1A1F36"/>
                </a:solidFill>
                <a:latin typeface="Calibri"/>
              </a:rPr>
              <a:t>MAO-B Inhibitors</a:t>
            </a:r>
          </a:p>
        </p:txBody>
      </p:sp>
      <p:sp>
        <p:nvSpPr>
          <p:cNvPr id="21" name="Oval 20"/>
          <p:cNvSpPr/>
          <p:nvPr/>
        </p:nvSpPr>
        <p:spPr>
          <a:xfrm>
            <a:off x="6370167" y="1572768"/>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5</a:t>
            </a:r>
          </a:p>
        </p:txBody>
      </p:sp>
      <p:sp>
        <p:nvSpPr>
          <p:cNvPr id="22" name="TextBox 21"/>
          <p:cNvSpPr txBox="1"/>
          <p:nvPr/>
        </p:nvSpPr>
        <p:spPr>
          <a:xfrm>
            <a:off x="6964527" y="1591056"/>
            <a:ext cx="4678527" cy="824737"/>
          </a:xfrm>
          <a:prstGeom prst="rect">
            <a:avLst/>
          </a:prstGeom>
          <a:noFill/>
        </p:spPr>
        <p:txBody>
          <a:bodyPr wrap="square" anchor="t" lIns="0" rIns="0" tIns="0" bIns="0">
            <a:spAutoFit/>
          </a:bodyPr>
          <a:lstStyle/>
          <a:p>
            <a:r>
              <a:rPr sz="2200" i="0" b="0">
                <a:solidFill>
                  <a:srgbClr val="1A1F36"/>
                </a:solidFill>
                <a:latin typeface="Calibri"/>
              </a:rPr>
              <a:t>Amantadine and Anticholinergics</a:t>
            </a:r>
          </a:p>
        </p:txBody>
      </p:sp>
      <p:sp>
        <p:nvSpPr>
          <p:cNvPr id="23" name="Oval 22"/>
          <p:cNvSpPr/>
          <p:nvPr/>
        </p:nvSpPr>
        <p:spPr>
          <a:xfrm>
            <a:off x="6370167" y="2443226"/>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6</a:t>
            </a:r>
          </a:p>
        </p:txBody>
      </p:sp>
      <p:sp>
        <p:nvSpPr>
          <p:cNvPr id="24" name="TextBox 23"/>
          <p:cNvSpPr txBox="1"/>
          <p:nvPr/>
        </p:nvSpPr>
        <p:spPr>
          <a:xfrm>
            <a:off x="6964527" y="2461514"/>
            <a:ext cx="4678527" cy="824737"/>
          </a:xfrm>
          <a:prstGeom prst="rect">
            <a:avLst/>
          </a:prstGeom>
          <a:noFill/>
        </p:spPr>
        <p:txBody>
          <a:bodyPr wrap="square" anchor="t" lIns="0" rIns="0" tIns="0" bIns="0">
            <a:spAutoFit/>
          </a:bodyPr>
          <a:lstStyle/>
          <a:p>
            <a:r>
              <a:rPr sz="2200" i="0" b="0">
                <a:solidFill>
                  <a:srgbClr val="1A1F36"/>
                </a:solidFill>
                <a:latin typeface="Calibri"/>
              </a:rPr>
              <a:t>Choosing a Drug</a:t>
            </a:r>
          </a:p>
        </p:txBody>
      </p:sp>
      <p:sp>
        <p:nvSpPr>
          <p:cNvPr id="25" name="Oval 24"/>
          <p:cNvSpPr/>
          <p:nvPr/>
        </p:nvSpPr>
        <p:spPr>
          <a:xfrm>
            <a:off x="6370167" y="3313684"/>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7</a:t>
            </a:r>
          </a:p>
        </p:txBody>
      </p:sp>
      <p:sp>
        <p:nvSpPr>
          <p:cNvPr id="26" name="TextBox 25"/>
          <p:cNvSpPr txBox="1"/>
          <p:nvPr/>
        </p:nvSpPr>
        <p:spPr>
          <a:xfrm>
            <a:off x="6964527" y="3331972"/>
            <a:ext cx="4678527" cy="824737"/>
          </a:xfrm>
          <a:prstGeom prst="rect">
            <a:avLst/>
          </a:prstGeom>
          <a:noFill/>
        </p:spPr>
        <p:txBody>
          <a:bodyPr wrap="square" anchor="t" lIns="0" rIns="0" tIns="0" bIns="0">
            <a:spAutoFit/>
          </a:bodyPr>
          <a:lstStyle/>
          <a:p>
            <a:r>
              <a:rPr sz="2200" i="0" b="0">
                <a:solidFill>
                  <a:srgbClr val="1A1F36"/>
                </a:solidFill>
                <a:latin typeface="Calibri"/>
              </a:rPr>
              <a:t>Brands in Egypt</a:t>
            </a:r>
          </a:p>
        </p:txBody>
      </p:sp>
      <p:sp>
        <p:nvSpPr>
          <p:cNvPr id="27" name="Oval 26"/>
          <p:cNvSpPr/>
          <p:nvPr/>
        </p:nvSpPr>
        <p:spPr>
          <a:xfrm>
            <a:off x="6370167" y="4184141"/>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8</a:t>
            </a:r>
          </a:p>
        </p:txBody>
      </p:sp>
      <p:sp>
        <p:nvSpPr>
          <p:cNvPr id="28" name="TextBox 27"/>
          <p:cNvSpPr txBox="1"/>
          <p:nvPr/>
        </p:nvSpPr>
        <p:spPr>
          <a:xfrm>
            <a:off x="6964527" y="4202430"/>
            <a:ext cx="4678527" cy="824737"/>
          </a:xfrm>
          <a:prstGeom prst="rect">
            <a:avLst/>
          </a:prstGeom>
          <a:noFill/>
        </p:spPr>
        <p:txBody>
          <a:bodyPr wrap="square" anchor="t" lIns="0" rIns="0" tIns="0" bIns="0">
            <a:spAutoFit/>
          </a:bodyPr>
          <a:lstStyle/>
          <a:p>
            <a:r>
              <a:rPr sz="2200" i="0" b="0">
                <a:solidFill>
                  <a:srgbClr val="1A1F36"/>
                </a:solidFill>
                <a:latin typeface="Calibri"/>
              </a:rPr>
              <a:t>For Discussion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8EAF4"/>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1B2A8C"/>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03</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826227"/>
                </a:solidFill>
                <a:latin typeface="Calibri"/>
              </a:rPr>
              <a:t>SECTION 3</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1B2A8C"/>
                </a:solidFill>
                <a:latin typeface="Cambria"/>
              </a:rPr>
              <a:t>The Disease in Brief</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3  ·  Parkinson's Disease</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04 / 25</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48640" y="1572768"/>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4" name="TextBox 13"/>
          <p:cNvSpPr txBox="1"/>
          <p:nvPr/>
        </p:nvSpPr>
        <p:spPr>
          <a:xfrm>
            <a:off x="1143000" y="1591056"/>
            <a:ext cx="10500055" cy="808863"/>
          </a:xfrm>
          <a:prstGeom prst="rect">
            <a:avLst/>
          </a:prstGeom>
          <a:noFill/>
        </p:spPr>
        <p:txBody>
          <a:bodyPr wrap="square" anchor="t" lIns="0" rIns="0" tIns="0" bIns="0">
            <a:spAutoFit/>
          </a:bodyPr>
          <a:lstStyle/>
          <a:p>
            <a:r>
              <a:rPr sz="2100" i="0" b="0">
                <a:solidFill>
                  <a:srgbClr val="1A1F36"/>
                </a:solidFill>
                <a:latin typeface="Calibri"/>
              </a:rPr>
              <a:t>Resting tremor ("pill-rolling").</a:t>
            </a:r>
          </a:p>
        </p:txBody>
      </p:sp>
      <p:sp>
        <p:nvSpPr>
          <p:cNvPr id="15" name="Oval 14"/>
          <p:cNvSpPr/>
          <p:nvPr/>
        </p:nvSpPr>
        <p:spPr>
          <a:xfrm>
            <a:off x="548640" y="2427351"/>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6" name="TextBox 15"/>
          <p:cNvSpPr txBox="1"/>
          <p:nvPr/>
        </p:nvSpPr>
        <p:spPr>
          <a:xfrm>
            <a:off x="1143000" y="2445639"/>
            <a:ext cx="10500055" cy="808863"/>
          </a:xfrm>
          <a:prstGeom prst="rect">
            <a:avLst/>
          </a:prstGeom>
          <a:noFill/>
        </p:spPr>
        <p:txBody>
          <a:bodyPr wrap="square" anchor="t" lIns="0" rIns="0" tIns="0" bIns="0">
            <a:spAutoFit/>
          </a:bodyPr>
          <a:lstStyle/>
          <a:p>
            <a:r>
              <a:rPr sz="2100" i="0" b="0">
                <a:solidFill>
                  <a:srgbClr val="1A1F36"/>
                </a:solidFill>
                <a:latin typeface="Calibri"/>
              </a:rPr>
              <a:t>Rigidity ("cogwheel").</a:t>
            </a:r>
          </a:p>
        </p:txBody>
      </p:sp>
      <p:sp>
        <p:nvSpPr>
          <p:cNvPr id="17" name="Oval 16"/>
          <p:cNvSpPr/>
          <p:nvPr/>
        </p:nvSpPr>
        <p:spPr>
          <a:xfrm>
            <a:off x="548640" y="3281934"/>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8" name="TextBox 17"/>
          <p:cNvSpPr txBox="1"/>
          <p:nvPr/>
        </p:nvSpPr>
        <p:spPr>
          <a:xfrm>
            <a:off x="1143000" y="3300222"/>
            <a:ext cx="10500055" cy="808863"/>
          </a:xfrm>
          <a:prstGeom prst="rect">
            <a:avLst/>
          </a:prstGeom>
          <a:noFill/>
        </p:spPr>
        <p:txBody>
          <a:bodyPr wrap="square" anchor="t" lIns="0" rIns="0" tIns="0" bIns="0">
            <a:spAutoFit/>
          </a:bodyPr>
          <a:lstStyle/>
          <a:p>
            <a:r>
              <a:rPr sz="2100" i="0" b="0">
                <a:solidFill>
                  <a:srgbClr val="1A1F36"/>
                </a:solidFill>
                <a:latin typeface="Calibri"/>
              </a:rPr>
              <a:t>Bradykinesia: slow movement, small shuffling steps, reduced facial expression.</a:t>
            </a:r>
          </a:p>
        </p:txBody>
      </p:sp>
      <p:sp>
        <p:nvSpPr>
          <p:cNvPr id="19" name="Oval 18"/>
          <p:cNvSpPr/>
          <p:nvPr/>
        </p:nvSpPr>
        <p:spPr>
          <a:xfrm>
            <a:off x="548640" y="4136516"/>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4</a:t>
            </a:r>
          </a:p>
        </p:txBody>
      </p:sp>
      <p:sp>
        <p:nvSpPr>
          <p:cNvPr id="20" name="TextBox 19"/>
          <p:cNvSpPr txBox="1"/>
          <p:nvPr/>
        </p:nvSpPr>
        <p:spPr>
          <a:xfrm>
            <a:off x="1143000" y="4154805"/>
            <a:ext cx="10500055" cy="808863"/>
          </a:xfrm>
          <a:prstGeom prst="rect">
            <a:avLst/>
          </a:prstGeom>
          <a:noFill/>
        </p:spPr>
        <p:txBody>
          <a:bodyPr wrap="square" anchor="t" lIns="0" rIns="0" tIns="0" bIns="0">
            <a:spAutoFit/>
          </a:bodyPr>
          <a:lstStyle/>
          <a:p>
            <a:r>
              <a:rPr sz="2100" i="0" b="0">
                <a:solidFill>
                  <a:srgbClr val="1A1F36"/>
                </a:solidFill>
                <a:latin typeface="Calibri"/>
              </a:rPr>
              <a:t>Postural instability in later disease.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8EAF4"/>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1B2A8C"/>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03</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826227"/>
                </a:solidFill>
                <a:latin typeface="Calibri"/>
              </a:rPr>
              <a:t>SECTION 3</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1B2A8C"/>
                </a:solidFill>
                <a:latin typeface="Cambria"/>
              </a:rPr>
              <a:t>Levodopa</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3  ·  Parkinson's Disease</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05 / 25</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1591056"/>
            <a:ext cx="64008" cy="740664"/>
          </a:xfrm>
          <a:prstGeom prst="roundRect">
            <a:avLst>
              <a:gd name="adj" fmla="val 50000"/>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554480"/>
            <a:ext cx="10865815" cy="1202436"/>
          </a:xfrm>
          <a:prstGeom prst="rect">
            <a:avLst/>
          </a:prstGeom>
          <a:noFill/>
        </p:spPr>
        <p:txBody>
          <a:bodyPr wrap="square" anchor="t" lIns="0" rIns="0" tIns="0" bIns="0">
            <a:spAutoFit/>
          </a:bodyPr>
          <a:lstStyle/>
          <a:p>
            <a:pPr>
              <a:spcAft>
                <a:spcPts val="800"/>
              </a:spcAft>
            </a:pPr>
            <a:r>
              <a:rPr sz="1800" i="0" b="0">
                <a:solidFill>
                  <a:srgbClr val="1A1F36"/>
                </a:solidFill>
                <a:latin typeface="Calibri"/>
              </a:rPr>
              <a:t>Levodopa (L-dopa) is the most effective drug for Parkinson's disease. It is a precursor of dopamine.</a:t>
            </a:r>
          </a:p>
          <a:p>
            <a:pPr>
              <a:spcAft>
                <a:spcPts val="800"/>
              </a:spcAft>
            </a:pPr>
            <a:r>
              <a:rPr sz="1800" i="0" b="1">
                <a:solidFill>
                  <a:srgbClr val="1A1F36"/>
                </a:solidFill>
                <a:latin typeface="Calibri"/>
              </a:rPr>
              <a:t>Kinetics.</a:t>
            </a:r>
          </a:p>
        </p:txBody>
      </p:sp>
      <p:sp>
        <p:nvSpPr>
          <p:cNvPr id="15" name="Oval 14"/>
          <p:cNvSpPr/>
          <p:nvPr/>
        </p:nvSpPr>
        <p:spPr>
          <a:xfrm>
            <a:off x="548640" y="2958084"/>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6" name="TextBox 15"/>
          <p:cNvSpPr txBox="1"/>
          <p:nvPr/>
        </p:nvSpPr>
        <p:spPr>
          <a:xfrm>
            <a:off x="1143000" y="2976372"/>
            <a:ext cx="10500055" cy="1031747"/>
          </a:xfrm>
          <a:prstGeom prst="rect">
            <a:avLst/>
          </a:prstGeom>
          <a:noFill/>
        </p:spPr>
        <p:txBody>
          <a:bodyPr wrap="square" anchor="t" lIns="0" rIns="0" tIns="0" bIns="0">
            <a:spAutoFit/>
          </a:bodyPr>
          <a:lstStyle/>
          <a:p>
            <a:r>
              <a:rPr sz="2100" i="0" b="0">
                <a:solidFill>
                  <a:srgbClr val="1A1F36"/>
                </a:solidFill>
                <a:latin typeface="Calibri"/>
              </a:rPr>
              <a:t>Absorbed from the small intestine by an amino-acid transporter. Protein-rich meals compete with it and reduce absorption and brain entry.</a:t>
            </a:r>
          </a:p>
        </p:txBody>
      </p:sp>
      <p:sp>
        <p:nvSpPr>
          <p:cNvPr id="17" name="Oval 16"/>
          <p:cNvSpPr/>
          <p:nvPr/>
        </p:nvSpPr>
        <p:spPr>
          <a:xfrm>
            <a:off x="548640" y="4035551"/>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8" name="TextBox 17"/>
          <p:cNvSpPr txBox="1"/>
          <p:nvPr/>
        </p:nvSpPr>
        <p:spPr>
          <a:xfrm>
            <a:off x="1143000" y="4053839"/>
            <a:ext cx="10500055" cy="698372"/>
          </a:xfrm>
          <a:prstGeom prst="rect">
            <a:avLst/>
          </a:prstGeom>
          <a:noFill/>
        </p:spPr>
        <p:txBody>
          <a:bodyPr wrap="square" anchor="t" lIns="0" rIns="0" tIns="0" bIns="0">
            <a:spAutoFit/>
          </a:bodyPr>
          <a:lstStyle/>
          <a:p>
            <a:r>
              <a:rPr sz="2100" i="0" b="0">
                <a:solidFill>
                  <a:srgbClr val="1A1F36"/>
                </a:solidFill>
                <a:latin typeface="Calibri"/>
              </a:rPr>
              <a:t>Short half-life (1 to 2 hours).</a:t>
            </a:r>
          </a:p>
        </p:txBody>
      </p:sp>
      <p:sp>
        <p:nvSpPr>
          <p:cNvPr id="19" name="Oval 18"/>
          <p:cNvSpPr/>
          <p:nvPr/>
        </p:nvSpPr>
        <p:spPr>
          <a:xfrm>
            <a:off x="548640" y="4779644"/>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20" name="TextBox 19"/>
          <p:cNvSpPr txBox="1"/>
          <p:nvPr/>
        </p:nvSpPr>
        <p:spPr>
          <a:xfrm>
            <a:off x="1143000" y="4797932"/>
            <a:ext cx="10500055" cy="1365123"/>
          </a:xfrm>
          <a:prstGeom prst="rect">
            <a:avLst/>
          </a:prstGeom>
          <a:noFill/>
        </p:spPr>
        <p:txBody>
          <a:bodyPr wrap="square" anchor="t" lIns="0" rIns="0" tIns="0" bIns="0">
            <a:spAutoFit/>
          </a:bodyPr>
          <a:lstStyle/>
          <a:p>
            <a:r>
              <a:rPr sz="2100" i="0" b="0">
                <a:solidFill>
                  <a:srgbClr val="1A1F36"/>
                </a:solidFill>
                <a:latin typeface="Calibri"/>
              </a:rPr>
              <a:t>Given alone, most of a dose is converted to dopamine </a:t>
            </a:r>
            <a:r>
              <a:rPr sz="2100" i="0" b="1">
                <a:solidFill>
                  <a:srgbClr val="1A1F36"/>
                </a:solidFill>
                <a:latin typeface="Calibri"/>
              </a:rPr>
              <a:t>outside</a:t>
            </a:r>
            <a:r>
              <a:rPr sz="2100" i="0" b="0">
                <a:solidFill>
                  <a:srgbClr val="1A1F36"/>
                </a:solidFill>
                <a:latin typeface="Calibri"/>
              </a:rPr>
              <a:t> the brain by peripheral AADC. Only about 1 to 5% reaches the brain. Peripheral dopamine causes nausea, vomiting, hypotension and arrhythmia.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8EAF4"/>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1B2A8C"/>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03</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826227"/>
                </a:solidFill>
                <a:latin typeface="Calibri"/>
              </a:rPr>
              <a:t>SECTION 3</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1B2A8C"/>
                </a:solidFill>
                <a:latin typeface="Cambria"/>
              </a:rPr>
              <a:t>Levodopa</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3  ·  Parkinson's Disease</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06 / 25</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1591056"/>
            <a:ext cx="64008" cy="594360"/>
          </a:xfrm>
          <a:prstGeom prst="roundRect">
            <a:avLst>
              <a:gd name="adj" fmla="val 50000"/>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554480"/>
            <a:ext cx="10865815" cy="795528"/>
          </a:xfrm>
          <a:prstGeom prst="rect">
            <a:avLst/>
          </a:prstGeom>
          <a:noFill/>
        </p:spPr>
        <p:txBody>
          <a:bodyPr wrap="square" anchor="t" lIns="0" rIns="0" tIns="0" bIns="0">
            <a:spAutoFit/>
          </a:bodyPr>
          <a:lstStyle/>
          <a:p>
            <a:pPr>
              <a:spcAft>
                <a:spcPts val="800"/>
              </a:spcAft>
            </a:pPr>
            <a:r>
              <a:rPr sz="1800" i="0" b="1">
                <a:solidFill>
                  <a:srgbClr val="1A1F36"/>
                </a:solidFill>
                <a:latin typeface="Calibri"/>
              </a:rPr>
              <a:t>Carbidopa</a:t>
            </a:r>
            <a:r>
              <a:rPr sz="1800" i="0" b="0">
                <a:solidFill>
                  <a:srgbClr val="1A1F36"/>
                </a:solidFill>
                <a:latin typeface="Calibri"/>
              </a:rPr>
              <a:t> (or benserazide) is a peripheral AADC inhibitor. It does not cross the blood-brain barrier. It is always given with levodopa. Carbidopa:</a:t>
            </a:r>
          </a:p>
        </p:txBody>
      </p:sp>
      <p:sp>
        <p:nvSpPr>
          <p:cNvPr id="15" name="Oval 14"/>
          <p:cNvSpPr/>
          <p:nvPr/>
        </p:nvSpPr>
        <p:spPr>
          <a:xfrm>
            <a:off x="548640" y="2551175"/>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6" name="TextBox 15"/>
          <p:cNvSpPr txBox="1"/>
          <p:nvPr/>
        </p:nvSpPr>
        <p:spPr>
          <a:xfrm>
            <a:off x="1143000" y="2569463"/>
            <a:ext cx="10500055" cy="1142237"/>
          </a:xfrm>
          <a:prstGeom prst="rect">
            <a:avLst/>
          </a:prstGeom>
          <a:noFill/>
        </p:spPr>
        <p:txBody>
          <a:bodyPr wrap="square" anchor="t" lIns="0" rIns="0" tIns="0" bIns="0">
            <a:spAutoFit/>
          </a:bodyPr>
          <a:lstStyle/>
          <a:p>
            <a:r>
              <a:rPr sz="2100" i="0" b="0">
                <a:solidFill>
                  <a:srgbClr val="1A1F36"/>
                </a:solidFill>
                <a:latin typeface="Calibri"/>
              </a:rPr>
              <a:t>Raises the share of levodopa reaching the brain (to about 10%) and lowers the dose needed by about 75%.</a:t>
            </a:r>
          </a:p>
        </p:txBody>
      </p:sp>
      <p:sp>
        <p:nvSpPr>
          <p:cNvPr id="17" name="Oval 16"/>
          <p:cNvSpPr/>
          <p:nvPr/>
        </p:nvSpPr>
        <p:spPr>
          <a:xfrm>
            <a:off x="548640" y="3739133"/>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8" name="TextBox 17"/>
          <p:cNvSpPr txBox="1"/>
          <p:nvPr/>
        </p:nvSpPr>
        <p:spPr>
          <a:xfrm>
            <a:off x="1143000" y="3757421"/>
            <a:ext cx="10500055" cy="808863"/>
          </a:xfrm>
          <a:prstGeom prst="rect">
            <a:avLst/>
          </a:prstGeom>
          <a:noFill/>
        </p:spPr>
        <p:txBody>
          <a:bodyPr wrap="square" anchor="t" lIns="0" rIns="0" tIns="0" bIns="0">
            <a:spAutoFit/>
          </a:bodyPr>
          <a:lstStyle/>
          <a:p>
            <a:r>
              <a:rPr sz="2100" i="0" b="0">
                <a:solidFill>
                  <a:srgbClr val="1A1F36"/>
                </a:solidFill>
                <a:latin typeface="Calibri"/>
              </a:rPr>
              <a:t>Reduces peripheral adverse effects.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8EAF4"/>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1B2A8C"/>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03</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826227"/>
                </a:solidFill>
                <a:latin typeface="Calibri"/>
              </a:rPr>
              <a:t>SECTION 3</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1B2A8C"/>
                </a:solidFill>
                <a:latin typeface="Cambria"/>
              </a:rPr>
              <a:t>Levodopa</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3  ·  Parkinson's Disease</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07 / 25</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1591056"/>
            <a:ext cx="64008" cy="2553462"/>
          </a:xfrm>
          <a:prstGeom prst="roundRect">
            <a:avLst>
              <a:gd name="adj" fmla="val 50000"/>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554480"/>
            <a:ext cx="4251960" cy="4617720"/>
          </a:xfrm>
          <a:prstGeom prst="rect">
            <a:avLst/>
          </a:prstGeom>
          <a:noFill/>
        </p:spPr>
        <p:txBody>
          <a:bodyPr wrap="square" anchor="t" lIns="0" rIns="0" tIns="0" bIns="0">
            <a:spAutoFit/>
          </a:bodyPr>
          <a:lstStyle/>
          <a:p>
            <a:pPr>
              <a:spcAft>
                <a:spcPts val="800"/>
              </a:spcAft>
            </a:pPr>
            <a:r>
              <a:rPr sz="1700" i="0" b="1">
                <a:solidFill>
                  <a:srgbClr val="1A1F36"/>
                </a:solidFill>
                <a:latin typeface="Calibri"/>
              </a:rPr>
              <a:t>COMT inhibitors</a:t>
            </a:r>
            <a:r>
              <a:rPr sz="1700" i="0" b="0">
                <a:solidFill>
                  <a:srgbClr val="1A1F36"/>
                </a:solidFill>
                <a:latin typeface="Calibri"/>
              </a:rPr>
              <a:t> (entacapone; opicapone; tolcapone) block the other peripheral breakdown route. Levodopa then lasts longer, and "wearing-off" is reduced. Tolcapone is rarely used because it can damage the liver.</a:t>
            </a:r>
          </a:p>
          <a:p>
            <a:pPr>
              <a:spcAft>
                <a:spcPts val="800"/>
              </a:spcAft>
            </a:pPr>
            <a:r>
              <a:rPr sz="1700" i="0" b="1">
                <a:solidFill>
                  <a:srgbClr val="1A1F36"/>
                </a:solidFill>
                <a:latin typeface="Calibri"/>
              </a:rPr>
              <a:t>MAO-B inhibitors</a:t>
            </a:r>
            <a:r>
              <a:rPr sz="1700" i="0" b="0">
                <a:solidFill>
                  <a:srgbClr val="1A1F36"/>
                </a:solidFill>
                <a:latin typeface="Calibri"/>
              </a:rPr>
              <a:t> (selegiline, rasagiline, safinamide) block dopamine breakdown in the brain.</a:t>
            </a:r>
          </a:p>
        </p:txBody>
      </p:sp>
      <p:sp>
        <p:nvSpPr>
          <p:cNvPr id="15" name="Rounded Rectangle 14"/>
          <p:cNvSpPr/>
          <p:nvPr/>
        </p:nvSpPr>
        <p:spPr>
          <a:xfrm>
            <a:off x="5394959" y="1554480"/>
            <a:ext cx="6248095" cy="4617720"/>
          </a:xfrm>
          <a:prstGeom prst="roundRect">
            <a:avLst>
              <a:gd name="adj" fmla="val 3000"/>
            </a:avLst>
          </a:prstGeom>
          <a:solidFill>
            <a:srgbClr val="FFFFFF"/>
          </a:solidFill>
          <a:ln w="9525">
            <a:solidFill>
              <a:srgbClr val="DDDFEE"/>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n the periphery, levodopa is converted by AADC to dopamine (blocked by carbidopa) and by COMT to 3-O-methyldopa (blocked by entacapone). Levodopa crosses the blood-brain barrier and brain AADC makes dopamine, which MAO-B breaks down; selegiline and rasagiline block this."/>
          <p:cNvPicPr>
            <a:picLocks noChangeAspect="1"/>
          </p:cNvPicPr>
          <p:nvPr/>
        </p:nvPicPr>
        <p:blipFill>
          <a:blip r:embed="rId5"/>
          <a:stretch>
            <a:fillRect/>
          </a:stretch>
        </p:blipFill>
        <p:spPr>
          <a:xfrm>
            <a:off x="5532120" y="1664207"/>
            <a:ext cx="5973775" cy="2853254"/>
          </a:xfrm>
          <a:prstGeom prst="rect">
            <a:avLst/>
          </a:prstGeom>
        </p:spPr>
      </p:pic>
      <p:sp>
        <p:nvSpPr>
          <p:cNvPr id="17" name="TextBox 16"/>
          <p:cNvSpPr txBox="1"/>
          <p:nvPr/>
        </p:nvSpPr>
        <p:spPr>
          <a:xfrm>
            <a:off x="5532120" y="4608901"/>
            <a:ext cx="5973775" cy="538988"/>
          </a:xfrm>
          <a:prstGeom prst="rect">
            <a:avLst/>
          </a:prstGeom>
          <a:noFill/>
        </p:spPr>
        <p:txBody>
          <a:bodyPr wrap="square" anchor="t" lIns="0" rIns="0" tIns="0" bIns="0">
            <a:spAutoFit/>
          </a:bodyPr>
          <a:lstStyle/>
          <a:p>
            <a:pPr algn="ctr"/>
            <a:r>
              <a:rPr sz="1300" i="1" b="0">
                <a:solidFill>
                  <a:srgbClr val="5A6072"/>
                </a:solidFill>
                <a:latin typeface="Calibri"/>
              </a:rPr>
              <a:t>Levodopa from gut to brain, with the sites of carbidopa, entacapone and MAO-B inhibitors.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8EAF4"/>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1B2A8C"/>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03</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826227"/>
                </a:solidFill>
                <a:latin typeface="Calibri"/>
              </a:rPr>
              <a:t>SECTION 3</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1B2A8C"/>
                </a:solidFill>
                <a:latin typeface="Cambria"/>
              </a:rPr>
              <a:t>Motor fluctuations</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3  ·  Parkinson's Disease</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08 / 25</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1591056"/>
            <a:ext cx="64008" cy="315468"/>
          </a:xfrm>
          <a:prstGeom prst="roundRect">
            <a:avLst>
              <a:gd name="adj" fmla="val 50000"/>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554480"/>
            <a:ext cx="10865815" cy="498348"/>
          </a:xfrm>
          <a:prstGeom prst="rect">
            <a:avLst/>
          </a:prstGeom>
          <a:noFill/>
        </p:spPr>
        <p:txBody>
          <a:bodyPr wrap="square" anchor="t" lIns="0" rIns="0" tIns="0" bIns="0">
            <a:spAutoFit/>
          </a:bodyPr>
          <a:lstStyle/>
          <a:p>
            <a:pPr>
              <a:spcAft>
                <a:spcPts val="800"/>
              </a:spcAft>
            </a:pPr>
            <a:r>
              <a:rPr sz="1800" i="0" b="0">
                <a:solidFill>
                  <a:srgbClr val="1A1F36"/>
                </a:solidFill>
                <a:latin typeface="Calibri"/>
              </a:rPr>
              <a:t>After some years of levodopa, most patients develop fluctuations:</a:t>
            </a:r>
          </a:p>
        </p:txBody>
      </p:sp>
      <p:sp>
        <p:nvSpPr>
          <p:cNvPr id="15" name="Oval 14"/>
          <p:cNvSpPr/>
          <p:nvPr/>
        </p:nvSpPr>
        <p:spPr>
          <a:xfrm>
            <a:off x="548640" y="2253996"/>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6" name="TextBox 15"/>
          <p:cNvSpPr txBox="1"/>
          <p:nvPr/>
        </p:nvSpPr>
        <p:spPr>
          <a:xfrm>
            <a:off x="1143000" y="2272284"/>
            <a:ext cx="10500055" cy="808863"/>
          </a:xfrm>
          <a:prstGeom prst="rect">
            <a:avLst/>
          </a:prstGeom>
          <a:noFill/>
        </p:spPr>
        <p:txBody>
          <a:bodyPr wrap="square" anchor="t" lIns="0" rIns="0" tIns="0" bIns="0">
            <a:spAutoFit/>
          </a:bodyPr>
          <a:lstStyle/>
          <a:p>
            <a:r>
              <a:rPr sz="2100" i="0" b="1">
                <a:solidFill>
                  <a:srgbClr val="1A1F36"/>
                </a:solidFill>
                <a:latin typeface="Calibri"/>
              </a:rPr>
              <a:t>Wearing-off:</a:t>
            </a:r>
            <a:r>
              <a:rPr sz="2100" i="0" b="0">
                <a:solidFill>
                  <a:srgbClr val="1A1F36"/>
                </a:solidFill>
                <a:latin typeface="Calibri"/>
              </a:rPr>
              <a:t> symptoms return before the next dose.</a:t>
            </a:r>
          </a:p>
        </p:txBody>
      </p:sp>
      <p:sp>
        <p:nvSpPr>
          <p:cNvPr id="17" name="Oval 16"/>
          <p:cNvSpPr/>
          <p:nvPr/>
        </p:nvSpPr>
        <p:spPr>
          <a:xfrm>
            <a:off x="548640" y="3108579"/>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8" name="TextBox 17"/>
          <p:cNvSpPr txBox="1"/>
          <p:nvPr/>
        </p:nvSpPr>
        <p:spPr>
          <a:xfrm>
            <a:off x="1143000" y="3126867"/>
            <a:ext cx="10500055" cy="1142237"/>
          </a:xfrm>
          <a:prstGeom prst="rect">
            <a:avLst/>
          </a:prstGeom>
          <a:noFill/>
        </p:spPr>
        <p:txBody>
          <a:bodyPr wrap="square" anchor="t" lIns="0" rIns="0" tIns="0" bIns="0">
            <a:spAutoFit/>
          </a:bodyPr>
          <a:lstStyle/>
          <a:p>
            <a:r>
              <a:rPr sz="2100" i="0" b="1">
                <a:solidFill>
                  <a:srgbClr val="1A1F36"/>
                </a:solidFill>
                <a:latin typeface="Calibri"/>
              </a:rPr>
              <a:t>On–off phenomenon:</a:t>
            </a:r>
            <a:r>
              <a:rPr sz="2100" i="0" b="0">
                <a:solidFill>
                  <a:srgbClr val="1A1F36"/>
                </a:solidFill>
                <a:latin typeface="Calibri"/>
              </a:rPr>
              <a:t> sudden swings between mobility ("on") and immobility ("off").</a:t>
            </a:r>
          </a:p>
        </p:txBody>
      </p:sp>
      <p:sp>
        <p:nvSpPr>
          <p:cNvPr id="19" name="Oval 18"/>
          <p:cNvSpPr/>
          <p:nvPr/>
        </p:nvSpPr>
        <p:spPr>
          <a:xfrm>
            <a:off x="548640" y="4296537"/>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20" name="TextBox 19"/>
          <p:cNvSpPr txBox="1"/>
          <p:nvPr/>
        </p:nvSpPr>
        <p:spPr>
          <a:xfrm>
            <a:off x="1143000" y="4314825"/>
            <a:ext cx="10500055" cy="808863"/>
          </a:xfrm>
          <a:prstGeom prst="rect">
            <a:avLst/>
          </a:prstGeom>
          <a:noFill/>
        </p:spPr>
        <p:txBody>
          <a:bodyPr wrap="square" anchor="t" lIns="0" rIns="0" tIns="0" bIns="0">
            <a:spAutoFit/>
          </a:bodyPr>
          <a:lstStyle/>
          <a:p>
            <a:r>
              <a:rPr sz="2100" i="0" b="1">
                <a:solidFill>
                  <a:srgbClr val="1A1F36"/>
                </a:solidFill>
                <a:latin typeface="Calibri"/>
              </a:rPr>
              <a:t>Dyskinesia:</a:t>
            </a:r>
            <a:r>
              <a:rPr sz="2100" i="0" b="0">
                <a:solidFill>
                  <a:srgbClr val="1A1F36"/>
                </a:solidFill>
                <a:latin typeface="Calibri"/>
              </a:rPr>
              <a:t> involuntary writhing movements, often at peak dose.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8EAF4"/>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1B2A8C"/>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03</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826227"/>
                </a:solidFill>
                <a:latin typeface="Calibri"/>
              </a:rPr>
              <a:t>SECTION 3</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1B2A8C"/>
                </a:solidFill>
                <a:latin typeface="Cambria"/>
              </a:rPr>
              <a:t>Adverse effects of levodopa</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3  ·  Parkinson's Disease</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09 / 25</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1591056"/>
            <a:ext cx="64008" cy="873252"/>
          </a:xfrm>
          <a:prstGeom prst="roundRect">
            <a:avLst>
              <a:gd name="adj" fmla="val 50000"/>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554480"/>
            <a:ext cx="10865815" cy="1092708"/>
          </a:xfrm>
          <a:prstGeom prst="rect">
            <a:avLst/>
          </a:prstGeom>
          <a:noFill/>
        </p:spPr>
        <p:txBody>
          <a:bodyPr wrap="square" anchor="t" lIns="0" rIns="0" tIns="0" bIns="0">
            <a:spAutoFit/>
          </a:bodyPr>
          <a:lstStyle/>
          <a:p>
            <a:pPr>
              <a:spcAft>
                <a:spcPts val="800"/>
              </a:spcAft>
            </a:pPr>
            <a:r>
              <a:rPr sz="1800" i="0" b="0">
                <a:solidFill>
                  <a:srgbClr val="1A1F36"/>
                </a:solidFill>
                <a:latin typeface="Calibri"/>
              </a:rPr>
              <a:t>They reflect disease progression and levodopa's short half-life. Options are smaller, more frequent doses; modified-release levodopa; adding a COMT inhibitor, an MAO-B inhibitor or a dopamine agonist; and amantadine for dyskinesia.</a:t>
            </a:r>
          </a:p>
        </p:txBody>
      </p:sp>
      <p:graphicFrame>
        <p:nvGraphicFramePr>
          <p:cNvPr id="15" name="Table 14"/>
          <p:cNvGraphicFramePr>
            <a:graphicFrameLocks noGrp="1"/>
          </p:cNvGraphicFramePr>
          <p:nvPr/>
        </p:nvGraphicFramePr>
        <p:xfrm>
          <a:off x="548640" y="2830068"/>
          <a:ext cx="11094413" cy="3342129"/>
        </p:xfrm>
        <a:graphic>
          <a:graphicData uri="http://schemas.openxmlformats.org/drawingml/2006/table">
            <a:tbl>
              <a:tblPr firstRow="0" bandRow="0">
                <a:tableStyleId>{5C22544A-7EE6-4342-B048-85BDC9FD1C3A}</a:tableStyleId>
              </a:tblPr>
              <a:tblGrid>
                <a:gridCol w="1838959"/>
                <a:gridCol w="4832191"/>
                <a:gridCol w="4423263"/>
              </a:tblGrid>
              <a:tr h="477447">
                <a:tc>
                  <a:txBody>
                    <a:bodyPr/>
                    <a:lstStyle/>
                    <a:p>
                      <a:r>
                        <a:rPr sz="1200" i="0" b="1">
                          <a:solidFill>
                            <a:srgbClr val="FFFFFF"/>
                          </a:solidFill>
                          <a:latin typeface="Calibri"/>
                        </a:rPr>
                        <a:t>Group</a:t>
                      </a:r>
                    </a:p>
                  </a:txBody>
                  <a:tcPr marL="109728" marR="109728" marT="45720" marB="45720" anchor="ctr">
                    <a:solidFill>
                      <a:srgbClr val="1B2A8C"/>
                    </a:solidFill>
                  </a:tcPr>
                </a:tc>
                <a:tc>
                  <a:txBody>
                    <a:bodyPr/>
                    <a:lstStyle/>
                    <a:p>
                      <a:r>
                        <a:rPr sz="1200" i="0" b="1">
                          <a:solidFill>
                            <a:srgbClr val="FFFFFF"/>
                          </a:solidFill>
                          <a:latin typeface="Calibri"/>
                        </a:rPr>
                        <a:t>Effect</a:t>
                      </a:r>
                    </a:p>
                  </a:txBody>
                  <a:tcPr marL="109728" marR="109728" marT="45720" marB="45720" anchor="ctr">
                    <a:solidFill>
                      <a:srgbClr val="1B2A8C"/>
                    </a:solidFill>
                  </a:tcPr>
                </a:tc>
                <a:tc>
                  <a:txBody>
                    <a:bodyPr/>
                    <a:lstStyle/>
                    <a:p>
                      <a:r>
                        <a:rPr sz="1200" i="0" b="1">
                          <a:solidFill>
                            <a:srgbClr val="FFFFFF"/>
                          </a:solidFill>
                          <a:latin typeface="Calibri"/>
                        </a:rPr>
                        <a:t>Cause</a:t>
                      </a:r>
                    </a:p>
                  </a:txBody>
                  <a:tcPr marL="109728" marR="109728" marT="45720" marB="45720" anchor="ctr">
                    <a:solidFill>
                      <a:srgbClr val="1B2A8C"/>
                    </a:solidFill>
                  </a:tcPr>
                </a:tc>
              </a:tr>
              <a:tr h="477447">
                <a:tc>
                  <a:txBody>
                    <a:bodyPr/>
                    <a:lstStyle/>
                    <a:p>
                      <a:r>
                        <a:rPr sz="1300" i="0" b="1">
                          <a:solidFill>
                            <a:srgbClr val="1A1F36"/>
                          </a:solidFill>
                          <a:latin typeface="Calibri"/>
                        </a:rPr>
                        <a:t>Gastrointestinal</a:t>
                      </a:r>
                    </a:p>
                  </a:txBody>
                  <a:tcPr marL="109728" marR="109728" marT="45720" marB="45720" anchor="ctr">
                    <a:solidFill>
                      <a:srgbClr val="FFFFFF"/>
                    </a:solidFill>
                  </a:tcPr>
                </a:tc>
                <a:tc>
                  <a:txBody>
                    <a:bodyPr/>
                    <a:lstStyle/>
                    <a:p>
                      <a:r>
                        <a:rPr sz="1300" i="0" b="0">
                          <a:solidFill>
                            <a:srgbClr val="1A1F36"/>
                          </a:solidFill>
                          <a:latin typeface="Calibri"/>
                        </a:rPr>
                        <a:t>Nausea, vomiting</a:t>
                      </a:r>
                    </a:p>
                  </a:txBody>
                  <a:tcPr marL="109728" marR="109728" marT="45720" marB="45720" anchor="ctr">
                    <a:solidFill>
                      <a:srgbClr val="FFFFFF"/>
                    </a:solidFill>
                  </a:tcPr>
                </a:tc>
                <a:tc>
                  <a:txBody>
                    <a:bodyPr/>
                    <a:lstStyle/>
                    <a:p>
                      <a:r>
                        <a:rPr sz="1300" i="0" b="0">
                          <a:solidFill>
                            <a:srgbClr val="1A1F36"/>
                          </a:solidFill>
                          <a:latin typeface="Calibri"/>
                        </a:rPr>
                        <a:t>Dopamine at the CTZ (outside the blood-brain barrier)</a:t>
                      </a:r>
                    </a:p>
                  </a:txBody>
                  <a:tcPr marL="109728" marR="109728" marT="45720" marB="45720" anchor="ctr">
                    <a:solidFill>
                      <a:srgbClr val="FFFFFF"/>
                    </a:solidFill>
                  </a:tcPr>
                </a:tc>
              </a:tr>
              <a:tr h="477447">
                <a:tc>
                  <a:txBody>
                    <a:bodyPr/>
                    <a:lstStyle/>
                    <a:p>
                      <a:r>
                        <a:rPr sz="1300" i="0" b="1">
                          <a:solidFill>
                            <a:srgbClr val="1A1F36"/>
                          </a:solidFill>
                          <a:latin typeface="Calibri"/>
                        </a:rPr>
                        <a:t>Cardiovascular</a:t>
                      </a:r>
                    </a:p>
                  </a:txBody>
                  <a:tcPr marL="109728" marR="109728" marT="45720" marB="45720" anchor="ctr">
                    <a:solidFill>
                      <a:srgbClr val="F1F2F8"/>
                    </a:solidFill>
                  </a:tcPr>
                </a:tc>
                <a:tc>
                  <a:txBody>
                    <a:bodyPr/>
                    <a:lstStyle/>
                    <a:p>
                      <a:r>
                        <a:rPr sz="1300" i="0" b="0">
                          <a:solidFill>
                            <a:srgbClr val="1A1F36"/>
                          </a:solidFill>
                          <a:latin typeface="Calibri"/>
                        </a:rPr>
                        <a:t>Postural hypotension, arrhythmia</a:t>
                      </a:r>
                    </a:p>
                  </a:txBody>
                  <a:tcPr marL="109728" marR="109728" marT="45720" marB="45720" anchor="ctr">
                    <a:solidFill>
                      <a:srgbClr val="F1F2F8"/>
                    </a:solidFill>
                  </a:tcPr>
                </a:tc>
                <a:tc>
                  <a:txBody>
                    <a:bodyPr/>
                    <a:lstStyle/>
                    <a:p>
                      <a:r>
                        <a:rPr sz="1300" i="0" b="0">
                          <a:solidFill>
                            <a:srgbClr val="1A1F36"/>
                          </a:solidFill>
                          <a:latin typeface="Calibri"/>
                        </a:rPr>
                        <a:t>Peripheral dopamine and noradrenaline</a:t>
                      </a:r>
                    </a:p>
                  </a:txBody>
                  <a:tcPr marL="109728" marR="109728" marT="45720" marB="45720" anchor="ctr">
                    <a:solidFill>
                      <a:srgbClr val="F1F2F8"/>
                    </a:solidFill>
                  </a:tcPr>
                </a:tc>
              </a:tr>
              <a:tr h="477447">
                <a:tc>
                  <a:txBody>
                    <a:bodyPr/>
                    <a:lstStyle/>
                    <a:p>
                      <a:r>
                        <a:rPr sz="1300" i="0" b="1">
                          <a:solidFill>
                            <a:srgbClr val="1A1F36"/>
                          </a:solidFill>
                          <a:latin typeface="Calibri"/>
                        </a:rPr>
                        <a:t>Psychiatric</a:t>
                      </a:r>
                    </a:p>
                  </a:txBody>
                  <a:tcPr marL="109728" marR="109728" marT="45720" marB="45720" anchor="ctr">
                    <a:solidFill>
                      <a:srgbClr val="FFFFFF"/>
                    </a:solidFill>
                  </a:tcPr>
                </a:tc>
                <a:tc>
                  <a:txBody>
                    <a:bodyPr/>
                    <a:lstStyle/>
                    <a:p>
                      <a:r>
                        <a:rPr sz="1300" i="0" b="0">
                          <a:solidFill>
                            <a:srgbClr val="1A1F36"/>
                          </a:solidFill>
                          <a:latin typeface="Calibri"/>
                        </a:rPr>
                        <a:t>Hallucinations, confusion, vivid dreams</a:t>
                      </a:r>
                    </a:p>
                  </a:txBody>
                  <a:tcPr marL="109728" marR="109728" marT="45720" marB="45720" anchor="ctr">
                    <a:solidFill>
                      <a:srgbClr val="FFFFFF"/>
                    </a:solidFill>
                  </a:tcPr>
                </a:tc>
                <a:tc>
                  <a:txBody>
                    <a:bodyPr/>
                    <a:lstStyle/>
                    <a:p>
                      <a:r>
                        <a:rPr sz="1300" i="0" b="0">
                          <a:solidFill>
                            <a:srgbClr val="1A1F36"/>
                          </a:solidFill>
                          <a:latin typeface="Calibri"/>
                        </a:rPr>
                        <a:t>Dopamine in mesolimbic and mesocortical pathways</a:t>
                      </a:r>
                    </a:p>
                  </a:txBody>
                  <a:tcPr marL="109728" marR="109728" marT="45720" marB="45720" anchor="ctr">
                    <a:solidFill>
                      <a:srgbClr val="FFFFFF"/>
                    </a:solidFill>
                  </a:tcPr>
                </a:tc>
              </a:tr>
              <a:tr h="477447">
                <a:tc>
                  <a:txBody>
                    <a:bodyPr/>
                    <a:lstStyle/>
                    <a:p>
                      <a:r>
                        <a:rPr sz="1300" i="0" b="1">
                          <a:solidFill>
                            <a:srgbClr val="1A1F36"/>
                          </a:solidFill>
                          <a:latin typeface="Calibri"/>
                        </a:rPr>
                        <a:t>Motor</a:t>
                      </a:r>
                    </a:p>
                  </a:txBody>
                  <a:tcPr marL="109728" marR="109728" marT="45720" marB="45720" anchor="ctr">
                    <a:solidFill>
                      <a:srgbClr val="F1F2F8"/>
                    </a:solidFill>
                  </a:tcPr>
                </a:tc>
                <a:tc>
                  <a:txBody>
                    <a:bodyPr/>
                    <a:lstStyle/>
                    <a:p>
                      <a:r>
                        <a:rPr sz="1300" i="0" b="0">
                          <a:solidFill>
                            <a:srgbClr val="1A1F36"/>
                          </a:solidFill>
                          <a:latin typeface="Calibri"/>
                        </a:rPr>
                        <a:t>Dyskinesia, on–off</a:t>
                      </a:r>
                    </a:p>
                  </a:txBody>
                  <a:tcPr marL="109728" marR="109728" marT="45720" marB="45720" anchor="ctr">
                    <a:solidFill>
                      <a:srgbClr val="F1F2F8"/>
                    </a:solidFill>
                  </a:tcPr>
                </a:tc>
                <a:tc>
                  <a:txBody>
                    <a:bodyPr/>
                    <a:lstStyle/>
                    <a:p>
                      <a:r>
                        <a:rPr sz="1300" i="0" b="0">
                          <a:solidFill>
                            <a:srgbClr val="1A1F36"/>
                          </a:solidFill>
                          <a:latin typeface="Calibri"/>
                        </a:rPr>
                        <a:t>Long-term treatment and disease progression</a:t>
                      </a:r>
                    </a:p>
                  </a:txBody>
                  <a:tcPr marL="109728" marR="109728" marT="45720" marB="45720" anchor="ctr">
                    <a:solidFill>
                      <a:srgbClr val="F1F2F8"/>
                    </a:solidFill>
                  </a:tcPr>
                </a:tc>
              </a:tr>
              <a:tr h="477447">
                <a:tc>
                  <a:txBody>
                    <a:bodyPr/>
                    <a:lstStyle/>
                    <a:p>
                      <a:r>
                        <a:rPr sz="1300" i="0" b="1">
                          <a:solidFill>
                            <a:srgbClr val="1A1F36"/>
                          </a:solidFill>
                          <a:latin typeface="Calibri"/>
                        </a:rPr>
                        <a:t>Behaviour</a:t>
                      </a:r>
                    </a:p>
                  </a:txBody>
                  <a:tcPr marL="109728" marR="109728" marT="45720" marB="45720" anchor="ctr">
                    <a:solidFill>
                      <a:srgbClr val="FFFFFF"/>
                    </a:solidFill>
                  </a:tcPr>
                </a:tc>
                <a:tc>
                  <a:txBody>
                    <a:bodyPr/>
                    <a:lstStyle/>
                    <a:p>
                      <a:r>
                        <a:rPr sz="1300" i="0" b="0">
                          <a:solidFill>
                            <a:srgbClr val="1A1F36"/>
                          </a:solidFill>
                          <a:latin typeface="Calibri"/>
                        </a:rPr>
                        <a:t>Impulse-control disorders (gambling, shopping, hypersexuality)</a:t>
                      </a:r>
                    </a:p>
                  </a:txBody>
                  <a:tcPr marL="109728" marR="109728" marT="45720" marB="45720" anchor="ctr">
                    <a:solidFill>
                      <a:srgbClr val="FFFFFF"/>
                    </a:solidFill>
                  </a:tcPr>
                </a:tc>
                <a:tc>
                  <a:txBody>
                    <a:bodyPr/>
                    <a:lstStyle/>
                    <a:p>
                      <a:r>
                        <a:rPr sz="1300" i="0" b="0">
                          <a:solidFill>
                            <a:srgbClr val="1A1F36"/>
                          </a:solidFill>
                          <a:latin typeface="Calibri"/>
                        </a:rPr>
                        <a:t>More common with dopamine agonists</a:t>
                      </a:r>
                    </a:p>
                  </a:txBody>
                  <a:tcPr marL="109728" marR="109728" marT="45720" marB="45720" anchor="ctr">
                    <a:solidFill>
                      <a:srgbClr val="FFFFFF"/>
                    </a:solidFill>
                  </a:tcPr>
                </a:tc>
              </a:tr>
              <a:tr h="477447">
                <a:tc>
                  <a:txBody>
                    <a:bodyPr/>
                    <a:lstStyle/>
                    <a:p>
                      <a:r>
                        <a:rPr sz="1300" i="0" b="1">
                          <a:solidFill>
                            <a:srgbClr val="1A1F36"/>
                          </a:solidFill>
                          <a:latin typeface="Calibri"/>
                        </a:rPr>
                        <a:t>Other</a:t>
                      </a:r>
                    </a:p>
                  </a:txBody>
                  <a:tcPr marL="109728" marR="109728" marT="45720" marB="45720" anchor="ctr">
                    <a:solidFill>
                      <a:srgbClr val="F1F2F8"/>
                    </a:solidFill>
                  </a:tcPr>
                </a:tc>
                <a:tc>
                  <a:txBody>
                    <a:bodyPr/>
                    <a:lstStyle/>
                    <a:p>
                      <a:r>
                        <a:rPr sz="1300" i="0" b="0">
                          <a:solidFill>
                            <a:srgbClr val="1A1F36"/>
                          </a:solidFill>
                          <a:latin typeface="Calibri"/>
                        </a:rPr>
                        <a:t>Dark urine and sweat</a:t>
                      </a:r>
                    </a:p>
                  </a:txBody>
                  <a:tcPr marL="109728" marR="109728" marT="45720" marB="45720" anchor="ctr">
                    <a:solidFill>
                      <a:srgbClr val="F1F2F8"/>
                    </a:solidFill>
                  </a:tcPr>
                </a:tc>
                <a:tc>
                  <a:txBody>
                    <a:bodyPr/>
                    <a:lstStyle/>
                    <a:p>
                      <a:r>
                        <a:rPr sz="1300" i="0" b="0">
                          <a:solidFill>
                            <a:srgbClr val="1A1F36"/>
                          </a:solidFill>
                          <a:latin typeface="Calibri"/>
                        </a:rPr>
                        <a:t>Oxidation of catecholamine metabolites; harmless</a:t>
                      </a:r>
                    </a:p>
                  </a:txBody>
                  <a:tcPr marL="109728" marR="109728" marT="45720" marB="45720" anchor="ctr">
                    <a:solidFill>
                      <a:srgbClr val="F1F2F8"/>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8EAF4"/>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1B2A8C"/>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03</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826227"/>
                </a:solidFill>
                <a:latin typeface="Calibri"/>
              </a:rPr>
              <a:t>SECTION 3</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1B2A8C"/>
                </a:solidFill>
                <a:latin typeface="Cambria"/>
              </a:rPr>
              <a:t>Levodopa</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3  ·  Parkinson's Disease</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10 / 25</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645919" y="2103120"/>
            <a:ext cx="8899855" cy="2377440"/>
          </a:xfrm>
          <a:prstGeom prst="roundRect">
            <a:avLst>
              <a:gd name="adj" fmla="val 6000"/>
            </a:avLst>
          </a:prstGeom>
          <a:solidFill>
            <a:srgbClr val="FDF4DC">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965960" y="2167127"/>
            <a:ext cx="825977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920239" y="2331720"/>
            <a:ext cx="1188720" cy="347472"/>
          </a:xfrm>
          <a:prstGeom prst="roundRect">
            <a:avLst>
              <a:gd name="adj" fmla="val 50000"/>
            </a:avLst>
          </a:prstGeom>
          <a:solidFill>
            <a:srgbClr val="8A6100"/>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i="0" b="1">
                <a:solidFill>
                  <a:srgbClr val="FFFFFF"/>
                </a:solidFill>
                <a:latin typeface="Calibri"/>
              </a:rPr>
              <a:t>EXAM TIP</a:t>
            </a:r>
          </a:p>
        </p:txBody>
      </p:sp>
      <p:sp>
        <p:nvSpPr>
          <p:cNvPr id="16" name="TextBox 15"/>
          <p:cNvSpPr txBox="1"/>
          <p:nvPr/>
        </p:nvSpPr>
        <p:spPr>
          <a:xfrm>
            <a:off x="1920239" y="2788920"/>
            <a:ext cx="8351215" cy="1508760"/>
          </a:xfrm>
          <a:prstGeom prst="rect">
            <a:avLst/>
          </a:prstGeom>
          <a:noFill/>
        </p:spPr>
        <p:txBody>
          <a:bodyPr wrap="square" anchor="t" lIns="0" rIns="0" tIns="0" bIns="0">
            <a:spAutoFit/>
          </a:bodyPr>
          <a:lstStyle/>
          <a:p>
            <a:pPr>
              <a:spcBef>
                <a:spcPts val="0"/>
              </a:spcBef>
            </a:pPr>
            <a:r>
              <a:rPr sz="2600" i="0" b="0">
                <a:solidFill>
                  <a:srgbClr val="1A1F36"/>
                </a:solidFill>
                <a:latin typeface="Calibri"/>
              </a:rPr>
              <a:t>The pyridoxine interaction applies to levodopa </a:t>
            </a:r>
            <a:r>
              <a:rPr sz="2600" i="0" b="1">
                <a:solidFill>
                  <a:srgbClr val="1A1F36"/>
                </a:solidFill>
                <a:latin typeface="Calibri"/>
              </a:rPr>
              <a:t>alone</a:t>
            </a:r>
            <a:r>
              <a:rPr sz="2600" i="0" b="0">
                <a:solidFill>
                  <a:srgbClr val="1A1F36"/>
                </a:solidFill>
                <a:latin typeface="Calibri"/>
              </a:rPr>
              <a:t>. Carbidopa removes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8EAF4"/>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10" name="Rounded Rectangle 9"/>
          <p:cNvSpPr/>
          <p:nvPr/>
        </p:nvSpPr>
        <p:spPr>
          <a:xfrm>
            <a:off x="4251960" y="548640"/>
            <a:ext cx="7635240" cy="57150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72000" y="612647"/>
            <a:ext cx="6995159"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931920" cy="6858000"/>
          </a:xfrm>
          <a:prstGeom prst="rect">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88720"/>
            <a:ext cx="2926080" cy="2377440"/>
          </a:xfrm>
          <a:prstGeom prst="rect">
            <a:avLst/>
          </a:prstGeom>
          <a:noFill/>
        </p:spPr>
        <p:txBody>
          <a:bodyPr wrap="square" anchor="t" lIns="0" rIns="0" tIns="0" bIns="0">
            <a:spAutoFit/>
          </a:bodyPr>
          <a:lstStyle/>
          <a:p>
            <a:r>
              <a:rPr sz="13000" i="0" b="1">
                <a:solidFill>
                  <a:srgbClr val="F9F8F4"/>
                </a:solidFill>
                <a:latin typeface="Cambria"/>
              </a:rPr>
              <a:t>℞</a:t>
            </a:r>
          </a:p>
        </p:txBody>
      </p:sp>
      <p:sp>
        <p:nvSpPr>
          <p:cNvPr id="5" name="TextBox 4"/>
          <p:cNvSpPr txBox="1"/>
          <p:nvPr/>
        </p:nvSpPr>
        <p:spPr>
          <a:xfrm>
            <a:off x="548640" y="3977639"/>
            <a:ext cx="3017520" cy="1280160"/>
          </a:xfrm>
          <a:prstGeom prst="rect">
            <a:avLst/>
          </a:prstGeom>
          <a:noFill/>
        </p:spPr>
        <p:txBody>
          <a:bodyPr wrap="square" anchor="t" lIns="0" rIns="0" tIns="0" bIns="0">
            <a:spAutoFit/>
          </a:bodyPr>
          <a:lstStyle/>
          <a:p>
            <a:r>
              <a:rPr sz="3000" i="0" b="1">
                <a:solidFill>
                  <a:srgbClr val="FFFFFF"/>
                </a:solidFill>
                <a:latin typeface="Cambria"/>
              </a:rPr>
              <a:t>Clinical Pearl</a:t>
            </a:r>
          </a:p>
          <a:p>
            <a:r>
              <a:rPr sz="1400" i="0" b="1" spc="150">
                <a:solidFill>
                  <a:srgbClr val="F9F8F4"/>
                </a:solidFill>
                <a:latin typeface="Calibri"/>
              </a:rPr>
              <a:t>Section 3</a:t>
            </a:r>
          </a:p>
        </p:txBody>
      </p:sp>
      <p:sp>
        <p:nvSpPr>
          <p:cNvPr id="6" name="TextBox 5"/>
          <p:cNvSpPr txBox="1"/>
          <p:nvPr/>
        </p:nvSpPr>
        <p:spPr>
          <a:xfrm>
            <a:off x="4526280" y="822960"/>
            <a:ext cx="7132320" cy="5120640"/>
          </a:xfrm>
          <a:prstGeom prst="rect">
            <a:avLst/>
          </a:prstGeom>
          <a:noFill/>
        </p:spPr>
        <p:txBody>
          <a:bodyPr wrap="square" anchor="ctr" lIns="0" rIns="0" tIns="0" bIns="0">
            <a:spAutoFit/>
          </a:bodyPr>
          <a:lstStyle/>
          <a:p>
            <a:pPr>
              <a:spcBef>
                <a:spcPts val="0"/>
              </a:spcBef>
            </a:pPr>
            <a:r>
              <a:rPr sz="2200" i="0" b="0">
                <a:solidFill>
                  <a:srgbClr val="1A1F36"/>
                </a:solidFill>
                <a:latin typeface="Calibri"/>
              </a:rPr>
              <a:t>For levodopa-induced nausea, use </a:t>
            </a:r>
            <a:r>
              <a:rPr sz="2200" i="0" b="1">
                <a:solidFill>
                  <a:srgbClr val="1A1F36"/>
                </a:solidFill>
                <a:latin typeface="Calibri"/>
              </a:rPr>
              <a:t>domperidone</a:t>
            </a:r>
            <a:r>
              <a:rPr sz="2200" i="0" b="0">
                <a:solidFill>
                  <a:srgbClr val="1A1F36"/>
                </a:solidFill>
                <a:latin typeface="Calibri"/>
              </a:rPr>
              <a:t>. It blocks D2 receptors in the CTZ but does not cross the blood-brain barrier, so it does not worsen parkinsonism. Metoclopramide and prochlorperazine cross it and must be avoided.</a:t>
            </a:r>
          </a:p>
        </p:txBody>
      </p:sp>
      <p:sp>
        <p:nvSpPr>
          <p:cNvPr id="7" name="TextBox 6"/>
          <p:cNvSpPr txBox="1"/>
          <p:nvPr/>
        </p:nvSpPr>
        <p:spPr>
          <a:xfrm>
            <a:off x="452628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Parkinson's Disease</a:t>
            </a:r>
          </a:p>
        </p:txBody>
      </p:sp>
      <p:sp>
        <p:nvSpPr>
          <p:cNvPr id="8" name="TextBox 7"/>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11 / 25</a:t>
            </a:r>
          </a:p>
        </p:txBody>
      </p:sp>
      <p:pic>
        <p:nvPicPr>
          <p:cNvPr id="9" name="Picture 8" descr="logo"/>
          <p:cNvPicPr>
            <a:picLocks noChangeAspect="1"/>
          </p:cNvPicPr>
          <p:nvPr/>
        </p:nvPicPr>
        <p:blipFill>
          <a:blip r:embed="rId4"/>
          <a:stretch>
            <a:fillRect/>
          </a:stretch>
        </p:blipFill>
        <p:spPr>
          <a:xfrm>
            <a:off x="11247120" y="6309360"/>
            <a:ext cx="384048" cy="384048"/>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8EAF4"/>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1B2A8C"/>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03</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826227"/>
                </a:solidFill>
                <a:latin typeface="Calibri"/>
              </a:rPr>
              <a:t>SECTION 3</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1B2A8C"/>
                </a:solidFill>
                <a:latin typeface="Cambria"/>
              </a:rPr>
              <a:t>Dopamine Agonists</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3  ·  Parkinson's Disease</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12 / 25</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1591056"/>
            <a:ext cx="64008" cy="2816860"/>
          </a:xfrm>
          <a:prstGeom prst="roundRect">
            <a:avLst>
              <a:gd name="adj" fmla="val 50000"/>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554480"/>
            <a:ext cx="4251960" cy="4617720"/>
          </a:xfrm>
          <a:prstGeom prst="rect">
            <a:avLst/>
          </a:prstGeom>
          <a:noFill/>
        </p:spPr>
        <p:txBody>
          <a:bodyPr wrap="square" anchor="t" lIns="0" rIns="0" tIns="0" bIns="0">
            <a:spAutoFit/>
          </a:bodyPr>
          <a:lstStyle/>
          <a:p>
            <a:pPr>
              <a:spcAft>
                <a:spcPts val="800"/>
              </a:spcAft>
            </a:pPr>
            <a:r>
              <a:rPr sz="1700" i="0" b="0">
                <a:solidFill>
                  <a:srgbClr val="1A1F36"/>
                </a:solidFill>
                <a:latin typeface="Calibri"/>
              </a:rPr>
              <a:t>Dopamine agonists act directly on D2 and D3 receptors. They do not need conversion by neurons. They last longer than levodopa and cause fewer motor fluctuations. They cause more hallucinations, sleepiness and impulse-control disorders.</a:t>
            </a:r>
          </a:p>
          <a:p>
            <a:pPr>
              <a:spcAft>
                <a:spcPts val="800"/>
              </a:spcAft>
            </a:pPr>
            <a:r>
              <a:rPr sz="1700" i="0" b="1">
                <a:solidFill>
                  <a:srgbClr val="1A1F36"/>
                </a:solidFill>
                <a:latin typeface="Calibri"/>
              </a:rPr>
              <a:t>Adverse effects:</a:t>
            </a:r>
            <a:r>
              <a:rPr sz="1700" i="0" b="0">
                <a:solidFill>
                  <a:srgbClr val="1A1F36"/>
                </a:solidFill>
                <a:latin typeface="Calibri"/>
              </a:rPr>
              <a:t> nausea, postural hypotension, hallucinations, confusion, sudden sleep attacks and impulse-control disorders.</a:t>
            </a:r>
          </a:p>
        </p:txBody>
      </p:sp>
      <p:sp>
        <p:nvSpPr>
          <p:cNvPr id="15" name="Oval 14"/>
          <p:cNvSpPr/>
          <p:nvPr/>
        </p:nvSpPr>
        <p:spPr>
          <a:xfrm>
            <a:off x="5394959" y="1572768"/>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6" name="TextBox 15"/>
          <p:cNvSpPr txBox="1"/>
          <p:nvPr/>
        </p:nvSpPr>
        <p:spPr>
          <a:xfrm>
            <a:off x="5989320" y="1591056"/>
            <a:ext cx="5653735" cy="1475612"/>
          </a:xfrm>
          <a:prstGeom prst="rect">
            <a:avLst/>
          </a:prstGeom>
          <a:noFill/>
        </p:spPr>
        <p:txBody>
          <a:bodyPr wrap="square" anchor="t" lIns="0" rIns="0" tIns="0" bIns="0">
            <a:spAutoFit/>
          </a:bodyPr>
          <a:lstStyle/>
          <a:p>
            <a:r>
              <a:rPr sz="2100" i="0" b="1">
                <a:solidFill>
                  <a:srgbClr val="1A1F36"/>
                </a:solidFill>
                <a:latin typeface="Calibri"/>
              </a:rPr>
              <a:t>Non-ergot agonists</a:t>
            </a:r>
            <a:r>
              <a:rPr sz="2100" i="0" b="0">
                <a:solidFill>
                  <a:srgbClr val="1A1F36"/>
                </a:solidFill>
                <a:latin typeface="Calibri"/>
              </a:rPr>
              <a:t> (first choice): pramipexole, ropinirole and rotigotine (a daily skin patch).</a:t>
            </a:r>
          </a:p>
        </p:txBody>
      </p:sp>
      <p:sp>
        <p:nvSpPr>
          <p:cNvPr id="17" name="Oval 16"/>
          <p:cNvSpPr/>
          <p:nvPr/>
        </p:nvSpPr>
        <p:spPr>
          <a:xfrm>
            <a:off x="5394959" y="3094100"/>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8" name="TextBox 17"/>
          <p:cNvSpPr txBox="1"/>
          <p:nvPr/>
        </p:nvSpPr>
        <p:spPr>
          <a:xfrm>
            <a:off x="5989320" y="3112388"/>
            <a:ext cx="5653735" cy="1808988"/>
          </a:xfrm>
          <a:prstGeom prst="rect">
            <a:avLst/>
          </a:prstGeom>
          <a:noFill/>
        </p:spPr>
        <p:txBody>
          <a:bodyPr wrap="square" anchor="t" lIns="0" rIns="0" tIns="0" bIns="0">
            <a:spAutoFit/>
          </a:bodyPr>
          <a:lstStyle/>
          <a:p>
            <a:r>
              <a:rPr sz="2100" i="0" b="1">
                <a:solidFill>
                  <a:srgbClr val="1A1F36"/>
                </a:solidFill>
                <a:latin typeface="Calibri"/>
              </a:rPr>
              <a:t>Ergot agonists</a:t>
            </a:r>
            <a:r>
              <a:rPr sz="2100" i="0" b="0">
                <a:solidFill>
                  <a:srgbClr val="1A1F36"/>
                </a:solidFill>
                <a:latin typeface="Calibri"/>
              </a:rPr>
              <a:t>: bromocriptine and cabergoline. They are rarely used for Parkinson's disease now. They can cause pulmonary, retroperitoneal and heart-valve fibrosis.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8EAF4"/>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1B2A8C"/>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03</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826227"/>
                </a:solidFill>
                <a:latin typeface="Calibri"/>
              </a:rPr>
              <a:t>SECTION 3</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1B2A8C"/>
                </a:solidFill>
                <a:latin typeface="Cambria"/>
              </a:rPr>
              <a:t>Dopamine Agonists</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3  ·  Parkinson's Disease</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13 / 25</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645919" y="2103120"/>
            <a:ext cx="8899855" cy="2431288"/>
          </a:xfrm>
          <a:prstGeom prst="roundRect">
            <a:avLst>
              <a:gd name="adj" fmla="val 6000"/>
            </a:avLst>
          </a:prstGeom>
          <a:solidFill>
            <a:srgbClr val="FBEAEA">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965960" y="2167127"/>
            <a:ext cx="825977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920239" y="2331720"/>
            <a:ext cx="1074420" cy="347472"/>
          </a:xfrm>
          <a:prstGeom prst="roundRect">
            <a:avLst>
              <a:gd name="adj" fmla="val 50000"/>
            </a:avLst>
          </a:prstGeom>
          <a:solidFill>
            <a:srgbClr val="B3261E"/>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i="0" b="1">
                <a:solidFill>
                  <a:srgbClr val="FFFFFF"/>
                </a:solidFill>
                <a:latin typeface="Calibri"/>
              </a:rPr>
              <a:t>CAUTION</a:t>
            </a:r>
          </a:p>
        </p:txBody>
      </p:sp>
      <p:sp>
        <p:nvSpPr>
          <p:cNvPr id="16" name="TextBox 15"/>
          <p:cNvSpPr txBox="1"/>
          <p:nvPr/>
        </p:nvSpPr>
        <p:spPr>
          <a:xfrm>
            <a:off x="1920239" y="2788920"/>
            <a:ext cx="8351215" cy="1562608"/>
          </a:xfrm>
          <a:prstGeom prst="rect">
            <a:avLst/>
          </a:prstGeom>
          <a:noFill/>
        </p:spPr>
        <p:txBody>
          <a:bodyPr wrap="square" anchor="t" lIns="0" rIns="0" tIns="0" bIns="0">
            <a:spAutoFit/>
          </a:bodyPr>
          <a:lstStyle/>
          <a:p>
            <a:pPr>
              <a:spcBef>
                <a:spcPts val="0"/>
              </a:spcBef>
            </a:pPr>
            <a:r>
              <a:rPr sz="2200" i="0" b="0">
                <a:solidFill>
                  <a:srgbClr val="1A1F36"/>
                </a:solidFill>
                <a:latin typeface="Calibri"/>
              </a:rPr>
              <a:t>Ask every patient on a dopamine agonist, and the family, about gambling, shopping, eating or sexual behaviour. Warn about sudden sleep; patients should not drive if it occurs. Do not stop agonists suddenly.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8EAF4"/>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1B2A8C"/>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03</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826227"/>
                </a:solidFill>
                <a:latin typeface="Calibri"/>
              </a:rPr>
              <a:t>SECTION 3</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1B2A8C"/>
                </a:solidFill>
                <a:latin typeface="Cambria"/>
              </a:rPr>
              <a:t>MAO-B Inhibitors</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3  ·  Parkinson's Disease</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14 / 25</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48640" y="1572768"/>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4" name="TextBox 13"/>
          <p:cNvSpPr txBox="1"/>
          <p:nvPr/>
        </p:nvSpPr>
        <p:spPr>
          <a:xfrm>
            <a:off x="1143000" y="1591056"/>
            <a:ext cx="10500055" cy="691991"/>
          </a:xfrm>
          <a:prstGeom prst="rect">
            <a:avLst/>
          </a:prstGeom>
          <a:noFill/>
        </p:spPr>
        <p:txBody>
          <a:bodyPr wrap="square" anchor="t" lIns="0" rIns="0" tIns="0" bIns="0">
            <a:spAutoFit/>
          </a:bodyPr>
          <a:lstStyle/>
          <a:p>
            <a:r>
              <a:rPr sz="2100" i="0" b="1">
                <a:solidFill>
                  <a:srgbClr val="1A1F36"/>
                </a:solidFill>
                <a:latin typeface="Calibri"/>
              </a:rPr>
              <a:t>Members:</a:t>
            </a:r>
            <a:r>
              <a:rPr sz="2100" i="0" b="0">
                <a:solidFill>
                  <a:srgbClr val="1A1F36"/>
                </a:solidFill>
                <a:latin typeface="Calibri"/>
              </a:rPr>
              <a:t> selegiline, rasagiline and safinamide.</a:t>
            </a:r>
          </a:p>
        </p:txBody>
      </p:sp>
      <p:sp>
        <p:nvSpPr>
          <p:cNvPr id="15" name="Oval 14"/>
          <p:cNvSpPr/>
          <p:nvPr/>
        </p:nvSpPr>
        <p:spPr>
          <a:xfrm>
            <a:off x="548640" y="2310479"/>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6" name="TextBox 15"/>
          <p:cNvSpPr txBox="1"/>
          <p:nvPr/>
        </p:nvSpPr>
        <p:spPr>
          <a:xfrm>
            <a:off x="1143000" y="2328767"/>
            <a:ext cx="10500055" cy="1025366"/>
          </a:xfrm>
          <a:prstGeom prst="rect">
            <a:avLst/>
          </a:prstGeom>
          <a:noFill/>
        </p:spPr>
        <p:txBody>
          <a:bodyPr wrap="square" anchor="t" lIns="0" rIns="0" tIns="0" bIns="0">
            <a:spAutoFit/>
          </a:bodyPr>
          <a:lstStyle/>
          <a:p>
            <a:r>
              <a:rPr sz="2100" i="0" b="1">
                <a:solidFill>
                  <a:srgbClr val="1A1F36"/>
                </a:solidFill>
                <a:latin typeface="Calibri"/>
              </a:rPr>
              <a:t>Mechanism:</a:t>
            </a:r>
            <a:r>
              <a:rPr sz="2100" i="0" b="0">
                <a:solidFill>
                  <a:srgbClr val="1A1F36"/>
                </a:solidFill>
                <a:latin typeface="Calibri"/>
              </a:rPr>
              <a:t> selective inhibition of MAO-B, the main enzyme that breaks down dopamine in the striatum. Brain dopamine rises.</a:t>
            </a:r>
          </a:p>
        </p:txBody>
      </p:sp>
      <p:sp>
        <p:nvSpPr>
          <p:cNvPr id="17" name="Oval 16"/>
          <p:cNvSpPr/>
          <p:nvPr/>
        </p:nvSpPr>
        <p:spPr>
          <a:xfrm>
            <a:off x="548640" y="3381565"/>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8" name="TextBox 17"/>
          <p:cNvSpPr txBox="1"/>
          <p:nvPr/>
        </p:nvSpPr>
        <p:spPr>
          <a:xfrm>
            <a:off x="1143000" y="3399853"/>
            <a:ext cx="10500055" cy="1025366"/>
          </a:xfrm>
          <a:prstGeom prst="rect">
            <a:avLst/>
          </a:prstGeom>
          <a:noFill/>
        </p:spPr>
        <p:txBody>
          <a:bodyPr wrap="square" anchor="t" lIns="0" rIns="0" tIns="0" bIns="0">
            <a:spAutoFit/>
          </a:bodyPr>
          <a:lstStyle/>
          <a:p>
            <a:r>
              <a:rPr sz="2100" i="0" b="1">
                <a:solidFill>
                  <a:srgbClr val="1A1F36"/>
                </a:solidFill>
                <a:latin typeface="Calibri"/>
              </a:rPr>
              <a:t>Use:</a:t>
            </a:r>
            <a:r>
              <a:rPr sz="2100" i="0" b="0">
                <a:solidFill>
                  <a:srgbClr val="1A1F36"/>
                </a:solidFill>
                <a:latin typeface="Calibri"/>
              </a:rPr>
              <a:t> alone in early disease (mild benefit) or added to levodopa to reduce wearing-off.</a:t>
            </a:r>
          </a:p>
        </p:txBody>
      </p:sp>
      <p:sp>
        <p:nvSpPr>
          <p:cNvPr id="19" name="Oval 18"/>
          <p:cNvSpPr/>
          <p:nvPr/>
        </p:nvSpPr>
        <p:spPr>
          <a:xfrm>
            <a:off x="548640" y="4452651"/>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4</a:t>
            </a:r>
          </a:p>
        </p:txBody>
      </p:sp>
      <p:sp>
        <p:nvSpPr>
          <p:cNvPr id="20" name="TextBox 19"/>
          <p:cNvSpPr txBox="1"/>
          <p:nvPr/>
        </p:nvSpPr>
        <p:spPr>
          <a:xfrm>
            <a:off x="1143000" y="4470939"/>
            <a:ext cx="10500055" cy="1692116"/>
          </a:xfrm>
          <a:prstGeom prst="rect">
            <a:avLst/>
          </a:prstGeom>
          <a:noFill/>
        </p:spPr>
        <p:txBody>
          <a:bodyPr wrap="square" anchor="t" lIns="0" rIns="0" tIns="0" bIns="0">
            <a:spAutoFit/>
          </a:bodyPr>
          <a:lstStyle/>
          <a:p>
            <a:r>
              <a:rPr sz="2100" i="0" b="1">
                <a:solidFill>
                  <a:srgbClr val="1A1F36"/>
                </a:solidFill>
                <a:latin typeface="Calibri"/>
              </a:rPr>
              <a:t>Safety:</a:t>
            </a:r>
            <a:r>
              <a:rPr sz="2100" i="0" b="0">
                <a:solidFill>
                  <a:srgbClr val="1A1F36"/>
                </a:solidFill>
                <a:latin typeface="Calibri"/>
              </a:rPr>
              <a:t> at normal doses they do not cause the "cheese reaction", because MAO-A in the gut still breaks down tyramine. Selectivity is lost at high doses. Combining them with pethidine, tramadol or serotonergic antidepressants can cause serotonin syndrome.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8EAF4"/>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1B2A8C"/>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03</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826227"/>
                </a:solidFill>
                <a:latin typeface="Calibri"/>
              </a:rPr>
              <a:t>SECTION 3</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1B2A8C"/>
                </a:solidFill>
                <a:latin typeface="Cambria"/>
              </a:rPr>
              <a:t>Amantadine and Anticholinergics</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3  ·  Parkinson's Disease</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15 / 25</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48640" y="1554480"/>
          <a:ext cx="11094413" cy="4480560"/>
        </p:xfrm>
        <a:graphic>
          <a:graphicData uri="http://schemas.openxmlformats.org/drawingml/2006/table">
            <a:tbl>
              <a:tblPr firstRow="0" bandRow="0">
                <a:tableStyleId>{5C22544A-7EE6-4342-B048-85BDC9FD1C3A}</a:tableStyleId>
              </a:tblPr>
              <a:tblGrid>
                <a:gridCol w="2964156"/>
                <a:gridCol w="3811058"/>
                <a:gridCol w="4319199"/>
              </a:tblGrid>
              <a:tr h="640080">
                <a:tc>
                  <a:txBody>
                    <a:bodyPr/>
                    <a:lstStyle/>
                    <a:p>
                      <a:r>
                        <a:rPr sz="1700" i="0" b="1">
                          <a:solidFill>
                            <a:srgbClr val="FFFFFF"/>
                          </a:solidFill>
                          <a:latin typeface="Calibri"/>
                        </a:rPr>
                        <a:t>Drug group</a:t>
                      </a:r>
                    </a:p>
                  </a:txBody>
                  <a:tcPr marL="109728" marR="109728" marT="45720" marB="45720" anchor="ctr">
                    <a:solidFill>
                      <a:srgbClr val="1B2A8C"/>
                    </a:solidFill>
                  </a:tcPr>
                </a:tc>
                <a:tc>
                  <a:txBody>
                    <a:bodyPr/>
                    <a:lstStyle/>
                    <a:p>
                      <a:r>
                        <a:rPr sz="1700" i="0" b="1">
                          <a:solidFill>
                            <a:srgbClr val="FFFFFF"/>
                          </a:solidFill>
                          <a:latin typeface="Calibri"/>
                        </a:rPr>
                        <a:t>Main benefit</a:t>
                      </a:r>
                    </a:p>
                  </a:txBody>
                  <a:tcPr marL="109728" marR="109728" marT="45720" marB="45720" anchor="ctr">
                    <a:solidFill>
                      <a:srgbClr val="1B2A8C"/>
                    </a:solidFill>
                  </a:tcPr>
                </a:tc>
                <a:tc>
                  <a:txBody>
                    <a:bodyPr/>
                    <a:lstStyle/>
                    <a:p>
                      <a:r>
                        <a:rPr sz="1700" i="0" b="1">
                          <a:solidFill>
                            <a:srgbClr val="FFFFFF"/>
                          </a:solidFill>
                          <a:latin typeface="Calibri"/>
                        </a:rPr>
                        <a:t>Main problems</a:t>
                      </a:r>
                    </a:p>
                  </a:txBody>
                  <a:tcPr marL="109728" marR="109728" marT="45720" marB="45720" anchor="ctr">
                    <a:solidFill>
                      <a:srgbClr val="1B2A8C"/>
                    </a:solidFill>
                  </a:tcPr>
                </a:tc>
              </a:tr>
              <a:tr h="640080">
                <a:tc>
                  <a:txBody>
                    <a:bodyPr/>
                    <a:lstStyle/>
                    <a:p>
                      <a:r>
                        <a:rPr sz="1800" i="0" b="1">
                          <a:solidFill>
                            <a:srgbClr val="1A1F36"/>
                          </a:solidFill>
                          <a:latin typeface="Calibri"/>
                        </a:rPr>
                        <a:t>Levodopa + carbidopa</a:t>
                      </a:r>
                    </a:p>
                  </a:txBody>
                  <a:tcPr marL="109728" marR="109728" marT="45720" marB="45720" anchor="ctr">
                    <a:solidFill>
                      <a:srgbClr val="FFFFFF"/>
                    </a:solidFill>
                  </a:tcPr>
                </a:tc>
                <a:tc>
                  <a:txBody>
                    <a:bodyPr/>
                    <a:lstStyle/>
                    <a:p>
                      <a:r>
                        <a:rPr sz="1800" i="0" b="0">
                          <a:solidFill>
                            <a:srgbClr val="1A1F36"/>
                          </a:solidFill>
                          <a:latin typeface="Calibri"/>
                        </a:rPr>
                        <a:t>Most effective for all motor symptoms</a:t>
                      </a:r>
                    </a:p>
                  </a:txBody>
                  <a:tcPr marL="109728" marR="109728" marT="45720" marB="45720" anchor="ctr">
                    <a:solidFill>
                      <a:srgbClr val="FFFFFF"/>
                    </a:solidFill>
                  </a:tcPr>
                </a:tc>
                <a:tc>
                  <a:txBody>
                    <a:bodyPr/>
                    <a:lstStyle/>
                    <a:p>
                      <a:r>
                        <a:rPr sz="1800" i="0" b="0">
                          <a:solidFill>
                            <a:srgbClr val="1A1F36"/>
                          </a:solidFill>
                          <a:latin typeface="Calibri"/>
                        </a:rPr>
                        <a:t>Fluctuations and dyskinesia over time</a:t>
                      </a:r>
                    </a:p>
                  </a:txBody>
                  <a:tcPr marL="109728" marR="109728" marT="45720" marB="45720" anchor="ctr">
                    <a:solidFill>
                      <a:srgbClr val="FFFFFF"/>
                    </a:solidFill>
                  </a:tcPr>
                </a:tc>
              </a:tr>
              <a:tr h="640080">
                <a:tc>
                  <a:txBody>
                    <a:bodyPr/>
                    <a:lstStyle/>
                    <a:p>
                      <a:r>
                        <a:rPr sz="1800" i="0" b="1">
                          <a:solidFill>
                            <a:srgbClr val="1A1F36"/>
                          </a:solidFill>
                          <a:latin typeface="Calibri"/>
                        </a:rPr>
                        <a:t>Non-ergot dopamine agonists</a:t>
                      </a:r>
                    </a:p>
                  </a:txBody>
                  <a:tcPr marL="109728" marR="109728" marT="45720" marB="45720" anchor="ctr">
                    <a:solidFill>
                      <a:srgbClr val="F1F2F8"/>
                    </a:solidFill>
                  </a:tcPr>
                </a:tc>
                <a:tc>
                  <a:txBody>
                    <a:bodyPr/>
                    <a:lstStyle/>
                    <a:p>
                      <a:r>
                        <a:rPr sz="1800" i="0" b="0">
                          <a:solidFill>
                            <a:srgbClr val="1A1F36"/>
                          </a:solidFill>
                          <a:latin typeface="Calibri"/>
                        </a:rPr>
                        <a:t>Longer action, fewer fluctuations</a:t>
                      </a:r>
                    </a:p>
                  </a:txBody>
                  <a:tcPr marL="109728" marR="109728" marT="45720" marB="45720" anchor="ctr">
                    <a:solidFill>
                      <a:srgbClr val="F1F2F8"/>
                    </a:solidFill>
                  </a:tcPr>
                </a:tc>
                <a:tc>
                  <a:txBody>
                    <a:bodyPr/>
                    <a:lstStyle/>
                    <a:p>
                      <a:r>
                        <a:rPr sz="1800" i="0" b="0">
                          <a:solidFill>
                            <a:srgbClr val="1A1F36"/>
                          </a:solidFill>
                          <a:latin typeface="Calibri"/>
                        </a:rPr>
                        <a:t>Hallucinations, sleepiness, impulse control</a:t>
                      </a:r>
                    </a:p>
                  </a:txBody>
                  <a:tcPr marL="109728" marR="109728" marT="45720" marB="45720" anchor="ctr">
                    <a:solidFill>
                      <a:srgbClr val="F1F2F8"/>
                    </a:solidFill>
                  </a:tcPr>
                </a:tc>
              </a:tr>
              <a:tr h="640080">
                <a:tc>
                  <a:txBody>
                    <a:bodyPr/>
                    <a:lstStyle/>
                    <a:p>
                      <a:r>
                        <a:rPr sz="1800" i="0" b="1">
                          <a:solidFill>
                            <a:srgbClr val="1A1F36"/>
                          </a:solidFill>
                          <a:latin typeface="Calibri"/>
                        </a:rPr>
                        <a:t>MAO-B inhibitors</a:t>
                      </a:r>
                    </a:p>
                  </a:txBody>
                  <a:tcPr marL="109728" marR="109728" marT="45720" marB="45720" anchor="ctr">
                    <a:solidFill>
                      <a:srgbClr val="FFFFFF"/>
                    </a:solidFill>
                  </a:tcPr>
                </a:tc>
                <a:tc>
                  <a:txBody>
                    <a:bodyPr/>
                    <a:lstStyle/>
                    <a:p>
                      <a:r>
                        <a:rPr sz="1800" i="0" b="0">
                          <a:solidFill>
                            <a:srgbClr val="1A1F36"/>
                          </a:solidFill>
                          <a:latin typeface="Calibri"/>
                        </a:rPr>
                        <a:t>Mild; reduce wearing-off</a:t>
                      </a:r>
                    </a:p>
                  </a:txBody>
                  <a:tcPr marL="109728" marR="109728" marT="45720" marB="45720" anchor="ctr">
                    <a:solidFill>
                      <a:srgbClr val="FFFFFF"/>
                    </a:solidFill>
                  </a:tcPr>
                </a:tc>
                <a:tc>
                  <a:txBody>
                    <a:bodyPr/>
                    <a:lstStyle/>
                    <a:p>
                      <a:r>
                        <a:rPr sz="1800" i="0" b="0">
                          <a:solidFill>
                            <a:srgbClr val="1A1F36"/>
                          </a:solidFill>
                          <a:latin typeface="Calibri"/>
                        </a:rPr>
                        <a:t>Interactions at high dose</a:t>
                      </a:r>
                    </a:p>
                  </a:txBody>
                  <a:tcPr marL="109728" marR="109728" marT="45720" marB="45720" anchor="ctr">
                    <a:solidFill>
                      <a:srgbClr val="FFFFFF"/>
                    </a:solidFill>
                  </a:tcPr>
                </a:tc>
              </a:tr>
              <a:tr h="640080">
                <a:tc>
                  <a:txBody>
                    <a:bodyPr/>
                    <a:lstStyle/>
                    <a:p>
                      <a:r>
                        <a:rPr sz="1800" i="0" b="1">
                          <a:solidFill>
                            <a:srgbClr val="1A1F36"/>
                          </a:solidFill>
                          <a:latin typeface="Calibri"/>
                        </a:rPr>
                        <a:t>COMT inhibitors</a:t>
                      </a:r>
                    </a:p>
                  </a:txBody>
                  <a:tcPr marL="109728" marR="109728" marT="45720" marB="45720" anchor="ctr">
                    <a:solidFill>
                      <a:srgbClr val="F1F2F8"/>
                    </a:solidFill>
                  </a:tcPr>
                </a:tc>
                <a:tc>
                  <a:txBody>
                    <a:bodyPr/>
                    <a:lstStyle/>
                    <a:p>
                      <a:r>
                        <a:rPr sz="1800" i="0" b="0">
                          <a:solidFill>
                            <a:srgbClr val="1A1F36"/>
                          </a:solidFill>
                          <a:latin typeface="Calibri"/>
                        </a:rPr>
                        <a:t>Prolong each levodopa dose</a:t>
                      </a:r>
                    </a:p>
                  </a:txBody>
                  <a:tcPr marL="109728" marR="109728" marT="45720" marB="45720" anchor="ctr">
                    <a:solidFill>
                      <a:srgbClr val="F1F2F8"/>
                    </a:solidFill>
                  </a:tcPr>
                </a:tc>
                <a:tc>
                  <a:txBody>
                    <a:bodyPr/>
                    <a:lstStyle/>
                    <a:p>
                      <a:r>
                        <a:rPr sz="1800" i="0" b="0">
                          <a:solidFill>
                            <a:srgbClr val="1A1F36"/>
                          </a:solidFill>
                          <a:latin typeface="Calibri"/>
                        </a:rPr>
                        <a:t>Dyskinesia; tolcapone liver toxicity</a:t>
                      </a:r>
                    </a:p>
                  </a:txBody>
                  <a:tcPr marL="109728" marR="109728" marT="45720" marB="45720" anchor="ctr">
                    <a:solidFill>
                      <a:srgbClr val="F1F2F8"/>
                    </a:solidFill>
                  </a:tcPr>
                </a:tc>
              </a:tr>
              <a:tr h="640080">
                <a:tc>
                  <a:txBody>
                    <a:bodyPr/>
                    <a:lstStyle/>
                    <a:p>
                      <a:r>
                        <a:rPr sz="1800" i="0" b="1">
                          <a:solidFill>
                            <a:srgbClr val="1A1F36"/>
                          </a:solidFill>
                          <a:latin typeface="Calibri"/>
                        </a:rPr>
                        <a:t>Amantadine</a:t>
                      </a:r>
                    </a:p>
                  </a:txBody>
                  <a:tcPr marL="109728" marR="109728" marT="45720" marB="45720" anchor="ctr">
                    <a:solidFill>
                      <a:srgbClr val="FFFFFF"/>
                    </a:solidFill>
                  </a:tcPr>
                </a:tc>
                <a:tc>
                  <a:txBody>
                    <a:bodyPr/>
                    <a:lstStyle/>
                    <a:p>
                      <a:r>
                        <a:rPr sz="1800" i="0" b="0">
                          <a:solidFill>
                            <a:srgbClr val="1A1F36"/>
                          </a:solidFill>
                          <a:latin typeface="Calibri"/>
                        </a:rPr>
                        <a:t>Reduces dyskinesia</a:t>
                      </a:r>
                    </a:p>
                  </a:txBody>
                  <a:tcPr marL="109728" marR="109728" marT="45720" marB="45720" anchor="ctr">
                    <a:solidFill>
                      <a:srgbClr val="FFFFFF"/>
                    </a:solidFill>
                  </a:tcPr>
                </a:tc>
                <a:tc>
                  <a:txBody>
                    <a:bodyPr/>
                    <a:lstStyle/>
                    <a:p>
                      <a:r>
                        <a:rPr sz="1800" i="0" b="0">
                          <a:solidFill>
                            <a:srgbClr val="1A1F36"/>
                          </a:solidFill>
                          <a:latin typeface="Calibri"/>
                        </a:rPr>
                        <a:t>Confusion, livedo reticularis</a:t>
                      </a:r>
                    </a:p>
                  </a:txBody>
                  <a:tcPr marL="109728" marR="109728" marT="45720" marB="45720" anchor="ctr">
                    <a:solidFill>
                      <a:srgbClr val="FFFFFF"/>
                    </a:solidFill>
                  </a:tcPr>
                </a:tc>
              </a:tr>
              <a:tr h="640080">
                <a:tc>
                  <a:txBody>
                    <a:bodyPr/>
                    <a:lstStyle/>
                    <a:p>
                      <a:r>
                        <a:rPr sz="1800" i="0" b="1">
                          <a:solidFill>
                            <a:srgbClr val="1A1F36"/>
                          </a:solidFill>
                          <a:latin typeface="Calibri"/>
                        </a:rPr>
                        <a:t>Anticholinergics</a:t>
                      </a:r>
                    </a:p>
                  </a:txBody>
                  <a:tcPr marL="109728" marR="109728" marT="45720" marB="45720" anchor="ctr">
                    <a:solidFill>
                      <a:srgbClr val="F1F2F8"/>
                    </a:solidFill>
                  </a:tcPr>
                </a:tc>
                <a:tc>
                  <a:txBody>
                    <a:bodyPr/>
                    <a:lstStyle/>
                    <a:p>
                      <a:r>
                        <a:rPr sz="1800" i="0" b="0">
                          <a:solidFill>
                            <a:srgbClr val="1A1F36"/>
                          </a:solidFill>
                          <a:latin typeface="Calibri"/>
                        </a:rPr>
                        <a:t>Tremor in young patients</a:t>
                      </a:r>
                    </a:p>
                  </a:txBody>
                  <a:tcPr marL="109728" marR="109728" marT="45720" marB="45720" anchor="ctr">
                    <a:solidFill>
                      <a:srgbClr val="F1F2F8"/>
                    </a:solidFill>
                  </a:tcPr>
                </a:tc>
                <a:tc>
                  <a:txBody>
                    <a:bodyPr/>
                    <a:lstStyle/>
                    <a:p>
                      <a:r>
                        <a:rPr sz="1800" i="0" b="0">
                          <a:solidFill>
                            <a:srgbClr val="1A1F36"/>
                          </a:solidFill>
                          <a:latin typeface="Calibri"/>
                        </a:rPr>
                        <a:t>Confusion, retention; avoid in elderly</a:t>
                      </a:r>
                    </a:p>
                  </a:txBody>
                  <a:tcPr marL="109728" marR="109728" marT="45720" marB="45720" anchor="ctr">
                    <a:solidFill>
                      <a:srgbClr val="F1F2F8"/>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E8EAF4"/>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1B2A8C"/>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03</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826227"/>
                </a:solidFill>
                <a:latin typeface="Calibri"/>
              </a:rPr>
              <a:t>SECTION 3</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1B2A8C"/>
                </a:solidFill>
                <a:latin typeface="Cambria"/>
              </a:rPr>
              <a:t>Choosing a Drug</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3  ·  Parkinson's Disease</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16 / 25</a:t>
            </a:r>
          </a:p>
        </p:txBody>
      </p:sp>
      <p:pic>
        <p:nvPicPr>
          <p:cNvPr id="10" name="Picture 9" descr="logo"/>
          <p:cNvPicPr>
            <a:picLocks noChangeAspect="1"/>
          </p:cNvPicPr>
          <p:nvPr/>
        </p:nvPicPr>
        <p:blipFill>
          <a:blip r:embed="rId3"/>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48640" y="1554480"/>
          <a:ext cx="11094414" cy="4480560"/>
        </p:xfrm>
        <a:graphic>
          <a:graphicData uri="http://schemas.openxmlformats.org/drawingml/2006/table">
            <a:tbl>
              <a:tblPr firstRow="0" bandRow="0">
                <a:tableStyleId>{5C22544A-7EE6-4342-B048-85BDC9FD1C3A}</a:tableStyleId>
              </a:tblPr>
              <a:tblGrid>
                <a:gridCol w="5200507"/>
                <a:gridCol w="5893907"/>
              </a:tblGrid>
              <a:tr h="640080">
                <a:tc>
                  <a:txBody>
                    <a:bodyPr/>
                    <a:lstStyle/>
                    <a:p>
                      <a:r>
                        <a:rPr sz="1700" i="0" b="1">
                          <a:solidFill>
                            <a:srgbClr val="FFFFFF"/>
                          </a:solidFill>
                          <a:latin typeface="Calibri"/>
                        </a:rPr>
                        <a:t>Situation</a:t>
                      </a:r>
                    </a:p>
                  </a:txBody>
                  <a:tcPr marL="109728" marR="109728" marT="45720" marB="45720" anchor="ctr">
                    <a:solidFill>
                      <a:srgbClr val="1B2A8C"/>
                    </a:solidFill>
                  </a:tcPr>
                </a:tc>
                <a:tc>
                  <a:txBody>
                    <a:bodyPr/>
                    <a:lstStyle/>
                    <a:p>
                      <a:r>
                        <a:rPr sz="1700" i="0" b="1">
                          <a:solidFill>
                            <a:srgbClr val="FFFFFF"/>
                          </a:solidFill>
                          <a:latin typeface="Calibri"/>
                        </a:rPr>
                        <a:t>Suggested choice</a:t>
                      </a:r>
                    </a:p>
                  </a:txBody>
                  <a:tcPr marL="109728" marR="109728" marT="45720" marB="45720" anchor="ctr">
                    <a:solidFill>
                      <a:srgbClr val="1B2A8C"/>
                    </a:solidFill>
                  </a:tcPr>
                </a:tc>
              </a:tr>
              <a:tr h="640080">
                <a:tc>
                  <a:txBody>
                    <a:bodyPr/>
                    <a:lstStyle/>
                    <a:p>
                      <a:r>
                        <a:rPr sz="1800" i="0" b="1">
                          <a:solidFill>
                            <a:srgbClr val="1A1F36"/>
                          </a:solidFill>
                          <a:latin typeface="Calibri"/>
                        </a:rPr>
                        <a:t>Early disease, motor symptoms affect quality of life</a:t>
                      </a:r>
                    </a:p>
                  </a:txBody>
                  <a:tcPr marL="109728" marR="109728" marT="45720" marB="45720" anchor="ctr">
                    <a:solidFill>
                      <a:srgbClr val="FFFFFF"/>
                    </a:solidFill>
                  </a:tcPr>
                </a:tc>
                <a:tc>
                  <a:txBody>
                    <a:bodyPr/>
                    <a:lstStyle/>
                    <a:p>
                      <a:r>
                        <a:rPr sz="1800" i="0" b="0">
                          <a:solidFill>
                            <a:srgbClr val="1A1F36"/>
                          </a:solidFill>
                          <a:latin typeface="Calibri"/>
                        </a:rPr>
                        <a:t>Levodopa + carbidopa</a:t>
                      </a:r>
                    </a:p>
                  </a:txBody>
                  <a:tcPr marL="109728" marR="109728" marT="45720" marB="45720" anchor="ctr">
                    <a:solidFill>
                      <a:srgbClr val="FFFFFF"/>
                    </a:solidFill>
                  </a:tcPr>
                </a:tc>
              </a:tr>
              <a:tr h="640080">
                <a:tc>
                  <a:txBody>
                    <a:bodyPr/>
                    <a:lstStyle/>
                    <a:p>
                      <a:r>
                        <a:rPr sz="1800" i="0" b="1">
                          <a:solidFill>
                            <a:srgbClr val="1A1F36"/>
                          </a:solidFill>
                          <a:latin typeface="Calibri"/>
                        </a:rPr>
                        <a:t>Early disease, mild symptoms</a:t>
                      </a:r>
                    </a:p>
                  </a:txBody>
                  <a:tcPr marL="109728" marR="109728" marT="45720" marB="45720" anchor="ctr">
                    <a:solidFill>
                      <a:srgbClr val="F1F2F8"/>
                    </a:solidFill>
                  </a:tcPr>
                </a:tc>
                <a:tc>
                  <a:txBody>
                    <a:bodyPr/>
                    <a:lstStyle/>
                    <a:p>
                      <a:r>
                        <a:rPr sz="1800" i="0" b="0">
                          <a:solidFill>
                            <a:srgbClr val="1A1F36"/>
                          </a:solidFill>
                          <a:latin typeface="Calibri"/>
                        </a:rPr>
                        <a:t>Dopamine agonist or MAO-B inhibitor (discuss impulse-control risk)</a:t>
                      </a:r>
                    </a:p>
                  </a:txBody>
                  <a:tcPr marL="109728" marR="109728" marT="45720" marB="45720" anchor="ctr">
                    <a:solidFill>
                      <a:srgbClr val="F1F2F8"/>
                    </a:solidFill>
                  </a:tcPr>
                </a:tc>
              </a:tr>
              <a:tr h="640080">
                <a:tc>
                  <a:txBody>
                    <a:bodyPr/>
                    <a:lstStyle/>
                    <a:p>
                      <a:r>
                        <a:rPr sz="1800" i="0" b="1">
                          <a:solidFill>
                            <a:srgbClr val="1A1F36"/>
                          </a:solidFill>
                          <a:latin typeface="Calibri"/>
                        </a:rPr>
                        <a:t>Wearing-off on levodopa</a:t>
                      </a:r>
                    </a:p>
                  </a:txBody>
                  <a:tcPr marL="109728" marR="109728" marT="45720" marB="45720" anchor="ctr">
                    <a:solidFill>
                      <a:srgbClr val="FFFFFF"/>
                    </a:solidFill>
                  </a:tcPr>
                </a:tc>
                <a:tc>
                  <a:txBody>
                    <a:bodyPr/>
                    <a:lstStyle/>
                    <a:p>
                      <a:r>
                        <a:rPr sz="1800" i="0" b="0">
                          <a:solidFill>
                            <a:srgbClr val="1A1F36"/>
                          </a:solidFill>
                          <a:latin typeface="Calibri"/>
                        </a:rPr>
                        <a:t>Add a COMT inhibitor, MAO-B inhibitor or dopamine agonist</a:t>
                      </a:r>
                    </a:p>
                  </a:txBody>
                  <a:tcPr marL="109728" marR="109728" marT="45720" marB="45720" anchor="ctr">
                    <a:solidFill>
                      <a:srgbClr val="FFFFFF"/>
                    </a:solidFill>
                  </a:tcPr>
                </a:tc>
              </a:tr>
              <a:tr h="640080">
                <a:tc>
                  <a:txBody>
                    <a:bodyPr/>
                    <a:lstStyle/>
                    <a:p>
                      <a:r>
                        <a:rPr sz="1800" i="0" b="1">
                          <a:solidFill>
                            <a:srgbClr val="1A1F36"/>
                          </a:solidFill>
                          <a:latin typeface="Calibri"/>
                        </a:rPr>
                        <a:t>Levodopa-induced dyskinesia</a:t>
                      </a:r>
                    </a:p>
                  </a:txBody>
                  <a:tcPr marL="109728" marR="109728" marT="45720" marB="45720" anchor="ctr">
                    <a:solidFill>
                      <a:srgbClr val="F1F2F8"/>
                    </a:solidFill>
                  </a:tcPr>
                </a:tc>
                <a:tc>
                  <a:txBody>
                    <a:bodyPr/>
                    <a:lstStyle/>
                    <a:p>
                      <a:r>
                        <a:rPr sz="1800" i="0" b="0">
                          <a:solidFill>
                            <a:srgbClr val="1A1F36"/>
                          </a:solidFill>
                          <a:latin typeface="Calibri"/>
                        </a:rPr>
                        <a:t>Adjust levodopa; add amantadine</a:t>
                      </a:r>
                    </a:p>
                  </a:txBody>
                  <a:tcPr marL="109728" marR="109728" marT="45720" marB="45720" anchor="ctr">
                    <a:solidFill>
                      <a:srgbClr val="F1F2F8"/>
                    </a:solidFill>
                  </a:tcPr>
                </a:tc>
              </a:tr>
              <a:tr h="640080">
                <a:tc>
                  <a:txBody>
                    <a:bodyPr/>
                    <a:lstStyle/>
                    <a:p>
                      <a:r>
                        <a:rPr sz="1800" i="0" b="1">
                          <a:solidFill>
                            <a:srgbClr val="1A1F36"/>
                          </a:solidFill>
                          <a:latin typeface="Calibri"/>
                        </a:rPr>
                        <a:t>Nausea from treatment</a:t>
                      </a:r>
                    </a:p>
                  </a:txBody>
                  <a:tcPr marL="109728" marR="109728" marT="45720" marB="45720" anchor="ctr">
                    <a:solidFill>
                      <a:srgbClr val="FFFFFF"/>
                    </a:solidFill>
                  </a:tcPr>
                </a:tc>
                <a:tc>
                  <a:txBody>
                    <a:bodyPr/>
                    <a:lstStyle/>
                    <a:p>
                      <a:r>
                        <a:rPr sz="1800" i="0" b="0">
                          <a:solidFill>
                            <a:srgbClr val="1A1F36"/>
                          </a:solidFill>
                          <a:latin typeface="Calibri"/>
                        </a:rPr>
                        <a:t>Domperidone</a:t>
                      </a:r>
                    </a:p>
                  </a:txBody>
                  <a:tcPr marL="109728" marR="109728" marT="45720" marB="45720" anchor="ctr">
                    <a:solidFill>
                      <a:srgbClr val="FFFFFF"/>
                    </a:solidFill>
                  </a:tcPr>
                </a:tc>
              </a:tr>
              <a:tr h="640080">
                <a:tc>
                  <a:txBody>
                    <a:bodyPr/>
                    <a:lstStyle/>
                    <a:p>
                      <a:r>
                        <a:rPr sz="1800" i="0" b="1">
                          <a:solidFill>
                            <a:srgbClr val="1A1F36"/>
                          </a:solidFill>
                          <a:latin typeface="Calibri"/>
                        </a:rPr>
                        <a:t>Psychosis in Parkinson's disease</a:t>
                      </a:r>
                    </a:p>
                  </a:txBody>
                  <a:tcPr marL="109728" marR="109728" marT="45720" marB="45720" anchor="ctr">
                    <a:solidFill>
                      <a:srgbClr val="F1F2F8"/>
                    </a:solidFill>
                  </a:tcPr>
                </a:tc>
                <a:tc>
                  <a:txBody>
                    <a:bodyPr/>
                    <a:lstStyle/>
                    <a:p>
                      <a:r>
                        <a:rPr sz="1800" i="0" b="0">
                          <a:solidFill>
                            <a:srgbClr val="1A1F36"/>
                          </a:solidFill>
                          <a:latin typeface="Calibri"/>
                        </a:rPr>
                        <a:t>Reduce anticholinergics and agonists first; then low-dose quetiapine or clozapine</a:t>
                      </a:r>
                    </a:p>
                  </a:txBody>
                  <a:tcPr marL="109728" marR="109728" marT="45720" marB="45720" anchor="ctr">
                    <a:solidFill>
                      <a:srgbClr val="F1F2F8"/>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8EAF4"/>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1B2A8C"/>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03</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826227"/>
                </a:solidFill>
                <a:latin typeface="Calibri"/>
              </a:rPr>
              <a:t>SECTION 3</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1B2A8C"/>
                </a:solidFill>
                <a:latin typeface="Cambria"/>
              </a:rPr>
              <a:t>Brands in Egypt</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3  ·  Parkinson's Disease</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17 / 25</a:t>
            </a:r>
          </a:p>
        </p:txBody>
      </p:sp>
      <p:pic>
        <p:nvPicPr>
          <p:cNvPr id="10" name="Picture 9" descr="logo"/>
          <p:cNvPicPr>
            <a:picLocks noChangeAspect="1"/>
          </p:cNvPicPr>
          <p:nvPr/>
        </p:nvPicPr>
        <p:blipFill>
          <a:blip r:embed="rId3"/>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48640" y="1554480"/>
          <a:ext cx="11094414" cy="1920240"/>
        </p:xfrm>
        <a:graphic>
          <a:graphicData uri="http://schemas.openxmlformats.org/drawingml/2006/table">
            <a:tbl>
              <a:tblPr firstRow="0" bandRow="0">
                <a:tableStyleId>{5C22544A-7EE6-4342-B048-85BDC9FD1C3A}</a:tableStyleId>
              </a:tblPr>
              <a:tblGrid>
                <a:gridCol w="3376561"/>
                <a:gridCol w="5306024"/>
                <a:gridCol w="2411829"/>
              </a:tblGrid>
              <a:tr h="640080">
                <a:tc>
                  <a:txBody>
                    <a:bodyPr/>
                    <a:lstStyle/>
                    <a:p>
                      <a:r>
                        <a:rPr sz="1900" i="0" b="1">
                          <a:solidFill>
                            <a:srgbClr val="FFFFFF"/>
                          </a:solidFill>
                          <a:latin typeface="Calibri"/>
                        </a:rPr>
                        <a:t>Generic name</a:t>
                      </a:r>
                    </a:p>
                  </a:txBody>
                  <a:tcPr marL="109728" marR="109728" marT="45720" marB="45720" anchor="ctr">
                    <a:solidFill>
                      <a:srgbClr val="1B2A8C"/>
                    </a:solidFill>
                  </a:tcPr>
                </a:tc>
                <a:tc>
                  <a:txBody>
                    <a:bodyPr/>
                    <a:lstStyle/>
                    <a:p>
                      <a:r>
                        <a:rPr sz="1900" i="0" b="1">
                          <a:solidFill>
                            <a:srgbClr val="FFFFFF"/>
                          </a:solidFill>
                          <a:latin typeface="Calibri"/>
                        </a:rPr>
                        <a:t>Brand examples</a:t>
                      </a:r>
                    </a:p>
                  </a:txBody>
                  <a:tcPr marL="109728" marR="109728" marT="45720" marB="45720" anchor="ctr">
                    <a:solidFill>
                      <a:srgbClr val="1B2A8C"/>
                    </a:solidFill>
                  </a:tcPr>
                </a:tc>
                <a:tc>
                  <a:txBody>
                    <a:bodyPr/>
                    <a:lstStyle/>
                    <a:p>
                      <a:r>
                        <a:rPr sz="1900" i="0" b="1">
                          <a:solidFill>
                            <a:srgbClr val="FFFFFF"/>
                          </a:solidFill>
                          <a:latin typeface="Calibri"/>
                        </a:rPr>
                        <a:t>Dosage forms</a:t>
                      </a:r>
                    </a:p>
                  </a:txBody>
                  <a:tcPr marL="109728" marR="109728" marT="45720" marB="45720" anchor="ctr">
                    <a:solidFill>
                      <a:srgbClr val="1B2A8C"/>
                    </a:solidFill>
                  </a:tcPr>
                </a:tc>
              </a:tr>
              <a:tr h="640080">
                <a:tc>
                  <a:txBody>
                    <a:bodyPr/>
                    <a:lstStyle/>
                    <a:p>
                      <a:r>
                        <a:rPr sz="2000" i="0" b="1">
                          <a:solidFill>
                            <a:srgbClr val="1A1F36"/>
                          </a:solidFill>
                          <a:latin typeface="Calibri"/>
                        </a:rPr>
                        <a:t>Carbidopa + levodopa</a:t>
                      </a:r>
                    </a:p>
                  </a:txBody>
                  <a:tcPr marL="109728" marR="109728" marT="45720" marB="45720" anchor="ctr">
                    <a:solidFill>
                      <a:srgbClr val="FFFFFF"/>
                    </a:solidFill>
                  </a:tcPr>
                </a:tc>
                <a:tc>
                  <a:txBody>
                    <a:bodyPr/>
                    <a:lstStyle/>
                    <a:p>
                      <a:r>
                        <a:rPr sz="2000" i="0" b="0">
                          <a:solidFill>
                            <a:srgbClr val="1A1F36"/>
                          </a:solidFill>
                          <a:latin typeface="Calibri"/>
                        </a:rPr>
                        <a:t>Sinemet, Shatoo (controlled release)</a:t>
                      </a:r>
                    </a:p>
                  </a:txBody>
                  <a:tcPr marL="109728" marR="109728" marT="45720" marB="45720" anchor="ctr">
                    <a:solidFill>
                      <a:srgbClr val="FFFFFF"/>
                    </a:solidFill>
                  </a:tcPr>
                </a:tc>
                <a:tc>
                  <a:txBody>
                    <a:bodyPr/>
                    <a:lstStyle/>
                    <a:p>
                      <a:r>
                        <a:rPr sz="2000" i="0" b="0">
                          <a:solidFill>
                            <a:srgbClr val="1A1F36"/>
                          </a:solidFill>
                          <a:latin typeface="Calibri"/>
                        </a:rPr>
                        <a:t>Tablets</a:t>
                      </a:r>
                    </a:p>
                  </a:txBody>
                  <a:tcPr marL="109728" marR="109728" marT="45720" marB="45720" anchor="ctr">
                    <a:solidFill>
                      <a:srgbClr val="FFFFFF"/>
                    </a:solidFill>
                  </a:tcPr>
                </a:tc>
              </a:tr>
              <a:tr h="640080">
                <a:tc>
                  <a:txBody>
                    <a:bodyPr/>
                    <a:lstStyle/>
                    <a:p>
                      <a:r>
                        <a:rPr sz="2000" i="0" b="1">
                          <a:solidFill>
                            <a:srgbClr val="1A1F36"/>
                          </a:solidFill>
                          <a:latin typeface="Calibri"/>
                        </a:rPr>
                        <a:t>Biperiden</a:t>
                      </a:r>
                    </a:p>
                  </a:txBody>
                  <a:tcPr marL="109728" marR="109728" marT="45720" marB="45720" anchor="ctr">
                    <a:solidFill>
                      <a:srgbClr val="F1F2F8"/>
                    </a:solidFill>
                  </a:tcPr>
                </a:tc>
                <a:tc>
                  <a:txBody>
                    <a:bodyPr/>
                    <a:lstStyle/>
                    <a:p>
                      <a:r>
                        <a:rPr sz="2000" i="0" b="0">
                          <a:solidFill>
                            <a:srgbClr val="1A1F36"/>
                          </a:solidFill>
                          <a:latin typeface="Calibri"/>
                        </a:rPr>
                        <a:t>Cogintol, Biperiden (Pharco)</a:t>
                      </a:r>
                    </a:p>
                  </a:txBody>
                  <a:tcPr marL="109728" marR="109728" marT="45720" marB="45720" anchor="ctr">
                    <a:solidFill>
                      <a:srgbClr val="F1F2F8"/>
                    </a:solidFill>
                  </a:tcPr>
                </a:tc>
                <a:tc>
                  <a:txBody>
                    <a:bodyPr/>
                    <a:lstStyle/>
                    <a:p>
                      <a:r>
                        <a:rPr sz="2000" i="0" b="0">
                          <a:solidFill>
                            <a:srgbClr val="1A1F36"/>
                          </a:solidFill>
                          <a:latin typeface="Calibri"/>
                        </a:rPr>
                        <a:t>Tablets</a:t>
                      </a:r>
                    </a:p>
                  </a:txBody>
                  <a:tcPr marL="109728" marR="109728" marT="45720" marB="45720" anchor="ctr">
                    <a:solidFill>
                      <a:srgbClr val="F1F2F8"/>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E8EAF4"/>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1B2A8C"/>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03</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826227"/>
                </a:solidFill>
                <a:latin typeface="Calibri"/>
              </a:rPr>
              <a:t>SECTION 3</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1B2A8C"/>
                </a:solidFill>
                <a:latin typeface="Cambria"/>
              </a:rPr>
              <a:t>For Discussion</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3  ·  Parkinson's Disease</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18 / 25</a:t>
            </a:r>
          </a:p>
        </p:txBody>
      </p:sp>
      <p:pic>
        <p:nvPicPr>
          <p:cNvPr id="10" name="Picture 9" descr="logo"/>
          <p:cNvPicPr>
            <a:picLocks noChangeAspect="1"/>
          </p:cNvPicPr>
          <p:nvPr/>
        </p:nvPicPr>
        <p:blipFill>
          <a:blip r:embed="rId3"/>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48640" y="1572768"/>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4" name="TextBox 13"/>
          <p:cNvSpPr txBox="1"/>
          <p:nvPr/>
        </p:nvSpPr>
        <p:spPr>
          <a:xfrm>
            <a:off x="1143000" y="1591056"/>
            <a:ext cx="10500055" cy="1142237"/>
          </a:xfrm>
          <a:prstGeom prst="rect">
            <a:avLst/>
          </a:prstGeom>
          <a:noFill/>
        </p:spPr>
        <p:txBody>
          <a:bodyPr wrap="square" anchor="t" lIns="0" rIns="0" tIns="0" bIns="0">
            <a:spAutoFit/>
          </a:bodyPr>
          <a:lstStyle/>
          <a:p>
            <a:r>
              <a:rPr sz="2100" i="0" b="0">
                <a:solidFill>
                  <a:srgbClr val="1A1F36"/>
                </a:solidFill>
                <a:latin typeface="Calibri"/>
              </a:rPr>
              <a:t>Why is carbidopa always given with levodopa, and why does it not reduce levodopa's effect in the brain?</a:t>
            </a:r>
          </a:p>
        </p:txBody>
      </p:sp>
      <p:sp>
        <p:nvSpPr>
          <p:cNvPr id="15" name="Oval 14"/>
          <p:cNvSpPr/>
          <p:nvPr/>
        </p:nvSpPr>
        <p:spPr>
          <a:xfrm>
            <a:off x="548640" y="2760726"/>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6" name="TextBox 15"/>
          <p:cNvSpPr txBox="1"/>
          <p:nvPr/>
        </p:nvSpPr>
        <p:spPr>
          <a:xfrm>
            <a:off x="1143000" y="2779014"/>
            <a:ext cx="10500055" cy="1142237"/>
          </a:xfrm>
          <a:prstGeom prst="rect">
            <a:avLst/>
          </a:prstGeom>
          <a:noFill/>
        </p:spPr>
        <p:txBody>
          <a:bodyPr wrap="square" anchor="t" lIns="0" rIns="0" tIns="0" bIns="0">
            <a:spAutoFit/>
          </a:bodyPr>
          <a:lstStyle/>
          <a:p>
            <a:r>
              <a:rPr sz="2100" i="0" b="0">
                <a:solidFill>
                  <a:srgbClr val="1A1F36"/>
                </a:solidFill>
                <a:latin typeface="Calibri"/>
              </a:rPr>
              <a:t>A patient on levodopa becomes nauseated. Why is domperidone chosen instead of metoclopramide?</a:t>
            </a:r>
          </a:p>
        </p:txBody>
      </p:sp>
      <p:sp>
        <p:nvSpPr>
          <p:cNvPr id="17" name="Oval 16"/>
          <p:cNvSpPr/>
          <p:nvPr/>
        </p:nvSpPr>
        <p:spPr>
          <a:xfrm>
            <a:off x="548640" y="3948683"/>
            <a:ext cx="402336" cy="402336"/>
          </a:xfrm>
          <a:prstGeom prst="ellipse">
            <a:avLst/>
          </a:prstGeom>
          <a:solidFill>
            <a:srgbClr val="F9F8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8" name="TextBox 17"/>
          <p:cNvSpPr txBox="1"/>
          <p:nvPr/>
        </p:nvSpPr>
        <p:spPr>
          <a:xfrm>
            <a:off x="1143000" y="3966971"/>
            <a:ext cx="10500055" cy="1142237"/>
          </a:xfrm>
          <a:prstGeom prst="rect">
            <a:avLst/>
          </a:prstGeom>
          <a:noFill/>
        </p:spPr>
        <p:txBody>
          <a:bodyPr wrap="square" anchor="t" lIns="0" rIns="0" tIns="0" bIns="0">
            <a:spAutoFit/>
          </a:bodyPr>
          <a:lstStyle/>
          <a:p>
            <a:r>
              <a:rPr sz="2100" i="0" b="0">
                <a:solidFill>
                  <a:srgbClr val="1A1F36"/>
                </a:solidFill>
                <a:latin typeface="Calibri"/>
              </a:rPr>
              <a:t>A 60-year-old man on pramipexole has started spending his savings on gambling. What is happening, and what would you advise?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E8EAF4"/>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1B2A8C"/>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03</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826227"/>
                </a:solidFill>
                <a:latin typeface="Calibri"/>
              </a:rPr>
              <a:t>SECTION 3  ·  QUESTION 1 OF 3</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1B2A8C"/>
                </a:solidFill>
                <a:latin typeface="Cambria"/>
              </a:rPr>
              <a:t>Your turn</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3  ·  Parkinson's Disease</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19 / 25</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Parkinson's disease results mainly from loss of which neurons?</a:t>
            </a:r>
          </a:p>
        </p:txBody>
      </p:sp>
      <p:sp>
        <p:nvSpPr>
          <p:cNvPr id="14" name="Rounded Rectangle 13"/>
          <p:cNvSpPr/>
          <p:nvPr/>
        </p:nvSpPr>
        <p:spPr>
          <a:xfrm>
            <a:off x="548640" y="2697480"/>
            <a:ext cx="11094415" cy="640080"/>
          </a:xfrm>
          <a:prstGeom prst="roundRect">
            <a:avLst>
              <a:gd name="adj" fmla="val 18000"/>
            </a:avLst>
          </a:prstGeom>
          <a:solidFill>
            <a:srgbClr val="F1F2F8">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6" name="TextBox 15"/>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Cholinergic neurons of the basal forebrain</a:t>
            </a:r>
          </a:p>
        </p:txBody>
      </p:sp>
      <p:sp>
        <p:nvSpPr>
          <p:cNvPr id="17" name="Rounded Rectangle 16"/>
          <p:cNvSpPr/>
          <p:nvPr/>
        </p:nvSpPr>
        <p:spPr>
          <a:xfrm>
            <a:off x="548640" y="3465576"/>
            <a:ext cx="11094415" cy="640080"/>
          </a:xfrm>
          <a:prstGeom prst="roundRect">
            <a:avLst>
              <a:gd name="adj" fmla="val 18000"/>
            </a:avLst>
          </a:prstGeom>
          <a:solidFill>
            <a:srgbClr val="F1F2F8">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9" name="TextBox 18"/>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Dopamine neurons of the substantia nigra</a:t>
            </a:r>
          </a:p>
        </p:txBody>
      </p:sp>
      <p:sp>
        <p:nvSpPr>
          <p:cNvPr id="20" name="Rounded Rectangle 19"/>
          <p:cNvSpPr/>
          <p:nvPr/>
        </p:nvSpPr>
        <p:spPr>
          <a:xfrm>
            <a:off x="548640" y="4233672"/>
            <a:ext cx="11094415" cy="640080"/>
          </a:xfrm>
          <a:prstGeom prst="roundRect">
            <a:avLst>
              <a:gd name="adj" fmla="val 18000"/>
            </a:avLst>
          </a:prstGeom>
          <a:solidFill>
            <a:srgbClr val="F1F2F8">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22" name="TextBox 21"/>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Serotonin neurons of the raphe nuclei</a:t>
            </a:r>
          </a:p>
        </p:txBody>
      </p:sp>
      <p:sp>
        <p:nvSpPr>
          <p:cNvPr id="23" name="Rounded Rectangle 22"/>
          <p:cNvSpPr/>
          <p:nvPr/>
        </p:nvSpPr>
        <p:spPr>
          <a:xfrm>
            <a:off x="548640" y="5001768"/>
            <a:ext cx="11094415" cy="640080"/>
          </a:xfrm>
          <a:prstGeom prst="roundRect">
            <a:avLst>
              <a:gd name="adj" fmla="val 18000"/>
            </a:avLst>
          </a:prstGeom>
          <a:solidFill>
            <a:srgbClr val="F1F2F8">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5" name="TextBox 24"/>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GABA neurons of the cortex</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E8EAF4"/>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1B2A8C"/>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03</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826227"/>
                </a:solidFill>
                <a:latin typeface="Calibri"/>
              </a:rPr>
              <a:t>SECTION 3  ·  QUESTION 1 OF 3  ·  ANSWER</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1B2A8C"/>
                </a:solidFill>
                <a:latin typeface="Cambria"/>
              </a:rPr>
              <a:t>Check your answer</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3  ·  Parkinson's Disease</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20 / 25</a:t>
            </a:r>
          </a:p>
        </p:txBody>
      </p:sp>
      <p:pic>
        <p:nvPicPr>
          <p:cNvPr id="10" name="Picture 9" descr="logo"/>
          <p:cNvPicPr>
            <a:picLocks noChangeAspect="1"/>
          </p:cNvPicPr>
          <p:nvPr/>
        </p:nvPicPr>
        <p:blipFill>
          <a:blip r:embed="rId3"/>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Parkinson's disease results mainly from loss of which neurons?</a:t>
            </a:r>
          </a:p>
        </p:txBody>
      </p:sp>
      <p:sp>
        <p:nvSpPr>
          <p:cNvPr id="14" name="Rounded Rectangle 13"/>
          <p:cNvSpPr/>
          <p:nvPr/>
        </p:nvSpPr>
        <p:spPr>
          <a:xfrm>
            <a:off x="548640" y="2606040"/>
            <a:ext cx="11094415" cy="548640"/>
          </a:xfrm>
          <a:prstGeom prst="roundRect">
            <a:avLst>
              <a:gd name="adj" fmla="val 18000"/>
            </a:avLst>
          </a:prstGeom>
          <a:solidFill>
            <a:srgbClr val="F3F4F5">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6" name="TextBox 15"/>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Cholinergic neurons of the basal forebrain</a:t>
            </a:r>
          </a:p>
        </p:txBody>
      </p:sp>
      <p:sp>
        <p:nvSpPr>
          <p:cNvPr id="17" name="Rounded Rectangle 16"/>
          <p:cNvSpPr/>
          <p:nvPr/>
        </p:nvSpPr>
        <p:spPr>
          <a:xfrm>
            <a:off x="548640" y="3282696"/>
            <a:ext cx="11094415" cy="548640"/>
          </a:xfrm>
          <a:prstGeom prst="roundRect">
            <a:avLst>
              <a:gd name="adj" fmla="val 18000"/>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3232" y="3346703"/>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B</a:t>
            </a:r>
          </a:p>
        </p:txBody>
      </p:sp>
      <p:sp>
        <p:nvSpPr>
          <p:cNvPr id="19" name="TextBox 18"/>
          <p:cNvSpPr txBox="1"/>
          <p:nvPr/>
        </p:nvSpPr>
        <p:spPr>
          <a:xfrm>
            <a:off x="1371600" y="3282696"/>
            <a:ext cx="10088575" cy="548640"/>
          </a:xfrm>
          <a:prstGeom prst="rect">
            <a:avLst/>
          </a:prstGeom>
          <a:noFill/>
        </p:spPr>
        <p:txBody>
          <a:bodyPr wrap="square" anchor="ctr" lIns="0" rIns="0" tIns="0" bIns="0">
            <a:spAutoFit/>
          </a:bodyPr>
          <a:lstStyle/>
          <a:p>
            <a:r>
              <a:rPr sz="1900" i="0" b="1">
                <a:solidFill>
                  <a:srgbClr val="FFFFFF"/>
                </a:solidFill>
                <a:latin typeface="Calibri"/>
              </a:rPr>
              <a:t>Dopamine neurons of the substantia nigra</a:t>
            </a:r>
          </a:p>
        </p:txBody>
      </p:sp>
      <p:sp>
        <p:nvSpPr>
          <p:cNvPr id="20" name="Rounded Rectangle 19"/>
          <p:cNvSpPr/>
          <p:nvPr/>
        </p:nvSpPr>
        <p:spPr>
          <a:xfrm>
            <a:off x="548640" y="3959352"/>
            <a:ext cx="11094415" cy="548640"/>
          </a:xfrm>
          <a:prstGeom prst="roundRect">
            <a:avLst>
              <a:gd name="adj" fmla="val 18000"/>
            </a:avLst>
          </a:prstGeom>
          <a:solidFill>
            <a:srgbClr val="F3F4F5">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22" name="TextBox 21"/>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Serotonin neurons of the raphe nuclei</a:t>
            </a:r>
          </a:p>
        </p:txBody>
      </p:sp>
      <p:sp>
        <p:nvSpPr>
          <p:cNvPr id="23" name="Rounded Rectangle 22"/>
          <p:cNvSpPr/>
          <p:nvPr/>
        </p:nvSpPr>
        <p:spPr>
          <a:xfrm>
            <a:off x="548640" y="4636008"/>
            <a:ext cx="11094415" cy="548640"/>
          </a:xfrm>
          <a:prstGeom prst="roundRect">
            <a:avLst>
              <a:gd name="adj" fmla="val 18000"/>
            </a:avLst>
          </a:prstGeom>
          <a:solidFill>
            <a:srgbClr val="F3F4F5">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5" name="TextBox 24"/>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GABA neurons of the cortex</a:t>
            </a:r>
          </a:p>
        </p:txBody>
      </p:sp>
      <p:sp>
        <p:nvSpPr>
          <p:cNvPr id="26" name="TextBox 25"/>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26227"/>
                </a:solidFill>
                <a:latin typeface="Calibri"/>
              </a:rPr>
              <a:t>Why:  </a:t>
            </a:r>
            <a:r>
              <a:rPr sz="1500" i="0" b="0">
                <a:solidFill>
                  <a:srgbClr val="1A1F36"/>
                </a:solidFill>
                <a:latin typeface="Calibri"/>
              </a:rPr>
              <a:t>Dopamine neurons of the substantia nigra die. A is Alzheimer's disease. C and D are not the cause.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E8EAF4"/>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1B2A8C"/>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03</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826227"/>
                </a:solidFill>
                <a:latin typeface="Calibri"/>
              </a:rPr>
              <a:t>SECTION 3  ·  QUESTION 2 OF 3</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1B2A8C"/>
                </a:solidFill>
                <a:latin typeface="Cambria"/>
              </a:rPr>
              <a:t>Your turn</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3  ·  Parkinson's Disease</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21 / 25</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A 56-year-old man with Parkinson's disease starts carbidopa with levodopa. What does carbidopa reduce?</a:t>
            </a:r>
          </a:p>
        </p:txBody>
      </p:sp>
      <p:sp>
        <p:nvSpPr>
          <p:cNvPr id="14" name="Rounded Rectangle 13"/>
          <p:cNvSpPr/>
          <p:nvPr/>
        </p:nvSpPr>
        <p:spPr>
          <a:xfrm>
            <a:off x="548640" y="2697480"/>
            <a:ext cx="11094415" cy="640080"/>
          </a:xfrm>
          <a:prstGeom prst="roundRect">
            <a:avLst>
              <a:gd name="adj" fmla="val 18000"/>
            </a:avLst>
          </a:prstGeom>
          <a:solidFill>
            <a:srgbClr val="F1F2F8">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6" name="TextBox 15"/>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The levodopa dose needed for a therapeutic effect</a:t>
            </a:r>
          </a:p>
        </p:txBody>
      </p:sp>
      <p:sp>
        <p:nvSpPr>
          <p:cNvPr id="17" name="Rounded Rectangle 16"/>
          <p:cNvSpPr/>
          <p:nvPr/>
        </p:nvSpPr>
        <p:spPr>
          <a:xfrm>
            <a:off x="548640" y="3465576"/>
            <a:ext cx="11094415" cy="640080"/>
          </a:xfrm>
          <a:prstGeom prst="roundRect">
            <a:avLst>
              <a:gd name="adj" fmla="val 18000"/>
            </a:avLst>
          </a:prstGeom>
          <a:solidFill>
            <a:srgbClr val="F1F2F8">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9" name="TextBox 18"/>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Levodopa-induced dyskinesia</a:t>
            </a:r>
          </a:p>
        </p:txBody>
      </p:sp>
      <p:sp>
        <p:nvSpPr>
          <p:cNvPr id="20" name="Rounded Rectangle 19"/>
          <p:cNvSpPr/>
          <p:nvPr/>
        </p:nvSpPr>
        <p:spPr>
          <a:xfrm>
            <a:off x="548640" y="4233672"/>
            <a:ext cx="11094415" cy="640080"/>
          </a:xfrm>
          <a:prstGeom prst="roundRect">
            <a:avLst>
              <a:gd name="adj" fmla="val 18000"/>
            </a:avLst>
          </a:prstGeom>
          <a:solidFill>
            <a:srgbClr val="F1F2F8">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22" name="TextBox 21"/>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The time to onset in the brain</a:t>
            </a:r>
          </a:p>
        </p:txBody>
      </p:sp>
      <p:sp>
        <p:nvSpPr>
          <p:cNvPr id="23" name="Rounded Rectangle 22"/>
          <p:cNvSpPr/>
          <p:nvPr/>
        </p:nvSpPr>
        <p:spPr>
          <a:xfrm>
            <a:off x="548640" y="5001768"/>
            <a:ext cx="11094415" cy="640080"/>
          </a:xfrm>
          <a:prstGeom prst="roundRect">
            <a:avLst>
              <a:gd name="adj" fmla="val 18000"/>
            </a:avLst>
          </a:prstGeom>
          <a:solidFill>
            <a:srgbClr val="F1F2F8">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5" name="TextBox 24"/>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Brain dopamine synthesis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E8EAF4"/>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1B2A8C"/>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03</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826227"/>
                </a:solidFill>
                <a:latin typeface="Calibri"/>
              </a:rPr>
              <a:t>SECTION 3  ·  QUESTION 2 OF 3  ·  ANSWER</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1B2A8C"/>
                </a:solidFill>
                <a:latin typeface="Cambria"/>
              </a:rPr>
              <a:t>Check your answer</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3  ·  Parkinson's Disease</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22 / 25</a:t>
            </a:r>
          </a:p>
        </p:txBody>
      </p:sp>
      <p:pic>
        <p:nvPicPr>
          <p:cNvPr id="10" name="Picture 9" descr="logo"/>
          <p:cNvPicPr>
            <a:picLocks noChangeAspect="1"/>
          </p:cNvPicPr>
          <p:nvPr/>
        </p:nvPicPr>
        <p:blipFill>
          <a:blip r:embed="rId3"/>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A 56-year-old man with Parkinson's disease starts carbidopa with levodopa. What does carbidopa reduce?</a:t>
            </a:r>
          </a:p>
        </p:txBody>
      </p:sp>
      <p:sp>
        <p:nvSpPr>
          <p:cNvPr id="14" name="Rounded Rectangle 13"/>
          <p:cNvSpPr/>
          <p:nvPr/>
        </p:nvSpPr>
        <p:spPr>
          <a:xfrm>
            <a:off x="548640" y="2606040"/>
            <a:ext cx="11094415" cy="548640"/>
          </a:xfrm>
          <a:prstGeom prst="roundRect">
            <a:avLst>
              <a:gd name="adj" fmla="val 18000"/>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13232" y="2670048"/>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A</a:t>
            </a:r>
          </a:p>
        </p:txBody>
      </p:sp>
      <p:sp>
        <p:nvSpPr>
          <p:cNvPr id="16" name="TextBox 15"/>
          <p:cNvSpPr txBox="1"/>
          <p:nvPr/>
        </p:nvSpPr>
        <p:spPr>
          <a:xfrm>
            <a:off x="1371600" y="2606040"/>
            <a:ext cx="10088575" cy="548640"/>
          </a:xfrm>
          <a:prstGeom prst="rect">
            <a:avLst/>
          </a:prstGeom>
          <a:noFill/>
        </p:spPr>
        <p:txBody>
          <a:bodyPr wrap="square" anchor="ctr" lIns="0" rIns="0" tIns="0" bIns="0">
            <a:spAutoFit/>
          </a:bodyPr>
          <a:lstStyle/>
          <a:p>
            <a:r>
              <a:rPr sz="1900" i="0" b="1">
                <a:solidFill>
                  <a:srgbClr val="FFFFFF"/>
                </a:solidFill>
                <a:latin typeface="Calibri"/>
              </a:rPr>
              <a:t>The levodopa dose needed for a therapeutic effect</a:t>
            </a:r>
          </a:p>
        </p:txBody>
      </p:sp>
      <p:sp>
        <p:nvSpPr>
          <p:cNvPr id="17" name="Rounded Rectangle 16"/>
          <p:cNvSpPr/>
          <p:nvPr/>
        </p:nvSpPr>
        <p:spPr>
          <a:xfrm>
            <a:off x="548640" y="3282696"/>
            <a:ext cx="11094415" cy="548640"/>
          </a:xfrm>
          <a:prstGeom prst="roundRect">
            <a:avLst>
              <a:gd name="adj" fmla="val 18000"/>
            </a:avLst>
          </a:prstGeom>
          <a:solidFill>
            <a:srgbClr val="F3F4F5">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9" name="TextBox 18"/>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Levodopa-induced dyskinesia</a:t>
            </a:r>
          </a:p>
        </p:txBody>
      </p:sp>
      <p:sp>
        <p:nvSpPr>
          <p:cNvPr id="20" name="Rounded Rectangle 19"/>
          <p:cNvSpPr/>
          <p:nvPr/>
        </p:nvSpPr>
        <p:spPr>
          <a:xfrm>
            <a:off x="548640" y="3959352"/>
            <a:ext cx="11094415" cy="548640"/>
          </a:xfrm>
          <a:prstGeom prst="roundRect">
            <a:avLst>
              <a:gd name="adj" fmla="val 18000"/>
            </a:avLst>
          </a:prstGeom>
          <a:solidFill>
            <a:srgbClr val="F3F4F5">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22" name="TextBox 21"/>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The time to onset in the brain</a:t>
            </a:r>
          </a:p>
        </p:txBody>
      </p:sp>
      <p:sp>
        <p:nvSpPr>
          <p:cNvPr id="23" name="Rounded Rectangle 22"/>
          <p:cNvSpPr/>
          <p:nvPr/>
        </p:nvSpPr>
        <p:spPr>
          <a:xfrm>
            <a:off x="548640" y="4636008"/>
            <a:ext cx="11094415" cy="548640"/>
          </a:xfrm>
          <a:prstGeom prst="roundRect">
            <a:avLst>
              <a:gd name="adj" fmla="val 18000"/>
            </a:avLst>
          </a:prstGeom>
          <a:solidFill>
            <a:srgbClr val="F3F4F5">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5" name="TextBox 24"/>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Brain dopamine synthesis</a:t>
            </a:r>
          </a:p>
        </p:txBody>
      </p:sp>
      <p:sp>
        <p:nvSpPr>
          <p:cNvPr id="26" name="TextBox 25"/>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26227"/>
                </a:solidFill>
                <a:latin typeface="Calibri"/>
              </a:rPr>
              <a:t>Why:  </a:t>
            </a:r>
            <a:r>
              <a:rPr sz="1500" i="0" b="0">
                <a:solidFill>
                  <a:srgbClr val="1A1F36"/>
                </a:solidFill>
                <a:latin typeface="Calibri"/>
              </a:rPr>
              <a:t>Carbidopa blocks peripheral AADC, so a lower levodopa dose works. B, C and D are not reduced.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E8EAF4"/>
        </a:solidFill>
        <a:effectLst/>
      </p:bgPr>
    </p:bg>
    <p:spTree>
      <p:nvGrpSpPr>
        <p:cNvPr id="1" name=""/>
        <p:cNvGrpSpPr/>
        <p:nvPr/>
      </p:nvGrpSpPr>
      <p:grpSpPr/>
      <p:pic>
        <p:nvPicPr>
          <p:cNvPr id="2" name="Picture 1" descr=""/>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1B2A8C"/>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03</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826227"/>
                </a:solidFill>
                <a:latin typeface="Calibri"/>
              </a:rPr>
              <a:t>SECTION 3  ·  QUESTION 3 OF 3</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1B2A8C"/>
                </a:solidFill>
                <a:latin typeface="Cambria"/>
              </a:rPr>
              <a:t>Your turn</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3  ·  Parkinson's Disease</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23 / 25</a:t>
            </a:r>
          </a:p>
        </p:txBody>
      </p:sp>
      <p:pic>
        <p:nvPicPr>
          <p:cNvPr id="10" name="Picture 9" descr="logo"/>
          <p:cNvPicPr>
            <a:picLocks noChangeAspect="1"/>
          </p:cNvPicPr>
          <p:nvPr/>
        </p:nvPicPr>
        <p:blipFill>
          <a:blip r:embed="rId4"/>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Which combination is an appropriate treatment plan?</a:t>
            </a:r>
          </a:p>
        </p:txBody>
      </p:sp>
      <p:sp>
        <p:nvSpPr>
          <p:cNvPr id="14" name="Rounded Rectangle 13"/>
          <p:cNvSpPr/>
          <p:nvPr/>
        </p:nvSpPr>
        <p:spPr>
          <a:xfrm>
            <a:off x="548640" y="2697480"/>
            <a:ext cx="11094415" cy="640080"/>
          </a:xfrm>
          <a:prstGeom prst="roundRect">
            <a:avLst>
              <a:gd name="adj" fmla="val 18000"/>
            </a:avLst>
          </a:prstGeom>
          <a:solidFill>
            <a:srgbClr val="F1F2F8">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6" name="TextBox 15"/>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Amantadine, carbidopa and entacapone</a:t>
            </a:r>
          </a:p>
        </p:txBody>
      </p:sp>
      <p:sp>
        <p:nvSpPr>
          <p:cNvPr id="17" name="Rounded Rectangle 16"/>
          <p:cNvSpPr/>
          <p:nvPr/>
        </p:nvSpPr>
        <p:spPr>
          <a:xfrm>
            <a:off x="548640" y="3465576"/>
            <a:ext cx="11094415" cy="640080"/>
          </a:xfrm>
          <a:prstGeom prst="roundRect">
            <a:avLst>
              <a:gd name="adj" fmla="val 18000"/>
            </a:avLst>
          </a:prstGeom>
          <a:solidFill>
            <a:srgbClr val="F1F2F8">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9" name="TextBox 18"/>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Ropinirole, carbidopa and selegiline</a:t>
            </a:r>
          </a:p>
        </p:txBody>
      </p:sp>
      <p:sp>
        <p:nvSpPr>
          <p:cNvPr id="20" name="Rounded Rectangle 19"/>
          <p:cNvSpPr/>
          <p:nvPr/>
        </p:nvSpPr>
        <p:spPr>
          <a:xfrm>
            <a:off x="548640" y="4233672"/>
            <a:ext cx="11094415" cy="640080"/>
          </a:xfrm>
          <a:prstGeom prst="roundRect">
            <a:avLst>
              <a:gd name="adj" fmla="val 18000"/>
            </a:avLst>
          </a:prstGeom>
          <a:solidFill>
            <a:srgbClr val="F1F2F8">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22" name="TextBox 21"/>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Levodopa, carbidopa and entacapone</a:t>
            </a:r>
          </a:p>
        </p:txBody>
      </p:sp>
      <p:sp>
        <p:nvSpPr>
          <p:cNvPr id="23" name="Rounded Rectangle 22"/>
          <p:cNvSpPr/>
          <p:nvPr/>
        </p:nvSpPr>
        <p:spPr>
          <a:xfrm>
            <a:off x="548640" y="5001768"/>
            <a:ext cx="11094415" cy="640080"/>
          </a:xfrm>
          <a:prstGeom prst="roundRect">
            <a:avLst>
              <a:gd name="adj" fmla="val 18000"/>
            </a:avLst>
          </a:prstGeom>
          <a:solidFill>
            <a:srgbClr val="F1F2F8">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5" name="TextBox 24"/>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Pramipexole, carbidopa and entacapone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E8EAF4"/>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411479" y="274320"/>
            <a:ext cx="11368735" cy="1097280"/>
          </a:xfrm>
          <a:prstGeom prst="roundRect">
            <a:avLst>
              <a:gd name="adj" fmla="val 14000"/>
            </a:avLst>
          </a:prstGeom>
          <a:solidFill>
            <a:srgbClr val="FFFFFF">
              <a:alpha val="70000"/>
            </a:srgbClr>
          </a:solidFill>
          <a:ln w="28575">
            <a:solidFill>
              <a:srgbClr val="1B2A8C"/>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19" y="338328"/>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493776"/>
            <a:ext cx="658368" cy="658368"/>
          </a:xfrm>
          <a:prstGeom prst="ellipse">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i="0" b="1">
                <a:solidFill>
                  <a:srgbClr val="FFFFFF"/>
                </a:solidFill>
                <a:latin typeface="Cambria"/>
              </a:rPr>
              <a:t>03</a:t>
            </a:r>
          </a:p>
        </p:txBody>
      </p:sp>
      <p:sp>
        <p:nvSpPr>
          <p:cNvPr id="6" name="TextBox 5"/>
          <p:cNvSpPr txBox="1"/>
          <p:nvPr/>
        </p:nvSpPr>
        <p:spPr>
          <a:xfrm>
            <a:off x="1554480" y="402336"/>
            <a:ext cx="9905695" cy="274320"/>
          </a:xfrm>
          <a:prstGeom prst="rect">
            <a:avLst/>
          </a:prstGeom>
          <a:noFill/>
        </p:spPr>
        <p:txBody>
          <a:bodyPr wrap="square" anchor="t" lIns="0" rIns="0" tIns="0" bIns="0">
            <a:spAutoFit/>
          </a:bodyPr>
          <a:lstStyle/>
          <a:p>
            <a:r>
              <a:rPr sz="1200" i="0" b="1" spc="150">
                <a:solidFill>
                  <a:srgbClr val="826227"/>
                </a:solidFill>
                <a:latin typeface="Calibri"/>
              </a:rPr>
              <a:t>SECTION 3  ·  QUESTION 3 OF 3  ·  ANSWER</a:t>
            </a:r>
          </a:p>
        </p:txBody>
      </p:sp>
      <p:sp>
        <p:nvSpPr>
          <p:cNvPr id="7" name="TextBox 6"/>
          <p:cNvSpPr txBox="1"/>
          <p:nvPr/>
        </p:nvSpPr>
        <p:spPr>
          <a:xfrm>
            <a:off x="1554480" y="658368"/>
            <a:ext cx="9905695" cy="640080"/>
          </a:xfrm>
          <a:prstGeom prst="rect">
            <a:avLst/>
          </a:prstGeom>
          <a:noFill/>
        </p:spPr>
        <p:txBody>
          <a:bodyPr wrap="square" anchor="ctr" lIns="0" rIns="0" tIns="0" bIns="0">
            <a:spAutoFit/>
          </a:bodyPr>
          <a:lstStyle/>
          <a:p>
            <a:r>
              <a:rPr sz="3000" i="0" b="1">
                <a:solidFill>
                  <a:srgbClr val="1B2A8C"/>
                </a:solidFill>
                <a:latin typeface="Cambria"/>
              </a:rPr>
              <a:t>Check your answer</a:t>
            </a:r>
          </a:p>
        </p:txBody>
      </p:sp>
      <p:sp>
        <p:nvSpPr>
          <p:cNvPr id="8" name="TextBox 7"/>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3  ·  Parkinson's Disease</a:t>
            </a:r>
          </a:p>
        </p:txBody>
      </p:sp>
      <p:sp>
        <p:nvSpPr>
          <p:cNvPr id="9" name="TextBox 8"/>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24 / 25</a:t>
            </a:r>
          </a:p>
        </p:txBody>
      </p:sp>
      <p:pic>
        <p:nvPicPr>
          <p:cNvPr id="10" name="Picture 9" descr="logo"/>
          <p:cNvPicPr>
            <a:picLocks noChangeAspect="1"/>
          </p:cNvPicPr>
          <p:nvPr/>
        </p:nvPicPr>
        <p:blipFill>
          <a:blip r:embed="rId3"/>
          <a:stretch>
            <a:fillRect/>
          </a:stretch>
        </p:blipFill>
        <p:spPr>
          <a:xfrm>
            <a:off x="11247120" y="6309360"/>
            <a:ext cx="384048" cy="384048"/>
          </a:xfrm>
          <a:prstGeom prst="rect">
            <a:avLst/>
          </a:prstGeom>
        </p:spPr>
      </p:pic>
      <p:sp>
        <p:nvSpPr>
          <p:cNvPr id="11" name="Rounded Rectangle 10"/>
          <p:cNvSpPr/>
          <p:nvPr/>
        </p:nvSpPr>
        <p:spPr>
          <a:xfrm>
            <a:off x="411479" y="1444752"/>
            <a:ext cx="11368735" cy="4800600"/>
          </a:xfrm>
          <a:prstGeom prst="roundRect">
            <a:avLst>
              <a:gd name="adj" fmla="val 4000"/>
            </a:avLst>
          </a:prstGeom>
          <a:solidFill>
            <a:srgbClr val="FFFFFF">
              <a:alpha val="84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19" y="1508760"/>
            <a:ext cx="10728655" cy="32004"/>
          </a:xfrm>
          <a:prstGeom prst="roundRect">
            <a:avLst>
              <a:gd name="adj" fmla="val 50000"/>
            </a:avLst>
          </a:prstGeom>
          <a:solidFill>
            <a:srgbClr val="FFFFFF">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Which combination is an appropriate treatment plan?</a:t>
            </a:r>
          </a:p>
        </p:txBody>
      </p:sp>
      <p:sp>
        <p:nvSpPr>
          <p:cNvPr id="14" name="Rounded Rectangle 13"/>
          <p:cNvSpPr/>
          <p:nvPr/>
        </p:nvSpPr>
        <p:spPr>
          <a:xfrm>
            <a:off x="548640" y="2606040"/>
            <a:ext cx="11094415" cy="548640"/>
          </a:xfrm>
          <a:prstGeom prst="roundRect">
            <a:avLst>
              <a:gd name="adj" fmla="val 18000"/>
            </a:avLst>
          </a:prstGeom>
          <a:solidFill>
            <a:srgbClr val="F3F4F5">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6" name="TextBox 15"/>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Amantadine, carbidopa and entacapone</a:t>
            </a:r>
          </a:p>
        </p:txBody>
      </p:sp>
      <p:sp>
        <p:nvSpPr>
          <p:cNvPr id="17" name="Rounded Rectangle 16"/>
          <p:cNvSpPr/>
          <p:nvPr/>
        </p:nvSpPr>
        <p:spPr>
          <a:xfrm>
            <a:off x="548640" y="3282696"/>
            <a:ext cx="11094415" cy="548640"/>
          </a:xfrm>
          <a:prstGeom prst="roundRect">
            <a:avLst>
              <a:gd name="adj" fmla="val 18000"/>
            </a:avLst>
          </a:prstGeom>
          <a:solidFill>
            <a:srgbClr val="F3F4F5">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9" name="TextBox 18"/>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Ropinirole, carbidopa and selegiline</a:t>
            </a:r>
          </a:p>
        </p:txBody>
      </p:sp>
      <p:sp>
        <p:nvSpPr>
          <p:cNvPr id="20" name="Rounded Rectangle 19"/>
          <p:cNvSpPr/>
          <p:nvPr/>
        </p:nvSpPr>
        <p:spPr>
          <a:xfrm>
            <a:off x="548640" y="3959352"/>
            <a:ext cx="11094415" cy="548640"/>
          </a:xfrm>
          <a:prstGeom prst="roundRect">
            <a:avLst>
              <a:gd name="adj" fmla="val 18000"/>
            </a:avLst>
          </a:prstGeom>
          <a:solidFill>
            <a:srgbClr val="8D6A2A"/>
          </a:solidFill>
          <a:ln>
            <a:noFill/>
          </a:ln>
          <a:effectLst>
            <a:outerShdw blurRad="203200" dist="50800" dir="5400000" algn="t" rotWithShape="0">
              <a:srgbClr val="1A2340">
                <a:alpha val="20000"/>
              </a:srgbClr>
            </a:outerShdw>
          </a:effectLst>
          <a:scene3d>
            <a:camera prst="orthographicFront"/>
            <a:lightRig rig="threePt" dir="t"/>
          </a:scene3d>
          <a:sp3d>
            <a:bevelT w="44450" h="254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3232" y="4023360"/>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C</a:t>
            </a:r>
          </a:p>
        </p:txBody>
      </p:sp>
      <p:sp>
        <p:nvSpPr>
          <p:cNvPr id="22" name="TextBox 21"/>
          <p:cNvSpPr txBox="1"/>
          <p:nvPr/>
        </p:nvSpPr>
        <p:spPr>
          <a:xfrm>
            <a:off x="1371600" y="3959352"/>
            <a:ext cx="10088575" cy="548640"/>
          </a:xfrm>
          <a:prstGeom prst="rect">
            <a:avLst/>
          </a:prstGeom>
          <a:noFill/>
        </p:spPr>
        <p:txBody>
          <a:bodyPr wrap="square" anchor="ctr" lIns="0" rIns="0" tIns="0" bIns="0">
            <a:spAutoFit/>
          </a:bodyPr>
          <a:lstStyle/>
          <a:p>
            <a:r>
              <a:rPr sz="1900" i="0" b="1">
                <a:solidFill>
                  <a:srgbClr val="FFFFFF"/>
                </a:solidFill>
                <a:latin typeface="Calibri"/>
              </a:rPr>
              <a:t>Levodopa, carbidopa and entacapone</a:t>
            </a:r>
          </a:p>
        </p:txBody>
      </p:sp>
      <p:sp>
        <p:nvSpPr>
          <p:cNvPr id="23" name="Rounded Rectangle 22"/>
          <p:cNvSpPr/>
          <p:nvPr/>
        </p:nvSpPr>
        <p:spPr>
          <a:xfrm>
            <a:off x="548640" y="4636008"/>
            <a:ext cx="11094415" cy="548640"/>
          </a:xfrm>
          <a:prstGeom prst="roundRect">
            <a:avLst>
              <a:gd name="adj" fmla="val 18000"/>
            </a:avLst>
          </a:prstGeom>
          <a:solidFill>
            <a:srgbClr val="F3F4F5">
              <a:alpha val="80000"/>
            </a:srgbClr>
          </a:solidFill>
          <a:ln w="19050">
            <a:solidFill>
              <a:srgbClr val="FFFFFF"/>
            </a:solidFill>
          </a:ln>
          <a:effectLst>
            <a:outerShdw blurRad="203200" dist="50800" dir="5400000" algn="t" rotWithShape="0">
              <a:srgbClr val="1A234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5" name="TextBox 24"/>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Pramipexole, carbidopa and entacapone</a:t>
            </a:r>
          </a:p>
        </p:txBody>
      </p:sp>
      <p:sp>
        <p:nvSpPr>
          <p:cNvPr id="26" name="TextBox 25"/>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26227"/>
                </a:solidFill>
                <a:latin typeface="Calibri"/>
              </a:rPr>
              <a:t>Why:  </a:t>
            </a:r>
            <a:r>
              <a:rPr sz="1500" i="0" b="0">
                <a:solidFill>
                  <a:srgbClr val="1A1F36"/>
                </a:solidFill>
                <a:latin typeface="Calibri"/>
              </a:rPr>
              <a:t>Carbidopa and entacapone both act on levodopa metabolism. A, B and D add carbidopa or entacapone without levodopa, where they do nothing.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B2A8C"/>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502920"/>
            <a:ext cx="7315200" cy="365760"/>
          </a:xfrm>
          <a:prstGeom prst="rect">
            <a:avLst/>
          </a:prstGeom>
          <a:noFill/>
        </p:spPr>
        <p:txBody>
          <a:bodyPr wrap="square" anchor="t" lIns="0" rIns="0" tIns="0" bIns="0">
            <a:spAutoFit/>
          </a:bodyPr>
          <a:lstStyle/>
          <a:p>
            <a:r>
              <a:rPr sz="1300" i="0" b="1" spc="200">
                <a:solidFill>
                  <a:srgbClr val="DFE1EF"/>
                </a:solidFill>
                <a:latin typeface="Calibri"/>
              </a:rPr>
              <a:t>SECTION 3  ·  SUMMARY</a:t>
            </a:r>
          </a:p>
        </p:txBody>
      </p:sp>
      <p:sp>
        <p:nvSpPr>
          <p:cNvPr id="4" name="TextBox 3"/>
          <p:cNvSpPr txBox="1"/>
          <p:nvPr/>
        </p:nvSpPr>
        <p:spPr>
          <a:xfrm>
            <a:off x="548640" y="822960"/>
            <a:ext cx="9144000" cy="731520"/>
          </a:xfrm>
          <a:prstGeom prst="rect">
            <a:avLst/>
          </a:prstGeom>
          <a:noFill/>
        </p:spPr>
        <p:txBody>
          <a:bodyPr wrap="square" anchor="t" lIns="0" rIns="0" tIns="0" bIns="0">
            <a:spAutoFit/>
          </a:bodyPr>
          <a:lstStyle/>
          <a:p>
            <a:r>
              <a:rPr sz="3600" i="0" b="1">
                <a:solidFill>
                  <a:srgbClr val="FFFFFF"/>
                </a:solidFill>
                <a:latin typeface="Cambria"/>
              </a:rPr>
              <a:t>Key Takeaways</a:t>
            </a:r>
          </a:p>
        </p:txBody>
      </p:sp>
      <p:sp>
        <p:nvSpPr>
          <p:cNvPr id="5" name="Oval 4"/>
          <p:cNvSpPr/>
          <p:nvPr/>
        </p:nvSpPr>
        <p:spPr>
          <a:xfrm>
            <a:off x="548640" y="1847088"/>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1</a:t>
            </a:r>
          </a:p>
        </p:txBody>
      </p:sp>
      <p:sp>
        <p:nvSpPr>
          <p:cNvPr id="6" name="TextBox 5"/>
          <p:cNvSpPr txBox="1"/>
          <p:nvPr/>
        </p:nvSpPr>
        <p:spPr>
          <a:xfrm>
            <a:off x="1143000" y="1865376"/>
            <a:ext cx="10500055" cy="866986"/>
          </a:xfrm>
          <a:prstGeom prst="rect">
            <a:avLst/>
          </a:prstGeom>
          <a:noFill/>
        </p:spPr>
        <p:txBody>
          <a:bodyPr wrap="square" anchor="t" lIns="0" rIns="0" tIns="0" bIns="0">
            <a:spAutoFit/>
          </a:bodyPr>
          <a:lstStyle/>
          <a:p>
            <a:r>
              <a:rPr sz="2000" i="0" b="0">
                <a:solidFill>
                  <a:srgbClr val="FFFFFF"/>
                </a:solidFill>
                <a:latin typeface="Calibri"/>
              </a:rPr>
              <a:t>Parkinson's disease is a loss of nigrostriatal dopamine, leaving acetylcholine dominant.</a:t>
            </a:r>
          </a:p>
        </p:txBody>
      </p:sp>
      <p:sp>
        <p:nvSpPr>
          <p:cNvPr id="7" name="Oval 6"/>
          <p:cNvSpPr/>
          <p:nvPr/>
        </p:nvSpPr>
        <p:spPr>
          <a:xfrm>
            <a:off x="548640" y="2759794"/>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2</a:t>
            </a:r>
          </a:p>
        </p:txBody>
      </p:sp>
      <p:sp>
        <p:nvSpPr>
          <p:cNvPr id="8" name="TextBox 7"/>
          <p:cNvSpPr txBox="1"/>
          <p:nvPr/>
        </p:nvSpPr>
        <p:spPr>
          <a:xfrm>
            <a:off x="1143000" y="2778082"/>
            <a:ext cx="10500055" cy="549486"/>
          </a:xfrm>
          <a:prstGeom prst="rect">
            <a:avLst/>
          </a:prstGeom>
          <a:noFill/>
        </p:spPr>
        <p:txBody>
          <a:bodyPr wrap="square" anchor="t" lIns="0" rIns="0" tIns="0" bIns="0">
            <a:spAutoFit/>
          </a:bodyPr>
          <a:lstStyle/>
          <a:p>
            <a:r>
              <a:rPr sz="2000" i="0" b="0">
                <a:solidFill>
                  <a:srgbClr val="FFFFFF"/>
                </a:solidFill>
                <a:latin typeface="Calibri"/>
              </a:rPr>
              <a:t>Levodopa is the most effective drug; carbidopa stops its peripheral conversion.</a:t>
            </a:r>
          </a:p>
        </p:txBody>
      </p:sp>
      <p:sp>
        <p:nvSpPr>
          <p:cNvPr id="9" name="Oval 8"/>
          <p:cNvSpPr/>
          <p:nvPr/>
        </p:nvSpPr>
        <p:spPr>
          <a:xfrm>
            <a:off x="548640" y="3355001"/>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3</a:t>
            </a:r>
          </a:p>
        </p:txBody>
      </p:sp>
      <p:sp>
        <p:nvSpPr>
          <p:cNvPr id="10" name="TextBox 9"/>
          <p:cNvSpPr txBox="1"/>
          <p:nvPr/>
        </p:nvSpPr>
        <p:spPr>
          <a:xfrm>
            <a:off x="1143000" y="3373289"/>
            <a:ext cx="10500055" cy="549486"/>
          </a:xfrm>
          <a:prstGeom prst="rect">
            <a:avLst/>
          </a:prstGeom>
          <a:noFill/>
        </p:spPr>
        <p:txBody>
          <a:bodyPr wrap="square" anchor="t" lIns="0" rIns="0" tIns="0" bIns="0">
            <a:spAutoFit/>
          </a:bodyPr>
          <a:lstStyle/>
          <a:p>
            <a:r>
              <a:rPr sz="2000" i="0" b="0">
                <a:solidFill>
                  <a:srgbClr val="FFFFFF"/>
                </a:solidFill>
                <a:latin typeface="Calibri"/>
              </a:rPr>
              <a:t>COMT and MAO-B inhibitors prolong levodopa's effect.</a:t>
            </a:r>
          </a:p>
        </p:txBody>
      </p:sp>
      <p:sp>
        <p:nvSpPr>
          <p:cNvPr id="11" name="Oval 10"/>
          <p:cNvSpPr/>
          <p:nvPr/>
        </p:nvSpPr>
        <p:spPr>
          <a:xfrm>
            <a:off x="548640" y="3950207"/>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4</a:t>
            </a:r>
          </a:p>
        </p:txBody>
      </p:sp>
      <p:sp>
        <p:nvSpPr>
          <p:cNvPr id="12" name="TextBox 11"/>
          <p:cNvSpPr txBox="1"/>
          <p:nvPr/>
        </p:nvSpPr>
        <p:spPr>
          <a:xfrm>
            <a:off x="1143000" y="3968496"/>
            <a:ext cx="10500055" cy="866986"/>
          </a:xfrm>
          <a:prstGeom prst="rect">
            <a:avLst/>
          </a:prstGeom>
          <a:noFill/>
        </p:spPr>
        <p:txBody>
          <a:bodyPr wrap="square" anchor="t" lIns="0" rIns="0" tIns="0" bIns="0">
            <a:spAutoFit/>
          </a:bodyPr>
          <a:lstStyle/>
          <a:p>
            <a:r>
              <a:rPr sz="2000" i="0" b="0">
                <a:solidFill>
                  <a:srgbClr val="FFFFFF"/>
                </a:solidFill>
                <a:latin typeface="Calibri"/>
              </a:rPr>
              <a:t>Non-ergot dopamine agonists are first-choice agonists; watch for impulse-control disorders and sleep attacks.</a:t>
            </a:r>
          </a:p>
        </p:txBody>
      </p:sp>
      <p:sp>
        <p:nvSpPr>
          <p:cNvPr id="13" name="Oval 12"/>
          <p:cNvSpPr/>
          <p:nvPr/>
        </p:nvSpPr>
        <p:spPr>
          <a:xfrm>
            <a:off x="548640" y="4862914"/>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5</a:t>
            </a:r>
          </a:p>
        </p:txBody>
      </p:sp>
      <p:sp>
        <p:nvSpPr>
          <p:cNvPr id="14" name="TextBox 13"/>
          <p:cNvSpPr txBox="1"/>
          <p:nvPr/>
        </p:nvSpPr>
        <p:spPr>
          <a:xfrm>
            <a:off x="1143000" y="4881202"/>
            <a:ext cx="10500055" cy="549486"/>
          </a:xfrm>
          <a:prstGeom prst="rect">
            <a:avLst/>
          </a:prstGeom>
          <a:noFill/>
        </p:spPr>
        <p:txBody>
          <a:bodyPr wrap="square" anchor="t" lIns="0" rIns="0" tIns="0" bIns="0">
            <a:spAutoFit/>
          </a:bodyPr>
          <a:lstStyle/>
          <a:p>
            <a:r>
              <a:rPr sz="2000" i="0" b="0">
                <a:solidFill>
                  <a:srgbClr val="FFFFFF"/>
                </a:solidFill>
                <a:latin typeface="Calibri"/>
              </a:rPr>
              <a:t>Use domperidone for nausea; avoid antipsychotics and metoclopramide.</a:t>
            </a:r>
          </a:p>
        </p:txBody>
      </p:sp>
      <p:sp>
        <p:nvSpPr>
          <p:cNvPr id="15" name="Oval 14"/>
          <p:cNvSpPr/>
          <p:nvPr/>
        </p:nvSpPr>
        <p:spPr>
          <a:xfrm>
            <a:off x="548640" y="5458121"/>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6</a:t>
            </a:r>
          </a:p>
        </p:txBody>
      </p:sp>
      <p:sp>
        <p:nvSpPr>
          <p:cNvPr id="16" name="TextBox 15"/>
          <p:cNvSpPr txBox="1"/>
          <p:nvPr/>
        </p:nvSpPr>
        <p:spPr>
          <a:xfrm>
            <a:off x="1143000" y="5476409"/>
            <a:ext cx="10500055" cy="549486"/>
          </a:xfrm>
          <a:prstGeom prst="rect">
            <a:avLst/>
          </a:prstGeom>
          <a:noFill/>
        </p:spPr>
        <p:txBody>
          <a:bodyPr wrap="square" anchor="t" lIns="0" rIns="0" tIns="0" bIns="0">
            <a:spAutoFit/>
          </a:bodyPr>
          <a:lstStyle/>
          <a:p>
            <a:r>
              <a:rPr sz="2000" i="0" b="0">
                <a:solidFill>
                  <a:srgbClr val="FFFFFF"/>
                </a:solidFill>
                <a:latin typeface="Calibri"/>
              </a:rPr>
              <a:t>Anticholinergics help tremor but cause confusion; avoid in older people.</a:t>
            </a:r>
          </a:p>
        </p:txBody>
      </p:sp>
      <p:pic>
        <p:nvPicPr>
          <p:cNvPr id="17" name="Picture 16" descr="port-said-university.png"/>
          <p:cNvPicPr>
            <a:picLocks noChangeAspect="1"/>
          </p:cNvPicPr>
          <p:nvPr/>
        </p:nvPicPr>
        <p:blipFill>
          <a:blip r:embed="rId3"/>
          <a:stretch>
            <a:fillRect/>
          </a:stretch>
        </p:blipFill>
        <p:spPr>
          <a:xfrm>
            <a:off x="10378440" y="6144768"/>
            <a:ext cx="548640" cy="548640"/>
          </a:xfrm>
          <a:prstGeom prst="rect">
            <a:avLst/>
          </a:prstGeom>
        </p:spPr>
      </p:pic>
      <p:pic>
        <p:nvPicPr>
          <p:cNvPr id="18" name="Picture 17" descr="faculty-of-pharmacy.png"/>
          <p:cNvPicPr>
            <a:picLocks noChangeAspect="1"/>
          </p:cNvPicPr>
          <p:nvPr/>
        </p:nvPicPr>
        <p:blipFill>
          <a:blip r:embed="rId4"/>
          <a:stretch>
            <a:fillRect/>
          </a:stretch>
        </p:blipFill>
        <p:spPr>
          <a:xfrm>
            <a:off x="11036808" y="6144768"/>
            <a:ext cx="548640" cy="548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