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is made from tyrosine: tyrosine → L-dopa → dopamine. The enzyme that makes dopamine from L-dopa is aromatic L-amino acid decarboxylase (AADC, dopa decarboxylase). Dopamine is broken down by MAO-B in the brain and by COMT. Dopamine itself does not cross the blood-brain barrier; L-dopa does, using an amino-acid transporter. In the striatum, dopamine and acetylcholine balance each other to control movement.</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 Motor features: Non-motor features: depression, anxiety, sleep disturbance, constipation, loss of smell, postural hypotension and, later, dementia and psychosis. Treatment aims to raise dopamine activity or lower acetylcholine activity. It improves symptoms but does not stop the disease.</a:t>
            </a:r>
          </a:p>
          <a:p/>
          <a:p>
            <a:r>
              <a:t>Time: 2:00  (at 4:30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6:30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8:30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10:30 of 40:00).  Next: Motor fluctuations.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12:30 of 40:00).  Next: Adverse effects of levodopa.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2:30  (at 15:00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1:30  (at 16:30 of 40:00).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18:30 of 40:00).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Time: 2:00  (at 20:30 of 40:00).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Time: 1:30  (at 22:00 of 40:00).  Next: MAO-B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selegiline, rasagiline and safinamide. Mechanism: selective inhibition of MAO-B, the main enzyme that breaks down dopamine in the striatum. Brain dopamine rises. Use: alone in early disease (mild benefit) or added to levodopa to reduce wearing-off. Safety: at normal doses they do not cause the "cheese reaction", because MAO-A in the gut still breaks down tyramine. Selectivity is lost at high doses. Combining them with pethidine, tramadol or serotonergic antidepressants can cause serotonin syndrome.</a:t>
            </a:r>
          </a:p>
          <a:p/>
          <a:p>
            <a:r>
              <a:t>Time: 2:00  (at 24:00 of 40:00).  Next: Amantadine and Anticholinergics.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Amantadine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 Anticholinergics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a:p/>
          <a:p>
            <a:r>
              <a:t>Time: 2:30  (at 26:30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Dopamine neurons of the substantia nigra die. A is Alzheimer's disease. C and D are not the cause.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Carbidopa blocks peripheral AADC, so a lower levodopa dose works. B, C and D are not reduced.</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Carbidopa and entacapone both act on levodopa metabolism. A, B and D add carbidopa or entacapone without levodopa, where they do nothing.</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03</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3</a:t>
            </a:r>
          </a:p>
          <a:p>
            <a:pPr>
              <a:spcBef>
                <a:spcPts val="1400"/>
              </a:spcBef>
            </a:pPr>
            <a:r>
              <a:rPr sz="4400" i="0" b="1">
                <a:solidFill>
                  <a:srgbClr val="FFFFFF"/>
                </a:solidFill>
                <a:latin typeface="Cambria"/>
              </a:rPr>
              <a:t>Parkinson's Disease</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Explain the dopamine–acetylcholine imbalance of Parkinson's disease.</a:t>
            </a:r>
          </a:p>
        </p:txBody>
      </p:sp>
      <p:sp>
        <p:nvSpPr>
          <p:cNvPr id="13" name="Oval 12"/>
          <p:cNvSpPr/>
          <p:nvPr/>
        </p:nvSpPr>
        <p:spPr>
          <a:xfrm>
            <a:off x="548640"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Describe how carbidopa, COMT inhibitors and MAO-B inhibitors improve levodopa therapy.</a:t>
            </a:r>
          </a:p>
        </p:txBody>
      </p:sp>
      <p:sp>
        <p:nvSpPr>
          <p:cNvPr id="15" name="Oval 14"/>
          <p:cNvSpPr/>
          <p:nvPr/>
        </p:nvSpPr>
        <p:spPr>
          <a:xfrm>
            <a:off x="548640"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levodopa, dopamine agonists, MAO-B inhibitors, amantadine and anticholinergics.</a:t>
            </a:r>
          </a:p>
        </p:txBody>
      </p:sp>
      <p:sp>
        <p:nvSpPr>
          <p:cNvPr id="17" name="Oval 16"/>
          <p:cNvSpPr/>
          <p:nvPr/>
        </p:nvSpPr>
        <p:spPr>
          <a:xfrm>
            <a:off x="548640"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Identify key adverse effects and interactions of antiparkinsonian drugs.</a:t>
            </a:r>
          </a:p>
        </p:txBody>
      </p:sp>
      <p:sp>
        <p:nvSpPr>
          <p:cNvPr id="19" name="Oval 18"/>
          <p:cNvSpPr/>
          <p:nvPr/>
        </p:nvSpPr>
        <p:spPr>
          <a:xfrm>
            <a:off x="548640" y="5533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Choose a treatment plan for a patient.</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3" name="Oval 12"/>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Levodopa</a:t>
            </a:r>
          </a:p>
        </p:txBody>
      </p:sp>
      <p:sp>
        <p:nvSpPr>
          <p:cNvPr id="15" name="Oval 14"/>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Dopamine Agonists</a:t>
            </a:r>
          </a:p>
        </p:txBody>
      </p:sp>
      <p:sp>
        <p:nvSpPr>
          <p:cNvPr id="17" name="Oval 16"/>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MAO-B Inhibitors</a:t>
            </a:r>
          </a:p>
        </p:txBody>
      </p:sp>
      <p:sp>
        <p:nvSpPr>
          <p:cNvPr id="19" name="Oval 18"/>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Amantadine and Anticholinergics</a:t>
            </a:r>
          </a:p>
        </p:txBody>
      </p:sp>
      <p:sp>
        <p:nvSpPr>
          <p:cNvPr id="21" name="Oval 20"/>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3" name="Oval 22"/>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5" name="Oval 24"/>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Resting tremor ("pill-rolling").</a:t>
            </a:r>
          </a:p>
        </p:txBody>
      </p:sp>
      <p:sp>
        <p:nvSpPr>
          <p:cNvPr id="13" name="Oval 12"/>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Rigidity ("cogwheel").</a:t>
            </a:r>
          </a:p>
        </p:txBody>
      </p:sp>
      <p:sp>
        <p:nvSpPr>
          <p:cNvPr id="15" name="Oval 14"/>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Bradykinesia: slow movement, small shuffling steps, reduced facial expression.</a:t>
            </a:r>
          </a:p>
        </p:txBody>
      </p:sp>
      <p:sp>
        <p:nvSpPr>
          <p:cNvPr id="17" name="Oval 16"/>
          <p:cNvSpPr/>
          <p:nvPr/>
        </p:nvSpPr>
        <p:spPr>
          <a:xfrm>
            <a:off x="548640" y="41365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154805"/>
            <a:ext cx="10500055" cy="808863"/>
          </a:xfrm>
          <a:prstGeom prst="rect">
            <a:avLst/>
          </a:prstGeom>
          <a:noFill/>
        </p:spPr>
        <p:txBody>
          <a:bodyPr wrap="square" anchor="t" lIns="0" rIns="0" tIns="0" bIns="0">
            <a:spAutoFit/>
          </a:bodyPr>
          <a:lstStyle/>
          <a:p>
            <a:r>
              <a:rPr sz="2100" i="0" b="0">
                <a:solidFill>
                  <a:srgbClr val="1A1F36"/>
                </a:solidFill>
                <a:latin typeface="Calibri"/>
              </a:rPr>
              <a:t>Postural instability in later disease.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Levodopa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Levodopa (L-dopa) is the most effective drug for Parkinson's disease. It is a precursor of dopamine.</a:t>
            </a:r>
          </a:p>
          <a:p>
            <a:pPr>
              <a:spcAft>
                <a:spcPts val="800"/>
              </a:spcAft>
            </a:pPr>
            <a:r>
              <a:rPr sz="1800" i="0" b="1">
                <a:solidFill>
                  <a:srgbClr val="1A1F36"/>
                </a:solidFill>
                <a:latin typeface="Calibri"/>
              </a:rPr>
              <a:t>Kinetics.</a:t>
            </a:r>
          </a:p>
        </p:txBody>
      </p:sp>
      <p:sp>
        <p:nvSpPr>
          <p:cNvPr id="12" name="Oval 11"/>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976372"/>
            <a:ext cx="10500055" cy="1031747"/>
          </a:xfrm>
          <a:prstGeom prst="rect">
            <a:avLst/>
          </a:prstGeom>
          <a:noFill/>
        </p:spPr>
        <p:txBody>
          <a:bodyPr wrap="square" anchor="t" lIns="0" rIns="0" tIns="0" bIns="0">
            <a:spAutoFit/>
          </a:bodyPr>
          <a:lstStyle/>
          <a:p>
            <a:r>
              <a:rPr sz="2100" i="0" b="0">
                <a:solidFill>
                  <a:srgbClr val="1A1F36"/>
                </a:solidFill>
                <a:latin typeface="Calibri"/>
              </a:rPr>
              <a:t>Absorbed from the small intestine by an amino-acid transporter. Protein-rich meals compete with it and reduce absorption and brain entry.</a:t>
            </a:r>
          </a:p>
        </p:txBody>
      </p:sp>
      <p:sp>
        <p:nvSpPr>
          <p:cNvPr id="14" name="Oval 13"/>
          <p:cNvSpPr/>
          <p:nvPr/>
        </p:nvSpPr>
        <p:spPr>
          <a:xfrm>
            <a:off x="548640" y="40355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4053839"/>
            <a:ext cx="10500055" cy="698372"/>
          </a:xfrm>
          <a:prstGeom prst="rect">
            <a:avLst/>
          </a:prstGeom>
          <a:noFill/>
        </p:spPr>
        <p:txBody>
          <a:bodyPr wrap="square" anchor="t" lIns="0" rIns="0" tIns="0" bIns="0">
            <a:spAutoFit/>
          </a:bodyPr>
          <a:lstStyle/>
          <a:p>
            <a:r>
              <a:rPr sz="2100" i="0" b="0">
                <a:solidFill>
                  <a:srgbClr val="1A1F36"/>
                </a:solidFill>
                <a:latin typeface="Calibri"/>
              </a:rPr>
              <a:t>Short half-life (1 to 2 hours).</a:t>
            </a:r>
          </a:p>
        </p:txBody>
      </p:sp>
      <p:sp>
        <p:nvSpPr>
          <p:cNvPr id="16" name="Oval 15"/>
          <p:cNvSpPr/>
          <p:nvPr/>
        </p:nvSpPr>
        <p:spPr>
          <a:xfrm>
            <a:off x="548640" y="4779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797932"/>
            <a:ext cx="10500055" cy="1365123"/>
          </a:xfrm>
          <a:prstGeom prst="rect">
            <a:avLst/>
          </a:prstGeom>
          <a:noFill/>
        </p:spPr>
        <p:txBody>
          <a:bodyPr wrap="square" anchor="t" lIns="0" rIns="0" tIns="0" bIns="0">
            <a:spAutoFit/>
          </a:bodyPr>
          <a:lstStyle/>
          <a:p>
            <a:r>
              <a:rPr sz="2100" i="0" b="0">
                <a:solidFill>
                  <a:srgbClr val="1A1F36"/>
                </a:solidFill>
                <a:latin typeface="Calibri"/>
              </a:rPr>
              <a:t>Given alone, most of a dose is converted to dopamine </a:t>
            </a:r>
            <a:r>
              <a:rPr sz="2100" i="0" b="1">
                <a:solidFill>
                  <a:srgbClr val="1A1F36"/>
                </a:solidFill>
                <a:latin typeface="Calibri"/>
              </a:rPr>
              <a:t>outside</a:t>
            </a:r>
            <a:r>
              <a:rPr sz="2100" i="0" b="0">
                <a:solidFill>
                  <a:srgbClr val="1A1F36"/>
                </a:solidFill>
                <a:latin typeface="Calibri"/>
              </a:rPr>
              <a:t> the brain by peripheral AADC. Only about 1 to 5% reaches the brain. Peripheral dopamine causes nausea, vomiting, hypotension and arrhythmia.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Levodopa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Carbidopa</a:t>
            </a:r>
            <a:r>
              <a:rPr sz="1800" i="0" b="0">
                <a:solidFill>
                  <a:srgbClr val="1A1F36"/>
                </a:solidFill>
                <a:latin typeface="Calibri"/>
              </a:rPr>
              <a:t> (or benserazide) is a peripheral AADC inhibitor. It does not cross the blood-brain barrier. It is always given with levodopa. Carbidopa:</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1142237"/>
          </a:xfrm>
          <a:prstGeom prst="rect">
            <a:avLst/>
          </a:prstGeom>
          <a:noFill/>
        </p:spPr>
        <p:txBody>
          <a:bodyPr wrap="square" anchor="t" lIns="0" rIns="0" tIns="0" bIns="0">
            <a:spAutoFit/>
          </a:bodyPr>
          <a:lstStyle/>
          <a:p>
            <a:r>
              <a:rPr sz="2100" i="0" b="0">
                <a:solidFill>
                  <a:srgbClr val="1A1F36"/>
                </a:solidFill>
                <a:latin typeface="Calibri"/>
              </a:rPr>
              <a:t>Raises the share of levodopa reaching the brain (to about 10%) and lowers the dose needed by about 75%.</a:t>
            </a:r>
          </a:p>
        </p:txBody>
      </p:sp>
      <p:sp>
        <p:nvSpPr>
          <p:cNvPr id="14" name="Oval 13"/>
          <p:cNvSpPr/>
          <p:nvPr/>
        </p:nvSpPr>
        <p:spPr>
          <a:xfrm>
            <a:off x="548640" y="37391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757421"/>
            <a:ext cx="10500055" cy="808863"/>
          </a:xfrm>
          <a:prstGeom prst="rect">
            <a:avLst/>
          </a:prstGeom>
          <a:noFill/>
        </p:spPr>
        <p:txBody>
          <a:bodyPr wrap="square" anchor="t" lIns="0" rIns="0" tIns="0" bIns="0">
            <a:spAutoFit/>
          </a:bodyPr>
          <a:lstStyle/>
          <a:p>
            <a:r>
              <a:rPr sz="2100" i="0" b="0">
                <a:solidFill>
                  <a:srgbClr val="1A1F36"/>
                </a:solidFill>
                <a:latin typeface="Calibri"/>
              </a:rPr>
              <a:t>Reduces peripheral adverse effects.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Levodopa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COMT inhibitors</a:t>
            </a:r>
            <a:r>
              <a:rPr sz="1700" i="0" b="0">
                <a:solidFill>
                  <a:srgbClr val="1A1F36"/>
                </a:solidFill>
                <a:latin typeface="Calibri"/>
              </a:rPr>
              <a:t> (entacapone; opicapone; tolcapone) block the other peripheral breakdown route. Levodopa then lasts longer, and "wearing-off" is reduced. Tolcapone is rarely used because it can damage the liver.</a:t>
            </a:r>
          </a:p>
          <a:p>
            <a:pPr>
              <a:spcAft>
                <a:spcPts val="800"/>
              </a:spcAft>
            </a:pPr>
            <a:r>
              <a:rPr sz="1700" i="0" b="1">
                <a:solidFill>
                  <a:srgbClr val="1A1F36"/>
                </a:solidFill>
                <a:latin typeface="Calibri"/>
              </a:rPr>
              <a:t>MAO-B inhibitors</a:t>
            </a:r>
            <a:r>
              <a:rPr sz="1700" i="0" b="0">
                <a:solidFill>
                  <a:srgbClr val="1A1F36"/>
                </a:solidFill>
                <a:latin typeface="Calibri"/>
              </a:rPr>
              <a:t> (selegiline, rasagiline, safinamide) block dopamine breakdown in the brain.</a:t>
            </a:r>
          </a:p>
        </p:txBody>
      </p:sp>
      <p:pic>
        <p:nvPicPr>
          <p:cNvPr id="12" name="Picture 11" descr="In the periphery, levodopa is converted by AADC to dopamine (blocked by carbidopa) and by COMT to 3-O-methyldopa (blocked by entacapone). Levodopa crosses the blood-brain barrier and brain AADC makes dopamine, which MAO-B breaks down; selegiline and rasagiline block this."/>
          <p:cNvPicPr>
            <a:picLocks noChangeAspect="1"/>
          </p:cNvPicPr>
          <p:nvPr/>
        </p:nvPicPr>
        <p:blipFill>
          <a:blip r:embed="rId5"/>
          <a:stretch>
            <a:fillRect/>
          </a:stretch>
        </p:blipFill>
        <p:spPr>
          <a:xfrm>
            <a:off x="5394959" y="1554480"/>
            <a:ext cx="6248095" cy="2984278"/>
          </a:xfrm>
          <a:prstGeom prst="rect">
            <a:avLst/>
          </a:prstGeom>
        </p:spPr>
      </p:pic>
      <p:sp>
        <p:nvSpPr>
          <p:cNvPr id="13" name="TextBox 12"/>
          <p:cNvSpPr txBox="1"/>
          <p:nvPr/>
        </p:nvSpPr>
        <p:spPr>
          <a:xfrm>
            <a:off x="5394959" y="4630197"/>
            <a:ext cx="6248095" cy="538988"/>
          </a:xfrm>
          <a:prstGeom prst="rect">
            <a:avLst/>
          </a:prstGeom>
          <a:noFill/>
        </p:spPr>
        <p:txBody>
          <a:bodyPr wrap="square" anchor="t" lIns="0" rIns="0" tIns="0" bIns="0">
            <a:spAutoFit/>
          </a:bodyPr>
          <a:lstStyle/>
          <a:p>
            <a:pPr algn="ctr"/>
            <a:r>
              <a:rPr sz="1300" i="1" b="0">
                <a:solidFill>
                  <a:srgbClr val="5A6072"/>
                </a:solidFill>
                <a:latin typeface="Calibri"/>
              </a:rPr>
              <a:t>Levodopa from gut to brain, with the sites of carbidopa, entacapone and MAO-B inhibitors.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Motor fluctuations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After some years of levodopa, most patients develop fluctuations:</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808863"/>
          </a:xfrm>
          <a:prstGeom prst="rect">
            <a:avLst/>
          </a:prstGeom>
          <a:noFill/>
        </p:spPr>
        <p:txBody>
          <a:bodyPr wrap="square" anchor="t" lIns="0" rIns="0" tIns="0" bIns="0">
            <a:spAutoFit/>
          </a:bodyPr>
          <a:lstStyle/>
          <a:p>
            <a:r>
              <a:rPr sz="2100" i="0" b="1">
                <a:solidFill>
                  <a:srgbClr val="1A1F36"/>
                </a:solidFill>
                <a:latin typeface="Calibri"/>
              </a:rPr>
              <a:t>Wearing-off:</a:t>
            </a:r>
            <a:r>
              <a:rPr sz="2100" i="0" b="0">
                <a:solidFill>
                  <a:srgbClr val="1A1F36"/>
                </a:solidFill>
                <a:latin typeface="Calibri"/>
              </a:rPr>
              <a:t> symptoms return before the next dose.</a:t>
            </a:r>
          </a:p>
        </p:txBody>
      </p:sp>
      <p:sp>
        <p:nvSpPr>
          <p:cNvPr id="14" name="Oval 13"/>
          <p:cNvSpPr/>
          <p:nvPr/>
        </p:nvSpPr>
        <p:spPr>
          <a:xfrm>
            <a:off x="548640" y="31085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126867"/>
            <a:ext cx="10500055" cy="1142237"/>
          </a:xfrm>
          <a:prstGeom prst="rect">
            <a:avLst/>
          </a:prstGeom>
          <a:noFill/>
        </p:spPr>
        <p:txBody>
          <a:bodyPr wrap="square" anchor="t" lIns="0" rIns="0" tIns="0" bIns="0">
            <a:spAutoFit/>
          </a:bodyPr>
          <a:lstStyle/>
          <a:p>
            <a:r>
              <a:rPr sz="2100" i="0" b="1">
                <a:solidFill>
                  <a:srgbClr val="1A1F36"/>
                </a:solidFill>
                <a:latin typeface="Calibri"/>
              </a:rPr>
              <a:t>On–off phenomenon:</a:t>
            </a:r>
            <a:r>
              <a:rPr sz="2100" i="0" b="0">
                <a:solidFill>
                  <a:srgbClr val="1A1F36"/>
                </a:solidFill>
                <a:latin typeface="Calibri"/>
              </a:rPr>
              <a:t> sudden swings between mobility ("on") and immobility ("off").</a:t>
            </a:r>
          </a:p>
        </p:txBody>
      </p:sp>
      <p:sp>
        <p:nvSpPr>
          <p:cNvPr id="16" name="Oval 15"/>
          <p:cNvSpPr/>
          <p:nvPr/>
        </p:nvSpPr>
        <p:spPr>
          <a:xfrm>
            <a:off x="548640" y="429653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314825"/>
            <a:ext cx="10500055" cy="808863"/>
          </a:xfrm>
          <a:prstGeom prst="rect">
            <a:avLst/>
          </a:prstGeom>
          <a:noFill/>
        </p:spPr>
        <p:txBody>
          <a:bodyPr wrap="square" anchor="t" lIns="0" rIns="0" tIns="0" bIns="0">
            <a:spAutoFit/>
          </a:bodyPr>
          <a:lstStyle/>
          <a:p>
            <a:r>
              <a:rPr sz="2100" i="0" b="1">
                <a:solidFill>
                  <a:srgbClr val="1A1F36"/>
                </a:solidFill>
                <a:latin typeface="Calibri"/>
              </a:rPr>
              <a:t>Dyskinesia:</a:t>
            </a:r>
            <a:r>
              <a:rPr sz="2100" i="0" b="0">
                <a:solidFill>
                  <a:srgbClr val="1A1F36"/>
                </a:solidFill>
                <a:latin typeface="Calibri"/>
              </a:rPr>
              <a:t> involuntary writhing movements, often at peak dose.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of levodopa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They reflect disease progression and levodopa's short half-life. Options are smaller, more frequent doses; modified-release levodopa; adding a COMT inhibitor, an MAO-B inhibitor or a dopamine agonist; and amantadine for dyskinesia.</a:t>
            </a:r>
          </a:p>
        </p:txBody>
      </p:sp>
      <p:graphicFrame>
        <p:nvGraphicFramePr>
          <p:cNvPr id="12" name="Table 11"/>
          <p:cNvGraphicFramePr>
            <a:graphicFrameLocks noGrp="1"/>
          </p:cNvGraphicFramePr>
          <p:nvPr/>
        </p:nvGraphicFramePr>
        <p:xfrm>
          <a:off x="548640" y="2830068"/>
          <a:ext cx="11094413" cy="3342129"/>
        </p:xfrm>
        <a:graphic>
          <a:graphicData uri="http://schemas.openxmlformats.org/drawingml/2006/table">
            <a:tbl>
              <a:tblPr firstRow="0" bandRow="0">
                <a:tableStyleId>{5C22544A-7EE6-4342-B048-85BDC9FD1C3A}</a:tableStyleId>
              </a:tblPr>
              <a:tblGrid>
                <a:gridCol w="1838959"/>
                <a:gridCol w="4832191"/>
                <a:gridCol w="4423263"/>
              </a:tblGrid>
              <a:tr h="477447">
                <a:tc>
                  <a:txBody>
                    <a:bodyPr/>
                    <a:lstStyle/>
                    <a:p>
                      <a:r>
                        <a:rPr sz="1200" i="0" b="1">
                          <a:solidFill>
                            <a:srgbClr val="FFFFFF"/>
                          </a:solidFill>
                          <a:latin typeface="Calibri"/>
                        </a:rPr>
                        <a:t>Group</a:t>
                      </a:r>
                    </a:p>
                  </a:txBody>
                  <a:tcPr marL="109728" marR="109728" marT="45720" marB="45720" anchor="ctr">
                    <a:solidFill>
                      <a:srgbClr val="1B2A8C"/>
                    </a:solidFill>
                  </a:tcPr>
                </a:tc>
                <a:tc>
                  <a:txBody>
                    <a:bodyPr/>
                    <a:lstStyle/>
                    <a:p>
                      <a:r>
                        <a:rPr sz="1200" i="0" b="1">
                          <a:solidFill>
                            <a:srgbClr val="FFFFFF"/>
                          </a:solidFill>
                          <a:latin typeface="Calibri"/>
                        </a:rPr>
                        <a:t>Effect</a:t>
                      </a:r>
                    </a:p>
                  </a:txBody>
                  <a:tcPr marL="109728" marR="109728" marT="45720" marB="45720" anchor="ctr">
                    <a:solidFill>
                      <a:srgbClr val="1B2A8C"/>
                    </a:solidFill>
                  </a:tcPr>
                </a:tc>
                <a:tc>
                  <a:txBody>
                    <a:bodyPr/>
                    <a:lstStyle/>
                    <a:p>
                      <a:r>
                        <a:rPr sz="1200" i="0" b="1">
                          <a:solidFill>
                            <a:srgbClr val="FFFFFF"/>
                          </a:solidFill>
                          <a:latin typeface="Calibri"/>
                        </a:rPr>
                        <a:t>Cause</a:t>
                      </a:r>
                    </a:p>
                  </a:txBody>
                  <a:tcPr marL="109728" marR="109728" marT="45720" marB="45720" anchor="ctr">
                    <a:solidFill>
                      <a:srgbClr val="1B2A8C"/>
                    </a:solidFill>
                  </a:tcPr>
                </a:tc>
              </a:tr>
              <a:tr h="477447">
                <a:tc>
                  <a:txBody>
                    <a:bodyPr/>
                    <a:lstStyle/>
                    <a:p>
                      <a:r>
                        <a:rPr sz="1300" i="0" b="1">
                          <a:solidFill>
                            <a:srgbClr val="1A1F36"/>
                          </a:solidFill>
                          <a:latin typeface="Calibri"/>
                        </a:rPr>
                        <a:t>Gastrointestinal</a:t>
                      </a:r>
                    </a:p>
                  </a:txBody>
                  <a:tcPr marL="109728" marR="109728" marT="45720" marB="45720" anchor="ctr">
                    <a:solidFill>
                      <a:srgbClr val="FFFFFF"/>
                    </a:solidFill>
                  </a:tcPr>
                </a:tc>
                <a:tc>
                  <a:txBody>
                    <a:bodyPr/>
                    <a:lstStyle/>
                    <a:p>
                      <a:r>
                        <a:rPr sz="1300" i="0" b="0">
                          <a:solidFill>
                            <a:srgbClr val="1A1F36"/>
                          </a:solidFill>
                          <a:latin typeface="Calibri"/>
                        </a:rPr>
                        <a:t>Nausea, vomiting</a:t>
                      </a:r>
                    </a:p>
                  </a:txBody>
                  <a:tcPr marL="109728" marR="109728" marT="45720" marB="45720" anchor="ctr">
                    <a:solidFill>
                      <a:srgbClr val="FFFFFF"/>
                    </a:solidFill>
                  </a:tcPr>
                </a:tc>
                <a:tc>
                  <a:txBody>
                    <a:bodyPr/>
                    <a:lstStyle/>
                    <a:p>
                      <a:r>
                        <a:rPr sz="1300" i="0" b="0">
                          <a:solidFill>
                            <a:srgbClr val="1A1F36"/>
                          </a:solidFill>
                          <a:latin typeface="Calibri"/>
                        </a:rPr>
                        <a:t>Dopamine at the CTZ (outside the blood-brain barrier)</a:t>
                      </a:r>
                    </a:p>
                  </a:txBody>
                  <a:tcPr marL="109728" marR="109728" marT="45720" marB="45720" anchor="ctr">
                    <a:solidFill>
                      <a:srgbClr val="FFFFFF"/>
                    </a:solidFill>
                  </a:tcPr>
                </a:tc>
              </a:tr>
              <a:tr h="477447">
                <a:tc>
                  <a:txBody>
                    <a:bodyPr/>
                    <a:lstStyle/>
                    <a:p>
                      <a:r>
                        <a:rPr sz="1300" i="0" b="1">
                          <a:solidFill>
                            <a:srgbClr val="1A1F36"/>
                          </a:solidFill>
                          <a:latin typeface="Calibri"/>
                        </a:rPr>
                        <a:t>Cardiovascular</a:t>
                      </a:r>
                    </a:p>
                  </a:txBody>
                  <a:tcPr marL="109728" marR="109728" marT="45720" marB="45720" anchor="ctr">
                    <a:solidFill>
                      <a:srgbClr val="F1F2F8"/>
                    </a:solidFill>
                  </a:tcPr>
                </a:tc>
                <a:tc>
                  <a:txBody>
                    <a:bodyPr/>
                    <a:lstStyle/>
                    <a:p>
                      <a:r>
                        <a:rPr sz="1300" i="0" b="0">
                          <a:solidFill>
                            <a:srgbClr val="1A1F36"/>
                          </a:solidFill>
                          <a:latin typeface="Calibri"/>
                        </a:rPr>
                        <a:t>Postural hypotension, arrhythmia</a:t>
                      </a:r>
                    </a:p>
                  </a:txBody>
                  <a:tcPr marL="109728" marR="109728" marT="45720" marB="45720" anchor="ctr">
                    <a:solidFill>
                      <a:srgbClr val="F1F2F8"/>
                    </a:solidFill>
                  </a:tcPr>
                </a:tc>
                <a:tc>
                  <a:txBody>
                    <a:bodyPr/>
                    <a:lstStyle/>
                    <a:p>
                      <a:r>
                        <a:rPr sz="1300" i="0" b="0">
                          <a:solidFill>
                            <a:srgbClr val="1A1F36"/>
                          </a:solidFill>
                          <a:latin typeface="Calibri"/>
                        </a:rPr>
                        <a:t>Peripheral dopamine and noradrenaline</a:t>
                      </a:r>
                    </a:p>
                  </a:txBody>
                  <a:tcPr marL="109728" marR="109728" marT="45720" marB="45720" anchor="ctr">
                    <a:solidFill>
                      <a:srgbClr val="F1F2F8"/>
                    </a:solidFill>
                  </a:tcPr>
                </a:tc>
              </a:tr>
              <a:tr h="477447">
                <a:tc>
                  <a:txBody>
                    <a:bodyPr/>
                    <a:lstStyle/>
                    <a:p>
                      <a:r>
                        <a:rPr sz="1300" i="0" b="1">
                          <a:solidFill>
                            <a:srgbClr val="1A1F36"/>
                          </a:solidFill>
                          <a:latin typeface="Calibri"/>
                        </a:rPr>
                        <a:t>Psychiatric</a:t>
                      </a:r>
                    </a:p>
                  </a:txBody>
                  <a:tcPr marL="109728" marR="109728" marT="45720" marB="45720" anchor="ctr">
                    <a:solidFill>
                      <a:srgbClr val="FFFFFF"/>
                    </a:solidFill>
                  </a:tcPr>
                </a:tc>
                <a:tc>
                  <a:txBody>
                    <a:bodyPr/>
                    <a:lstStyle/>
                    <a:p>
                      <a:r>
                        <a:rPr sz="1300" i="0" b="0">
                          <a:solidFill>
                            <a:srgbClr val="1A1F36"/>
                          </a:solidFill>
                          <a:latin typeface="Calibri"/>
                        </a:rPr>
                        <a:t>Hallucinations, confusion, vivid dreams</a:t>
                      </a:r>
                    </a:p>
                  </a:txBody>
                  <a:tcPr marL="109728" marR="109728" marT="45720" marB="45720" anchor="ctr">
                    <a:solidFill>
                      <a:srgbClr val="FFFFFF"/>
                    </a:solidFill>
                  </a:tcPr>
                </a:tc>
                <a:tc>
                  <a:txBody>
                    <a:bodyPr/>
                    <a:lstStyle/>
                    <a:p>
                      <a:r>
                        <a:rPr sz="1300" i="0" b="0">
                          <a:solidFill>
                            <a:srgbClr val="1A1F36"/>
                          </a:solidFill>
                          <a:latin typeface="Calibri"/>
                        </a:rPr>
                        <a:t>Dopamine in mesolimbic and mesocortical pathways</a:t>
                      </a:r>
                    </a:p>
                  </a:txBody>
                  <a:tcPr marL="109728" marR="109728" marT="45720" marB="45720" anchor="ctr">
                    <a:solidFill>
                      <a:srgbClr val="FFFFFF"/>
                    </a:solidFill>
                  </a:tcPr>
                </a:tc>
              </a:tr>
              <a:tr h="477447">
                <a:tc>
                  <a:txBody>
                    <a:bodyPr/>
                    <a:lstStyle/>
                    <a:p>
                      <a:r>
                        <a:rPr sz="1300" i="0" b="1">
                          <a:solidFill>
                            <a:srgbClr val="1A1F36"/>
                          </a:solidFill>
                          <a:latin typeface="Calibri"/>
                        </a:rPr>
                        <a:t>Motor</a:t>
                      </a:r>
                    </a:p>
                  </a:txBody>
                  <a:tcPr marL="109728" marR="109728" marT="45720" marB="45720" anchor="ctr">
                    <a:solidFill>
                      <a:srgbClr val="F1F2F8"/>
                    </a:solidFill>
                  </a:tcPr>
                </a:tc>
                <a:tc>
                  <a:txBody>
                    <a:bodyPr/>
                    <a:lstStyle/>
                    <a:p>
                      <a:r>
                        <a:rPr sz="1300" i="0" b="0">
                          <a:solidFill>
                            <a:srgbClr val="1A1F36"/>
                          </a:solidFill>
                          <a:latin typeface="Calibri"/>
                        </a:rPr>
                        <a:t>Dyskinesia, on–off</a:t>
                      </a:r>
                    </a:p>
                  </a:txBody>
                  <a:tcPr marL="109728" marR="109728" marT="45720" marB="45720" anchor="ctr">
                    <a:solidFill>
                      <a:srgbClr val="F1F2F8"/>
                    </a:solidFill>
                  </a:tcPr>
                </a:tc>
                <a:tc>
                  <a:txBody>
                    <a:bodyPr/>
                    <a:lstStyle/>
                    <a:p>
                      <a:r>
                        <a:rPr sz="1300" i="0" b="0">
                          <a:solidFill>
                            <a:srgbClr val="1A1F36"/>
                          </a:solidFill>
                          <a:latin typeface="Calibri"/>
                        </a:rPr>
                        <a:t>Long-term treatment and disease progression</a:t>
                      </a:r>
                    </a:p>
                  </a:txBody>
                  <a:tcPr marL="109728" marR="109728" marT="45720" marB="45720" anchor="ctr">
                    <a:solidFill>
                      <a:srgbClr val="F1F2F8"/>
                    </a:solidFill>
                  </a:tcPr>
                </a:tc>
              </a:tr>
              <a:tr h="477447">
                <a:tc>
                  <a:txBody>
                    <a:bodyPr/>
                    <a:lstStyle/>
                    <a:p>
                      <a:r>
                        <a:rPr sz="1300" i="0" b="1">
                          <a:solidFill>
                            <a:srgbClr val="1A1F36"/>
                          </a:solidFill>
                          <a:latin typeface="Calibri"/>
                        </a:rPr>
                        <a:t>Behaviour</a:t>
                      </a:r>
                    </a:p>
                  </a:txBody>
                  <a:tcPr marL="109728" marR="109728" marT="45720" marB="45720" anchor="ctr">
                    <a:solidFill>
                      <a:srgbClr val="FFFFFF"/>
                    </a:solidFill>
                  </a:tcPr>
                </a:tc>
                <a:tc>
                  <a:txBody>
                    <a:bodyPr/>
                    <a:lstStyle/>
                    <a:p>
                      <a:r>
                        <a:rPr sz="1300" i="0" b="0">
                          <a:solidFill>
                            <a:srgbClr val="1A1F36"/>
                          </a:solidFill>
                          <a:latin typeface="Calibri"/>
                        </a:rPr>
                        <a:t>Impulse-control disorders (gambling, shopping, hypersexuality)</a:t>
                      </a:r>
                    </a:p>
                  </a:txBody>
                  <a:tcPr marL="109728" marR="109728" marT="45720" marB="45720" anchor="ctr">
                    <a:solidFill>
                      <a:srgbClr val="FFFFFF"/>
                    </a:solidFill>
                  </a:tcPr>
                </a:tc>
                <a:tc>
                  <a:txBody>
                    <a:bodyPr/>
                    <a:lstStyle/>
                    <a:p>
                      <a:r>
                        <a:rPr sz="1300" i="0" b="0">
                          <a:solidFill>
                            <a:srgbClr val="1A1F36"/>
                          </a:solidFill>
                          <a:latin typeface="Calibri"/>
                        </a:rPr>
                        <a:t>More common with dopamine agonists</a:t>
                      </a:r>
                    </a:p>
                  </a:txBody>
                  <a:tcPr marL="109728" marR="109728" marT="45720" marB="45720" anchor="ctr">
                    <a:solidFill>
                      <a:srgbClr val="FFFFFF"/>
                    </a:solidFill>
                  </a:tcPr>
                </a:tc>
              </a:tr>
              <a:tr h="477447">
                <a:tc>
                  <a:txBody>
                    <a:bodyPr/>
                    <a:lstStyle/>
                    <a:p>
                      <a:r>
                        <a:rPr sz="1300" i="0" b="1">
                          <a:solidFill>
                            <a:srgbClr val="1A1F36"/>
                          </a:solidFill>
                          <a:latin typeface="Calibri"/>
                        </a:rPr>
                        <a:t>Other</a:t>
                      </a:r>
                    </a:p>
                  </a:txBody>
                  <a:tcPr marL="109728" marR="109728" marT="45720" marB="45720" anchor="ctr">
                    <a:solidFill>
                      <a:srgbClr val="F1F2F8"/>
                    </a:solidFill>
                  </a:tcPr>
                </a:tc>
                <a:tc>
                  <a:txBody>
                    <a:bodyPr/>
                    <a:lstStyle/>
                    <a:p>
                      <a:r>
                        <a:rPr sz="1300" i="0" b="0">
                          <a:solidFill>
                            <a:srgbClr val="1A1F36"/>
                          </a:solidFill>
                          <a:latin typeface="Calibri"/>
                        </a:rPr>
                        <a:t>Dark urine and sweat</a:t>
                      </a:r>
                    </a:p>
                  </a:txBody>
                  <a:tcPr marL="109728" marR="109728" marT="45720" marB="45720" anchor="ctr">
                    <a:solidFill>
                      <a:srgbClr val="F1F2F8"/>
                    </a:solidFill>
                  </a:tcPr>
                </a:tc>
                <a:tc>
                  <a:txBody>
                    <a:bodyPr/>
                    <a:lstStyle/>
                    <a:p>
                      <a:r>
                        <a:rPr sz="1300" i="0" b="0">
                          <a:solidFill>
                            <a:srgbClr val="1A1F36"/>
                          </a:solidFill>
                          <a:latin typeface="Calibri"/>
                        </a:rPr>
                        <a:t>Oxidation of catecholamine metabolites; harmless</a:t>
                      </a:r>
                    </a:p>
                  </a:txBody>
                  <a:tcPr marL="109728" marR="109728" marT="45720" marB="45720" anchor="ctr">
                    <a:solidFill>
                      <a:srgbClr val="F1F2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Levodopa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377440"/>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4" name="TextBox 13"/>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The pyridoxine interaction applies to levodopa </a:t>
            </a:r>
            <a:r>
              <a:rPr sz="2600" i="0" b="1">
                <a:solidFill>
                  <a:srgbClr val="1A1F36"/>
                </a:solidFill>
                <a:latin typeface="Calibri"/>
              </a:rPr>
              <a:t>alone</a:t>
            </a:r>
            <a:r>
              <a:rPr sz="2600" i="0" b="0">
                <a:solidFill>
                  <a:srgbClr val="1A1F36"/>
                </a:solidFill>
                <a:latin typeface="Calibri"/>
              </a:rPr>
              <a:t>. Carbidopa removes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3</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For levodopa-induced nausea, use </a:t>
            </a:r>
            <a:r>
              <a:rPr sz="2200" i="0" b="1">
                <a:solidFill>
                  <a:srgbClr val="1A1F36"/>
                </a:solidFill>
                <a:latin typeface="Calibri"/>
              </a:rPr>
              <a:t>domperidone</a:t>
            </a:r>
            <a:r>
              <a:rPr sz="2200" i="0" b="0">
                <a:solidFill>
                  <a:srgbClr val="1A1F36"/>
                </a:solidFill>
                <a:latin typeface="Calibri"/>
              </a:rPr>
              <a:t>. It blocks D2 receptors in the CTZ but does not cross the blood-brain barrier, so it does not worsen parkinsonism. Metoclopramide and prochlorperazine cross it and must be avoided.</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Parkinson's Disease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Dopamine Agonists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Dopamine agonists act directly on D2 and D3 receptors. They do not need conversion by neurons. They last longer than levodopa and cause fewer motor fluctuations. They cause more hallucinations, sleepiness and impulse-control disorders.</a:t>
            </a:r>
          </a:p>
          <a:p>
            <a:pPr>
              <a:spcAft>
                <a:spcPts val="800"/>
              </a:spcAft>
            </a:pPr>
            <a:r>
              <a:rPr sz="1700" i="0" b="1">
                <a:solidFill>
                  <a:srgbClr val="1A1F36"/>
                </a:solidFill>
                <a:latin typeface="Calibri"/>
              </a:rPr>
              <a:t>Adverse effects:</a:t>
            </a:r>
            <a:r>
              <a:rPr sz="1700" i="0" b="0">
                <a:solidFill>
                  <a:srgbClr val="1A1F36"/>
                </a:solidFill>
                <a:latin typeface="Calibri"/>
              </a:rPr>
              <a:t> nausea, postural hypotension, hallucinations, confusion, sudden sleep attacks and impulse-control disorders.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Non-ergot agonists</a:t>
            </a:r>
            <a:r>
              <a:rPr sz="2100" i="0" b="0">
                <a:solidFill>
                  <a:srgbClr val="1A1F36"/>
                </a:solidFill>
                <a:latin typeface="Calibri"/>
              </a:rPr>
              <a:t> (first choice): pramipexole, ropinirole and rotigotine (a daily skin patch).</a:t>
            </a:r>
          </a:p>
        </p:txBody>
      </p:sp>
      <p:sp>
        <p:nvSpPr>
          <p:cNvPr id="14" name="Oval 13"/>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3112388"/>
            <a:ext cx="5653735" cy="1808988"/>
          </a:xfrm>
          <a:prstGeom prst="rect">
            <a:avLst/>
          </a:prstGeom>
          <a:noFill/>
        </p:spPr>
        <p:txBody>
          <a:bodyPr wrap="square" anchor="t" lIns="0" rIns="0" tIns="0" bIns="0">
            <a:spAutoFit/>
          </a:bodyPr>
          <a:lstStyle/>
          <a:p>
            <a:r>
              <a:rPr sz="2100" i="0" b="1">
                <a:solidFill>
                  <a:srgbClr val="1A1F36"/>
                </a:solidFill>
                <a:latin typeface="Calibri"/>
              </a:rPr>
              <a:t>Ergot agonists</a:t>
            </a:r>
            <a:r>
              <a:rPr sz="2100" i="0" b="0">
                <a:solidFill>
                  <a:srgbClr val="1A1F36"/>
                </a:solidFill>
                <a:latin typeface="Calibri"/>
              </a:rPr>
              <a:t>: bromocriptine and cabergoline. They are rarely used for Parkinson's disease now. They can cause pulmonary, retroperitoneal and heart-valve fibrosis.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Dopamine Agonists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43128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Ask every patient on a dopamine agonist, and the family, about gambling, shopping, eating or sexual behaviour. Warn about sudden sleep; patients should not drive if it occurs. Do not stop agonists suddenly.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MAO-B Inhibitors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691991"/>
          </a:xfrm>
          <a:prstGeom prst="rect">
            <a:avLst/>
          </a:prstGeom>
          <a:noFill/>
        </p:spPr>
        <p:txBody>
          <a:bodyPr wrap="square" anchor="t" lIns="0" rIns="0" tIns="0" bIns="0">
            <a:spAutoFit/>
          </a:bodyPr>
          <a:lstStyle/>
          <a:p>
            <a:r>
              <a:rPr sz="2100" i="0" b="1">
                <a:solidFill>
                  <a:srgbClr val="1A1F36"/>
                </a:solidFill>
                <a:latin typeface="Calibri"/>
              </a:rPr>
              <a:t>Members:</a:t>
            </a:r>
            <a:r>
              <a:rPr sz="2100" i="0" b="0">
                <a:solidFill>
                  <a:srgbClr val="1A1F36"/>
                </a:solidFill>
                <a:latin typeface="Calibri"/>
              </a:rPr>
              <a:t> selegiline, rasagiline and safinamide.</a:t>
            </a:r>
          </a:p>
        </p:txBody>
      </p:sp>
      <p:sp>
        <p:nvSpPr>
          <p:cNvPr id="13" name="Oval 12"/>
          <p:cNvSpPr/>
          <p:nvPr/>
        </p:nvSpPr>
        <p:spPr>
          <a:xfrm>
            <a:off x="548640" y="23104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328767"/>
            <a:ext cx="10500055" cy="1025366"/>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selective inhibition of MAO-B, the main enzyme that breaks down dopamine in the striatum. Brain dopamine rises.</a:t>
            </a:r>
          </a:p>
        </p:txBody>
      </p:sp>
      <p:sp>
        <p:nvSpPr>
          <p:cNvPr id="15" name="Oval 14"/>
          <p:cNvSpPr/>
          <p:nvPr/>
        </p:nvSpPr>
        <p:spPr>
          <a:xfrm>
            <a:off x="548640" y="338156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99853"/>
            <a:ext cx="10500055" cy="1025366"/>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alone in early disease (mild benefit) or added to levodopa to reduce wearing-off.</a:t>
            </a:r>
          </a:p>
        </p:txBody>
      </p:sp>
      <p:sp>
        <p:nvSpPr>
          <p:cNvPr id="17" name="Oval 16"/>
          <p:cNvSpPr/>
          <p:nvPr/>
        </p:nvSpPr>
        <p:spPr>
          <a:xfrm>
            <a:off x="548640" y="44526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470939"/>
            <a:ext cx="10500055" cy="1692116"/>
          </a:xfrm>
          <a:prstGeom prst="rect">
            <a:avLst/>
          </a:prstGeom>
          <a:noFill/>
        </p:spPr>
        <p:txBody>
          <a:bodyPr wrap="square" anchor="t" lIns="0" rIns="0" tIns="0" bIns="0">
            <a:spAutoFit/>
          </a:bodyPr>
          <a:lstStyle/>
          <a:p>
            <a:r>
              <a:rPr sz="2100" i="0" b="1">
                <a:solidFill>
                  <a:srgbClr val="1A1F36"/>
                </a:solidFill>
                <a:latin typeface="Calibri"/>
              </a:rPr>
              <a:t>Safety:</a:t>
            </a:r>
            <a:r>
              <a:rPr sz="2100" i="0" b="0">
                <a:solidFill>
                  <a:srgbClr val="1A1F36"/>
                </a:solidFill>
                <a:latin typeface="Calibri"/>
              </a:rPr>
              <a:t> at normal doses they do not cause the "cheese reaction", because MAO-A in the gut still breaks down tyramine. Selectivity is lost at high doses. Combining them with pethidine, tramadol or serotonergic antidepressants can cause serotonin syndrome.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Amantadine and Anticholinergics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964156"/>
                <a:gridCol w="3811058"/>
                <a:gridCol w="4319199"/>
              </a:tblGrid>
              <a:tr h="640080">
                <a:tc>
                  <a:txBody>
                    <a:bodyPr/>
                    <a:lstStyle/>
                    <a:p>
                      <a:r>
                        <a:rPr sz="1700" i="0" b="1">
                          <a:solidFill>
                            <a:srgbClr val="FFFFFF"/>
                          </a:solidFill>
                          <a:latin typeface="Calibri"/>
                        </a:rPr>
                        <a:t>Drug group</a:t>
                      </a:r>
                    </a:p>
                  </a:txBody>
                  <a:tcPr marL="109728" marR="109728" marT="45720" marB="45720" anchor="ctr">
                    <a:solidFill>
                      <a:srgbClr val="1B2A8C"/>
                    </a:solidFill>
                  </a:tcPr>
                </a:tc>
                <a:tc>
                  <a:txBody>
                    <a:bodyPr/>
                    <a:lstStyle/>
                    <a:p>
                      <a:r>
                        <a:rPr sz="1700" i="0" b="1">
                          <a:solidFill>
                            <a:srgbClr val="FFFFFF"/>
                          </a:solidFill>
                          <a:latin typeface="Calibri"/>
                        </a:rPr>
                        <a:t>Main benefit</a:t>
                      </a:r>
                    </a:p>
                  </a:txBody>
                  <a:tcPr marL="109728" marR="109728" marT="45720" marB="45720" anchor="ctr">
                    <a:solidFill>
                      <a:srgbClr val="1B2A8C"/>
                    </a:solidFill>
                  </a:tcPr>
                </a:tc>
                <a:tc>
                  <a:txBody>
                    <a:bodyPr/>
                    <a:lstStyle/>
                    <a:p>
                      <a:r>
                        <a:rPr sz="1700" i="0" b="1">
                          <a:solidFill>
                            <a:srgbClr val="FFFFFF"/>
                          </a:solidFill>
                          <a:latin typeface="Calibri"/>
                        </a:rPr>
                        <a:t>Main problems</a:t>
                      </a:r>
                    </a:p>
                  </a:txBody>
                  <a:tcPr marL="109728" marR="109728" marT="45720" marB="45720" anchor="ctr">
                    <a:solidFill>
                      <a:srgbClr val="1B2A8C"/>
                    </a:solidFill>
                  </a:tcPr>
                </a:tc>
              </a:tr>
              <a:tr h="640080">
                <a:tc>
                  <a:txBody>
                    <a:bodyPr/>
                    <a:lstStyle/>
                    <a:p>
                      <a:r>
                        <a:rPr sz="1800" i="0" b="1">
                          <a:solidFill>
                            <a:srgbClr val="1A1F36"/>
                          </a:solidFill>
                          <a:latin typeface="Calibri"/>
                        </a:rPr>
                        <a:t>Levodopa + carbidopa</a:t>
                      </a:r>
                    </a:p>
                  </a:txBody>
                  <a:tcPr marL="109728" marR="109728" marT="45720" marB="45720" anchor="ctr">
                    <a:solidFill>
                      <a:srgbClr val="FFFFFF"/>
                    </a:solidFill>
                  </a:tcPr>
                </a:tc>
                <a:tc>
                  <a:txBody>
                    <a:bodyPr/>
                    <a:lstStyle/>
                    <a:p>
                      <a:r>
                        <a:rPr sz="1800" i="0" b="0">
                          <a:solidFill>
                            <a:srgbClr val="1A1F36"/>
                          </a:solidFill>
                          <a:latin typeface="Calibri"/>
                        </a:rPr>
                        <a:t>Most effective for all motor symptoms</a:t>
                      </a:r>
                    </a:p>
                  </a:txBody>
                  <a:tcPr marL="109728" marR="109728" marT="45720" marB="45720" anchor="ctr">
                    <a:solidFill>
                      <a:srgbClr val="FFFFFF"/>
                    </a:solidFill>
                  </a:tcPr>
                </a:tc>
                <a:tc>
                  <a:txBody>
                    <a:bodyPr/>
                    <a:lstStyle/>
                    <a:p>
                      <a:r>
                        <a:rPr sz="1800" i="0" b="0">
                          <a:solidFill>
                            <a:srgbClr val="1A1F36"/>
                          </a:solidFill>
                          <a:latin typeface="Calibri"/>
                        </a:rPr>
                        <a:t>Fluctuations and dyskinesia over time</a:t>
                      </a:r>
                    </a:p>
                  </a:txBody>
                  <a:tcPr marL="109728" marR="109728" marT="45720" marB="45720" anchor="ctr">
                    <a:solidFill>
                      <a:srgbClr val="FFFFFF"/>
                    </a:solidFill>
                  </a:tcPr>
                </a:tc>
              </a:tr>
              <a:tr h="640080">
                <a:tc>
                  <a:txBody>
                    <a:bodyPr/>
                    <a:lstStyle/>
                    <a:p>
                      <a:r>
                        <a:rPr sz="1800" i="0" b="1">
                          <a:solidFill>
                            <a:srgbClr val="1A1F36"/>
                          </a:solidFill>
                          <a:latin typeface="Calibri"/>
                        </a:rPr>
                        <a:t>Non-ergot dopamine agonists</a:t>
                      </a:r>
                    </a:p>
                  </a:txBody>
                  <a:tcPr marL="109728" marR="109728" marT="45720" marB="45720" anchor="ctr">
                    <a:solidFill>
                      <a:srgbClr val="F1F2F8"/>
                    </a:solidFill>
                  </a:tcPr>
                </a:tc>
                <a:tc>
                  <a:txBody>
                    <a:bodyPr/>
                    <a:lstStyle/>
                    <a:p>
                      <a:r>
                        <a:rPr sz="1800" i="0" b="0">
                          <a:solidFill>
                            <a:srgbClr val="1A1F36"/>
                          </a:solidFill>
                          <a:latin typeface="Calibri"/>
                        </a:rPr>
                        <a:t>Longer action, fewer fluctuations</a:t>
                      </a:r>
                    </a:p>
                  </a:txBody>
                  <a:tcPr marL="109728" marR="109728" marT="45720" marB="45720" anchor="ctr">
                    <a:solidFill>
                      <a:srgbClr val="F1F2F8"/>
                    </a:solidFill>
                  </a:tcPr>
                </a:tc>
                <a:tc>
                  <a:txBody>
                    <a:bodyPr/>
                    <a:lstStyle/>
                    <a:p>
                      <a:r>
                        <a:rPr sz="1800" i="0" b="0">
                          <a:solidFill>
                            <a:srgbClr val="1A1F36"/>
                          </a:solidFill>
                          <a:latin typeface="Calibri"/>
                        </a:rPr>
                        <a:t>Hallucinations, sleepiness, impulse control</a:t>
                      </a:r>
                    </a:p>
                  </a:txBody>
                  <a:tcPr marL="109728" marR="109728" marT="45720" marB="45720" anchor="ctr">
                    <a:solidFill>
                      <a:srgbClr val="F1F2F8"/>
                    </a:solidFill>
                  </a:tcPr>
                </a:tc>
              </a:tr>
              <a:tr h="640080">
                <a:tc>
                  <a:txBody>
                    <a:bodyPr/>
                    <a:lstStyle/>
                    <a:p>
                      <a:r>
                        <a:rPr sz="1800" i="0" b="1">
                          <a:solidFill>
                            <a:srgbClr val="1A1F36"/>
                          </a:solidFill>
                          <a:latin typeface="Calibri"/>
                        </a:rPr>
                        <a:t>MAO-B inhibitors</a:t>
                      </a:r>
                    </a:p>
                  </a:txBody>
                  <a:tcPr marL="109728" marR="109728" marT="45720" marB="45720" anchor="ctr">
                    <a:solidFill>
                      <a:srgbClr val="FFFFFF"/>
                    </a:solidFill>
                  </a:tcPr>
                </a:tc>
                <a:tc>
                  <a:txBody>
                    <a:bodyPr/>
                    <a:lstStyle/>
                    <a:p>
                      <a:r>
                        <a:rPr sz="1800" i="0" b="0">
                          <a:solidFill>
                            <a:srgbClr val="1A1F36"/>
                          </a:solidFill>
                          <a:latin typeface="Calibri"/>
                        </a:rPr>
                        <a:t>Mild; reduce wearing-off</a:t>
                      </a:r>
                    </a:p>
                  </a:txBody>
                  <a:tcPr marL="109728" marR="109728" marT="45720" marB="45720" anchor="ctr">
                    <a:solidFill>
                      <a:srgbClr val="FFFFFF"/>
                    </a:solidFill>
                  </a:tcPr>
                </a:tc>
                <a:tc>
                  <a:txBody>
                    <a:bodyPr/>
                    <a:lstStyle/>
                    <a:p>
                      <a:r>
                        <a:rPr sz="1800" i="0" b="0">
                          <a:solidFill>
                            <a:srgbClr val="1A1F36"/>
                          </a:solidFill>
                          <a:latin typeface="Calibri"/>
                        </a:rPr>
                        <a:t>Interactions at high dose</a:t>
                      </a:r>
                    </a:p>
                  </a:txBody>
                  <a:tcPr marL="109728" marR="109728" marT="45720" marB="45720" anchor="ctr">
                    <a:solidFill>
                      <a:srgbClr val="FFFFFF"/>
                    </a:solidFill>
                  </a:tcPr>
                </a:tc>
              </a:tr>
              <a:tr h="640080">
                <a:tc>
                  <a:txBody>
                    <a:bodyPr/>
                    <a:lstStyle/>
                    <a:p>
                      <a:r>
                        <a:rPr sz="1800" i="0" b="1">
                          <a:solidFill>
                            <a:srgbClr val="1A1F36"/>
                          </a:solidFill>
                          <a:latin typeface="Calibri"/>
                        </a:rPr>
                        <a:t>COMT inhibitors</a:t>
                      </a:r>
                    </a:p>
                  </a:txBody>
                  <a:tcPr marL="109728" marR="109728" marT="45720" marB="45720" anchor="ctr">
                    <a:solidFill>
                      <a:srgbClr val="F1F2F8"/>
                    </a:solidFill>
                  </a:tcPr>
                </a:tc>
                <a:tc>
                  <a:txBody>
                    <a:bodyPr/>
                    <a:lstStyle/>
                    <a:p>
                      <a:r>
                        <a:rPr sz="1800" i="0" b="0">
                          <a:solidFill>
                            <a:srgbClr val="1A1F36"/>
                          </a:solidFill>
                          <a:latin typeface="Calibri"/>
                        </a:rPr>
                        <a:t>Prolong each levodopa dose</a:t>
                      </a:r>
                    </a:p>
                  </a:txBody>
                  <a:tcPr marL="109728" marR="109728" marT="45720" marB="45720" anchor="ctr">
                    <a:solidFill>
                      <a:srgbClr val="F1F2F8"/>
                    </a:solidFill>
                  </a:tcPr>
                </a:tc>
                <a:tc>
                  <a:txBody>
                    <a:bodyPr/>
                    <a:lstStyle/>
                    <a:p>
                      <a:r>
                        <a:rPr sz="1800" i="0" b="0">
                          <a:solidFill>
                            <a:srgbClr val="1A1F36"/>
                          </a:solidFill>
                          <a:latin typeface="Calibri"/>
                        </a:rPr>
                        <a:t>Dyskinesia; tolcapone liver toxicity</a:t>
                      </a:r>
                    </a:p>
                  </a:txBody>
                  <a:tcPr marL="109728" marR="109728" marT="45720" marB="45720" anchor="ctr">
                    <a:solidFill>
                      <a:srgbClr val="F1F2F8"/>
                    </a:solidFill>
                  </a:tcPr>
                </a:tc>
              </a:tr>
              <a:tr h="640080">
                <a:tc>
                  <a:txBody>
                    <a:bodyPr/>
                    <a:lstStyle/>
                    <a:p>
                      <a:r>
                        <a:rPr sz="1800" i="0" b="1">
                          <a:solidFill>
                            <a:srgbClr val="1A1F36"/>
                          </a:solidFill>
                          <a:latin typeface="Calibri"/>
                        </a:rPr>
                        <a:t>Amantadine</a:t>
                      </a:r>
                    </a:p>
                  </a:txBody>
                  <a:tcPr marL="109728" marR="109728" marT="45720" marB="45720" anchor="ctr">
                    <a:solidFill>
                      <a:srgbClr val="FFFFFF"/>
                    </a:solidFill>
                  </a:tcPr>
                </a:tc>
                <a:tc>
                  <a:txBody>
                    <a:bodyPr/>
                    <a:lstStyle/>
                    <a:p>
                      <a:r>
                        <a:rPr sz="1800" i="0" b="0">
                          <a:solidFill>
                            <a:srgbClr val="1A1F36"/>
                          </a:solidFill>
                          <a:latin typeface="Calibri"/>
                        </a:rPr>
                        <a:t>Reduces dyskinesia</a:t>
                      </a:r>
                    </a:p>
                  </a:txBody>
                  <a:tcPr marL="109728" marR="109728" marT="45720" marB="45720" anchor="ctr">
                    <a:solidFill>
                      <a:srgbClr val="FFFFFF"/>
                    </a:solidFill>
                  </a:tcPr>
                </a:tc>
                <a:tc>
                  <a:txBody>
                    <a:bodyPr/>
                    <a:lstStyle/>
                    <a:p>
                      <a:r>
                        <a:rPr sz="1800" i="0" b="0">
                          <a:solidFill>
                            <a:srgbClr val="1A1F36"/>
                          </a:solidFill>
                          <a:latin typeface="Calibri"/>
                        </a:rPr>
                        <a:t>Confusion, livedo reticularis</a:t>
                      </a:r>
                    </a:p>
                  </a:txBody>
                  <a:tcPr marL="109728" marR="109728" marT="45720" marB="45720" anchor="ctr">
                    <a:solidFill>
                      <a:srgbClr val="FFFFFF"/>
                    </a:solidFill>
                  </a:tcPr>
                </a:tc>
              </a:tr>
              <a:tr h="640080">
                <a:tc>
                  <a:txBody>
                    <a:bodyPr/>
                    <a:lstStyle/>
                    <a:p>
                      <a:r>
                        <a:rPr sz="1800" i="0" b="1">
                          <a:solidFill>
                            <a:srgbClr val="1A1F36"/>
                          </a:solidFill>
                          <a:latin typeface="Calibri"/>
                        </a:rPr>
                        <a:t>Anticholinergics</a:t>
                      </a:r>
                    </a:p>
                  </a:txBody>
                  <a:tcPr marL="109728" marR="109728" marT="45720" marB="45720" anchor="ctr">
                    <a:solidFill>
                      <a:srgbClr val="F1F2F8"/>
                    </a:solidFill>
                  </a:tcPr>
                </a:tc>
                <a:tc>
                  <a:txBody>
                    <a:bodyPr/>
                    <a:lstStyle/>
                    <a:p>
                      <a:r>
                        <a:rPr sz="1800" i="0" b="0">
                          <a:solidFill>
                            <a:srgbClr val="1A1F36"/>
                          </a:solidFill>
                          <a:latin typeface="Calibri"/>
                        </a:rPr>
                        <a:t>Tremor in young patients</a:t>
                      </a:r>
                    </a:p>
                  </a:txBody>
                  <a:tcPr marL="109728" marR="109728" marT="45720" marB="45720" anchor="ctr">
                    <a:solidFill>
                      <a:srgbClr val="F1F2F8"/>
                    </a:solidFill>
                  </a:tcPr>
                </a:tc>
                <a:tc>
                  <a:txBody>
                    <a:bodyPr/>
                    <a:lstStyle/>
                    <a:p>
                      <a:r>
                        <a:rPr sz="1800" i="0" b="0">
                          <a:solidFill>
                            <a:srgbClr val="1A1F36"/>
                          </a:solidFill>
                          <a:latin typeface="Calibri"/>
                        </a:rPr>
                        <a:t>Confusion, retention; avoid in elderly</a:t>
                      </a:r>
                    </a:p>
                  </a:txBody>
                  <a:tcPr marL="109728" marR="109728" marT="45720" marB="45720" anchor="ctr">
                    <a:solidFill>
                      <a:srgbClr val="F1F2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5200507"/>
                <a:gridCol w="5893907"/>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Suggested choice</a:t>
                      </a:r>
                    </a:p>
                  </a:txBody>
                  <a:tcPr marL="109728" marR="109728" marT="45720" marB="45720" anchor="ctr">
                    <a:solidFill>
                      <a:srgbClr val="1B2A8C"/>
                    </a:solidFill>
                  </a:tcPr>
                </a:tc>
              </a:tr>
              <a:tr h="640080">
                <a:tc>
                  <a:txBody>
                    <a:bodyPr/>
                    <a:lstStyle/>
                    <a:p>
                      <a:r>
                        <a:rPr sz="1800" i="0" b="1">
                          <a:solidFill>
                            <a:srgbClr val="1A1F36"/>
                          </a:solidFill>
                          <a:latin typeface="Calibri"/>
                        </a:rPr>
                        <a:t>Early disease, motor symptoms affect quality of life</a:t>
                      </a:r>
                    </a:p>
                  </a:txBody>
                  <a:tcPr marL="109728" marR="109728" marT="45720" marB="45720" anchor="ctr">
                    <a:solidFill>
                      <a:srgbClr val="FFFFFF"/>
                    </a:solidFill>
                  </a:tcPr>
                </a:tc>
                <a:tc>
                  <a:txBody>
                    <a:bodyPr/>
                    <a:lstStyle/>
                    <a:p>
                      <a:r>
                        <a:rPr sz="1800" i="0" b="0">
                          <a:solidFill>
                            <a:srgbClr val="1A1F36"/>
                          </a:solidFill>
                          <a:latin typeface="Calibri"/>
                        </a:rPr>
                        <a:t>Levodopa + carbidopa</a:t>
                      </a:r>
                    </a:p>
                  </a:txBody>
                  <a:tcPr marL="109728" marR="109728" marT="45720" marB="45720" anchor="ctr">
                    <a:solidFill>
                      <a:srgbClr val="FFFFFF"/>
                    </a:solidFill>
                  </a:tcPr>
                </a:tc>
              </a:tr>
              <a:tr h="640080">
                <a:tc>
                  <a:txBody>
                    <a:bodyPr/>
                    <a:lstStyle/>
                    <a:p>
                      <a:r>
                        <a:rPr sz="1800" i="0" b="1">
                          <a:solidFill>
                            <a:srgbClr val="1A1F36"/>
                          </a:solidFill>
                          <a:latin typeface="Calibri"/>
                        </a:rPr>
                        <a:t>Early disease, mild symptoms</a:t>
                      </a:r>
                    </a:p>
                  </a:txBody>
                  <a:tcPr marL="109728" marR="109728" marT="45720" marB="45720" anchor="ctr">
                    <a:solidFill>
                      <a:srgbClr val="F1F2F8"/>
                    </a:solidFill>
                  </a:tcPr>
                </a:tc>
                <a:tc>
                  <a:txBody>
                    <a:bodyPr/>
                    <a:lstStyle/>
                    <a:p>
                      <a:r>
                        <a:rPr sz="1800" i="0" b="0">
                          <a:solidFill>
                            <a:srgbClr val="1A1F36"/>
                          </a:solidFill>
                          <a:latin typeface="Calibri"/>
                        </a:rPr>
                        <a:t>Dopamine agonist or MAO-B inhibitor (discuss impulse-control risk)</a:t>
                      </a:r>
                    </a:p>
                  </a:txBody>
                  <a:tcPr marL="109728" marR="109728" marT="45720" marB="45720" anchor="ctr">
                    <a:solidFill>
                      <a:srgbClr val="F1F2F8"/>
                    </a:solidFill>
                  </a:tcPr>
                </a:tc>
              </a:tr>
              <a:tr h="640080">
                <a:tc>
                  <a:txBody>
                    <a:bodyPr/>
                    <a:lstStyle/>
                    <a:p>
                      <a:r>
                        <a:rPr sz="1800" i="0" b="1">
                          <a:solidFill>
                            <a:srgbClr val="1A1F36"/>
                          </a:solidFill>
                          <a:latin typeface="Calibri"/>
                        </a:rPr>
                        <a:t>Wearing-off on levodopa</a:t>
                      </a:r>
                    </a:p>
                  </a:txBody>
                  <a:tcPr marL="109728" marR="109728" marT="45720" marB="45720" anchor="ctr">
                    <a:solidFill>
                      <a:srgbClr val="FFFFFF"/>
                    </a:solidFill>
                  </a:tcPr>
                </a:tc>
                <a:tc>
                  <a:txBody>
                    <a:bodyPr/>
                    <a:lstStyle/>
                    <a:p>
                      <a:r>
                        <a:rPr sz="1800" i="0" b="0">
                          <a:solidFill>
                            <a:srgbClr val="1A1F36"/>
                          </a:solidFill>
                          <a:latin typeface="Calibri"/>
                        </a:rPr>
                        <a:t>Add a COMT inhibitor, MAO-B inhibitor or dopamine agonist</a:t>
                      </a:r>
                    </a:p>
                  </a:txBody>
                  <a:tcPr marL="109728" marR="109728" marT="45720" marB="45720" anchor="ctr">
                    <a:solidFill>
                      <a:srgbClr val="FFFFFF"/>
                    </a:solidFill>
                  </a:tcPr>
                </a:tc>
              </a:tr>
              <a:tr h="640080">
                <a:tc>
                  <a:txBody>
                    <a:bodyPr/>
                    <a:lstStyle/>
                    <a:p>
                      <a:r>
                        <a:rPr sz="1800" i="0" b="1">
                          <a:solidFill>
                            <a:srgbClr val="1A1F36"/>
                          </a:solidFill>
                          <a:latin typeface="Calibri"/>
                        </a:rPr>
                        <a:t>Levodopa-induced dyskinesia</a:t>
                      </a:r>
                    </a:p>
                  </a:txBody>
                  <a:tcPr marL="109728" marR="109728" marT="45720" marB="45720" anchor="ctr">
                    <a:solidFill>
                      <a:srgbClr val="F1F2F8"/>
                    </a:solidFill>
                  </a:tcPr>
                </a:tc>
                <a:tc>
                  <a:txBody>
                    <a:bodyPr/>
                    <a:lstStyle/>
                    <a:p>
                      <a:r>
                        <a:rPr sz="1800" i="0" b="0">
                          <a:solidFill>
                            <a:srgbClr val="1A1F36"/>
                          </a:solidFill>
                          <a:latin typeface="Calibri"/>
                        </a:rPr>
                        <a:t>Adjust levodopa; add amantadine</a:t>
                      </a:r>
                    </a:p>
                  </a:txBody>
                  <a:tcPr marL="109728" marR="109728" marT="45720" marB="45720" anchor="ctr">
                    <a:solidFill>
                      <a:srgbClr val="F1F2F8"/>
                    </a:solidFill>
                  </a:tcPr>
                </a:tc>
              </a:tr>
              <a:tr h="640080">
                <a:tc>
                  <a:txBody>
                    <a:bodyPr/>
                    <a:lstStyle/>
                    <a:p>
                      <a:r>
                        <a:rPr sz="1800" i="0" b="1">
                          <a:solidFill>
                            <a:srgbClr val="1A1F36"/>
                          </a:solidFill>
                          <a:latin typeface="Calibri"/>
                        </a:rPr>
                        <a:t>Nausea from treatment</a:t>
                      </a:r>
                    </a:p>
                  </a:txBody>
                  <a:tcPr marL="109728" marR="109728" marT="45720" marB="45720" anchor="ctr">
                    <a:solidFill>
                      <a:srgbClr val="FFFFFF"/>
                    </a:solidFill>
                  </a:tcPr>
                </a:tc>
                <a:tc>
                  <a:txBody>
                    <a:bodyPr/>
                    <a:lstStyle/>
                    <a:p>
                      <a:r>
                        <a:rPr sz="1800" i="0" b="0">
                          <a:solidFill>
                            <a:srgbClr val="1A1F36"/>
                          </a:solidFill>
                          <a:latin typeface="Calibri"/>
                        </a:rPr>
                        <a:t>Domperidone</a:t>
                      </a:r>
                    </a:p>
                  </a:txBody>
                  <a:tcPr marL="109728" marR="109728" marT="45720" marB="45720" anchor="ctr">
                    <a:solidFill>
                      <a:srgbClr val="FFFFFF"/>
                    </a:solidFill>
                  </a:tcPr>
                </a:tc>
              </a:tr>
              <a:tr h="640080">
                <a:tc>
                  <a:txBody>
                    <a:bodyPr/>
                    <a:lstStyle/>
                    <a:p>
                      <a:r>
                        <a:rPr sz="1800" i="0" b="1">
                          <a:solidFill>
                            <a:srgbClr val="1A1F36"/>
                          </a:solidFill>
                          <a:latin typeface="Calibri"/>
                        </a:rPr>
                        <a:t>Psychosis in Parkinson's disease</a:t>
                      </a:r>
                    </a:p>
                  </a:txBody>
                  <a:tcPr marL="109728" marR="109728" marT="45720" marB="45720" anchor="ctr">
                    <a:solidFill>
                      <a:srgbClr val="F1F2F8"/>
                    </a:solidFill>
                  </a:tcPr>
                </a:tc>
                <a:tc>
                  <a:txBody>
                    <a:bodyPr/>
                    <a:lstStyle/>
                    <a:p>
                      <a:r>
                        <a:rPr sz="1800" i="0" b="0">
                          <a:solidFill>
                            <a:srgbClr val="1A1F36"/>
                          </a:solidFill>
                          <a:latin typeface="Calibri"/>
                        </a:rPr>
                        <a:t>Reduce anticholinergics and agonists first; then low-dose quetiapine or clozapine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376561"/>
                <a:gridCol w="5306024"/>
                <a:gridCol w="2411829"/>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Carbidopa + levodopa</a:t>
                      </a:r>
                    </a:p>
                  </a:txBody>
                  <a:tcPr marL="109728" marR="109728" marT="45720" marB="45720" anchor="ctr">
                    <a:solidFill>
                      <a:srgbClr val="FFFFFF"/>
                    </a:solidFill>
                  </a:tcPr>
                </a:tc>
                <a:tc>
                  <a:txBody>
                    <a:bodyPr/>
                    <a:lstStyle/>
                    <a:p>
                      <a:r>
                        <a:rPr sz="2000" i="0" b="0">
                          <a:solidFill>
                            <a:srgbClr val="1A1F36"/>
                          </a:solidFill>
                          <a:latin typeface="Calibri"/>
                        </a:rPr>
                        <a:t>Sinemet, Shatoo (controlled release)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Biperiden</a:t>
                      </a:r>
                    </a:p>
                  </a:txBody>
                  <a:tcPr marL="109728" marR="109728" marT="45720" marB="45720" anchor="ctr">
                    <a:solidFill>
                      <a:srgbClr val="F1F2F8"/>
                    </a:solidFill>
                  </a:tcPr>
                </a:tc>
                <a:tc>
                  <a:txBody>
                    <a:bodyPr/>
                    <a:lstStyle/>
                    <a:p>
                      <a:r>
                        <a:rPr sz="2000" i="0" b="0">
                          <a:solidFill>
                            <a:srgbClr val="1A1F36"/>
                          </a:solidFill>
                          <a:latin typeface="Calibri"/>
                        </a:rPr>
                        <a:t>Cogintol, Biperiden (Pharco)</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carbidopa always given with levodopa, and why does it not reduce levodopa's effect in the brain?</a:t>
            </a:r>
          </a:p>
        </p:txBody>
      </p:sp>
      <p:sp>
        <p:nvSpPr>
          <p:cNvPr id="13" name="Oval 12"/>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levodopa becomes nauseated. Why is domperidone chosen instead of metoclopramide?</a:t>
            </a:r>
          </a:p>
        </p:txBody>
      </p:sp>
      <p:sp>
        <p:nvSpPr>
          <p:cNvPr id="15" name="Oval 14"/>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A 60-year-old man on pramipexole has started spending his savings on gambling. What is happening, and what would you advise?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Cholinergic neurons of the basal forebrain</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Dopamine neurons of the substantia nigra</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neurons of the raphe nuclei</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 neurons of the cortex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Cholinergic neurons of the basal forebrain</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Dopamine neurons of the substantia nigra</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neurons of the raphe nuclei</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 neurons of the cortex</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Dopamine neurons of the substantia nigra die. A is Alzheimer's disease. C and D are not the cause.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levodopa dose needed for a therapeutic effect</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Levodopa-induced dyskinesia</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time to onset in the brain</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Brain dopamine synthesis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levodopa dose needed for a therapeutic effect</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Levodopa-induced dyskinesia</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time to onset in the brain</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Brain dopamine synthesis</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Carbidopa blocks peripheral AADC, so a lower levodopa dose works. B, C and D are not reduced.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Amantadine, carbidopa and entacapone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 carbidopa and selegiline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Levodopa, carbidopa and entacapone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Pramipexole, carbidopa and entacapone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03</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3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Amantadine, carbidopa and entacapone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 carbidopa and selegiline</a:t>
            </a:r>
          </a:p>
        </p:txBody>
      </p:sp>
      <p:sp>
        <p:nvSpPr>
          <p:cNvPr id="18" name="Rounded Rectangle 17"/>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Levodopa, carbidopa and entacapone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Pramipexole, carbidopa and entacapone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Carbidopa and entacapone both act on levodopa metabolism. A, B and D add carbidopa or entacapone without levodopa, where they do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3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866986"/>
          </a:xfrm>
          <a:prstGeom prst="rect">
            <a:avLst/>
          </a:prstGeom>
          <a:noFill/>
        </p:spPr>
        <p:txBody>
          <a:bodyPr wrap="square" anchor="t" lIns="0" rIns="0" tIns="0" bIns="0">
            <a:spAutoFit/>
          </a:bodyPr>
          <a:lstStyle/>
          <a:p>
            <a:r>
              <a:rPr sz="2000" i="0" b="0">
                <a:solidFill>
                  <a:srgbClr val="FFFFFF"/>
                </a:solidFill>
                <a:latin typeface="Calibri"/>
              </a:rPr>
              <a:t>Parkinson's disease is a loss of nigrostriatal dopamine, leaving acetylcholine dominant.</a:t>
            </a:r>
          </a:p>
        </p:txBody>
      </p:sp>
      <p:sp>
        <p:nvSpPr>
          <p:cNvPr id="7" name="Oval 6"/>
          <p:cNvSpPr/>
          <p:nvPr/>
        </p:nvSpPr>
        <p:spPr>
          <a:xfrm>
            <a:off x="548640" y="275979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78082"/>
            <a:ext cx="10500055" cy="549486"/>
          </a:xfrm>
          <a:prstGeom prst="rect">
            <a:avLst/>
          </a:prstGeom>
          <a:noFill/>
        </p:spPr>
        <p:txBody>
          <a:bodyPr wrap="square" anchor="t" lIns="0" rIns="0" tIns="0" bIns="0">
            <a:spAutoFit/>
          </a:bodyPr>
          <a:lstStyle/>
          <a:p>
            <a:r>
              <a:rPr sz="2000" i="0" b="0">
                <a:solidFill>
                  <a:srgbClr val="FFFFFF"/>
                </a:solidFill>
                <a:latin typeface="Calibri"/>
              </a:rPr>
              <a:t>Levodopa is the most effective drug; carbidopa stops its peripheral conversion.</a:t>
            </a:r>
          </a:p>
        </p:txBody>
      </p:sp>
      <p:sp>
        <p:nvSpPr>
          <p:cNvPr id="9" name="Oval 8"/>
          <p:cNvSpPr/>
          <p:nvPr/>
        </p:nvSpPr>
        <p:spPr>
          <a:xfrm>
            <a:off x="548640" y="335500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73289"/>
            <a:ext cx="10500055" cy="549486"/>
          </a:xfrm>
          <a:prstGeom prst="rect">
            <a:avLst/>
          </a:prstGeom>
          <a:noFill/>
        </p:spPr>
        <p:txBody>
          <a:bodyPr wrap="square" anchor="t" lIns="0" rIns="0" tIns="0" bIns="0">
            <a:spAutoFit/>
          </a:bodyPr>
          <a:lstStyle/>
          <a:p>
            <a:r>
              <a:rPr sz="2000" i="0" b="0">
                <a:solidFill>
                  <a:srgbClr val="FFFFFF"/>
                </a:solidFill>
                <a:latin typeface="Calibri"/>
              </a:rPr>
              <a:t>COMT and MAO-B inhibitors prolong levodopa's effect.</a:t>
            </a:r>
          </a:p>
        </p:txBody>
      </p:sp>
      <p:sp>
        <p:nvSpPr>
          <p:cNvPr id="11" name="Oval 10"/>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968496"/>
            <a:ext cx="10500055" cy="866986"/>
          </a:xfrm>
          <a:prstGeom prst="rect">
            <a:avLst/>
          </a:prstGeom>
          <a:noFill/>
        </p:spPr>
        <p:txBody>
          <a:bodyPr wrap="square" anchor="t" lIns="0" rIns="0" tIns="0" bIns="0">
            <a:spAutoFit/>
          </a:bodyPr>
          <a:lstStyle/>
          <a:p>
            <a:r>
              <a:rPr sz="2000" i="0" b="0">
                <a:solidFill>
                  <a:srgbClr val="FFFFFF"/>
                </a:solidFill>
                <a:latin typeface="Calibri"/>
              </a:rPr>
              <a:t>Non-ergot dopamine agonists are first-choice agonists; watch for impulse-control disorders and sleep attacks.</a:t>
            </a:r>
          </a:p>
        </p:txBody>
      </p:sp>
      <p:sp>
        <p:nvSpPr>
          <p:cNvPr id="13" name="Oval 12"/>
          <p:cNvSpPr/>
          <p:nvPr/>
        </p:nvSpPr>
        <p:spPr>
          <a:xfrm>
            <a:off x="548640" y="486291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881202"/>
            <a:ext cx="10500055" cy="549486"/>
          </a:xfrm>
          <a:prstGeom prst="rect">
            <a:avLst/>
          </a:prstGeom>
          <a:noFill/>
        </p:spPr>
        <p:txBody>
          <a:bodyPr wrap="square" anchor="t" lIns="0" rIns="0" tIns="0" bIns="0">
            <a:spAutoFit/>
          </a:bodyPr>
          <a:lstStyle/>
          <a:p>
            <a:r>
              <a:rPr sz="2000" i="0" b="0">
                <a:solidFill>
                  <a:srgbClr val="FFFFFF"/>
                </a:solidFill>
                <a:latin typeface="Calibri"/>
              </a:rPr>
              <a:t>Use domperidone for nausea; avoid antipsychotics and metoclopramide.</a:t>
            </a:r>
          </a:p>
        </p:txBody>
      </p:sp>
      <p:sp>
        <p:nvSpPr>
          <p:cNvPr id="15" name="Oval 14"/>
          <p:cNvSpPr/>
          <p:nvPr/>
        </p:nvSpPr>
        <p:spPr>
          <a:xfrm>
            <a:off x="548640" y="545812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476409"/>
            <a:ext cx="10500055" cy="549486"/>
          </a:xfrm>
          <a:prstGeom prst="rect">
            <a:avLst/>
          </a:prstGeom>
          <a:noFill/>
        </p:spPr>
        <p:txBody>
          <a:bodyPr wrap="square" anchor="t" lIns="0" rIns="0" tIns="0" bIns="0">
            <a:spAutoFit/>
          </a:bodyPr>
          <a:lstStyle/>
          <a:p>
            <a:r>
              <a:rPr sz="2000" i="0" b="0">
                <a:solidFill>
                  <a:srgbClr val="FFFFFF"/>
                </a:solidFill>
                <a:latin typeface="Calibri"/>
              </a:rPr>
              <a:t>Anticholinergics help tremor but cause confusion; avoid in older people.</a:t>
            </a:r>
          </a:p>
        </p:txBody>
      </p:sp>
      <p:pic>
        <p:nvPicPr>
          <p:cNvPr id="17" name="Picture 16"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8" name="Picture 17"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