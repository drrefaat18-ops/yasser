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Quick Recap: A motor nerve releases acetylcholine (ACh) at the neuromuscular junction. ACh acts on nicotinic (Nm) receptors on the muscle, which are ion channels; Na+ enters and the muscle fibre depolarises. The signal travels into the fibre and releases Ca2+ from the sarcoplasmic reticulum through the ryanodine receptor (RyR1). Ca2+ triggers contraction. Acetylcholinesterase ends the signal in milliseconds. In the spinal cord, GABA and α2 receptors on sensory nerve endings reduce reflex firing.</a:t>
            </a:r>
          </a:p>
          <a:p/>
          <a:p>
            <a:r>
              <a:t>Time: 1:30  (at 2:00 of 40:00).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Time: 0:30  (at 2:30 of 40:00).  Next: Two Groups, Two Aims.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Muscle relaxants form two groups with different uses:</a:t>
            </a:r>
          </a:p>
          <a:p/>
          <a:p>
            <a:r>
              <a:t>Time: 2:00  (at 4:30 of 40:00).  Next: Spasticity versus spasm.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Muscle relaxants form two groups with different uses:</a:t>
            </a:r>
          </a:p>
          <a:p/>
          <a:p>
            <a:r>
              <a:t>Time: 2:00  (at 6:30 of 40:00).  Next: Baclofen.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Baclofen is a GABA derivative that is active by mouth. It is an agonist at GABA-B receptors in the spinal cord. GABA-B is a G-protein-coupled receptor, not a chloride channel. Its activation: Reflex firing falls and tone improves. Severe spasticity can be treated with intrathecal baclofen by pump. Adverse effects: drowsiness, weakness, dizziness and confusion. It is cleared by the kidneys; reduce the dose in kidney disease. Tizanidine is a central α2 agonist, related to clonidine. It reduces the release of excitatory transmitters in the spinal cord. It treats spasticity with less weakness than baclofen. Adverse effects: drowsiness, dry mouth, hypotension and weakness; rarely liver injury. Stopping suddenly can cause rebound hypertension and tachycardia. Tizanidine is metabolised by CYP1A2. Ciprofloxacin and fluvoxamine block this enzyme and cause severe hypotension and sedation; this combination is contraindicated. Diazepam enhances GABA-A receptors in the spinal cord and brain. It relaxes muscle but sedates. Tolerance and dependence limit long-term use.</a:t>
            </a:r>
          </a:p>
          <a:p/>
          <a:p>
            <a:r>
              <a:t>Time: 2:00  (at 8:30 of 40:00).  Next: Antispastic Drugs.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Baclofen is a GABA derivative that is active by mouth. It is an agonist at GABA-B receptors in the spinal cord. GABA-B is a G-protein-coupled receptor, not a chloride channel. Its activation: Reflex firing falls and tone improves. Severe spasticity can be treated with intrathecal baclofen by pump. Adverse effects: drowsiness, weakness, dizziness and confusion. It is cleared by the kidneys; reduce the dose in kidney disease. Tizanidine is a central α2 agonist, related to clonidine. It reduces the release of excitatory transmitters in the spinal cord. It treats spasticity with less weakness than baclofen. Adverse effects: drowsiness, dry mouth, hypotension and weakness; rarely liver injury. Stopping suddenly can cause rebound hypertension and tachycardia. Tizanidine is metabolised by CYP1A2. Ciprofloxacin and fluvoxamine block this enzyme and cause severe hypotension and sedation; this combination is contraindicated. Diazepam enhances GABA-A receptors in the spinal cord and brain. It relaxes muscle but sedates. Tolerance and dependence limit long-term use.</a:t>
            </a:r>
          </a:p>
          <a:p/>
          <a:p>
            <a:r>
              <a:t>Time: 1:30  (at 10:00 of 40:00).  Next: Antispasmodic Drugs for Muscle Spasm.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drugs are not first-line for back pain. First-line care is keeping active, heat, physiotherapy and, if needed, an NSAID. An antispasmodic may be added for a short time, often 1 to 2 weeks. All of them cause drowsiness; warn patients about driving and alcohol. Many products in Egypt combine a relaxant with paracetamol or ibuprofen. Count every paracetamol-containing product the patient takes, because the maximum daily dose is easy to exceed.</a:t>
            </a:r>
          </a:p>
          <a:p/>
          <a:p>
            <a:r>
              <a:t>Time: 2:30  (at 12:30 of 40:00).  Next: Dantrolene: a Direct-Acting Relaxant.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Dantrolene is a hydantoin derivative, related to phenytoin. It acts inside the muscle. It blocks the RyR1 channel and so reduces Ca2+ release from the sarcoplasmic reticulum. Contraction becomes weaker. It has little effect on heart or smooth muscle. Uses: Adverse effects: muscle weakness, drowsiness, diarrhoea and liver injury, which carries a boxed warning with long-term oral use. Check liver function.</a:t>
            </a:r>
          </a:p>
          <a:p/>
          <a:p>
            <a:r>
              <a:t>Time: 2:00  (at 14:30 of 40:00).  Next: Non-depolarising blockers.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NMBs are given IV during anaesthesia to allow tracheal intubation and to relax muscles for surgery. They are highly polar: they are not absorbed orally and do not cross the blood-brain barrier or placenta well. Members: rocuronium, vecuronium, atracurium, cisatracurium and pancuronium. Mechanism: competitive antagonists at the Nm receptor. They block ACh without activating the receptor. More ACh can overcome the block. Reversal: Residual paralysis after surgery is a real risk. It causes weak breathing and aspiration. Monitor with a nerve stimulator (train-of-four) before extubation. Succinylcholine (suxamethonium) is two ACh molecules joined together. It is not broken down by synaptic acetylcholinesterase. It is rapidly hydrolysed by plasma cholinesterase (pseudocholinesterase). It has the fastest onset (about 1 minute) and a short action (5 to 10 minutes). It is used for rapid intubation. Mechanism in two phases: Adverse effects:</a:t>
            </a:r>
          </a:p>
          <a:p/>
          <a:p>
            <a:r>
              <a:t>Time: 2:30  (at 17:00 of 40:00).  Next: Depolarising blocker: succinylcholine.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NMBs are given IV during anaesthesia to allow tracheal intubation and to relax muscles for surgery. They are highly polar: they are not absorbed orally and do not cross the blood-brain barrier or placenta well. Members: rocuronium, vecuronium, atracurium, cisatracurium and pancuronium. Mechanism: competitive antagonists at the Nm receptor. They block ACh without activating the receptor. More ACh can overcome the block. Reversal: Residual paralysis after surgery is a real risk. It causes weak breathing and aspiration. Monitor with a nerve stimulator (train-of-four) before extubation. Succinylcholine (suxamethonium) is two ACh molecules joined together. It is not broken down by synaptic acetylcholinesterase. It is rapidly hydrolysed by plasma cholinesterase (pseudocholinesterase). It has the fastest onset (about 1 minute) and a short action (5 to 10 minutes). It is used for rapid intubation. Mechanism in two phases: Adverse effects:</a:t>
            </a:r>
          </a:p>
          <a:p/>
          <a:p>
            <a:r>
              <a:t>Time: 2:30  (at 19:30 of 40:00).  Next: Depolarising blocker: succinylcholine.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NMBs are given IV during anaesthesia to allow tracheal intubation and to relax muscles for surgery. They are highly polar: they are not absorbed orally and do not cross the blood-brain barrier or placenta well. Members: rocuronium, vecuronium, atracurium, cisatracurium and pancuronium. Mechanism: competitive antagonists at the Nm receptor. They block ACh without activating the receptor. More ACh can overcome the block. Reversal: Residual paralysis after surgery is a real risk. It causes weak breathing and aspiration. Monitor with a nerve stimulator (train-of-four) before extubation. Succinylcholine (suxamethonium) is two ACh molecules joined together. It is not broken down by synaptic acetylcholinesterase. It is rapidly hydrolysed by plasma cholinesterase (pseudocholinesterase). It has the fastest onset (about 1 minute) and a short action (5 to 10 minutes). It is used for rapid intubation. Mechanism in two phases: Adverse effects:</a:t>
            </a:r>
          </a:p>
          <a:p/>
          <a:p>
            <a:r>
              <a:t>Time: 2:30  (at 22:00 of 40:00).  Next: Neuromuscular Blockers.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NMBs are given IV during anaesthesia to allow tracheal intubation and to relax muscles for surgery. They are highly polar: they are not absorbed orally and do not cross the blood-brain barrier or placenta well. Members: rocuronium, vecuronium, atracurium, cisatracurium and pancuronium. Mechanism: competitive antagonists at the Nm receptor. They block ACh without activating the receptor. More ACh can overcome the block. Reversal: Residual paralysis after surgery is a real risk. It causes weak breathing and aspiration. Monitor with a nerve stimulator (train-of-four) before extubation. Succinylcholine (suxamethonium) is two ACh molecules joined together. It is not broken down by synaptic acetylcholinesterase. It is rapidly hydrolysed by plasma cholinesterase (pseudocholinesterase). It has the fastest onset (about 1 minute) and a short action (5 to 10 minutes). It is used for rapid intubation. Mechanism in two phases: Adverse effects:</a:t>
            </a:r>
          </a:p>
          <a:p/>
          <a:p>
            <a:r>
              <a:t>Time: 1:30  (at 23:30 of 40:00).  Next: Neuromuscular Blockers.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NMBs are given IV during anaesthesia to allow tracheal intubation and to relax muscles for surgery. They are highly polar: they are not absorbed orally and do not cross the blood-brain barrier or placenta well. Members: rocuronium, vecuronium, atracurium, cisatracurium and pancuronium. Mechanism: competitive antagonists at the Nm receptor. They block ACh without activating the receptor. More ACh can overcome the block. Reversal: Residual paralysis after surgery is a real risk. It causes weak breathing and aspiration. Monitor with a nerve stimulator (train-of-four) before extubation. Succinylcholine (suxamethonium) is two ACh molecules joined together. It is not broken down by synaptic acetylcholinesterase. It is rapidly hydrolysed by plasma cholinesterase (pseudocholinesterase). It has the fastest onset (about 1 minute) and a short action (5 to 10 minutes). It is used for rapid intubation. Mechanism in two phases: Adverse effects:</a:t>
            </a:r>
          </a:p>
          <a:p/>
          <a:p>
            <a:r>
              <a:t>Time: 1:30  (at 25:00 of 40:00).  Next: Malignant Hyperthermia.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Malignant hyperthermia is a rare inherited disorder, usually linked to a mutation of RyR1. Volatile anaesthetics (halothane, sevoflurane, desflurane) or succinylcholine trigger uncontrolled Ca2+ release in muscle. Features: a rise in end-tidal CO₂ that does not respond to ventilation, tachycardia, muscle rigidity (often the jaw), then fever, acidosis, hyperkalaemia and myoglobinuria.</a:t>
            </a:r>
          </a:p>
          <a:p/>
          <a:p>
            <a:r>
              <a:t>Time: 2:00  (at 27:00 of 40:00).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Time: 2:00  (at 29:00 of 40:00).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Spasticity from brain or cord damage needs an antispastic drug. B is for surgery. C is for local muscle spasm. D would increase tone.</a:t>
            </a:r>
          </a:p>
          <a:p/>
          <a:p>
            <a:r>
              <a:t>Time: 0:45  (at 34:15 of 40:00).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Baclofen is a GABA-B agonist. A is benzodiazepines. B is NMBs. D is dantrolene.</a:t>
            </a:r>
          </a:p>
          <a:p/>
          <a:p>
            <a:r>
              <a:t>Time: 0:45  (at 35:45 of 40:00).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Ciprofloxacin inhibits CYP1A2, so tizanidine levels rise sharply. A is the opposite. C and D are not caused.</a:t>
            </a:r>
          </a:p>
          <a:p/>
          <a:p>
            <a:r>
              <a:t>Time: 0:45  (at 37:15 of 40:00).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  (at 0:30 of 40:00).  Next: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2:30  (at 31:30 of 40:00).  Next: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  (at 33:30 of 40:00).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(at 35:00 of 40:00).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(at 36:30 of 40:00).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(at 38:00 of 40:00).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  (at 40:00 of 40:00).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172477"/>
                </a:solidFill>
                <a:latin typeface="Cambria"/>
              </a:rPr>
              <a:t>06</a:t>
            </a:r>
          </a:p>
        </p:txBody>
      </p:sp>
      <p:pic>
        <p:nvPicPr>
          <p:cNvPr id="4" name="Picture 3" descr="port-said-university.png"/>
          <p:cNvPicPr>
            <a:picLocks noChangeAspect="1"/>
          </p:cNvPicPr>
          <p:nvPr/>
        </p:nvPicPr>
        <p:blipFill>
          <a:blip r:embed="rId3"/>
          <a:stretch>
            <a:fillRect/>
          </a:stretch>
        </p:blipFill>
        <p:spPr>
          <a:xfrm>
            <a:off x="548640" y="502920"/>
            <a:ext cx="960120" cy="960120"/>
          </a:xfrm>
          <a:prstGeom prst="rect">
            <a:avLst/>
          </a:prstGeom>
        </p:spPr>
      </p:pic>
      <p:pic>
        <p:nvPicPr>
          <p:cNvPr id="5" name="Picture 4" descr="faculty-of-pharmacy.png"/>
          <p:cNvPicPr>
            <a:picLocks noChangeAspect="1"/>
          </p:cNvPicPr>
          <p:nvPr/>
        </p:nvPicPr>
        <p:blipFill>
          <a:blip r:embed="rId4"/>
          <a:stretch>
            <a:fillRect/>
          </a:stretch>
        </p:blipFill>
        <p:spPr>
          <a:xfrm>
            <a:off x="1691640" y="502920"/>
            <a:ext cx="960120" cy="960120"/>
          </a:xfrm>
          <a:prstGeom prst="rect">
            <a:avLst/>
          </a:prstGeom>
        </p:spPr>
      </p:pic>
      <p:sp>
        <p:nvSpPr>
          <p:cNvPr id="6" name="TextBox 5"/>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DFE1EF"/>
                </a:solidFill>
                <a:latin typeface="Calibri"/>
              </a:rPr>
              <a:t>PORT SAID UNIVERSITY</a:t>
            </a:r>
          </a:p>
        </p:txBody>
      </p:sp>
      <p:sp>
        <p:nvSpPr>
          <p:cNvPr id="7" name="TextBox 6"/>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DFE1EF"/>
                </a:solidFill>
                <a:latin typeface="Calibri"/>
              </a:rPr>
              <a:t>PRACTICAL PHARMACOLOGY OF THE CENTRAL NERVOUS SYSTEM  ·  SECTION 6</a:t>
            </a:r>
          </a:p>
          <a:p>
            <a:pPr>
              <a:spcBef>
                <a:spcPts val="1400"/>
              </a:spcBef>
            </a:pPr>
            <a:r>
              <a:rPr sz="4400" i="0" b="1">
                <a:solidFill>
                  <a:srgbClr val="FFFFFF"/>
                </a:solidFill>
                <a:latin typeface="Cambria"/>
              </a:rPr>
              <a:t>Skeletal Muscle Relaxants</a:t>
            </a:r>
          </a:p>
          <a:p>
            <a:pPr>
              <a:spcBef>
                <a:spcPts val="1600"/>
              </a:spcBef>
            </a:pPr>
            <a:r>
              <a:rPr sz="2000" i="1" b="0">
                <a:solidFill>
                  <a:srgbClr val="DFE1EF"/>
                </a:solidFill>
                <a:latin typeface="Cambria"/>
              </a:rPr>
              <a:t>A Laboratory and Section Guide</a:t>
            </a:r>
          </a:p>
        </p:txBody>
      </p:sp>
      <p:sp>
        <p:nvSpPr>
          <p:cNvPr id="8" name="TextBox 7"/>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DFE1EF"/>
                </a:solidFill>
                <a:latin typeface="Calibri"/>
              </a:rPr>
              <a:t>40 minutes  ·  3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Learning Objectives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02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6629400" cy="814323"/>
          </a:xfrm>
          <a:prstGeom prst="rect">
            <a:avLst/>
          </a:prstGeom>
          <a:noFill/>
        </p:spPr>
        <p:txBody>
          <a:bodyPr wrap="square" anchor="t" lIns="0" rIns="0" tIns="0" bIns="0">
            <a:spAutoFit/>
          </a:bodyPr>
          <a:lstStyle/>
          <a:p>
            <a:r>
              <a:rPr sz="2000" i="0" b="0">
                <a:solidFill>
                  <a:srgbClr val="1A1F36"/>
                </a:solidFill>
                <a:latin typeface="Calibri"/>
              </a:rPr>
              <a:t>Distinguish spasticity from muscle spasm and match each to its drug group.</a:t>
            </a:r>
          </a:p>
        </p:txBody>
      </p:sp>
      <p:sp>
        <p:nvSpPr>
          <p:cNvPr id="15" name="Oval 14"/>
          <p:cNvSpPr/>
          <p:nvPr/>
        </p:nvSpPr>
        <p:spPr>
          <a:xfrm>
            <a:off x="548640" y="2432812"/>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2451100"/>
            <a:ext cx="6629400" cy="1131824"/>
          </a:xfrm>
          <a:prstGeom prst="rect">
            <a:avLst/>
          </a:prstGeom>
          <a:noFill/>
        </p:spPr>
        <p:txBody>
          <a:bodyPr wrap="square" anchor="t" lIns="0" rIns="0" tIns="0" bIns="0">
            <a:spAutoFit/>
          </a:bodyPr>
          <a:lstStyle/>
          <a:p>
            <a:r>
              <a:rPr sz="2000" i="0" b="0">
                <a:solidFill>
                  <a:srgbClr val="1A1F36"/>
                </a:solidFill>
                <a:latin typeface="Calibri"/>
              </a:rPr>
              <a:t>Describe the site and mechanism of action of central, direct-acting and neuromuscular-blocking relaxants.</a:t>
            </a:r>
          </a:p>
        </p:txBody>
      </p:sp>
      <p:sp>
        <p:nvSpPr>
          <p:cNvPr id="17" name="Oval 16"/>
          <p:cNvSpPr/>
          <p:nvPr/>
        </p:nvSpPr>
        <p:spPr>
          <a:xfrm>
            <a:off x="548640" y="361035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8" name="TextBox 17"/>
          <p:cNvSpPr txBox="1"/>
          <p:nvPr/>
        </p:nvSpPr>
        <p:spPr>
          <a:xfrm>
            <a:off x="1143000" y="3628644"/>
            <a:ext cx="6629400" cy="814323"/>
          </a:xfrm>
          <a:prstGeom prst="rect">
            <a:avLst/>
          </a:prstGeom>
          <a:noFill/>
        </p:spPr>
        <p:txBody>
          <a:bodyPr wrap="square" anchor="t" lIns="0" rIns="0" tIns="0" bIns="0">
            <a:spAutoFit/>
          </a:bodyPr>
          <a:lstStyle/>
          <a:p>
            <a:r>
              <a:rPr sz="2000" i="0" b="0">
                <a:solidFill>
                  <a:srgbClr val="1A1F36"/>
                </a:solidFill>
                <a:latin typeface="Calibri"/>
              </a:rPr>
              <a:t>Compare depolarising and non-depolarising neuromuscular blockers, including their reversal.</a:t>
            </a:r>
          </a:p>
        </p:txBody>
      </p:sp>
      <p:sp>
        <p:nvSpPr>
          <p:cNvPr id="19" name="Oval 18"/>
          <p:cNvSpPr/>
          <p:nvPr/>
        </p:nvSpPr>
        <p:spPr>
          <a:xfrm>
            <a:off x="548640" y="4470400"/>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20" name="TextBox 19"/>
          <p:cNvSpPr txBox="1"/>
          <p:nvPr/>
        </p:nvSpPr>
        <p:spPr>
          <a:xfrm>
            <a:off x="1143000" y="4488688"/>
            <a:ext cx="6629400" cy="814323"/>
          </a:xfrm>
          <a:prstGeom prst="rect">
            <a:avLst/>
          </a:prstGeom>
          <a:noFill/>
        </p:spPr>
        <p:txBody>
          <a:bodyPr wrap="square" anchor="t" lIns="0" rIns="0" tIns="0" bIns="0">
            <a:spAutoFit/>
          </a:bodyPr>
          <a:lstStyle/>
          <a:p>
            <a:r>
              <a:rPr sz="2000" i="0" b="0">
                <a:solidFill>
                  <a:srgbClr val="1A1F36"/>
                </a:solidFill>
                <a:latin typeface="Calibri"/>
              </a:rPr>
              <a:t>Identify key adverse effects, interactions and withdrawal risks of muscle relaxants.</a:t>
            </a:r>
          </a:p>
        </p:txBody>
      </p:sp>
      <p:sp>
        <p:nvSpPr>
          <p:cNvPr id="21" name="Oval 20"/>
          <p:cNvSpPr/>
          <p:nvPr/>
        </p:nvSpPr>
        <p:spPr>
          <a:xfrm>
            <a:off x="548640" y="5330443"/>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22" name="TextBox 21"/>
          <p:cNvSpPr txBox="1"/>
          <p:nvPr/>
        </p:nvSpPr>
        <p:spPr>
          <a:xfrm>
            <a:off x="1143000" y="5348732"/>
            <a:ext cx="6629400" cy="814323"/>
          </a:xfrm>
          <a:prstGeom prst="rect">
            <a:avLst/>
          </a:prstGeom>
          <a:noFill/>
        </p:spPr>
        <p:txBody>
          <a:bodyPr wrap="square" anchor="t" lIns="0" rIns="0" tIns="0" bIns="0">
            <a:spAutoFit/>
          </a:bodyPr>
          <a:lstStyle/>
          <a:p>
            <a:r>
              <a:rPr sz="2000" i="0" b="0">
                <a:solidFill>
                  <a:srgbClr val="1A1F36"/>
                </a:solidFill>
                <a:latin typeface="Calibri"/>
              </a:rPr>
              <a:t>Outline the recognition and treatment of malignant hyperthermia.</a:t>
            </a:r>
          </a:p>
        </p:txBody>
      </p:sp>
      <p:sp>
        <p:nvSpPr>
          <p:cNvPr id="23" name="Rounded Rectangle 22"/>
          <p:cNvSpPr/>
          <p:nvPr/>
        </p:nvSpPr>
        <p:spPr>
          <a:xfrm>
            <a:off x="8366760" y="1600200"/>
            <a:ext cx="3273552" cy="4526280"/>
          </a:xfrm>
          <a:prstGeom prst="roundRect">
            <a:avLst>
              <a:gd name="adj" fmla="val 5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28644" y="1664208"/>
            <a:ext cx="2749783"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1B2A8C"/>
                </a:solidFill>
                <a:latin typeface="Cambria"/>
              </a:rPr>
              <a:t>40</a:t>
            </a:r>
          </a:p>
          <a:p>
            <a:r>
              <a:rPr sz="1200" i="0" b="1" spc="150">
                <a:solidFill>
                  <a:srgbClr val="5A6072"/>
                </a:solidFill>
                <a:latin typeface="Calibri"/>
              </a:rPr>
              <a:t>MINUTES</a:t>
            </a:r>
          </a:p>
          <a:p>
            <a:pPr>
              <a:spcBef>
                <a:spcPts val="1600"/>
              </a:spcBef>
            </a:pPr>
            <a:r>
              <a:rPr sz="5400" i="0" b="1">
                <a:solidFill>
                  <a:srgbClr val="1B2A8C"/>
                </a:solidFill>
                <a:latin typeface="Cambria"/>
              </a:rPr>
              <a:t>3</a:t>
            </a:r>
          </a:p>
          <a:p>
            <a:r>
              <a:rPr sz="1200" i="0" b="1" spc="150">
                <a:solidFill>
                  <a:srgbClr val="5A6072"/>
                </a:solidFill>
                <a:latin typeface="Calibri"/>
              </a:rPr>
              <a:t>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Roadmap</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03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4678527" cy="824737"/>
          </a:xfrm>
          <a:prstGeom prst="rect">
            <a:avLst/>
          </a:prstGeom>
          <a:noFill/>
        </p:spPr>
        <p:txBody>
          <a:bodyPr wrap="square" anchor="t" lIns="0" rIns="0" tIns="0" bIns="0">
            <a:spAutoFit/>
          </a:bodyPr>
          <a:lstStyle/>
          <a:p>
            <a:r>
              <a:rPr sz="2200" i="0" b="0">
                <a:solidFill>
                  <a:srgbClr val="1A1F36"/>
                </a:solidFill>
                <a:latin typeface="Calibri"/>
              </a:rPr>
              <a:t>Two Groups, Two Aims</a:t>
            </a:r>
          </a:p>
        </p:txBody>
      </p:sp>
      <p:sp>
        <p:nvSpPr>
          <p:cNvPr id="15" name="Oval 14"/>
          <p:cNvSpPr/>
          <p:nvPr/>
        </p:nvSpPr>
        <p:spPr>
          <a:xfrm>
            <a:off x="548640" y="244322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2461514"/>
            <a:ext cx="4678527" cy="824737"/>
          </a:xfrm>
          <a:prstGeom prst="rect">
            <a:avLst/>
          </a:prstGeom>
          <a:noFill/>
        </p:spPr>
        <p:txBody>
          <a:bodyPr wrap="square" anchor="t" lIns="0" rIns="0" tIns="0" bIns="0">
            <a:spAutoFit/>
          </a:bodyPr>
          <a:lstStyle/>
          <a:p>
            <a:r>
              <a:rPr sz="2200" i="0" b="0">
                <a:solidFill>
                  <a:srgbClr val="1A1F36"/>
                </a:solidFill>
                <a:latin typeface="Calibri"/>
              </a:rPr>
              <a:t>Antispastic Drugs</a:t>
            </a:r>
          </a:p>
        </p:txBody>
      </p:sp>
      <p:sp>
        <p:nvSpPr>
          <p:cNvPr id="17" name="Oval 16"/>
          <p:cNvSpPr/>
          <p:nvPr/>
        </p:nvSpPr>
        <p:spPr>
          <a:xfrm>
            <a:off x="548640" y="331368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8" name="TextBox 17"/>
          <p:cNvSpPr txBox="1"/>
          <p:nvPr/>
        </p:nvSpPr>
        <p:spPr>
          <a:xfrm>
            <a:off x="1143000" y="3331972"/>
            <a:ext cx="4678527" cy="1173987"/>
          </a:xfrm>
          <a:prstGeom prst="rect">
            <a:avLst/>
          </a:prstGeom>
          <a:noFill/>
        </p:spPr>
        <p:txBody>
          <a:bodyPr wrap="square" anchor="t" lIns="0" rIns="0" tIns="0" bIns="0">
            <a:spAutoFit/>
          </a:bodyPr>
          <a:lstStyle/>
          <a:p>
            <a:r>
              <a:rPr sz="2200" i="0" b="0">
                <a:solidFill>
                  <a:srgbClr val="1A1F36"/>
                </a:solidFill>
                <a:latin typeface="Calibri"/>
              </a:rPr>
              <a:t>Antispasmodic Drugs for Muscle Spasm</a:t>
            </a:r>
          </a:p>
        </p:txBody>
      </p:sp>
      <p:sp>
        <p:nvSpPr>
          <p:cNvPr id="19" name="Oval 18"/>
          <p:cNvSpPr/>
          <p:nvPr/>
        </p:nvSpPr>
        <p:spPr>
          <a:xfrm>
            <a:off x="548640" y="453339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20" name="TextBox 19"/>
          <p:cNvSpPr txBox="1"/>
          <p:nvPr/>
        </p:nvSpPr>
        <p:spPr>
          <a:xfrm>
            <a:off x="1143000" y="4551679"/>
            <a:ext cx="4678527" cy="1173987"/>
          </a:xfrm>
          <a:prstGeom prst="rect">
            <a:avLst/>
          </a:prstGeom>
          <a:noFill/>
        </p:spPr>
        <p:txBody>
          <a:bodyPr wrap="square" anchor="t" lIns="0" rIns="0" tIns="0" bIns="0">
            <a:spAutoFit/>
          </a:bodyPr>
          <a:lstStyle/>
          <a:p>
            <a:r>
              <a:rPr sz="2200" i="0" b="0">
                <a:solidFill>
                  <a:srgbClr val="1A1F36"/>
                </a:solidFill>
                <a:latin typeface="Calibri"/>
              </a:rPr>
              <a:t>Dantrolene: a Direct-Acting Relaxant</a:t>
            </a:r>
          </a:p>
        </p:txBody>
      </p:sp>
      <p:sp>
        <p:nvSpPr>
          <p:cNvPr id="21" name="Oval 20"/>
          <p:cNvSpPr/>
          <p:nvPr/>
        </p:nvSpPr>
        <p:spPr>
          <a:xfrm>
            <a:off x="6370167"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22" name="TextBox 21"/>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1A1F36"/>
                </a:solidFill>
                <a:latin typeface="Calibri"/>
              </a:rPr>
              <a:t>Neuromuscular Blockers</a:t>
            </a:r>
          </a:p>
        </p:txBody>
      </p:sp>
      <p:sp>
        <p:nvSpPr>
          <p:cNvPr id="23" name="Oval 22"/>
          <p:cNvSpPr/>
          <p:nvPr/>
        </p:nvSpPr>
        <p:spPr>
          <a:xfrm>
            <a:off x="6370167" y="244322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24" name="TextBox 23"/>
          <p:cNvSpPr txBox="1"/>
          <p:nvPr/>
        </p:nvSpPr>
        <p:spPr>
          <a:xfrm>
            <a:off x="6964527" y="2461514"/>
            <a:ext cx="4678527" cy="824737"/>
          </a:xfrm>
          <a:prstGeom prst="rect">
            <a:avLst/>
          </a:prstGeom>
          <a:noFill/>
        </p:spPr>
        <p:txBody>
          <a:bodyPr wrap="square" anchor="t" lIns="0" rIns="0" tIns="0" bIns="0">
            <a:spAutoFit/>
          </a:bodyPr>
          <a:lstStyle/>
          <a:p>
            <a:r>
              <a:rPr sz="2200" i="0" b="0">
                <a:solidFill>
                  <a:srgbClr val="1A1F36"/>
                </a:solidFill>
                <a:latin typeface="Calibri"/>
              </a:rPr>
              <a:t>Malignant Hyperthermia</a:t>
            </a:r>
          </a:p>
        </p:txBody>
      </p:sp>
      <p:sp>
        <p:nvSpPr>
          <p:cNvPr id="25" name="Oval 24"/>
          <p:cNvSpPr/>
          <p:nvPr/>
        </p:nvSpPr>
        <p:spPr>
          <a:xfrm>
            <a:off x="6370167" y="331368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7</a:t>
            </a:r>
          </a:p>
        </p:txBody>
      </p:sp>
      <p:sp>
        <p:nvSpPr>
          <p:cNvPr id="26" name="TextBox 25"/>
          <p:cNvSpPr txBox="1"/>
          <p:nvPr/>
        </p:nvSpPr>
        <p:spPr>
          <a:xfrm>
            <a:off x="6964527" y="3331972"/>
            <a:ext cx="4678527" cy="824737"/>
          </a:xfrm>
          <a:prstGeom prst="rect">
            <a:avLst/>
          </a:prstGeom>
          <a:noFill/>
        </p:spPr>
        <p:txBody>
          <a:bodyPr wrap="square" anchor="t" lIns="0" rIns="0" tIns="0" bIns="0">
            <a:spAutoFit/>
          </a:bodyPr>
          <a:lstStyle/>
          <a:p>
            <a:r>
              <a:rPr sz="2200" i="0" b="0">
                <a:solidFill>
                  <a:srgbClr val="1A1F36"/>
                </a:solidFill>
                <a:latin typeface="Calibri"/>
              </a:rPr>
              <a:t>Brands in Egypt</a:t>
            </a:r>
          </a:p>
        </p:txBody>
      </p:sp>
      <p:sp>
        <p:nvSpPr>
          <p:cNvPr id="27" name="Oval 26"/>
          <p:cNvSpPr/>
          <p:nvPr/>
        </p:nvSpPr>
        <p:spPr>
          <a:xfrm>
            <a:off x="6370167" y="418414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8</a:t>
            </a:r>
          </a:p>
        </p:txBody>
      </p:sp>
      <p:sp>
        <p:nvSpPr>
          <p:cNvPr id="28" name="TextBox 27"/>
          <p:cNvSpPr txBox="1"/>
          <p:nvPr/>
        </p:nvSpPr>
        <p:spPr>
          <a:xfrm>
            <a:off x="6964527" y="4202430"/>
            <a:ext cx="4678527" cy="824737"/>
          </a:xfrm>
          <a:prstGeom prst="rect">
            <a:avLst/>
          </a:prstGeom>
          <a:noFill/>
        </p:spPr>
        <p:txBody>
          <a:bodyPr wrap="square" anchor="t" lIns="0" rIns="0" tIns="0" bIns="0">
            <a:spAutoFit/>
          </a:bodyPr>
          <a:lstStyle/>
          <a:p>
            <a:r>
              <a:rPr sz="2200" i="0" b="0">
                <a:solidFill>
                  <a:srgbClr val="1A1F36"/>
                </a:solidFill>
                <a:latin typeface="Calibri"/>
              </a:rPr>
              <a:t>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Two Groups, Two Aims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04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315468"/>
          </a:xfrm>
          <a:prstGeom prst="roundRect">
            <a:avLst>
              <a:gd name="adj" fmla="val 50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Muscle relaxants form two groups with different uses:</a:t>
            </a:r>
          </a:p>
        </p:txBody>
      </p:sp>
      <p:sp>
        <p:nvSpPr>
          <p:cNvPr id="15" name="Oval 14"/>
          <p:cNvSpPr/>
          <p:nvPr/>
        </p:nvSpPr>
        <p:spPr>
          <a:xfrm>
            <a:off x="548640" y="225399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6" name="TextBox 15"/>
          <p:cNvSpPr txBox="1"/>
          <p:nvPr/>
        </p:nvSpPr>
        <p:spPr>
          <a:xfrm>
            <a:off x="1143000" y="2272284"/>
            <a:ext cx="10500055" cy="1142237"/>
          </a:xfrm>
          <a:prstGeom prst="rect">
            <a:avLst/>
          </a:prstGeom>
          <a:noFill/>
        </p:spPr>
        <p:txBody>
          <a:bodyPr wrap="square" anchor="t" lIns="0" rIns="0" tIns="0" bIns="0">
            <a:spAutoFit/>
          </a:bodyPr>
          <a:lstStyle/>
          <a:p>
            <a:r>
              <a:rPr sz="2100" i="0" b="1">
                <a:solidFill>
                  <a:srgbClr val="1A1F36"/>
                </a:solidFill>
                <a:latin typeface="Calibri"/>
              </a:rPr>
              <a:t>Spasmolytics</a:t>
            </a:r>
            <a:r>
              <a:rPr sz="2100" i="0" b="0">
                <a:solidFill>
                  <a:srgbClr val="1A1F36"/>
                </a:solidFill>
                <a:latin typeface="Calibri"/>
              </a:rPr>
              <a:t> act in the brain and spinal cord, or directly on muscle. They are used for spasticity and muscle spasm in conscious patients.</a:t>
            </a:r>
          </a:p>
        </p:txBody>
      </p:sp>
      <p:sp>
        <p:nvSpPr>
          <p:cNvPr id="17" name="Oval 16"/>
          <p:cNvSpPr/>
          <p:nvPr/>
        </p:nvSpPr>
        <p:spPr>
          <a:xfrm>
            <a:off x="548640" y="344195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8" name="TextBox 17"/>
          <p:cNvSpPr txBox="1"/>
          <p:nvPr/>
        </p:nvSpPr>
        <p:spPr>
          <a:xfrm>
            <a:off x="1143000" y="3460242"/>
            <a:ext cx="10500055" cy="1475612"/>
          </a:xfrm>
          <a:prstGeom prst="rect">
            <a:avLst/>
          </a:prstGeom>
          <a:noFill/>
        </p:spPr>
        <p:txBody>
          <a:bodyPr wrap="square" anchor="t" lIns="0" rIns="0" tIns="0" bIns="0">
            <a:spAutoFit/>
          </a:bodyPr>
          <a:lstStyle/>
          <a:p>
            <a:r>
              <a:rPr sz="2100" i="0" b="1">
                <a:solidFill>
                  <a:srgbClr val="1A1F36"/>
                </a:solidFill>
                <a:latin typeface="Calibri"/>
              </a:rPr>
              <a:t>Neuromuscular blockers (NMBs)</a:t>
            </a:r>
            <a:r>
              <a:rPr sz="2100" i="0" b="0">
                <a:solidFill>
                  <a:srgbClr val="1A1F36"/>
                </a:solidFill>
                <a:latin typeface="Calibri"/>
              </a:rPr>
              <a:t> act at the neuromuscular junction. They have no CNS effect, no analgesia and no sedation. They are used only during anaesthesia and in intensive care, with ventilation.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Spasticity versus spasm</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05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54480"/>
            <a:ext cx="11094415" cy="4617720"/>
          </a:xfrm>
          <a:prstGeom prst="roundRect">
            <a:avLst>
              <a:gd name="adj" fmla="val 3000"/>
            </a:avLst>
          </a:prstGeom>
          <a:solidFill>
            <a:srgbClr val="FFFFFF"/>
          </a:solidFill>
          <a:ln w="9525">
            <a:solidFill>
              <a:srgbClr val="DDDFEE"/>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 vertical chain: brain and brainstem, spinal cord, neuromuscular junction and muscle fibre, each linked to the drugs acting there: antispasmodics, antispastics, neuromuscular blockers and dantrolene."/>
          <p:cNvPicPr>
            <a:picLocks noChangeAspect="1"/>
          </p:cNvPicPr>
          <p:nvPr/>
        </p:nvPicPr>
        <p:blipFill>
          <a:blip r:embed="rId5"/>
          <a:stretch>
            <a:fillRect/>
          </a:stretch>
        </p:blipFill>
        <p:spPr>
          <a:xfrm>
            <a:off x="2029708" y="1664207"/>
            <a:ext cx="8132279" cy="3977639"/>
          </a:xfrm>
          <a:prstGeom prst="rect">
            <a:avLst/>
          </a:prstGeom>
        </p:spPr>
      </p:pic>
      <p:sp>
        <p:nvSpPr>
          <p:cNvPr id="15" name="TextBox 14"/>
          <p:cNvSpPr txBox="1"/>
          <p:nvPr/>
        </p:nvSpPr>
        <p:spPr>
          <a:xfrm>
            <a:off x="685800" y="5733287"/>
            <a:ext cx="10820095" cy="365760"/>
          </a:xfrm>
          <a:prstGeom prst="rect">
            <a:avLst/>
          </a:prstGeom>
          <a:noFill/>
        </p:spPr>
        <p:txBody>
          <a:bodyPr wrap="square" anchor="t" lIns="0" rIns="0" tIns="0" bIns="0">
            <a:spAutoFit/>
          </a:bodyPr>
          <a:lstStyle/>
          <a:p>
            <a:pPr algn="ctr"/>
            <a:r>
              <a:rPr sz="1300" i="1" b="0">
                <a:solidFill>
                  <a:srgbClr val="5A6072"/>
                </a:solidFill>
                <a:latin typeface="Calibri"/>
              </a:rPr>
              <a:t>Sites of action of skeletal muscle relaxants from brain to muscle fibre.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Baclofen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06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10500055" cy="808863"/>
          </a:xfrm>
          <a:prstGeom prst="rect">
            <a:avLst/>
          </a:prstGeom>
          <a:noFill/>
        </p:spPr>
        <p:txBody>
          <a:bodyPr wrap="square" anchor="t" lIns="0" rIns="0" tIns="0" bIns="0">
            <a:spAutoFit/>
          </a:bodyPr>
          <a:lstStyle/>
          <a:p>
            <a:r>
              <a:rPr sz="2100" i="0" b="0">
                <a:solidFill>
                  <a:srgbClr val="1A1F36"/>
                </a:solidFill>
                <a:latin typeface="Calibri"/>
              </a:rPr>
              <a:t>Opens K+ channels, so the neuron hyperpolarises.</a:t>
            </a:r>
          </a:p>
        </p:txBody>
      </p:sp>
      <p:sp>
        <p:nvSpPr>
          <p:cNvPr id="15" name="Oval 14"/>
          <p:cNvSpPr/>
          <p:nvPr/>
        </p:nvSpPr>
        <p:spPr>
          <a:xfrm>
            <a:off x="548640" y="242735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2445639"/>
            <a:ext cx="10500055" cy="1142237"/>
          </a:xfrm>
          <a:prstGeom prst="rect">
            <a:avLst/>
          </a:prstGeom>
          <a:noFill/>
        </p:spPr>
        <p:txBody>
          <a:bodyPr wrap="square" anchor="t" lIns="0" rIns="0" tIns="0" bIns="0">
            <a:spAutoFit/>
          </a:bodyPr>
          <a:lstStyle/>
          <a:p>
            <a:r>
              <a:rPr sz="2100" i="0" b="0">
                <a:solidFill>
                  <a:srgbClr val="1A1F36"/>
                </a:solidFill>
                <a:latin typeface="Calibri"/>
              </a:rPr>
              <a:t>Reduces Ca2+ entry into nerve endings, so less excitatory transmitter is released.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Antispastic Drugs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07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45919" y="2103120"/>
            <a:ext cx="8899855" cy="2431288"/>
          </a:xfrm>
          <a:prstGeom prst="roundRect">
            <a:avLst>
              <a:gd name="adj" fmla="val 6000"/>
            </a:avLst>
          </a:prstGeom>
          <a:solidFill>
            <a:srgbClr val="FBEAEA">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65960" y="2167127"/>
            <a:ext cx="825977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920239" y="2331720"/>
            <a:ext cx="1074420" cy="347472"/>
          </a:xfrm>
          <a:prstGeom prst="roundRect">
            <a:avLst>
              <a:gd name="adj" fmla="val 50000"/>
            </a:avLst>
          </a:prstGeom>
          <a:solidFill>
            <a:srgbClr val="B3261E"/>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6" name="TextBox 15"/>
          <p:cNvSpPr txBox="1"/>
          <p:nvPr/>
        </p:nvSpPr>
        <p:spPr>
          <a:xfrm>
            <a:off x="1920239" y="2788920"/>
            <a:ext cx="8351215" cy="1562608"/>
          </a:xfrm>
          <a:prstGeom prst="rect">
            <a:avLst/>
          </a:prstGeom>
          <a:noFill/>
        </p:spPr>
        <p:txBody>
          <a:bodyPr wrap="square" anchor="t" lIns="0" rIns="0" tIns="0" bIns="0">
            <a:spAutoFit/>
          </a:bodyPr>
          <a:lstStyle/>
          <a:p>
            <a:pPr>
              <a:spcBef>
                <a:spcPts val="0"/>
              </a:spcBef>
            </a:pPr>
            <a:r>
              <a:rPr sz="2200" i="0" b="0">
                <a:solidFill>
                  <a:srgbClr val="1A1F36"/>
                </a:solidFill>
                <a:latin typeface="Calibri"/>
              </a:rPr>
              <a:t>Never stop baclofen suddenly. Withdrawal causes hallucinations, seizures, high fever and rebound spasticity. With intrathecal pumps, pump failure can be life-threatening. Reduce the dose slowly.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Antispasmodic Drugs for Muscle Spasm</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08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3" cy="3200400"/>
        </p:xfrm>
        <a:graphic>
          <a:graphicData uri="http://schemas.openxmlformats.org/drawingml/2006/table">
            <a:tbl>
              <a:tblPr firstRow="0" bandRow="0">
                <a:tableStyleId>{5C22544A-7EE6-4342-B048-85BDC9FD1C3A}</a:tableStyleId>
              </a:tblPr>
              <a:tblGrid>
                <a:gridCol w="2055494"/>
                <a:gridCol w="4363803"/>
                <a:gridCol w="4675116"/>
              </a:tblGrid>
              <a:tr h="640080">
                <a:tc>
                  <a:txBody>
                    <a:bodyPr/>
                    <a:lstStyle/>
                    <a:p>
                      <a:r>
                        <a:rPr sz="1500" i="0" b="1">
                          <a:solidFill>
                            <a:srgbClr val="FFFFFF"/>
                          </a:solidFill>
                          <a:latin typeface="Calibri"/>
                        </a:rPr>
                        <a:t>Drug</a:t>
                      </a:r>
                    </a:p>
                  </a:txBody>
                  <a:tcPr marL="109728" marR="109728" marT="45720" marB="45720" anchor="ctr">
                    <a:solidFill>
                      <a:srgbClr val="1B2A8C"/>
                    </a:solidFill>
                  </a:tcPr>
                </a:tc>
                <a:tc>
                  <a:txBody>
                    <a:bodyPr/>
                    <a:lstStyle/>
                    <a:p>
                      <a:r>
                        <a:rPr sz="1500" i="0" b="1">
                          <a:solidFill>
                            <a:srgbClr val="FFFFFF"/>
                          </a:solidFill>
                          <a:latin typeface="Calibri"/>
                        </a:rPr>
                        <a:t>Mechanism</a:t>
                      </a:r>
                    </a:p>
                  </a:txBody>
                  <a:tcPr marL="109728" marR="109728" marT="45720" marB="45720" anchor="ctr">
                    <a:solidFill>
                      <a:srgbClr val="1B2A8C"/>
                    </a:solidFill>
                  </a:tcPr>
                </a:tc>
                <a:tc>
                  <a:txBody>
                    <a:bodyPr/>
                    <a:lstStyle/>
                    <a:p>
                      <a:r>
                        <a:rPr sz="1500" i="0" b="1">
                          <a:solidFill>
                            <a:srgbClr val="FFFFFF"/>
                          </a:solidFill>
                          <a:latin typeface="Calibri"/>
                        </a:rPr>
                        <a:t>Key points</a:t>
                      </a:r>
                    </a:p>
                  </a:txBody>
                  <a:tcPr marL="109728" marR="109728" marT="45720" marB="45720" anchor="ctr">
                    <a:solidFill>
                      <a:srgbClr val="1B2A8C"/>
                    </a:solidFill>
                  </a:tcPr>
                </a:tc>
              </a:tr>
              <a:tr h="640080">
                <a:tc>
                  <a:txBody>
                    <a:bodyPr/>
                    <a:lstStyle/>
                    <a:p>
                      <a:r>
                        <a:rPr sz="1600" i="0" b="1">
                          <a:solidFill>
                            <a:srgbClr val="1A1F36"/>
                          </a:solidFill>
                          <a:latin typeface="Calibri"/>
                        </a:rPr>
                        <a:t>Cyclobenzaprine</a:t>
                      </a:r>
                    </a:p>
                  </a:txBody>
                  <a:tcPr marL="109728" marR="109728" marT="45720" marB="45720" anchor="ctr">
                    <a:solidFill>
                      <a:srgbClr val="FFFFFF"/>
                    </a:solidFill>
                  </a:tcPr>
                </a:tc>
                <a:tc>
                  <a:txBody>
                    <a:bodyPr/>
                    <a:lstStyle/>
                    <a:p>
                      <a:r>
                        <a:rPr sz="1600" i="0" b="0">
                          <a:solidFill>
                            <a:srgbClr val="1A1F36"/>
                          </a:solidFill>
                          <a:latin typeface="Calibri"/>
                        </a:rPr>
                        <a:t>Structurally related to TCAs; acts in the brainstem</a:t>
                      </a:r>
                    </a:p>
                  </a:txBody>
                  <a:tcPr marL="109728" marR="109728" marT="45720" marB="45720" anchor="ctr">
                    <a:solidFill>
                      <a:srgbClr val="FFFFFF"/>
                    </a:solidFill>
                  </a:tcPr>
                </a:tc>
                <a:tc>
                  <a:txBody>
                    <a:bodyPr/>
                    <a:lstStyle/>
                    <a:p>
                      <a:r>
                        <a:rPr sz="1600" i="0" b="0">
                          <a:solidFill>
                            <a:srgbClr val="1A1F36"/>
                          </a:solidFill>
                          <a:latin typeface="Calibri"/>
                        </a:rPr>
                        <a:t>Anticholinergic effects, sedation; serotonin syndrome with SSRIs or tramadol; do not use within 14 days of an MAO inhibitor; avoid in older people and heart disease</a:t>
                      </a:r>
                    </a:p>
                  </a:txBody>
                  <a:tcPr marL="109728" marR="109728" marT="45720" marB="45720" anchor="ctr">
                    <a:solidFill>
                      <a:srgbClr val="FFFFFF"/>
                    </a:solidFill>
                  </a:tcPr>
                </a:tc>
              </a:tr>
              <a:tr h="640080">
                <a:tc>
                  <a:txBody>
                    <a:bodyPr/>
                    <a:lstStyle/>
                    <a:p>
                      <a:r>
                        <a:rPr sz="1600" i="0" b="1">
                          <a:solidFill>
                            <a:srgbClr val="1A1F36"/>
                          </a:solidFill>
                          <a:latin typeface="Calibri"/>
                        </a:rPr>
                        <a:t>Orphenadrine</a:t>
                      </a:r>
                    </a:p>
                  </a:txBody>
                  <a:tcPr marL="109728" marR="109728" marT="45720" marB="45720" anchor="ctr">
                    <a:solidFill>
                      <a:srgbClr val="F1F2F8"/>
                    </a:solidFill>
                  </a:tcPr>
                </a:tc>
                <a:tc>
                  <a:txBody>
                    <a:bodyPr/>
                    <a:lstStyle/>
                    <a:p>
                      <a:r>
                        <a:rPr sz="1600" i="0" b="0">
                          <a:solidFill>
                            <a:srgbClr val="1A1F36"/>
                          </a:solidFill>
                          <a:latin typeface="Calibri"/>
                        </a:rPr>
                        <a:t>Anticholinergic, related to diphenhydramine</a:t>
                      </a:r>
                    </a:p>
                  </a:txBody>
                  <a:tcPr marL="109728" marR="109728" marT="45720" marB="45720" anchor="ctr">
                    <a:solidFill>
                      <a:srgbClr val="F1F2F8"/>
                    </a:solidFill>
                  </a:tcPr>
                </a:tc>
                <a:tc>
                  <a:txBody>
                    <a:bodyPr/>
                    <a:lstStyle/>
                    <a:p>
                      <a:r>
                        <a:rPr sz="1600" i="0" b="0">
                          <a:solidFill>
                            <a:srgbClr val="1A1F36"/>
                          </a:solidFill>
                          <a:latin typeface="Calibri"/>
                        </a:rPr>
                        <a:t>Dry mouth, urinary retention, confusion; avoid in glaucoma and prostatic enlargement; misused at high doses</a:t>
                      </a:r>
                    </a:p>
                  </a:txBody>
                  <a:tcPr marL="109728" marR="109728" marT="45720" marB="45720" anchor="ctr">
                    <a:solidFill>
                      <a:srgbClr val="F1F2F8"/>
                    </a:solidFill>
                  </a:tcPr>
                </a:tc>
              </a:tr>
              <a:tr h="640080">
                <a:tc>
                  <a:txBody>
                    <a:bodyPr/>
                    <a:lstStyle/>
                    <a:p>
                      <a:r>
                        <a:rPr sz="1600" i="0" b="1">
                          <a:solidFill>
                            <a:srgbClr val="1A1F36"/>
                          </a:solidFill>
                          <a:latin typeface="Calibri"/>
                        </a:rPr>
                        <a:t>Chlorzoxazone</a:t>
                      </a:r>
                    </a:p>
                  </a:txBody>
                  <a:tcPr marL="109728" marR="109728" marT="45720" marB="45720" anchor="ctr">
                    <a:solidFill>
                      <a:srgbClr val="FFFFFF"/>
                    </a:solidFill>
                  </a:tcPr>
                </a:tc>
                <a:tc>
                  <a:txBody>
                    <a:bodyPr/>
                    <a:lstStyle/>
                    <a:p>
                      <a:r>
                        <a:rPr sz="1600" i="0" b="0">
                          <a:solidFill>
                            <a:srgbClr val="1A1F36"/>
                          </a:solidFill>
                          <a:latin typeface="Calibri"/>
                        </a:rPr>
                        <a:t>Blocks polysynaptic spinal reflexes</a:t>
                      </a:r>
                    </a:p>
                  </a:txBody>
                  <a:tcPr marL="109728" marR="109728" marT="45720" marB="45720" anchor="ctr">
                    <a:solidFill>
                      <a:srgbClr val="FFFFFF"/>
                    </a:solidFill>
                  </a:tcPr>
                </a:tc>
                <a:tc>
                  <a:txBody>
                    <a:bodyPr/>
                    <a:lstStyle/>
                    <a:p>
                      <a:r>
                        <a:rPr sz="1600" i="0" b="0">
                          <a:solidFill>
                            <a:srgbClr val="1A1F36"/>
                          </a:solidFill>
                          <a:latin typeface="Calibri"/>
                        </a:rPr>
                        <a:t>Rare but serious liver injury; stop if jaundice occurs</a:t>
                      </a:r>
                    </a:p>
                  </a:txBody>
                  <a:tcPr marL="109728" marR="109728" marT="45720" marB="45720" anchor="ctr">
                    <a:solidFill>
                      <a:srgbClr val="FFFFFF"/>
                    </a:solidFill>
                  </a:tcPr>
                </a:tc>
              </a:tr>
              <a:tr h="640080">
                <a:tc>
                  <a:txBody>
                    <a:bodyPr/>
                    <a:lstStyle/>
                    <a:p>
                      <a:r>
                        <a:rPr sz="1600" i="0" b="1">
                          <a:solidFill>
                            <a:srgbClr val="1A1F36"/>
                          </a:solidFill>
                          <a:latin typeface="Calibri"/>
                        </a:rPr>
                        <a:t>Methocarbamol</a:t>
                      </a:r>
                    </a:p>
                  </a:txBody>
                  <a:tcPr marL="109728" marR="109728" marT="45720" marB="45720" anchor="ctr">
                    <a:solidFill>
                      <a:srgbClr val="F1F2F8"/>
                    </a:solidFill>
                  </a:tcPr>
                </a:tc>
                <a:tc>
                  <a:txBody>
                    <a:bodyPr/>
                    <a:lstStyle/>
                    <a:p>
                      <a:r>
                        <a:rPr sz="1600" i="0" b="0">
                          <a:solidFill>
                            <a:srgbClr val="1A1F36"/>
                          </a:solidFill>
                          <a:latin typeface="Calibri"/>
                        </a:rPr>
                        <a:t>Central depressant; exact mechanism unclear</a:t>
                      </a:r>
                    </a:p>
                  </a:txBody>
                  <a:tcPr marL="109728" marR="109728" marT="45720" marB="45720" anchor="ctr">
                    <a:solidFill>
                      <a:srgbClr val="F1F2F8"/>
                    </a:solidFill>
                  </a:tcPr>
                </a:tc>
                <a:tc>
                  <a:txBody>
                    <a:bodyPr/>
                    <a:lstStyle/>
                    <a:p>
                      <a:r>
                        <a:rPr sz="1600" i="0" b="0">
                          <a:solidFill>
                            <a:srgbClr val="1A1F36"/>
                          </a:solidFill>
                          <a:latin typeface="Calibri"/>
                        </a:rPr>
                        <a:t>Drowsiness, dizziness; low misuse potential; well tolerated</a:t>
                      </a:r>
                    </a:p>
                  </a:txBody>
                  <a:tcPr marL="109728" marR="109728" marT="45720" marB="45720" anchor="ctr">
                    <a:solidFill>
                      <a:srgbClr val="F1F2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Dantrolene: a Direct-Acting Relaxant</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09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3489960"/>
          </a:xfrm>
          <a:prstGeom prst="roundRect">
            <a:avLst>
              <a:gd name="adj" fmla="val 50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42519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Dantrolene is a hydantoin derivative, related to phenytoin. It acts </a:t>
            </a:r>
            <a:r>
              <a:rPr sz="1700" i="0" b="1">
                <a:solidFill>
                  <a:srgbClr val="1A1F36"/>
                </a:solidFill>
                <a:latin typeface="Calibri"/>
              </a:rPr>
              <a:t>inside the muscle</a:t>
            </a:r>
            <a:r>
              <a:rPr sz="1700" i="0" b="0">
                <a:solidFill>
                  <a:srgbClr val="1A1F36"/>
                </a:solidFill>
                <a:latin typeface="Calibri"/>
              </a:rPr>
              <a:t>. It blocks the </a:t>
            </a:r>
            <a:r>
              <a:rPr sz="1700" i="0" b="1">
                <a:solidFill>
                  <a:srgbClr val="1A1F36"/>
                </a:solidFill>
                <a:latin typeface="Calibri"/>
              </a:rPr>
              <a:t>RyR1</a:t>
            </a:r>
            <a:r>
              <a:rPr sz="1700" i="0" b="0">
                <a:solidFill>
                  <a:srgbClr val="1A1F36"/>
                </a:solidFill>
                <a:latin typeface="Calibri"/>
              </a:rPr>
              <a:t> channel and so reduces Ca2+ release from the sarcoplasmic reticulum. Contraction becomes weaker. It has little effect on heart or smooth muscle.</a:t>
            </a:r>
          </a:p>
          <a:p>
            <a:pPr>
              <a:spcAft>
                <a:spcPts val="800"/>
              </a:spcAft>
            </a:pPr>
            <a:r>
              <a:rPr sz="1700" i="0" b="0">
                <a:solidFill>
                  <a:srgbClr val="1A1F36"/>
                </a:solidFill>
                <a:latin typeface="Calibri"/>
              </a:rPr>
              <a:t>Uses:</a:t>
            </a:r>
          </a:p>
          <a:p>
            <a:pPr>
              <a:spcAft>
                <a:spcPts val="800"/>
              </a:spcAft>
            </a:pPr>
            <a:r>
              <a:rPr sz="1700" i="0" b="0">
                <a:solidFill>
                  <a:srgbClr val="1A1F36"/>
                </a:solidFill>
                <a:latin typeface="Calibri"/>
              </a:rPr>
              <a:t>Adverse effects: muscle weakness, drowsiness, diarrhoea and </a:t>
            </a:r>
            <a:r>
              <a:rPr sz="1700" i="0" b="1">
                <a:solidFill>
                  <a:srgbClr val="1A1F36"/>
                </a:solidFill>
                <a:latin typeface="Calibri"/>
              </a:rPr>
              <a:t>liver injury</a:t>
            </a:r>
            <a:r>
              <a:rPr sz="1700" i="0" b="0">
                <a:solidFill>
                  <a:srgbClr val="1A1F36"/>
                </a:solidFill>
                <a:latin typeface="Calibri"/>
              </a:rPr>
              <a:t>, which carries a boxed warning with long-term oral use. Check liver function.</a:t>
            </a:r>
          </a:p>
        </p:txBody>
      </p:sp>
      <p:sp>
        <p:nvSpPr>
          <p:cNvPr id="15" name="Oval 14"/>
          <p:cNvSpPr/>
          <p:nvPr/>
        </p:nvSpPr>
        <p:spPr>
          <a:xfrm>
            <a:off x="5394959"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6" name="TextBox 15"/>
          <p:cNvSpPr txBox="1"/>
          <p:nvPr/>
        </p:nvSpPr>
        <p:spPr>
          <a:xfrm>
            <a:off x="5989320" y="1591056"/>
            <a:ext cx="5653735" cy="1142237"/>
          </a:xfrm>
          <a:prstGeom prst="rect">
            <a:avLst/>
          </a:prstGeom>
          <a:noFill/>
        </p:spPr>
        <p:txBody>
          <a:bodyPr wrap="square" anchor="t" lIns="0" rIns="0" tIns="0" bIns="0">
            <a:spAutoFit/>
          </a:bodyPr>
          <a:lstStyle/>
          <a:p>
            <a:r>
              <a:rPr sz="2100" i="0" b="0">
                <a:solidFill>
                  <a:srgbClr val="1A1F36"/>
                </a:solidFill>
                <a:latin typeface="Calibri"/>
              </a:rPr>
              <a:t>Chronic spasticity (oral), for example in multiple sclerosis or spinal cord injury.</a:t>
            </a:r>
          </a:p>
        </p:txBody>
      </p:sp>
      <p:sp>
        <p:nvSpPr>
          <p:cNvPr id="17" name="Oval 16"/>
          <p:cNvSpPr/>
          <p:nvPr/>
        </p:nvSpPr>
        <p:spPr>
          <a:xfrm>
            <a:off x="5394959" y="276072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8" name="TextBox 17"/>
          <p:cNvSpPr txBox="1"/>
          <p:nvPr/>
        </p:nvSpPr>
        <p:spPr>
          <a:xfrm>
            <a:off x="5989320" y="2779014"/>
            <a:ext cx="5653735" cy="1142237"/>
          </a:xfrm>
          <a:prstGeom prst="rect">
            <a:avLst/>
          </a:prstGeom>
          <a:noFill/>
        </p:spPr>
        <p:txBody>
          <a:bodyPr wrap="square" anchor="t" lIns="0" rIns="0" tIns="0" bIns="0">
            <a:spAutoFit/>
          </a:bodyPr>
          <a:lstStyle/>
          <a:p>
            <a:r>
              <a:rPr sz="2100" i="0" b="1">
                <a:solidFill>
                  <a:srgbClr val="1A1F36"/>
                </a:solidFill>
                <a:latin typeface="Calibri"/>
              </a:rPr>
              <a:t>Malignant hyperthermia</a:t>
            </a:r>
            <a:r>
              <a:rPr sz="2100" i="0" b="0">
                <a:solidFill>
                  <a:srgbClr val="1A1F36"/>
                </a:solidFill>
                <a:latin typeface="Calibri"/>
              </a:rPr>
              <a:t> (IV); it is the only specific treatment.</a:t>
            </a:r>
          </a:p>
        </p:txBody>
      </p:sp>
      <p:sp>
        <p:nvSpPr>
          <p:cNvPr id="19" name="Oval 18"/>
          <p:cNvSpPr/>
          <p:nvPr/>
        </p:nvSpPr>
        <p:spPr>
          <a:xfrm>
            <a:off x="5394959" y="3948683"/>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20" name="TextBox 19"/>
          <p:cNvSpPr txBox="1"/>
          <p:nvPr/>
        </p:nvSpPr>
        <p:spPr>
          <a:xfrm>
            <a:off x="5989320" y="3966971"/>
            <a:ext cx="5653735" cy="1142237"/>
          </a:xfrm>
          <a:prstGeom prst="rect">
            <a:avLst/>
          </a:prstGeom>
          <a:noFill/>
        </p:spPr>
        <p:txBody>
          <a:bodyPr wrap="square" anchor="t" lIns="0" rIns="0" tIns="0" bIns="0">
            <a:spAutoFit/>
          </a:bodyPr>
          <a:lstStyle/>
          <a:p>
            <a:r>
              <a:rPr sz="2100" i="0" b="0">
                <a:solidFill>
                  <a:srgbClr val="1A1F36"/>
                </a:solidFill>
                <a:latin typeface="Calibri"/>
              </a:rPr>
              <a:t>Neuroleptic malignant syndrome (sometimes).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Non-depolarising blockers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10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3" cy="3840480"/>
        </p:xfrm>
        <a:graphic>
          <a:graphicData uri="http://schemas.openxmlformats.org/drawingml/2006/table">
            <a:tbl>
              <a:tblPr firstRow="0" bandRow="0">
                <a:tableStyleId>{5C22544A-7EE6-4342-B048-85BDC9FD1C3A}</a:tableStyleId>
              </a:tblPr>
              <a:tblGrid>
                <a:gridCol w="1925476"/>
                <a:gridCol w="2934060"/>
                <a:gridCol w="6234877"/>
              </a:tblGrid>
              <a:tr h="640080">
                <a:tc>
                  <a:txBody>
                    <a:bodyPr/>
                    <a:lstStyle/>
                    <a:p>
                      <a:r>
                        <a:rPr sz="1500" i="0" b="1">
                          <a:solidFill>
                            <a:srgbClr val="FFFFFF"/>
                          </a:solidFill>
                          <a:latin typeface="Calibri"/>
                        </a:rPr>
                        <a:t>Drug</a:t>
                      </a:r>
                    </a:p>
                  </a:txBody>
                  <a:tcPr marL="109728" marR="109728" marT="45720" marB="45720" anchor="ctr">
                    <a:solidFill>
                      <a:srgbClr val="1B2A8C"/>
                    </a:solidFill>
                  </a:tcPr>
                </a:tc>
                <a:tc>
                  <a:txBody>
                    <a:bodyPr/>
                    <a:lstStyle/>
                    <a:p>
                      <a:r>
                        <a:rPr sz="1500" i="0" b="1">
                          <a:solidFill>
                            <a:srgbClr val="FFFFFF"/>
                          </a:solidFill>
                          <a:latin typeface="Calibri"/>
                        </a:rPr>
                        <a:t>Onset and duration</a:t>
                      </a:r>
                    </a:p>
                  </a:txBody>
                  <a:tcPr marL="109728" marR="109728" marT="45720" marB="45720" anchor="ctr">
                    <a:solidFill>
                      <a:srgbClr val="1B2A8C"/>
                    </a:solidFill>
                  </a:tcPr>
                </a:tc>
                <a:tc>
                  <a:txBody>
                    <a:bodyPr/>
                    <a:lstStyle/>
                    <a:p>
                      <a:r>
                        <a:rPr sz="1500" i="0" b="1">
                          <a:solidFill>
                            <a:srgbClr val="FFFFFF"/>
                          </a:solidFill>
                          <a:latin typeface="Calibri"/>
                        </a:rPr>
                        <a:t>Elimination and notes</a:t>
                      </a:r>
                    </a:p>
                  </a:txBody>
                  <a:tcPr marL="109728" marR="109728" marT="45720" marB="45720" anchor="ctr">
                    <a:solidFill>
                      <a:srgbClr val="1B2A8C"/>
                    </a:solidFill>
                  </a:tcPr>
                </a:tc>
              </a:tr>
              <a:tr h="640080">
                <a:tc>
                  <a:txBody>
                    <a:bodyPr/>
                    <a:lstStyle/>
                    <a:p>
                      <a:r>
                        <a:rPr sz="1600" i="0" b="1">
                          <a:solidFill>
                            <a:srgbClr val="1A1F36"/>
                          </a:solidFill>
                          <a:latin typeface="Calibri"/>
                        </a:rPr>
                        <a:t>Rocuronium</a:t>
                      </a:r>
                    </a:p>
                  </a:txBody>
                  <a:tcPr marL="109728" marR="109728" marT="45720" marB="45720" anchor="ctr">
                    <a:solidFill>
                      <a:srgbClr val="FFFFFF"/>
                    </a:solidFill>
                  </a:tcPr>
                </a:tc>
                <a:tc>
                  <a:txBody>
                    <a:bodyPr/>
                    <a:lstStyle/>
                    <a:p>
                      <a:r>
                        <a:rPr sz="1600" i="0" b="0">
                          <a:solidFill>
                            <a:srgbClr val="1A1F36"/>
                          </a:solidFill>
                          <a:latin typeface="Calibri"/>
                        </a:rPr>
                        <a:t>Fast onset; intermediate</a:t>
                      </a:r>
                    </a:p>
                  </a:txBody>
                  <a:tcPr marL="109728" marR="109728" marT="45720" marB="45720" anchor="ctr">
                    <a:solidFill>
                      <a:srgbClr val="FFFFFF"/>
                    </a:solidFill>
                  </a:tcPr>
                </a:tc>
                <a:tc>
                  <a:txBody>
                    <a:bodyPr/>
                    <a:lstStyle/>
                    <a:p>
                      <a:r>
                        <a:rPr sz="1600" i="0" b="0">
                          <a:solidFill>
                            <a:srgbClr val="1A1F36"/>
                          </a:solidFill>
                          <a:latin typeface="Calibri"/>
                        </a:rPr>
                        <a:t>Liver (bile); used for rapid intubation; reversed by sugammadex</a:t>
                      </a:r>
                    </a:p>
                  </a:txBody>
                  <a:tcPr marL="109728" marR="109728" marT="45720" marB="45720" anchor="ctr">
                    <a:solidFill>
                      <a:srgbClr val="FFFFFF"/>
                    </a:solidFill>
                  </a:tcPr>
                </a:tc>
              </a:tr>
              <a:tr h="640080">
                <a:tc>
                  <a:txBody>
                    <a:bodyPr/>
                    <a:lstStyle/>
                    <a:p>
                      <a:r>
                        <a:rPr sz="1600" i="0" b="1">
                          <a:solidFill>
                            <a:srgbClr val="1A1F36"/>
                          </a:solidFill>
                          <a:latin typeface="Calibri"/>
                        </a:rPr>
                        <a:t>Vecuronium</a:t>
                      </a:r>
                    </a:p>
                  </a:txBody>
                  <a:tcPr marL="109728" marR="109728" marT="45720" marB="45720" anchor="ctr">
                    <a:solidFill>
                      <a:srgbClr val="F1F2F8"/>
                    </a:solidFill>
                  </a:tcPr>
                </a:tc>
                <a:tc>
                  <a:txBody>
                    <a:bodyPr/>
                    <a:lstStyle/>
                    <a:p>
                      <a:r>
                        <a:rPr sz="1600" i="0" b="0">
                          <a:solidFill>
                            <a:srgbClr val="1A1F36"/>
                          </a:solidFill>
                          <a:latin typeface="Calibri"/>
                        </a:rPr>
                        <a:t>Intermediate</a:t>
                      </a:r>
                    </a:p>
                  </a:txBody>
                  <a:tcPr marL="109728" marR="109728" marT="45720" marB="45720" anchor="ctr">
                    <a:solidFill>
                      <a:srgbClr val="F1F2F8"/>
                    </a:solidFill>
                  </a:tcPr>
                </a:tc>
                <a:tc>
                  <a:txBody>
                    <a:bodyPr/>
                    <a:lstStyle/>
                    <a:p>
                      <a:r>
                        <a:rPr sz="1600" i="0" b="0">
                          <a:solidFill>
                            <a:srgbClr val="1A1F36"/>
                          </a:solidFill>
                          <a:latin typeface="Calibri"/>
                        </a:rPr>
                        <a:t>Liver; active metabolite (3-desacetyl) can build up in kidney failure and in intensive care</a:t>
                      </a:r>
                    </a:p>
                  </a:txBody>
                  <a:tcPr marL="109728" marR="109728" marT="45720" marB="45720" anchor="ctr">
                    <a:solidFill>
                      <a:srgbClr val="F1F2F8"/>
                    </a:solidFill>
                  </a:tcPr>
                </a:tc>
              </a:tr>
              <a:tr h="640080">
                <a:tc>
                  <a:txBody>
                    <a:bodyPr/>
                    <a:lstStyle/>
                    <a:p>
                      <a:r>
                        <a:rPr sz="1600" i="0" b="1">
                          <a:solidFill>
                            <a:srgbClr val="1A1F36"/>
                          </a:solidFill>
                          <a:latin typeface="Calibri"/>
                        </a:rPr>
                        <a:t>Atracurium</a:t>
                      </a:r>
                    </a:p>
                  </a:txBody>
                  <a:tcPr marL="109728" marR="109728" marT="45720" marB="45720" anchor="ctr">
                    <a:solidFill>
                      <a:srgbClr val="FFFFFF"/>
                    </a:solidFill>
                  </a:tcPr>
                </a:tc>
                <a:tc>
                  <a:txBody>
                    <a:bodyPr/>
                    <a:lstStyle/>
                    <a:p>
                      <a:r>
                        <a:rPr sz="1600" i="0" b="0">
                          <a:solidFill>
                            <a:srgbClr val="1A1F36"/>
                          </a:solidFill>
                          <a:latin typeface="Calibri"/>
                        </a:rPr>
                        <a:t>Intermediate</a:t>
                      </a:r>
                    </a:p>
                  </a:txBody>
                  <a:tcPr marL="109728" marR="109728" marT="45720" marB="45720" anchor="ctr">
                    <a:solidFill>
                      <a:srgbClr val="FFFFFF"/>
                    </a:solidFill>
                  </a:tcPr>
                </a:tc>
                <a:tc>
                  <a:txBody>
                    <a:bodyPr/>
                    <a:lstStyle/>
                    <a:p>
                      <a:r>
                        <a:rPr sz="1600" i="0" b="0">
                          <a:solidFill>
                            <a:srgbClr val="1A1F36"/>
                          </a:solidFill>
                          <a:latin typeface="Calibri"/>
                        </a:rPr>
                        <a:t>Hofmann elimination in plasma; releases histamine (flushing, hypotension)</a:t>
                      </a:r>
                    </a:p>
                  </a:txBody>
                  <a:tcPr marL="109728" marR="109728" marT="45720" marB="45720" anchor="ctr">
                    <a:solidFill>
                      <a:srgbClr val="FFFFFF"/>
                    </a:solidFill>
                  </a:tcPr>
                </a:tc>
              </a:tr>
              <a:tr h="640080">
                <a:tc>
                  <a:txBody>
                    <a:bodyPr/>
                    <a:lstStyle/>
                    <a:p>
                      <a:r>
                        <a:rPr sz="1600" i="0" b="1">
                          <a:solidFill>
                            <a:srgbClr val="1A1F36"/>
                          </a:solidFill>
                          <a:latin typeface="Calibri"/>
                        </a:rPr>
                        <a:t>Cisatracurium</a:t>
                      </a:r>
                    </a:p>
                  </a:txBody>
                  <a:tcPr marL="109728" marR="109728" marT="45720" marB="45720" anchor="ctr">
                    <a:solidFill>
                      <a:srgbClr val="F1F2F8"/>
                    </a:solidFill>
                  </a:tcPr>
                </a:tc>
                <a:tc>
                  <a:txBody>
                    <a:bodyPr/>
                    <a:lstStyle/>
                    <a:p>
                      <a:r>
                        <a:rPr sz="1600" i="0" b="0">
                          <a:solidFill>
                            <a:srgbClr val="1A1F36"/>
                          </a:solidFill>
                          <a:latin typeface="Calibri"/>
                        </a:rPr>
                        <a:t>Intermediate</a:t>
                      </a:r>
                    </a:p>
                  </a:txBody>
                  <a:tcPr marL="109728" marR="109728" marT="45720" marB="45720" anchor="ctr">
                    <a:solidFill>
                      <a:srgbClr val="F1F2F8"/>
                    </a:solidFill>
                  </a:tcPr>
                </a:tc>
                <a:tc>
                  <a:txBody>
                    <a:bodyPr/>
                    <a:lstStyle/>
                    <a:p>
                      <a:r>
                        <a:rPr sz="1600" i="0" b="0">
                          <a:solidFill>
                            <a:srgbClr val="1A1F36"/>
                          </a:solidFill>
                          <a:latin typeface="Calibri"/>
                        </a:rPr>
                        <a:t>Hofmann elimination; little histamine release; suitable in liver and kidney failure</a:t>
                      </a:r>
                    </a:p>
                  </a:txBody>
                  <a:tcPr marL="109728" marR="109728" marT="45720" marB="45720" anchor="ctr">
                    <a:solidFill>
                      <a:srgbClr val="F1F2F8"/>
                    </a:solidFill>
                  </a:tcPr>
                </a:tc>
              </a:tr>
              <a:tr h="640080">
                <a:tc>
                  <a:txBody>
                    <a:bodyPr/>
                    <a:lstStyle/>
                    <a:p>
                      <a:r>
                        <a:rPr sz="1600" i="0" b="1">
                          <a:solidFill>
                            <a:srgbClr val="1A1F36"/>
                          </a:solidFill>
                          <a:latin typeface="Calibri"/>
                        </a:rPr>
                        <a:t>Pancuronium</a:t>
                      </a:r>
                    </a:p>
                  </a:txBody>
                  <a:tcPr marL="109728" marR="109728" marT="45720" marB="45720" anchor="ctr">
                    <a:solidFill>
                      <a:srgbClr val="FFFFFF"/>
                    </a:solidFill>
                  </a:tcPr>
                </a:tc>
                <a:tc>
                  <a:txBody>
                    <a:bodyPr/>
                    <a:lstStyle/>
                    <a:p>
                      <a:r>
                        <a:rPr sz="1600" i="0" b="0">
                          <a:solidFill>
                            <a:srgbClr val="1A1F36"/>
                          </a:solidFill>
                          <a:latin typeface="Calibri"/>
                        </a:rPr>
                        <a:t>Long</a:t>
                      </a:r>
                    </a:p>
                  </a:txBody>
                  <a:tcPr marL="109728" marR="109728" marT="45720" marB="45720" anchor="ctr">
                    <a:solidFill>
                      <a:srgbClr val="FFFFFF"/>
                    </a:solidFill>
                  </a:tcPr>
                </a:tc>
                <a:tc>
                  <a:txBody>
                    <a:bodyPr/>
                    <a:lstStyle/>
                    <a:p>
                      <a:r>
                        <a:rPr sz="1600" i="0" b="0">
                          <a:solidFill>
                            <a:srgbClr val="1A1F36"/>
                          </a:solidFill>
                          <a:latin typeface="Calibri"/>
                        </a:rPr>
                        <a:t>Mainly renal, partly liver, with an active metabolite; causes tachycardia (vagal block)</a:t>
                      </a:r>
                    </a:p>
                  </a:txBody>
                  <a:tcPr marL="109728" marR="109728" marT="45720" marB="45720"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Depolarising blocker: succinylcholine</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11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315468"/>
          </a:xfrm>
          <a:prstGeom prst="roundRect">
            <a:avLst>
              <a:gd name="adj" fmla="val 50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498348"/>
          </a:xfrm>
          <a:prstGeom prst="rect">
            <a:avLst/>
          </a:prstGeom>
          <a:noFill/>
        </p:spPr>
        <p:txBody>
          <a:bodyPr wrap="square" anchor="t" lIns="0" rIns="0" tIns="0" bIns="0">
            <a:spAutoFit/>
          </a:bodyPr>
          <a:lstStyle/>
          <a:p>
            <a:pPr>
              <a:spcAft>
                <a:spcPts val="800"/>
              </a:spcAft>
            </a:pPr>
            <a:r>
              <a:rPr sz="1800" i="0" b="1">
                <a:solidFill>
                  <a:srgbClr val="1A1F36"/>
                </a:solidFill>
                <a:latin typeface="Calibri"/>
              </a:rPr>
              <a:t>Adverse effects:</a:t>
            </a:r>
          </a:p>
        </p:txBody>
      </p:sp>
      <p:graphicFrame>
        <p:nvGraphicFramePr>
          <p:cNvPr id="15" name="Table 14"/>
          <p:cNvGraphicFramePr>
            <a:graphicFrameLocks noGrp="1"/>
          </p:cNvGraphicFramePr>
          <p:nvPr/>
        </p:nvGraphicFramePr>
        <p:xfrm>
          <a:off x="548640" y="2235708"/>
          <a:ext cx="11094414" cy="3936492"/>
        </p:xfrm>
        <a:graphic>
          <a:graphicData uri="http://schemas.openxmlformats.org/drawingml/2006/table">
            <a:tbl>
              <a:tblPr firstRow="0" bandRow="0">
                <a:tableStyleId>{5C22544A-7EE6-4342-B048-85BDC9FD1C3A}</a:tableStyleId>
              </a:tblPr>
              <a:tblGrid>
                <a:gridCol w="5464413"/>
                <a:gridCol w="5630001"/>
              </a:tblGrid>
              <a:tr h="562356">
                <a:tc>
                  <a:txBody>
                    <a:bodyPr/>
                    <a:lstStyle/>
                    <a:p>
                      <a:r>
                        <a:rPr sz="1300" i="0" b="1">
                          <a:solidFill>
                            <a:srgbClr val="FFFFFF"/>
                          </a:solidFill>
                          <a:latin typeface="Calibri"/>
                        </a:rPr>
                        <a:t>Effect</a:t>
                      </a:r>
                    </a:p>
                  </a:txBody>
                  <a:tcPr marL="109728" marR="109728" marT="45720" marB="45720" anchor="ctr">
                    <a:solidFill>
                      <a:srgbClr val="1B2A8C"/>
                    </a:solidFill>
                  </a:tcPr>
                </a:tc>
                <a:tc>
                  <a:txBody>
                    <a:bodyPr/>
                    <a:lstStyle/>
                    <a:p>
                      <a:r>
                        <a:rPr sz="1300" i="0" b="1">
                          <a:solidFill>
                            <a:srgbClr val="FFFFFF"/>
                          </a:solidFill>
                          <a:latin typeface="Calibri"/>
                        </a:rPr>
                        <a:t>Cause and at-risk patients</a:t>
                      </a:r>
                    </a:p>
                  </a:txBody>
                  <a:tcPr marL="109728" marR="109728" marT="45720" marB="45720" anchor="ctr">
                    <a:solidFill>
                      <a:srgbClr val="1B2A8C"/>
                    </a:solidFill>
                  </a:tcPr>
                </a:tc>
              </a:tr>
              <a:tr h="562356">
                <a:tc>
                  <a:txBody>
                    <a:bodyPr/>
                    <a:lstStyle/>
                    <a:p>
                      <a:r>
                        <a:rPr sz="1400" i="0" b="1">
                          <a:solidFill>
                            <a:srgbClr val="1A1F36"/>
                          </a:solidFill>
                          <a:latin typeface="Calibri"/>
                        </a:rPr>
                        <a:t>Hyperkalaemia</a:t>
                      </a:r>
                    </a:p>
                  </a:txBody>
                  <a:tcPr marL="109728" marR="109728" marT="45720" marB="45720" anchor="ctr">
                    <a:solidFill>
                      <a:srgbClr val="FFFFFF"/>
                    </a:solidFill>
                  </a:tcPr>
                </a:tc>
                <a:tc>
                  <a:txBody>
                    <a:bodyPr/>
                    <a:lstStyle/>
                    <a:p>
                      <a:r>
                        <a:rPr sz="1400" i="0" b="0">
                          <a:solidFill>
                            <a:srgbClr val="1A1F36"/>
                          </a:solidFill>
                          <a:latin typeface="Calibri"/>
                        </a:rPr>
                        <a:t>K+ leaves depolarised muscle; dangerous after burns, crush injury, denervation or long immobility; can cause cardiac arrest</a:t>
                      </a:r>
                    </a:p>
                  </a:txBody>
                  <a:tcPr marL="109728" marR="109728" marT="45720" marB="45720" anchor="ctr">
                    <a:solidFill>
                      <a:srgbClr val="FFFFFF"/>
                    </a:solidFill>
                  </a:tcPr>
                </a:tc>
              </a:tr>
              <a:tr h="562356">
                <a:tc>
                  <a:txBody>
                    <a:bodyPr/>
                    <a:lstStyle/>
                    <a:p>
                      <a:r>
                        <a:rPr sz="1400" i="0" b="1">
                          <a:solidFill>
                            <a:srgbClr val="1A1F36"/>
                          </a:solidFill>
                          <a:latin typeface="Calibri"/>
                        </a:rPr>
                        <a:t>Bradycardia</a:t>
                      </a:r>
                    </a:p>
                  </a:txBody>
                  <a:tcPr marL="109728" marR="109728" marT="45720" marB="45720" anchor="ctr">
                    <a:solidFill>
                      <a:srgbClr val="F1F2F8"/>
                    </a:solidFill>
                  </a:tcPr>
                </a:tc>
                <a:tc>
                  <a:txBody>
                    <a:bodyPr/>
                    <a:lstStyle/>
                    <a:p>
                      <a:r>
                        <a:rPr sz="1400" i="0" b="0">
                          <a:solidFill>
                            <a:srgbClr val="1A1F36"/>
                          </a:solidFill>
                          <a:latin typeface="Calibri"/>
                        </a:rPr>
                        <a:t>Muscarinic stimulation, especially after a second dose and in children; treat with atropine</a:t>
                      </a:r>
                    </a:p>
                  </a:txBody>
                  <a:tcPr marL="109728" marR="109728" marT="45720" marB="45720" anchor="ctr">
                    <a:solidFill>
                      <a:srgbClr val="F1F2F8"/>
                    </a:solidFill>
                  </a:tcPr>
                </a:tc>
              </a:tr>
              <a:tr h="562356">
                <a:tc>
                  <a:txBody>
                    <a:bodyPr/>
                    <a:lstStyle/>
                    <a:p>
                      <a:r>
                        <a:rPr sz="1400" i="0" b="1">
                          <a:solidFill>
                            <a:srgbClr val="1A1F36"/>
                          </a:solidFill>
                          <a:latin typeface="Calibri"/>
                        </a:rPr>
                        <a:t>Postoperative muscle pain</a:t>
                      </a:r>
                    </a:p>
                  </a:txBody>
                  <a:tcPr marL="109728" marR="109728" marT="45720" marB="45720" anchor="ctr">
                    <a:solidFill>
                      <a:srgbClr val="FFFFFF"/>
                    </a:solidFill>
                  </a:tcPr>
                </a:tc>
                <a:tc>
                  <a:txBody>
                    <a:bodyPr/>
                    <a:lstStyle/>
                    <a:p>
                      <a:r>
                        <a:rPr sz="1400" i="0" b="0">
                          <a:solidFill>
                            <a:srgbClr val="1A1F36"/>
                          </a:solidFill>
                          <a:latin typeface="Calibri"/>
                        </a:rPr>
                        <a:t>Fasciculations</a:t>
                      </a:r>
                    </a:p>
                  </a:txBody>
                  <a:tcPr marL="109728" marR="109728" marT="45720" marB="45720" anchor="ctr">
                    <a:solidFill>
                      <a:srgbClr val="FFFFFF"/>
                    </a:solidFill>
                  </a:tcPr>
                </a:tc>
              </a:tr>
              <a:tr h="562356">
                <a:tc>
                  <a:txBody>
                    <a:bodyPr/>
                    <a:lstStyle/>
                    <a:p>
                      <a:r>
                        <a:rPr sz="1400" i="0" b="1">
                          <a:solidFill>
                            <a:srgbClr val="1A1F36"/>
                          </a:solidFill>
                          <a:latin typeface="Calibri"/>
                        </a:rPr>
                        <a:t>Raised intraocular, intragastric and intracranial pressure</a:t>
                      </a:r>
                    </a:p>
                  </a:txBody>
                  <a:tcPr marL="109728" marR="109728" marT="45720" marB="45720" anchor="ctr">
                    <a:solidFill>
                      <a:srgbClr val="F1F2F8"/>
                    </a:solidFill>
                  </a:tcPr>
                </a:tc>
                <a:tc>
                  <a:txBody>
                    <a:bodyPr/>
                    <a:lstStyle/>
                    <a:p>
                      <a:r>
                        <a:rPr sz="1400" i="0" b="0">
                          <a:solidFill>
                            <a:srgbClr val="1A1F36"/>
                          </a:solidFill>
                          <a:latin typeface="Calibri"/>
                        </a:rPr>
                        <a:t>Muscle contraction; care in open eye injury</a:t>
                      </a:r>
                    </a:p>
                  </a:txBody>
                  <a:tcPr marL="109728" marR="109728" marT="45720" marB="45720" anchor="ctr">
                    <a:solidFill>
                      <a:srgbClr val="F1F2F8"/>
                    </a:solidFill>
                  </a:tcPr>
                </a:tc>
              </a:tr>
              <a:tr h="562356">
                <a:tc>
                  <a:txBody>
                    <a:bodyPr/>
                    <a:lstStyle/>
                    <a:p>
                      <a:r>
                        <a:rPr sz="1400" i="0" b="1">
                          <a:solidFill>
                            <a:srgbClr val="1A1F36"/>
                          </a:solidFill>
                          <a:latin typeface="Calibri"/>
                        </a:rPr>
                        <a:t>Prolonged apnoea</a:t>
                      </a:r>
                    </a:p>
                  </a:txBody>
                  <a:tcPr marL="109728" marR="109728" marT="45720" marB="45720" anchor="ctr">
                    <a:solidFill>
                      <a:srgbClr val="FFFFFF"/>
                    </a:solidFill>
                  </a:tcPr>
                </a:tc>
                <a:tc>
                  <a:txBody>
                    <a:bodyPr/>
                    <a:lstStyle/>
                    <a:p>
                      <a:r>
                        <a:rPr sz="1400" i="0" b="0">
                          <a:solidFill>
                            <a:srgbClr val="1A1F36"/>
                          </a:solidFill>
                          <a:latin typeface="Calibri"/>
                        </a:rPr>
                        <a:t>Low or atypical plasma cholinesterase (genetic, liver disease); ventilate until recovery</a:t>
                      </a:r>
                    </a:p>
                  </a:txBody>
                  <a:tcPr marL="109728" marR="109728" marT="45720" marB="45720" anchor="ctr">
                    <a:solidFill>
                      <a:srgbClr val="FFFFFF"/>
                    </a:solidFill>
                  </a:tcPr>
                </a:tc>
              </a:tr>
              <a:tr h="562356">
                <a:tc>
                  <a:txBody>
                    <a:bodyPr/>
                    <a:lstStyle/>
                    <a:p>
                      <a:r>
                        <a:rPr sz="1400" i="0" b="1">
                          <a:solidFill>
                            <a:srgbClr val="1A1F36"/>
                          </a:solidFill>
                          <a:latin typeface="Calibri"/>
                        </a:rPr>
                        <a:t>Malignant hyperthermia</a:t>
                      </a:r>
                    </a:p>
                  </a:txBody>
                  <a:tcPr marL="109728" marR="109728" marT="45720" marB="45720" anchor="ctr">
                    <a:solidFill>
                      <a:srgbClr val="F1F2F8"/>
                    </a:solidFill>
                  </a:tcPr>
                </a:tc>
                <a:tc>
                  <a:txBody>
                    <a:bodyPr/>
                    <a:lstStyle/>
                    <a:p>
                      <a:r>
                        <a:rPr sz="1400" i="0" b="0">
                          <a:solidFill>
                            <a:srgbClr val="1A1F36"/>
                          </a:solidFill>
                          <a:latin typeface="Calibri"/>
                        </a:rPr>
                        <a:t>With volatile anaesthetics, in genetically susceptible patients</a:t>
                      </a:r>
                    </a:p>
                  </a:txBody>
                  <a:tcPr marL="109728" marR="109728" marT="45720" marB="45720" anchor="ctr">
                    <a:solidFill>
                      <a:srgbClr val="F1F2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Depolarising blocker: succinylcholine</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12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4" cy="3840480"/>
        </p:xfrm>
        <a:graphic>
          <a:graphicData uri="http://schemas.openxmlformats.org/drawingml/2006/table">
            <a:tbl>
              <a:tblPr firstRow="0" bandRow="0">
                <a:tableStyleId>{5C22544A-7EE6-4342-B048-85BDC9FD1C3A}</a:tableStyleId>
              </a:tblPr>
              <a:tblGrid>
                <a:gridCol w="3123670"/>
                <a:gridCol w="3446808"/>
                <a:gridCol w="4523936"/>
              </a:tblGrid>
              <a:tr h="640080">
                <a:tc>
                  <a:txBody>
                    <a:bodyPr/>
                    <a:lstStyle/>
                    <a:p>
                      <a:r>
                        <a:rPr sz="1700" i="0" b="1">
                          <a:solidFill>
                            <a:srgbClr val="FFFFFF"/>
                          </a:solidFill>
                          <a:latin typeface="Calibri"/>
                        </a:rPr>
                        <a:t>Feature</a:t>
                      </a:r>
                    </a:p>
                  </a:txBody>
                  <a:tcPr marL="109728" marR="109728" marT="45720" marB="45720" anchor="ctr">
                    <a:solidFill>
                      <a:srgbClr val="1B2A8C"/>
                    </a:solidFill>
                  </a:tcPr>
                </a:tc>
                <a:tc>
                  <a:txBody>
                    <a:bodyPr/>
                    <a:lstStyle/>
                    <a:p>
                      <a:r>
                        <a:rPr sz="1700" i="0" b="1">
                          <a:solidFill>
                            <a:srgbClr val="FFFFFF"/>
                          </a:solidFill>
                          <a:latin typeface="Calibri"/>
                        </a:rPr>
                        <a:t>Non-depolarising</a:t>
                      </a:r>
                    </a:p>
                  </a:txBody>
                  <a:tcPr marL="109728" marR="109728" marT="45720" marB="45720" anchor="ctr">
                    <a:solidFill>
                      <a:srgbClr val="1B2A8C"/>
                    </a:solidFill>
                  </a:tcPr>
                </a:tc>
                <a:tc>
                  <a:txBody>
                    <a:bodyPr/>
                    <a:lstStyle/>
                    <a:p>
                      <a:r>
                        <a:rPr sz="1700" i="0" b="1">
                          <a:solidFill>
                            <a:srgbClr val="FFFFFF"/>
                          </a:solidFill>
                          <a:latin typeface="Calibri"/>
                        </a:rPr>
                        <a:t>Depolarising (succinylcholine)</a:t>
                      </a:r>
                    </a:p>
                  </a:txBody>
                  <a:tcPr marL="109728" marR="109728" marT="45720" marB="45720" anchor="ctr">
                    <a:solidFill>
                      <a:srgbClr val="1B2A8C"/>
                    </a:solidFill>
                  </a:tcPr>
                </a:tc>
              </a:tr>
              <a:tr h="640080">
                <a:tc>
                  <a:txBody>
                    <a:bodyPr/>
                    <a:lstStyle/>
                    <a:p>
                      <a:r>
                        <a:rPr sz="1800" i="0" b="1">
                          <a:solidFill>
                            <a:srgbClr val="1A1F36"/>
                          </a:solidFill>
                          <a:latin typeface="Calibri"/>
                        </a:rPr>
                        <a:t>Action at Nm receptor</a:t>
                      </a:r>
                    </a:p>
                  </a:txBody>
                  <a:tcPr marL="109728" marR="109728" marT="45720" marB="45720" anchor="ctr">
                    <a:solidFill>
                      <a:srgbClr val="FFFFFF"/>
                    </a:solidFill>
                  </a:tcPr>
                </a:tc>
                <a:tc>
                  <a:txBody>
                    <a:bodyPr/>
                    <a:lstStyle/>
                    <a:p>
                      <a:r>
                        <a:rPr sz="1800" i="0" b="0">
                          <a:solidFill>
                            <a:srgbClr val="1A1F36"/>
                          </a:solidFill>
                          <a:latin typeface="Calibri"/>
                        </a:rPr>
                        <a:t>Competitive antagonist</a:t>
                      </a:r>
                    </a:p>
                  </a:txBody>
                  <a:tcPr marL="109728" marR="109728" marT="45720" marB="45720" anchor="ctr">
                    <a:solidFill>
                      <a:srgbClr val="FFFFFF"/>
                    </a:solidFill>
                  </a:tcPr>
                </a:tc>
                <a:tc>
                  <a:txBody>
                    <a:bodyPr/>
                    <a:lstStyle/>
                    <a:p>
                      <a:r>
                        <a:rPr sz="1800" i="0" b="0">
                          <a:solidFill>
                            <a:srgbClr val="1A1F36"/>
                          </a:solidFill>
                          <a:latin typeface="Calibri"/>
                        </a:rPr>
                        <a:t>Agonist; persistent depolarisation</a:t>
                      </a:r>
                    </a:p>
                  </a:txBody>
                  <a:tcPr marL="109728" marR="109728" marT="45720" marB="45720" anchor="ctr">
                    <a:solidFill>
                      <a:srgbClr val="FFFFFF"/>
                    </a:solidFill>
                  </a:tcPr>
                </a:tc>
              </a:tr>
              <a:tr h="640080">
                <a:tc>
                  <a:txBody>
                    <a:bodyPr/>
                    <a:lstStyle/>
                    <a:p>
                      <a:r>
                        <a:rPr sz="1800" i="0" b="1">
                          <a:solidFill>
                            <a:srgbClr val="1A1F36"/>
                          </a:solidFill>
                          <a:latin typeface="Calibri"/>
                        </a:rPr>
                        <a:t>Fasciculations</a:t>
                      </a:r>
                    </a:p>
                  </a:txBody>
                  <a:tcPr marL="109728" marR="109728" marT="45720" marB="45720" anchor="ctr">
                    <a:solidFill>
                      <a:srgbClr val="F1F2F8"/>
                    </a:solidFill>
                  </a:tcPr>
                </a:tc>
                <a:tc>
                  <a:txBody>
                    <a:bodyPr/>
                    <a:lstStyle/>
                    <a:p>
                      <a:r>
                        <a:rPr sz="1800" i="0" b="0">
                          <a:solidFill>
                            <a:srgbClr val="1A1F36"/>
                          </a:solidFill>
                          <a:latin typeface="Calibri"/>
                        </a:rPr>
                        <a:t>No</a:t>
                      </a:r>
                    </a:p>
                  </a:txBody>
                  <a:tcPr marL="109728" marR="109728" marT="45720" marB="45720" anchor="ctr">
                    <a:solidFill>
                      <a:srgbClr val="F1F2F8"/>
                    </a:solidFill>
                  </a:tcPr>
                </a:tc>
                <a:tc>
                  <a:txBody>
                    <a:bodyPr/>
                    <a:lstStyle/>
                    <a:p>
                      <a:r>
                        <a:rPr sz="1800" i="0" b="0">
                          <a:solidFill>
                            <a:srgbClr val="1A1F36"/>
                          </a:solidFill>
                          <a:latin typeface="Calibri"/>
                        </a:rPr>
                        <a:t>Yes, at the start</a:t>
                      </a:r>
                    </a:p>
                  </a:txBody>
                  <a:tcPr marL="109728" marR="109728" marT="45720" marB="45720" anchor="ctr">
                    <a:solidFill>
                      <a:srgbClr val="F1F2F8"/>
                    </a:solidFill>
                  </a:tcPr>
                </a:tc>
              </a:tr>
              <a:tr h="640080">
                <a:tc>
                  <a:txBody>
                    <a:bodyPr/>
                    <a:lstStyle/>
                    <a:p>
                      <a:r>
                        <a:rPr sz="1800" i="0" b="1">
                          <a:solidFill>
                            <a:srgbClr val="1A1F36"/>
                          </a:solidFill>
                          <a:latin typeface="Calibri"/>
                        </a:rPr>
                        <a:t>Effect of neostigmine</a:t>
                      </a:r>
                    </a:p>
                  </a:txBody>
                  <a:tcPr marL="109728" marR="109728" marT="45720" marB="45720" anchor="ctr">
                    <a:solidFill>
                      <a:srgbClr val="FFFFFF"/>
                    </a:solidFill>
                  </a:tcPr>
                </a:tc>
                <a:tc>
                  <a:txBody>
                    <a:bodyPr/>
                    <a:lstStyle/>
                    <a:p>
                      <a:r>
                        <a:rPr sz="1800" i="0" b="0">
                          <a:solidFill>
                            <a:srgbClr val="1A1F36"/>
                          </a:solidFill>
                          <a:latin typeface="Calibri"/>
                        </a:rPr>
                        <a:t>Reverses the block</a:t>
                      </a:r>
                    </a:p>
                  </a:txBody>
                  <a:tcPr marL="109728" marR="109728" marT="45720" marB="45720" anchor="ctr">
                    <a:solidFill>
                      <a:srgbClr val="FFFFFF"/>
                    </a:solidFill>
                  </a:tcPr>
                </a:tc>
                <a:tc>
                  <a:txBody>
                    <a:bodyPr/>
                    <a:lstStyle/>
                    <a:p>
                      <a:r>
                        <a:rPr sz="1800" i="0" b="0">
                          <a:solidFill>
                            <a:srgbClr val="1A1F36"/>
                          </a:solidFill>
                          <a:latin typeface="Calibri"/>
                        </a:rPr>
                        <a:t>Worsens phase I</a:t>
                      </a:r>
                    </a:p>
                  </a:txBody>
                  <a:tcPr marL="109728" marR="109728" marT="45720" marB="45720" anchor="ctr">
                    <a:solidFill>
                      <a:srgbClr val="FFFFFF"/>
                    </a:solidFill>
                  </a:tcPr>
                </a:tc>
              </a:tr>
              <a:tr h="640080">
                <a:tc>
                  <a:txBody>
                    <a:bodyPr/>
                    <a:lstStyle/>
                    <a:p>
                      <a:r>
                        <a:rPr sz="1800" i="0" b="1">
                          <a:solidFill>
                            <a:srgbClr val="1A1F36"/>
                          </a:solidFill>
                          <a:latin typeface="Calibri"/>
                        </a:rPr>
                        <a:t>Metabolism</a:t>
                      </a:r>
                    </a:p>
                  </a:txBody>
                  <a:tcPr marL="109728" marR="109728" marT="45720" marB="45720" anchor="ctr">
                    <a:solidFill>
                      <a:srgbClr val="F1F2F8"/>
                    </a:solidFill>
                  </a:tcPr>
                </a:tc>
                <a:tc>
                  <a:txBody>
                    <a:bodyPr/>
                    <a:lstStyle/>
                    <a:p>
                      <a:r>
                        <a:rPr sz="1800" i="0" b="0">
                          <a:solidFill>
                            <a:srgbClr val="1A1F36"/>
                          </a:solidFill>
                          <a:latin typeface="Calibri"/>
                        </a:rPr>
                        <a:t>Liver, kidney or Hofmann</a:t>
                      </a:r>
                    </a:p>
                  </a:txBody>
                  <a:tcPr marL="109728" marR="109728" marT="45720" marB="45720" anchor="ctr">
                    <a:solidFill>
                      <a:srgbClr val="F1F2F8"/>
                    </a:solidFill>
                  </a:tcPr>
                </a:tc>
                <a:tc>
                  <a:txBody>
                    <a:bodyPr/>
                    <a:lstStyle/>
                    <a:p>
                      <a:r>
                        <a:rPr sz="1800" i="0" b="0">
                          <a:solidFill>
                            <a:srgbClr val="1A1F36"/>
                          </a:solidFill>
                          <a:latin typeface="Calibri"/>
                        </a:rPr>
                        <a:t>Plasma cholinesterase</a:t>
                      </a:r>
                    </a:p>
                  </a:txBody>
                  <a:tcPr marL="109728" marR="109728" marT="45720" marB="45720" anchor="ctr">
                    <a:solidFill>
                      <a:srgbClr val="F1F2F8"/>
                    </a:solidFill>
                  </a:tcPr>
                </a:tc>
              </a:tr>
              <a:tr h="640080">
                <a:tc>
                  <a:txBody>
                    <a:bodyPr/>
                    <a:lstStyle/>
                    <a:p>
                      <a:r>
                        <a:rPr sz="1800" i="0" b="1">
                          <a:solidFill>
                            <a:srgbClr val="1A1F36"/>
                          </a:solidFill>
                          <a:latin typeface="Calibri"/>
                        </a:rPr>
                        <a:t>Special reversal</a:t>
                      </a:r>
                    </a:p>
                  </a:txBody>
                  <a:tcPr marL="109728" marR="109728" marT="45720" marB="45720" anchor="ctr">
                    <a:solidFill>
                      <a:srgbClr val="FFFFFF"/>
                    </a:solidFill>
                  </a:tcPr>
                </a:tc>
                <a:tc>
                  <a:txBody>
                    <a:bodyPr/>
                    <a:lstStyle/>
                    <a:p>
                      <a:r>
                        <a:rPr sz="1800" i="0" b="0">
                          <a:solidFill>
                            <a:srgbClr val="1A1F36"/>
                          </a:solidFill>
                          <a:latin typeface="Calibri"/>
                        </a:rPr>
                        <a:t>Sugammadex (rocuronium)</a:t>
                      </a:r>
                    </a:p>
                  </a:txBody>
                  <a:tcPr marL="109728" marR="109728" marT="45720" marB="45720" anchor="ctr">
                    <a:solidFill>
                      <a:srgbClr val="FFFFFF"/>
                    </a:solidFill>
                  </a:tcPr>
                </a:tc>
                <a:tc>
                  <a:txBody>
                    <a:bodyPr/>
                    <a:lstStyle/>
                    <a:p>
                      <a:r>
                        <a:rPr sz="1800" i="0" b="0">
                          <a:solidFill>
                            <a:srgbClr val="1A1F36"/>
                          </a:solidFill>
                          <a:latin typeface="Calibri"/>
                        </a:rPr>
                        <a:t>None; wait</a:t>
                      </a:r>
                    </a:p>
                  </a:txBody>
                  <a:tcPr marL="109728" marR="109728" marT="45720" marB="4572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Neuromuscular Blockers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13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45919" y="2103120"/>
            <a:ext cx="8899855" cy="2431288"/>
          </a:xfrm>
          <a:prstGeom prst="roundRect">
            <a:avLst>
              <a:gd name="adj" fmla="val 6000"/>
            </a:avLst>
          </a:prstGeom>
          <a:solidFill>
            <a:srgbClr val="FBEAEA">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65960" y="2167127"/>
            <a:ext cx="825977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920239" y="2331720"/>
            <a:ext cx="1074420" cy="347472"/>
          </a:xfrm>
          <a:prstGeom prst="roundRect">
            <a:avLst>
              <a:gd name="adj" fmla="val 50000"/>
            </a:avLst>
          </a:prstGeom>
          <a:solidFill>
            <a:srgbClr val="B3261E"/>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6" name="TextBox 15"/>
          <p:cNvSpPr txBox="1"/>
          <p:nvPr/>
        </p:nvSpPr>
        <p:spPr>
          <a:xfrm>
            <a:off x="1920239" y="2788920"/>
            <a:ext cx="8351215" cy="1562608"/>
          </a:xfrm>
          <a:prstGeom prst="rect">
            <a:avLst/>
          </a:prstGeom>
          <a:noFill/>
        </p:spPr>
        <p:txBody>
          <a:bodyPr wrap="square" anchor="t" lIns="0" rIns="0" tIns="0" bIns="0">
            <a:spAutoFit/>
          </a:bodyPr>
          <a:lstStyle/>
          <a:p>
            <a:pPr>
              <a:spcBef>
                <a:spcPts val="0"/>
              </a:spcBef>
            </a:pPr>
            <a:r>
              <a:rPr sz="2200" i="0" b="0">
                <a:solidFill>
                  <a:srgbClr val="1A1F36"/>
                </a:solidFill>
                <a:latin typeface="Calibri"/>
              </a:rPr>
              <a:t>NMBs cause paralysis but </a:t>
            </a:r>
            <a:r>
              <a:rPr sz="2200" i="0" b="1">
                <a:solidFill>
                  <a:srgbClr val="1A1F36"/>
                </a:solidFill>
                <a:latin typeface="Calibri"/>
              </a:rPr>
              <a:t>no sedation and no analgesia</a:t>
            </a:r>
            <a:r>
              <a:rPr sz="2200" i="0" b="0">
                <a:solidFill>
                  <a:srgbClr val="1A1F36"/>
                </a:solidFill>
                <a:latin typeface="Calibri"/>
              </a:rPr>
              <a:t>. A patient given an NMB without enough anaesthetic can be awake and in pain but unable to move. Always give an anaesthetic first, and always ventilate.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Neuromuscular Blockers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14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45919" y="2103120"/>
            <a:ext cx="8899855" cy="2377440"/>
          </a:xfrm>
          <a:prstGeom prst="roundRect">
            <a:avLst>
              <a:gd name="adj" fmla="val 6000"/>
            </a:avLst>
          </a:prstGeom>
          <a:solidFill>
            <a:srgbClr val="FDF4DC">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65960" y="2167127"/>
            <a:ext cx="825977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920239" y="2331720"/>
            <a:ext cx="1188720" cy="347472"/>
          </a:xfrm>
          <a:prstGeom prst="roundRect">
            <a:avLst>
              <a:gd name="adj" fmla="val 50000"/>
            </a:avLst>
          </a:prstGeom>
          <a:solidFill>
            <a:srgbClr val="8A6100"/>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6" name="TextBox 15"/>
          <p:cNvSpPr txBox="1"/>
          <p:nvPr/>
        </p:nvSpPr>
        <p:spPr>
          <a:xfrm>
            <a:off x="1920239" y="2788920"/>
            <a:ext cx="8351215" cy="1508760"/>
          </a:xfrm>
          <a:prstGeom prst="rect">
            <a:avLst/>
          </a:prstGeom>
          <a:noFill/>
        </p:spPr>
        <p:txBody>
          <a:bodyPr wrap="square" anchor="t" lIns="0" rIns="0" tIns="0" bIns="0">
            <a:spAutoFit/>
          </a:bodyPr>
          <a:lstStyle/>
          <a:p>
            <a:pPr>
              <a:spcBef>
                <a:spcPts val="0"/>
              </a:spcBef>
            </a:pPr>
            <a:r>
              <a:rPr sz="2600" i="0" b="0">
                <a:solidFill>
                  <a:srgbClr val="1A1F36"/>
                </a:solidFill>
                <a:latin typeface="Calibri"/>
              </a:rPr>
              <a:t>Neostigmine reverses a </a:t>
            </a:r>
            <a:r>
              <a:rPr sz="2600" i="0" b="1">
                <a:solidFill>
                  <a:srgbClr val="1A1F36"/>
                </a:solidFill>
                <a:latin typeface="Calibri"/>
              </a:rPr>
              <a:t>non-depolarising</a:t>
            </a:r>
            <a:r>
              <a:rPr sz="2600" i="0" b="0">
                <a:solidFill>
                  <a:srgbClr val="1A1F36"/>
                </a:solidFill>
                <a:latin typeface="Calibri"/>
              </a:rPr>
              <a:t> block. It makes a phase I depolarising block </a:t>
            </a:r>
            <a:r>
              <a:rPr sz="2600" i="0" b="1">
                <a:solidFill>
                  <a:srgbClr val="1A1F36"/>
                </a:solidFill>
                <a:latin typeface="Calibri"/>
              </a:rPr>
              <a:t>worse</a:t>
            </a:r>
            <a:r>
              <a:rPr sz="2600" i="0" b="0">
                <a:solidFill>
                  <a:srgbClr val="1A1F36"/>
                </a:solidFill>
                <a:latin typeface="Calibri"/>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Malignant Hyperthermia</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15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10500055" cy="1475612"/>
          </a:xfrm>
          <a:prstGeom prst="rect">
            <a:avLst/>
          </a:prstGeom>
          <a:noFill/>
        </p:spPr>
        <p:txBody>
          <a:bodyPr wrap="square" anchor="t" lIns="0" rIns="0" tIns="0" bIns="0">
            <a:spAutoFit/>
          </a:bodyPr>
          <a:lstStyle/>
          <a:p>
            <a:r>
              <a:rPr sz="2100" i="0" b="0">
                <a:solidFill>
                  <a:srgbClr val="1A1F36"/>
                </a:solidFill>
                <a:latin typeface="Calibri"/>
              </a:rPr>
              <a:t>Malignant hyperthermia is a rare inherited disorder, usually linked to a mutation of </a:t>
            </a:r>
            <a:r>
              <a:rPr sz="2100" i="0" b="1">
                <a:solidFill>
                  <a:srgbClr val="1A1F36"/>
                </a:solidFill>
                <a:latin typeface="Calibri"/>
              </a:rPr>
              <a:t>RyR1</a:t>
            </a:r>
            <a:r>
              <a:rPr sz="2100" i="0" b="0">
                <a:solidFill>
                  <a:srgbClr val="1A1F36"/>
                </a:solidFill>
                <a:latin typeface="Calibri"/>
              </a:rPr>
              <a:t>. Volatile anaesthetics (halothane, sevoflurane, desflurane) or succinylcholine trigger uncontrolled Ca2+ release in muscle.</a:t>
            </a:r>
          </a:p>
        </p:txBody>
      </p:sp>
      <p:sp>
        <p:nvSpPr>
          <p:cNvPr id="15" name="Oval 14"/>
          <p:cNvSpPr/>
          <p:nvPr/>
        </p:nvSpPr>
        <p:spPr>
          <a:xfrm>
            <a:off x="548640" y="3094100"/>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3112388"/>
            <a:ext cx="10500055" cy="1475612"/>
          </a:xfrm>
          <a:prstGeom prst="rect">
            <a:avLst/>
          </a:prstGeom>
          <a:noFill/>
        </p:spPr>
        <p:txBody>
          <a:bodyPr wrap="square" anchor="t" lIns="0" rIns="0" tIns="0" bIns="0">
            <a:spAutoFit/>
          </a:bodyPr>
          <a:lstStyle/>
          <a:p>
            <a:r>
              <a:rPr sz="2100" i="0" b="0">
                <a:solidFill>
                  <a:srgbClr val="1A1F36"/>
                </a:solidFill>
                <a:latin typeface="Calibri"/>
              </a:rPr>
              <a:t>Features: a rise in end-tidal CO₂ that does not respond to ventilation, tachycardia, muscle rigidity (often the jaw), then fever, acidosis, hyperkalaemia and myoglobinuria.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10" name="Rounded Rectangle 9"/>
          <p:cNvSpPr/>
          <p:nvPr/>
        </p:nvSpPr>
        <p:spPr>
          <a:xfrm>
            <a:off x="4251960" y="548640"/>
            <a:ext cx="7635240" cy="57150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612647"/>
            <a:ext cx="6995159"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9F8F4"/>
                </a:solidFill>
                <a:latin typeface="Cambria"/>
              </a:rPr>
              <a:t>℞</a:t>
            </a:r>
          </a:p>
        </p:txBody>
      </p:sp>
      <p:sp>
        <p:nvSpPr>
          <p:cNvPr id="5" name="TextBox 4"/>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9F8F4"/>
                </a:solidFill>
                <a:latin typeface="Calibri"/>
              </a:rPr>
              <a:t>Section 6</a:t>
            </a:r>
          </a:p>
        </p:txBody>
      </p:sp>
      <p:sp>
        <p:nvSpPr>
          <p:cNvPr id="6" name="TextBox 5"/>
          <p:cNvSpPr txBox="1"/>
          <p:nvPr/>
        </p:nvSpPr>
        <p:spPr>
          <a:xfrm>
            <a:off x="4526280" y="822960"/>
            <a:ext cx="7132320" cy="5120640"/>
          </a:xfrm>
          <a:prstGeom prst="rect">
            <a:avLst/>
          </a:prstGeom>
          <a:noFill/>
        </p:spPr>
        <p:txBody>
          <a:bodyPr wrap="square" anchor="ctr" lIns="0" rIns="0" tIns="0" bIns="0">
            <a:spAutoFit/>
          </a:bodyPr>
          <a:lstStyle/>
          <a:p>
            <a:pPr>
              <a:spcBef>
                <a:spcPts val="0"/>
              </a:spcBef>
            </a:pPr>
            <a:r>
              <a:rPr sz="2000" i="0" b="0">
                <a:solidFill>
                  <a:srgbClr val="1A1F36"/>
                </a:solidFill>
                <a:latin typeface="Calibri"/>
              </a:rPr>
              <a:t>Treat malignant hyperthermia at once:</a:t>
            </a:r>
          </a:p>
          <a:p>
            <a:pPr>
              <a:spcBef>
                <a:spcPts val="600"/>
              </a:spcBef>
            </a:pPr>
            <a:r>
              <a:rPr sz="2000" i="0" b="0">
                <a:solidFill>
                  <a:srgbClr val="1A1F36"/>
                </a:solidFill>
                <a:latin typeface="Calibri"/>
              </a:rPr>
              <a:t>1. Stop the trigger and call for help.</a:t>
            </a:r>
          </a:p>
          <a:p>
            <a:pPr>
              <a:spcBef>
                <a:spcPts val="600"/>
              </a:spcBef>
            </a:pPr>
            <a:r>
              <a:rPr sz="2000" i="0" b="0">
                <a:solidFill>
                  <a:srgbClr val="1A1F36"/>
                </a:solidFill>
                <a:latin typeface="Calibri"/>
              </a:rPr>
              <a:t>2. Give </a:t>
            </a:r>
            <a:r>
              <a:rPr sz="2000" i="0" b="1">
                <a:solidFill>
                  <a:srgbClr val="1A1F36"/>
                </a:solidFill>
                <a:latin typeface="Calibri"/>
              </a:rPr>
              <a:t>IV dantrolene</a:t>
            </a:r>
            <a:r>
              <a:rPr sz="2000" i="0" b="0">
                <a:solidFill>
                  <a:srgbClr val="1A1F36"/>
                </a:solidFill>
                <a:latin typeface="Calibri"/>
              </a:rPr>
              <a:t> 2.5 mg/kg, repeated until the signs settle.</a:t>
            </a:r>
          </a:p>
          <a:p>
            <a:pPr>
              <a:spcBef>
                <a:spcPts val="600"/>
              </a:spcBef>
            </a:pPr>
            <a:r>
              <a:rPr sz="2000" i="0" b="0">
                <a:solidFill>
                  <a:srgbClr val="1A1F36"/>
                </a:solidFill>
                <a:latin typeface="Calibri"/>
              </a:rPr>
              <a:t>3. Ventilate with 100% oxygen at high flow.</a:t>
            </a:r>
          </a:p>
          <a:p>
            <a:pPr>
              <a:spcBef>
                <a:spcPts val="600"/>
              </a:spcBef>
            </a:pPr>
            <a:r>
              <a:rPr sz="2000" i="0" b="0">
                <a:solidFill>
                  <a:srgbClr val="1A1F36"/>
                </a:solidFill>
                <a:latin typeface="Calibri"/>
              </a:rPr>
              <a:t>4. Cool the patient, and treat hyperkalaemia, acidosis and arrhythmia.</a:t>
            </a:r>
          </a:p>
          <a:p>
            <a:pPr>
              <a:spcBef>
                <a:spcPts val="600"/>
              </a:spcBef>
            </a:pPr>
          </a:p>
          <a:p>
            <a:pPr>
              <a:spcBef>
                <a:spcPts val="600"/>
              </a:spcBef>
            </a:pPr>
            <a:r>
              <a:rPr sz="2000" i="0" b="0">
                <a:solidFill>
                  <a:srgbClr val="1A1F36"/>
                </a:solidFill>
                <a:latin typeface="Calibri"/>
              </a:rPr>
              <a:t>Ask about family history before anaesthesia, and use non-trigger drugs such as propofol in susceptible patients.</a:t>
            </a:r>
          </a:p>
        </p:txBody>
      </p:sp>
      <p:sp>
        <p:nvSpPr>
          <p:cNvPr id="7" name="TextBox 6"/>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Skeletal Muscle Relaxants</a:t>
            </a:r>
          </a:p>
        </p:txBody>
      </p:sp>
      <p:sp>
        <p:nvSpPr>
          <p:cNvPr id="8" name="TextBox 7"/>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16 / 25</a:t>
            </a:r>
          </a:p>
        </p:txBody>
      </p:sp>
      <p:pic>
        <p:nvPicPr>
          <p:cNvPr id="9" name="Picture 8" descr="logo"/>
          <p:cNvPicPr>
            <a:picLocks noChangeAspect="1"/>
          </p:cNvPicPr>
          <p:nvPr/>
        </p:nvPicPr>
        <p:blipFill>
          <a:blip r:embed="rId4"/>
          <a:stretch>
            <a:fillRect/>
          </a:stretch>
        </p:blipFill>
        <p:spPr>
          <a:xfrm>
            <a:off x="11247120" y="6309360"/>
            <a:ext cx="384048" cy="38404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Brands in Egypt</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17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3" cy="4617720"/>
        </p:xfrm>
        <a:graphic>
          <a:graphicData uri="http://schemas.openxmlformats.org/drawingml/2006/table">
            <a:tbl>
              <a:tblPr firstRow="0" bandRow="0">
                <a:tableStyleId>{5C22544A-7EE6-4342-B048-85BDC9FD1C3A}</a:tableStyleId>
              </a:tblPr>
              <a:tblGrid>
                <a:gridCol w="4853806"/>
                <a:gridCol w="3467004"/>
                <a:gridCol w="2773603"/>
              </a:tblGrid>
              <a:tr h="577215">
                <a:tc>
                  <a:txBody>
                    <a:bodyPr/>
                    <a:lstStyle/>
                    <a:p>
                      <a:r>
                        <a:rPr sz="1900" i="0" b="1">
                          <a:solidFill>
                            <a:srgbClr val="FFFFFF"/>
                          </a:solidFill>
                          <a:latin typeface="Calibri"/>
                        </a:rPr>
                        <a:t>Generic name</a:t>
                      </a:r>
                    </a:p>
                  </a:txBody>
                  <a:tcPr marL="109728" marR="109728" marT="45720" marB="45720" anchor="ctr">
                    <a:solidFill>
                      <a:srgbClr val="1B2A8C"/>
                    </a:solidFill>
                  </a:tcPr>
                </a:tc>
                <a:tc>
                  <a:txBody>
                    <a:bodyPr/>
                    <a:lstStyle/>
                    <a:p>
                      <a:r>
                        <a:rPr sz="1900" i="0" b="1">
                          <a:solidFill>
                            <a:srgbClr val="FFFFFF"/>
                          </a:solidFill>
                          <a:latin typeface="Calibri"/>
                        </a:rPr>
                        <a:t>Brand examples</a:t>
                      </a:r>
                    </a:p>
                  </a:txBody>
                  <a:tcPr marL="109728" marR="109728" marT="45720" marB="45720" anchor="ctr">
                    <a:solidFill>
                      <a:srgbClr val="1B2A8C"/>
                    </a:solidFill>
                  </a:tcPr>
                </a:tc>
                <a:tc>
                  <a:txBody>
                    <a:bodyPr/>
                    <a:lstStyle/>
                    <a:p>
                      <a:r>
                        <a:rPr sz="1900" i="0" b="1">
                          <a:solidFill>
                            <a:srgbClr val="FFFFFF"/>
                          </a:solidFill>
                          <a:latin typeface="Calibri"/>
                        </a:rPr>
                        <a:t>Dosage forms</a:t>
                      </a:r>
                    </a:p>
                  </a:txBody>
                  <a:tcPr marL="109728" marR="109728" marT="45720" marB="45720" anchor="ctr">
                    <a:solidFill>
                      <a:srgbClr val="1B2A8C"/>
                    </a:solidFill>
                  </a:tcPr>
                </a:tc>
              </a:tr>
              <a:tr h="577215">
                <a:tc>
                  <a:txBody>
                    <a:bodyPr/>
                    <a:lstStyle/>
                    <a:p>
                      <a:r>
                        <a:rPr sz="2000" i="0" b="1">
                          <a:solidFill>
                            <a:srgbClr val="1A1F36"/>
                          </a:solidFill>
                          <a:latin typeface="Calibri"/>
                        </a:rPr>
                        <a:t>Baclofen</a:t>
                      </a:r>
                    </a:p>
                  </a:txBody>
                  <a:tcPr marL="109728" marR="109728" marT="45720" marB="45720" anchor="ctr">
                    <a:solidFill>
                      <a:srgbClr val="FFFFFF"/>
                    </a:solidFill>
                  </a:tcPr>
                </a:tc>
                <a:tc>
                  <a:txBody>
                    <a:bodyPr/>
                    <a:lstStyle/>
                    <a:p>
                      <a:r>
                        <a:rPr sz="2000" i="0" b="0">
                          <a:solidFill>
                            <a:srgbClr val="1A1F36"/>
                          </a:solidFill>
                          <a:latin typeface="Calibri"/>
                        </a:rPr>
                        <a:t>Baclofen, Mylobac</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577215">
                <a:tc>
                  <a:txBody>
                    <a:bodyPr/>
                    <a:lstStyle/>
                    <a:p>
                      <a:r>
                        <a:rPr sz="2000" i="0" b="1">
                          <a:solidFill>
                            <a:srgbClr val="1A1F36"/>
                          </a:solidFill>
                          <a:latin typeface="Calibri"/>
                        </a:rPr>
                        <a:t>Tizanidine</a:t>
                      </a:r>
                    </a:p>
                  </a:txBody>
                  <a:tcPr marL="109728" marR="109728" marT="45720" marB="45720" anchor="ctr">
                    <a:solidFill>
                      <a:srgbClr val="F1F2F8"/>
                    </a:solidFill>
                  </a:tcPr>
                </a:tc>
                <a:tc>
                  <a:txBody>
                    <a:bodyPr/>
                    <a:lstStyle/>
                    <a:p>
                      <a:r>
                        <a:rPr sz="2000" i="0" b="0">
                          <a:solidFill>
                            <a:srgbClr val="1A1F36"/>
                          </a:solidFill>
                          <a:latin typeface="Calibri"/>
                        </a:rPr>
                        <a:t>Sirdalud</a:t>
                      </a:r>
                    </a:p>
                  </a:txBody>
                  <a:tcPr marL="109728" marR="109728" marT="45720" marB="45720" anchor="ctr">
                    <a:solidFill>
                      <a:srgbClr val="F1F2F8"/>
                    </a:solidFill>
                  </a:tcPr>
                </a:tc>
                <a:tc>
                  <a:txBody>
                    <a:bodyPr/>
                    <a:lstStyle/>
                    <a:p>
                      <a:r>
                        <a:rPr sz="2000" i="0" b="0">
                          <a:solidFill>
                            <a:srgbClr val="1A1F36"/>
                          </a:solidFill>
                          <a:latin typeface="Calibri"/>
                        </a:rPr>
                        <a:t>Tablets</a:t>
                      </a:r>
                    </a:p>
                  </a:txBody>
                  <a:tcPr marL="109728" marR="109728" marT="45720" marB="45720" anchor="ctr">
                    <a:solidFill>
                      <a:srgbClr val="F1F2F8"/>
                    </a:solidFill>
                  </a:tcPr>
                </a:tc>
              </a:tr>
              <a:tr h="577215">
                <a:tc>
                  <a:txBody>
                    <a:bodyPr/>
                    <a:lstStyle/>
                    <a:p>
                      <a:r>
                        <a:rPr sz="2000" i="0" b="1">
                          <a:solidFill>
                            <a:srgbClr val="1A1F36"/>
                          </a:solidFill>
                          <a:latin typeface="Calibri"/>
                        </a:rPr>
                        <a:t>Cyclobenzaprine</a:t>
                      </a:r>
                    </a:p>
                  </a:txBody>
                  <a:tcPr marL="109728" marR="109728" marT="45720" marB="45720" anchor="ctr">
                    <a:solidFill>
                      <a:srgbClr val="FFFFFF"/>
                    </a:solidFill>
                  </a:tcPr>
                </a:tc>
                <a:tc>
                  <a:txBody>
                    <a:bodyPr/>
                    <a:lstStyle/>
                    <a:p>
                      <a:r>
                        <a:rPr sz="2000" i="0" b="0">
                          <a:solidFill>
                            <a:srgbClr val="1A1F36"/>
                          </a:solidFill>
                          <a:latin typeface="Calibri"/>
                        </a:rPr>
                        <a:t>Multi-Relax</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577215">
                <a:tc>
                  <a:txBody>
                    <a:bodyPr/>
                    <a:lstStyle/>
                    <a:p>
                      <a:r>
                        <a:rPr sz="2000" i="0" b="1">
                          <a:solidFill>
                            <a:srgbClr val="1A1F36"/>
                          </a:solidFill>
                          <a:latin typeface="Calibri"/>
                        </a:rPr>
                        <a:t>Orphenadrine + paracetamol</a:t>
                      </a:r>
                    </a:p>
                  </a:txBody>
                  <a:tcPr marL="109728" marR="109728" marT="45720" marB="45720" anchor="ctr">
                    <a:solidFill>
                      <a:srgbClr val="F1F2F8"/>
                    </a:solidFill>
                  </a:tcPr>
                </a:tc>
                <a:tc>
                  <a:txBody>
                    <a:bodyPr/>
                    <a:lstStyle/>
                    <a:p>
                      <a:r>
                        <a:rPr sz="2000" i="0" b="0">
                          <a:solidFill>
                            <a:srgbClr val="1A1F36"/>
                          </a:solidFill>
                          <a:latin typeface="Calibri"/>
                        </a:rPr>
                        <a:t>Norgesic</a:t>
                      </a:r>
                    </a:p>
                  </a:txBody>
                  <a:tcPr marL="109728" marR="109728" marT="45720" marB="45720" anchor="ctr">
                    <a:solidFill>
                      <a:srgbClr val="F1F2F8"/>
                    </a:solidFill>
                  </a:tcPr>
                </a:tc>
                <a:tc>
                  <a:txBody>
                    <a:bodyPr/>
                    <a:lstStyle/>
                    <a:p>
                      <a:r>
                        <a:rPr sz="2000" i="0" b="0">
                          <a:solidFill>
                            <a:srgbClr val="1A1F36"/>
                          </a:solidFill>
                          <a:latin typeface="Calibri"/>
                        </a:rPr>
                        <a:t>Tablets</a:t>
                      </a:r>
                    </a:p>
                  </a:txBody>
                  <a:tcPr marL="109728" marR="109728" marT="45720" marB="45720" anchor="ctr">
                    <a:solidFill>
                      <a:srgbClr val="F1F2F8"/>
                    </a:solidFill>
                  </a:tcPr>
                </a:tc>
              </a:tr>
              <a:tr h="577215">
                <a:tc>
                  <a:txBody>
                    <a:bodyPr/>
                    <a:lstStyle/>
                    <a:p>
                      <a:r>
                        <a:rPr sz="2000" i="0" b="1">
                          <a:solidFill>
                            <a:srgbClr val="1A1F36"/>
                          </a:solidFill>
                          <a:latin typeface="Calibri"/>
                        </a:rPr>
                        <a:t>Orphenadrine</a:t>
                      </a:r>
                    </a:p>
                  </a:txBody>
                  <a:tcPr marL="109728" marR="109728" marT="45720" marB="45720" anchor="ctr">
                    <a:solidFill>
                      <a:srgbClr val="FFFFFF"/>
                    </a:solidFill>
                  </a:tcPr>
                </a:tc>
                <a:tc>
                  <a:txBody>
                    <a:bodyPr/>
                    <a:lstStyle/>
                    <a:p>
                      <a:r>
                        <a:rPr sz="2000" i="0" b="0">
                          <a:solidFill>
                            <a:srgbClr val="1A1F36"/>
                          </a:solidFill>
                          <a:latin typeface="Calibri"/>
                        </a:rPr>
                        <a:t>Norflex</a:t>
                      </a:r>
                    </a:p>
                  </a:txBody>
                  <a:tcPr marL="109728" marR="109728" marT="45720" marB="45720" anchor="ctr">
                    <a:solidFill>
                      <a:srgbClr val="FFFFFF"/>
                    </a:solidFill>
                  </a:tcPr>
                </a:tc>
                <a:tc>
                  <a:txBody>
                    <a:bodyPr/>
                    <a:lstStyle/>
                    <a:p>
                      <a:r>
                        <a:rPr sz="2000" i="0" b="0">
                          <a:solidFill>
                            <a:srgbClr val="1A1F36"/>
                          </a:solidFill>
                          <a:latin typeface="Calibri"/>
                        </a:rPr>
                        <a:t>Injection</a:t>
                      </a:r>
                    </a:p>
                  </a:txBody>
                  <a:tcPr marL="109728" marR="109728" marT="45720" marB="45720" anchor="ctr">
                    <a:solidFill>
                      <a:srgbClr val="FFFFFF"/>
                    </a:solidFill>
                  </a:tcPr>
                </a:tc>
              </a:tr>
              <a:tr h="577215">
                <a:tc>
                  <a:txBody>
                    <a:bodyPr/>
                    <a:lstStyle/>
                    <a:p>
                      <a:r>
                        <a:rPr sz="2000" i="0" b="1">
                          <a:solidFill>
                            <a:srgbClr val="1A1F36"/>
                          </a:solidFill>
                          <a:latin typeface="Calibri"/>
                        </a:rPr>
                        <a:t>Chlorzoxazone + paracetamol</a:t>
                      </a:r>
                    </a:p>
                  </a:txBody>
                  <a:tcPr marL="109728" marR="109728" marT="45720" marB="45720" anchor="ctr">
                    <a:solidFill>
                      <a:srgbClr val="F1F2F8"/>
                    </a:solidFill>
                  </a:tcPr>
                </a:tc>
                <a:tc>
                  <a:txBody>
                    <a:bodyPr/>
                    <a:lstStyle/>
                    <a:p>
                      <a:r>
                        <a:rPr sz="2000" i="0" b="0">
                          <a:solidFill>
                            <a:srgbClr val="1A1F36"/>
                          </a:solidFill>
                          <a:latin typeface="Calibri"/>
                        </a:rPr>
                        <a:t>Relaxon</a:t>
                      </a:r>
                    </a:p>
                  </a:txBody>
                  <a:tcPr marL="109728" marR="109728" marT="45720" marB="45720" anchor="ctr">
                    <a:solidFill>
                      <a:srgbClr val="F1F2F8"/>
                    </a:solidFill>
                  </a:tcPr>
                </a:tc>
                <a:tc>
                  <a:txBody>
                    <a:bodyPr/>
                    <a:lstStyle/>
                    <a:p>
                      <a:r>
                        <a:rPr sz="2000" i="0" b="0">
                          <a:solidFill>
                            <a:srgbClr val="1A1F36"/>
                          </a:solidFill>
                          <a:latin typeface="Calibri"/>
                        </a:rPr>
                        <a:t>Capsules</a:t>
                      </a:r>
                    </a:p>
                  </a:txBody>
                  <a:tcPr marL="109728" marR="109728" marT="45720" marB="45720" anchor="ctr">
                    <a:solidFill>
                      <a:srgbClr val="F1F2F8"/>
                    </a:solidFill>
                  </a:tcPr>
                </a:tc>
              </a:tr>
              <a:tr h="577215">
                <a:tc>
                  <a:txBody>
                    <a:bodyPr/>
                    <a:lstStyle/>
                    <a:p>
                      <a:r>
                        <a:rPr sz="2000" i="0" b="1">
                          <a:solidFill>
                            <a:srgbClr val="1A1F36"/>
                          </a:solidFill>
                          <a:latin typeface="Calibri"/>
                        </a:rPr>
                        <a:t>Chlorzoxazone + ibuprofen</a:t>
                      </a:r>
                    </a:p>
                  </a:txBody>
                  <a:tcPr marL="109728" marR="109728" marT="45720" marB="45720" anchor="ctr">
                    <a:solidFill>
                      <a:srgbClr val="FFFFFF"/>
                    </a:solidFill>
                  </a:tcPr>
                </a:tc>
                <a:tc>
                  <a:txBody>
                    <a:bodyPr/>
                    <a:lstStyle/>
                    <a:p>
                      <a:r>
                        <a:rPr sz="2000" i="0" b="0">
                          <a:solidFill>
                            <a:srgbClr val="1A1F36"/>
                          </a:solidFill>
                          <a:latin typeface="Calibri"/>
                        </a:rPr>
                        <a:t>Myofen</a:t>
                      </a:r>
                    </a:p>
                  </a:txBody>
                  <a:tcPr marL="109728" marR="109728" marT="45720" marB="45720" anchor="ctr">
                    <a:solidFill>
                      <a:srgbClr val="FFFFFF"/>
                    </a:solidFill>
                  </a:tcPr>
                </a:tc>
                <a:tc>
                  <a:txBody>
                    <a:bodyPr/>
                    <a:lstStyle/>
                    <a:p>
                      <a:r>
                        <a:rPr sz="2000" i="0" b="0">
                          <a:solidFill>
                            <a:srgbClr val="1A1F36"/>
                          </a:solidFill>
                          <a:latin typeface="Calibri"/>
                        </a:rPr>
                        <a:t>Capsules</a:t>
                      </a:r>
                    </a:p>
                  </a:txBody>
                  <a:tcPr marL="109728" marR="109728" marT="45720" marB="45720"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For Discussion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18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10500055" cy="1142237"/>
          </a:xfrm>
          <a:prstGeom prst="rect">
            <a:avLst/>
          </a:prstGeom>
          <a:noFill/>
        </p:spPr>
        <p:txBody>
          <a:bodyPr wrap="square" anchor="t" lIns="0" rIns="0" tIns="0" bIns="0">
            <a:spAutoFit/>
          </a:bodyPr>
          <a:lstStyle/>
          <a:p>
            <a:r>
              <a:rPr sz="2100" i="0" b="0">
                <a:solidFill>
                  <a:srgbClr val="1A1F36"/>
                </a:solidFill>
                <a:latin typeface="Calibri"/>
              </a:rPr>
              <a:t>A patient with multiple sclerosis and a patient with acute back strain both ask for "a muscle relaxant". Which drug group suits each, and why?</a:t>
            </a:r>
          </a:p>
        </p:txBody>
      </p:sp>
      <p:sp>
        <p:nvSpPr>
          <p:cNvPr id="15" name="Oval 14"/>
          <p:cNvSpPr/>
          <p:nvPr/>
        </p:nvSpPr>
        <p:spPr>
          <a:xfrm>
            <a:off x="548640" y="276072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2779014"/>
            <a:ext cx="10500055" cy="808863"/>
          </a:xfrm>
          <a:prstGeom prst="rect">
            <a:avLst/>
          </a:prstGeom>
          <a:noFill/>
        </p:spPr>
        <p:txBody>
          <a:bodyPr wrap="square" anchor="t" lIns="0" rIns="0" tIns="0" bIns="0">
            <a:spAutoFit/>
          </a:bodyPr>
          <a:lstStyle/>
          <a:p>
            <a:r>
              <a:rPr sz="2100" i="0" b="0">
                <a:solidFill>
                  <a:srgbClr val="1A1F36"/>
                </a:solidFill>
                <a:latin typeface="Calibri"/>
              </a:rPr>
              <a:t>Why must a patient on tizanidine avoid ciprofloxacin?</a:t>
            </a:r>
          </a:p>
        </p:txBody>
      </p:sp>
      <p:sp>
        <p:nvSpPr>
          <p:cNvPr id="17" name="Oval 16"/>
          <p:cNvSpPr/>
          <p:nvPr/>
        </p:nvSpPr>
        <p:spPr>
          <a:xfrm>
            <a:off x="548640" y="3615309"/>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8" name="TextBox 17"/>
          <p:cNvSpPr txBox="1"/>
          <p:nvPr/>
        </p:nvSpPr>
        <p:spPr>
          <a:xfrm>
            <a:off x="1143000" y="3633597"/>
            <a:ext cx="10500055" cy="1142237"/>
          </a:xfrm>
          <a:prstGeom prst="rect">
            <a:avLst/>
          </a:prstGeom>
          <a:noFill/>
        </p:spPr>
        <p:txBody>
          <a:bodyPr wrap="square" anchor="t" lIns="0" rIns="0" tIns="0" bIns="0">
            <a:spAutoFit/>
          </a:bodyPr>
          <a:lstStyle/>
          <a:p>
            <a:r>
              <a:rPr sz="2100" i="0" b="0">
                <a:solidFill>
                  <a:srgbClr val="1A1F36"/>
                </a:solidFill>
                <a:latin typeface="Calibri"/>
              </a:rPr>
              <a:t>Why does neostigmine reverse rocuronium but prolong phase I block by succinylcholine?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  ·  QUESTION 1 OF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19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40-year-old woman with multiple sclerosis has stiff legs with increased tone. Which drug group is most suitable?</a:t>
            </a:r>
          </a:p>
        </p:txBody>
      </p:sp>
      <p:sp>
        <p:nvSpPr>
          <p:cNvPr id="14" name="Rounded Rectangle 13"/>
          <p:cNvSpPr/>
          <p:nvPr/>
        </p:nvSpPr>
        <p:spPr>
          <a:xfrm>
            <a:off x="548640" y="2697480"/>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An antispastic drug such as baclofen</a:t>
            </a:r>
          </a:p>
        </p:txBody>
      </p:sp>
      <p:sp>
        <p:nvSpPr>
          <p:cNvPr id="17" name="Rounded Rectangle 16"/>
          <p:cNvSpPr/>
          <p:nvPr/>
        </p:nvSpPr>
        <p:spPr>
          <a:xfrm>
            <a:off x="548640" y="3465576"/>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A non-depolarising neuromuscular blocker</a:t>
            </a:r>
          </a:p>
        </p:txBody>
      </p:sp>
      <p:sp>
        <p:nvSpPr>
          <p:cNvPr id="20" name="Rounded Rectangle 19"/>
          <p:cNvSpPr/>
          <p:nvPr/>
        </p:nvSpPr>
        <p:spPr>
          <a:xfrm>
            <a:off x="548640" y="4233672"/>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An antispasmodic such as methocarbamol</a:t>
            </a:r>
          </a:p>
        </p:txBody>
      </p:sp>
      <p:sp>
        <p:nvSpPr>
          <p:cNvPr id="23" name="Rounded Rectangle 22"/>
          <p:cNvSpPr/>
          <p:nvPr/>
        </p:nvSpPr>
        <p:spPr>
          <a:xfrm>
            <a:off x="548640" y="5001768"/>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An anticholinesterase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  ·  QUESTION 1 OF 3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20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40-year-old woman with multiple sclerosis has stiff legs with increased tone. Which drug group is most suitable?</a:t>
            </a:r>
          </a:p>
        </p:txBody>
      </p:sp>
      <p:sp>
        <p:nvSpPr>
          <p:cNvPr id="14" name="Rounded Rectangle 13"/>
          <p:cNvSpPr/>
          <p:nvPr/>
        </p:nvSpPr>
        <p:spPr>
          <a:xfrm>
            <a:off x="548640" y="2606040"/>
            <a:ext cx="11094415" cy="548640"/>
          </a:xfrm>
          <a:prstGeom prst="roundRect">
            <a:avLst>
              <a:gd name="adj" fmla="val 18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An antispastic drug such as baclofen</a:t>
            </a:r>
          </a:p>
        </p:txBody>
      </p:sp>
      <p:sp>
        <p:nvSpPr>
          <p:cNvPr id="17" name="Rounded Rectangle 16"/>
          <p:cNvSpPr/>
          <p:nvPr/>
        </p:nvSpPr>
        <p:spPr>
          <a:xfrm>
            <a:off x="548640" y="3282696"/>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A non-depolarising neuromuscular blocker</a:t>
            </a:r>
          </a:p>
        </p:txBody>
      </p:sp>
      <p:sp>
        <p:nvSpPr>
          <p:cNvPr id="20" name="Rounded Rectangle 19"/>
          <p:cNvSpPr/>
          <p:nvPr/>
        </p:nvSpPr>
        <p:spPr>
          <a:xfrm>
            <a:off x="548640" y="3959352"/>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An antispasmodic such as methocarbamol</a:t>
            </a:r>
          </a:p>
        </p:txBody>
      </p:sp>
      <p:sp>
        <p:nvSpPr>
          <p:cNvPr id="23" name="Rounded Rectangle 22"/>
          <p:cNvSpPr/>
          <p:nvPr/>
        </p:nvSpPr>
        <p:spPr>
          <a:xfrm>
            <a:off x="548640" y="4636008"/>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An anticholinesterase</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26227"/>
                </a:solidFill>
                <a:latin typeface="Calibri"/>
              </a:rPr>
              <a:t>Why:  </a:t>
            </a:r>
            <a:r>
              <a:rPr sz="1500" i="0" b="0">
                <a:solidFill>
                  <a:srgbClr val="1A1F36"/>
                </a:solidFill>
                <a:latin typeface="Calibri"/>
              </a:rPr>
              <a:t>Spasticity from brain or cord damage needs an antispastic drug. B is for surgery. C is for local muscle spasm. D would increase tone.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  ·  QUESTION 2 OF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21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How does baclofen reduce spasticity?</a:t>
            </a:r>
          </a:p>
        </p:txBody>
      </p:sp>
      <p:sp>
        <p:nvSpPr>
          <p:cNvPr id="14" name="Rounded Rectangle 13"/>
          <p:cNvSpPr/>
          <p:nvPr/>
        </p:nvSpPr>
        <p:spPr>
          <a:xfrm>
            <a:off x="548640" y="2697480"/>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It opens GABA-A chloride channels.</a:t>
            </a:r>
          </a:p>
        </p:txBody>
      </p:sp>
      <p:sp>
        <p:nvSpPr>
          <p:cNvPr id="17" name="Rounded Rectangle 16"/>
          <p:cNvSpPr/>
          <p:nvPr/>
        </p:nvSpPr>
        <p:spPr>
          <a:xfrm>
            <a:off x="548640" y="3465576"/>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It blocks nicotinic receptors at the junction.</a:t>
            </a:r>
          </a:p>
        </p:txBody>
      </p:sp>
      <p:sp>
        <p:nvSpPr>
          <p:cNvPr id="20" name="Rounded Rectangle 19"/>
          <p:cNvSpPr/>
          <p:nvPr/>
        </p:nvSpPr>
        <p:spPr>
          <a:xfrm>
            <a:off x="548640" y="4233672"/>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It activates GABA-B receptors, increasing K+ conductance and reducing Ca2+ entry.</a:t>
            </a:r>
          </a:p>
        </p:txBody>
      </p:sp>
      <p:sp>
        <p:nvSpPr>
          <p:cNvPr id="23" name="Rounded Rectangle 22"/>
          <p:cNvSpPr/>
          <p:nvPr/>
        </p:nvSpPr>
        <p:spPr>
          <a:xfrm>
            <a:off x="548640" y="5001768"/>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It blocks Ca2+ release from the sarcoplasmic reticulum.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  ·  QUESTION 2 OF 3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22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How does baclofen reduce spasticity?</a:t>
            </a:r>
          </a:p>
        </p:txBody>
      </p:sp>
      <p:sp>
        <p:nvSpPr>
          <p:cNvPr id="14" name="Rounded Rectangle 13"/>
          <p:cNvSpPr/>
          <p:nvPr/>
        </p:nvSpPr>
        <p:spPr>
          <a:xfrm>
            <a:off x="548640" y="2606040"/>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It opens GABA-A chloride channels.</a:t>
            </a:r>
          </a:p>
        </p:txBody>
      </p:sp>
      <p:sp>
        <p:nvSpPr>
          <p:cNvPr id="17" name="Rounded Rectangle 16"/>
          <p:cNvSpPr/>
          <p:nvPr/>
        </p:nvSpPr>
        <p:spPr>
          <a:xfrm>
            <a:off x="548640" y="3282696"/>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It blocks nicotinic receptors at the junction.</a:t>
            </a:r>
          </a:p>
        </p:txBody>
      </p:sp>
      <p:sp>
        <p:nvSpPr>
          <p:cNvPr id="20" name="Rounded Rectangle 19"/>
          <p:cNvSpPr/>
          <p:nvPr/>
        </p:nvSpPr>
        <p:spPr>
          <a:xfrm>
            <a:off x="548640" y="3959352"/>
            <a:ext cx="11094415" cy="548640"/>
          </a:xfrm>
          <a:prstGeom prst="roundRect">
            <a:avLst>
              <a:gd name="adj" fmla="val 18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It activates GABA-B receptors, increasing K+ conductance and reducing Ca2+ entry.</a:t>
            </a:r>
          </a:p>
        </p:txBody>
      </p:sp>
      <p:sp>
        <p:nvSpPr>
          <p:cNvPr id="23" name="Rounded Rectangle 22"/>
          <p:cNvSpPr/>
          <p:nvPr/>
        </p:nvSpPr>
        <p:spPr>
          <a:xfrm>
            <a:off x="548640" y="4636008"/>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It blocks Ca2+ release from the sarcoplasmic reticulum.</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26227"/>
                </a:solidFill>
                <a:latin typeface="Calibri"/>
              </a:rPr>
              <a:t>Why:  </a:t>
            </a:r>
            <a:r>
              <a:rPr sz="1500" i="0" b="0">
                <a:solidFill>
                  <a:srgbClr val="1A1F36"/>
                </a:solidFill>
                <a:latin typeface="Calibri"/>
              </a:rPr>
              <a:t>Baclofen is a GABA-B agonist. A is benzodiazepines. B is NMBs. D is dantrolene.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  ·  QUESTION 3 OF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23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on tizanidine is prescribed ciprofloxacin. What is the likely result?</a:t>
            </a:r>
          </a:p>
        </p:txBody>
      </p:sp>
      <p:sp>
        <p:nvSpPr>
          <p:cNvPr id="14" name="Rounded Rectangle 13"/>
          <p:cNvSpPr/>
          <p:nvPr/>
        </p:nvSpPr>
        <p:spPr>
          <a:xfrm>
            <a:off x="548640" y="2697480"/>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Loss of tizanidine effect</a:t>
            </a:r>
          </a:p>
        </p:txBody>
      </p:sp>
      <p:sp>
        <p:nvSpPr>
          <p:cNvPr id="17" name="Rounded Rectangle 16"/>
          <p:cNvSpPr/>
          <p:nvPr/>
        </p:nvSpPr>
        <p:spPr>
          <a:xfrm>
            <a:off x="548640" y="3465576"/>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Severe hypotension and sedation</a:t>
            </a:r>
          </a:p>
        </p:txBody>
      </p:sp>
      <p:sp>
        <p:nvSpPr>
          <p:cNvPr id="20" name="Rounded Rectangle 19"/>
          <p:cNvSpPr/>
          <p:nvPr/>
        </p:nvSpPr>
        <p:spPr>
          <a:xfrm>
            <a:off x="548640" y="4233672"/>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Serotonin syndrome</a:t>
            </a:r>
          </a:p>
        </p:txBody>
      </p:sp>
      <p:sp>
        <p:nvSpPr>
          <p:cNvPr id="23" name="Rounded Rectangle 22"/>
          <p:cNvSpPr/>
          <p:nvPr/>
        </p:nvSpPr>
        <p:spPr>
          <a:xfrm>
            <a:off x="548640" y="5001768"/>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Hyperkalaemia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06</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6  ·  QUESTION 3 OF 3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6  ·  Skeletal Muscle Relaxants</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24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on tizanidine is prescribed ciprofloxacin. What is the likely result?</a:t>
            </a:r>
          </a:p>
        </p:txBody>
      </p:sp>
      <p:sp>
        <p:nvSpPr>
          <p:cNvPr id="14" name="Rounded Rectangle 13"/>
          <p:cNvSpPr/>
          <p:nvPr/>
        </p:nvSpPr>
        <p:spPr>
          <a:xfrm>
            <a:off x="548640" y="2606040"/>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Loss of tizanidine effect</a:t>
            </a:r>
          </a:p>
        </p:txBody>
      </p:sp>
      <p:sp>
        <p:nvSpPr>
          <p:cNvPr id="17" name="Rounded Rectangle 16"/>
          <p:cNvSpPr/>
          <p:nvPr/>
        </p:nvSpPr>
        <p:spPr>
          <a:xfrm>
            <a:off x="548640" y="3282696"/>
            <a:ext cx="11094415" cy="548640"/>
          </a:xfrm>
          <a:prstGeom prst="roundRect">
            <a:avLst>
              <a:gd name="adj" fmla="val 18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Severe hypotension and sedation</a:t>
            </a:r>
          </a:p>
        </p:txBody>
      </p:sp>
      <p:sp>
        <p:nvSpPr>
          <p:cNvPr id="20" name="Rounded Rectangle 19"/>
          <p:cNvSpPr/>
          <p:nvPr/>
        </p:nvSpPr>
        <p:spPr>
          <a:xfrm>
            <a:off x="548640" y="3959352"/>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Serotonin syndrome</a:t>
            </a:r>
          </a:p>
        </p:txBody>
      </p:sp>
      <p:sp>
        <p:nvSpPr>
          <p:cNvPr id="23" name="Rounded Rectangle 22"/>
          <p:cNvSpPr/>
          <p:nvPr/>
        </p:nvSpPr>
        <p:spPr>
          <a:xfrm>
            <a:off x="548640" y="4636008"/>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Hyperkalaemia</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26227"/>
                </a:solidFill>
                <a:latin typeface="Calibri"/>
              </a:rPr>
              <a:t>Why:  </a:t>
            </a:r>
            <a:r>
              <a:rPr sz="1500" i="0" b="0">
                <a:solidFill>
                  <a:srgbClr val="1A1F36"/>
                </a:solidFill>
                <a:latin typeface="Calibri"/>
              </a:rPr>
              <a:t>Ciprofloxacin inhibits CYP1A2, so tizanidine levels rise sharply. A is the opposite. C and D are not caused.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DFE1EF"/>
                </a:solidFill>
                <a:latin typeface="Calibri"/>
              </a:rPr>
              <a:t>SECTION 6  ·  SUMMARY</a:t>
            </a:r>
          </a:p>
        </p:txBody>
      </p:sp>
      <p:sp>
        <p:nvSpPr>
          <p:cNvPr id="4" name="TextBox 3"/>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5" name="Oval 4"/>
          <p:cNvSpPr/>
          <p:nvPr/>
        </p:nvSpPr>
        <p:spPr>
          <a:xfrm>
            <a:off x="548640" y="184708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1</a:t>
            </a:r>
          </a:p>
        </p:txBody>
      </p:sp>
      <p:sp>
        <p:nvSpPr>
          <p:cNvPr id="6" name="TextBox 5"/>
          <p:cNvSpPr txBox="1"/>
          <p:nvPr/>
        </p:nvSpPr>
        <p:spPr>
          <a:xfrm>
            <a:off x="1143000" y="1865376"/>
            <a:ext cx="10500055" cy="745278"/>
          </a:xfrm>
          <a:prstGeom prst="rect">
            <a:avLst/>
          </a:prstGeom>
          <a:noFill/>
        </p:spPr>
        <p:txBody>
          <a:bodyPr wrap="square" anchor="t" lIns="0" rIns="0" tIns="0" bIns="0">
            <a:spAutoFit/>
          </a:bodyPr>
          <a:lstStyle/>
          <a:p>
            <a:r>
              <a:rPr sz="1700" i="0" b="0">
                <a:solidFill>
                  <a:srgbClr val="FFFFFF"/>
                </a:solidFill>
                <a:latin typeface="Calibri"/>
              </a:rPr>
              <a:t>Spasticity (brain or cord damage) is treated with baclofen, tizanidine, dantrolene or diazepam; spasm (local injury) with short courses of antispasmodics after NSAIDs and physiotherapy.</a:t>
            </a:r>
          </a:p>
        </p:txBody>
      </p:sp>
      <p:sp>
        <p:nvSpPr>
          <p:cNvPr id="7" name="Oval 6"/>
          <p:cNvSpPr/>
          <p:nvPr/>
        </p:nvSpPr>
        <p:spPr>
          <a:xfrm>
            <a:off x="548640" y="2638086"/>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2</a:t>
            </a:r>
          </a:p>
        </p:txBody>
      </p:sp>
      <p:sp>
        <p:nvSpPr>
          <p:cNvPr id="8" name="TextBox 7"/>
          <p:cNvSpPr txBox="1"/>
          <p:nvPr/>
        </p:nvSpPr>
        <p:spPr>
          <a:xfrm>
            <a:off x="1143000" y="2656374"/>
            <a:ext cx="10500055" cy="745278"/>
          </a:xfrm>
          <a:prstGeom prst="rect">
            <a:avLst/>
          </a:prstGeom>
          <a:noFill/>
        </p:spPr>
        <p:txBody>
          <a:bodyPr wrap="square" anchor="t" lIns="0" rIns="0" tIns="0" bIns="0">
            <a:spAutoFit/>
          </a:bodyPr>
          <a:lstStyle/>
          <a:p>
            <a:r>
              <a:rPr sz="1700" i="0" b="0">
                <a:solidFill>
                  <a:srgbClr val="FFFFFF"/>
                </a:solidFill>
                <a:latin typeface="Calibri"/>
              </a:rPr>
              <a:t>Baclofen is a GABA-B agonist: more K+ conductance and less presynaptic Ca2+ entry; never stop it suddenly.</a:t>
            </a:r>
          </a:p>
        </p:txBody>
      </p:sp>
      <p:sp>
        <p:nvSpPr>
          <p:cNvPr id="9" name="Oval 8"/>
          <p:cNvSpPr/>
          <p:nvPr/>
        </p:nvSpPr>
        <p:spPr>
          <a:xfrm>
            <a:off x="548640" y="3429084"/>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3</a:t>
            </a:r>
          </a:p>
        </p:txBody>
      </p:sp>
      <p:sp>
        <p:nvSpPr>
          <p:cNvPr id="10" name="TextBox 9"/>
          <p:cNvSpPr txBox="1"/>
          <p:nvPr/>
        </p:nvSpPr>
        <p:spPr>
          <a:xfrm>
            <a:off x="1143000" y="3447372"/>
            <a:ext cx="10500055" cy="475403"/>
          </a:xfrm>
          <a:prstGeom prst="rect">
            <a:avLst/>
          </a:prstGeom>
          <a:noFill/>
        </p:spPr>
        <p:txBody>
          <a:bodyPr wrap="square" anchor="t" lIns="0" rIns="0" tIns="0" bIns="0">
            <a:spAutoFit/>
          </a:bodyPr>
          <a:lstStyle/>
          <a:p>
            <a:r>
              <a:rPr sz="1700" i="0" b="0">
                <a:solidFill>
                  <a:srgbClr val="FFFFFF"/>
                </a:solidFill>
                <a:latin typeface="Calibri"/>
              </a:rPr>
              <a:t>Dantrolene blocks Ca2+ release through RyR1 and is the treatment of malignant hyperthermia.</a:t>
            </a:r>
          </a:p>
        </p:txBody>
      </p:sp>
      <p:sp>
        <p:nvSpPr>
          <p:cNvPr id="11" name="Oval 10"/>
          <p:cNvSpPr/>
          <p:nvPr/>
        </p:nvSpPr>
        <p:spPr>
          <a:xfrm>
            <a:off x="548640" y="3950207"/>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4</a:t>
            </a:r>
          </a:p>
        </p:txBody>
      </p:sp>
      <p:sp>
        <p:nvSpPr>
          <p:cNvPr id="12" name="TextBox 11"/>
          <p:cNvSpPr txBox="1"/>
          <p:nvPr/>
        </p:nvSpPr>
        <p:spPr>
          <a:xfrm>
            <a:off x="1143000" y="3968496"/>
            <a:ext cx="10500055" cy="475403"/>
          </a:xfrm>
          <a:prstGeom prst="rect">
            <a:avLst/>
          </a:prstGeom>
          <a:noFill/>
        </p:spPr>
        <p:txBody>
          <a:bodyPr wrap="square" anchor="t" lIns="0" rIns="0" tIns="0" bIns="0">
            <a:spAutoFit/>
          </a:bodyPr>
          <a:lstStyle/>
          <a:p>
            <a:r>
              <a:rPr sz="1700" i="0" b="0">
                <a:solidFill>
                  <a:srgbClr val="FFFFFF"/>
                </a:solidFill>
                <a:latin typeface="Calibri"/>
              </a:rPr>
              <a:t>NMBs paralyse without sedation or analgesia.</a:t>
            </a:r>
          </a:p>
        </p:txBody>
      </p:sp>
      <p:sp>
        <p:nvSpPr>
          <p:cNvPr id="13" name="Oval 12"/>
          <p:cNvSpPr/>
          <p:nvPr/>
        </p:nvSpPr>
        <p:spPr>
          <a:xfrm>
            <a:off x="548640" y="4471331"/>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5</a:t>
            </a:r>
          </a:p>
        </p:txBody>
      </p:sp>
      <p:sp>
        <p:nvSpPr>
          <p:cNvPr id="14" name="TextBox 13"/>
          <p:cNvSpPr txBox="1"/>
          <p:nvPr/>
        </p:nvSpPr>
        <p:spPr>
          <a:xfrm>
            <a:off x="1143000" y="4489619"/>
            <a:ext cx="10500055" cy="745278"/>
          </a:xfrm>
          <a:prstGeom prst="rect">
            <a:avLst/>
          </a:prstGeom>
          <a:noFill/>
        </p:spPr>
        <p:txBody>
          <a:bodyPr wrap="square" anchor="t" lIns="0" rIns="0" tIns="0" bIns="0">
            <a:spAutoFit/>
          </a:bodyPr>
          <a:lstStyle/>
          <a:p>
            <a:r>
              <a:rPr sz="1700" i="0" b="0">
                <a:solidFill>
                  <a:srgbClr val="FFFFFF"/>
                </a:solidFill>
                <a:latin typeface="Calibri"/>
              </a:rPr>
              <a:t>Non-depolarising blockers are competitive antagonists, reversed by neostigmine with glycopyrrolate, or rocuronium by sugammadex.</a:t>
            </a:r>
          </a:p>
        </p:txBody>
      </p:sp>
      <p:sp>
        <p:nvSpPr>
          <p:cNvPr id="15" name="Oval 14"/>
          <p:cNvSpPr/>
          <p:nvPr/>
        </p:nvSpPr>
        <p:spPr>
          <a:xfrm>
            <a:off x="548640" y="5262329"/>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6</a:t>
            </a:r>
          </a:p>
        </p:txBody>
      </p:sp>
      <p:sp>
        <p:nvSpPr>
          <p:cNvPr id="16" name="TextBox 15"/>
          <p:cNvSpPr txBox="1"/>
          <p:nvPr/>
        </p:nvSpPr>
        <p:spPr>
          <a:xfrm>
            <a:off x="1143000" y="5280617"/>
            <a:ext cx="10500055" cy="745278"/>
          </a:xfrm>
          <a:prstGeom prst="rect">
            <a:avLst/>
          </a:prstGeom>
          <a:noFill/>
        </p:spPr>
        <p:txBody>
          <a:bodyPr wrap="square" anchor="t" lIns="0" rIns="0" tIns="0" bIns="0">
            <a:spAutoFit/>
          </a:bodyPr>
          <a:lstStyle/>
          <a:p>
            <a:r>
              <a:rPr sz="1700" i="0" b="0">
                <a:solidFill>
                  <a:srgbClr val="FFFFFF"/>
                </a:solidFill>
                <a:latin typeface="Calibri"/>
              </a:rPr>
              <a:t>Succinylcholine causes persistent depolarisation; watch for hyperkalaemia, bradycardia, prolonged apnoea and malignant hyperthermia.</a:t>
            </a:r>
          </a:p>
        </p:txBody>
      </p:sp>
      <p:pic>
        <p:nvPicPr>
          <p:cNvPr id="17" name="Picture 16" descr="port-said-university.png"/>
          <p:cNvPicPr>
            <a:picLocks noChangeAspect="1"/>
          </p:cNvPicPr>
          <p:nvPr/>
        </p:nvPicPr>
        <p:blipFill>
          <a:blip r:embed="rId3"/>
          <a:stretch>
            <a:fillRect/>
          </a:stretch>
        </p:blipFill>
        <p:spPr>
          <a:xfrm>
            <a:off x="10378440" y="6144768"/>
            <a:ext cx="548640" cy="548640"/>
          </a:xfrm>
          <a:prstGeom prst="rect">
            <a:avLst/>
          </a:prstGeom>
        </p:spPr>
      </p:pic>
      <p:pic>
        <p:nvPicPr>
          <p:cNvPr id="18" name="Picture 17" descr="faculty-of-pharmacy.png"/>
          <p:cNvPicPr>
            <a:picLocks noChangeAspect="1"/>
          </p:cNvPicPr>
          <p:nvPr/>
        </p:nvPicPr>
        <p:blipFill>
          <a:blip r:embed="rId4"/>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