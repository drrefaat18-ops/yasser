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motor nerve releases acetylcholine (ACh) at the neuromuscular junction. ACh acts on nicotinic (Nm) receptors on the muscle, which are ion channels; Na+ enters and the muscle fibre depolarises. The signal travels into the fibre and releases Ca2+ from the sarcoplasmic reticulum through the ryanodine receptor (RyR1). Ca2+ triggers contraction. Acetylcholinesterase ends the signal in milliseconds. In the spinal cord, GABA and α2 receptors on sensory nerve endings reduce reflex firing.</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Two Groups, Two Aims.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About 30 s.  Next: Spasticity versus spasm.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About 30 s.  Next: Spasticity versus spasm.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About 30 s.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120 s.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90 s.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90 s.  Next: Antispastic Drugs.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90 s.  Next: Antispasmodic Drugs for Muscle Spasm.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drugs are not first-line for back pain. First-line care is keeping active, heat, physiotherapy and, if needed, an NSAID. An antispasmodic may be added for a short time, often 1 to 2 weeks. All of them cause drowsiness; warn patients about driving and alcohol. Many products in Egypt combine a relaxant with paracetamol or ibuprofen. Count every paracetamol-containing product the patient takes, because the maximum daily dose is easy to exceed.</a:t>
            </a:r>
          </a:p>
          <a:p/>
          <a:p>
            <a:r>
              <a:t>About 60 s.  Next: Antispasmodic Drugs for Muscle Spasm.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drugs are not first-line for back pain. First-line care is keeping active, heat, physiotherapy and, if needed, an NSAID. An antispasmodic may be added for a short time, often 1 to 2 weeks. All of them cause drowsiness; warn patients about driving and alcohol. Many products in Egypt combine a relaxant with paracetamol or ibuprofen. Count every paracetamol-containing product the patient takes, because the maximum daily dose is easy to exceed.</a:t>
            </a:r>
          </a:p>
          <a:p/>
          <a:p>
            <a:r>
              <a:t>About 30 s.  Next: Dantrolene: a Direct-Acting Relaxant.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Dantrolene is a hydantoin derivative, related to phenytoin. It acts inside the muscle. It blocks the RyR1 channel and so reduces Ca2+ release from the sarcoplasmic reticulum. Contraction becomes weaker. It has little effect on heart or smooth muscle. Uses: Adverse effects: muscle weakness, drowsiness, diarrhoea and liver injury, which carries a boxed warning with long-term oral use. Check liver function.</a:t>
            </a:r>
          </a:p>
          <a:p/>
          <a:p>
            <a:r>
              <a:t>About 60 s.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Malignant Hyperthermia (1/2).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usually linked to a mutation of RyR1. Volatile anaesthetics (halothane, sevoflurane, desflurane) or succinylcholine trigger uncontrolled Ca2+ release in muscle. Features: a rise in end-tidal CO₂ that does not respond to ventilation, tachycardia, muscle rigidity (often the jaw), then fever, acidosis, hyperkalaemia and myoglobinuria. &gt; 1. Stop the trigger and call for help. &gt; 2. Give IV dantrolene 2.5 mg/kg, repeated until the signs settle. &gt; 3. Ventilate with 100% oxygen at high flow. &gt; 4. Cool the patient, and treat hyperkalaemia, acidosis and arrhythmia. &gt; &gt; Ask about family history before anaesthesia, and use non-trigger drugs such as propofol in susceptible patients.</a:t>
            </a:r>
          </a:p>
          <a:p/>
          <a:p>
            <a:r>
              <a:t>About 90 s.  Next: Malignant Hyperthermia (2/2).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usually linked to a mutation of RyR1. Volatile anaesthetics (halothane, sevoflurane, desflurane) or succinylcholine trigger uncontrolled Ca2+ release in muscle. Features: a rise in end-tidal CO₂ that does not respond to ventilation, tachycardia, muscle rigidity (often the jaw), then fever, acidosis, hyperkalaemia and myoglobinuria. &gt; 1. Stop the trigger and call for help. &gt; 2. Give IV dantrolene 2.5 mg/kg, repeated until the signs settle. &gt; 3. Ventilate with 100% oxygen at high flow. &gt; 4. Cool the patient, and treat hyperkalaemia, acidosis and arrhythmia. &gt; &gt; Ask about family history before anaesthesia, and use non-trigger drugs such as propofol in susceptible patients.</a:t>
            </a:r>
          </a:p>
          <a:p/>
          <a:p>
            <a:r>
              <a:t>About 60 s.  Next: Brands in Egypt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Brands in Egypt (1/2).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Spasticity from brain or cord damage needs an antispastic drug. B is for surgery. C is for local muscle spasm. D would increase tone.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Baclofen is a GABA-B agonist. A is benzodiazepines. B is NMBs. D is dantrolene.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Ciprofloxacin inhibits CYP1A2, so tizanidine levels rise sharply. A is the opposite. C and D are not caused.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Dantrolene blocks RyR1 in muscle. A, B and C act in the CNS.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Glycopyrrolate blocks muscarinic receptors and prevents bradycardia and secretions. B is neostigmine's role.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Succinylcholine is an agonist that holds the end-plate depolarised. A is a common error. C is non-depolarising blockers.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Burns increase extra-junctional receptors, so K+ release is large. A is atracurium. B is wrong; burns do not cause malignant hyperthermia.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This is malignant hyperthermia; dantrolene blocks Ca2+ release. A and B reverse NMBs. C does not treat 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Low or atypical plasma cholinesterase slows succinylcholine breakdown. A causes fever and rigidity. C causes awareness. D applies to atracurium.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Cisatracurium is broken down in plasma by Hofmann elimination. B, C and D depend on the kidney or liver.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Brands in Egypt (2/2).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06</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6</a:t>
            </a:r>
          </a:p>
          <a:p>
            <a:pPr>
              <a:spcBef>
                <a:spcPts val="1400"/>
              </a:spcBef>
            </a:pPr>
            <a:r>
              <a:rPr sz="4400" i="0" b="1">
                <a:solidFill>
                  <a:srgbClr val="FFFFFF"/>
                </a:solidFill>
                <a:latin typeface="Cambria"/>
              </a:rPr>
              <a:t>Skeletal Muscle Relaxants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120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Distinguish spasticity from muscle spasm and match each to its drug group.</a:t>
            </a:r>
          </a:p>
        </p:txBody>
      </p:sp>
      <p:sp>
        <p:nvSpPr>
          <p:cNvPr id="10" name="Oval 9"/>
          <p:cNvSpPr/>
          <p:nvPr/>
        </p:nvSpPr>
        <p:spPr>
          <a:xfrm>
            <a:off x="548640" y="24328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Describe the site and mechanism of action of central, direct-acting and neuromuscular-blocking relaxants.</a:t>
            </a:r>
          </a:p>
        </p:txBody>
      </p:sp>
      <p:sp>
        <p:nvSpPr>
          <p:cNvPr id="12" name="Oval 11"/>
          <p:cNvSpPr/>
          <p:nvPr/>
        </p:nvSpPr>
        <p:spPr>
          <a:xfrm>
            <a:off x="548640" y="36103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28644"/>
            <a:ext cx="6629400" cy="814323"/>
          </a:xfrm>
          <a:prstGeom prst="rect">
            <a:avLst/>
          </a:prstGeom>
          <a:noFill/>
        </p:spPr>
        <p:txBody>
          <a:bodyPr wrap="square" anchor="t" lIns="0" rIns="0" tIns="0" bIns="0">
            <a:spAutoFit/>
          </a:bodyPr>
          <a:lstStyle/>
          <a:p>
            <a:r>
              <a:rPr sz="2000" i="0" b="0">
                <a:solidFill>
                  <a:srgbClr val="1A1F36"/>
                </a:solidFill>
                <a:latin typeface="Calibri"/>
              </a:rPr>
              <a:t>Compare depolarising and non-depolarising neuromuscular blockers, including their reversal.</a:t>
            </a:r>
          </a:p>
        </p:txBody>
      </p:sp>
      <p:sp>
        <p:nvSpPr>
          <p:cNvPr id="14" name="Oval 13"/>
          <p:cNvSpPr/>
          <p:nvPr/>
        </p:nvSpPr>
        <p:spPr>
          <a:xfrm>
            <a:off x="548640" y="44704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Identify key adverse effects, interactions and withdrawal risks of muscle relaxants.</a:t>
            </a:r>
          </a:p>
        </p:txBody>
      </p:sp>
      <p:sp>
        <p:nvSpPr>
          <p:cNvPr id="16" name="Oval 15"/>
          <p:cNvSpPr/>
          <p:nvPr/>
        </p:nvSpPr>
        <p:spPr>
          <a:xfrm>
            <a:off x="548640" y="53304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Outline the recognition and treatment of malignant hyperthermia.</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120</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Two Groups, Two Aims</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Antispastic Drugs</a:t>
            </a:r>
          </a:p>
        </p:txBody>
      </p:sp>
      <p:sp>
        <p:nvSpPr>
          <p:cNvPr id="12" name="Oval 11"/>
          <p:cNvSpPr/>
          <p:nvPr/>
        </p:nvSpPr>
        <p:spPr>
          <a:xfrm>
            <a:off x="548640"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1A1F36"/>
                </a:solidFill>
                <a:latin typeface="Calibri"/>
              </a:rPr>
              <a:t>Antispasmodic Drugs for Muscle Spasm</a:t>
            </a:r>
          </a:p>
        </p:txBody>
      </p:sp>
      <p:sp>
        <p:nvSpPr>
          <p:cNvPr id="14" name="Oval 13"/>
          <p:cNvSpPr/>
          <p:nvPr/>
        </p:nvSpPr>
        <p:spPr>
          <a:xfrm>
            <a:off x="548640" y="453339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51679"/>
            <a:ext cx="4678527" cy="1173987"/>
          </a:xfrm>
          <a:prstGeom prst="rect">
            <a:avLst/>
          </a:prstGeom>
          <a:noFill/>
        </p:spPr>
        <p:txBody>
          <a:bodyPr wrap="square" anchor="t" lIns="0" rIns="0" tIns="0" bIns="0">
            <a:spAutoFit/>
          </a:bodyPr>
          <a:lstStyle/>
          <a:p>
            <a:r>
              <a:rPr sz="2200" i="0" b="0">
                <a:solidFill>
                  <a:srgbClr val="1A1F36"/>
                </a:solidFill>
                <a:latin typeface="Calibri"/>
              </a:rPr>
              <a:t>Dantrolene: a Direct-Acting Relaxant</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Neuromuscular Blockers</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Two Groups, Two Aims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Muscle relaxants form two groups with different uses: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1142237"/>
          </a:xfrm>
          <a:prstGeom prst="rect">
            <a:avLst/>
          </a:prstGeom>
          <a:noFill/>
        </p:spPr>
        <p:txBody>
          <a:bodyPr wrap="square" anchor="t" lIns="0" rIns="0" tIns="0" bIns="0">
            <a:spAutoFit/>
          </a:bodyPr>
          <a:lstStyle/>
          <a:p>
            <a:r>
              <a:rPr sz="2100" i="0" b="1">
                <a:solidFill>
                  <a:srgbClr val="1A1F36"/>
                </a:solidFill>
                <a:latin typeface="Calibri"/>
              </a:rPr>
              <a:t>Spasmolytics</a:t>
            </a:r>
            <a:r>
              <a:rPr sz="2100" i="0" b="0">
                <a:solidFill>
                  <a:srgbClr val="1A1F36"/>
                </a:solidFill>
                <a:latin typeface="Calibri"/>
              </a:rPr>
              <a:t> act in the brain and spinal cord, or directly on muscle. They are used for spasticity and muscle spasm in conscious patients.</a:t>
            </a:r>
          </a:p>
        </p:txBody>
      </p:sp>
      <p:sp>
        <p:nvSpPr>
          <p:cNvPr id="11" name="Oval 10"/>
          <p:cNvSpPr/>
          <p:nvPr/>
        </p:nvSpPr>
        <p:spPr>
          <a:xfrm>
            <a:off x="548640" y="344195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60242"/>
            <a:ext cx="10500055" cy="1475612"/>
          </a:xfrm>
          <a:prstGeom prst="rect">
            <a:avLst/>
          </a:prstGeom>
          <a:noFill/>
        </p:spPr>
        <p:txBody>
          <a:bodyPr wrap="square" anchor="t" lIns="0" rIns="0" tIns="0" bIns="0">
            <a:spAutoFit/>
          </a:bodyPr>
          <a:lstStyle/>
          <a:p>
            <a:r>
              <a:rPr sz="2100" i="0" b="1">
                <a:solidFill>
                  <a:srgbClr val="1A1F36"/>
                </a:solidFill>
                <a:latin typeface="Calibri"/>
              </a:rPr>
              <a:t>Neuromuscular blockers (NMBs)</a:t>
            </a:r>
            <a:r>
              <a:rPr sz="2100" i="0" b="0">
                <a:solidFill>
                  <a:srgbClr val="1A1F36"/>
                </a:solidFill>
                <a:latin typeface="Calibri"/>
              </a:rPr>
              <a:t> act at the neuromuscular junction. They have no CNS effect, no analgesia and no sedation. They are used only during anaesthesia and in intensive care, with ventilation.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Spasticity versus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1">
                <a:solidFill>
                  <a:srgbClr val="1A1F36"/>
                </a:solidFill>
                <a:latin typeface="Calibri"/>
              </a:rPr>
              <a:t>Spasticity</a:t>
            </a:r>
            <a:r>
              <a:rPr sz="2100" i="0" b="0">
                <a:solidFill>
                  <a:srgbClr val="1A1F36"/>
                </a:solidFill>
                <a:latin typeface="Calibri"/>
              </a:rPr>
              <a:t> is increased muscle tone from damage to the brain or spinal cord. Examples are multiple sclerosis, spinal cord injury, stroke and cerebral palsy. Use </a:t>
            </a:r>
            <a:r>
              <a:rPr sz="2100" i="0" b="1">
                <a:solidFill>
                  <a:srgbClr val="1A1F36"/>
                </a:solidFill>
                <a:latin typeface="Calibri"/>
              </a:rPr>
              <a:t>antispastic</a:t>
            </a:r>
            <a:r>
              <a:rPr sz="2100" i="0" b="0">
                <a:solidFill>
                  <a:srgbClr val="1A1F36"/>
                </a:solidFill>
                <a:latin typeface="Calibri"/>
              </a:rPr>
              <a:t> drugs: baclofen, tizanidine, dantrolene or diazepam.</a:t>
            </a:r>
          </a:p>
        </p:txBody>
      </p:sp>
      <p:sp>
        <p:nvSpPr>
          <p:cNvPr id="10" name="Oval 9"/>
          <p:cNvSpPr/>
          <p:nvPr/>
        </p:nvSpPr>
        <p:spPr>
          <a:xfrm>
            <a:off x="548640" y="30941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1">
                <a:solidFill>
                  <a:srgbClr val="1A1F36"/>
                </a:solidFill>
                <a:latin typeface="Calibri"/>
              </a:rPr>
              <a:t>Muscle spasm</a:t>
            </a:r>
            <a:r>
              <a:rPr sz="2100" i="0" b="0">
                <a:solidFill>
                  <a:srgbClr val="1A1F36"/>
                </a:solidFill>
                <a:latin typeface="Calibri"/>
              </a:rPr>
              <a:t> is a painful contraction from a local musculoskeletal problem, such as acute low back or neck pain. Use </a:t>
            </a:r>
            <a:r>
              <a:rPr sz="2100" i="0" b="1">
                <a:solidFill>
                  <a:srgbClr val="1A1F36"/>
                </a:solidFill>
                <a:latin typeface="Calibri"/>
              </a:rPr>
              <a:t>antispasmodic</a:t>
            </a:r>
            <a:r>
              <a:rPr sz="2100" i="0" b="0">
                <a:solidFill>
                  <a:srgbClr val="1A1F36"/>
                </a:solidFill>
                <a:latin typeface="Calibri"/>
              </a:rPr>
              <a:t> drugs such as cyclobenzaprine, orphenadrine, chlorzoxazone or methocarbamol, for a short time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Spasticity versus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A vertical chain: brain and brainstem, spinal cord, neuromuscular junction and muscle fibre, each linked to the drugs acting there: antispasmodics, antispastics, neuromuscular blockers and dantrolene."/>
          <p:cNvPicPr>
            <a:picLocks noChangeAspect="1"/>
          </p:cNvPicPr>
          <p:nvPr/>
        </p:nvPicPr>
        <p:blipFill>
          <a:blip r:embed="rId4"/>
          <a:stretch>
            <a:fillRect/>
          </a:stretch>
        </p:blipFill>
        <p:spPr>
          <a:xfrm>
            <a:off x="1796020" y="1554480"/>
            <a:ext cx="8599655"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Sites of action of skeletal muscle relaxants from brain to muscle fibre.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Baclofen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Baclofen is a GABA derivative that is active by mouth. It is an agonist at </a:t>
            </a:r>
            <a:r>
              <a:rPr sz="2100" i="0" b="1">
                <a:solidFill>
                  <a:srgbClr val="1A1F36"/>
                </a:solidFill>
                <a:latin typeface="Calibri"/>
              </a:rPr>
              <a:t>GABA-B</a:t>
            </a:r>
            <a:r>
              <a:rPr sz="2100" i="0" b="0">
                <a:solidFill>
                  <a:srgbClr val="1A1F36"/>
                </a:solidFill>
                <a:latin typeface="Calibri"/>
              </a:rPr>
              <a:t> receptors in the spinal cord. GABA-B is a G-protein-coupled receptor, not a chloride channel. Its activation:</a:t>
            </a:r>
          </a:p>
          <a:p>
            <a:pPr>
              <a:spcAft>
                <a:spcPts val="800"/>
              </a:spcAft>
            </a:pPr>
            <a:r>
              <a:rPr sz="2100" i="0" b="0">
                <a:solidFill>
                  <a:srgbClr val="1A1F36"/>
                </a:solidFill>
                <a:latin typeface="Calibri"/>
              </a:rPr>
              <a:t>Reflex firing falls and tone improves. Severe spasticity can be treated with intrathecal baclofen by pump.</a:t>
            </a:r>
          </a:p>
          <a:p>
            <a:pPr>
              <a:spcAft>
                <a:spcPts val="800"/>
              </a:spcAft>
            </a:pPr>
            <a:r>
              <a:rPr sz="2100" i="0" b="0">
                <a:solidFill>
                  <a:srgbClr val="1A1F36"/>
                </a:solidFill>
                <a:latin typeface="Calibri"/>
              </a:rPr>
              <a:t>Adverse effects: drowsiness, weakness, dizziness and confusion. It is cleared by the kidneys; reduce the dose in kidney disease.</a:t>
            </a:r>
          </a:p>
          <a:p>
            <a:pPr>
              <a:spcAft>
                <a:spcPts val="800"/>
              </a:spcAft>
            </a:pPr>
            <a:r>
              <a:rPr sz="2100" i="0" b="0">
                <a:solidFill>
                  <a:srgbClr val="1A1F36"/>
                </a:solidFill>
                <a:latin typeface="Calibri"/>
              </a:rPr>
              <a:t>Tizanidine is a central </a:t>
            </a:r>
            <a:r>
              <a:rPr sz="2100" i="0" b="1">
                <a:solidFill>
                  <a:srgbClr val="1A1F36"/>
                </a:solidFill>
                <a:latin typeface="Calibri"/>
              </a:rPr>
              <a:t>α2 agonist</a:t>
            </a:r>
            <a:r>
              <a:rPr sz="2100" i="0" b="0">
                <a:solidFill>
                  <a:srgbClr val="1A1F36"/>
                </a:solidFill>
                <a:latin typeface="Calibri"/>
              </a:rPr>
              <a:t>, related to clonidine. It reduces the release of excitatory transmitters in the spinal cord. It treats spasticity with less weakness than baclofen.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Baclofen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Adverse effects: drowsiness, dry mouth, hypotension and weakness; rarely liver injury. Stopping suddenly can cause rebound hypertension and tachycardia. Tizanidine is metabolised by </a:t>
            </a:r>
            <a:r>
              <a:rPr sz="2100" i="0" b="1">
                <a:solidFill>
                  <a:srgbClr val="1A1F36"/>
                </a:solidFill>
                <a:latin typeface="Calibri"/>
              </a:rPr>
              <a:t>CYP1A2</a:t>
            </a:r>
            <a:r>
              <a:rPr sz="2100" i="0" b="0">
                <a:solidFill>
                  <a:srgbClr val="1A1F36"/>
                </a:solidFill>
                <a:latin typeface="Calibri"/>
              </a:rPr>
              <a:t>. Ciprofloxacin and fluvoxamine block this enzyme and cause severe hypotension and sedation; this combination is contraindicated.</a:t>
            </a:r>
          </a:p>
          <a:p>
            <a:pPr>
              <a:spcAft>
                <a:spcPts val="800"/>
              </a:spcAft>
            </a:pPr>
            <a:r>
              <a:rPr sz="2100" i="0" b="0">
                <a:solidFill>
                  <a:srgbClr val="1A1F36"/>
                </a:solidFill>
                <a:latin typeface="Calibri"/>
              </a:rPr>
              <a:t>Diazepam enhances GABA-A receptors in the spinal cord and brain. It relaxes muscle but sedates. Tolerance and dependence limit long-term use.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Baclofen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Opens K+ channels, so the neuron hyperpolarises.</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Reduces Ca2+ entry into nerve endings, so less excitatory transmitter is released.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Antispastic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Never stop baclofen suddenly. Withdrawal causes hallucinations, seizures, high fever and rebound spasticity. With intrathecal pumps, pump failure can be life-threatening. Reduce the dose slowly.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Antispasmodic Drugs for Muscle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These drugs are </a:t>
            </a:r>
            <a:r>
              <a:rPr sz="2100" i="0" b="1">
                <a:solidFill>
                  <a:srgbClr val="1A1F36"/>
                </a:solidFill>
                <a:latin typeface="Calibri"/>
              </a:rPr>
              <a:t>not first-line</a:t>
            </a:r>
            <a:r>
              <a:rPr sz="2100" i="0" b="0">
                <a:solidFill>
                  <a:srgbClr val="1A1F36"/>
                </a:solidFill>
                <a:latin typeface="Calibri"/>
              </a:rPr>
              <a:t> for back pain. First-line care is keeping active, heat, physiotherapy and, if needed, an NSAID. An antispasmodic may be added for a short time, often 1 to 2 weeks. All of them cause drowsiness; warn patients about driving and alcohol.</a:t>
            </a:r>
          </a:p>
          <a:p>
            <a:pPr>
              <a:spcAft>
                <a:spcPts val="800"/>
              </a:spcAft>
            </a:pPr>
            <a:r>
              <a:rPr sz="2100" i="0" b="0">
                <a:solidFill>
                  <a:srgbClr val="1A1F36"/>
                </a:solidFill>
                <a:latin typeface="Calibri"/>
              </a:rPr>
              <a:t>Many products in Egypt combine a relaxant with paracetamol or ibuprofen. Count every paracetamol-containing product the patient takes, because the maximum daily dose is easy to exceed.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Antispasmodic Drugs for Muscle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1701143"/>
                <a:gridCol w="4363803"/>
                <a:gridCol w="5029468"/>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Mechanism</a:t>
                      </a:r>
                    </a:p>
                  </a:txBody>
                  <a:tcPr marL="109728" marR="109728" marT="45720" marB="45720" anchor="ctr">
                    <a:solidFill>
                      <a:srgbClr val="1B2A8C"/>
                    </a:solidFill>
                  </a:tcPr>
                </a:tc>
                <a:tc>
                  <a:txBody>
                    <a:bodyPr/>
                    <a:lstStyle/>
                    <a:p>
                      <a:r>
                        <a:rPr sz="1500" i="0" b="1">
                          <a:solidFill>
                            <a:srgbClr val="FFFFFF"/>
                          </a:solidFill>
                          <a:latin typeface="Calibri"/>
                        </a:rPr>
                        <a:t>Key points</a:t>
                      </a:r>
                    </a:p>
                  </a:txBody>
                  <a:tcPr marL="109728" marR="109728" marT="45720" marB="45720" anchor="ctr">
                    <a:solidFill>
                      <a:srgbClr val="1B2A8C"/>
                    </a:solidFill>
                  </a:tcPr>
                </a:tc>
              </a:tr>
              <a:tr h="640080">
                <a:tc>
                  <a:txBody>
                    <a:bodyPr/>
                    <a:lstStyle/>
                    <a:p>
                      <a:r>
                        <a:rPr sz="1600" i="0" b="1">
                          <a:solidFill>
                            <a:srgbClr val="1A1F36"/>
                          </a:solidFill>
                          <a:latin typeface="Calibri"/>
                        </a:rPr>
                        <a:t>Cyclobenzaprine</a:t>
                      </a:r>
                    </a:p>
                  </a:txBody>
                  <a:tcPr marL="109728" marR="109728" marT="45720" marB="45720" anchor="ctr">
                    <a:solidFill>
                      <a:srgbClr val="FFFFFF"/>
                    </a:solidFill>
                  </a:tcPr>
                </a:tc>
                <a:tc>
                  <a:txBody>
                    <a:bodyPr/>
                    <a:lstStyle/>
                    <a:p>
                      <a:r>
                        <a:rPr sz="1600" i="0" b="0">
                          <a:solidFill>
                            <a:srgbClr val="1A1F36"/>
                          </a:solidFill>
                          <a:latin typeface="Calibri"/>
                        </a:rPr>
                        <a:t>Structurally related to TCAs; acts in the brainstem</a:t>
                      </a:r>
                    </a:p>
                  </a:txBody>
                  <a:tcPr marL="109728" marR="109728" marT="45720" marB="45720" anchor="ctr">
                    <a:solidFill>
                      <a:srgbClr val="FFFFFF"/>
                    </a:solidFill>
                  </a:tcPr>
                </a:tc>
                <a:tc>
                  <a:txBody>
                    <a:bodyPr/>
                    <a:lstStyle/>
                    <a:p>
                      <a:r>
                        <a:rPr sz="1600" i="0" b="0">
                          <a:solidFill>
                            <a:srgbClr val="1A1F36"/>
                          </a:solidFill>
                          <a:latin typeface="Calibri"/>
                        </a:rPr>
                        <a:t>Anticholinergic effects, sedation; serotonin syndrome with SSRIs or tramadol; do not use within 14 days of an MAO inhibitor; avoid in older people and heart disease</a:t>
                      </a:r>
                    </a:p>
                  </a:txBody>
                  <a:tcPr marL="109728" marR="109728" marT="45720" marB="45720" anchor="ctr">
                    <a:solidFill>
                      <a:srgbClr val="FFFFFF"/>
                    </a:solidFill>
                  </a:tcPr>
                </a:tc>
              </a:tr>
              <a:tr h="640080">
                <a:tc>
                  <a:txBody>
                    <a:bodyPr/>
                    <a:lstStyle/>
                    <a:p>
                      <a:r>
                        <a:rPr sz="1600" i="0" b="1">
                          <a:solidFill>
                            <a:srgbClr val="1A1F36"/>
                          </a:solidFill>
                          <a:latin typeface="Calibri"/>
                        </a:rPr>
                        <a:t>Orphenadrine</a:t>
                      </a:r>
                    </a:p>
                  </a:txBody>
                  <a:tcPr marL="109728" marR="109728" marT="45720" marB="45720" anchor="ctr">
                    <a:solidFill>
                      <a:srgbClr val="F1F2F8"/>
                    </a:solidFill>
                  </a:tcPr>
                </a:tc>
                <a:tc>
                  <a:txBody>
                    <a:bodyPr/>
                    <a:lstStyle/>
                    <a:p>
                      <a:r>
                        <a:rPr sz="1600" i="0" b="0">
                          <a:solidFill>
                            <a:srgbClr val="1A1F36"/>
                          </a:solidFill>
                          <a:latin typeface="Calibri"/>
                        </a:rPr>
                        <a:t>Anticholinergic, related to diphenhydramine</a:t>
                      </a:r>
                    </a:p>
                  </a:txBody>
                  <a:tcPr marL="109728" marR="109728" marT="45720" marB="45720" anchor="ctr">
                    <a:solidFill>
                      <a:srgbClr val="F1F2F8"/>
                    </a:solidFill>
                  </a:tcPr>
                </a:tc>
                <a:tc>
                  <a:txBody>
                    <a:bodyPr/>
                    <a:lstStyle/>
                    <a:p>
                      <a:r>
                        <a:rPr sz="1600" i="0" b="0">
                          <a:solidFill>
                            <a:srgbClr val="1A1F36"/>
                          </a:solidFill>
                          <a:latin typeface="Calibri"/>
                        </a:rPr>
                        <a:t>Dry mouth, urinary retention, confusion; avoid in glaucoma and prostatic enlargement; misused at high doses</a:t>
                      </a:r>
                    </a:p>
                  </a:txBody>
                  <a:tcPr marL="109728" marR="109728" marT="45720" marB="45720" anchor="ctr">
                    <a:solidFill>
                      <a:srgbClr val="F1F2F8"/>
                    </a:solidFill>
                  </a:tcPr>
                </a:tc>
              </a:tr>
              <a:tr h="640080">
                <a:tc>
                  <a:txBody>
                    <a:bodyPr/>
                    <a:lstStyle/>
                    <a:p>
                      <a:r>
                        <a:rPr sz="1600" i="0" b="1">
                          <a:solidFill>
                            <a:srgbClr val="1A1F36"/>
                          </a:solidFill>
                          <a:latin typeface="Calibri"/>
                        </a:rPr>
                        <a:t>Chlorzoxazone</a:t>
                      </a:r>
                    </a:p>
                  </a:txBody>
                  <a:tcPr marL="109728" marR="109728" marT="45720" marB="45720" anchor="ctr">
                    <a:solidFill>
                      <a:srgbClr val="FFFFFF"/>
                    </a:solidFill>
                  </a:tcPr>
                </a:tc>
                <a:tc>
                  <a:txBody>
                    <a:bodyPr/>
                    <a:lstStyle/>
                    <a:p>
                      <a:r>
                        <a:rPr sz="1600" i="0" b="0">
                          <a:solidFill>
                            <a:srgbClr val="1A1F36"/>
                          </a:solidFill>
                          <a:latin typeface="Calibri"/>
                        </a:rPr>
                        <a:t>Blocks polysynaptic spinal reflexes</a:t>
                      </a:r>
                    </a:p>
                  </a:txBody>
                  <a:tcPr marL="109728" marR="109728" marT="45720" marB="45720" anchor="ctr">
                    <a:solidFill>
                      <a:srgbClr val="FFFFFF"/>
                    </a:solidFill>
                  </a:tcPr>
                </a:tc>
                <a:tc>
                  <a:txBody>
                    <a:bodyPr/>
                    <a:lstStyle/>
                    <a:p>
                      <a:r>
                        <a:rPr sz="1600" i="0" b="0">
                          <a:solidFill>
                            <a:srgbClr val="1A1F36"/>
                          </a:solidFill>
                          <a:latin typeface="Calibri"/>
                        </a:rPr>
                        <a:t>Rare but serious liver injury; stop if jaundice occurs</a:t>
                      </a:r>
                    </a:p>
                  </a:txBody>
                  <a:tcPr marL="109728" marR="109728" marT="45720" marB="45720" anchor="ctr">
                    <a:solidFill>
                      <a:srgbClr val="FFFFFF"/>
                    </a:solidFill>
                  </a:tcPr>
                </a:tc>
              </a:tr>
              <a:tr h="640080">
                <a:tc>
                  <a:txBody>
                    <a:bodyPr/>
                    <a:lstStyle/>
                    <a:p>
                      <a:r>
                        <a:rPr sz="1600" i="0" b="1">
                          <a:solidFill>
                            <a:srgbClr val="1A1F36"/>
                          </a:solidFill>
                          <a:latin typeface="Calibri"/>
                        </a:rPr>
                        <a:t>Methocarbamol</a:t>
                      </a:r>
                    </a:p>
                  </a:txBody>
                  <a:tcPr marL="109728" marR="109728" marT="45720" marB="45720" anchor="ctr">
                    <a:solidFill>
                      <a:srgbClr val="F1F2F8"/>
                    </a:solidFill>
                  </a:tcPr>
                </a:tc>
                <a:tc>
                  <a:txBody>
                    <a:bodyPr/>
                    <a:lstStyle/>
                    <a:p>
                      <a:r>
                        <a:rPr sz="1600" i="0" b="0">
                          <a:solidFill>
                            <a:srgbClr val="1A1F36"/>
                          </a:solidFill>
                          <a:latin typeface="Calibri"/>
                        </a:rPr>
                        <a:t>Central depressant; exact mechanism unclear</a:t>
                      </a:r>
                    </a:p>
                  </a:txBody>
                  <a:tcPr marL="109728" marR="109728" marT="45720" marB="45720" anchor="ctr">
                    <a:solidFill>
                      <a:srgbClr val="F1F2F8"/>
                    </a:solidFill>
                  </a:tcPr>
                </a:tc>
                <a:tc>
                  <a:txBody>
                    <a:bodyPr/>
                    <a:lstStyle/>
                    <a:p>
                      <a:r>
                        <a:rPr sz="1600" i="0" b="0">
                          <a:solidFill>
                            <a:srgbClr val="1A1F36"/>
                          </a:solidFill>
                          <a:latin typeface="Calibri"/>
                        </a:rPr>
                        <a:t>Drowsiness, dizziness; low misuse potential; well tolerated</a:t>
                      </a:r>
                    </a:p>
                  </a:txBody>
                  <a:tcPr marL="109728" marR="109728" marT="45720" marB="45720" anchor="ctr">
                    <a:solidFill>
                      <a:srgbClr val="F1F2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Dantrolene: a Direct-Acting Relaxant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Dantrolene is a hydantoin derivative, related to phenytoin. It acts </a:t>
            </a:r>
            <a:r>
              <a:rPr sz="1700" i="0" b="1">
                <a:solidFill>
                  <a:srgbClr val="1A1F36"/>
                </a:solidFill>
                <a:latin typeface="Calibri"/>
              </a:rPr>
              <a:t>inside the muscle</a:t>
            </a:r>
            <a:r>
              <a:rPr sz="1700" i="0" b="0">
                <a:solidFill>
                  <a:srgbClr val="1A1F36"/>
                </a:solidFill>
                <a:latin typeface="Calibri"/>
              </a:rPr>
              <a:t>. It blocks the </a:t>
            </a:r>
            <a:r>
              <a:rPr sz="1700" i="0" b="1">
                <a:solidFill>
                  <a:srgbClr val="1A1F36"/>
                </a:solidFill>
                <a:latin typeface="Calibri"/>
              </a:rPr>
              <a:t>RyR1</a:t>
            </a:r>
            <a:r>
              <a:rPr sz="1700" i="0" b="0">
                <a:solidFill>
                  <a:srgbClr val="1A1F36"/>
                </a:solidFill>
                <a:latin typeface="Calibri"/>
              </a:rPr>
              <a:t> channel and so reduces Ca2+ release from the sarcoplasmic reticulum. Contraction becomes weaker. It has little effect on heart or smooth muscle.</a:t>
            </a:r>
          </a:p>
          <a:p>
            <a:pPr>
              <a:spcAft>
                <a:spcPts val="800"/>
              </a:spcAft>
            </a:pPr>
            <a:r>
              <a:rPr sz="1700" i="0" b="0">
                <a:solidFill>
                  <a:srgbClr val="1A1F36"/>
                </a:solidFill>
                <a:latin typeface="Calibri"/>
              </a:rPr>
              <a:t>Uses:</a:t>
            </a:r>
          </a:p>
          <a:p>
            <a:pPr>
              <a:spcAft>
                <a:spcPts val="800"/>
              </a:spcAft>
            </a:pPr>
            <a:r>
              <a:rPr sz="1700" i="0" b="0">
                <a:solidFill>
                  <a:srgbClr val="1A1F36"/>
                </a:solidFill>
                <a:latin typeface="Calibri"/>
              </a:rPr>
              <a:t>Adverse effects: muscle weakness, drowsiness, diarrhoea and </a:t>
            </a:r>
            <a:r>
              <a:rPr sz="1700" i="0" b="1">
                <a:solidFill>
                  <a:srgbClr val="1A1F36"/>
                </a:solidFill>
                <a:latin typeface="Calibri"/>
              </a:rPr>
              <a:t>liver injury</a:t>
            </a:r>
            <a:r>
              <a:rPr sz="1700" i="0" b="0">
                <a:solidFill>
                  <a:srgbClr val="1A1F36"/>
                </a:solidFill>
                <a:latin typeface="Calibri"/>
              </a:rPr>
              <a:t>, which carries a boxed warning with long-term oral use. Check liver function.</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Chronic spasticity (oral), for example in multiple sclerosis or spinal cord injury.</a:t>
            </a:r>
          </a:p>
        </p:txBody>
      </p:sp>
      <p:sp>
        <p:nvSpPr>
          <p:cNvPr id="11" name="Oval 10"/>
          <p:cNvSpPr/>
          <p:nvPr/>
        </p:nvSpPr>
        <p:spPr>
          <a:xfrm>
            <a:off x="5394959"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(IV); it is the only specific treatment.</a:t>
            </a:r>
          </a:p>
        </p:txBody>
      </p:sp>
      <p:sp>
        <p:nvSpPr>
          <p:cNvPr id="13" name="Oval 12"/>
          <p:cNvSpPr/>
          <p:nvPr/>
        </p:nvSpPr>
        <p:spPr>
          <a:xfrm>
            <a:off x="5394959"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966971"/>
            <a:ext cx="5653735" cy="1142237"/>
          </a:xfrm>
          <a:prstGeom prst="rect">
            <a:avLst/>
          </a:prstGeom>
          <a:noFill/>
        </p:spPr>
        <p:txBody>
          <a:bodyPr wrap="square" anchor="t" lIns="0" rIns="0" tIns="0" bIns="0">
            <a:spAutoFit/>
          </a:bodyPr>
          <a:lstStyle/>
          <a:p>
            <a:r>
              <a:rPr sz="2100" i="0" b="0">
                <a:solidFill>
                  <a:srgbClr val="1A1F36"/>
                </a:solidFill>
                <a:latin typeface="Calibri"/>
              </a:rPr>
              <a:t>Neuroleptic malignant syndrome (sometimes).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Non-depolarising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NMBs are given IV during anaesthesia to allow tracheal intubation and to relax muscles for surgery. They are highly polar: they are not absorbed orally and do not cross the blood-brain barrier or placenta well.</a:t>
            </a:r>
          </a:p>
          <a:p>
            <a:pPr>
              <a:spcAft>
                <a:spcPts val="800"/>
              </a:spcAft>
            </a:pPr>
            <a:r>
              <a:rPr sz="2100" i="0" b="0">
                <a:solidFill>
                  <a:srgbClr val="1A1F36"/>
                </a:solidFill>
                <a:latin typeface="Calibri"/>
              </a:rPr>
              <a:t>Members: rocuronium, vecuronium, atracurium, cisatracurium and pancuronium.</a:t>
            </a:r>
          </a:p>
          <a:p>
            <a:pPr>
              <a:spcAft>
                <a:spcPts val="800"/>
              </a:spcAft>
            </a:pPr>
            <a:r>
              <a:rPr sz="2100" i="0" b="1">
                <a:solidFill>
                  <a:srgbClr val="1A1F36"/>
                </a:solidFill>
                <a:latin typeface="Calibri"/>
              </a:rPr>
              <a:t>Mechanism:</a:t>
            </a:r>
            <a:r>
              <a:rPr sz="2100" i="0" b="0">
                <a:solidFill>
                  <a:srgbClr val="1A1F36"/>
                </a:solidFill>
                <a:latin typeface="Calibri"/>
              </a:rPr>
              <a:t> competitive antagonists at the Nm receptor. They block ACh without activating the receptor. More ACh can overcome the block.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Non-depolarising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925476"/>
                <a:gridCol w="2934060"/>
                <a:gridCol w="6234877"/>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Onset and duration</a:t>
                      </a:r>
                    </a:p>
                  </a:txBody>
                  <a:tcPr marL="109728" marR="109728" marT="45720" marB="45720" anchor="ctr">
                    <a:solidFill>
                      <a:srgbClr val="1B2A8C"/>
                    </a:solidFill>
                  </a:tcPr>
                </a:tc>
                <a:tc>
                  <a:txBody>
                    <a:bodyPr/>
                    <a:lstStyle/>
                    <a:p>
                      <a:r>
                        <a:rPr sz="1500" i="0" b="1">
                          <a:solidFill>
                            <a:srgbClr val="FFFFFF"/>
                          </a:solidFill>
                          <a:latin typeface="Calibri"/>
                        </a:rPr>
                        <a:t>Elimination and notes</a:t>
                      </a:r>
                    </a:p>
                  </a:txBody>
                  <a:tcPr marL="109728" marR="109728" marT="45720" marB="45720" anchor="ctr">
                    <a:solidFill>
                      <a:srgbClr val="1B2A8C"/>
                    </a:solidFill>
                  </a:tcPr>
                </a:tc>
              </a:tr>
              <a:tr h="640080">
                <a:tc>
                  <a:txBody>
                    <a:bodyPr/>
                    <a:lstStyle/>
                    <a:p>
                      <a:r>
                        <a:rPr sz="1600" i="0" b="1">
                          <a:solidFill>
                            <a:srgbClr val="1A1F36"/>
                          </a:solidFill>
                          <a:latin typeface="Calibri"/>
                        </a:rPr>
                        <a:t>Rocuronium</a:t>
                      </a:r>
                    </a:p>
                  </a:txBody>
                  <a:tcPr marL="109728" marR="109728" marT="45720" marB="45720" anchor="ctr">
                    <a:solidFill>
                      <a:srgbClr val="FFFFFF"/>
                    </a:solidFill>
                  </a:tcPr>
                </a:tc>
                <a:tc>
                  <a:txBody>
                    <a:bodyPr/>
                    <a:lstStyle/>
                    <a:p>
                      <a:r>
                        <a:rPr sz="1600" i="0" b="0">
                          <a:solidFill>
                            <a:srgbClr val="1A1F36"/>
                          </a:solidFill>
                          <a:latin typeface="Calibri"/>
                        </a:rPr>
                        <a:t>Fast onset; intermediate</a:t>
                      </a:r>
                    </a:p>
                  </a:txBody>
                  <a:tcPr marL="109728" marR="109728" marT="45720" marB="45720" anchor="ctr">
                    <a:solidFill>
                      <a:srgbClr val="FFFFFF"/>
                    </a:solidFill>
                  </a:tcPr>
                </a:tc>
                <a:tc>
                  <a:txBody>
                    <a:bodyPr/>
                    <a:lstStyle/>
                    <a:p>
                      <a:r>
                        <a:rPr sz="1600" i="0" b="0">
                          <a:solidFill>
                            <a:srgbClr val="1A1F36"/>
                          </a:solidFill>
                          <a:latin typeface="Calibri"/>
                        </a:rPr>
                        <a:t>Liver (bile); used for rapid intubation; reversed by sugammadex</a:t>
                      </a:r>
                    </a:p>
                  </a:txBody>
                  <a:tcPr marL="109728" marR="109728" marT="45720" marB="45720" anchor="ctr">
                    <a:solidFill>
                      <a:srgbClr val="FFFFFF"/>
                    </a:solidFill>
                  </a:tcPr>
                </a:tc>
              </a:tr>
              <a:tr h="640080">
                <a:tc>
                  <a:txBody>
                    <a:bodyPr/>
                    <a:lstStyle/>
                    <a:p>
                      <a:r>
                        <a:rPr sz="1600" i="0" b="1">
                          <a:solidFill>
                            <a:srgbClr val="1A1F36"/>
                          </a:solidFill>
                          <a:latin typeface="Calibri"/>
                        </a:rPr>
                        <a:t>Vecuronium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Liver; active metabolite (3-desacetyl) can build up in kidney failure and in intensive care</a:t>
                      </a:r>
                    </a:p>
                  </a:txBody>
                  <a:tcPr marL="109728" marR="109728" marT="45720" marB="45720" anchor="ctr">
                    <a:solidFill>
                      <a:srgbClr val="F1F2F8"/>
                    </a:solidFill>
                  </a:tcPr>
                </a:tc>
              </a:tr>
              <a:tr h="640080">
                <a:tc>
                  <a:txBody>
                    <a:bodyPr/>
                    <a:lstStyle/>
                    <a:p>
                      <a:r>
                        <a:rPr sz="1600" i="0" b="1">
                          <a:solidFill>
                            <a:srgbClr val="1A1F36"/>
                          </a:solidFill>
                          <a:latin typeface="Calibri"/>
                        </a:rPr>
                        <a:t>Atracurium</a:t>
                      </a:r>
                    </a:p>
                  </a:txBody>
                  <a:tcPr marL="109728" marR="109728" marT="45720" marB="45720" anchor="ctr">
                    <a:solidFill>
                      <a:srgbClr val="FFFFFF"/>
                    </a:solidFill>
                  </a:tcPr>
                </a:tc>
                <a:tc>
                  <a:txBody>
                    <a:bodyPr/>
                    <a:lstStyle/>
                    <a:p>
                      <a:r>
                        <a:rPr sz="1600" i="0" b="0">
                          <a:solidFill>
                            <a:srgbClr val="1A1F36"/>
                          </a:solidFill>
                          <a:latin typeface="Calibri"/>
                        </a:rPr>
                        <a:t>Intermediate</a:t>
                      </a:r>
                    </a:p>
                  </a:txBody>
                  <a:tcPr marL="109728" marR="109728" marT="45720" marB="45720" anchor="ctr">
                    <a:solidFill>
                      <a:srgbClr val="FFFFFF"/>
                    </a:solidFill>
                  </a:tcPr>
                </a:tc>
                <a:tc>
                  <a:txBody>
                    <a:bodyPr/>
                    <a:lstStyle/>
                    <a:p>
                      <a:r>
                        <a:rPr sz="1600" i="0" b="0">
                          <a:solidFill>
                            <a:srgbClr val="1A1F36"/>
                          </a:solidFill>
                          <a:latin typeface="Calibri"/>
                        </a:rPr>
                        <a:t>Hofmann elimination in plasma; releases histamine (flushing, hypotension)</a:t>
                      </a:r>
                    </a:p>
                  </a:txBody>
                  <a:tcPr marL="109728" marR="109728" marT="45720" marB="45720" anchor="ctr">
                    <a:solidFill>
                      <a:srgbClr val="FFFFFF"/>
                    </a:solidFill>
                  </a:tcPr>
                </a:tc>
              </a:tr>
              <a:tr h="640080">
                <a:tc>
                  <a:txBody>
                    <a:bodyPr/>
                    <a:lstStyle/>
                    <a:p>
                      <a:r>
                        <a:rPr sz="1600" i="0" b="1">
                          <a:solidFill>
                            <a:srgbClr val="1A1F36"/>
                          </a:solidFill>
                          <a:latin typeface="Calibri"/>
                        </a:rPr>
                        <a:t>Cisatracurium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Hofmann elimination; little histamine release; suitable in liver and kidney failure</a:t>
                      </a:r>
                    </a:p>
                  </a:txBody>
                  <a:tcPr marL="109728" marR="109728" marT="45720" marB="45720" anchor="ctr">
                    <a:solidFill>
                      <a:srgbClr val="F1F2F8"/>
                    </a:solidFill>
                  </a:tcPr>
                </a:tc>
              </a:tr>
              <a:tr h="640080">
                <a:tc>
                  <a:txBody>
                    <a:bodyPr/>
                    <a:lstStyle/>
                    <a:p>
                      <a:r>
                        <a:rPr sz="1600" i="0" b="1">
                          <a:solidFill>
                            <a:srgbClr val="1A1F36"/>
                          </a:solidFill>
                          <a:latin typeface="Calibri"/>
                        </a:rPr>
                        <a:t>Pancuronium</a:t>
                      </a:r>
                    </a:p>
                  </a:txBody>
                  <a:tcPr marL="109728" marR="109728" marT="45720" marB="45720" anchor="ctr">
                    <a:solidFill>
                      <a:srgbClr val="FFFFFF"/>
                    </a:solidFill>
                  </a:tcPr>
                </a:tc>
                <a:tc>
                  <a:txBody>
                    <a:bodyPr/>
                    <a:lstStyle/>
                    <a:p>
                      <a:r>
                        <a:rPr sz="1600" i="0" b="0">
                          <a:solidFill>
                            <a:srgbClr val="1A1F36"/>
                          </a:solidFill>
                          <a:latin typeface="Calibri"/>
                        </a:rPr>
                        <a:t>Long</a:t>
                      </a:r>
                    </a:p>
                  </a:txBody>
                  <a:tcPr marL="109728" marR="109728" marT="45720" marB="45720" anchor="ctr">
                    <a:solidFill>
                      <a:srgbClr val="FFFFFF"/>
                    </a:solidFill>
                  </a:tcPr>
                </a:tc>
                <a:tc>
                  <a:txBody>
                    <a:bodyPr/>
                    <a:lstStyle/>
                    <a:p>
                      <a:r>
                        <a:rPr sz="1600" i="0" b="0">
                          <a:solidFill>
                            <a:srgbClr val="1A1F36"/>
                          </a:solidFill>
                          <a:latin typeface="Calibri"/>
                        </a:rPr>
                        <a:t>Mainly renal, partly liver, with an active metabolite; causes tachycardia (vagal block)</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Non-depolarising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Reversal:</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1808988"/>
          </a:xfrm>
          <a:prstGeom prst="rect">
            <a:avLst/>
          </a:prstGeom>
          <a:noFill/>
        </p:spPr>
        <p:txBody>
          <a:bodyPr wrap="square" anchor="t" lIns="0" rIns="0" tIns="0" bIns="0">
            <a:spAutoFit/>
          </a:bodyPr>
          <a:lstStyle/>
          <a:p>
            <a:r>
              <a:rPr sz="2100" i="0" b="1">
                <a:solidFill>
                  <a:srgbClr val="1A1F36"/>
                </a:solidFill>
                <a:latin typeface="Calibri"/>
              </a:rPr>
              <a:t>Neostigmine</a:t>
            </a:r>
            <a:r>
              <a:rPr sz="2100" i="0" b="0">
                <a:solidFill>
                  <a:srgbClr val="1A1F36"/>
                </a:solidFill>
                <a:latin typeface="Calibri"/>
              </a:rPr>
              <a:t> inhibits acetylcholinesterase, so ACh rises and competes with the blocker. It also raises ACh at muscarinic receptors, causing bradycardia, salivation and bronchospasm. So it is always given with an antimuscarinic, </a:t>
            </a:r>
            <a:r>
              <a:rPr sz="2100" i="0" b="1">
                <a:solidFill>
                  <a:srgbClr val="1A1F36"/>
                </a:solidFill>
                <a:latin typeface="Calibri"/>
              </a:rPr>
              <a:t>glycopyrrolate</a:t>
            </a:r>
            <a:r>
              <a:rPr sz="2100" i="0" b="0">
                <a:solidFill>
                  <a:srgbClr val="1A1F36"/>
                </a:solidFill>
                <a:latin typeface="Calibri"/>
              </a:rPr>
              <a:t> (or atropine).</a:t>
            </a:r>
          </a:p>
        </p:txBody>
      </p:sp>
      <p:sp>
        <p:nvSpPr>
          <p:cNvPr id="11" name="Oval 10"/>
          <p:cNvSpPr/>
          <p:nvPr/>
        </p:nvSpPr>
        <p:spPr>
          <a:xfrm>
            <a:off x="548640" y="410870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126991"/>
            <a:ext cx="10500055" cy="1808988"/>
          </a:xfrm>
          <a:prstGeom prst="rect">
            <a:avLst/>
          </a:prstGeom>
          <a:noFill/>
        </p:spPr>
        <p:txBody>
          <a:bodyPr wrap="square" anchor="t" lIns="0" rIns="0" tIns="0" bIns="0">
            <a:spAutoFit/>
          </a:bodyPr>
          <a:lstStyle/>
          <a:p>
            <a:r>
              <a:rPr sz="2100" i="0" b="1">
                <a:solidFill>
                  <a:srgbClr val="1A1F36"/>
                </a:solidFill>
                <a:latin typeface="Calibri"/>
              </a:rPr>
              <a:t>Sugammadex</a:t>
            </a:r>
            <a:r>
              <a:rPr sz="2100" i="0" b="0">
                <a:solidFill>
                  <a:srgbClr val="1A1F36"/>
                </a:solidFill>
                <a:latin typeface="Calibri"/>
              </a:rPr>
              <a:t> binds rocuronium (and vecuronium) in the plasma and removes it from the junction. It reverses even a deep block quickly and has no muscarinic effects. It can reduce the effect of hormonal contraceptives; advise a back-up method for 7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Residual paralysis after surgery is a real risk. It causes weak breathing and aspiration. Monitor with a nerve stimulator (train-of-four) before extubation.</a:t>
            </a:r>
          </a:p>
          <a:p>
            <a:pPr>
              <a:spcAft>
                <a:spcPts val="800"/>
              </a:spcAft>
            </a:pPr>
            <a:r>
              <a:rPr sz="2100" i="0" b="0">
                <a:solidFill>
                  <a:srgbClr val="1A1F36"/>
                </a:solidFill>
                <a:latin typeface="Calibri"/>
              </a:rPr>
              <a:t>Succinylcholine (suxamethonium) is two ACh molecules joined together. It is not broken down by synaptic acetylcholinesterase. It is rapidly hydrolysed by </a:t>
            </a:r>
            <a:r>
              <a:rPr sz="2100" i="0" b="1">
                <a:solidFill>
                  <a:srgbClr val="1A1F36"/>
                </a:solidFill>
                <a:latin typeface="Calibri"/>
              </a:rPr>
              <a:t>plasma cholinesterase</a:t>
            </a:r>
            <a:r>
              <a:rPr sz="2100" i="0" b="0">
                <a:solidFill>
                  <a:srgbClr val="1A1F36"/>
                </a:solidFill>
                <a:latin typeface="Calibri"/>
              </a:rPr>
              <a:t> (pseudocholinesterase). It has the fastest onset (about 1 minute) and a short action (5 to 10 minutes). It is used for rapid intubation.</a:t>
            </a:r>
          </a:p>
          <a:p>
            <a:pPr>
              <a:spcAft>
                <a:spcPts val="800"/>
              </a:spcAft>
            </a:pPr>
            <a:r>
              <a:rPr sz="2100" i="0" b="1">
                <a:solidFill>
                  <a:srgbClr val="1A1F36"/>
                </a:solidFill>
                <a:latin typeface="Calibri"/>
              </a:rPr>
              <a:t>Mechanism in two phases: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1">
                <a:solidFill>
                  <a:srgbClr val="1A1F36"/>
                </a:solidFill>
                <a:latin typeface="Calibri"/>
              </a:rPr>
              <a:t>Phase I (depolarising block):</a:t>
            </a:r>
            <a:r>
              <a:rPr sz="2100" i="0" b="0">
                <a:solidFill>
                  <a:srgbClr val="1A1F36"/>
                </a:solidFill>
                <a:latin typeface="Calibri"/>
              </a:rPr>
              <a:t> succinylcholine activates Nm receptors and holds the end-plate in a state of </a:t>
            </a:r>
            <a:r>
              <a:rPr sz="2100" i="0" b="1">
                <a:solidFill>
                  <a:srgbClr val="1A1F36"/>
                </a:solidFill>
                <a:latin typeface="Calibri"/>
              </a:rPr>
              <a:t>persistent depolarisation</a:t>
            </a:r>
            <a:r>
              <a:rPr sz="2100" i="0" b="0">
                <a:solidFill>
                  <a:srgbClr val="1A1F36"/>
                </a:solidFill>
                <a:latin typeface="Calibri"/>
              </a:rPr>
              <a:t>. Brief muscle twitches (fasciculations) are seen, then flaccid paralysis. The Na+ channels near the end-plate stay inactivated. Neostigmine </a:t>
            </a:r>
            <a:r>
              <a:rPr sz="2100" i="0" b="1">
                <a:solidFill>
                  <a:srgbClr val="1A1F36"/>
                </a:solidFill>
                <a:latin typeface="Calibri"/>
              </a:rPr>
              <a:t>worsens</a:t>
            </a:r>
            <a:r>
              <a:rPr sz="2100" i="0" b="0">
                <a:solidFill>
                  <a:srgbClr val="1A1F36"/>
                </a:solidFill>
                <a:latin typeface="Calibri"/>
              </a:rPr>
              <a:t> this phase.</a:t>
            </a:r>
          </a:p>
        </p:txBody>
      </p:sp>
      <p:sp>
        <p:nvSpPr>
          <p:cNvPr id="10" name="Oval 9"/>
          <p:cNvSpPr/>
          <p:nvPr/>
        </p:nvSpPr>
        <p:spPr>
          <a:xfrm>
            <a:off x="548640" y="342747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1">
                <a:solidFill>
                  <a:srgbClr val="1A1F36"/>
                </a:solidFill>
                <a:latin typeface="Calibri"/>
              </a:rPr>
              <a:t>Phase II (desensitising block):</a:t>
            </a:r>
            <a:r>
              <a:rPr sz="2100" i="0" b="0">
                <a:solidFill>
                  <a:srgbClr val="1A1F36"/>
                </a:solidFill>
                <a:latin typeface="Calibri"/>
              </a:rPr>
              <a:t> with long exposure or large doses, the membrane repolarises, but the receptors become desensitised. This block resembles a non-depolarising block.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Adverse effects:</a:t>
            </a:r>
          </a:p>
        </p:txBody>
      </p:sp>
      <p:graphicFrame>
        <p:nvGraphicFramePr>
          <p:cNvPr id="9" name="Table 8"/>
          <p:cNvGraphicFramePr>
            <a:graphicFrameLocks noGrp="1"/>
          </p:cNvGraphicFramePr>
          <p:nvPr/>
        </p:nvGraphicFramePr>
        <p:xfrm>
          <a:off x="548640" y="2235708"/>
          <a:ext cx="11094414" cy="3936492"/>
        </p:xfrm>
        <a:graphic>
          <a:graphicData uri="http://schemas.openxmlformats.org/drawingml/2006/table">
            <a:tbl>
              <a:tblPr firstRow="0" bandRow="0">
                <a:tableStyleId>{5C22544A-7EE6-4342-B048-85BDC9FD1C3A}</a:tableStyleId>
              </a:tblPr>
              <a:tblGrid>
                <a:gridCol w="5464413"/>
                <a:gridCol w="5630001"/>
              </a:tblGrid>
              <a:tr h="562356">
                <a:tc>
                  <a:txBody>
                    <a:bodyPr/>
                    <a:lstStyle/>
                    <a:p>
                      <a:r>
                        <a:rPr sz="1300" i="0" b="1">
                          <a:solidFill>
                            <a:srgbClr val="FFFFFF"/>
                          </a:solidFill>
                          <a:latin typeface="Calibri"/>
                        </a:rPr>
                        <a:t>Effect</a:t>
                      </a:r>
                    </a:p>
                  </a:txBody>
                  <a:tcPr marL="109728" marR="109728" marT="45720" marB="45720" anchor="ctr">
                    <a:solidFill>
                      <a:srgbClr val="1B2A8C"/>
                    </a:solidFill>
                  </a:tcPr>
                </a:tc>
                <a:tc>
                  <a:txBody>
                    <a:bodyPr/>
                    <a:lstStyle/>
                    <a:p>
                      <a:r>
                        <a:rPr sz="1300" i="0" b="1">
                          <a:solidFill>
                            <a:srgbClr val="FFFFFF"/>
                          </a:solidFill>
                          <a:latin typeface="Calibri"/>
                        </a:rPr>
                        <a:t>Cause and at-risk patients</a:t>
                      </a:r>
                    </a:p>
                  </a:txBody>
                  <a:tcPr marL="109728" marR="109728" marT="45720" marB="45720" anchor="ctr">
                    <a:solidFill>
                      <a:srgbClr val="1B2A8C"/>
                    </a:solidFill>
                  </a:tcPr>
                </a:tc>
              </a:tr>
              <a:tr h="562356">
                <a:tc>
                  <a:txBody>
                    <a:bodyPr/>
                    <a:lstStyle/>
                    <a:p>
                      <a:r>
                        <a:rPr sz="1400" i="0" b="1">
                          <a:solidFill>
                            <a:srgbClr val="1A1F36"/>
                          </a:solidFill>
                          <a:latin typeface="Calibri"/>
                        </a:rPr>
                        <a:t>Hyperkalaemia</a:t>
                      </a:r>
                    </a:p>
                  </a:txBody>
                  <a:tcPr marL="109728" marR="109728" marT="45720" marB="45720" anchor="ctr">
                    <a:solidFill>
                      <a:srgbClr val="FFFFFF"/>
                    </a:solidFill>
                  </a:tcPr>
                </a:tc>
                <a:tc>
                  <a:txBody>
                    <a:bodyPr/>
                    <a:lstStyle/>
                    <a:p>
                      <a:r>
                        <a:rPr sz="1400" i="0" b="0">
                          <a:solidFill>
                            <a:srgbClr val="1A1F36"/>
                          </a:solidFill>
                          <a:latin typeface="Calibri"/>
                        </a:rPr>
                        <a:t>K+ leaves depolarised muscle; dangerous after burns, crush injury, denervation or long immobility; can cause cardiac arrest</a:t>
                      </a:r>
                    </a:p>
                  </a:txBody>
                  <a:tcPr marL="109728" marR="109728" marT="45720" marB="45720" anchor="ctr">
                    <a:solidFill>
                      <a:srgbClr val="FFFFFF"/>
                    </a:solidFill>
                  </a:tcPr>
                </a:tc>
              </a:tr>
              <a:tr h="562356">
                <a:tc>
                  <a:txBody>
                    <a:bodyPr/>
                    <a:lstStyle/>
                    <a:p>
                      <a:r>
                        <a:rPr sz="1400" i="0" b="1">
                          <a:solidFill>
                            <a:srgbClr val="1A1F36"/>
                          </a:solidFill>
                          <a:latin typeface="Calibri"/>
                        </a:rPr>
                        <a:t>Bradycardia</a:t>
                      </a:r>
                    </a:p>
                  </a:txBody>
                  <a:tcPr marL="109728" marR="109728" marT="45720" marB="45720" anchor="ctr">
                    <a:solidFill>
                      <a:srgbClr val="F1F2F8"/>
                    </a:solidFill>
                  </a:tcPr>
                </a:tc>
                <a:tc>
                  <a:txBody>
                    <a:bodyPr/>
                    <a:lstStyle/>
                    <a:p>
                      <a:r>
                        <a:rPr sz="1400" i="0" b="0">
                          <a:solidFill>
                            <a:srgbClr val="1A1F36"/>
                          </a:solidFill>
                          <a:latin typeface="Calibri"/>
                        </a:rPr>
                        <a:t>Muscarinic stimulation, especially after a second dose and in children; treat with atropine</a:t>
                      </a:r>
                    </a:p>
                  </a:txBody>
                  <a:tcPr marL="109728" marR="109728" marT="45720" marB="45720" anchor="ctr">
                    <a:solidFill>
                      <a:srgbClr val="F1F2F8"/>
                    </a:solidFill>
                  </a:tcPr>
                </a:tc>
              </a:tr>
              <a:tr h="562356">
                <a:tc>
                  <a:txBody>
                    <a:bodyPr/>
                    <a:lstStyle/>
                    <a:p>
                      <a:r>
                        <a:rPr sz="1400" i="0" b="1">
                          <a:solidFill>
                            <a:srgbClr val="1A1F36"/>
                          </a:solidFill>
                          <a:latin typeface="Calibri"/>
                        </a:rPr>
                        <a:t>Postoperative muscle pain</a:t>
                      </a:r>
                    </a:p>
                  </a:txBody>
                  <a:tcPr marL="109728" marR="109728" marT="45720" marB="45720" anchor="ctr">
                    <a:solidFill>
                      <a:srgbClr val="FFFFFF"/>
                    </a:solidFill>
                  </a:tcPr>
                </a:tc>
                <a:tc>
                  <a:txBody>
                    <a:bodyPr/>
                    <a:lstStyle/>
                    <a:p>
                      <a:r>
                        <a:rPr sz="1400" i="0" b="0">
                          <a:solidFill>
                            <a:srgbClr val="1A1F36"/>
                          </a:solidFill>
                          <a:latin typeface="Calibri"/>
                        </a:rPr>
                        <a:t>Fasciculations</a:t>
                      </a:r>
                    </a:p>
                  </a:txBody>
                  <a:tcPr marL="109728" marR="109728" marT="45720" marB="45720" anchor="ctr">
                    <a:solidFill>
                      <a:srgbClr val="FFFFFF"/>
                    </a:solidFill>
                  </a:tcPr>
                </a:tc>
              </a:tr>
              <a:tr h="562356">
                <a:tc>
                  <a:txBody>
                    <a:bodyPr/>
                    <a:lstStyle/>
                    <a:p>
                      <a:r>
                        <a:rPr sz="1400" i="0" b="1">
                          <a:solidFill>
                            <a:srgbClr val="1A1F36"/>
                          </a:solidFill>
                          <a:latin typeface="Calibri"/>
                        </a:rPr>
                        <a:t>Raised intraocular, intragastric and intracranial pressure</a:t>
                      </a:r>
                    </a:p>
                  </a:txBody>
                  <a:tcPr marL="109728" marR="109728" marT="45720" marB="45720" anchor="ctr">
                    <a:solidFill>
                      <a:srgbClr val="F1F2F8"/>
                    </a:solidFill>
                  </a:tcPr>
                </a:tc>
                <a:tc>
                  <a:txBody>
                    <a:bodyPr/>
                    <a:lstStyle/>
                    <a:p>
                      <a:r>
                        <a:rPr sz="1400" i="0" b="0">
                          <a:solidFill>
                            <a:srgbClr val="1A1F36"/>
                          </a:solidFill>
                          <a:latin typeface="Calibri"/>
                        </a:rPr>
                        <a:t>Muscle contraction; care in open eye injury</a:t>
                      </a:r>
                    </a:p>
                  </a:txBody>
                  <a:tcPr marL="109728" marR="109728" marT="45720" marB="45720" anchor="ctr">
                    <a:solidFill>
                      <a:srgbClr val="F1F2F8"/>
                    </a:solidFill>
                  </a:tcPr>
                </a:tc>
              </a:tr>
              <a:tr h="562356">
                <a:tc>
                  <a:txBody>
                    <a:bodyPr/>
                    <a:lstStyle/>
                    <a:p>
                      <a:r>
                        <a:rPr sz="1400" i="0" b="1">
                          <a:solidFill>
                            <a:srgbClr val="1A1F36"/>
                          </a:solidFill>
                          <a:latin typeface="Calibri"/>
                        </a:rPr>
                        <a:t>Prolonged apnoea</a:t>
                      </a:r>
                    </a:p>
                  </a:txBody>
                  <a:tcPr marL="109728" marR="109728" marT="45720" marB="45720" anchor="ctr">
                    <a:solidFill>
                      <a:srgbClr val="FFFFFF"/>
                    </a:solidFill>
                  </a:tcPr>
                </a:tc>
                <a:tc>
                  <a:txBody>
                    <a:bodyPr/>
                    <a:lstStyle/>
                    <a:p>
                      <a:r>
                        <a:rPr sz="1400" i="0" b="0">
                          <a:solidFill>
                            <a:srgbClr val="1A1F36"/>
                          </a:solidFill>
                          <a:latin typeface="Calibri"/>
                        </a:rPr>
                        <a:t>Low or atypical plasma cholinesterase (genetic, liver disease); ventilate until recovery</a:t>
                      </a:r>
                    </a:p>
                  </a:txBody>
                  <a:tcPr marL="109728" marR="109728" marT="45720" marB="45720" anchor="ctr">
                    <a:solidFill>
                      <a:srgbClr val="FFFFFF"/>
                    </a:solidFill>
                  </a:tcPr>
                </a:tc>
              </a:tr>
              <a:tr h="562356">
                <a:tc>
                  <a:txBody>
                    <a:bodyPr/>
                    <a:lstStyle/>
                    <a:p>
                      <a:r>
                        <a:rPr sz="1400" i="0" b="1">
                          <a:solidFill>
                            <a:srgbClr val="1A1F36"/>
                          </a:solidFill>
                          <a:latin typeface="Calibri"/>
                        </a:rPr>
                        <a:t>Malignant hyperthermia</a:t>
                      </a:r>
                    </a:p>
                  </a:txBody>
                  <a:tcPr marL="109728" marR="109728" marT="45720" marB="45720" anchor="ctr">
                    <a:solidFill>
                      <a:srgbClr val="F1F2F8"/>
                    </a:solidFill>
                  </a:tcPr>
                </a:tc>
                <a:tc>
                  <a:txBody>
                    <a:bodyPr/>
                    <a:lstStyle/>
                    <a:p>
                      <a:r>
                        <a:rPr sz="1400" i="0" b="0">
                          <a:solidFill>
                            <a:srgbClr val="1A1F36"/>
                          </a:solidFill>
                          <a:latin typeface="Calibri"/>
                        </a:rPr>
                        <a:t>With volatile anaesthetics, in genetically susceptible patients</a:t>
                      </a:r>
                    </a:p>
                  </a:txBody>
                  <a:tcPr marL="109728" marR="109728" marT="45720" marB="45720" anchor="ctr">
                    <a:solidFill>
                      <a:srgbClr val="F1F2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23670"/>
                <a:gridCol w="3446808"/>
                <a:gridCol w="4523936"/>
              </a:tblGrid>
              <a:tr h="640080">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Non-depolarising</a:t>
                      </a:r>
                    </a:p>
                  </a:txBody>
                  <a:tcPr marL="109728" marR="109728" marT="45720" marB="45720" anchor="ctr">
                    <a:solidFill>
                      <a:srgbClr val="1B2A8C"/>
                    </a:solidFill>
                  </a:tcPr>
                </a:tc>
                <a:tc>
                  <a:txBody>
                    <a:bodyPr/>
                    <a:lstStyle/>
                    <a:p>
                      <a:r>
                        <a:rPr sz="1700" i="0" b="1">
                          <a:solidFill>
                            <a:srgbClr val="FFFFFF"/>
                          </a:solidFill>
                          <a:latin typeface="Calibri"/>
                        </a:rPr>
                        <a:t>Depolarising (succinylcholine)</a:t>
                      </a:r>
                    </a:p>
                  </a:txBody>
                  <a:tcPr marL="109728" marR="109728" marT="45720" marB="45720" anchor="ctr">
                    <a:solidFill>
                      <a:srgbClr val="1B2A8C"/>
                    </a:solidFill>
                  </a:tcPr>
                </a:tc>
              </a:tr>
              <a:tr h="640080">
                <a:tc>
                  <a:txBody>
                    <a:bodyPr/>
                    <a:lstStyle/>
                    <a:p>
                      <a:r>
                        <a:rPr sz="1800" i="0" b="1">
                          <a:solidFill>
                            <a:srgbClr val="1A1F36"/>
                          </a:solidFill>
                          <a:latin typeface="Calibri"/>
                        </a:rPr>
                        <a:t>Action at Nm receptor</a:t>
                      </a:r>
                    </a:p>
                  </a:txBody>
                  <a:tcPr marL="109728" marR="109728" marT="45720" marB="45720" anchor="ctr">
                    <a:solidFill>
                      <a:srgbClr val="FFFFFF"/>
                    </a:solidFill>
                  </a:tcPr>
                </a:tc>
                <a:tc>
                  <a:txBody>
                    <a:bodyPr/>
                    <a:lstStyle/>
                    <a:p>
                      <a:r>
                        <a:rPr sz="1800" i="0" b="0">
                          <a:solidFill>
                            <a:srgbClr val="1A1F36"/>
                          </a:solidFill>
                          <a:latin typeface="Calibri"/>
                        </a:rPr>
                        <a:t>Competitive antagonist</a:t>
                      </a:r>
                    </a:p>
                  </a:txBody>
                  <a:tcPr marL="109728" marR="109728" marT="45720" marB="45720" anchor="ctr">
                    <a:solidFill>
                      <a:srgbClr val="FFFFFF"/>
                    </a:solidFill>
                  </a:tcPr>
                </a:tc>
                <a:tc>
                  <a:txBody>
                    <a:bodyPr/>
                    <a:lstStyle/>
                    <a:p>
                      <a:r>
                        <a:rPr sz="1800" i="0" b="0">
                          <a:solidFill>
                            <a:srgbClr val="1A1F36"/>
                          </a:solidFill>
                          <a:latin typeface="Calibri"/>
                        </a:rPr>
                        <a:t>Agonist; persistent depolarisation</a:t>
                      </a:r>
                    </a:p>
                  </a:txBody>
                  <a:tcPr marL="109728" marR="109728" marT="45720" marB="45720" anchor="ctr">
                    <a:solidFill>
                      <a:srgbClr val="FFFFFF"/>
                    </a:solidFill>
                  </a:tcPr>
                </a:tc>
              </a:tr>
              <a:tr h="640080">
                <a:tc>
                  <a:txBody>
                    <a:bodyPr/>
                    <a:lstStyle/>
                    <a:p>
                      <a:r>
                        <a:rPr sz="1800" i="0" b="1">
                          <a:solidFill>
                            <a:srgbClr val="1A1F36"/>
                          </a:solidFill>
                          <a:latin typeface="Calibri"/>
                        </a:rPr>
                        <a:t>Fasciculations</a:t>
                      </a:r>
                    </a:p>
                  </a:txBody>
                  <a:tcPr marL="109728" marR="109728" marT="45720" marB="45720" anchor="ctr">
                    <a:solidFill>
                      <a:srgbClr val="F1F2F8"/>
                    </a:solidFill>
                  </a:tcPr>
                </a:tc>
                <a:tc>
                  <a:txBody>
                    <a:bodyPr/>
                    <a:lstStyle/>
                    <a:p>
                      <a:r>
                        <a:rPr sz="1800" i="0" b="0">
                          <a:solidFill>
                            <a:srgbClr val="1A1F36"/>
                          </a:solidFill>
                          <a:latin typeface="Calibri"/>
                        </a:rPr>
                        <a:t>No</a:t>
                      </a:r>
                    </a:p>
                  </a:txBody>
                  <a:tcPr marL="109728" marR="109728" marT="45720" marB="45720" anchor="ctr">
                    <a:solidFill>
                      <a:srgbClr val="F1F2F8"/>
                    </a:solidFill>
                  </a:tcPr>
                </a:tc>
                <a:tc>
                  <a:txBody>
                    <a:bodyPr/>
                    <a:lstStyle/>
                    <a:p>
                      <a:r>
                        <a:rPr sz="1800" i="0" b="0">
                          <a:solidFill>
                            <a:srgbClr val="1A1F36"/>
                          </a:solidFill>
                          <a:latin typeface="Calibri"/>
                        </a:rPr>
                        <a:t>Yes, at the start</a:t>
                      </a:r>
                    </a:p>
                  </a:txBody>
                  <a:tcPr marL="109728" marR="109728" marT="45720" marB="45720" anchor="ctr">
                    <a:solidFill>
                      <a:srgbClr val="F1F2F8"/>
                    </a:solidFill>
                  </a:tcPr>
                </a:tc>
              </a:tr>
              <a:tr h="640080">
                <a:tc>
                  <a:txBody>
                    <a:bodyPr/>
                    <a:lstStyle/>
                    <a:p>
                      <a:r>
                        <a:rPr sz="1800" i="0" b="1">
                          <a:solidFill>
                            <a:srgbClr val="1A1F36"/>
                          </a:solidFill>
                          <a:latin typeface="Calibri"/>
                        </a:rPr>
                        <a:t>Effect of neostigmine</a:t>
                      </a:r>
                    </a:p>
                  </a:txBody>
                  <a:tcPr marL="109728" marR="109728" marT="45720" marB="45720" anchor="ctr">
                    <a:solidFill>
                      <a:srgbClr val="FFFFFF"/>
                    </a:solidFill>
                  </a:tcPr>
                </a:tc>
                <a:tc>
                  <a:txBody>
                    <a:bodyPr/>
                    <a:lstStyle/>
                    <a:p>
                      <a:r>
                        <a:rPr sz="1800" i="0" b="0">
                          <a:solidFill>
                            <a:srgbClr val="1A1F36"/>
                          </a:solidFill>
                          <a:latin typeface="Calibri"/>
                        </a:rPr>
                        <a:t>Reverses the block</a:t>
                      </a:r>
                    </a:p>
                  </a:txBody>
                  <a:tcPr marL="109728" marR="109728" marT="45720" marB="45720" anchor="ctr">
                    <a:solidFill>
                      <a:srgbClr val="FFFFFF"/>
                    </a:solidFill>
                  </a:tcPr>
                </a:tc>
                <a:tc>
                  <a:txBody>
                    <a:bodyPr/>
                    <a:lstStyle/>
                    <a:p>
                      <a:r>
                        <a:rPr sz="1800" i="0" b="0">
                          <a:solidFill>
                            <a:srgbClr val="1A1F36"/>
                          </a:solidFill>
                          <a:latin typeface="Calibri"/>
                        </a:rPr>
                        <a:t>Worsens phase I</a:t>
                      </a:r>
                    </a:p>
                  </a:txBody>
                  <a:tcPr marL="109728" marR="109728" marT="45720" marB="45720" anchor="ctr">
                    <a:solidFill>
                      <a:srgbClr val="FFFFFF"/>
                    </a:solidFill>
                  </a:tcPr>
                </a:tc>
              </a:tr>
              <a:tr h="640080">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Liver, kidney or Hofmann</a:t>
                      </a:r>
                    </a:p>
                  </a:txBody>
                  <a:tcPr marL="109728" marR="109728" marT="45720" marB="45720" anchor="ctr">
                    <a:solidFill>
                      <a:srgbClr val="F1F2F8"/>
                    </a:solidFill>
                  </a:tcPr>
                </a:tc>
                <a:tc>
                  <a:txBody>
                    <a:bodyPr/>
                    <a:lstStyle/>
                    <a:p>
                      <a:r>
                        <a:rPr sz="1800" i="0" b="0">
                          <a:solidFill>
                            <a:srgbClr val="1A1F36"/>
                          </a:solidFill>
                          <a:latin typeface="Calibri"/>
                        </a:rPr>
                        <a:t>Plasma cholinesterase</a:t>
                      </a:r>
                    </a:p>
                  </a:txBody>
                  <a:tcPr marL="109728" marR="109728" marT="45720" marB="45720" anchor="ctr">
                    <a:solidFill>
                      <a:srgbClr val="F1F2F8"/>
                    </a:solidFill>
                  </a:tcPr>
                </a:tc>
              </a:tr>
              <a:tr h="640080">
                <a:tc>
                  <a:txBody>
                    <a:bodyPr/>
                    <a:lstStyle/>
                    <a:p>
                      <a:r>
                        <a:rPr sz="1800" i="0" b="1">
                          <a:solidFill>
                            <a:srgbClr val="1A1F36"/>
                          </a:solidFill>
                          <a:latin typeface="Calibri"/>
                        </a:rPr>
                        <a:t>Special reversal</a:t>
                      </a:r>
                    </a:p>
                  </a:txBody>
                  <a:tcPr marL="109728" marR="109728" marT="45720" marB="45720" anchor="ctr">
                    <a:solidFill>
                      <a:srgbClr val="FFFFFF"/>
                    </a:solidFill>
                  </a:tcPr>
                </a:tc>
                <a:tc>
                  <a:txBody>
                    <a:bodyPr/>
                    <a:lstStyle/>
                    <a:p>
                      <a:r>
                        <a:rPr sz="1800" i="0" b="0">
                          <a:solidFill>
                            <a:srgbClr val="1A1F36"/>
                          </a:solidFill>
                          <a:latin typeface="Calibri"/>
                        </a:rPr>
                        <a:t>Sugammadex (rocuronium)</a:t>
                      </a:r>
                    </a:p>
                  </a:txBody>
                  <a:tcPr marL="109728" marR="109728" marT="45720" marB="45720" anchor="ctr">
                    <a:solidFill>
                      <a:srgbClr val="FFFFFF"/>
                    </a:solidFill>
                  </a:tcPr>
                </a:tc>
                <a:tc>
                  <a:txBody>
                    <a:bodyPr/>
                    <a:lstStyle/>
                    <a:p>
                      <a:r>
                        <a:rPr sz="1800" i="0" b="0">
                          <a:solidFill>
                            <a:srgbClr val="1A1F36"/>
                          </a:solidFill>
                          <a:latin typeface="Calibri"/>
                        </a:rPr>
                        <a:t>None; wait</a:t>
                      </a:r>
                    </a:p>
                  </a:txBody>
                  <a:tcPr marL="109728" marR="109728" marT="45720" marB="4572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Neuromuscular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NMBs cause paralysis but </a:t>
            </a:r>
            <a:r>
              <a:rPr sz="2100" i="0" b="1">
                <a:solidFill>
                  <a:srgbClr val="1A1F36"/>
                </a:solidFill>
                <a:latin typeface="Calibri"/>
              </a:rPr>
              <a:t>no sedation and no analgesia</a:t>
            </a:r>
            <a:r>
              <a:rPr sz="2100" i="0" b="0">
                <a:solidFill>
                  <a:srgbClr val="1A1F36"/>
                </a:solidFill>
                <a:latin typeface="Calibri"/>
              </a:rPr>
              <a:t>. A patient given an NMB without enough anaesthetic can be awake and in pain but unable to move. Always give an anaesthetic first, and always ventilate.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Neuromuscular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Neostigmine reverses a </a:t>
            </a:r>
            <a:r>
              <a:rPr sz="2600" i="0" b="1">
                <a:solidFill>
                  <a:srgbClr val="1A1F36"/>
                </a:solidFill>
                <a:latin typeface="Calibri"/>
              </a:rPr>
              <a:t>non-depolarising</a:t>
            </a:r>
            <a:r>
              <a:rPr sz="2600" i="0" b="0">
                <a:solidFill>
                  <a:srgbClr val="1A1F36"/>
                </a:solidFill>
                <a:latin typeface="Calibri"/>
              </a:rPr>
              <a:t> block. It makes a phase I depolarising block </a:t>
            </a:r>
            <a:r>
              <a:rPr sz="2600" i="0" b="1">
                <a:solidFill>
                  <a:srgbClr val="1A1F36"/>
                </a:solidFill>
                <a:latin typeface="Calibri"/>
              </a:rPr>
              <a:t>worse</a:t>
            </a:r>
            <a:r>
              <a:rPr sz="2600" i="0" b="0">
                <a:solidFill>
                  <a:srgbClr val="1A1F36"/>
                </a:solidFill>
                <a:latin typeface="Calibr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277874"/>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usually linked to a mutation of </a:t>
            </a:r>
            <a:r>
              <a:rPr sz="2100" i="0" b="1">
                <a:solidFill>
                  <a:srgbClr val="1A1F36"/>
                </a:solidFill>
                <a:latin typeface="Calibri"/>
              </a:rPr>
              <a:t>RyR1</a:t>
            </a:r>
            <a:r>
              <a:rPr sz="2100" i="0" b="0">
                <a:solidFill>
                  <a:srgbClr val="1A1F36"/>
                </a:solidFill>
                <a:latin typeface="Calibri"/>
              </a:rPr>
              <a:t>. Volatile anaesthetics (halothane, sevoflurane, desflurane) or succinylcholine trigger uncontrolled Ca2+ release in muscle.</a:t>
            </a:r>
          </a:p>
        </p:txBody>
      </p:sp>
      <p:sp>
        <p:nvSpPr>
          <p:cNvPr id="10" name="Oval 9"/>
          <p:cNvSpPr/>
          <p:nvPr/>
        </p:nvSpPr>
        <p:spPr>
          <a:xfrm>
            <a:off x="548640" y="289636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914650"/>
            <a:ext cx="10500055" cy="1277874"/>
          </a:xfrm>
          <a:prstGeom prst="rect">
            <a:avLst/>
          </a:prstGeom>
          <a:noFill/>
        </p:spPr>
        <p:txBody>
          <a:bodyPr wrap="square" anchor="t" lIns="0" rIns="0" tIns="0" bIns="0">
            <a:spAutoFit/>
          </a:bodyPr>
          <a:lstStyle/>
          <a:p>
            <a:r>
              <a:rPr sz="2100" i="0" b="0">
                <a:solidFill>
                  <a:srgbClr val="1A1F36"/>
                </a:solidFill>
                <a:latin typeface="Calibri"/>
              </a:rPr>
              <a:t>Features: a rise in end-tidal CO₂ that does not respond to ventilation, tachycardia, muscle rigidity (often the jaw), then fever, acidosis, hyperkalaemia and myoglobinuria.</a:t>
            </a:r>
          </a:p>
        </p:txBody>
      </p:sp>
      <p:sp>
        <p:nvSpPr>
          <p:cNvPr id="12" name="Oval 11"/>
          <p:cNvSpPr/>
          <p:nvPr/>
        </p:nvSpPr>
        <p:spPr>
          <a:xfrm>
            <a:off x="548640" y="421995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238244"/>
            <a:ext cx="10500055" cy="611124"/>
          </a:xfrm>
          <a:prstGeom prst="rect">
            <a:avLst/>
          </a:prstGeom>
          <a:noFill/>
        </p:spPr>
        <p:txBody>
          <a:bodyPr wrap="square" anchor="t" lIns="0" rIns="0" tIns="0" bIns="0">
            <a:spAutoFit/>
          </a:bodyPr>
          <a:lstStyle/>
          <a:p>
            <a:r>
              <a:rPr sz="2100" i="0" b="0">
                <a:solidFill>
                  <a:srgbClr val="1A1F36"/>
                </a:solidFill>
                <a:latin typeface="Calibri"/>
              </a:rPr>
              <a:t>&gt; 1. Stop the trigger and call for help.</a:t>
            </a:r>
          </a:p>
        </p:txBody>
      </p:sp>
      <p:sp>
        <p:nvSpPr>
          <p:cNvPr id="14" name="Oval 13"/>
          <p:cNvSpPr/>
          <p:nvPr/>
        </p:nvSpPr>
        <p:spPr>
          <a:xfrm>
            <a:off x="548640" y="48768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895088"/>
            <a:ext cx="10500055" cy="611124"/>
          </a:xfrm>
          <a:prstGeom prst="rect">
            <a:avLst/>
          </a:prstGeom>
          <a:noFill/>
        </p:spPr>
        <p:txBody>
          <a:bodyPr wrap="square" anchor="t" lIns="0" rIns="0" tIns="0" bIns="0">
            <a:spAutoFit/>
          </a:bodyPr>
          <a:lstStyle/>
          <a:p>
            <a:r>
              <a:rPr sz="2100" i="0" b="0">
                <a:solidFill>
                  <a:srgbClr val="1A1F36"/>
                </a:solidFill>
                <a:latin typeface="Calibri"/>
              </a:rPr>
              <a:t>&gt; 2. Give </a:t>
            </a:r>
            <a:r>
              <a:rPr sz="2100" i="0" b="1">
                <a:solidFill>
                  <a:srgbClr val="1A1F36"/>
                </a:solidFill>
                <a:latin typeface="Calibri"/>
              </a:rPr>
              <a:t>IV dantrolene</a:t>
            </a:r>
            <a:r>
              <a:rPr sz="2100" i="0" b="0">
                <a:solidFill>
                  <a:srgbClr val="1A1F36"/>
                </a:solidFill>
                <a:latin typeface="Calibri"/>
              </a:rPr>
              <a:t> 2.5 mg/kg, repeated until the signs settle.</a:t>
            </a:r>
          </a:p>
        </p:txBody>
      </p:sp>
      <p:sp>
        <p:nvSpPr>
          <p:cNvPr id="16" name="Oval 15"/>
          <p:cNvSpPr/>
          <p:nvPr/>
        </p:nvSpPr>
        <p:spPr>
          <a:xfrm>
            <a:off x="548640" y="55336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551932"/>
            <a:ext cx="10500055" cy="611124"/>
          </a:xfrm>
          <a:prstGeom prst="rect">
            <a:avLst/>
          </a:prstGeom>
          <a:noFill/>
        </p:spPr>
        <p:txBody>
          <a:bodyPr wrap="square" anchor="t" lIns="0" rIns="0" tIns="0" bIns="0">
            <a:spAutoFit/>
          </a:bodyPr>
          <a:lstStyle/>
          <a:p>
            <a:r>
              <a:rPr sz="2100" i="0" b="0">
                <a:solidFill>
                  <a:srgbClr val="1A1F36"/>
                </a:solidFill>
                <a:latin typeface="Calibri"/>
              </a:rPr>
              <a:t>&gt; 3. Ventilate with 100% oxygen at high flow.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&gt; 4. Cool the patient, and treat hyperkalaemia, acidosis and arrhythmia.</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&gt;</a:t>
            </a:r>
          </a:p>
        </p:txBody>
      </p:sp>
      <p:sp>
        <p:nvSpPr>
          <p:cNvPr id="12" name="Oval 11"/>
          <p:cNvSpPr/>
          <p:nvPr/>
        </p:nvSpPr>
        <p:spPr>
          <a:xfrm>
            <a:off x="548640" y="3281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1142237"/>
          </a:xfrm>
          <a:prstGeom prst="rect">
            <a:avLst/>
          </a:prstGeom>
          <a:noFill/>
        </p:spPr>
        <p:txBody>
          <a:bodyPr wrap="square" anchor="t" lIns="0" rIns="0" tIns="0" bIns="0">
            <a:spAutoFit/>
          </a:bodyPr>
          <a:lstStyle/>
          <a:p>
            <a:r>
              <a:rPr sz="2100" i="0" b="0">
                <a:solidFill>
                  <a:srgbClr val="1A1F36"/>
                </a:solidFill>
                <a:latin typeface="Calibri"/>
              </a:rPr>
              <a:t>&gt; Ask about family history before anaesthesia, and use non-trigger drugs such as propofol in susceptible patients.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Treat malignant hyperthermia at once: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Skeletal Muscle Relaxants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49</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4853806"/>
                <a:gridCol w="3467004"/>
                <a:gridCol w="2773603"/>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Baclofen</a:t>
                      </a:r>
                    </a:p>
                  </a:txBody>
                  <a:tcPr marL="109728" marR="109728" marT="45720" marB="45720" anchor="ctr">
                    <a:solidFill>
                      <a:srgbClr val="FFFFFF"/>
                    </a:solidFill>
                  </a:tcPr>
                </a:tc>
                <a:tc>
                  <a:txBody>
                    <a:bodyPr/>
                    <a:lstStyle/>
                    <a:p>
                      <a:r>
                        <a:rPr sz="2000" i="0" b="0">
                          <a:solidFill>
                            <a:srgbClr val="1A1F36"/>
                          </a:solidFill>
                          <a:latin typeface="Calibri"/>
                        </a:rPr>
                        <a:t>Baclofen, Mylobac</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Tizanidine</a:t>
                      </a:r>
                    </a:p>
                  </a:txBody>
                  <a:tcPr marL="109728" marR="109728" marT="45720" marB="45720" anchor="ctr">
                    <a:solidFill>
                      <a:srgbClr val="F1F2F8"/>
                    </a:solidFill>
                  </a:tcPr>
                </a:tc>
                <a:tc>
                  <a:txBody>
                    <a:bodyPr/>
                    <a:lstStyle/>
                    <a:p>
                      <a:r>
                        <a:rPr sz="2000" i="0" b="0">
                          <a:solidFill>
                            <a:srgbClr val="1A1F36"/>
                          </a:solidFill>
                          <a:latin typeface="Calibri"/>
                        </a:rPr>
                        <a:t>Sirdalud</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Cyclobenzaprine</a:t>
                      </a:r>
                    </a:p>
                  </a:txBody>
                  <a:tcPr marL="109728" marR="109728" marT="45720" marB="45720" anchor="ctr">
                    <a:solidFill>
                      <a:srgbClr val="FFFFFF"/>
                    </a:solidFill>
                  </a:tcPr>
                </a:tc>
                <a:tc>
                  <a:txBody>
                    <a:bodyPr/>
                    <a:lstStyle/>
                    <a:p>
                      <a:r>
                        <a:rPr sz="2000" i="0" b="0">
                          <a:solidFill>
                            <a:srgbClr val="1A1F36"/>
                          </a:solidFill>
                          <a:latin typeface="Calibri"/>
                        </a:rPr>
                        <a:t>Multi-Relax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Orphenadrine + paracetamol</a:t>
                      </a:r>
                    </a:p>
                  </a:txBody>
                  <a:tcPr marL="109728" marR="109728" marT="45720" marB="45720" anchor="ctr">
                    <a:solidFill>
                      <a:srgbClr val="F1F2F8"/>
                    </a:solidFill>
                  </a:tcPr>
                </a:tc>
                <a:tc>
                  <a:txBody>
                    <a:bodyPr/>
                    <a:lstStyle/>
                    <a:p>
                      <a:r>
                        <a:rPr sz="2000" i="0" b="0">
                          <a:solidFill>
                            <a:srgbClr val="1A1F36"/>
                          </a:solidFill>
                          <a:latin typeface="Calibri"/>
                        </a:rPr>
                        <a:t>Norgesic</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Orphenadrine</a:t>
                      </a:r>
                    </a:p>
                  </a:txBody>
                  <a:tcPr marL="109728" marR="109728" marT="45720" marB="45720" anchor="ctr">
                    <a:solidFill>
                      <a:srgbClr val="FFFFFF"/>
                    </a:solidFill>
                  </a:tcPr>
                </a:tc>
                <a:tc>
                  <a:txBody>
                    <a:bodyPr/>
                    <a:lstStyle/>
                    <a:p>
                      <a:r>
                        <a:rPr sz="2000" i="0" b="0">
                          <a:solidFill>
                            <a:srgbClr val="1A1F36"/>
                          </a:solidFill>
                          <a:latin typeface="Calibri"/>
                        </a:rPr>
                        <a:t>Norflex</a:t>
                      </a:r>
                    </a:p>
                  </a:txBody>
                  <a:tcPr marL="109728" marR="109728" marT="45720" marB="45720" anchor="ctr">
                    <a:solidFill>
                      <a:srgbClr val="FFFFFF"/>
                    </a:solidFill>
                  </a:tcPr>
                </a:tc>
                <a:tc>
                  <a:txBody>
                    <a:bodyPr/>
                    <a:lstStyle/>
                    <a:p>
                      <a:r>
                        <a:rPr sz="2000" i="0" b="0">
                          <a:solidFill>
                            <a:srgbClr val="1A1F36"/>
                          </a:solidFill>
                          <a:latin typeface="Calibri"/>
                        </a:rPr>
                        <a:t>Injection</a:t>
                      </a:r>
                    </a:p>
                  </a:txBody>
                  <a:tcPr marL="109728" marR="109728" marT="45720" marB="45720" anchor="ctr">
                    <a:solidFill>
                      <a:srgbClr val="FFFFFF"/>
                    </a:solidFill>
                  </a:tcPr>
                </a:tc>
              </a:tr>
              <a:tr h="577215">
                <a:tc>
                  <a:txBody>
                    <a:bodyPr/>
                    <a:lstStyle/>
                    <a:p>
                      <a:r>
                        <a:rPr sz="2000" i="0" b="1">
                          <a:solidFill>
                            <a:srgbClr val="1A1F36"/>
                          </a:solidFill>
                          <a:latin typeface="Calibri"/>
                        </a:rPr>
                        <a:t>Chlorzoxazone + paracetamol</a:t>
                      </a:r>
                    </a:p>
                  </a:txBody>
                  <a:tcPr marL="109728" marR="109728" marT="45720" marB="45720" anchor="ctr">
                    <a:solidFill>
                      <a:srgbClr val="F1F2F8"/>
                    </a:solidFill>
                  </a:tcPr>
                </a:tc>
                <a:tc>
                  <a:txBody>
                    <a:bodyPr/>
                    <a:lstStyle/>
                    <a:p>
                      <a:r>
                        <a:rPr sz="2000" i="0" b="0">
                          <a:solidFill>
                            <a:srgbClr val="1A1F36"/>
                          </a:solidFill>
                          <a:latin typeface="Calibri"/>
                        </a:rPr>
                        <a:t>Relaxon</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577215">
                <a:tc>
                  <a:txBody>
                    <a:bodyPr/>
                    <a:lstStyle/>
                    <a:p>
                      <a:r>
                        <a:rPr sz="2000" i="0" b="1">
                          <a:solidFill>
                            <a:srgbClr val="1A1F36"/>
                          </a:solidFill>
                          <a:latin typeface="Calibri"/>
                        </a:rPr>
                        <a:t>Chlorzoxazone + ibuprofen</a:t>
                      </a:r>
                    </a:p>
                  </a:txBody>
                  <a:tcPr marL="109728" marR="109728" marT="45720" marB="45720" anchor="ctr">
                    <a:solidFill>
                      <a:srgbClr val="FFFFFF"/>
                    </a:solidFill>
                  </a:tcPr>
                </a:tc>
                <a:tc>
                  <a:txBody>
                    <a:bodyPr/>
                    <a:lstStyle/>
                    <a:p>
                      <a:r>
                        <a:rPr sz="2000" i="0" b="0">
                          <a:solidFill>
                            <a:srgbClr val="1A1F36"/>
                          </a:solidFill>
                          <a:latin typeface="Calibri"/>
                        </a:rPr>
                        <a:t>Myofen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4551554"/>
                <a:gridCol w="3698138"/>
                <a:gridCol w="2844721"/>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Methocarbamol</a:t>
                      </a:r>
                    </a:p>
                  </a:txBody>
                  <a:tcPr marL="109728" marR="109728" marT="45720" marB="45720" anchor="ctr">
                    <a:solidFill>
                      <a:srgbClr val="FFFFFF"/>
                    </a:solidFill>
                  </a:tcPr>
                </a:tc>
                <a:tc>
                  <a:txBody>
                    <a:bodyPr/>
                    <a:lstStyle/>
                    <a:p>
                      <a:r>
                        <a:rPr sz="2000" i="0" b="0">
                          <a:solidFill>
                            <a:srgbClr val="1A1F36"/>
                          </a:solidFill>
                          <a:latin typeface="Calibri"/>
                        </a:rPr>
                        <a:t>Methorelax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Dantrolene</a:t>
                      </a:r>
                    </a:p>
                  </a:txBody>
                  <a:tcPr marL="109728" marR="109728" marT="45720" marB="45720" anchor="ctr">
                    <a:solidFill>
                      <a:srgbClr val="F1F2F8"/>
                    </a:solidFill>
                  </a:tcPr>
                </a:tc>
                <a:tc>
                  <a:txBody>
                    <a:bodyPr/>
                    <a:lstStyle/>
                    <a:p>
                      <a:r>
                        <a:rPr sz="2000" i="0" b="0">
                          <a:solidFill>
                            <a:srgbClr val="1A1F36"/>
                          </a:solidFill>
                          <a:latin typeface="Calibri"/>
                        </a:rPr>
                        <a:t>Dantrelax</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640080">
                <a:tc>
                  <a:txBody>
                    <a:bodyPr/>
                    <a:lstStyle/>
                    <a:p>
                      <a:r>
                        <a:rPr sz="2000" i="0" b="1">
                          <a:solidFill>
                            <a:srgbClr val="1A1F36"/>
                          </a:solidFill>
                          <a:latin typeface="Calibri"/>
                        </a:rPr>
                        <a:t>Dantrolene + paracetamol</a:t>
                      </a:r>
                    </a:p>
                  </a:txBody>
                  <a:tcPr marL="109728" marR="109728" marT="45720" marB="45720" anchor="ctr">
                    <a:solidFill>
                      <a:srgbClr val="FFFFFF"/>
                    </a:solidFill>
                  </a:tcPr>
                </a:tc>
                <a:tc>
                  <a:txBody>
                    <a:bodyPr/>
                    <a:lstStyle/>
                    <a:p>
                      <a:r>
                        <a:rPr sz="2000" i="0" b="0">
                          <a:solidFill>
                            <a:srgbClr val="1A1F36"/>
                          </a:solidFill>
                          <a:latin typeface="Calibri"/>
                        </a:rPr>
                        <a:t>Dantrelax Compound</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 patient with multiple sclerosis and a patient with acute back strain both ask for "a muscle relaxant". Which drug group suits each, and why?</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808863"/>
          </a:xfrm>
          <a:prstGeom prst="rect">
            <a:avLst/>
          </a:prstGeom>
          <a:noFill/>
        </p:spPr>
        <p:txBody>
          <a:bodyPr wrap="square" anchor="t" lIns="0" rIns="0" tIns="0" bIns="0">
            <a:spAutoFit/>
          </a:bodyPr>
          <a:lstStyle/>
          <a:p>
            <a:r>
              <a:rPr sz="2100" i="0" b="0">
                <a:solidFill>
                  <a:srgbClr val="1A1F36"/>
                </a:solidFill>
                <a:latin typeface="Calibri"/>
              </a:rPr>
              <a:t>Why must a patient on tizanidine avoid ciprofloxacin?</a:t>
            </a:r>
          </a:p>
        </p:txBody>
      </p:sp>
      <p:sp>
        <p:nvSpPr>
          <p:cNvPr id="12" name="Oval 11"/>
          <p:cNvSpPr/>
          <p:nvPr/>
        </p:nvSpPr>
        <p:spPr>
          <a:xfrm>
            <a:off x="548640" y="361530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1A1F36"/>
                </a:solidFill>
                <a:latin typeface="Calibri"/>
              </a:rPr>
              <a:t>Why does neostigmine reverse rocuronium but prolong phase I block by succinylcholine?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An antispastic drug such as baclofen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 non-depolarising neuromuscular blocker</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An antispasmodic such as methocarbamol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An anticholinesterase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An antispastic drug such as baclofen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 non-depolarising neuromuscular blocker</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An antispasmodic such as methocarbamol</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An anticholinesterase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Spasticity from brain or cord damage needs an antispastic drug. B is for surgery. C is for local muscle spasm. D would increase tone.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opens GABA-A chloride channels.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blocks nicotinic receptors at the junction.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activates GABA-B receptors, increasing K+ conductance and reducing Ca2+ entry.</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blocks Ca2+ release from the sarcoplasmic reticulum.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opens GABA-A chloride channels.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blocks nicotinic receptors at the junction.</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activates GABA-B receptors, increasing K+ conductance and reducing Ca2+ entry.</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blocks Ca2+ release from the sarcoplasmic reticulum.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Baclofen is a GABA-B agonist. A is benzodiazepines. B is NMBs. D is dantrolene.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Loss of tizanidine effect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Severe hypotension and sedation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Hyperkalaemia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Loss of tizanidine effect</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Severe hypotension and sedation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Hyperkalaemia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Ciprofloxacin inhibits CYP1A2, so tizanidine levels rise sharply. A is the opposite. C and D are not caused.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acts directly on skeletal muscle by blocking RyR1?</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Baclofen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Tizanidine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Cyclobenzaprine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Dantrolene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acts directly on skeletal muscle by blocking RyR1?</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Baclofen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Tizanidine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Cyclobenzaprine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Dantrolene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Dantrolene blocks RyR1 in muscle. A, B and C act in the CNS.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At the end of surgery, the anaesthetist gives neostigmine with glycopyrrolate. What is the role of glycopyrrolate?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To block the muscarinic effects of neostigmine, such as bradycardia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To reverse the neuromuscular block directly</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 provide analgesia</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To speed the metabolism of the blocker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At the end of surgery, the anaesthetist gives neostigmine with glycopyrrolate. What is the role of glycopyrrolate?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To block the muscarinic effects of neostigmine, such as bradycardia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To reverse the neuromuscular block directly</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 provide analgesia</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To speed the metabolism of the blocker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Glycopyrrolate blocks muscarinic receptors and prevents bradycardia and secretions. B is neostigmine's role. C and D are wrong.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does succinylcholine cause at the motor end-plate in phase I?</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Hyperpolarisation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Persistent depolarisation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Competitive block without receptor activation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Increased ACh breakdown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does succinylcholine cause at the motor end-plate in phase I?</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Hyperpolarisation</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Persistent depolarisation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Competitive block without receptor activation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Increased ACh breakdown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Succinylcholine is an agonist that holds the end-plate depolarised. A is a common error. C is non-depolarising blockers. D is wrong.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with severe burns 10 days ago needs urgent intubation. Why should succinylcholine be avoided?</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causes histamine release.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causes malignant hyperthermia in all burn patients.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can cause dangerous hyperkalaemia.</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does not work in burns.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42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with severe burns 10 days ago needs urgent intubation. Why should succinylcholine be avoided?</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causes histamine release.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causes malignant hyperthermia in all burn patients.</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can cause dangerous hyperkalaemia.</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does not work in burns.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Burns increase extra-junctional receptors, so K+ release is large. A is atracurium. B is wrong; burns do not cause malignant hyperthermia. D is wrong.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During anaesthesia with sevoflurane, a patient develops rising end-tidal CO₂, tachycardia, jaw rigidity and fever. Which drug is given?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Sugammadex</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Neostigmine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Paracetamol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IV dantrolene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44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During anaesthesia with sevoflurane, a patient develops rising end-tidal CO₂, tachycardia, jaw rigidity and fever. Which drug is given?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Sugammadex</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Neostigmine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Paracetamol</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IV dantrolene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This is malignant hyperthermia; dantrolene blocks Ca2+ release. A and B reverse NMBs. C does not treat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After succinylcholine, a patient remains paralysed for 3 hours. What is the likely cause?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Malignant hyperthermia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Atypical plasma cholinesterase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Too little anaesthetic</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Hofmann elimination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46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After succinylcholine, a patient remains paralysed for 3 hours. What is the likely cause?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Malignant hyperthermia</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Atypical plasma cholinesterase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Too little anaesthetic</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Hofmann elimination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Low or atypical plasma cholinesterase slows succinylcholine breakdown. A causes fever and rigidity. C causes awareness. D applies to atracurium.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non-depolarising blocker is the best choice in a patient with both liver and kidney failure?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Cisatracurium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Pancuronium</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Vecuronium</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Rocuronium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48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non-depolarising blocker is the best choice in a patient with both liver and kidney failure?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Cisatracurium</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Pancuronium</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Vecuronium</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Rocuronium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Cisatracurium is broken down in plasma by Hofmann elimination. B, C and D depend on the kidney or liver.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6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45278"/>
          </a:xfrm>
          <a:prstGeom prst="rect">
            <a:avLst/>
          </a:prstGeom>
          <a:noFill/>
        </p:spPr>
        <p:txBody>
          <a:bodyPr wrap="square" anchor="t" lIns="0" rIns="0" tIns="0" bIns="0">
            <a:spAutoFit/>
          </a:bodyPr>
          <a:lstStyle/>
          <a:p>
            <a:r>
              <a:rPr sz="1700" i="0" b="0">
                <a:solidFill>
                  <a:srgbClr val="FFFFFF"/>
                </a:solidFill>
                <a:latin typeface="Calibri"/>
              </a:rPr>
              <a:t>Spasticity (brain or cord damage) is treated with baclofen, tizanidine, dantrolene or diazepam; spasm (local injury) with short courses of antispasmodics after NSAIDs and physiotherapy.</a:t>
            </a:r>
          </a:p>
        </p:txBody>
      </p:sp>
      <p:sp>
        <p:nvSpPr>
          <p:cNvPr id="6" name="Oval 5"/>
          <p:cNvSpPr/>
          <p:nvPr/>
        </p:nvSpPr>
        <p:spPr>
          <a:xfrm>
            <a:off x="548640" y="263808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656374"/>
            <a:ext cx="10500055" cy="745278"/>
          </a:xfrm>
          <a:prstGeom prst="rect">
            <a:avLst/>
          </a:prstGeom>
          <a:noFill/>
        </p:spPr>
        <p:txBody>
          <a:bodyPr wrap="square" anchor="t" lIns="0" rIns="0" tIns="0" bIns="0">
            <a:spAutoFit/>
          </a:bodyPr>
          <a:lstStyle/>
          <a:p>
            <a:r>
              <a:rPr sz="1700" i="0" b="0">
                <a:solidFill>
                  <a:srgbClr val="FFFFFF"/>
                </a:solidFill>
                <a:latin typeface="Calibri"/>
              </a:rPr>
              <a:t>Baclofen is a GABA-B agonist: more K+ conductance and less presynaptic Ca2+ entry; never stop it suddenly.</a:t>
            </a:r>
          </a:p>
        </p:txBody>
      </p:sp>
      <p:sp>
        <p:nvSpPr>
          <p:cNvPr id="8" name="Oval 7"/>
          <p:cNvSpPr/>
          <p:nvPr/>
        </p:nvSpPr>
        <p:spPr>
          <a:xfrm>
            <a:off x="548640" y="342908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447372"/>
            <a:ext cx="10500055" cy="475403"/>
          </a:xfrm>
          <a:prstGeom prst="rect">
            <a:avLst/>
          </a:prstGeom>
          <a:noFill/>
        </p:spPr>
        <p:txBody>
          <a:bodyPr wrap="square" anchor="t" lIns="0" rIns="0" tIns="0" bIns="0">
            <a:spAutoFit/>
          </a:bodyPr>
          <a:lstStyle/>
          <a:p>
            <a:r>
              <a:rPr sz="1700" i="0" b="0">
                <a:solidFill>
                  <a:srgbClr val="FFFFFF"/>
                </a:solidFill>
                <a:latin typeface="Calibri"/>
              </a:rPr>
              <a:t>Dantrolene blocks Ca2+ release through RyR1 and is the treatment of malignant hyperthermia.</a:t>
            </a:r>
          </a:p>
        </p:txBody>
      </p:sp>
      <p:sp>
        <p:nvSpPr>
          <p:cNvPr id="10" name="Oval 9"/>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968496"/>
            <a:ext cx="10500055" cy="475403"/>
          </a:xfrm>
          <a:prstGeom prst="rect">
            <a:avLst/>
          </a:prstGeom>
          <a:noFill/>
        </p:spPr>
        <p:txBody>
          <a:bodyPr wrap="square" anchor="t" lIns="0" rIns="0" tIns="0" bIns="0">
            <a:spAutoFit/>
          </a:bodyPr>
          <a:lstStyle/>
          <a:p>
            <a:r>
              <a:rPr sz="1700" i="0" b="0">
                <a:solidFill>
                  <a:srgbClr val="FFFFFF"/>
                </a:solidFill>
                <a:latin typeface="Calibri"/>
              </a:rPr>
              <a:t>NMBs paralyse without sedation or analgesia.</a:t>
            </a:r>
          </a:p>
        </p:txBody>
      </p:sp>
      <p:sp>
        <p:nvSpPr>
          <p:cNvPr id="12" name="Oval 11"/>
          <p:cNvSpPr/>
          <p:nvPr/>
        </p:nvSpPr>
        <p:spPr>
          <a:xfrm>
            <a:off x="548640" y="447133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489619"/>
            <a:ext cx="10500055" cy="745278"/>
          </a:xfrm>
          <a:prstGeom prst="rect">
            <a:avLst/>
          </a:prstGeom>
          <a:noFill/>
        </p:spPr>
        <p:txBody>
          <a:bodyPr wrap="square" anchor="t" lIns="0" rIns="0" tIns="0" bIns="0">
            <a:spAutoFit/>
          </a:bodyPr>
          <a:lstStyle/>
          <a:p>
            <a:r>
              <a:rPr sz="1700" i="0" b="0">
                <a:solidFill>
                  <a:srgbClr val="FFFFFF"/>
                </a:solidFill>
                <a:latin typeface="Calibri"/>
              </a:rPr>
              <a:t>Non-depolarising blockers are competitive antagonists, reversed by neostigmine with glycopyrrolate, or rocuronium by sugammadex.</a:t>
            </a:r>
          </a:p>
        </p:txBody>
      </p:sp>
      <p:sp>
        <p:nvSpPr>
          <p:cNvPr id="14" name="Oval 13"/>
          <p:cNvSpPr/>
          <p:nvPr/>
        </p:nvSpPr>
        <p:spPr>
          <a:xfrm>
            <a:off x="548640" y="526232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280617"/>
            <a:ext cx="10500055" cy="745278"/>
          </a:xfrm>
          <a:prstGeom prst="rect">
            <a:avLst/>
          </a:prstGeom>
          <a:noFill/>
        </p:spPr>
        <p:txBody>
          <a:bodyPr wrap="square" anchor="t" lIns="0" rIns="0" tIns="0" bIns="0">
            <a:spAutoFit/>
          </a:bodyPr>
          <a:lstStyle/>
          <a:p>
            <a:r>
              <a:rPr sz="1700" i="0" b="0">
                <a:solidFill>
                  <a:srgbClr val="FFFFFF"/>
                </a:solidFill>
                <a:latin typeface="Calibri"/>
              </a:rPr>
              <a:t>Succinylcholine causes persistent depolarisation; watch for hyperkalaemia, bradycardia, prolonged apnoea and malignant hyperthermia.</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