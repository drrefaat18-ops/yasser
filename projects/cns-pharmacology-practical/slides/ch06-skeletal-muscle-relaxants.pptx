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A motor nerve releases acetylcholine (ACh) at the neuromuscular junction. ACh acts on nicotinic (Nm) receptors on the muscle, which are ion channels; Na+ enters and the muscle fibre depolarises. The signal travels into the fibre and releases Ca2+ from the sarcoplasmic reticulum through the ryanodine receptor (RyR1). Ca2+ triggers contraction. Acetylcholinesterase ends the signal in milliseconds. In the spinal cord, GABA and α2 receptors on sensory nerve endings reduce reflex firing.</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Two Groups, Two Aims.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About 30 s.  Next: Spasticity versus spasm.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About 30 s.  Next: Spasticity versus spasm.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Muscle relaxants form two groups with different uses:</a:t>
            </a:r>
          </a:p>
          <a:p/>
          <a:p>
            <a:r>
              <a:t>About 30 s.  Next: Baclofen.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About 120 s.  Next: Baclofen.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About 90 s.  Next: Baclofen.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About 90 s.  Next: Antispastic Drugs.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Baclofen is a GABA derivative that is active by mouth. It is an agonist at GABA-B receptors in the spinal cord. GABA-B is a G-protein-coupled receptor, not a chloride channel. Its activation: Reflex firing falls and tone improves. Severe spasticity can be treated with intrathecal baclofen by pump. Adverse effects: drowsiness, weakness, dizziness and confusion. It is cleared by the kidneys; reduce the dose in kidney disease. Tizanidine is a central α2 agonist, related to clonidine. It reduces the release of excitatory transmitters in the spinal cord. It treats spasticity with less weakness than baclofen. Adverse effects: drowsiness, dry mouth, hypotension and weakness; rarely liver injury. Stopping suddenly can cause rebound hypertension and tachycardia. Tizanidine is metabolised by CYP1A2. Ciprofloxacin and fluvoxamine block this enzyme and cause severe hypotension and sedation; this combination is contraindicated. Diazepam enhances GABA-A receptors in the spinal cord and brain. It relaxes muscle but sedates. Tolerance and dependence limit long-term use.</a:t>
            </a:r>
          </a:p>
          <a:p/>
          <a:p>
            <a:r>
              <a:t>About 90 s.  Next: Antispasmodic Drugs for Muscle Spasm.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drugs are not first-line for back pain. First-line care is keeping active, heat, physiotherapy and, if needed, an NSAID. An antispasmodic may be added for a short time, often 1 to 2 weeks. All of them cause drowsiness; warn patients about driving and alcohol. Many products in Egypt combine a relaxant with paracetamol or ibuprofen. Count every paracetamol-containing product the patient takes, because the maximum daily dose is easy to exceed.</a:t>
            </a:r>
          </a:p>
          <a:p/>
          <a:p>
            <a:r>
              <a:t>About 60 s.  Next: Antispasmodic Drugs for Muscle Spasm.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drugs are not first-line for back pain. First-line care is keeping active, heat, physiotherapy and, if needed, an NSAID. An antispasmodic may be added for a short time, often 1 to 2 weeks. All of them cause drowsiness; warn patients about driving and alcohol. Many products in Egypt combine a relaxant with paracetamol or ibuprofen. Count every paracetamol-containing product the patient takes, because the maximum daily dose is easy to exceed.</a:t>
            </a:r>
          </a:p>
          <a:p/>
          <a:p>
            <a:r>
              <a:t>About 30 s.  Next: Dantrolene: a Direct-Acting Relaxant.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Dantrolene is a hydantoin derivative, related to phenytoin. It acts inside the muscle. It blocks the RyR1 channel and so reduces Ca2+ release from the sarcoplasmic reticulum. Contraction becomes weaker. It has little effect on heart or smooth muscle. Uses: Adverse effects: muscle weakness, drowsiness, diarrhoea and liver injury, which carries a boxed warning with long-term oral use. Check liver function.</a:t>
            </a:r>
          </a:p>
          <a:p/>
          <a:p>
            <a:r>
              <a:t>About 60 s.  Next: Non-depolarising blockers.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Non-depolarising blockers.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60 s.  Next: Non-depolarising blockers.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60 s.  Next: Depolarising blocker: succinylcholine.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60 s.  Next: Neuromuscular Blockers.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90 s.  Next: Neuromuscular Blockers.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NMBs are given IV during anaesthesia to allow tracheal intubation and to relax muscles for surgery. They are highly polar: they are not absorbed orally and do not cross the blood-brain barrier or placenta well. Members: rocuronium, vecuronium, atracurium, cisatracurium and pancuronium. Mechanism: competitive antagonists at the Nm receptor. They block ACh without activating the receptor. More ACh can overcome the block. Reversal: Residual paralysis after surgery is a real risk. It causes weak breathing and aspiration. Monitor with a nerve stimulator (train-of-four) before extubation. Succinylcholine (suxamethonium) is two ACh molecules joined together. It is not broken down by synaptic acetylcholinesterase. It is rapidly hydrolysed by plasma cholinesterase (pseudocholinesterase). It has the fastest onset (about 1 minute) and a short action (5 to 10 minutes). It is used for rapid intubation. Mechanism in two phases: Adverse effects:</a:t>
            </a:r>
          </a:p>
          <a:p/>
          <a:p>
            <a:r>
              <a:t>About 60 s.  Next: Malignant Hyperthermia (1/2).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usually linked to a mutation of RyR1. Volatile anaesthetics (halothane, sevoflurane, desflurane) or succinylcholine trigger uncontrolled Ca2+ release in muscle. Features: a rise in end-tidal CO₂ that does not respond to ventilation, tachycardia, muscle rigidity (often the jaw), then fever, acidosis, hyperkalaemia and myoglobinuria. &gt; 1. Stop the trigger and call for help. &gt; 2. Give IV dantrolene 2.5 mg/kg, repeated until the signs settle. &gt; 3. Ventilate with 100% oxygen at high flow. &gt; 4. Cool the patient, and treat hyperkalaemia, acidosis and arrhythmia. &gt; &gt; Ask about family history before anaesthesia, and use non-trigger drugs such as propofol in susceptible patients.</a:t>
            </a:r>
          </a:p>
          <a:p/>
          <a:p>
            <a:r>
              <a:t>About 90 s.  Next: Malignant Hyperthermia (2/2).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usually linked to a mutation of RyR1. Volatile anaesthetics (halothane, sevoflurane, desflurane) or succinylcholine trigger uncontrolled Ca2+ release in muscle. Features: a rise in end-tidal CO₂ that does not respond to ventilation, tachycardia, muscle rigidity (often the jaw), then fever, acidosis, hyperkalaemia and myoglobinuria. &gt; 1. Stop the trigger and call for help. &gt; 2. Give IV dantrolene 2.5 mg/kg, repeated until the signs settle. &gt; 3. Ventilate with 100% oxygen at high flow. &gt; 4. Cool the patient, and treat hyperkalaemia, acidosis and arrhythmia. &gt; &gt; Ask about family history before anaesthesia, and use non-trigger drugs such as propofol in susceptible patients.</a:t>
            </a:r>
          </a:p>
          <a:p/>
          <a:p>
            <a:r>
              <a:t>About 60 s.  Next: Brands in Egypt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Brands in Egypt (1/2).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Spasticity from brain or cord damage needs an antispastic drug. B is for surgery. C is for local muscle spasm. D would increase tone.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Baclofen is a GABA-B agonist. A is benzodiazepines. B is NMBs. D is dantrolene.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Ciprofloxacin inhibits CYP1A2, so tizanidine levels rise sharply. A is the opposite. C and D are not caused.</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Dantrolene blocks RyR1 in muscle. A, B and C act in the CNS.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Glycopyrrolate blocks muscarinic receptors and prevents bradycardia and secretions. B is neostigmine's role.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Succinylcholine is an agonist that holds the end-plate depolarised. A is a common error. C is non-depolarising blockers. D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Burns increase extra-junctional receptors, so K+ release is large. A is atracurium. B is wrong; burns do not cause malignant hyperthermia. D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This is malignant hyperthermia; dantrolene blocks Ca2+ release. A and B reverse NMBs. C does not treat 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Low or atypical plasma cholinesterase slows succinylcholine breakdown. A causes fever and rigidity. C causes awareness. D applies to atracurium.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Cisatracurium is broken down in plasma by Hofmann elimination. B, C and D depend on the kidney or liver.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Brands in Egypt (2/2).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06</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6</a:t>
            </a:r>
          </a:p>
          <a:p>
            <a:pPr>
              <a:spcBef>
                <a:spcPts val="1400"/>
              </a:spcBef>
            </a:pPr>
            <a:r>
              <a:rPr sz="4400" i="0" b="1">
                <a:solidFill>
                  <a:srgbClr val="FFFFFF"/>
                </a:solidFill>
                <a:latin typeface="Cambria"/>
              </a:rPr>
              <a:t>Skeletal Muscle Relaxants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45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Distinguish spasticity from muscle spasm and match each to its drug group.</a:t>
            </a:r>
          </a:p>
        </p:txBody>
      </p:sp>
      <p:sp>
        <p:nvSpPr>
          <p:cNvPr id="10" name="Oval 9"/>
          <p:cNvSpPr/>
          <p:nvPr/>
        </p:nvSpPr>
        <p:spPr>
          <a:xfrm>
            <a:off x="548640" y="24328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51100"/>
            <a:ext cx="6629400" cy="1131824"/>
          </a:xfrm>
          <a:prstGeom prst="rect">
            <a:avLst/>
          </a:prstGeom>
          <a:noFill/>
        </p:spPr>
        <p:txBody>
          <a:bodyPr wrap="square" anchor="t" lIns="0" rIns="0" tIns="0" bIns="0">
            <a:spAutoFit/>
          </a:bodyPr>
          <a:lstStyle/>
          <a:p>
            <a:r>
              <a:rPr sz="2000" i="0" b="0">
                <a:solidFill>
                  <a:srgbClr val="1A1F36"/>
                </a:solidFill>
                <a:latin typeface="Calibri"/>
              </a:rPr>
              <a:t>Describe the site and mechanism of action of central, direct-acting and neuromuscular-blocking relaxants.</a:t>
            </a:r>
          </a:p>
        </p:txBody>
      </p:sp>
      <p:sp>
        <p:nvSpPr>
          <p:cNvPr id="12" name="Oval 11"/>
          <p:cNvSpPr/>
          <p:nvPr/>
        </p:nvSpPr>
        <p:spPr>
          <a:xfrm>
            <a:off x="548640" y="36103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28644"/>
            <a:ext cx="6629400" cy="814323"/>
          </a:xfrm>
          <a:prstGeom prst="rect">
            <a:avLst/>
          </a:prstGeom>
          <a:noFill/>
        </p:spPr>
        <p:txBody>
          <a:bodyPr wrap="square" anchor="t" lIns="0" rIns="0" tIns="0" bIns="0">
            <a:spAutoFit/>
          </a:bodyPr>
          <a:lstStyle/>
          <a:p>
            <a:r>
              <a:rPr sz="2000" i="0" b="0">
                <a:solidFill>
                  <a:srgbClr val="1A1F36"/>
                </a:solidFill>
                <a:latin typeface="Calibri"/>
              </a:rPr>
              <a:t>Compare depolarising and non-depolarising neuromuscular blockers, including their reversal.</a:t>
            </a:r>
          </a:p>
        </p:txBody>
      </p:sp>
      <p:sp>
        <p:nvSpPr>
          <p:cNvPr id="14" name="Oval 13"/>
          <p:cNvSpPr/>
          <p:nvPr/>
        </p:nvSpPr>
        <p:spPr>
          <a:xfrm>
            <a:off x="548640" y="44704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88688"/>
            <a:ext cx="6629400" cy="814323"/>
          </a:xfrm>
          <a:prstGeom prst="rect">
            <a:avLst/>
          </a:prstGeom>
          <a:noFill/>
        </p:spPr>
        <p:txBody>
          <a:bodyPr wrap="square" anchor="t" lIns="0" rIns="0" tIns="0" bIns="0">
            <a:spAutoFit/>
          </a:bodyPr>
          <a:lstStyle/>
          <a:p>
            <a:r>
              <a:rPr sz="2000" i="0" b="0">
                <a:solidFill>
                  <a:srgbClr val="1A1F36"/>
                </a:solidFill>
                <a:latin typeface="Calibri"/>
              </a:rPr>
              <a:t>Identify key adverse effects, interactions and withdrawal risks of muscle relaxants.</a:t>
            </a:r>
          </a:p>
        </p:txBody>
      </p:sp>
      <p:sp>
        <p:nvSpPr>
          <p:cNvPr id="16" name="Oval 15"/>
          <p:cNvSpPr/>
          <p:nvPr/>
        </p:nvSpPr>
        <p:spPr>
          <a:xfrm>
            <a:off x="548640" y="53304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Outline the recognition and treatment of malignant hyperthermia.</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45</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Two Groups, Two Aims</a:t>
            </a:r>
          </a:p>
        </p:txBody>
      </p:sp>
      <p:sp>
        <p:nvSpPr>
          <p:cNvPr id="10" name="Oval 9"/>
          <p:cNvSpPr/>
          <p:nvPr/>
        </p:nvSpPr>
        <p:spPr>
          <a:xfrm>
            <a:off x="548640"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Antispastic Drugs</a:t>
            </a:r>
          </a:p>
        </p:txBody>
      </p:sp>
      <p:sp>
        <p:nvSpPr>
          <p:cNvPr id="12" name="Oval 11"/>
          <p:cNvSpPr/>
          <p:nvPr/>
        </p:nvSpPr>
        <p:spPr>
          <a:xfrm>
            <a:off x="548640"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1173987"/>
          </a:xfrm>
          <a:prstGeom prst="rect">
            <a:avLst/>
          </a:prstGeom>
          <a:noFill/>
        </p:spPr>
        <p:txBody>
          <a:bodyPr wrap="square" anchor="t" lIns="0" rIns="0" tIns="0" bIns="0">
            <a:spAutoFit/>
          </a:bodyPr>
          <a:lstStyle/>
          <a:p>
            <a:r>
              <a:rPr sz="2200" i="0" b="0">
                <a:solidFill>
                  <a:srgbClr val="1A1F36"/>
                </a:solidFill>
                <a:latin typeface="Calibri"/>
              </a:rPr>
              <a:t>Antispasmodic Drugs for Muscle Spasm</a:t>
            </a:r>
          </a:p>
        </p:txBody>
      </p:sp>
      <p:sp>
        <p:nvSpPr>
          <p:cNvPr id="14" name="Oval 13"/>
          <p:cNvSpPr/>
          <p:nvPr/>
        </p:nvSpPr>
        <p:spPr>
          <a:xfrm>
            <a:off x="548640" y="453339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51679"/>
            <a:ext cx="4678527" cy="1173987"/>
          </a:xfrm>
          <a:prstGeom prst="rect">
            <a:avLst/>
          </a:prstGeom>
          <a:noFill/>
        </p:spPr>
        <p:txBody>
          <a:bodyPr wrap="square" anchor="t" lIns="0" rIns="0" tIns="0" bIns="0">
            <a:spAutoFit/>
          </a:bodyPr>
          <a:lstStyle/>
          <a:p>
            <a:r>
              <a:rPr sz="2200" i="0" b="0">
                <a:solidFill>
                  <a:srgbClr val="1A1F36"/>
                </a:solidFill>
                <a:latin typeface="Calibri"/>
              </a:rPr>
              <a:t>Dantrolene: a Direct-Acting Relaxant</a:t>
            </a:r>
          </a:p>
        </p:txBody>
      </p:sp>
      <p:sp>
        <p:nvSpPr>
          <p:cNvPr id="16" name="Oval 15"/>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Neuromuscular Blockers</a:t>
            </a:r>
          </a:p>
        </p:txBody>
      </p:sp>
      <p:sp>
        <p:nvSpPr>
          <p:cNvPr id="18" name="Oval 17"/>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Malignant Hyperthermia</a:t>
            </a:r>
          </a:p>
        </p:txBody>
      </p:sp>
      <p:sp>
        <p:nvSpPr>
          <p:cNvPr id="20" name="Oval 19"/>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Two Groups, Two Aims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Muscle relaxants form two groups with different uses:</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1142237"/>
          </a:xfrm>
          <a:prstGeom prst="rect">
            <a:avLst/>
          </a:prstGeom>
          <a:noFill/>
        </p:spPr>
        <p:txBody>
          <a:bodyPr wrap="square" anchor="t" lIns="0" rIns="0" tIns="0" bIns="0">
            <a:spAutoFit/>
          </a:bodyPr>
          <a:lstStyle/>
          <a:p>
            <a:r>
              <a:rPr sz="2100" i="0" b="1">
                <a:solidFill>
                  <a:srgbClr val="1A1F36"/>
                </a:solidFill>
                <a:latin typeface="Calibri"/>
              </a:rPr>
              <a:t>Spasmolytics</a:t>
            </a:r>
            <a:r>
              <a:rPr sz="2100" i="0" b="0">
                <a:solidFill>
                  <a:srgbClr val="1A1F36"/>
                </a:solidFill>
                <a:latin typeface="Calibri"/>
              </a:rPr>
              <a:t> act in the brain and spinal cord, or directly on muscle. They are used for spasticity and muscle spasm in conscious patients.</a:t>
            </a:r>
          </a:p>
        </p:txBody>
      </p:sp>
      <p:sp>
        <p:nvSpPr>
          <p:cNvPr id="11" name="Oval 10"/>
          <p:cNvSpPr/>
          <p:nvPr/>
        </p:nvSpPr>
        <p:spPr>
          <a:xfrm>
            <a:off x="548640" y="344195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460242"/>
            <a:ext cx="10500055" cy="1475612"/>
          </a:xfrm>
          <a:prstGeom prst="rect">
            <a:avLst/>
          </a:prstGeom>
          <a:noFill/>
        </p:spPr>
        <p:txBody>
          <a:bodyPr wrap="square" anchor="t" lIns="0" rIns="0" tIns="0" bIns="0">
            <a:spAutoFit/>
          </a:bodyPr>
          <a:lstStyle/>
          <a:p>
            <a:r>
              <a:rPr sz="2100" i="0" b="1">
                <a:solidFill>
                  <a:srgbClr val="1A1F36"/>
                </a:solidFill>
                <a:latin typeface="Calibri"/>
              </a:rPr>
              <a:t>Neuromuscular blockers (NMBs)</a:t>
            </a:r>
            <a:r>
              <a:rPr sz="2100" i="0" b="0">
                <a:solidFill>
                  <a:srgbClr val="1A1F36"/>
                </a:solidFill>
                <a:latin typeface="Calibri"/>
              </a:rPr>
              <a:t> act at the neuromuscular junction. They have no CNS effect, no analgesia and no sedation. They are used only during anaesthesia and in intensive care, with ventilation.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Spasticity versus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1">
                <a:solidFill>
                  <a:srgbClr val="1A1F36"/>
                </a:solidFill>
                <a:latin typeface="Calibri"/>
              </a:rPr>
              <a:t>Spasticity</a:t>
            </a:r>
            <a:r>
              <a:rPr sz="2100" i="0" b="0">
                <a:solidFill>
                  <a:srgbClr val="1A1F36"/>
                </a:solidFill>
                <a:latin typeface="Calibri"/>
              </a:rPr>
              <a:t> is increased muscle tone from damage to the brain or spinal cord. Examples are multiple sclerosis, spinal cord injury, stroke and cerebral palsy. Use </a:t>
            </a:r>
            <a:r>
              <a:rPr sz="2100" i="0" b="1">
                <a:solidFill>
                  <a:srgbClr val="1A1F36"/>
                </a:solidFill>
                <a:latin typeface="Calibri"/>
              </a:rPr>
              <a:t>antispastic</a:t>
            </a:r>
            <a:r>
              <a:rPr sz="2100" i="0" b="0">
                <a:solidFill>
                  <a:srgbClr val="1A1F36"/>
                </a:solidFill>
                <a:latin typeface="Calibri"/>
              </a:rPr>
              <a:t> drugs: baclofen, tizanidine, dantrolene or diazepam.</a:t>
            </a:r>
          </a:p>
        </p:txBody>
      </p:sp>
      <p:sp>
        <p:nvSpPr>
          <p:cNvPr id="10" name="Oval 9"/>
          <p:cNvSpPr/>
          <p:nvPr/>
        </p:nvSpPr>
        <p:spPr>
          <a:xfrm>
            <a:off x="548640" y="30941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112388"/>
            <a:ext cx="10500055" cy="1475612"/>
          </a:xfrm>
          <a:prstGeom prst="rect">
            <a:avLst/>
          </a:prstGeom>
          <a:noFill/>
        </p:spPr>
        <p:txBody>
          <a:bodyPr wrap="square" anchor="t" lIns="0" rIns="0" tIns="0" bIns="0">
            <a:spAutoFit/>
          </a:bodyPr>
          <a:lstStyle/>
          <a:p>
            <a:r>
              <a:rPr sz="2100" i="0" b="1">
                <a:solidFill>
                  <a:srgbClr val="1A1F36"/>
                </a:solidFill>
                <a:latin typeface="Calibri"/>
              </a:rPr>
              <a:t>Muscle spasm</a:t>
            </a:r>
            <a:r>
              <a:rPr sz="2100" i="0" b="0">
                <a:solidFill>
                  <a:srgbClr val="1A1F36"/>
                </a:solidFill>
                <a:latin typeface="Calibri"/>
              </a:rPr>
              <a:t> is a painful contraction from a local musculoskeletal problem, such as acute low back or neck pain. Use </a:t>
            </a:r>
            <a:r>
              <a:rPr sz="2100" i="0" b="1">
                <a:solidFill>
                  <a:srgbClr val="1A1F36"/>
                </a:solidFill>
                <a:latin typeface="Calibri"/>
              </a:rPr>
              <a:t>antispasmodic</a:t>
            </a:r>
            <a:r>
              <a:rPr sz="2100" i="0" b="0">
                <a:solidFill>
                  <a:srgbClr val="1A1F36"/>
                </a:solidFill>
                <a:latin typeface="Calibri"/>
              </a:rPr>
              <a:t> drugs such as cyclobenzaprine, orphenadrine, chlorzoxazone or methocarbamol, for a short time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Spasticity versus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pic>
        <p:nvPicPr>
          <p:cNvPr id="8" name="Picture 7" descr="A vertical chain: brain and brainstem, spinal cord, neuromuscular junction and muscle fibre, each linked to the drugs acting there: antispasmodics, antispastics, neuromuscular blockers and dantrolene."/>
          <p:cNvPicPr>
            <a:picLocks noChangeAspect="1"/>
          </p:cNvPicPr>
          <p:nvPr/>
        </p:nvPicPr>
        <p:blipFill>
          <a:blip r:embed="rId4"/>
          <a:stretch>
            <a:fillRect/>
          </a:stretch>
        </p:blipFill>
        <p:spPr>
          <a:xfrm>
            <a:off x="1796020" y="1554480"/>
            <a:ext cx="8599655" cy="4206240"/>
          </a:xfrm>
          <a:prstGeom prst="rect">
            <a:avLst/>
          </a:prstGeom>
        </p:spPr>
      </p:pic>
      <p:sp>
        <p:nvSpPr>
          <p:cNvPr id="9" name="TextBox 8"/>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Sites of action of skeletal muscle relaxants from brain to muscle fibre.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Baclofen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Baclofen is a GABA derivative that is active by mouth. It is an agonist at </a:t>
            </a:r>
            <a:r>
              <a:rPr sz="2100" i="0" b="1">
                <a:solidFill>
                  <a:srgbClr val="1A1F36"/>
                </a:solidFill>
                <a:latin typeface="Calibri"/>
              </a:rPr>
              <a:t>GABA-B</a:t>
            </a:r>
            <a:r>
              <a:rPr sz="2100" i="0" b="0">
                <a:solidFill>
                  <a:srgbClr val="1A1F36"/>
                </a:solidFill>
                <a:latin typeface="Calibri"/>
              </a:rPr>
              <a:t> receptors in the spinal cord. GABA-B is a G-protein-coupled receptor, not a chloride channel. Its activation:</a:t>
            </a:r>
          </a:p>
          <a:p>
            <a:pPr>
              <a:spcAft>
                <a:spcPts val="800"/>
              </a:spcAft>
            </a:pPr>
            <a:r>
              <a:rPr sz="2100" i="0" b="0">
                <a:solidFill>
                  <a:srgbClr val="1A1F36"/>
                </a:solidFill>
                <a:latin typeface="Calibri"/>
              </a:rPr>
              <a:t>Reflex firing falls and tone improves. Severe spasticity can be treated with intrathecal baclofen by pump.</a:t>
            </a:r>
          </a:p>
          <a:p>
            <a:pPr>
              <a:spcAft>
                <a:spcPts val="800"/>
              </a:spcAft>
            </a:pPr>
            <a:r>
              <a:rPr sz="2100" i="0" b="0">
                <a:solidFill>
                  <a:srgbClr val="1A1F36"/>
                </a:solidFill>
                <a:latin typeface="Calibri"/>
              </a:rPr>
              <a:t>Adverse effects: drowsiness, weakness, dizziness and confusion. It is cleared by the kidneys; reduce the dose in kidney disease.</a:t>
            </a:r>
          </a:p>
          <a:p>
            <a:pPr>
              <a:spcAft>
                <a:spcPts val="800"/>
              </a:spcAft>
            </a:pPr>
            <a:r>
              <a:rPr sz="2100" i="0" b="0">
                <a:solidFill>
                  <a:srgbClr val="1A1F36"/>
                </a:solidFill>
                <a:latin typeface="Calibri"/>
              </a:rPr>
              <a:t>Tizanidine is a central </a:t>
            </a:r>
            <a:r>
              <a:rPr sz="2100" i="0" b="1">
                <a:solidFill>
                  <a:srgbClr val="1A1F36"/>
                </a:solidFill>
                <a:latin typeface="Calibri"/>
              </a:rPr>
              <a:t>α2 agonist</a:t>
            </a:r>
            <a:r>
              <a:rPr sz="2100" i="0" b="0">
                <a:solidFill>
                  <a:srgbClr val="1A1F36"/>
                </a:solidFill>
                <a:latin typeface="Calibri"/>
              </a:rPr>
              <a:t>, related to clonidine. It reduces the release of excitatory transmitters in the spinal cord. It treats spasticity with less weakness than baclofen.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Baclofen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Adverse effects: drowsiness, dry mouth, hypotension and weakness; rarely liver injury. Stopping suddenly can cause rebound hypertension and tachycardia. Tizanidine is metabolised by </a:t>
            </a:r>
            <a:r>
              <a:rPr sz="2100" i="0" b="1">
                <a:solidFill>
                  <a:srgbClr val="1A1F36"/>
                </a:solidFill>
                <a:latin typeface="Calibri"/>
              </a:rPr>
              <a:t>CYP1A2</a:t>
            </a:r>
            <a:r>
              <a:rPr sz="2100" i="0" b="0">
                <a:solidFill>
                  <a:srgbClr val="1A1F36"/>
                </a:solidFill>
                <a:latin typeface="Calibri"/>
              </a:rPr>
              <a:t>. Ciprofloxacin and fluvoxamine block this enzyme and cause severe hypotension and sedation; this combination is contraindicated.</a:t>
            </a:r>
          </a:p>
          <a:p>
            <a:pPr>
              <a:spcAft>
                <a:spcPts val="800"/>
              </a:spcAft>
            </a:pPr>
            <a:r>
              <a:rPr sz="2100" i="0" b="0">
                <a:solidFill>
                  <a:srgbClr val="1A1F36"/>
                </a:solidFill>
                <a:latin typeface="Calibri"/>
              </a:rPr>
              <a:t>Diazepam enhances GABA-A receptors in the spinal cord and brain. It relaxes muscle but sedates. Tolerance and dependence limit long-term use.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Baclofen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Opens K+ channels, so the neuron hyperpolarises.</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Reduces Ca2+ entry into nerve endings, so less excitatory transmitter is released.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Antispastic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Never stop baclofen suddenly. Withdrawal causes hallucinations, seizures, high fever and rebound spasticity. With intrathecal pumps, pump failure can be life-threatening. Reduce the dose slowly.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Antispasmodic Drugs for Muscle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These drugs are </a:t>
            </a:r>
            <a:r>
              <a:rPr sz="2100" i="0" b="1">
                <a:solidFill>
                  <a:srgbClr val="1A1F36"/>
                </a:solidFill>
                <a:latin typeface="Calibri"/>
              </a:rPr>
              <a:t>not first-line</a:t>
            </a:r>
            <a:r>
              <a:rPr sz="2100" i="0" b="0">
                <a:solidFill>
                  <a:srgbClr val="1A1F36"/>
                </a:solidFill>
                <a:latin typeface="Calibri"/>
              </a:rPr>
              <a:t> for back pain. First-line care is keeping active, heat, physiotherapy and, if needed, an NSAID. An antispasmodic may be added for a short time, often 1 to 2 weeks. All of them cause drowsiness; warn patients about driving and alcohol.</a:t>
            </a:r>
          </a:p>
          <a:p>
            <a:pPr>
              <a:spcAft>
                <a:spcPts val="800"/>
              </a:spcAft>
            </a:pPr>
            <a:r>
              <a:rPr sz="2100" i="0" b="0">
                <a:solidFill>
                  <a:srgbClr val="1A1F36"/>
                </a:solidFill>
                <a:latin typeface="Calibri"/>
              </a:rPr>
              <a:t>Many products in Egypt combine a relaxant with paracetamol or ibuprofen. Count every paracetamol-containing product the patient takes, because the maximum daily dose is easy to exceed.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Antispasmodic Drugs for Muscle Spasm</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1701143"/>
                <a:gridCol w="4363803"/>
                <a:gridCol w="5029468"/>
              </a:tblGrid>
              <a:tr h="640080">
                <a:tc>
                  <a:txBody>
                    <a:bodyPr/>
                    <a:lstStyle/>
                    <a:p>
                      <a:r>
                        <a:rPr sz="1500" i="0" b="1">
                          <a:solidFill>
                            <a:srgbClr val="FFFFFF"/>
                          </a:solidFill>
                          <a:latin typeface="Calibri"/>
                        </a:rPr>
                        <a:t>Drug</a:t>
                      </a:r>
                    </a:p>
                  </a:txBody>
                  <a:tcPr marL="109728" marR="109728" marT="45720" marB="45720" anchor="ctr">
                    <a:solidFill>
                      <a:srgbClr val="1B2A8C"/>
                    </a:solidFill>
                  </a:tcPr>
                </a:tc>
                <a:tc>
                  <a:txBody>
                    <a:bodyPr/>
                    <a:lstStyle/>
                    <a:p>
                      <a:r>
                        <a:rPr sz="1500" i="0" b="1">
                          <a:solidFill>
                            <a:srgbClr val="FFFFFF"/>
                          </a:solidFill>
                          <a:latin typeface="Calibri"/>
                        </a:rPr>
                        <a:t>Mechanism</a:t>
                      </a:r>
                    </a:p>
                  </a:txBody>
                  <a:tcPr marL="109728" marR="109728" marT="45720" marB="45720" anchor="ctr">
                    <a:solidFill>
                      <a:srgbClr val="1B2A8C"/>
                    </a:solidFill>
                  </a:tcPr>
                </a:tc>
                <a:tc>
                  <a:txBody>
                    <a:bodyPr/>
                    <a:lstStyle/>
                    <a:p>
                      <a:r>
                        <a:rPr sz="1500" i="0" b="1">
                          <a:solidFill>
                            <a:srgbClr val="FFFFFF"/>
                          </a:solidFill>
                          <a:latin typeface="Calibri"/>
                        </a:rPr>
                        <a:t>Key points</a:t>
                      </a:r>
                    </a:p>
                  </a:txBody>
                  <a:tcPr marL="109728" marR="109728" marT="45720" marB="45720" anchor="ctr">
                    <a:solidFill>
                      <a:srgbClr val="1B2A8C"/>
                    </a:solidFill>
                  </a:tcPr>
                </a:tc>
              </a:tr>
              <a:tr h="640080">
                <a:tc>
                  <a:txBody>
                    <a:bodyPr/>
                    <a:lstStyle/>
                    <a:p>
                      <a:r>
                        <a:rPr sz="1600" i="0" b="1">
                          <a:solidFill>
                            <a:srgbClr val="1A1F36"/>
                          </a:solidFill>
                          <a:latin typeface="Calibri"/>
                        </a:rPr>
                        <a:t>Cyclobenzaprine</a:t>
                      </a:r>
                    </a:p>
                  </a:txBody>
                  <a:tcPr marL="109728" marR="109728" marT="45720" marB="45720" anchor="ctr">
                    <a:solidFill>
                      <a:srgbClr val="FFFFFF"/>
                    </a:solidFill>
                  </a:tcPr>
                </a:tc>
                <a:tc>
                  <a:txBody>
                    <a:bodyPr/>
                    <a:lstStyle/>
                    <a:p>
                      <a:r>
                        <a:rPr sz="1600" i="0" b="0">
                          <a:solidFill>
                            <a:srgbClr val="1A1F36"/>
                          </a:solidFill>
                          <a:latin typeface="Calibri"/>
                        </a:rPr>
                        <a:t>Structurally related to TCAs; acts in the brainstem</a:t>
                      </a:r>
                    </a:p>
                  </a:txBody>
                  <a:tcPr marL="109728" marR="109728" marT="45720" marB="45720" anchor="ctr">
                    <a:solidFill>
                      <a:srgbClr val="FFFFFF"/>
                    </a:solidFill>
                  </a:tcPr>
                </a:tc>
                <a:tc>
                  <a:txBody>
                    <a:bodyPr/>
                    <a:lstStyle/>
                    <a:p>
                      <a:r>
                        <a:rPr sz="1600" i="0" b="0">
                          <a:solidFill>
                            <a:srgbClr val="1A1F36"/>
                          </a:solidFill>
                          <a:latin typeface="Calibri"/>
                        </a:rPr>
                        <a:t>Anticholinergic effects, sedation; serotonin syndrome with SSRIs or tramadol; do not use within 14 days of an MAO inhibitor; avoid in older people and heart disease</a:t>
                      </a:r>
                    </a:p>
                  </a:txBody>
                  <a:tcPr marL="109728" marR="109728" marT="45720" marB="45720" anchor="ctr">
                    <a:solidFill>
                      <a:srgbClr val="FFFFFF"/>
                    </a:solidFill>
                  </a:tcPr>
                </a:tc>
              </a:tr>
              <a:tr h="640080">
                <a:tc>
                  <a:txBody>
                    <a:bodyPr/>
                    <a:lstStyle/>
                    <a:p>
                      <a:r>
                        <a:rPr sz="1600" i="0" b="1">
                          <a:solidFill>
                            <a:srgbClr val="1A1F36"/>
                          </a:solidFill>
                          <a:latin typeface="Calibri"/>
                        </a:rPr>
                        <a:t>Orphenadrine</a:t>
                      </a:r>
                    </a:p>
                  </a:txBody>
                  <a:tcPr marL="109728" marR="109728" marT="45720" marB="45720" anchor="ctr">
                    <a:solidFill>
                      <a:srgbClr val="F1F2F8"/>
                    </a:solidFill>
                  </a:tcPr>
                </a:tc>
                <a:tc>
                  <a:txBody>
                    <a:bodyPr/>
                    <a:lstStyle/>
                    <a:p>
                      <a:r>
                        <a:rPr sz="1600" i="0" b="0">
                          <a:solidFill>
                            <a:srgbClr val="1A1F36"/>
                          </a:solidFill>
                          <a:latin typeface="Calibri"/>
                        </a:rPr>
                        <a:t>Anticholinergic, related to diphenhydramine</a:t>
                      </a:r>
                    </a:p>
                  </a:txBody>
                  <a:tcPr marL="109728" marR="109728" marT="45720" marB="45720" anchor="ctr">
                    <a:solidFill>
                      <a:srgbClr val="F1F2F8"/>
                    </a:solidFill>
                  </a:tcPr>
                </a:tc>
                <a:tc>
                  <a:txBody>
                    <a:bodyPr/>
                    <a:lstStyle/>
                    <a:p>
                      <a:r>
                        <a:rPr sz="1600" i="0" b="0">
                          <a:solidFill>
                            <a:srgbClr val="1A1F36"/>
                          </a:solidFill>
                          <a:latin typeface="Calibri"/>
                        </a:rPr>
                        <a:t>Dry mouth, urinary retention, confusion; avoid in glaucoma and prostatic enlargement; misused at high doses</a:t>
                      </a:r>
                    </a:p>
                  </a:txBody>
                  <a:tcPr marL="109728" marR="109728" marT="45720" marB="45720" anchor="ctr">
                    <a:solidFill>
                      <a:srgbClr val="F1F2F8"/>
                    </a:solidFill>
                  </a:tcPr>
                </a:tc>
              </a:tr>
              <a:tr h="640080">
                <a:tc>
                  <a:txBody>
                    <a:bodyPr/>
                    <a:lstStyle/>
                    <a:p>
                      <a:r>
                        <a:rPr sz="1600" i="0" b="1">
                          <a:solidFill>
                            <a:srgbClr val="1A1F36"/>
                          </a:solidFill>
                          <a:latin typeface="Calibri"/>
                        </a:rPr>
                        <a:t>Chlorzoxazone</a:t>
                      </a:r>
                    </a:p>
                  </a:txBody>
                  <a:tcPr marL="109728" marR="109728" marT="45720" marB="45720" anchor="ctr">
                    <a:solidFill>
                      <a:srgbClr val="FFFFFF"/>
                    </a:solidFill>
                  </a:tcPr>
                </a:tc>
                <a:tc>
                  <a:txBody>
                    <a:bodyPr/>
                    <a:lstStyle/>
                    <a:p>
                      <a:r>
                        <a:rPr sz="1600" i="0" b="0">
                          <a:solidFill>
                            <a:srgbClr val="1A1F36"/>
                          </a:solidFill>
                          <a:latin typeface="Calibri"/>
                        </a:rPr>
                        <a:t>Blocks polysynaptic spinal reflexes</a:t>
                      </a:r>
                    </a:p>
                  </a:txBody>
                  <a:tcPr marL="109728" marR="109728" marT="45720" marB="45720" anchor="ctr">
                    <a:solidFill>
                      <a:srgbClr val="FFFFFF"/>
                    </a:solidFill>
                  </a:tcPr>
                </a:tc>
                <a:tc>
                  <a:txBody>
                    <a:bodyPr/>
                    <a:lstStyle/>
                    <a:p>
                      <a:r>
                        <a:rPr sz="1600" i="0" b="0">
                          <a:solidFill>
                            <a:srgbClr val="1A1F36"/>
                          </a:solidFill>
                          <a:latin typeface="Calibri"/>
                        </a:rPr>
                        <a:t>Rare but serious liver injury; stop if jaundice occurs</a:t>
                      </a:r>
                    </a:p>
                  </a:txBody>
                  <a:tcPr marL="109728" marR="109728" marT="45720" marB="45720" anchor="ctr">
                    <a:solidFill>
                      <a:srgbClr val="FFFFFF"/>
                    </a:solidFill>
                  </a:tcPr>
                </a:tc>
              </a:tr>
              <a:tr h="640080">
                <a:tc>
                  <a:txBody>
                    <a:bodyPr/>
                    <a:lstStyle/>
                    <a:p>
                      <a:r>
                        <a:rPr sz="1600" i="0" b="1">
                          <a:solidFill>
                            <a:srgbClr val="1A1F36"/>
                          </a:solidFill>
                          <a:latin typeface="Calibri"/>
                        </a:rPr>
                        <a:t>Methocarbamol</a:t>
                      </a:r>
                    </a:p>
                  </a:txBody>
                  <a:tcPr marL="109728" marR="109728" marT="45720" marB="45720" anchor="ctr">
                    <a:solidFill>
                      <a:srgbClr val="F1F2F8"/>
                    </a:solidFill>
                  </a:tcPr>
                </a:tc>
                <a:tc>
                  <a:txBody>
                    <a:bodyPr/>
                    <a:lstStyle/>
                    <a:p>
                      <a:r>
                        <a:rPr sz="1600" i="0" b="0">
                          <a:solidFill>
                            <a:srgbClr val="1A1F36"/>
                          </a:solidFill>
                          <a:latin typeface="Calibri"/>
                        </a:rPr>
                        <a:t>Central depressant; exact mechanism unclear</a:t>
                      </a:r>
                    </a:p>
                  </a:txBody>
                  <a:tcPr marL="109728" marR="109728" marT="45720" marB="45720" anchor="ctr">
                    <a:solidFill>
                      <a:srgbClr val="F1F2F8"/>
                    </a:solidFill>
                  </a:tcPr>
                </a:tc>
                <a:tc>
                  <a:txBody>
                    <a:bodyPr/>
                    <a:lstStyle/>
                    <a:p>
                      <a:r>
                        <a:rPr sz="1600" i="0" b="0">
                          <a:solidFill>
                            <a:srgbClr val="1A1F36"/>
                          </a:solidFill>
                          <a:latin typeface="Calibri"/>
                        </a:rPr>
                        <a:t>Drowsiness, dizziness; low misuse potential; well tolerated</a:t>
                      </a:r>
                    </a:p>
                  </a:txBody>
                  <a:tcPr marL="109728" marR="109728" marT="45720" marB="45720" anchor="ctr">
                    <a:solidFill>
                      <a:srgbClr val="F1F2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Dantrolene: a Direct-Acting Relaxant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Dantrolene is a hydantoin derivative, related to phenytoin. It acts </a:t>
            </a:r>
            <a:r>
              <a:rPr sz="1700" i="0" b="1">
                <a:solidFill>
                  <a:srgbClr val="1A1F36"/>
                </a:solidFill>
                <a:latin typeface="Calibri"/>
              </a:rPr>
              <a:t>inside the muscle</a:t>
            </a:r>
            <a:r>
              <a:rPr sz="1700" i="0" b="0">
                <a:solidFill>
                  <a:srgbClr val="1A1F36"/>
                </a:solidFill>
                <a:latin typeface="Calibri"/>
              </a:rPr>
              <a:t>. It blocks the </a:t>
            </a:r>
            <a:r>
              <a:rPr sz="1700" i="0" b="1">
                <a:solidFill>
                  <a:srgbClr val="1A1F36"/>
                </a:solidFill>
                <a:latin typeface="Calibri"/>
              </a:rPr>
              <a:t>RyR1</a:t>
            </a:r>
            <a:r>
              <a:rPr sz="1700" i="0" b="0">
                <a:solidFill>
                  <a:srgbClr val="1A1F36"/>
                </a:solidFill>
                <a:latin typeface="Calibri"/>
              </a:rPr>
              <a:t> channel and so reduces Ca2+ release from the sarcoplasmic reticulum. Contraction becomes weaker. It has little effect on heart or smooth muscle.</a:t>
            </a:r>
          </a:p>
          <a:p>
            <a:pPr>
              <a:spcAft>
                <a:spcPts val="800"/>
              </a:spcAft>
            </a:pPr>
            <a:r>
              <a:rPr sz="1700" i="0" b="0">
                <a:solidFill>
                  <a:srgbClr val="1A1F36"/>
                </a:solidFill>
                <a:latin typeface="Calibri"/>
              </a:rPr>
              <a:t>Uses:</a:t>
            </a:r>
          </a:p>
          <a:p>
            <a:pPr>
              <a:spcAft>
                <a:spcPts val="800"/>
              </a:spcAft>
            </a:pPr>
            <a:r>
              <a:rPr sz="1700" i="0" b="0">
                <a:solidFill>
                  <a:srgbClr val="1A1F36"/>
                </a:solidFill>
                <a:latin typeface="Calibri"/>
              </a:rPr>
              <a:t>Adverse effects: muscle weakness, drowsiness, diarrhoea and </a:t>
            </a:r>
            <a:r>
              <a:rPr sz="1700" i="0" b="1">
                <a:solidFill>
                  <a:srgbClr val="1A1F36"/>
                </a:solidFill>
                <a:latin typeface="Calibri"/>
              </a:rPr>
              <a:t>liver injury</a:t>
            </a:r>
            <a:r>
              <a:rPr sz="1700" i="0" b="0">
                <a:solidFill>
                  <a:srgbClr val="1A1F36"/>
                </a:solidFill>
                <a:latin typeface="Calibri"/>
              </a:rPr>
              <a:t>, which carries a boxed warning with long-term oral use. Check liver function.</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0">
                <a:solidFill>
                  <a:srgbClr val="1A1F36"/>
                </a:solidFill>
                <a:latin typeface="Calibri"/>
              </a:rPr>
              <a:t>Chronic spasticity (oral), for example in multiple sclerosis or spinal cord injury.</a:t>
            </a:r>
          </a:p>
        </p:txBody>
      </p:sp>
      <p:sp>
        <p:nvSpPr>
          <p:cNvPr id="11" name="Oval 10"/>
          <p:cNvSpPr/>
          <p:nvPr/>
        </p:nvSpPr>
        <p:spPr>
          <a:xfrm>
            <a:off x="5394959"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1A1F36"/>
                </a:solidFill>
                <a:latin typeface="Calibri"/>
              </a:rPr>
              <a:t>Malignant hyperthermia</a:t>
            </a:r>
            <a:r>
              <a:rPr sz="2100" i="0" b="0">
                <a:solidFill>
                  <a:srgbClr val="1A1F36"/>
                </a:solidFill>
                <a:latin typeface="Calibri"/>
              </a:rPr>
              <a:t> (IV); it is the only specific treatment.</a:t>
            </a:r>
          </a:p>
        </p:txBody>
      </p:sp>
      <p:sp>
        <p:nvSpPr>
          <p:cNvPr id="13" name="Oval 12"/>
          <p:cNvSpPr/>
          <p:nvPr/>
        </p:nvSpPr>
        <p:spPr>
          <a:xfrm>
            <a:off x="5394959" y="394868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966971"/>
            <a:ext cx="5653735" cy="1142237"/>
          </a:xfrm>
          <a:prstGeom prst="rect">
            <a:avLst/>
          </a:prstGeom>
          <a:noFill/>
        </p:spPr>
        <p:txBody>
          <a:bodyPr wrap="square" anchor="t" lIns="0" rIns="0" tIns="0" bIns="0">
            <a:spAutoFit/>
          </a:bodyPr>
          <a:lstStyle/>
          <a:p>
            <a:r>
              <a:rPr sz="2100" i="0" b="0">
                <a:solidFill>
                  <a:srgbClr val="1A1F36"/>
                </a:solidFill>
                <a:latin typeface="Calibri"/>
              </a:rPr>
              <a:t>Neuroleptic malignant syndrome (sometimes).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Non-depolarising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NMBs are given IV during anaesthesia to allow tracheal intubation and to relax muscles for surgery. They are highly polar: they are not absorbed orally and do not cross the blood-brain barrier or placenta well.</a:t>
            </a:r>
          </a:p>
          <a:p>
            <a:pPr>
              <a:spcAft>
                <a:spcPts val="800"/>
              </a:spcAft>
            </a:pPr>
            <a:r>
              <a:rPr sz="2100" i="0" b="0">
                <a:solidFill>
                  <a:srgbClr val="1A1F36"/>
                </a:solidFill>
                <a:latin typeface="Calibri"/>
              </a:rPr>
              <a:t>Members: rocuronium, vecuronium, atracurium, cisatracurium and pancuronium.</a:t>
            </a:r>
          </a:p>
          <a:p>
            <a:pPr>
              <a:spcAft>
                <a:spcPts val="800"/>
              </a:spcAft>
            </a:pPr>
            <a:r>
              <a:rPr sz="2100" i="0" b="1">
                <a:solidFill>
                  <a:srgbClr val="1A1F36"/>
                </a:solidFill>
                <a:latin typeface="Calibri"/>
              </a:rPr>
              <a:t>Mechanism:</a:t>
            </a:r>
            <a:r>
              <a:rPr sz="2100" i="0" b="0">
                <a:solidFill>
                  <a:srgbClr val="1A1F36"/>
                </a:solidFill>
                <a:latin typeface="Calibri"/>
              </a:rPr>
              <a:t> competitive antagonists at the Nm receptor. They block ACh without activating the receptor. More ACh can overcome the block.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Non-depolarising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925476"/>
                <a:gridCol w="2934060"/>
                <a:gridCol w="6234877"/>
              </a:tblGrid>
              <a:tr h="640080">
                <a:tc>
                  <a:txBody>
                    <a:bodyPr/>
                    <a:lstStyle/>
                    <a:p>
                      <a:r>
                        <a:rPr sz="1500" i="0" b="1">
                          <a:solidFill>
                            <a:srgbClr val="FFFFFF"/>
                          </a:solidFill>
                          <a:latin typeface="Calibri"/>
                        </a:rPr>
                        <a:t>Drug</a:t>
                      </a:r>
                    </a:p>
                  </a:txBody>
                  <a:tcPr marL="109728" marR="109728" marT="45720" marB="45720" anchor="ctr">
                    <a:solidFill>
                      <a:srgbClr val="1B2A8C"/>
                    </a:solidFill>
                  </a:tcPr>
                </a:tc>
                <a:tc>
                  <a:txBody>
                    <a:bodyPr/>
                    <a:lstStyle/>
                    <a:p>
                      <a:r>
                        <a:rPr sz="1500" i="0" b="1">
                          <a:solidFill>
                            <a:srgbClr val="FFFFFF"/>
                          </a:solidFill>
                          <a:latin typeface="Calibri"/>
                        </a:rPr>
                        <a:t>Onset and duration</a:t>
                      </a:r>
                    </a:p>
                  </a:txBody>
                  <a:tcPr marL="109728" marR="109728" marT="45720" marB="45720" anchor="ctr">
                    <a:solidFill>
                      <a:srgbClr val="1B2A8C"/>
                    </a:solidFill>
                  </a:tcPr>
                </a:tc>
                <a:tc>
                  <a:txBody>
                    <a:bodyPr/>
                    <a:lstStyle/>
                    <a:p>
                      <a:r>
                        <a:rPr sz="1500" i="0" b="1">
                          <a:solidFill>
                            <a:srgbClr val="FFFFFF"/>
                          </a:solidFill>
                          <a:latin typeface="Calibri"/>
                        </a:rPr>
                        <a:t>Elimination and notes</a:t>
                      </a:r>
                    </a:p>
                  </a:txBody>
                  <a:tcPr marL="109728" marR="109728" marT="45720" marB="45720" anchor="ctr">
                    <a:solidFill>
                      <a:srgbClr val="1B2A8C"/>
                    </a:solidFill>
                  </a:tcPr>
                </a:tc>
              </a:tr>
              <a:tr h="640080">
                <a:tc>
                  <a:txBody>
                    <a:bodyPr/>
                    <a:lstStyle/>
                    <a:p>
                      <a:r>
                        <a:rPr sz="1600" i="0" b="1">
                          <a:solidFill>
                            <a:srgbClr val="1A1F36"/>
                          </a:solidFill>
                          <a:latin typeface="Calibri"/>
                        </a:rPr>
                        <a:t>Rocuronium</a:t>
                      </a:r>
                    </a:p>
                  </a:txBody>
                  <a:tcPr marL="109728" marR="109728" marT="45720" marB="45720" anchor="ctr">
                    <a:solidFill>
                      <a:srgbClr val="FFFFFF"/>
                    </a:solidFill>
                  </a:tcPr>
                </a:tc>
                <a:tc>
                  <a:txBody>
                    <a:bodyPr/>
                    <a:lstStyle/>
                    <a:p>
                      <a:r>
                        <a:rPr sz="1600" i="0" b="0">
                          <a:solidFill>
                            <a:srgbClr val="1A1F36"/>
                          </a:solidFill>
                          <a:latin typeface="Calibri"/>
                        </a:rPr>
                        <a:t>Fast onset; intermediate</a:t>
                      </a:r>
                    </a:p>
                  </a:txBody>
                  <a:tcPr marL="109728" marR="109728" marT="45720" marB="45720" anchor="ctr">
                    <a:solidFill>
                      <a:srgbClr val="FFFFFF"/>
                    </a:solidFill>
                  </a:tcPr>
                </a:tc>
                <a:tc>
                  <a:txBody>
                    <a:bodyPr/>
                    <a:lstStyle/>
                    <a:p>
                      <a:r>
                        <a:rPr sz="1600" i="0" b="0">
                          <a:solidFill>
                            <a:srgbClr val="1A1F36"/>
                          </a:solidFill>
                          <a:latin typeface="Calibri"/>
                        </a:rPr>
                        <a:t>Liver (bile); used for rapid intubation; reversed by sugammadex</a:t>
                      </a:r>
                    </a:p>
                  </a:txBody>
                  <a:tcPr marL="109728" marR="109728" marT="45720" marB="45720" anchor="ctr">
                    <a:solidFill>
                      <a:srgbClr val="FFFFFF"/>
                    </a:solidFill>
                  </a:tcPr>
                </a:tc>
              </a:tr>
              <a:tr h="640080">
                <a:tc>
                  <a:txBody>
                    <a:bodyPr/>
                    <a:lstStyle/>
                    <a:p>
                      <a:r>
                        <a:rPr sz="1600" i="0" b="1">
                          <a:solidFill>
                            <a:srgbClr val="1A1F36"/>
                          </a:solidFill>
                          <a:latin typeface="Calibri"/>
                        </a:rPr>
                        <a:t>Vecuronium</a:t>
                      </a:r>
                    </a:p>
                  </a:txBody>
                  <a:tcPr marL="109728" marR="109728" marT="45720" marB="45720" anchor="ctr">
                    <a:solidFill>
                      <a:srgbClr val="F1F2F8"/>
                    </a:solidFill>
                  </a:tcPr>
                </a:tc>
                <a:tc>
                  <a:txBody>
                    <a:bodyPr/>
                    <a:lstStyle/>
                    <a:p>
                      <a:r>
                        <a:rPr sz="1600" i="0" b="0">
                          <a:solidFill>
                            <a:srgbClr val="1A1F36"/>
                          </a:solidFill>
                          <a:latin typeface="Calibri"/>
                        </a:rPr>
                        <a:t>Intermediate</a:t>
                      </a:r>
                    </a:p>
                  </a:txBody>
                  <a:tcPr marL="109728" marR="109728" marT="45720" marB="45720" anchor="ctr">
                    <a:solidFill>
                      <a:srgbClr val="F1F2F8"/>
                    </a:solidFill>
                  </a:tcPr>
                </a:tc>
                <a:tc>
                  <a:txBody>
                    <a:bodyPr/>
                    <a:lstStyle/>
                    <a:p>
                      <a:r>
                        <a:rPr sz="1600" i="0" b="0">
                          <a:solidFill>
                            <a:srgbClr val="1A1F36"/>
                          </a:solidFill>
                          <a:latin typeface="Calibri"/>
                        </a:rPr>
                        <a:t>Liver; active metabolite (3-desacetyl) can build up in kidney failure and in intensive care</a:t>
                      </a:r>
                    </a:p>
                  </a:txBody>
                  <a:tcPr marL="109728" marR="109728" marT="45720" marB="45720" anchor="ctr">
                    <a:solidFill>
                      <a:srgbClr val="F1F2F8"/>
                    </a:solidFill>
                  </a:tcPr>
                </a:tc>
              </a:tr>
              <a:tr h="640080">
                <a:tc>
                  <a:txBody>
                    <a:bodyPr/>
                    <a:lstStyle/>
                    <a:p>
                      <a:r>
                        <a:rPr sz="1600" i="0" b="1">
                          <a:solidFill>
                            <a:srgbClr val="1A1F36"/>
                          </a:solidFill>
                          <a:latin typeface="Calibri"/>
                        </a:rPr>
                        <a:t>Atracurium</a:t>
                      </a:r>
                    </a:p>
                  </a:txBody>
                  <a:tcPr marL="109728" marR="109728" marT="45720" marB="45720" anchor="ctr">
                    <a:solidFill>
                      <a:srgbClr val="FFFFFF"/>
                    </a:solidFill>
                  </a:tcPr>
                </a:tc>
                <a:tc>
                  <a:txBody>
                    <a:bodyPr/>
                    <a:lstStyle/>
                    <a:p>
                      <a:r>
                        <a:rPr sz="1600" i="0" b="0">
                          <a:solidFill>
                            <a:srgbClr val="1A1F36"/>
                          </a:solidFill>
                          <a:latin typeface="Calibri"/>
                        </a:rPr>
                        <a:t>Intermediate</a:t>
                      </a:r>
                    </a:p>
                  </a:txBody>
                  <a:tcPr marL="109728" marR="109728" marT="45720" marB="45720" anchor="ctr">
                    <a:solidFill>
                      <a:srgbClr val="FFFFFF"/>
                    </a:solidFill>
                  </a:tcPr>
                </a:tc>
                <a:tc>
                  <a:txBody>
                    <a:bodyPr/>
                    <a:lstStyle/>
                    <a:p>
                      <a:r>
                        <a:rPr sz="1600" i="0" b="0">
                          <a:solidFill>
                            <a:srgbClr val="1A1F36"/>
                          </a:solidFill>
                          <a:latin typeface="Calibri"/>
                        </a:rPr>
                        <a:t>Hofmann elimination in plasma; releases histamine (flushing, hypotension)</a:t>
                      </a:r>
                    </a:p>
                  </a:txBody>
                  <a:tcPr marL="109728" marR="109728" marT="45720" marB="45720" anchor="ctr">
                    <a:solidFill>
                      <a:srgbClr val="FFFFFF"/>
                    </a:solidFill>
                  </a:tcPr>
                </a:tc>
              </a:tr>
              <a:tr h="640080">
                <a:tc>
                  <a:txBody>
                    <a:bodyPr/>
                    <a:lstStyle/>
                    <a:p>
                      <a:r>
                        <a:rPr sz="1600" i="0" b="1">
                          <a:solidFill>
                            <a:srgbClr val="1A1F36"/>
                          </a:solidFill>
                          <a:latin typeface="Calibri"/>
                        </a:rPr>
                        <a:t>Cisatracurium</a:t>
                      </a:r>
                    </a:p>
                  </a:txBody>
                  <a:tcPr marL="109728" marR="109728" marT="45720" marB="45720" anchor="ctr">
                    <a:solidFill>
                      <a:srgbClr val="F1F2F8"/>
                    </a:solidFill>
                  </a:tcPr>
                </a:tc>
                <a:tc>
                  <a:txBody>
                    <a:bodyPr/>
                    <a:lstStyle/>
                    <a:p>
                      <a:r>
                        <a:rPr sz="1600" i="0" b="0">
                          <a:solidFill>
                            <a:srgbClr val="1A1F36"/>
                          </a:solidFill>
                          <a:latin typeface="Calibri"/>
                        </a:rPr>
                        <a:t>Intermediate</a:t>
                      </a:r>
                    </a:p>
                  </a:txBody>
                  <a:tcPr marL="109728" marR="109728" marT="45720" marB="45720" anchor="ctr">
                    <a:solidFill>
                      <a:srgbClr val="F1F2F8"/>
                    </a:solidFill>
                  </a:tcPr>
                </a:tc>
                <a:tc>
                  <a:txBody>
                    <a:bodyPr/>
                    <a:lstStyle/>
                    <a:p>
                      <a:r>
                        <a:rPr sz="1600" i="0" b="0">
                          <a:solidFill>
                            <a:srgbClr val="1A1F36"/>
                          </a:solidFill>
                          <a:latin typeface="Calibri"/>
                        </a:rPr>
                        <a:t>Hofmann elimination; little histamine release; suitable in liver and kidney failure</a:t>
                      </a:r>
                    </a:p>
                  </a:txBody>
                  <a:tcPr marL="109728" marR="109728" marT="45720" marB="45720" anchor="ctr">
                    <a:solidFill>
                      <a:srgbClr val="F1F2F8"/>
                    </a:solidFill>
                  </a:tcPr>
                </a:tc>
              </a:tr>
              <a:tr h="640080">
                <a:tc>
                  <a:txBody>
                    <a:bodyPr/>
                    <a:lstStyle/>
                    <a:p>
                      <a:r>
                        <a:rPr sz="1600" i="0" b="1">
                          <a:solidFill>
                            <a:srgbClr val="1A1F36"/>
                          </a:solidFill>
                          <a:latin typeface="Calibri"/>
                        </a:rPr>
                        <a:t>Pancuronium</a:t>
                      </a:r>
                    </a:p>
                  </a:txBody>
                  <a:tcPr marL="109728" marR="109728" marT="45720" marB="45720" anchor="ctr">
                    <a:solidFill>
                      <a:srgbClr val="FFFFFF"/>
                    </a:solidFill>
                  </a:tcPr>
                </a:tc>
                <a:tc>
                  <a:txBody>
                    <a:bodyPr/>
                    <a:lstStyle/>
                    <a:p>
                      <a:r>
                        <a:rPr sz="1600" i="0" b="0">
                          <a:solidFill>
                            <a:srgbClr val="1A1F36"/>
                          </a:solidFill>
                          <a:latin typeface="Calibri"/>
                        </a:rPr>
                        <a:t>Long</a:t>
                      </a:r>
                    </a:p>
                  </a:txBody>
                  <a:tcPr marL="109728" marR="109728" marT="45720" marB="45720" anchor="ctr">
                    <a:solidFill>
                      <a:srgbClr val="FFFFFF"/>
                    </a:solidFill>
                  </a:tcPr>
                </a:tc>
                <a:tc>
                  <a:txBody>
                    <a:bodyPr/>
                    <a:lstStyle/>
                    <a:p>
                      <a:r>
                        <a:rPr sz="1600" i="0" b="0">
                          <a:solidFill>
                            <a:srgbClr val="1A1F36"/>
                          </a:solidFill>
                          <a:latin typeface="Calibri"/>
                        </a:rPr>
                        <a:t>Mainly renal, partly liver, with an active metabolite; causes tachycardia (vagal block)</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Non-depolarising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Reversal:</a:t>
            </a:r>
          </a:p>
        </p:txBody>
      </p:sp>
      <p:sp>
        <p:nvSpPr>
          <p:cNvPr id="9" name="Oval 8"/>
          <p:cNvSpPr/>
          <p:nvPr/>
        </p:nvSpPr>
        <p:spPr>
          <a:xfrm>
            <a:off x="548640" y="225399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1808988"/>
          </a:xfrm>
          <a:prstGeom prst="rect">
            <a:avLst/>
          </a:prstGeom>
          <a:noFill/>
        </p:spPr>
        <p:txBody>
          <a:bodyPr wrap="square" anchor="t" lIns="0" rIns="0" tIns="0" bIns="0">
            <a:spAutoFit/>
          </a:bodyPr>
          <a:lstStyle/>
          <a:p>
            <a:r>
              <a:rPr sz="2100" i="0" b="1">
                <a:solidFill>
                  <a:srgbClr val="1A1F36"/>
                </a:solidFill>
                <a:latin typeface="Calibri"/>
              </a:rPr>
              <a:t>Neostigmine</a:t>
            </a:r>
            <a:r>
              <a:rPr sz="2100" i="0" b="0">
                <a:solidFill>
                  <a:srgbClr val="1A1F36"/>
                </a:solidFill>
                <a:latin typeface="Calibri"/>
              </a:rPr>
              <a:t> inhibits acetylcholinesterase, so ACh rises and competes with the blocker. It also raises ACh at muscarinic receptors, causing bradycardia, salivation and bronchospasm. So it is always given with an antimuscarinic, </a:t>
            </a:r>
            <a:r>
              <a:rPr sz="2100" i="0" b="1">
                <a:solidFill>
                  <a:srgbClr val="1A1F36"/>
                </a:solidFill>
                <a:latin typeface="Calibri"/>
              </a:rPr>
              <a:t>glycopyrrolate</a:t>
            </a:r>
            <a:r>
              <a:rPr sz="2100" i="0" b="0">
                <a:solidFill>
                  <a:srgbClr val="1A1F36"/>
                </a:solidFill>
                <a:latin typeface="Calibri"/>
              </a:rPr>
              <a:t> (or atropine).</a:t>
            </a:r>
          </a:p>
        </p:txBody>
      </p:sp>
      <p:sp>
        <p:nvSpPr>
          <p:cNvPr id="11" name="Oval 10"/>
          <p:cNvSpPr/>
          <p:nvPr/>
        </p:nvSpPr>
        <p:spPr>
          <a:xfrm>
            <a:off x="548640" y="410870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126991"/>
            <a:ext cx="10500055" cy="1808988"/>
          </a:xfrm>
          <a:prstGeom prst="rect">
            <a:avLst/>
          </a:prstGeom>
          <a:noFill/>
        </p:spPr>
        <p:txBody>
          <a:bodyPr wrap="square" anchor="t" lIns="0" rIns="0" tIns="0" bIns="0">
            <a:spAutoFit/>
          </a:bodyPr>
          <a:lstStyle/>
          <a:p>
            <a:r>
              <a:rPr sz="2100" i="0" b="1">
                <a:solidFill>
                  <a:srgbClr val="1A1F36"/>
                </a:solidFill>
                <a:latin typeface="Calibri"/>
              </a:rPr>
              <a:t>Sugammadex</a:t>
            </a:r>
            <a:r>
              <a:rPr sz="2100" i="0" b="0">
                <a:solidFill>
                  <a:srgbClr val="1A1F36"/>
                </a:solidFill>
                <a:latin typeface="Calibri"/>
              </a:rPr>
              <a:t> binds rocuronium (and vecuronium) in the plasma and removes it from the junction. It reverses even a deep block quickly and has no muscarinic effects. It can reduce the effect of hormonal contraceptives; advise a back-up method for 7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Residual paralysis after surgery is a real risk. It causes weak breathing and aspiration. Monitor with a nerve stimulator (train-of-four) before extubation.</a:t>
            </a:r>
          </a:p>
          <a:p>
            <a:pPr>
              <a:spcAft>
                <a:spcPts val="800"/>
              </a:spcAft>
            </a:pPr>
            <a:r>
              <a:rPr sz="2100" i="0" b="0">
                <a:solidFill>
                  <a:srgbClr val="1A1F36"/>
                </a:solidFill>
                <a:latin typeface="Calibri"/>
              </a:rPr>
              <a:t>Succinylcholine (suxamethonium) is two ACh molecules joined together. It is not broken down by synaptic acetylcholinesterase. It is rapidly hydrolysed by </a:t>
            </a:r>
            <a:r>
              <a:rPr sz="2100" i="0" b="1">
                <a:solidFill>
                  <a:srgbClr val="1A1F36"/>
                </a:solidFill>
                <a:latin typeface="Calibri"/>
              </a:rPr>
              <a:t>plasma cholinesterase</a:t>
            </a:r>
            <a:r>
              <a:rPr sz="2100" i="0" b="0">
                <a:solidFill>
                  <a:srgbClr val="1A1F36"/>
                </a:solidFill>
                <a:latin typeface="Calibri"/>
              </a:rPr>
              <a:t> (pseudocholinesterase). It has the fastest onset (about 1 minute) and a short action (5 to 10 minutes). It is used for rapid intubation.</a:t>
            </a:r>
          </a:p>
          <a:p>
            <a:pPr>
              <a:spcAft>
                <a:spcPts val="800"/>
              </a:spcAft>
            </a:pPr>
            <a:r>
              <a:rPr sz="2100" i="0" b="1">
                <a:solidFill>
                  <a:srgbClr val="1A1F36"/>
                </a:solidFill>
                <a:latin typeface="Calibri"/>
              </a:rPr>
              <a:t>Mechanism in two phases: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1">
                <a:solidFill>
                  <a:srgbClr val="1A1F36"/>
                </a:solidFill>
                <a:latin typeface="Calibri"/>
              </a:rPr>
              <a:t>Phase I (depolarising block):</a:t>
            </a:r>
            <a:r>
              <a:rPr sz="2100" i="0" b="0">
                <a:solidFill>
                  <a:srgbClr val="1A1F36"/>
                </a:solidFill>
                <a:latin typeface="Calibri"/>
              </a:rPr>
              <a:t> succinylcholine activates Nm receptors and holds the end-plate in a state of </a:t>
            </a:r>
            <a:r>
              <a:rPr sz="2100" i="0" b="1">
                <a:solidFill>
                  <a:srgbClr val="1A1F36"/>
                </a:solidFill>
                <a:latin typeface="Calibri"/>
              </a:rPr>
              <a:t>persistent depolarisation</a:t>
            </a:r>
            <a:r>
              <a:rPr sz="2100" i="0" b="0">
                <a:solidFill>
                  <a:srgbClr val="1A1F36"/>
                </a:solidFill>
                <a:latin typeface="Calibri"/>
              </a:rPr>
              <a:t>. Brief muscle twitches (fasciculations) are seen, then flaccid paralysis. The Na+ channels near the end-plate stay inactivated. Neostigmine </a:t>
            </a:r>
            <a:r>
              <a:rPr sz="2100" i="0" b="1">
                <a:solidFill>
                  <a:srgbClr val="1A1F36"/>
                </a:solidFill>
                <a:latin typeface="Calibri"/>
              </a:rPr>
              <a:t>worsens</a:t>
            </a:r>
            <a:r>
              <a:rPr sz="2100" i="0" b="0">
                <a:solidFill>
                  <a:srgbClr val="1A1F36"/>
                </a:solidFill>
                <a:latin typeface="Calibri"/>
              </a:rPr>
              <a:t> this phase.</a:t>
            </a:r>
          </a:p>
        </p:txBody>
      </p:sp>
      <p:sp>
        <p:nvSpPr>
          <p:cNvPr id="10" name="Oval 9"/>
          <p:cNvSpPr/>
          <p:nvPr/>
        </p:nvSpPr>
        <p:spPr>
          <a:xfrm>
            <a:off x="548640" y="342747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3445764"/>
            <a:ext cx="10500055" cy="1475612"/>
          </a:xfrm>
          <a:prstGeom prst="rect">
            <a:avLst/>
          </a:prstGeom>
          <a:noFill/>
        </p:spPr>
        <p:txBody>
          <a:bodyPr wrap="square" anchor="t" lIns="0" rIns="0" tIns="0" bIns="0">
            <a:spAutoFit/>
          </a:bodyPr>
          <a:lstStyle/>
          <a:p>
            <a:r>
              <a:rPr sz="2100" i="0" b="1">
                <a:solidFill>
                  <a:srgbClr val="1A1F36"/>
                </a:solidFill>
                <a:latin typeface="Calibri"/>
              </a:rPr>
              <a:t>Phase II (desensitising block):</a:t>
            </a:r>
            <a:r>
              <a:rPr sz="2100" i="0" b="0">
                <a:solidFill>
                  <a:srgbClr val="1A1F36"/>
                </a:solidFill>
                <a:latin typeface="Calibri"/>
              </a:rPr>
              <a:t> with long exposure or large doses, the membrane repolarises, but the receptors become desensitised. This block resembles a non-depolarising block.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Adverse effects:</a:t>
            </a:r>
          </a:p>
        </p:txBody>
      </p:sp>
      <p:graphicFrame>
        <p:nvGraphicFramePr>
          <p:cNvPr id="9" name="Table 8"/>
          <p:cNvGraphicFramePr>
            <a:graphicFrameLocks noGrp="1"/>
          </p:cNvGraphicFramePr>
          <p:nvPr/>
        </p:nvGraphicFramePr>
        <p:xfrm>
          <a:off x="548640" y="2235708"/>
          <a:ext cx="11094414" cy="3936492"/>
        </p:xfrm>
        <a:graphic>
          <a:graphicData uri="http://schemas.openxmlformats.org/drawingml/2006/table">
            <a:tbl>
              <a:tblPr firstRow="0" bandRow="0">
                <a:tableStyleId>{5C22544A-7EE6-4342-B048-85BDC9FD1C3A}</a:tableStyleId>
              </a:tblPr>
              <a:tblGrid>
                <a:gridCol w="5464413"/>
                <a:gridCol w="5630001"/>
              </a:tblGrid>
              <a:tr h="562356">
                <a:tc>
                  <a:txBody>
                    <a:bodyPr/>
                    <a:lstStyle/>
                    <a:p>
                      <a:r>
                        <a:rPr sz="1300" i="0" b="1">
                          <a:solidFill>
                            <a:srgbClr val="FFFFFF"/>
                          </a:solidFill>
                          <a:latin typeface="Calibri"/>
                        </a:rPr>
                        <a:t>Effect</a:t>
                      </a:r>
                    </a:p>
                  </a:txBody>
                  <a:tcPr marL="109728" marR="109728" marT="45720" marB="45720" anchor="ctr">
                    <a:solidFill>
                      <a:srgbClr val="1B2A8C"/>
                    </a:solidFill>
                  </a:tcPr>
                </a:tc>
                <a:tc>
                  <a:txBody>
                    <a:bodyPr/>
                    <a:lstStyle/>
                    <a:p>
                      <a:r>
                        <a:rPr sz="1300" i="0" b="1">
                          <a:solidFill>
                            <a:srgbClr val="FFFFFF"/>
                          </a:solidFill>
                          <a:latin typeface="Calibri"/>
                        </a:rPr>
                        <a:t>Cause and at-risk patients</a:t>
                      </a:r>
                    </a:p>
                  </a:txBody>
                  <a:tcPr marL="109728" marR="109728" marT="45720" marB="45720" anchor="ctr">
                    <a:solidFill>
                      <a:srgbClr val="1B2A8C"/>
                    </a:solidFill>
                  </a:tcPr>
                </a:tc>
              </a:tr>
              <a:tr h="562356">
                <a:tc>
                  <a:txBody>
                    <a:bodyPr/>
                    <a:lstStyle/>
                    <a:p>
                      <a:r>
                        <a:rPr sz="1400" i="0" b="1">
                          <a:solidFill>
                            <a:srgbClr val="1A1F36"/>
                          </a:solidFill>
                          <a:latin typeface="Calibri"/>
                        </a:rPr>
                        <a:t>Hyperkalaemia</a:t>
                      </a:r>
                    </a:p>
                  </a:txBody>
                  <a:tcPr marL="109728" marR="109728" marT="45720" marB="45720" anchor="ctr">
                    <a:solidFill>
                      <a:srgbClr val="FFFFFF"/>
                    </a:solidFill>
                  </a:tcPr>
                </a:tc>
                <a:tc>
                  <a:txBody>
                    <a:bodyPr/>
                    <a:lstStyle/>
                    <a:p>
                      <a:r>
                        <a:rPr sz="1400" i="0" b="0">
                          <a:solidFill>
                            <a:srgbClr val="1A1F36"/>
                          </a:solidFill>
                          <a:latin typeface="Calibri"/>
                        </a:rPr>
                        <a:t>K+ leaves depolarised muscle; dangerous after burns, crush injury, denervation or long immobility; can cause cardiac arrest</a:t>
                      </a:r>
                    </a:p>
                  </a:txBody>
                  <a:tcPr marL="109728" marR="109728" marT="45720" marB="45720" anchor="ctr">
                    <a:solidFill>
                      <a:srgbClr val="FFFFFF"/>
                    </a:solidFill>
                  </a:tcPr>
                </a:tc>
              </a:tr>
              <a:tr h="562356">
                <a:tc>
                  <a:txBody>
                    <a:bodyPr/>
                    <a:lstStyle/>
                    <a:p>
                      <a:r>
                        <a:rPr sz="1400" i="0" b="1">
                          <a:solidFill>
                            <a:srgbClr val="1A1F36"/>
                          </a:solidFill>
                          <a:latin typeface="Calibri"/>
                        </a:rPr>
                        <a:t>Bradycardia</a:t>
                      </a:r>
                    </a:p>
                  </a:txBody>
                  <a:tcPr marL="109728" marR="109728" marT="45720" marB="45720" anchor="ctr">
                    <a:solidFill>
                      <a:srgbClr val="F1F2F8"/>
                    </a:solidFill>
                  </a:tcPr>
                </a:tc>
                <a:tc>
                  <a:txBody>
                    <a:bodyPr/>
                    <a:lstStyle/>
                    <a:p>
                      <a:r>
                        <a:rPr sz="1400" i="0" b="0">
                          <a:solidFill>
                            <a:srgbClr val="1A1F36"/>
                          </a:solidFill>
                          <a:latin typeface="Calibri"/>
                        </a:rPr>
                        <a:t>Muscarinic stimulation, especially after a second dose and in children; treat with atropine</a:t>
                      </a:r>
                    </a:p>
                  </a:txBody>
                  <a:tcPr marL="109728" marR="109728" marT="45720" marB="45720" anchor="ctr">
                    <a:solidFill>
                      <a:srgbClr val="F1F2F8"/>
                    </a:solidFill>
                  </a:tcPr>
                </a:tc>
              </a:tr>
              <a:tr h="562356">
                <a:tc>
                  <a:txBody>
                    <a:bodyPr/>
                    <a:lstStyle/>
                    <a:p>
                      <a:r>
                        <a:rPr sz="1400" i="0" b="1">
                          <a:solidFill>
                            <a:srgbClr val="1A1F36"/>
                          </a:solidFill>
                          <a:latin typeface="Calibri"/>
                        </a:rPr>
                        <a:t>Postoperative muscle pain</a:t>
                      </a:r>
                    </a:p>
                  </a:txBody>
                  <a:tcPr marL="109728" marR="109728" marT="45720" marB="45720" anchor="ctr">
                    <a:solidFill>
                      <a:srgbClr val="FFFFFF"/>
                    </a:solidFill>
                  </a:tcPr>
                </a:tc>
                <a:tc>
                  <a:txBody>
                    <a:bodyPr/>
                    <a:lstStyle/>
                    <a:p>
                      <a:r>
                        <a:rPr sz="1400" i="0" b="0">
                          <a:solidFill>
                            <a:srgbClr val="1A1F36"/>
                          </a:solidFill>
                          <a:latin typeface="Calibri"/>
                        </a:rPr>
                        <a:t>Fasciculations</a:t>
                      </a:r>
                    </a:p>
                  </a:txBody>
                  <a:tcPr marL="109728" marR="109728" marT="45720" marB="45720" anchor="ctr">
                    <a:solidFill>
                      <a:srgbClr val="FFFFFF"/>
                    </a:solidFill>
                  </a:tcPr>
                </a:tc>
              </a:tr>
              <a:tr h="562356">
                <a:tc>
                  <a:txBody>
                    <a:bodyPr/>
                    <a:lstStyle/>
                    <a:p>
                      <a:r>
                        <a:rPr sz="1400" i="0" b="1">
                          <a:solidFill>
                            <a:srgbClr val="1A1F36"/>
                          </a:solidFill>
                          <a:latin typeface="Calibri"/>
                        </a:rPr>
                        <a:t>Raised intraocular, intragastric and intracranial pressure</a:t>
                      </a:r>
                    </a:p>
                  </a:txBody>
                  <a:tcPr marL="109728" marR="109728" marT="45720" marB="45720" anchor="ctr">
                    <a:solidFill>
                      <a:srgbClr val="F1F2F8"/>
                    </a:solidFill>
                  </a:tcPr>
                </a:tc>
                <a:tc>
                  <a:txBody>
                    <a:bodyPr/>
                    <a:lstStyle/>
                    <a:p>
                      <a:r>
                        <a:rPr sz="1400" i="0" b="0">
                          <a:solidFill>
                            <a:srgbClr val="1A1F36"/>
                          </a:solidFill>
                          <a:latin typeface="Calibri"/>
                        </a:rPr>
                        <a:t>Muscle contraction; care in open eye injury</a:t>
                      </a:r>
                    </a:p>
                  </a:txBody>
                  <a:tcPr marL="109728" marR="109728" marT="45720" marB="45720" anchor="ctr">
                    <a:solidFill>
                      <a:srgbClr val="F1F2F8"/>
                    </a:solidFill>
                  </a:tcPr>
                </a:tc>
              </a:tr>
              <a:tr h="562356">
                <a:tc>
                  <a:txBody>
                    <a:bodyPr/>
                    <a:lstStyle/>
                    <a:p>
                      <a:r>
                        <a:rPr sz="1400" i="0" b="1">
                          <a:solidFill>
                            <a:srgbClr val="1A1F36"/>
                          </a:solidFill>
                          <a:latin typeface="Calibri"/>
                        </a:rPr>
                        <a:t>Prolonged apnoea</a:t>
                      </a:r>
                    </a:p>
                  </a:txBody>
                  <a:tcPr marL="109728" marR="109728" marT="45720" marB="45720" anchor="ctr">
                    <a:solidFill>
                      <a:srgbClr val="FFFFFF"/>
                    </a:solidFill>
                  </a:tcPr>
                </a:tc>
                <a:tc>
                  <a:txBody>
                    <a:bodyPr/>
                    <a:lstStyle/>
                    <a:p>
                      <a:r>
                        <a:rPr sz="1400" i="0" b="0">
                          <a:solidFill>
                            <a:srgbClr val="1A1F36"/>
                          </a:solidFill>
                          <a:latin typeface="Calibri"/>
                        </a:rPr>
                        <a:t>Low or atypical plasma cholinesterase (genetic, liver disease); ventilate until recovery</a:t>
                      </a:r>
                    </a:p>
                  </a:txBody>
                  <a:tcPr marL="109728" marR="109728" marT="45720" marB="45720" anchor="ctr">
                    <a:solidFill>
                      <a:srgbClr val="FFFFFF"/>
                    </a:solidFill>
                  </a:tcPr>
                </a:tc>
              </a:tr>
              <a:tr h="562356">
                <a:tc>
                  <a:txBody>
                    <a:bodyPr/>
                    <a:lstStyle/>
                    <a:p>
                      <a:r>
                        <a:rPr sz="1400" i="0" b="1">
                          <a:solidFill>
                            <a:srgbClr val="1A1F36"/>
                          </a:solidFill>
                          <a:latin typeface="Calibri"/>
                        </a:rPr>
                        <a:t>Malignant hyperthermia</a:t>
                      </a:r>
                    </a:p>
                  </a:txBody>
                  <a:tcPr marL="109728" marR="109728" marT="45720" marB="45720" anchor="ctr">
                    <a:solidFill>
                      <a:srgbClr val="F1F2F8"/>
                    </a:solidFill>
                  </a:tcPr>
                </a:tc>
                <a:tc>
                  <a:txBody>
                    <a:bodyPr/>
                    <a:lstStyle/>
                    <a:p>
                      <a:r>
                        <a:rPr sz="1400" i="0" b="0">
                          <a:solidFill>
                            <a:srgbClr val="1A1F36"/>
                          </a:solidFill>
                          <a:latin typeface="Calibri"/>
                        </a:rPr>
                        <a:t>With volatile anaesthetics, in genetically susceptible patients</a:t>
                      </a:r>
                    </a:p>
                  </a:txBody>
                  <a:tcPr marL="109728" marR="109728" marT="45720" marB="45720" anchor="ctr">
                    <a:solidFill>
                      <a:srgbClr val="F1F2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Depolarising blocker: succinylcholine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123670"/>
                <a:gridCol w="3446808"/>
                <a:gridCol w="4523936"/>
              </a:tblGrid>
              <a:tr h="640080">
                <a:tc>
                  <a:txBody>
                    <a:bodyPr/>
                    <a:lstStyle/>
                    <a:p>
                      <a:r>
                        <a:rPr sz="1700" i="0" b="1">
                          <a:solidFill>
                            <a:srgbClr val="FFFFFF"/>
                          </a:solidFill>
                          <a:latin typeface="Calibri"/>
                        </a:rPr>
                        <a:t>Feature</a:t>
                      </a:r>
                    </a:p>
                  </a:txBody>
                  <a:tcPr marL="109728" marR="109728" marT="45720" marB="45720" anchor="ctr">
                    <a:solidFill>
                      <a:srgbClr val="1B2A8C"/>
                    </a:solidFill>
                  </a:tcPr>
                </a:tc>
                <a:tc>
                  <a:txBody>
                    <a:bodyPr/>
                    <a:lstStyle/>
                    <a:p>
                      <a:r>
                        <a:rPr sz="1700" i="0" b="1">
                          <a:solidFill>
                            <a:srgbClr val="FFFFFF"/>
                          </a:solidFill>
                          <a:latin typeface="Calibri"/>
                        </a:rPr>
                        <a:t>Non-depolarising</a:t>
                      </a:r>
                    </a:p>
                  </a:txBody>
                  <a:tcPr marL="109728" marR="109728" marT="45720" marB="45720" anchor="ctr">
                    <a:solidFill>
                      <a:srgbClr val="1B2A8C"/>
                    </a:solidFill>
                  </a:tcPr>
                </a:tc>
                <a:tc>
                  <a:txBody>
                    <a:bodyPr/>
                    <a:lstStyle/>
                    <a:p>
                      <a:r>
                        <a:rPr sz="1700" i="0" b="1">
                          <a:solidFill>
                            <a:srgbClr val="FFFFFF"/>
                          </a:solidFill>
                          <a:latin typeface="Calibri"/>
                        </a:rPr>
                        <a:t>Depolarising (succinylcholine)</a:t>
                      </a:r>
                    </a:p>
                  </a:txBody>
                  <a:tcPr marL="109728" marR="109728" marT="45720" marB="45720" anchor="ctr">
                    <a:solidFill>
                      <a:srgbClr val="1B2A8C"/>
                    </a:solidFill>
                  </a:tcPr>
                </a:tc>
              </a:tr>
              <a:tr h="640080">
                <a:tc>
                  <a:txBody>
                    <a:bodyPr/>
                    <a:lstStyle/>
                    <a:p>
                      <a:r>
                        <a:rPr sz="1800" i="0" b="1">
                          <a:solidFill>
                            <a:srgbClr val="1A1F36"/>
                          </a:solidFill>
                          <a:latin typeface="Calibri"/>
                        </a:rPr>
                        <a:t>Action at Nm receptor</a:t>
                      </a:r>
                    </a:p>
                  </a:txBody>
                  <a:tcPr marL="109728" marR="109728" marT="45720" marB="45720" anchor="ctr">
                    <a:solidFill>
                      <a:srgbClr val="FFFFFF"/>
                    </a:solidFill>
                  </a:tcPr>
                </a:tc>
                <a:tc>
                  <a:txBody>
                    <a:bodyPr/>
                    <a:lstStyle/>
                    <a:p>
                      <a:r>
                        <a:rPr sz="1800" i="0" b="0">
                          <a:solidFill>
                            <a:srgbClr val="1A1F36"/>
                          </a:solidFill>
                          <a:latin typeface="Calibri"/>
                        </a:rPr>
                        <a:t>Competitive antagonist</a:t>
                      </a:r>
                    </a:p>
                  </a:txBody>
                  <a:tcPr marL="109728" marR="109728" marT="45720" marB="45720" anchor="ctr">
                    <a:solidFill>
                      <a:srgbClr val="FFFFFF"/>
                    </a:solidFill>
                  </a:tcPr>
                </a:tc>
                <a:tc>
                  <a:txBody>
                    <a:bodyPr/>
                    <a:lstStyle/>
                    <a:p>
                      <a:r>
                        <a:rPr sz="1800" i="0" b="0">
                          <a:solidFill>
                            <a:srgbClr val="1A1F36"/>
                          </a:solidFill>
                          <a:latin typeface="Calibri"/>
                        </a:rPr>
                        <a:t>Agonist; persistent depolarisation</a:t>
                      </a:r>
                    </a:p>
                  </a:txBody>
                  <a:tcPr marL="109728" marR="109728" marT="45720" marB="45720" anchor="ctr">
                    <a:solidFill>
                      <a:srgbClr val="FFFFFF"/>
                    </a:solidFill>
                  </a:tcPr>
                </a:tc>
              </a:tr>
              <a:tr h="640080">
                <a:tc>
                  <a:txBody>
                    <a:bodyPr/>
                    <a:lstStyle/>
                    <a:p>
                      <a:r>
                        <a:rPr sz="1800" i="0" b="1">
                          <a:solidFill>
                            <a:srgbClr val="1A1F36"/>
                          </a:solidFill>
                          <a:latin typeface="Calibri"/>
                        </a:rPr>
                        <a:t>Fasciculations</a:t>
                      </a:r>
                    </a:p>
                  </a:txBody>
                  <a:tcPr marL="109728" marR="109728" marT="45720" marB="45720" anchor="ctr">
                    <a:solidFill>
                      <a:srgbClr val="F1F2F8"/>
                    </a:solidFill>
                  </a:tcPr>
                </a:tc>
                <a:tc>
                  <a:txBody>
                    <a:bodyPr/>
                    <a:lstStyle/>
                    <a:p>
                      <a:r>
                        <a:rPr sz="1800" i="0" b="0">
                          <a:solidFill>
                            <a:srgbClr val="1A1F36"/>
                          </a:solidFill>
                          <a:latin typeface="Calibri"/>
                        </a:rPr>
                        <a:t>No</a:t>
                      </a:r>
                    </a:p>
                  </a:txBody>
                  <a:tcPr marL="109728" marR="109728" marT="45720" marB="45720" anchor="ctr">
                    <a:solidFill>
                      <a:srgbClr val="F1F2F8"/>
                    </a:solidFill>
                  </a:tcPr>
                </a:tc>
                <a:tc>
                  <a:txBody>
                    <a:bodyPr/>
                    <a:lstStyle/>
                    <a:p>
                      <a:r>
                        <a:rPr sz="1800" i="0" b="0">
                          <a:solidFill>
                            <a:srgbClr val="1A1F36"/>
                          </a:solidFill>
                          <a:latin typeface="Calibri"/>
                        </a:rPr>
                        <a:t>Yes, at the start</a:t>
                      </a:r>
                    </a:p>
                  </a:txBody>
                  <a:tcPr marL="109728" marR="109728" marT="45720" marB="45720" anchor="ctr">
                    <a:solidFill>
                      <a:srgbClr val="F1F2F8"/>
                    </a:solidFill>
                  </a:tcPr>
                </a:tc>
              </a:tr>
              <a:tr h="640080">
                <a:tc>
                  <a:txBody>
                    <a:bodyPr/>
                    <a:lstStyle/>
                    <a:p>
                      <a:r>
                        <a:rPr sz="1800" i="0" b="1">
                          <a:solidFill>
                            <a:srgbClr val="1A1F36"/>
                          </a:solidFill>
                          <a:latin typeface="Calibri"/>
                        </a:rPr>
                        <a:t>Effect of neostigmine</a:t>
                      </a:r>
                    </a:p>
                  </a:txBody>
                  <a:tcPr marL="109728" marR="109728" marT="45720" marB="45720" anchor="ctr">
                    <a:solidFill>
                      <a:srgbClr val="FFFFFF"/>
                    </a:solidFill>
                  </a:tcPr>
                </a:tc>
                <a:tc>
                  <a:txBody>
                    <a:bodyPr/>
                    <a:lstStyle/>
                    <a:p>
                      <a:r>
                        <a:rPr sz="1800" i="0" b="0">
                          <a:solidFill>
                            <a:srgbClr val="1A1F36"/>
                          </a:solidFill>
                          <a:latin typeface="Calibri"/>
                        </a:rPr>
                        <a:t>Reverses the block</a:t>
                      </a:r>
                    </a:p>
                  </a:txBody>
                  <a:tcPr marL="109728" marR="109728" marT="45720" marB="45720" anchor="ctr">
                    <a:solidFill>
                      <a:srgbClr val="FFFFFF"/>
                    </a:solidFill>
                  </a:tcPr>
                </a:tc>
                <a:tc>
                  <a:txBody>
                    <a:bodyPr/>
                    <a:lstStyle/>
                    <a:p>
                      <a:r>
                        <a:rPr sz="1800" i="0" b="0">
                          <a:solidFill>
                            <a:srgbClr val="1A1F36"/>
                          </a:solidFill>
                          <a:latin typeface="Calibri"/>
                        </a:rPr>
                        <a:t>Worsens phase I</a:t>
                      </a:r>
                    </a:p>
                  </a:txBody>
                  <a:tcPr marL="109728" marR="109728" marT="45720" marB="45720" anchor="ctr">
                    <a:solidFill>
                      <a:srgbClr val="FFFFFF"/>
                    </a:solidFill>
                  </a:tcPr>
                </a:tc>
              </a:tr>
              <a:tr h="640080">
                <a:tc>
                  <a:txBody>
                    <a:bodyPr/>
                    <a:lstStyle/>
                    <a:p>
                      <a:r>
                        <a:rPr sz="1800" i="0" b="1">
                          <a:solidFill>
                            <a:srgbClr val="1A1F36"/>
                          </a:solidFill>
                          <a:latin typeface="Calibri"/>
                        </a:rPr>
                        <a:t>Metabolism</a:t>
                      </a:r>
                    </a:p>
                  </a:txBody>
                  <a:tcPr marL="109728" marR="109728" marT="45720" marB="45720" anchor="ctr">
                    <a:solidFill>
                      <a:srgbClr val="F1F2F8"/>
                    </a:solidFill>
                  </a:tcPr>
                </a:tc>
                <a:tc>
                  <a:txBody>
                    <a:bodyPr/>
                    <a:lstStyle/>
                    <a:p>
                      <a:r>
                        <a:rPr sz="1800" i="0" b="0">
                          <a:solidFill>
                            <a:srgbClr val="1A1F36"/>
                          </a:solidFill>
                          <a:latin typeface="Calibri"/>
                        </a:rPr>
                        <a:t>Liver, kidney or Hofmann</a:t>
                      </a:r>
                    </a:p>
                  </a:txBody>
                  <a:tcPr marL="109728" marR="109728" marT="45720" marB="45720" anchor="ctr">
                    <a:solidFill>
                      <a:srgbClr val="F1F2F8"/>
                    </a:solidFill>
                  </a:tcPr>
                </a:tc>
                <a:tc>
                  <a:txBody>
                    <a:bodyPr/>
                    <a:lstStyle/>
                    <a:p>
                      <a:r>
                        <a:rPr sz="1800" i="0" b="0">
                          <a:solidFill>
                            <a:srgbClr val="1A1F36"/>
                          </a:solidFill>
                          <a:latin typeface="Calibri"/>
                        </a:rPr>
                        <a:t>Plasma cholinesterase</a:t>
                      </a:r>
                    </a:p>
                  </a:txBody>
                  <a:tcPr marL="109728" marR="109728" marT="45720" marB="45720" anchor="ctr">
                    <a:solidFill>
                      <a:srgbClr val="F1F2F8"/>
                    </a:solidFill>
                  </a:tcPr>
                </a:tc>
              </a:tr>
              <a:tr h="640080">
                <a:tc>
                  <a:txBody>
                    <a:bodyPr/>
                    <a:lstStyle/>
                    <a:p>
                      <a:r>
                        <a:rPr sz="1800" i="0" b="1">
                          <a:solidFill>
                            <a:srgbClr val="1A1F36"/>
                          </a:solidFill>
                          <a:latin typeface="Calibri"/>
                        </a:rPr>
                        <a:t>Special reversal</a:t>
                      </a:r>
                    </a:p>
                  </a:txBody>
                  <a:tcPr marL="109728" marR="109728" marT="45720" marB="45720" anchor="ctr">
                    <a:solidFill>
                      <a:srgbClr val="FFFFFF"/>
                    </a:solidFill>
                  </a:tcPr>
                </a:tc>
                <a:tc>
                  <a:txBody>
                    <a:bodyPr/>
                    <a:lstStyle/>
                    <a:p>
                      <a:r>
                        <a:rPr sz="1800" i="0" b="0">
                          <a:solidFill>
                            <a:srgbClr val="1A1F36"/>
                          </a:solidFill>
                          <a:latin typeface="Calibri"/>
                        </a:rPr>
                        <a:t>Sugammadex (rocuronium)</a:t>
                      </a:r>
                    </a:p>
                  </a:txBody>
                  <a:tcPr marL="109728" marR="109728" marT="45720" marB="45720" anchor="ctr">
                    <a:solidFill>
                      <a:srgbClr val="FFFFFF"/>
                    </a:solidFill>
                  </a:tcPr>
                </a:tc>
                <a:tc>
                  <a:txBody>
                    <a:bodyPr/>
                    <a:lstStyle/>
                    <a:p>
                      <a:r>
                        <a:rPr sz="1800" i="0" b="0">
                          <a:solidFill>
                            <a:srgbClr val="1A1F36"/>
                          </a:solidFill>
                          <a:latin typeface="Calibri"/>
                        </a:rPr>
                        <a:t>None; wait</a:t>
                      </a:r>
                    </a:p>
                  </a:txBody>
                  <a:tcPr marL="109728" marR="109728" marT="45720" marB="4572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Neuromuscular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100" i="0" b="0">
                <a:solidFill>
                  <a:srgbClr val="1A1F36"/>
                </a:solidFill>
                <a:latin typeface="Calibri"/>
              </a:rPr>
              <a:t>NMBs cause paralysis but </a:t>
            </a:r>
            <a:r>
              <a:rPr sz="2100" i="0" b="1">
                <a:solidFill>
                  <a:srgbClr val="1A1F36"/>
                </a:solidFill>
                <a:latin typeface="Calibri"/>
              </a:rPr>
              <a:t>no sedation and no analgesia</a:t>
            </a:r>
            <a:r>
              <a:rPr sz="2100" i="0" b="0">
                <a:solidFill>
                  <a:srgbClr val="1A1F36"/>
                </a:solidFill>
                <a:latin typeface="Calibri"/>
              </a:rPr>
              <a:t>. A patient given an NMB without enough anaesthetic can be awake and in pain but unable to move. Always give an anaesthetic first, and always ventilate.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Neuromuscular Blockers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Neostigmine reverses a </a:t>
            </a:r>
            <a:r>
              <a:rPr sz="2600" i="0" b="1">
                <a:solidFill>
                  <a:srgbClr val="1A1F36"/>
                </a:solidFill>
                <a:latin typeface="Calibri"/>
              </a:rPr>
              <a:t>non-depolarising</a:t>
            </a:r>
            <a:r>
              <a:rPr sz="2600" i="0" b="0">
                <a:solidFill>
                  <a:srgbClr val="1A1F36"/>
                </a:solidFill>
                <a:latin typeface="Calibri"/>
              </a:rPr>
              <a:t> block. It makes a phase I depolarising block </a:t>
            </a:r>
            <a:r>
              <a:rPr sz="2600" i="0" b="1">
                <a:solidFill>
                  <a:srgbClr val="1A1F36"/>
                </a:solidFill>
                <a:latin typeface="Calibri"/>
              </a:rPr>
              <a:t>worse</a:t>
            </a:r>
            <a:r>
              <a:rPr sz="2600" i="0" b="0">
                <a:solidFill>
                  <a:srgbClr val="1A1F36"/>
                </a:solidFill>
                <a:latin typeface="Calibri"/>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277874"/>
          </a:xfrm>
          <a:prstGeom prst="rect">
            <a:avLst/>
          </a:prstGeom>
          <a:noFill/>
        </p:spPr>
        <p:txBody>
          <a:bodyPr wrap="square" anchor="t" lIns="0" rIns="0" tIns="0" bIns="0">
            <a:spAutoFit/>
          </a:bodyPr>
          <a:lstStyle/>
          <a:p>
            <a:r>
              <a:rPr sz="2100" i="0" b="0">
                <a:solidFill>
                  <a:srgbClr val="1A1F36"/>
                </a:solidFill>
                <a:latin typeface="Calibri"/>
              </a:rPr>
              <a:t>Malignant hyperthermia is a rare inherited disorder, usually linked to a mutation of </a:t>
            </a:r>
            <a:r>
              <a:rPr sz="2100" i="0" b="1">
                <a:solidFill>
                  <a:srgbClr val="1A1F36"/>
                </a:solidFill>
                <a:latin typeface="Calibri"/>
              </a:rPr>
              <a:t>RyR1</a:t>
            </a:r>
            <a:r>
              <a:rPr sz="2100" i="0" b="0">
                <a:solidFill>
                  <a:srgbClr val="1A1F36"/>
                </a:solidFill>
                <a:latin typeface="Calibri"/>
              </a:rPr>
              <a:t>. Volatile anaesthetics (halothane, sevoflurane, desflurane) or succinylcholine trigger uncontrolled Ca2+ release in muscle.</a:t>
            </a:r>
          </a:p>
        </p:txBody>
      </p:sp>
      <p:sp>
        <p:nvSpPr>
          <p:cNvPr id="10" name="Oval 9"/>
          <p:cNvSpPr/>
          <p:nvPr/>
        </p:nvSpPr>
        <p:spPr>
          <a:xfrm>
            <a:off x="548640" y="289636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914650"/>
            <a:ext cx="10500055" cy="1277874"/>
          </a:xfrm>
          <a:prstGeom prst="rect">
            <a:avLst/>
          </a:prstGeom>
          <a:noFill/>
        </p:spPr>
        <p:txBody>
          <a:bodyPr wrap="square" anchor="t" lIns="0" rIns="0" tIns="0" bIns="0">
            <a:spAutoFit/>
          </a:bodyPr>
          <a:lstStyle/>
          <a:p>
            <a:r>
              <a:rPr sz="2100" i="0" b="0">
                <a:solidFill>
                  <a:srgbClr val="1A1F36"/>
                </a:solidFill>
                <a:latin typeface="Calibri"/>
              </a:rPr>
              <a:t>Features: a rise in end-tidal CO₂ that does not respond to ventilation, tachycardia, muscle rigidity (often the jaw), then fever, acidosis, hyperkalaemia and myoglobinuria.</a:t>
            </a:r>
          </a:p>
        </p:txBody>
      </p:sp>
      <p:sp>
        <p:nvSpPr>
          <p:cNvPr id="12" name="Oval 11"/>
          <p:cNvSpPr/>
          <p:nvPr/>
        </p:nvSpPr>
        <p:spPr>
          <a:xfrm>
            <a:off x="548640" y="421995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4238244"/>
            <a:ext cx="10500055" cy="611124"/>
          </a:xfrm>
          <a:prstGeom prst="rect">
            <a:avLst/>
          </a:prstGeom>
          <a:noFill/>
        </p:spPr>
        <p:txBody>
          <a:bodyPr wrap="square" anchor="t" lIns="0" rIns="0" tIns="0" bIns="0">
            <a:spAutoFit/>
          </a:bodyPr>
          <a:lstStyle/>
          <a:p>
            <a:r>
              <a:rPr sz="2100" i="0" b="0">
                <a:solidFill>
                  <a:srgbClr val="1A1F36"/>
                </a:solidFill>
                <a:latin typeface="Calibri"/>
              </a:rPr>
              <a:t>&gt; 1. Stop the trigger and call for help.</a:t>
            </a:r>
          </a:p>
        </p:txBody>
      </p:sp>
      <p:sp>
        <p:nvSpPr>
          <p:cNvPr id="14" name="Oval 13"/>
          <p:cNvSpPr/>
          <p:nvPr/>
        </p:nvSpPr>
        <p:spPr>
          <a:xfrm>
            <a:off x="548640" y="487680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895088"/>
            <a:ext cx="10500055" cy="611124"/>
          </a:xfrm>
          <a:prstGeom prst="rect">
            <a:avLst/>
          </a:prstGeom>
          <a:noFill/>
        </p:spPr>
        <p:txBody>
          <a:bodyPr wrap="square" anchor="t" lIns="0" rIns="0" tIns="0" bIns="0">
            <a:spAutoFit/>
          </a:bodyPr>
          <a:lstStyle/>
          <a:p>
            <a:r>
              <a:rPr sz="2100" i="0" b="0">
                <a:solidFill>
                  <a:srgbClr val="1A1F36"/>
                </a:solidFill>
                <a:latin typeface="Calibri"/>
              </a:rPr>
              <a:t>&gt; 2. Give </a:t>
            </a:r>
            <a:r>
              <a:rPr sz="2100" i="0" b="1">
                <a:solidFill>
                  <a:srgbClr val="1A1F36"/>
                </a:solidFill>
                <a:latin typeface="Calibri"/>
              </a:rPr>
              <a:t>IV dantrolene</a:t>
            </a:r>
            <a:r>
              <a:rPr sz="2100" i="0" b="0">
                <a:solidFill>
                  <a:srgbClr val="1A1F36"/>
                </a:solidFill>
                <a:latin typeface="Calibri"/>
              </a:rPr>
              <a:t> 2.5 mg/kg, repeated until the signs settle.</a:t>
            </a:r>
          </a:p>
        </p:txBody>
      </p:sp>
      <p:sp>
        <p:nvSpPr>
          <p:cNvPr id="16" name="Oval 15"/>
          <p:cNvSpPr/>
          <p:nvPr/>
        </p:nvSpPr>
        <p:spPr>
          <a:xfrm>
            <a:off x="548640" y="55336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551932"/>
            <a:ext cx="10500055" cy="611124"/>
          </a:xfrm>
          <a:prstGeom prst="rect">
            <a:avLst/>
          </a:prstGeom>
          <a:noFill/>
        </p:spPr>
        <p:txBody>
          <a:bodyPr wrap="square" anchor="t" lIns="0" rIns="0" tIns="0" bIns="0">
            <a:spAutoFit/>
          </a:bodyPr>
          <a:lstStyle/>
          <a:p>
            <a:r>
              <a:rPr sz="2100" i="0" b="0">
                <a:solidFill>
                  <a:srgbClr val="1A1F36"/>
                </a:solidFill>
                <a:latin typeface="Calibri"/>
              </a:rPr>
              <a:t>&gt; 3. Ventilate with 100% oxygen at high flow.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Malignant Hyperthermia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&gt; 4. Cool the patient, and treat hyperkalaemia, acidosis and arrhythmia.</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&gt;</a:t>
            </a:r>
          </a:p>
        </p:txBody>
      </p:sp>
      <p:sp>
        <p:nvSpPr>
          <p:cNvPr id="12" name="Oval 11"/>
          <p:cNvSpPr/>
          <p:nvPr/>
        </p:nvSpPr>
        <p:spPr>
          <a:xfrm>
            <a:off x="548640" y="328193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1142237"/>
          </a:xfrm>
          <a:prstGeom prst="rect">
            <a:avLst/>
          </a:prstGeom>
          <a:noFill/>
        </p:spPr>
        <p:txBody>
          <a:bodyPr wrap="square" anchor="t" lIns="0" rIns="0" tIns="0" bIns="0">
            <a:spAutoFit/>
          </a:bodyPr>
          <a:lstStyle/>
          <a:p>
            <a:r>
              <a:rPr sz="2100" i="0" b="0">
                <a:solidFill>
                  <a:srgbClr val="1A1F36"/>
                </a:solidFill>
                <a:latin typeface="Calibri"/>
              </a:rPr>
              <a:t>&gt; Ask about family history before anaesthesia, and use non-trigger drugs such as propofol in susceptible patients.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Treat malignant hyperthermia at once: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Skeletal Muscle Relaxants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49</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4853806"/>
                <a:gridCol w="3467004"/>
                <a:gridCol w="2773603"/>
              </a:tblGrid>
              <a:tr h="577215">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577215">
                <a:tc>
                  <a:txBody>
                    <a:bodyPr/>
                    <a:lstStyle/>
                    <a:p>
                      <a:r>
                        <a:rPr sz="2000" i="0" b="1">
                          <a:solidFill>
                            <a:srgbClr val="1A1F36"/>
                          </a:solidFill>
                          <a:latin typeface="Calibri"/>
                        </a:rPr>
                        <a:t>Baclofen</a:t>
                      </a:r>
                    </a:p>
                  </a:txBody>
                  <a:tcPr marL="109728" marR="109728" marT="45720" marB="45720" anchor="ctr">
                    <a:solidFill>
                      <a:srgbClr val="FFFFFF"/>
                    </a:solidFill>
                  </a:tcPr>
                </a:tc>
                <a:tc>
                  <a:txBody>
                    <a:bodyPr/>
                    <a:lstStyle/>
                    <a:p>
                      <a:r>
                        <a:rPr sz="2000" i="0" b="0">
                          <a:solidFill>
                            <a:srgbClr val="1A1F36"/>
                          </a:solidFill>
                          <a:latin typeface="Calibri"/>
                        </a:rPr>
                        <a:t>Baclofen, Mylobac</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Tizanidine</a:t>
                      </a:r>
                    </a:p>
                  </a:txBody>
                  <a:tcPr marL="109728" marR="109728" marT="45720" marB="45720" anchor="ctr">
                    <a:solidFill>
                      <a:srgbClr val="F1F2F8"/>
                    </a:solidFill>
                  </a:tcPr>
                </a:tc>
                <a:tc>
                  <a:txBody>
                    <a:bodyPr/>
                    <a:lstStyle/>
                    <a:p>
                      <a:r>
                        <a:rPr sz="2000" i="0" b="0">
                          <a:solidFill>
                            <a:srgbClr val="1A1F36"/>
                          </a:solidFill>
                          <a:latin typeface="Calibri"/>
                        </a:rPr>
                        <a:t>Sirdalud</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Cyclobenzaprine</a:t>
                      </a:r>
                    </a:p>
                  </a:txBody>
                  <a:tcPr marL="109728" marR="109728" marT="45720" marB="45720" anchor="ctr">
                    <a:solidFill>
                      <a:srgbClr val="FFFFFF"/>
                    </a:solidFill>
                  </a:tcPr>
                </a:tc>
                <a:tc>
                  <a:txBody>
                    <a:bodyPr/>
                    <a:lstStyle/>
                    <a:p>
                      <a:r>
                        <a:rPr sz="2000" i="0" b="0">
                          <a:solidFill>
                            <a:srgbClr val="1A1F36"/>
                          </a:solidFill>
                          <a:latin typeface="Calibri"/>
                        </a:rPr>
                        <a:t>Multi-Relax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577215">
                <a:tc>
                  <a:txBody>
                    <a:bodyPr/>
                    <a:lstStyle/>
                    <a:p>
                      <a:r>
                        <a:rPr sz="2000" i="0" b="1">
                          <a:solidFill>
                            <a:srgbClr val="1A1F36"/>
                          </a:solidFill>
                          <a:latin typeface="Calibri"/>
                        </a:rPr>
                        <a:t>Orphenadrine + paracetamol</a:t>
                      </a:r>
                    </a:p>
                  </a:txBody>
                  <a:tcPr marL="109728" marR="109728" marT="45720" marB="45720" anchor="ctr">
                    <a:solidFill>
                      <a:srgbClr val="F1F2F8"/>
                    </a:solidFill>
                  </a:tcPr>
                </a:tc>
                <a:tc>
                  <a:txBody>
                    <a:bodyPr/>
                    <a:lstStyle/>
                    <a:p>
                      <a:r>
                        <a:rPr sz="2000" i="0" b="0">
                          <a:solidFill>
                            <a:srgbClr val="1A1F36"/>
                          </a:solidFill>
                          <a:latin typeface="Calibri"/>
                        </a:rPr>
                        <a:t>Norgesic</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577215">
                <a:tc>
                  <a:txBody>
                    <a:bodyPr/>
                    <a:lstStyle/>
                    <a:p>
                      <a:r>
                        <a:rPr sz="2000" i="0" b="1">
                          <a:solidFill>
                            <a:srgbClr val="1A1F36"/>
                          </a:solidFill>
                          <a:latin typeface="Calibri"/>
                        </a:rPr>
                        <a:t>Orphenadrine</a:t>
                      </a:r>
                    </a:p>
                  </a:txBody>
                  <a:tcPr marL="109728" marR="109728" marT="45720" marB="45720" anchor="ctr">
                    <a:solidFill>
                      <a:srgbClr val="FFFFFF"/>
                    </a:solidFill>
                  </a:tcPr>
                </a:tc>
                <a:tc>
                  <a:txBody>
                    <a:bodyPr/>
                    <a:lstStyle/>
                    <a:p>
                      <a:r>
                        <a:rPr sz="2000" i="0" b="0">
                          <a:solidFill>
                            <a:srgbClr val="1A1F36"/>
                          </a:solidFill>
                          <a:latin typeface="Calibri"/>
                        </a:rPr>
                        <a:t>Norflex</a:t>
                      </a:r>
                    </a:p>
                  </a:txBody>
                  <a:tcPr marL="109728" marR="109728" marT="45720" marB="45720" anchor="ctr">
                    <a:solidFill>
                      <a:srgbClr val="FFFFFF"/>
                    </a:solidFill>
                  </a:tcPr>
                </a:tc>
                <a:tc>
                  <a:txBody>
                    <a:bodyPr/>
                    <a:lstStyle/>
                    <a:p>
                      <a:r>
                        <a:rPr sz="2000" i="0" b="0">
                          <a:solidFill>
                            <a:srgbClr val="1A1F36"/>
                          </a:solidFill>
                          <a:latin typeface="Calibri"/>
                        </a:rPr>
                        <a:t>Injection</a:t>
                      </a:r>
                    </a:p>
                  </a:txBody>
                  <a:tcPr marL="109728" marR="109728" marT="45720" marB="45720" anchor="ctr">
                    <a:solidFill>
                      <a:srgbClr val="FFFFFF"/>
                    </a:solidFill>
                  </a:tcPr>
                </a:tc>
              </a:tr>
              <a:tr h="577215">
                <a:tc>
                  <a:txBody>
                    <a:bodyPr/>
                    <a:lstStyle/>
                    <a:p>
                      <a:r>
                        <a:rPr sz="2000" i="0" b="1">
                          <a:solidFill>
                            <a:srgbClr val="1A1F36"/>
                          </a:solidFill>
                          <a:latin typeface="Calibri"/>
                        </a:rPr>
                        <a:t>Chlorzoxazone + paracetamol</a:t>
                      </a:r>
                    </a:p>
                  </a:txBody>
                  <a:tcPr marL="109728" marR="109728" marT="45720" marB="45720" anchor="ctr">
                    <a:solidFill>
                      <a:srgbClr val="F1F2F8"/>
                    </a:solidFill>
                  </a:tcPr>
                </a:tc>
                <a:tc>
                  <a:txBody>
                    <a:bodyPr/>
                    <a:lstStyle/>
                    <a:p>
                      <a:r>
                        <a:rPr sz="2000" i="0" b="0">
                          <a:solidFill>
                            <a:srgbClr val="1A1F36"/>
                          </a:solidFill>
                          <a:latin typeface="Calibri"/>
                        </a:rPr>
                        <a:t>Relaxon</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577215">
                <a:tc>
                  <a:txBody>
                    <a:bodyPr/>
                    <a:lstStyle/>
                    <a:p>
                      <a:r>
                        <a:rPr sz="2000" i="0" b="1">
                          <a:solidFill>
                            <a:srgbClr val="1A1F36"/>
                          </a:solidFill>
                          <a:latin typeface="Calibri"/>
                        </a:rPr>
                        <a:t>Chlorzoxazone + ibuprofen</a:t>
                      </a:r>
                    </a:p>
                  </a:txBody>
                  <a:tcPr marL="109728" marR="109728" marT="45720" marB="45720" anchor="ctr">
                    <a:solidFill>
                      <a:srgbClr val="FFFFFF"/>
                    </a:solidFill>
                  </a:tcPr>
                </a:tc>
                <a:tc>
                  <a:txBody>
                    <a:bodyPr/>
                    <a:lstStyle/>
                    <a:p>
                      <a:r>
                        <a:rPr sz="2000" i="0" b="0">
                          <a:solidFill>
                            <a:srgbClr val="1A1F36"/>
                          </a:solidFill>
                          <a:latin typeface="Calibri"/>
                        </a:rPr>
                        <a:t>Myofen</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4551554"/>
                <a:gridCol w="3698138"/>
                <a:gridCol w="2844721"/>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Methocarbamol</a:t>
                      </a:r>
                    </a:p>
                  </a:txBody>
                  <a:tcPr marL="109728" marR="109728" marT="45720" marB="45720" anchor="ctr">
                    <a:solidFill>
                      <a:srgbClr val="FFFFFF"/>
                    </a:solidFill>
                  </a:tcPr>
                </a:tc>
                <a:tc>
                  <a:txBody>
                    <a:bodyPr/>
                    <a:lstStyle/>
                    <a:p>
                      <a:r>
                        <a:rPr sz="2000" i="0" b="0">
                          <a:solidFill>
                            <a:srgbClr val="1A1F36"/>
                          </a:solidFill>
                          <a:latin typeface="Calibri"/>
                        </a:rPr>
                        <a:t>Methorelax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Dantrolene</a:t>
                      </a:r>
                    </a:p>
                  </a:txBody>
                  <a:tcPr marL="109728" marR="109728" marT="45720" marB="45720" anchor="ctr">
                    <a:solidFill>
                      <a:srgbClr val="F1F2F8"/>
                    </a:solidFill>
                  </a:tcPr>
                </a:tc>
                <a:tc>
                  <a:txBody>
                    <a:bodyPr/>
                    <a:lstStyle/>
                    <a:p>
                      <a:r>
                        <a:rPr sz="2000" i="0" b="0">
                          <a:solidFill>
                            <a:srgbClr val="1A1F36"/>
                          </a:solidFill>
                          <a:latin typeface="Calibri"/>
                        </a:rPr>
                        <a:t>Dantrelax</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r h="640080">
                <a:tc>
                  <a:txBody>
                    <a:bodyPr/>
                    <a:lstStyle/>
                    <a:p>
                      <a:r>
                        <a:rPr sz="2000" i="0" b="1">
                          <a:solidFill>
                            <a:srgbClr val="1A1F36"/>
                          </a:solidFill>
                          <a:latin typeface="Calibri"/>
                        </a:rPr>
                        <a:t>Dantrolene + paracetamol</a:t>
                      </a:r>
                    </a:p>
                  </a:txBody>
                  <a:tcPr marL="109728" marR="109728" marT="45720" marB="45720" anchor="ctr">
                    <a:solidFill>
                      <a:srgbClr val="FFFFFF"/>
                    </a:solidFill>
                  </a:tcPr>
                </a:tc>
                <a:tc>
                  <a:txBody>
                    <a:bodyPr/>
                    <a:lstStyle/>
                    <a:p>
                      <a:r>
                        <a:rPr sz="2000" i="0" b="0">
                          <a:solidFill>
                            <a:srgbClr val="1A1F36"/>
                          </a:solidFill>
                          <a:latin typeface="Calibri"/>
                        </a:rPr>
                        <a:t>Dantrelax Compound</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A patient with multiple sclerosis and a patient with acute back strain both ask for "a muscle relaxant". Which drug group suits each, and why?</a:t>
            </a:r>
          </a:p>
        </p:txBody>
      </p:sp>
      <p:sp>
        <p:nvSpPr>
          <p:cNvPr id="10" name="Oval 9"/>
          <p:cNvSpPr/>
          <p:nvPr/>
        </p:nvSpPr>
        <p:spPr>
          <a:xfrm>
            <a:off x="548640" y="27607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808863"/>
          </a:xfrm>
          <a:prstGeom prst="rect">
            <a:avLst/>
          </a:prstGeom>
          <a:noFill/>
        </p:spPr>
        <p:txBody>
          <a:bodyPr wrap="square" anchor="t" lIns="0" rIns="0" tIns="0" bIns="0">
            <a:spAutoFit/>
          </a:bodyPr>
          <a:lstStyle/>
          <a:p>
            <a:r>
              <a:rPr sz="2100" i="0" b="0">
                <a:solidFill>
                  <a:srgbClr val="1A1F36"/>
                </a:solidFill>
                <a:latin typeface="Calibri"/>
              </a:rPr>
              <a:t>Why must a patient on tizanidine avoid ciprofloxacin?</a:t>
            </a:r>
          </a:p>
        </p:txBody>
      </p:sp>
      <p:sp>
        <p:nvSpPr>
          <p:cNvPr id="12" name="Oval 11"/>
          <p:cNvSpPr/>
          <p:nvPr/>
        </p:nvSpPr>
        <p:spPr>
          <a:xfrm>
            <a:off x="548640" y="361530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33597"/>
            <a:ext cx="10500055" cy="1142237"/>
          </a:xfrm>
          <a:prstGeom prst="rect">
            <a:avLst/>
          </a:prstGeom>
          <a:noFill/>
        </p:spPr>
        <p:txBody>
          <a:bodyPr wrap="square" anchor="t" lIns="0" rIns="0" tIns="0" bIns="0">
            <a:spAutoFit/>
          </a:bodyPr>
          <a:lstStyle/>
          <a:p>
            <a:r>
              <a:rPr sz="2100" i="0" b="0">
                <a:solidFill>
                  <a:srgbClr val="1A1F36"/>
                </a:solidFill>
                <a:latin typeface="Calibri"/>
              </a:rPr>
              <a:t>Why does neostigmine reverse rocuronium but prolong phase I block by succinylcholine?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40-year-old woman with multiple sclerosis has stiff legs with increased tone. Which drug group is most suitable?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An antispastic drug such as baclofen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 non-depolarising neuromuscular blocker</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An antispasmodic such as methocarbamol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An anticholinesterase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40-year-old woman with multiple sclerosis has stiff legs with increased tone. Which drug group is most suitable?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An antispastic drug such as baclofen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A non-depolarising neuromuscular blocker</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An antispasmodic such as methocarbamol</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An anticholinesterase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Spasticity from brain or cord damage needs an antispastic drug. B is for surgery. C is for local muscle spasm. D would increase tone.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baclofen reduce spasticity?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opens GABA-A chloride channels.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blocks nicotinic receptors at the junction.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activates GABA-B receptors, increasing K+ conductance and reducing Ca2+ entry.</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blocks Ca2+ release from the sarcoplasmic reticulum.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How does baclofen reduce spasticity?</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opens GABA-A chloride channels.</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blocks nicotinic receptors at the junction.</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activates GABA-B receptors, increasing K+ conductance and reducing Ca2+ entry.</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blocks Ca2+ release from the sarcoplasmic reticulum.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Baclofen is a GABA-B agonist. A is benzodiazepines. B is NMBs. D is dantrolene.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tizanidine is prescribed ciprofloxacin. What is the likely result?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Loss of tizanidine effect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Severe hypotension and sedation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syndrome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Hyperkalaemia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patient on tizanidine is prescribed ciprofloxacin. What is the likely result?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Loss of tizanidine effect</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Severe hypotension and sedation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syndrome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Hyperkalaemia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Ciprofloxacin inhibits CYP1A2, so tizanidine levels rise sharply. A is the opposite. C and D are not caused.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acts directly on skeletal muscle by blocking RyR1?</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Baclofen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Tizanidine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Cyclobenzaprine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Dantrolene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acts directly on skeletal muscle by blocking RyR1?</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Baclofen</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Tizanidine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Cyclobenzaprine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Dantrolene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Dantrolene blocks RyR1 in muscle. A, B and C act in the CNS.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At the end of surgery, the anaesthetist gives neostigmine with glycopyrrolate. What is the role of glycopyrrolate?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To block the muscarinic effects of neostigmine, such as bradycardia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To reverse the neuromuscular block directly</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To provide analgesia</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To speed the metabolism of the blocker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At the end of surgery, the anaesthetist gives neostigmine with glycopyrrolate. What is the role of glycopyrrolate?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To block the muscarinic effects of neostigmine, such as bradycardia</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To reverse the neuromuscular block directly</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To provide analgesia</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To speed the metabolism of the blocker</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Glycopyrrolate blocks muscarinic receptors and prevents bradycardia and secretions. B is neostigmine's role. C and D are wrong.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does succinylcholine cause at the motor end-plate in phase I?</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Hyperpolarisation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Persistent depolarisation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Competitive block without receptor activation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Increased ACh breakdown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does succinylcholine cause at the motor end-plate in phase I?</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Hyperpolarisation</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Persistent depolarisation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Competitive block without receptor activation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Increased ACh breakdown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Succinylcholine is an agonist that holds the end-plate depolarised. A is a common error. C is non-depolarising blockers. D is wrong.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with severe burns 10 days ago needs urgent intubation. Why should succinylcholine be avoided?</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causes histamine release.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causes malignant hyperthermia in all burn patients.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can cause dangerous hyperkalaemia.</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does not work in burns.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42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with severe burns 10 days ago needs urgent intubation. Why should succinylcholine be avoided?</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causes histamine release.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causes malignant hyperthermia in all burn patients.</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can cause dangerous hyperkalaemia.</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does not work in burns.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Burns increase extra-junctional receptors, so K+ release is large. A is atracurium. B is wrong; burns do not cause malignant hyperthermia. D is wrong.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43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During anaesthesia with sevoflurane, a patient develops rising end-tidal CO₂, tachycardia, jaw rigidity and fever. Which drug is given?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Sugammadex</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Neostigmine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Paracetamol</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IV dantrolene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44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100" i="0" b="1">
                <a:solidFill>
                  <a:srgbClr val="1A1F36"/>
                </a:solidFill>
                <a:latin typeface="Calibri"/>
              </a:rPr>
              <a:t>During anaesthesia with sevoflurane, a patient develops rising end-tidal CO₂, tachycardia, jaw rigidity and fever. Which drug is given?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Sugammadex</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Neostigmine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Paracetamol</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IV dantrolene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This is malignant hyperthermia; dantrolene blocks Ca2+ release. A and B reverse NMBs. C does not treat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45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After succinylcholine, a patient remains paralysed for 3 hours. What is the likely cause?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Malignant hyperthermia</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Atypical plasma cholinesterase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Too little anaesthetic</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Hofmann elimination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46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After succinylcholine, a patient remains paralysed for 3 hours. What is the likely cause?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Malignant hyperthermia</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Atypical plasma cholinesterase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Too little anaesthetic</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Hofmann elimination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Low or atypical plasma cholinesterase slows succinylcholine breakdown. A causes fever and rigidity. C causes awareness. D applies to atracurium.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47 / 49</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non-depolarising blocker is the best choice in a patient with both liver and kidney failure?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Cisatracurium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Pancuronium</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Vecuronium</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Rocuronium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6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6  ·  Skeletal Muscle Relaxants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48 / 49</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non-depolarising blocker is the best choice in a patient with both liver and kidney failure?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Cisatracurium</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Pancuronium</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Vecuronium</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Rocuronium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Cisatracurium is broken down in plasma by Hofmann elimination. B, C and D depend on the kidney or liver.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6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45278"/>
          </a:xfrm>
          <a:prstGeom prst="rect">
            <a:avLst/>
          </a:prstGeom>
          <a:noFill/>
        </p:spPr>
        <p:txBody>
          <a:bodyPr wrap="square" anchor="t" lIns="0" rIns="0" tIns="0" bIns="0">
            <a:spAutoFit/>
          </a:bodyPr>
          <a:lstStyle/>
          <a:p>
            <a:r>
              <a:rPr sz="1700" i="0" b="0">
                <a:solidFill>
                  <a:srgbClr val="FFFFFF"/>
                </a:solidFill>
                <a:latin typeface="Calibri"/>
              </a:rPr>
              <a:t>Spasticity (brain or cord damage) is treated with baclofen, tizanidine, dantrolene or diazepam; spasm (local injury) with short courses of antispasmodics after NSAIDs and physiotherapy.</a:t>
            </a:r>
          </a:p>
        </p:txBody>
      </p:sp>
      <p:sp>
        <p:nvSpPr>
          <p:cNvPr id="6" name="Oval 5"/>
          <p:cNvSpPr/>
          <p:nvPr/>
        </p:nvSpPr>
        <p:spPr>
          <a:xfrm>
            <a:off x="548640" y="2638086"/>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656374"/>
            <a:ext cx="10500055" cy="745278"/>
          </a:xfrm>
          <a:prstGeom prst="rect">
            <a:avLst/>
          </a:prstGeom>
          <a:noFill/>
        </p:spPr>
        <p:txBody>
          <a:bodyPr wrap="square" anchor="t" lIns="0" rIns="0" tIns="0" bIns="0">
            <a:spAutoFit/>
          </a:bodyPr>
          <a:lstStyle/>
          <a:p>
            <a:r>
              <a:rPr sz="1700" i="0" b="0">
                <a:solidFill>
                  <a:srgbClr val="FFFFFF"/>
                </a:solidFill>
                <a:latin typeface="Calibri"/>
              </a:rPr>
              <a:t>Baclofen is a GABA-B agonist: more K+ conductance and less presynaptic Ca2+ entry; never stop it suddenly.</a:t>
            </a:r>
          </a:p>
        </p:txBody>
      </p:sp>
      <p:sp>
        <p:nvSpPr>
          <p:cNvPr id="8" name="Oval 7"/>
          <p:cNvSpPr/>
          <p:nvPr/>
        </p:nvSpPr>
        <p:spPr>
          <a:xfrm>
            <a:off x="548640" y="342908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447372"/>
            <a:ext cx="10500055" cy="475403"/>
          </a:xfrm>
          <a:prstGeom prst="rect">
            <a:avLst/>
          </a:prstGeom>
          <a:noFill/>
        </p:spPr>
        <p:txBody>
          <a:bodyPr wrap="square" anchor="t" lIns="0" rIns="0" tIns="0" bIns="0">
            <a:spAutoFit/>
          </a:bodyPr>
          <a:lstStyle/>
          <a:p>
            <a:r>
              <a:rPr sz="1700" i="0" b="0">
                <a:solidFill>
                  <a:srgbClr val="FFFFFF"/>
                </a:solidFill>
                <a:latin typeface="Calibri"/>
              </a:rPr>
              <a:t>Dantrolene blocks Ca2+ release through RyR1 and is the treatment of malignant hyperthermia.</a:t>
            </a:r>
          </a:p>
        </p:txBody>
      </p:sp>
      <p:sp>
        <p:nvSpPr>
          <p:cNvPr id="10" name="Oval 9"/>
          <p:cNvSpPr/>
          <p:nvPr/>
        </p:nvSpPr>
        <p:spPr>
          <a:xfrm>
            <a:off x="548640" y="395020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968496"/>
            <a:ext cx="10500055" cy="475403"/>
          </a:xfrm>
          <a:prstGeom prst="rect">
            <a:avLst/>
          </a:prstGeom>
          <a:noFill/>
        </p:spPr>
        <p:txBody>
          <a:bodyPr wrap="square" anchor="t" lIns="0" rIns="0" tIns="0" bIns="0">
            <a:spAutoFit/>
          </a:bodyPr>
          <a:lstStyle/>
          <a:p>
            <a:r>
              <a:rPr sz="1700" i="0" b="0">
                <a:solidFill>
                  <a:srgbClr val="FFFFFF"/>
                </a:solidFill>
                <a:latin typeface="Calibri"/>
              </a:rPr>
              <a:t>NMBs paralyse without sedation or analgesia.</a:t>
            </a:r>
          </a:p>
        </p:txBody>
      </p:sp>
      <p:sp>
        <p:nvSpPr>
          <p:cNvPr id="12" name="Oval 11"/>
          <p:cNvSpPr/>
          <p:nvPr/>
        </p:nvSpPr>
        <p:spPr>
          <a:xfrm>
            <a:off x="548640" y="447133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489619"/>
            <a:ext cx="10500055" cy="745278"/>
          </a:xfrm>
          <a:prstGeom prst="rect">
            <a:avLst/>
          </a:prstGeom>
          <a:noFill/>
        </p:spPr>
        <p:txBody>
          <a:bodyPr wrap="square" anchor="t" lIns="0" rIns="0" tIns="0" bIns="0">
            <a:spAutoFit/>
          </a:bodyPr>
          <a:lstStyle/>
          <a:p>
            <a:r>
              <a:rPr sz="1700" i="0" b="0">
                <a:solidFill>
                  <a:srgbClr val="FFFFFF"/>
                </a:solidFill>
                <a:latin typeface="Calibri"/>
              </a:rPr>
              <a:t>Non-depolarising blockers are competitive antagonists, reversed by neostigmine with glycopyrrolate, or rocuronium by sugammadex.</a:t>
            </a:r>
          </a:p>
        </p:txBody>
      </p:sp>
      <p:sp>
        <p:nvSpPr>
          <p:cNvPr id="14" name="Oval 13"/>
          <p:cNvSpPr/>
          <p:nvPr/>
        </p:nvSpPr>
        <p:spPr>
          <a:xfrm>
            <a:off x="548640" y="526232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280617"/>
            <a:ext cx="10500055" cy="745278"/>
          </a:xfrm>
          <a:prstGeom prst="rect">
            <a:avLst/>
          </a:prstGeom>
          <a:noFill/>
        </p:spPr>
        <p:txBody>
          <a:bodyPr wrap="square" anchor="t" lIns="0" rIns="0" tIns="0" bIns="0">
            <a:spAutoFit/>
          </a:bodyPr>
          <a:lstStyle/>
          <a:p>
            <a:r>
              <a:rPr sz="1700" i="0" b="0">
                <a:solidFill>
                  <a:srgbClr val="FFFFFF"/>
                </a:solidFill>
                <a:latin typeface="Calibri"/>
              </a:rPr>
              <a:t>Succinylcholine causes persistent depolarisation; watch for hyperkalaemia, bradycardia, prolonged apnoea and malignant hyperthermia.</a:t>
            </a:r>
          </a:p>
        </p:txBody>
      </p:sp>
      <p:pic>
        <p:nvPicPr>
          <p:cNvPr id="16" name="Picture 15"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7" name="Picture 16"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