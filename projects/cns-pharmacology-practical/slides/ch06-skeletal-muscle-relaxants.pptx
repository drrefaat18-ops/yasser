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 motor nerve releases acetylcholine (ACh) at the neuromuscular junction. ACh acts on nicotinic (Nm) receptors on the muscle, which are ion channels; Na+ enters and the muscle fibre depolarises. The signal travels into the fibre and releases Ca2+ from the sarcoplasmic reticulum through the ryanodine receptor (RyR1). Ca2+ triggers contraction. Acetylcholinesterase ends the signal in milliseconds. In the spinal cord, GABA and α2 receptors on sensory nerve endings reduce reflex firing.</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Two Groups, Two Aims.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Time: 2:00  (at 4:30 of 40:00).  Next: Spasticity versus spasm.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Time: 2:00  (at 6:30 of 40:00).  Next: Baclofen.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Time: 2:00  (at 8:30 of 40:00).  Next: Antispastic Drugs.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Time: 1:30  (at 10:00 of 40:00).  Next: Antispasmodic Drugs for Muscle Spasm.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drugs are not first-line for back pain. First-line care is keeping active, heat, physiotherapy and, if needed, an NSAID. An antispasmodic may be added for a short time, often 1 to 2 weeks. All of them cause drowsiness; warn patients about driving and alcohol. Many products in Egypt combine a relaxant with paracetamol or ibuprofen. Count every paracetamol-containing product the patient takes, because the maximum daily dose is easy to exceed.</a:t>
            </a:r>
          </a:p>
          <a:p/>
          <a:p>
            <a:r>
              <a:t>Time: 2:30  (at 12:30 of 40:00).  Next: Dantrolene: a Direct-Acting Relaxant.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Dantrolene is a hydantoin derivative, related to phenytoin. It acts inside the muscle. It blocks the RyR1 channel and so reduces Ca2+ release from the sarcoplasmic reticulum. Contraction becomes weaker. It has little effect on heart or smooth muscle. Uses: Adverse effects: muscle weakness, drowsiness, diarrhoea and liver injury, which carries a boxed warning with long-term oral use. Check liver function.</a:t>
            </a:r>
          </a:p>
          <a:p/>
          <a:p>
            <a:r>
              <a:t>Time: 2:00  (at 14:30 of 40:00).  Next: Non-depolarising blockers.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2:30  (at 17:00 of 40:00).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2:30  (at 19:30 of 40:00).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2:30  (at 22:00 of 40:00).  Next: Neuromuscular Blockers.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1:30  (at 23:30 of 40:00).  Next: Neuromuscular Blockers.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Time: 1:30  (at 25:00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usually linked to a mutation of RyR1. Volatile anaesthetics (halothane, sevoflurane, desflurane) or succinylcholine trigger uncontrolled Ca2+ release in muscle. Features: a rise in end-tidal CO₂ that does not respond to ventilation, tachycardia, muscle rigidity (often the jaw), then fever, acidosis, hyperkalaemia and myoglobinuria.</a:t>
            </a:r>
          </a:p>
          <a:p/>
          <a:p>
            <a:r>
              <a:t>Time: 2:00  (at 27:00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Spasticity from brain or cord damage needs an antispastic drug. B is for surgery. C is for local muscle spasm. D would increase tone.</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Baclofen is a GABA-B agonist. A is benzodiazepines. B is NMBs. D is dantrolene.</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Ciprofloxacin inhibits CYP1A2, so tizanidine levels rise sharply. A is the opposite. C and D are not caused.</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06</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6</a:t>
            </a:r>
          </a:p>
          <a:p>
            <a:pPr>
              <a:spcBef>
                <a:spcPts val="1400"/>
              </a:spcBef>
            </a:pPr>
            <a:r>
              <a:rPr sz="4400" i="0" b="1">
                <a:solidFill>
                  <a:srgbClr val="FFFFFF"/>
                </a:solidFill>
                <a:latin typeface="Cambria"/>
              </a:rPr>
              <a:t>Skeletal Muscle Relaxants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Distinguish spasticity from muscle spasm and match each to its drug group.</a:t>
            </a:r>
          </a:p>
        </p:txBody>
      </p:sp>
      <p:sp>
        <p:nvSpPr>
          <p:cNvPr id="13" name="Oval 12"/>
          <p:cNvSpPr/>
          <p:nvPr/>
        </p:nvSpPr>
        <p:spPr>
          <a:xfrm>
            <a:off x="548640" y="2432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51100"/>
            <a:ext cx="6629400" cy="1131824"/>
          </a:xfrm>
          <a:prstGeom prst="rect">
            <a:avLst/>
          </a:prstGeom>
          <a:noFill/>
        </p:spPr>
        <p:txBody>
          <a:bodyPr wrap="square" anchor="t" lIns="0" rIns="0" tIns="0" bIns="0">
            <a:spAutoFit/>
          </a:bodyPr>
          <a:lstStyle/>
          <a:p>
            <a:r>
              <a:rPr sz="2000" i="0" b="0">
                <a:solidFill>
                  <a:srgbClr val="1A1F36"/>
                </a:solidFill>
                <a:latin typeface="Calibri"/>
              </a:rPr>
              <a:t>Describe the site and mechanism of action of central, direct-acting and neuromuscular-blocking relaxants.</a:t>
            </a:r>
          </a:p>
        </p:txBody>
      </p:sp>
      <p:sp>
        <p:nvSpPr>
          <p:cNvPr id="15" name="Oval 14"/>
          <p:cNvSpPr/>
          <p:nvPr/>
        </p:nvSpPr>
        <p:spPr>
          <a:xfrm>
            <a:off x="548640" y="36103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628644"/>
            <a:ext cx="6629400" cy="814323"/>
          </a:xfrm>
          <a:prstGeom prst="rect">
            <a:avLst/>
          </a:prstGeom>
          <a:noFill/>
        </p:spPr>
        <p:txBody>
          <a:bodyPr wrap="square" anchor="t" lIns="0" rIns="0" tIns="0" bIns="0">
            <a:spAutoFit/>
          </a:bodyPr>
          <a:lstStyle/>
          <a:p>
            <a:r>
              <a:rPr sz="2000" i="0" b="0">
                <a:solidFill>
                  <a:srgbClr val="1A1F36"/>
                </a:solidFill>
                <a:latin typeface="Calibri"/>
              </a:rPr>
              <a:t>Compare depolarising and non-depolarising neuromuscular blockers, including their reversal.</a:t>
            </a:r>
          </a:p>
        </p:txBody>
      </p:sp>
      <p:sp>
        <p:nvSpPr>
          <p:cNvPr id="17" name="Oval 16"/>
          <p:cNvSpPr/>
          <p:nvPr/>
        </p:nvSpPr>
        <p:spPr>
          <a:xfrm>
            <a:off x="548640" y="44704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488688"/>
            <a:ext cx="6629400" cy="814323"/>
          </a:xfrm>
          <a:prstGeom prst="rect">
            <a:avLst/>
          </a:prstGeom>
          <a:noFill/>
        </p:spPr>
        <p:txBody>
          <a:bodyPr wrap="square" anchor="t" lIns="0" rIns="0" tIns="0" bIns="0">
            <a:spAutoFit/>
          </a:bodyPr>
          <a:lstStyle/>
          <a:p>
            <a:r>
              <a:rPr sz="2000" i="0" b="0">
                <a:solidFill>
                  <a:srgbClr val="1A1F36"/>
                </a:solidFill>
                <a:latin typeface="Calibri"/>
              </a:rPr>
              <a:t>Identify key adverse effects, interactions and withdrawal risks of muscle relaxants.</a:t>
            </a:r>
          </a:p>
        </p:txBody>
      </p:sp>
      <p:sp>
        <p:nvSpPr>
          <p:cNvPr id="19" name="Oval 18"/>
          <p:cNvSpPr/>
          <p:nvPr/>
        </p:nvSpPr>
        <p:spPr>
          <a:xfrm>
            <a:off x="548640" y="53304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Outline the recognition and treatment of malignant hyperthermia.</a:t>
            </a:r>
          </a:p>
        </p:txBody>
      </p:sp>
      <p:sp>
        <p:nvSpPr>
          <p:cNvPr id="21" name="Rounded Rectangle 20"/>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Two Groups, Two Aims</a:t>
            </a:r>
          </a:p>
        </p:txBody>
      </p:sp>
      <p:sp>
        <p:nvSpPr>
          <p:cNvPr id="13" name="Oval 12"/>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Antispastic Drugs</a:t>
            </a:r>
          </a:p>
        </p:txBody>
      </p:sp>
      <p:sp>
        <p:nvSpPr>
          <p:cNvPr id="15" name="Oval 14"/>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31972"/>
            <a:ext cx="4678527" cy="1173987"/>
          </a:xfrm>
          <a:prstGeom prst="rect">
            <a:avLst/>
          </a:prstGeom>
          <a:noFill/>
        </p:spPr>
        <p:txBody>
          <a:bodyPr wrap="square" anchor="t" lIns="0" rIns="0" tIns="0" bIns="0">
            <a:spAutoFit/>
          </a:bodyPr>
          <a:lstStyle/>
          <a:p>
            <a:r>
              <a:rPr sz="2200" i="0" b="0">
                <a:solidFill>
                  <a:srgbClr val="1A1F36"/>
                </a:solidFill>
                <a:latin typeface="Calibri"/>
              </a:rPr>
              <a:t>Antispasmodic Drugs for Muscle Spasm</a:t>
            </a:r>
          </a:p>
        </p:txBody>
      </p:sp>
      <p:sp>
        <p:nvSpPr>
          <p:cNvPr id="17" name="Oval 16"/>
          <p:cNvSpPr/>
          <p:nvPr/>
        </p:nvSpPr>
        <p:spPr>
          <a:xfrm>
            <a:off x="548640" y="45333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551679"/>
            <a:ext cx="4678527" cy="1173987"/>
          </a:xfrm>
          <a:prstGeom prst="rect">
            <a:avLst/>
          </a:prstGeom>
          <a:noFill/>
        </p:spPr>
        <p:txBody>
          <a:bodyPr wrap="square" anchor="t" lIns="0" rIns="0" tIns="0" bIns="0">
            <a:spAutoFit/>
          </a:bodyPr>
          <a:lstStyle/>
          <a:p>
            <a:r>
              <a:rPr sz="2200" i="0" b="0">
                <a:solidFill>
                  <a:srgbClr val="1A1F36"/>
                </a:solidFill>
                <a:latin typeface="Calibri"/>
              </a:rPr>
              <a:t>Dantrolene: a Direct-Acting Relaxant</a:t>
            </a:r>
          </a:p>
        </p:txBody>
      </p:sp>
      <p:sp>
        <p:nvSpPr>
          <p:cNvPr id="19" name="Oval 18"/>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Neuromuscular Blockers</a:t>
            </a:r>
          </a:p>
        </p:txBody>
      </p:sp>
      <p:sp>
        <p:nvSpPr>
          <p:cNvPr id="21" name="Oval 20"/>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Malignant Hyperthermia</a:t>
            </a:r>
          </a:p>
        </p:txBody>
      </p:sp>
      <p:sp>
        <p:nvSpPr>
          <p:cNvPr id="23" name="Oval 22"/>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4" name="TextBox 23"/>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5" name="Oval 24"/>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6" name="TextBox 25"/>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Two Groups, Two Aims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Muscle relaxants form two groups with different uses:</a:t>
            </a:r>
          </a:p>
        </p:txBody>
      </p:sp>
      <p:sp>
        <p:nvSpPr>
          <p:cNvPr id="12" name="Oval 11"/>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272284"/>
            <a:ext cx="10500055" cy="1142237"/>
          </a:xfrm>
          <a:prstGeom prst="rect">
            <a:avLst/>
          </a:prstGeom>
          <a:noFill/>
        </p:spPr>
        <p:txBody>
          <a:bodyPr wrap="square" anchor="t" lIns="0" rIns="0" tIns="0" bIns="0">
            <a:spAutoFit/>
          </a:bodyPr>
          <a:lstStyle/>
          <a:p>
            <a:r>
              <a:rPr sz="2100" i="0" b="1">
                <a:solidFill>
                  <a:srgbClr val="1A1F36"/>
                </a:solidFill>
                <a:latin typeface="Calibri"/>
              </a:rPr>
              <a:t>Spasmolytics</a:t>
            </a:r>
            <a:r>
              <a:rPr sz="2100" i="0" b="0">
                <a:solidFill>
                  <a:srgbClr val="1A1F36"/>
                </a:solidFill>
                <a:latin typeface="Calibri"/>
              </a:rPr>
              <a:t> act in the brain and spinal cord, or directly on muscle. They are used for spasticity and muscle spasm in conscious patients.</a:t>
            </a:r>
          </a:p>
        </p:txBody>
      </p:sp>
      <p:sp>
        <p:nvSpPr>
          <p:cNvPr id="14" name="Oval 13"/>
          <p:cNvSpPr/>
          <p:nvPr/>
        </p:nvSpPr>
        <p:spPr>
          <a:xfrm>
            <a:off x="548640" y="344195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460242"/>
            <a:ext cx="10500055" cy="1475612"/>
          </a:xfrm>
          <a:prstGeom prst="rect">
            <a:avLst/>
          </a:prstGeom>
          <a:noFill/>
        </p:spPr>
        <p:txBody>
          <a:bodyPr wrap="square" anchor="t" lIns="0" rIns="0" tIns="0" bIns="0">
            <a:spAutoFit/>
          </a:bodyPr>
          <a:lstStyle/>
          <a:p>
            <a:r>
              <a:rPr sz="2100" i="0" b="1">
                <a:solidFill>
                  <a:srgbClr val="1A1F36"/>
                </a:solidFill>
                <a:latin typeface="Calibri"/>
              </a:rPr>
              <a:t>Neuromuscular blockers (NMBs)</a:t>
            </a:r>
            <a:r>
              <a:rPr sz="2100" i="0" b="0">
                <a:solidFill>
                  <a:srgbClr val="1A1F36"/>
                </a:solidFill>
                <a:latin typeface="Calibri"/>
              </a:rPr>
              <a:t> act at the neuromuscular junction. They have no CNS effect, no analgesia and no sedation. They are used only during anaesthesia and in intensive care, with ventilation.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Spasticity versus spasm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pic>
        <p:nvPicPr>
          <p:cNvPr id="11" name="Picture 10" descr="A vertical chain: brain and brainstem, spinal cord, neuromuscular junction and muscle fibre, each linked to the drugs acting there: antispasmodics, antispastics, neuromuscular blockers and dantrolene."/>
          <p:cNvPicPr>
            <a:picLocks noChangeAspect="1"/>
          </p:cNvPicPr>
          <p:nvPr/>
        </p:nvPicPr>
        <p:blipFill>
          <a:blip r:embed="rId5"/>
          <a:stretch>
            <a:fillRect/>
          </a:stretch>
        </p:blipFill>
        <p:spPr>
          <a:xfrm>
            <a:off x="1842757" y="1554480"/>
            <a:ext cx="8506180" cy="4160520"/>
          </a:xfrm>
          <a:prstGeom prst="rect">
            <a:avLst/>
          </a:prstGeom>
        </p:spPr>
      </p:pic>
      <p:sp>
        <p:nvSpPr>
          <p:cNvPr id="12" name="TextBox 11"/>
          <p:cNvSpPr txBox="1"/>
          <p:nvPr/>
        </p:nvSpPr>
        <p:spPr>
          <a:xfrm>
            <a:off x="548640" y="5806440"/>
            <a:ext cx="11094415" cy="365760"/>
          </a:xfrm>
          <a:prstGeom prst="rect">
            <a:avLst/>
          </a:prstGeom>
          <a:noFill/>
        </p:spPr>
        <p:txBody>
          <a:bodyPr wrap="square" anchor="t" lIns="0" rIns="0" tIns="0" bIns="0">
            <a:spAutoFit/>
          </a:bodyPr>
          <a:lstStyle/>
          <a:p>
            <a:pPr algn="ctr"/>
            <a:r>
              <a:rPr sz="1300" i="1" b="0">
                <a:solidFill>
                  <a:srgbClr val="5A6072"/>
                </a:solidFill>
                <a:latin typeface="Calibri"/>
              </a:rPr>
              <a:t>Sites of action of skeletal muscle relaxants from brain to muscle fibre.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Baclofen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Opens K+ channels, so the neuron hyperpolarises.</a:t>
            </a:r>
          </a:p>
        </p:txBody>
      </p:sp>
      <p:sp>
        <p:nvSpPr>
          <p:cNvPr id="13" name="Oval 12"/>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Reduces Ca2+ entry into nerve endings, so less excitatory transmitter is released.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Antispastic 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43128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Never stop baclofen suddenly. Withdrawal causes hallucinations, seizures, high fever and rebound spasticity. With intrathecal pumps, pump failure can be life-threatening. Reduce the dose slowly.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Antispasmodic Drugs for Muscle Spasm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3200400"/>
        </p:xfrm>
        <a:graphic>
          <a:graphicData uri="http://schemas.openxmlformats.org/drawingml/2006/table">
            <a:tbl>
              <a:tblPr firstRow="0" bandRow="0">
                <a:tableStyleId>{5C22544A-7EE6-4342-B048-85BDC9FD1C3A}</a:tableStyleId>
              </a:tblPr>
              <a:tblGrid>
                <a:gridCol w="2055494"/>
                <a:gridCol w="4363803"/>
                <a:gridCol w="4675116"/>
              </a:tblGrid>
              <a:tr h="640080">
                <a:tc>
                  <a:txBody>
                    <a:bodyPr/>
                    <a:lstStyle/>
                    <a:p>
                      <a:r>
                        <a:rPr sz="1500" i="0" b="1">
                          <a:solidFill>
                            <a:srgbClr val="FFFFFF"/>
                          </a:solidFill>
                          <a:latin typeface="Calibri"/>
                        </a:rPr>
                        <a:t>Drug</a:t>
                      </a:r>
                    </a:p>
                  </a:txBody>
                  <a:tcPr marL="109728" marR="109728" marT="45720" marB="45720" anchor="ctr">
                    <a:solidFill>
                      <a:srgbClr val="1B2A8C"/>
                    </a:solidFill>
                  </a:tcPr>
                </a:tc>
                <a:tc>
                  <a:txBody>
                    <a:bodyPr/>
                    <a:lstStyle/>
                    <a:p>
                      <a:r>
                        <a:rPr sz="1500" i="0" b="1">
                          <a:solidFill>
                            <a:srgbClr val="FFFFFF"/>
                          </a:solidFill>
                          <a:latin typeface="Calibri"/>
                        </a:rPr>
                        <a:t>Mechanism</a:t>
                      </a:r>
                    </a:p>
                  </a:txBody>
                  <a:tcPr marL="109728" marR="109728" marT="45720" marB="45720" anchor="ctr">
                    <a:solidFill>
                      <a:srgbClr val="1B2A8C"/>
                    </a:solidFill>
                  </a:tcPr>
                </a:tc>
                <a:tc>
                  <a:txBody>
                    <a:bodyPr/>
                    <a:lstStyle/>
                    <a:p>
                      <a:r>
                        <a:rPr sz="1500" i="0" b="1">
                          <a:solidFill>
                            <a:srgbClr val="FFFFFF"/>
                          </a:solidFill>
                          <a:latin typeface="Calibri"/>
                        </a:rPr>
                        <a:t>Key points</a:t>
                      </a:r>
                    </a:p>
                  </a:txBody>
                  <a:tcPr marL="109728" marR="109728" marT="45720" marB="45720" anchor="ctr">
                    <a:solidFill>
                      <a:srgbClr val="1B2A8C"/>
                    </a:solidFill>
                  </a:tcPr>
                </a:tc>
              </a:tr>
              <a:tr h="640080">
                <a:tc>
                  <a:txBody>
                    <a:bodyPr/>
                    <a:lstStyle/>
                    <a:p>
                      <a:r>
                        <a:rPr sz="1600" i="0" b="1">
                          <a:solidFill>
                            <a:srgbClr val="1A1F36"/>
                          </a:solidFill>
                          <a:latin typeface="Calibri"/>
                        </a:rPr>
                        <a:t>Cyclobenzaprine</a:t>
                      </a:r>
                    </a:p>
                  </a:txBody>
                  <a:tcPr marL="109728" marR="109728" marT="45720" marB="45720" anchor="ctr">
                    <a:solidFill>
                      <a:srgbClr val="FFFFFF"/>
                    </a:solidFill>
                  </a:tcPr>
                </a:tc>
                <a:tc>
                  <a:txBody>
                    <a:bodyPr/>
                    <a:lstStyle/>
                    <a:p>
                      <a:r>
                        <a:rPr sz="1600" i="0" b="0">
                          <a:solidFill>
                            <a:srgbClr val="1A1F36"/>
                          </a:solidFill>
                          <a:latin typeface="Calibri"/>
                        </a:rPr>
                        <a:t>Structurally related to TCAs; acts in the brainstem</a:t>
                      </a:r>
                    </a:p>
                  </a:txBody>
                  <a:tcPr marL="109728" marR="109728" marT="45720" marB="45720" anchor="ctr">
                    <a:solidFill>
                      <a:srgbClr val="FFFFFF"/>
                    </a:solidFill>
                  </a:tcPr>
                </a:tc>
                <a:tc>
                  <a:txBody>
                    <a:bodyPr/>
                    <a:lstStyle/>
                    <a:p>
                      <a:r>
                        <a:rPr sz="1600" i="0" b="0">
                          <a:solidFill>
                            <a:srgbClr val="1A1F36"/>
                          </a:solidFill>
                          <a:latin typeface="Calibri"/>
                        </a:rPr>
                        <a:t>Anticholinergic effects, sedation; serotonin syndrome with SSRIs or tramadol; do not use within 14 days of an MAO inhibitor; avoid in older people and heart disease</a:t>
                      </a:r>
                    </a:p>
                  </a:txBody>
                  <a:tcPr marL="109728" marR="109728" marT="45720" marB="45720" anchor="ctr">
                    <a:solidFill>
                      <a:srgbClr val="FFFFFF"/>
                    </a:solidFill>
                  </a:tcPr>
                </a:tc>
              </a:tr>
              <a:tr h="640080">
                <a:tc>
                  <a:txBody>
                    <a:bodyPr/>
                    <a:lstStyle/>
                    <a:p>
                      <a:r>
                        <a:rPr sz="1600" i="0" b="1">
                          <a:solidFill>
                            <a:srgbClr val="1A1F36"/>
                          </a:solidFill>
                          <a:latin typeface="Calibri"/>
                        </a:rPr>
                        <a:t>Orphenadrine</a:t>
                      </a:r>
                    </a:p>
                  </a:txBody>
                  <a:tcPr marL="109728" marR="109728" marT="45720" marB="45720" anchor="ctr">
                    <a:solidFill>
                      <a:srgbClr val="F1F2F8"/>
                    </a:solidFill>
                  </a:tcPr>
                </a:tc>
                <a:tc>
                  <a:txBody>
                    <a:bodyPr/>
                    <a:lstStyle/>
                    <a:p>
                      <a:r>
                        <a:rPr sz="1600" i="0" b="0">
                          <a:solidFill>
                            <a:srgbClr val="1A1F36"/>
                          </a:solidFill>
                          <a:latin typeface="Calibri"/>
                        </a:rPr>
                        <a:t>Anticholinergic, related to diphenhydramine</a:t>
                      </a:r>
                    </a:p>
                  </a:txBody>
                  <a:tcPr marL="109728" marR="109728" marT="45720" marB="45720" anchor="ctr">
                    <a:solidFill>
                      <a:srgbClr val="F1F2F8"/>
                    </a:solidFill>
                  </a:tcPr>
                </a:tc>
                <a:tc>
                  <a:txBody>
                    <a:bodyPr/>
                    <a:lstStyle/>
                    <a:p>
                      <a:r>
                        <a:rPr sz="1600" i="0" b="0">
                          <a:solidFill>
                            <a:srgbClr val="1A1F36"/>
                          </a:solidFill>
                          <a:latin typeface="Calibri"/>
                        </a:rPr>
                        <a:t>Dry mouth, urinary retention, confusion; avoid in glaucoma and prostatic enlargement; misused at high doses</a:t>
                      </a:r>
                    </a:p>
                  </a:txBody>
                  <a:tcPr marL="109728" marR="109728" marT="45720" marB="45720" anchor="ctr">
                    <a:solidFill>
                      <a:srgbClr val="F1F2F8"/>
                    </a:solidFill>
                  </a:tcPr>
                </a:tc>
              </a:tr>
              <a:tr h="640080">
                <a:tc>
                  <a:txBody>
                    <a:bodyPr/>
                    <a:lstStyle/>
                    <a:p>
                      <a:r>
                        <a:rPr sz="1600" i="0" b="1">
                          <a:solidFill>
                            <a:srgbClr val="1A1F36"/>
                          </a:solidFill>
                          <a:latin typeface="Calibri"/>
                        </a:rPr>
                        <a:t>Chlorzoxazone</a:t>
                      </a:r>
                    </a:p>
                  </a:txBody>
                  <a:tcPr marL="109728" marR="109728" marT="45720" marB="45720" anchor="ctr">
                    <a:solidFill>
                      <a:srgbClr val="FFFFFF"/>
                    </a:solidFill>
                  </a:tcPr>
                </a:tc>
                <a:tc>
                  <a:txBody>
                    <a:bodyPr/>
                    <a:lstStyle/>
                    <a:p>
                      <a:r>
                        <a:rPr sz="1600" i="0" b="0">
                          <a:solidFill>
                            <a:srgbClr val="1A1F36"/>
                          </a:solidFill>
                          <a:latin typeface="Calibri"/>
                        </a:rPr>
                        <a:t>Blocks polysynaptic spinal reflexes</a:t>
                      </a:r>
                    </a:p>
                  </a:txBody>
                  <a:tcPr marL="109728" marR="109728" marT="45720" marB="45720" anchor="ctr">
                    <a:solidFill>
                      <a:srgbClr val="FFFFFF"/>
                    </a:solidFill>
                  </a:tcPr>
                </a:tc>
                <a:tc>
                  <a:txBody>
                    <a:bodyPr/>
                    <a:lstStyle/>
                    <a:p>
                      <a:r>
                        <a:rPr sz="1600" i="0" b="0">
                          <a:solidFill>
                            <a:srgbClr val="1A1F36"/>
                          </a:solidFill>
                          <a:latin typeface="Calibri"/>
                        </a:rPr>
                        <a:t>Rare but serious liver injury; stop if jaundice occurs</a:t>
                      </a:r>
                    </a:p>
                  </a:txBody>
                  <a:tcPr marL="109728" marR="109728" marT="45720" marB="45720" anchor="ctr">
                    <a:solidFill>
                      <a:srgbClr val="FFFFFF"/>
                    </a:solidFill>
                  </a:tcPr>
                </a:tc>
              </a:tr>
              <a:tr h="640080">
                <a:tc>
                  <a:txBody>
                    <a:bodyPr/>
                    <a:lstStyle/>
                    <a:p>
                      <a:r>
                        <a:rPr sz="1600" i="0" b="1">
                          <a:solidFill>
                            <a:srgbClr val="1A1F36"/>
                          </a:solidFill>
                          <a:latin typeface="Calibri"/>
                        </a:rPr>
                        <a:t>Methocarbamol</a:t>
                      </a:r>
                    </a:p>
                  </a:txBody>
                  <a:tcPr marL="109728" marR="109728" marT="45720" marB="45720" anchor="ctr">
                    <a:solidFill>
                      <a:srgbClr val="F1F2F8"/>
                    </a:solidFill>
                  </a:tcPr>
                </a:tc>
                <a:tc>
                  <a:txBody>
                    <a:bodyPr/>
                    <a:lstStyle/>
                    <a:p>
                      <a:r>
                        <a:rPr sz="1600" i="0" b="0">
                          <a:solidFill>
                            <a:srgbClr val="1A1F36"/>
                          </a:solidFill>
                          <a:latin typeface="Calibri"/>
                        </a:rPr>
                        <a:t>Central depressant; exact mechanism unclear</a:t>
                      </a:r>
                    </a:p>
                  </a:txBody>
                  <a:tcPr marL="109728" marR="109728" marT="45720" marB="45720" anchor="ctr">
                    <a:solidFill>
                      <a:srgbClr val="F1F2F8"/>
                    </a:solidFill>
                  </a:tcPr>
                </a:tc>
                <a:tc>
                  <a:txBody>
                    <a:bodyPr/>
                    <a:lstStyle/>
                    <a:p>
                      <a:r>
                        <a:rPr sz="1600" i="0" b="0">
                          <a:solidFill>
                            <a:srgbClr val="1A1F36"/>
                          </a:solidFill>
                          <a:latin typeface="Calibri"/>
                        </a:rPr>
                        <a:t>Drowsiness, dizziness; low misuse potential; well tolerated</a:t>
                      </a:r>
                    </a:p>
                  </a:txBody>
                  <a:tcPr marL="109728" marR="109728" marT="45720" marB="45720" anchor="ctr">
                    <a:solidFill>
                      <a:srgbClr val="F1F2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Dantrolene: a Direct-Acting Relaxant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Dantrolene is a hydantoin derivative, related to phenytoin. It acts </a:t>
            </a:r>
            <a:r>
              <a:rPr sz="1700" i="0" b="1">
                <a:solidFill>
                  <a:srgbClr val="1A1F36"/>
                </a:solidFill>
                <a:latin typeface="Calibri"/>
              </a:rPr>
              <a:t>inside the muscle</a:t>
            </a:r>
            <a:r>
              <a:rPr sz="1700" i="0" b="0">
                <a:solidFill>
                  <a:srgbClr val="1A1F36"/>
                </a:solidFill>
                <a:latin typeface="Calibri"/>
              </a:rPr>
              <a:t>. It blocks the </a:t>
            </a:r>
            <a:r>
              <a:rPr sz="1700" i="0" b="1">
                <a:solidFill>
                  <a:srgbClr val="1A1F36"/>
                </a:solidFill>
                <a:latin typeface="Calibri"/>
              </a:rPr>
              <a:t>RyR1</a:t>
            </a:r>
            <a:r>
              <a:rPr sz="1700" i="0" b="0">
                <a:solidFill>
                  <a:srgbClr val="1A1F36"/>
                </a:solidFill>
                <a:latin typeface="Calibri"/>
              </a:rPr>
              <a:t> channel and so reduces Ca2+ release from the sarcoplasmic reticulum. Contraction becomes weaker. It has little effect on heart or smooth muscle.</a:t>
            </a:r>
          </a:p>
          <a:p>
            <a:pPr>
              <a:spcAft>
                <a:spcPts val="800"/>
              </a:spcAft>
            </a:pPr>
            <a:r>
              <a:rPr sz="1700" i="0" b="0">
                <a:solidFill>
                  <a:srgbClr val="1A1F36"/>
                </a:solidFill>
                <a:latin typeface="Calibri"/>
              </a:rPr>
              <a:t>Uses:</a:t>
            </a:r>
          </a:p>
          <a:p>
            <a:pPr>
              <a:spcAft>
                <a:spcPts val="800"/>
              </a:spcAft>
            </a:pPr>
            <a:r>
              <a:rPr sz="1700" i="0" b="0">
                <a:solidFill>
                  <a:srgbClr val="1A1F36"/>
                </a:solidFill>
                <a:latin typeface="Calibri"/>
              </a:rPr>
              <a:t>Adverse effects: muscle weakness, drowsiness, diarrhoea and </a:t>
            </a:r>
            <a:r>
              <a:rPr sz="1700" i="0" b="1">
                <a:solidFill>
                  <a:srgbClr val="1A1F36"/>
                </a:solidFill>
                <a:latin typeface="Calibri"/>
              </a:rPr>
              <a:t>liver injury</a:t>
            </a:r>
            <a:r>
              <a:rPr sz="1700" i="0" b="0">
                <a:solidFill>
                  <a:srgbClr val="1A1F36"/>
                </a:solidFill>
                <a:latin typeface="Calibri"/>
              </a:rPr>
              <a:t>, which carries a boxed warning with long-term oral use. Check liver function.</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1142237"/>
          </a:xfrm>
          <a:prstGeom prst="rect">
            <a:avLst/>
          </a:prstGeom>
          <a:noFill/>
        </p:spPr>
        <p:txBody>
          <a:bodyPr wrap="square" anchor="t" lIns="0" rIns="0" tIns="0" bIns="0">
            <a:spAutoFit/>
          </a:bodyPr>
          <a:lstStyle/>
          <a:p>
            <a:r>
              <a:rPr sz="2100" i="0" b="0">
                <a:solidFill>
                  <a:srgbClr val="1A1F36"/>
                </a:solidFill>
                <a:latin typeface="Calibri"/>
              </a:rPr>
              <a:t>Chronic spasticity (oral), for example in multiple sclerosis or spinal cord injury.</a:t>
            </a:r>
          </a:p>
        </p:txBody>
      </p:sp>
      <p:sp>
        <p:nvSpPr>
          <p:cNvPr id="14" name="Oval 13"/>
          <p:cNvSpPr/>
          <p:nvPr/>
        </p:nvSpPr>
        <p:spPr>
          <a:xfrm>
            <a:off x="5394959"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1A1F36"/>
                </a:solidFill>
                <a:latin typeface="Calibri"/>
              </a:rPr>
              <a:t>Malignant hyperthermia</a:t>
            </a:r>
            <a:r>
              <a:rPr sz="2100" i="0" b="0">
                <a:solidFill>
                  <a:srgbClr val="1A1F36"/>
                </a:solidFill>
                <a:latin typeface="Calibri"/>
              </a:rPr>
              <a:t> (IV); it is the only specific treatment.</a:t>
            </a:r>
          </a:p>
        </p:txBody>
      </p:sp>
      <p:sp>
        <p:nvSpPr>
          <p:cNvPr id="16" name="Oval 15"/>
          <p:cNvSpPr/>
          <p:nvPr/>
        </p:nvSpPr>
        <p:spPr>
          <a:xfrm>
            <a:off x="5394959"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5989320" y="3966971"/>
            <a:ext cx="5653735" cy="1142237"/>
          </a:xfrm>
          <a:prstGeom prst="rect">
            <a:avLst/>
          </a:prstGeom>
          <a:noFill/>
        </p:spPr>
        <p:txBody>
          <a:bodyPr wrap="square" anchor="t" lIns="0" rIns="0" tIns="0" bIns="0">
            <a:spAutoFit/>
          </a:bodyPr>
          <a:lstStyle/>
          <a:p>
            <a:r>
              <a:rPr sz="2100" i="0" b="0">
                <a:solidFill>
                  <a:srgbClr val="1A1F36"/>
                </a:solidFill>
                <a:latin typeface="Calibri"/>
              </a:rPr>
              <a:t>Neuroleptic malignant syndrome (sometimes).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Non-depolarising blockers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925476"/>
                <a:gridCol w="2934060"/>
                <a:gridCol w="6234877"/>
              </a:tblGrid>
              <a:tr h="640080">
                <a:tc>
                  <a:txBody>
                    <a:bodyPr/>
                    <a:lstStyle/>
                    <a:p>
                      <a:r>
                        <a:rPr sz="1500" i="0" b="1">
                          <a:solidFill>
                            <a:srgbClr val="FFFFFF"/>
                          </a:solidFill>
                          <a:latin typeface="Calibri"/>
                        </a:rPr>
                        <a:t>Drug</a:t>
                      </a:r>
                    </a:p>
                  </a:txBody>
                  <a:tcPr marL="109728" marR="109728" marT="45720" marB="45720" anchor="ctr">
                    <a:solidFill>
                      <a:srgbClr val="1B2A8C"/>
                    </a:solidFill>
                  </a:tcPr>
                </a:tc>
                <a:tc>
                  <a:txBody>
                    <a:bodyPr/>
                    <a:lstStyle/>
                    <a:p>
                      <a:r>
                        <a:rPr sz="1500" i="0" b="1">
                          <a:solidFill>
                            <a:srgbClr val="FFFFFF"/>
                          </a:solidFill>
                          <a:latin typeface="Calibri"/>
                        </a:rPr>
                        <a:t>Onset and duration</a:t>
                      </a:r>
                    </a:p>
                  </a:txBody>
                  <a:tcPr marL="109728" marR="109728" marT="45720" marB="45720" anchor="ctr">
                    <a:solidFill>
                      <a:srgbClr val="1B2A8C"/>
                    </a:solidFill>
                  </a:tcPr>
                </a:tc>
                <a:tc>
                  <a:txBody>
                    <a:bodyPr/>
                    <a:lstStyle/>
                    <a:p>
                      <a:r>
                        <a:rPr sz="1500" i="0" b="1">
                          <a:solidFill>
                            <a:srgbClr val="FFFFFF"/>
                          </a:solidFill>
                          <a:latin typeface="Calibri"/>
                        </a:rPr>
                        <a:t>Elimination and notes</a:t>
                      </a:r>
                    </a:p>
                  </a:txBody>
                  <a:tcPr marL="109728" marR="109728" marT="45720" marB="45720" anchor="ctr">
                    <a:solidFill>
                      <a:srgbClr val="1B2A8C"/>
                    </a:solidFill>
                  </a:tcPr>
                </a:tc>
              </a:tr>
              <a:tr h="640080">
                <a:tc>
                  <a:txBody>
                    <a:bodyPr/>
                    <a:lstStyle/>
                    <a:p>
                      <a:r>
                        <a:rPr sz="1600" i="0" b="1">
                          <a:solidFill>
                            <a:srgbClr val="1A1F36"/>
                          </a:solidFill>
                          <a:latin typeface="Calibri"/>
                        </a:rPr>
                        <a:t>Rocuronium</a:t>
                      </a:r>
                    </a:p>
                  </a:txBody>
                  <a:tcPr marL="109728" marR="109728" marT="45720" marB="45720" anchor="ctr">
                    <a:solidFill>
                      <a:srgbClr val="FFFFFF"/>
                    </a:solidFill>
                  </a:tcPr>
                </a:tc>
                <a:tc>
                  <a:txBody>
                    <a:bodyPr/>
                    <a:lstStyle/>
                    <a:p>
                      <a:r>
                        <a:rPr sz="1600" i="0" b="0">
                          <a:solidFill>
                            <a:srgbClr val="1A1F36"/>
                          </a:solidFill>
                          <a:latin typeface="Calibri"/>
                        </a:rPr>
                        <a:t>Fast onset; intermediate</a:t>
                      </a:r>
                    </a:p>
                  </a:txBody>
                  <a:tcPr marL="109728" marR="109728" marT="45720" marB="45720" anchor="ctr">
                    <a:solidFill>
                      <a:srgbClr val="FFFFFF"/>
                    </a:solidFill>
                  </a:tcPr>
                </a:tc>
                <a:tc>
                  <a:txBody>
                    <a:bodyPr/>
                    <a:lstStyle/>
                    <a:p>
                      <a:r>
                        <a:rPr sz="1600" i="0" b="0">
                          <a:solidFill>
                            <a:srgbClr val="1A1F36"/>
                          </a:solidFill>
                          <a:latin typeface="Calibri"/>
                        </a:rPr>
                        <a:t>Liver (bile); used for rapid intubation; reversed by sugammadex</a:t>
                      </a:r>
                    </a:p>
                  </a:txBody>
                  <a:tcPr marL="109728" marR="109728" marT="45720" marB="45720" anchor="ctr">
                    <a:solidFill>
                      <a:srgbClr val="FFFFFF"/>
                    </a:solidFill>
                  </a:tcPr>
                </a:tc>
              </a:tr>
              <a:tr h="640080">
                <a:tc>
                  <a:txBody>
                    <a:bodyPr/>
                    <a:lstStyle/>
                    <a:p>
                      <a:r>
                        <a:rPr sz="1600" i="0" b="1">
                          <a:solidFill>
                            <a:srgbClr val="1A1F36"/>
                          </a:solidFill>
                          <a:latin typeface="Calibri"/>
                        </a:rPr>
                        <a:t>Vecuronium</a:t>
                      </a:r>
                    </a:p>
                  </a:txBody>
                  <a:tcPr marL="109728" marR="109728" marT="45720" marB="45720" anchor="ctr">
                    <a:solidFill>
                      <a:srgbClr val="F1F2F8"/>
                    </a:solidFill>
                  </a:tcPr>
                </a:tc>
                <a:tc>
                  <a:txBody>
                    <a:bodyPr/>
                    <a:lstStyle/>
                    <a:p>
                      <a:r>
                        <a:rPr sz="1600" i="0" b="0">
                          <a:solidFill>
                            <a:srgbClr val="1A1F36"/>
                          </a:solidFill>
                          <a:latin typeface="Calibri"/>
                        </a:rPr>
                        <a:t>Intermediate</a:t>
                      </a:r>
                    </a:p>
                  </a:txBody>
                  <a:tcPr marL="109728" marR="109728" marT="45720" marB="45720" anchor="ctr">
                    <a:solidFill>
                      <a:srgbClr val="F1F2F8"/>
                    </a:solidFill>
                  </a:tcPr>
                </a:tc>
                <a:tc>
                  <a:txBody>
                    <a:bodyPr/>
                    <a:lstStyle/>
                    <a:p>
                      <a:r>
                        <a:rPr sz="1600" i="0" b="0">
                          <a:solidFill>
                            <a:srgbClr val="1A1F36"/>
                          </a:solidFill>
                          <a:latin typeface="Calibri"/>
                        </a:rPr>
                        <a:t>Liver; active metabolite (3-desacetyl) can build up in kidney failure and in intensive care</a:t>
                      </a:r>
                    </a:p>
                  </a:txBody>
                  <a:tcPr marL="109728" marR="109728" marT="45720" marB="45720" anchor="ctr">
                    <a:solidFill>
                      <a:srgbClr val="F1F2F8"/>
                    </a:solidFill>
                  </a:tcPr>
                </a:tc>
              </a:tr>
              <a:tr h="640080">
                <a:tc>
                  <a:txBody>
                    <a:bodyPr/>
                    <a:lstStyle/>
                    <a:p>
                      <a:r>
                        <a:rPr sz="1600" i="0" b="1">
                          <a:solidFill>
                            <a:srgbClr val="1A1F36"/>
                          </a:solidFill>
                          <a:latin typeface="Calibri"/>
                        </a:rPr>
                        <a:t>Atracurium</a:t>
                      </a:r>
                    </a:p>
                  </a:txBody>
                  <a:tcPr marL="109728" marR="109728" marT="45720" marB="45720" anchor="ctr">
                    <a:solidFill>
                      <a:srgbClr val="FFFFFF"/>
                    </a:solidFill>
                  </a:tcPr>
                </a:tc>
                <a:tc>
                  <a:txBody>
                    <a:bodyPr/>
                    <a:lstStyle/>
                    <a:p>
                      <a:r>
                        <a:rPr sz="1600" i="0" b="0">
                          <a:solidFill>
                            <a:srgbClr val="1A1F36"/>
                          </a:solidFill>
                          <a:latin typeface="Calibri"/>
                        </a:rPr>
                        <a:t>Intermediate</a:t>
                      </a:r>
                    </a:p>
                  </a:txBody>
                  <a:tcPr marL="109728" marR="109728" marT="45720" marB="45720" anchor="ctr">
                    <a:solidFill>
                      <a:srgbClr val="FFFFFF"/>
                    </a:solidFill>
                  </a:tcPr>
                </a:tc>
                <a:tc>
                  <a:txBody>
                    <a:bodyPr/>
                    <a:lstStyle/>
                    <a:p>
                      <a:r>
                        <a:rPr sz="1600" i="0" b="0">
                          <a:solidFill>
                            <a:srgbClr val="1A1F36"/>
                          </a:solidFill>
                          <a:latin typeface="Calibri"/>
                        </a:rPr>
                        <a:t>Hofmann elimination in plasma; releases histamine (flushing, hypotension)</a:t>
                      </a:r>
                    </a:p>
                  </a:txBody>
                  <a:tcPr marL="109728" marR="109728" marT="45720" marB="45720" anchor="ctr">
                    <a:solidFill>
                      <a:srgbClr val="FFFFFF"/>
                    </a:solidFill>
                  </a:tcPr>
                </a:tc>
              </a:tr>
              <a:tr h="640080">
                <a:tc>
                  <a:txBody>
                    <a:bodyPr/>
                    <a:lstStyle/>
                    <a:p>
                      <a:r>
                        <a:rPr sz="1600" i="0" b="1">
                          <a:solidFill>
                            <a:srgbClr val="1A1F36"/>
                          </a:solidFill>
                          <a:latin typeface="Calibri"/>
                        </a:rPr>
                        <a:t>Cisatracurium</a:t>
                      </a:r>
                    </a:p>
                  </a:txBody>
                  <a:tcPr marL="109728" marR="109728" marT="45720" marB="45720" anchor="ctr">
                    <a:solidFill>
                      <a:srgbClr val="F1F2F8"/>
                    </a:solidFill>
                  </a:tcPr>
                </a:tc>
                <a:tc>
                  <a:txBody>
                    <a:bodyPr/>
                    <a:lstStyle/>
                    <a:p>
                      <a:r>
                        <a:rPr sz="1600" i="0" b="0">
                          <a:solidFill>
                            <a:srgbClr val="1A1F36"/>
                          </a:solidFill>
                          <a:latin typeface="Calibri"/>
                        </a:rPr>
                        <a:t>Intermediate</a:t>
                      </a:r>
                    </a:p>
                  </a:txBody>
                  <a:tcPr marL="109728" marR="109728" marT="45720" marB="45720" anchor="ctr">
                    <a:solidFill>
                      <a:srgbClr val="F1F2F8"/>
                    </a:solidFill>
                  </a:tcPr>
                </a:tc>
                <a:tc>
                  <a:txBody>
                    <a:bodyPr/>
                    <a:lstStyle/>
                    <a:p>
                      <a:r>
                        <a:rPr sz="1600" i="0" b="0">
                          <a:solidFill>
                            <a:srgbClr val="1A1F36"/>
                          </a:solidFill>
                          <a:latin typeface="Calibri"/>
                        </a:rPr>
                        <a:t>Hofmann elimination; little histamine release; suitable in liver and kidney failure</a:t>
                      </a:r>
                    </a:p>
                  </a:txBody>
                  <a:tcPr marL="109728" marR="109728" marT="45720" marB="45720" anchor="ctr">
                    <a:solidFill>
                      <a:srgbClr val="F1F2F8"/>
                    </a:solidFill>
                  </a:tcPr>
                </a:tc>
              </a:tr>
              <a:tr h="640080">
                <a:tc>
                  <a:txBody>
                    <a:bodyPr/>
                    <a:lstStyle/>
                    <a:p>
                      <a:r>
                        <a:rPr sz="1600" i="0" b="1">
                          <a:solidFill>
                            <a:srgbClr val="1A1F36"/>
                          </a:solidFill>
                          <a:latin typeface="Calibri"/>
                        </a:rPr>
                        <a:t>Pancuronium</a:t>
                      </a:r>
                    </a:p>
                  </a:txBody>
                  <a:tcPr marL="109728" marR="109728" marT="45720" marB="45720" anchor="ctr">
                    <a:solidFill>
                      <a:srgbClr val="FFFFFF"/>
                    </a:solidFill>
                  </a:tcPr>
                </a:tc>
                <a:tc>
                  <a:txBody>
                    <a:bodyPr/>
                    <a:lstStyle/>
                    <a:p>
                      <a:r>
                        <a:rPr sz="1600" i="0" b="0">
                          <a:solidFill>
                            <a:srgbClr val="1A1F36"/>
                          </a:solidFill>
                          <a:latin typeface="Calibri"/>
                        </a:rPr>
                        <a:t>Long</a:t>
                      </a:r>
                    </a:p>
                  </a:txBody>
                  <a:tcPr marL="109728" marR="109728" marT="45720" marB="45720" anchor="ctr">
                    <a:solidFill>
                      <a:srgbClr val="FFFFFF"/>
                    </a:solidFill>
                  </a:tcPr>
                </a:tc>
                <a:tc>
                  <a:txBody>
                    <a:bodyPr/>
                    <a:lstStyle/>
                    <a:p>
                      <a:r>
                        <a:rPr sz="1600" i="0" b="0">
                          <a:solidFill>
                            <a:srgbClr val="1A1F36"/>
                          </a:solidFill>
                          <a:latin typeface="Calibri"/>
                        </a:rPr>
                        <a:t>Mainly renal, partly liver, with an active metabolite; causes tachycardia (vagal block)</a:t>
                      </a:r>
                    </a:p>
                  </a:txBody>
                  <a:tcPr marL="109728" marR="109728" marT="45720" marB="45720"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Depolarising blocker: succinylcholine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Adverse effects:</a:t>
            </a:r>
          </a:p>
        </p:txBody>
      </p:sp>
      <p:graphicFrame>
        <p:nvGraphicFramePr>
          <p:cNvPr id="12" name="Table 11"/>
          <p:cNvGraphicFramePr>
            <a:graphicFrameLocks noGrp="1"/>
          </p:cNvGraphicFramePr>
          <p:nvPr/>
        </p:nvGraphicFramePr>
        <p:xfrm>
          <a:off x="548640" y="2235708"/>
          <a:ext cx="11094414" cy="3936492"/>
        </p:xfrm>
        <a:graphic>
          <a:graphicData uri="http://schemas.openxmlformats.org/drawingml/2006/table">
            <a:tbl>
              <a:tblPr firstRow="0" bandRow="0">
                <a:tableStyleId>{5C22544A-7EE6-4342-B048-85BDC9FD1C3A}</a:tableStyleId>
              </a:tblPr>
              <a:tblGrid>
                <a:gridCol w="5464413"/>
                <a:gridCol w="5630001"/>
              </a:tblGrid>
              <a:tr h="562356">
                <a:tc>
                  <a:txBody>
                    <a:bodyPr/>
                    <a:lstStyle/>
                    <a:p>
                      <a:r>
                        <a:rPr sz="1300" i="0" b="1">
                          <a:solidFill>
                            <a:srgbClr val="FFFFFF"/>
                          </a:solidFill>
                          <a:latin typeface="Calibri"/>
                        </a:rPr>
                        <a:t>Effect</a:t>
                      </a:r>
                    </a:p>
                  </a:txBody>
                  <a:tcPr marL="109728" marR="109728" marT="45720" marB="45720" anchor="ctr">
                    <a:solidFill>
                      <a:srgbClr val="1B2A8C"/>
                    </a:solidFill>
                  </a:tcPr>
                </a:tc>
                <a:tc>
                  <a:txBody>
                    <a:bodyPr/>
                    <a:lstStyle/>
                    <a:p>
                      <a:r>
                        <a:rPr sz="1300" i="0" b="1">
                          <a:solidFill>
                            <a:srgbClr val="FFFFFF"/>
                          </a:solidFill>
                          <a:latin typeface="Calibri"/>
                        </a:rPr>
                        <a:t>Cause and at-risk patients</a:t>
                      </a:r>
                    </a:p>
                  </a:txBody>
                  <a:tcPr marL="109728" marR="109728" marT="45720" marB="45720" anchor="ctr">
                    <a:solidFill>
                      <a:srgbClr val="1B2A8C"/>
                    </a:solidFill>
                  </a:tcPr>
                </a:tc>
              </a:tr>
              <a:tr h="562356">
                <a:tc>
                  <a:txBody>
                    <a:bodyPr/>
                    <a:lstStyle/>
                    <a:p>
                      <a:r>
                        <a:rPr sz="1400" i="0" b="1">
                          <a:solidFill>
                            <a:srgbClr val="1A1F36"/>
                          </a:solidFill>
                          <a:latin typeface="Calibri"/>
                        </a:rPr>
                        <a:t>Hyperkalaemia</a:t>
                      </a:r>
                    </a:p>
                  </a:txBody>
                  <a:tcPr marL="109728" marR="109728" marT="45720" marB="45720" anchor="ctr">
                    <a:solidFill>
                      <a:srgbClr val="FFFFFF"/>
                    </a:solidFill>
                  </a:tcPr>
                </a:tc>
                <a:tc>
                  <a:txBody>
                    <a:bodyPr/>
                    <a:lstStyle/>
                    <a:p>
                      <a:r>
                        <a:rPr sz="1400" i="0" b="0">
                          <a:solidFill>
                            <a:srgbClr val="1A1F36"/>
                          </a:solidFill>
                          <a:latin typeface="Calibri"/>
                        </a:rPr>
                        <a:t>K+ leaves depolarised muscle; dangerous after burns, crush injury, denervation or long immobility; can cause cardiac arrest</a:t>
                      </a:r>
                    </a:p>
                  </a:txBody>
                  <a:tcPr marL="109728" marR="109728" marT="45720" marB="45720" anchor="ctr">
                    <a:solidFill>
                      <a:srgbClr val="FFFFFF"/>
                    </a:solidFill>
                  </a:tcPr>
                </a:tc>
              </a:tr>
              <a:tr h="562356">
                <a:tc>
                  <a:txBody>
                    <a:bodyPr/>
                    <a:lstStyle/>
                    <a:p>
                      <a:r>
                        <a:rPr sz="1400" i="0" b="1">
                          <a:solidFill>
                            <a:srgbClr val="1A1F36"/>
                          </a:solidFill>
                          <a:latin typeface="Calibri"/>
                        </a:rPr>
                        <a:t>Bradycardia</a:t>
                      </a:r>
                    </a:p>
                  </a:txBody>
                  <a:tcPr marL="109728" marR="109728" marT="45720" marB="45720" anchor="ctr">
                    <a:solidFill>
                      <a:srgbClr val="F1F2F8"/>
                    </a:solidFill>
                  </a:tcPr>
                </a:tc>
                <a:tc>
                  <a:txBody>
                    <a:bodyPr/>
                    <a:lstStyle/>
                    <a:p>
                      <a:r>
                        <a:rPr sz="1400" i="0" b="0">
                          <a:solidFill>
                            <a:srgbClr val="1A1F36"/>
                          </a:solidFill>
                          <a:latin typeface="Calibri"/>
                        </a:rPr>
                        <a:t>Muscarinic stimulation, especially after a second dose and in children; treat with atropine</a:t>
                      </a:r>
                    </a:p>
                  </a:txBody>
                  <a:tcPr marL="109728" marR="109728" marT="45720" marB="45720" anchor="ctr">
                    <a:solidFill>
                      <a:srgbClr val="F1F2F8"/>
                    </a:solidFill>
                  </a:tcPr>
                </a:tc>
              </a:tr>
              <a:tr h="562356">
                <a:tc>
                  <a:txBody>
                    <a:bodyPr/>
                    <a:lstStyle/>
                    <a:p>
                      <a:r>
                        <a:rPr sz="1400" i="0" b="1">
                          <a:solidFill>
                            <a:srgbClr val="1A1F36"/>
                          </a:solidFill>
                          <a:latin typeface="Calibri"/>
                        </a:rPr>
                        <a:t>Postoperative muscle pain</a:t>
                      </a:r>
                    </a:p>
                  </a:txBody>
                  <a:tcPr marL="109728" marR="109728" marT="45720" marB="45720" anchor="ctr">
                    <a:solidFill>
                      <a:srgbClr val="FFFFFF"/>
                    </a:solidFill>
                  </a:tcPr>
                </a:tc>
                <a:tc>
                  <a:txBody>
                    <a:bodyPr/>
                    <a:lstStyle/>
                    <a:p>
                      <a:r>
                        <a:rPr sz="1400" i="0" b="0">
                          <a:solidFill>
                            <a:srgbClr val="1A1F36"/>
                          </a:solidFill>
                          <a:latin typeface="Calibri"/>
                        </a:rPr>
                        <a:t>Fasciculations</a:t>
                      </a:r>
                    </a:p>
                  </a:txBody>
                  <a:tcPr marL="109728" marR="109728" marT="45720" marB="45720" anchor="ctr">
                    <a:solidFill>
                      <a:srgbClr val="FFFFFF"/>
                    </a:solidFill>
                  </a:tcPr>
                </a:tc>
              </a:tr>
              <a:tr h="562356">
                <a:tc>
                  <a:txBody>
                    <a:bodyPr/>
                    <a:lstStyle/>
                    <a:p>
                      <a:r>
                        <a:rPr sz="1400" i="0" b="1">
                          <a:solidFill>
                            <a:srgbClr val="1A1F36"/>
                          </a:solidFill>
                          <a:latin typeface="Calibri"/>
                        </a:rPr>
                        <a:t>Raised intraocular, intragastric and intracranial pressure</a:t>
                      </a:r>
                    </a:p>
                  </a:txBody>
                  <a:tcPr marL="109728" marR="109728" marT="45720" marB="45720" anchor="ctr">
                    <a:solidFill>
                      <a:srgbClr val="F1F2F8"/>
                    </a:solidFill>
                  </a:tcPr>
                </a:tc>
                <a:tc>
                  <a:txBody>
                    <a:bodyPr/>
                    <a:lstStyle/>
                    <a:p>
                      <a:r>
                        <a:rPr sz="1400" i="0" b="0">
                          <a:solidFill>
                            <a:srgbClr val="1A1F36"/>
                          </a:solidFill>
                          <a:latin typeface="Calibri"/>
                        </a:rPr>
                        <a:t>Muscle contraction; care in open eye injury</a:t>
                      </a:r>
                    </a:p>
                  </a:txBody>
                  <a:tcPr marL="109728" marR="109728" marT="45720" marB="45720" anchor="ctr">
                    <a:solidFill>
                      <a:srgbClr val="F1F2F8"/>
                    </a:solidFill>
                  </a:tcPr>
                </a:tc>
              </a:tr>
              <a:tr h="562356">
                <a:tc>
                  <a:txBody>
                    <a:bodyPr/>
                    <a:lstStyle/>
                    <a:p>
                      <a:r>
                        <a:rPr sz="1400" i="0" b="1">
                          <a:solidFill>
                            <a:srgbClr val="1A1F36"/>
                          </a:solidFill>
                          <a:latin typeface="Calibri"/>
                        </a:rPr>
                        <a:t>Prolonged apnoea</a:t>
                      </a:r>
                    </a:p>
                  </a:txBody>
                  <a:tcPr marL="109728" marR="109728" marT="45720" marB="45720" anchor="ctr">
                    <a:solidFill>
                      <a:srgbClr val="FFFFFF"/>
                    </a:solidFill>
                  </a:tcPr>
                </a:tc>
                <a:tc>
                  <a:txBody>
                    <a:bodyPr/>
                    <a:lstStyle/>
                    <a:p>
                      <a:r>
                        <a:rPr sz="1400" i="0" b="0">
                          <a:solidFill>
                            <a:srgbClr val="1A1F36"/>
                          </a:solidFill>
                          <a:latin typeface="Calibri"/>
                        </a:rPr>
                        <a:t>Low or atypical plasma cholinesterase (genetic, liver disease); ventilate until recovery</a:t>
                      </a:r>
                    </a:p>
                  </a:txBody>
                  <a:tcPr marL="109728" marR="109728" marT="45720" marB="45720" anchor="ctr">
                    <a:solidFill>
                      <a:srgbClr val="FFFFFF"/>
                    </a:solidFill>
                  </a:tcPr>
                </a:tc>
              </a:tr>
              <a:tr h="562356">
                <a:tc>
                  <a:txBody>
                    <a:bodyPr/>
                    <a:lstStyle/>
                    <a:p>
                      <a:r>
                        <a:rPr sz="1400" i="0" b="1">
                          <a:solidFill>
                            <a:srgbClr val="1A1F36"/>
                          </a:solidFill>
                          <a:latin typeface="Calibri"/>
                        </a:rPr>
                        <a:t>Malignant hyperthermia</a:t>
                      </a:r>
                    </a:p>
                  </a:txBody>
                  <a:tcPr marL="109728" marR="109728" marT="45720" marB="45720" anchor="ctr">
                    <a:solidFill>
                      <a:srgbClr val="F1F2F8"/>
                    </a:solidFill>
                  </a:tcPr>
                </a:tc>
                <a:tc>
                  <a:txBody>
                    <a:bodyPr/>
                    <a:lstStyle/>
                    <a:p>
                      <a:r>
                        <a:rPr sz="1400" i="0" b="0">
                          <a:solidFill>
                            <a:srgbClr val="1A1F36"/>
                          </a:solidFill>
                          <a:latin typeface="Calibri"/>
                        </a:rPr>
                        <a:t>With volatile anaesthetics, in genetically susceptible patients</a:t>
                      </a:r>
                    </a:p>
                  </a:txBody>
                  <a:tcPr marL="109728" marR="109728" marT="45720" marB="45720" anchor="ctr">
                    <a:solidFill>
                      <a:srgbClr val="F1F2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Depolarising blocker: succinylcholine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123670"/>
                <a:gridCol w="3446808"/>
                <a:gridCol w="4523936"/>
              </a:tblGrid>
              <a:tr h="640080">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Non-depolarising</a:t>
                      </a:r>
                    </a:p>
                  </a:txBody>
                  <a:tcPr marL="109728" marR="109728" marT="45720" marB="45720" anchor="ctr">
                    <a:solidFill>
                      <a:srgbClr val="1B2A8C"/>
                    </a:solidFill>
                  </a:tcPr>
                </a:tc>
                <a:tc>
                  <a:txBody>
                    <a:bodyPr/>
                    <a:lstStyle/>
                    <a:p>
                      <a:r>
                        <a:rPr sz="1700" i="0" b="1">
                          <a:solidFill>
                            <a:srgbClr val="FFFFFF"/>
                          </a:solidFill>
                          <a:latin typeface="Calibri"/>
                        </a:rPr>
                        <a:t>Depolarising (succinylcholine)</a:t>
                      </a:r>
                    </a:p>
                  </a:txBody>
                  <a:tcPr marL="109728" marR="109728" marT="45720" marB="45720" anchor="ctr">
                    <a:solidFill>
                      <a:srgbClr val="1B2A8C"/>
                    </a:solidFill>
                  </a:tcPr>
                </a:tc>
              </a:tr>
              <a:tr h="640080">
                <a:tc>
                  <a:txBody>
                    <a:bodyPr/>
                    <a:lstStyle/>
                    <a:p>
                      <a:r>
                        <a:rPr sz="1800" i="0" b="1">
                          <a:solidFill>
                            <a:srgbClr val="1A1F36"/>
                          </a:solidFill>
                          <a:latin typeface="Calibri"/>
                        </a:rPr>
                        <a:t>Action at Nm receptor</a:t>
                      </a:r>
                    </a:p>
                  </a:txBody>
                  <a:tcPr marL="109728" marR="109728" marT="45720" marB="45720" anchor="ctr">
                    <a:solidFill>
                      <a:srgbClr val="FFFFFF"/>
                    </a:solidFill>
                  </a:tcPr>
                </a:tc>
                <a:tc>
                  <a:txBody>
                    <a:bodyPr/>
                    <a:lstStyle/>
                    <a:p>
                      <a:r>
                        <a:rPr sz="1800" i="0" b="0">
                          <a:solidFill>
                            <a:srgbClr val="1A1F36"/>
                          </a:solidFill>
                          <a:latin typeface="Calibri"/>
                        </a:rPr>
                        <a:t>Competitive antagonist</a:t>
                      </a:r>
                    </a:p>
                  </a:txBody>
                  <a:tcPr marL="109728" marR="109728" marT="45720" marB="45720" anchor="ctr">
                    <a:solidFill>
                      <a:srgbClr val="FFFFFF"/>
                    </a:solidFill>
                  </a:tcPr>
                </a:tc>
                <a:tc>
                  <a:txBody>
                    <a:bodyPr/>
                    <a:lstStyle/>
                    <a:p>
                      <a:r>
                        <a:rPr sz="1800" i="0" b="0">
                          <a:solidFill>
                            <a:srgbClr val="1A1F36"/>
                          </a:solidFill>
                          <a:latin typeface="Calibri"/>
                        </a:rPr>
                        <a:t>Agonist; persistent depolarisation</a:t>
                      </a:r>
                    </a:p>
                  </a:txBody>
                  <a:tcPr marL="109728" marR="109728" marT="45720" marB="45720" anchor="ctr">
                    <a:solidFill>
                      <a:srgbClr val="FFFFFF"/>
                    </a:solidFill>
                  </a:tcPr>
                </a:tc>
              </a:tr>
              <a:tr h="640080">
                <a:tc>
                  <a:txBody>
                    <a:bodyPr/>
                    <a:lstStyle/>
                    <a:p>
                      <a:r>
                        <a:rPr sz="1800" i="0" b="1">
                          <a:solidFill>
                            <a:srgbClr val="1A1F36"/>
                          </a:solidFill>
                          <a:latin typeface="Calibri"/>
                        </a:rPr>
                        <a:t>Fasciculations</a:t>
                      </a:r>
                    </a:p>
                  </a:txBody>
                  <a:tcPr marL="109728" marR="109728" marT="45720" marB="45720" anchor="ctr">
                    <a:solidFill>
                      <a:srgbClr val="F1F2F8"/>
                    </a:solidFill>
                  </a:tcPr>
                </a:tc>
                <a:tc>
                  <a:txBody>
                    <a:bodyPr/>
                    <a:lstStyle/>
                    <a:p>
                      <a:r>
                        <a:rPr sz="1800" i="0" b="0">
                          <a:solidFill>
                            <a:srgbClr val="1A1F36"/>
                          </a:solidFill>
                          <a:latin typeface="Calibri"/>
                        </a:rPr>
                        <a:t>No</a:t>
                      </a:r>
                    </a:p>
                  </a:txBody>
                  <a:tcPr marL="109728" marR="109728" marT="45720" marB="45720" anchor="ctr">
                    <a:solidFill>
                      <a:srgbClr val="F1F2F8"/>
                    </a:solidFill>
                  </a:tcPr>
                </a:tc>
                <a:tc>
                  <a:txBody>
                    <a:bodyPr/>
                    <a:lstStyle/>
                    <a:p>
                      <a:r>
                        <a:rPr sz="1800" i="0" b="0">
                          <a:solidFill>
                            <a:srgbClr val="1A1F36"/>
                          </a:solidFill>
                          <a:latin typeface="Calibri"/>
                        </a:rPr>
                        <a:t>Yes, at the start</a:t>
                      </a:r>
                    </a:p>
                  </a:txBody>
                  <a:tcPr marL="109728" marR="109728" marT="45720" marB="45720" anchor="ctr">
                    <a:solidFill>
                      <a:srgbClr val="F1F2F8"/>
                    </a:solidFill>
                  </a:tcPr>
                </a:tc>
              </a:tr>
              <a:tr h="640080">
                <a:tc>
                  <a:txBody>
                    <a:bodyPr/>
                    <a:lstStyle/>
                    <a:p>
                      <a:r>
                        <a:rPr sz="1800" i="0" b="1">
                          <a:solidFill>
                            <a:srgbClr val="1A1F36"/>
                          </a:solidFill>
                          <a:latin typeface="Calibri"/>
                        </a:rPr>
                        <a:t>Effect of neostigmine</a:t>
                      </a:r>
                    </a:p>
                  </a:txBody>
                  <a:tcPr marL="109728" marR="109728" marT="45720" marB="45720" anchor="ctr">
                    <a:solidFill>
                      <a:srgbClr val="FFFFFF"/>
                    </a:solidFill>
                  </a:tcPr>
                </a:tc>
                <a:tc>
                  <a:txBody>
                    <a:bodyPr/>
                    <a:lstStyle/>
                    <a:p>
                      <a:r>
                        <a:rPr sz="1800" i="0" b="0">
                          <a:solidFill>
                            <a:srgbClr val="1A1F36"/>
                          </a:solidFill>
                          <a:latin typeface="Calibri"/>
                        </a:rPr>
                        <a:t>Reverses the block</a:t>
                      </a:r>
                    </a:p>
                  </a:txBody>
                  <a:tcPr marL="109728" marR="109728" marT="45720" marB="45720" anchor="ctr">
                    <a:solidFill>
                      <a:srgbClr val="FFFFFF"/>
                    </a:solidFill>
                  </a:tcPr>
                </a:tc>
                <a:tc>
                  <a:txBody>
                    <a:bodyPr/>
                    <a:lstStyle/>
                    <a:p>
                      <a:r>
                        <a:rPr sz="1800" i="0" b="0">
                          <a:solidFill>
                            <a:srgbClr val="1A1F36"/>
                          </a:solidFill>
                          <a:latin typeface="Calibri"/>
                        </a:rPr>
                        <a:t>Worsens phase I</a:t>
                      </a:r>
                    </a:p>
                  </a:txBody>
                  <a:tcPr marL="109728" marR="109728" marT="45720" marB="45720" anchor="ctr">
                    <a:solidFill>
                      <a:srgbClr val="FFFFFF"/>
                    </a:solidFill>
                  </a:tcPr>
                </a:tc>
              </a:tr>
              <a:tr h="640080">
                <a:tc>
                  <a:txBody>
                    <a:bodyPr/>
                    <a:lstStyle/>
                    <a:p>
                      <a:r>
                        <a:rPr sz="1800" i="0" b="1">
                          <a:solidFill>
                            <a:srgbClr val="1A1F36"/>
                          </a:solidFill>
                          <a:latin typeface="Calibri"/>
                        </a:rPr>
                        <a:t>Metabolism</a:t>
                      </a:r>
                    </a:p>
                  </a:txBody>
                  <a:tcPr marL="109728" marR="109728" marT="45720" marB="45720" anchor="ctr">
                    <a:solidFill>
                      <a:srgbClr val="F1F2F8"/>
                    </a:solidFill>
                  </a:tcPr>
                </a:tc>
                <a:tc>
                  <a:txBody>
                    <a:bodyPr/>
                    <a:lstStyle/>
                    <a:p>
                      <a:r>
                        <a:rPr sz="1800" i="0" b="0">
                          <a:solidFill>
                            <a:srgbClr val="1A1F36"/>
                          </a:solidFill>
                          <a:latin typeface="Calibri"/>
                        </a:rPr>
                        <a:t>Liver, kidney or Hofmann</a:t>
                      </a:r>
                    </a:p>
                  </a:txBody>
                  <a:tcPr marL="109728" marR="109728" marT="45720" marB="45720" anchor="ctr">
                    <a:solidFill>
                      <a:srgbClr val="F1F2F8"/>
                    </a:solidFill>
                  </a:tcPr>
                </a:tc>
                <a:tc>
                  <a:txBody>
                    <a:bodyPr/>
                    <a:lstStyle/>
                    <a:p>
                      <a:r>
                        <a:rPr sz="1800" i="0" b="0">
                          <a:solidFill>
                            <a:srgbClr val="1A1F36"/>
                          </a:solidFill>
                          <a:latin typeface="Calibri"/>
                        </a:rPr>
                        <a:t>Plasma cholinesterase</a:t>
                      </a:r>
                    </a:p>
                  </a:txBody>
                  <a:tcPr marL="109728" marR="109728" marT="45720" marB="45720" anchor="ctr">
                    <a:solidFill>
                      <a:srgbClr val="F1F2F8"/>
                    </a:solidFill>
                  </a:tcPr>
                </a:tc>
              </a:tr>
              <a:tr h="640080">
                <a:tc>
                  <a:txBody>
                    <a:bodyPr/>
                    <a:lstStyle/>
                    <a:p>
                      <a:r>
                        <a:rPr sz="1800" i="0" b="1">
                          <a:solidFill>
                            <a:srgbClr val="1A1F36"/>
                          </a:solidFill>
                          <a:latin typeface="Calibri"/>
                        </a:rPr>
                        <a:t>Special reversal</a:t>
                      </a:r>
                    </a:p>
                  </a:txBody>
                  <a:tcPr marL="109728" marR="109728" marT="45720" marB="45720" anchor="ctr">
                    <a:solidFill>
                      <a:srgbClr val="FFFFFF"/>
                    </a:solidFill>
                  </a:tcPr>
                </a:tc>
                <a:tc>
                  <a:txBody>
                    <a:bodyPr/>
                    <a:lstStyle/>
                    <a:p>
                      <a:r>
                        <a:rPr sz="1800" i="0" b="0">
                          <a:solidFill>
                            <a:srgbClr val="1A1F36"/>
                          </a:solidFill>
                          <a:latin typeface="Calibri"/>
                        </a:rPr>
                        <a:t>Sugammadex (rocuronium)</a:t>
                      </a:r>
                    </a:p>
                  </a:txBody>
                  <a:tcPr marL="109728" marR="109728" marT="45720" marB="45720" anchor="ctr">
                    <a:solidFill>
                      <a:srgbClr val="FFFFFF"/>
                    </a:solidFill>
                  </a:tcPr>
                </a:tc>
                <a:tc>
                  <a:txBody>
                    <a:bodyPr/>
                    <a:lstStyle/>
                    <a:p>
                      <a:r>
                        <a:rPr sz="1800" i="0" b="0">
                          <a:solidFill>
                            <a:srgbClr val="1A1F36"/>
                          </a:solidFill>
                          <a:latin typeface="Calibri"/>
                        </a:rPr>
                        <a:t>None; wait</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Neuromuscular Blockers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43128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NMBs cause paralysis but </a:t>
            </a:r>
            <a:r>
              <a:rPr sz="2200" i="0" b="1">
                <a:solidFill>
                  <a:srgbClr val="1A1F36"/>
                </a:solidFill>
                <a:latin typeface="Calibri"/>
              </a:rPr>
              <a:t>no sedation and no analgesia</a:t>
            </a:r>
            <a:r>
              <a:rPr sz="2200" i="0" b="0">
                <a:solidFill>
                  <a:srgbClr val="1A1F36"/>
                </a:solidFill>
                <a:latin typeface="Calibri"/>
              </a:rPr>
              <a:t>. A patient given an NMB without enough anaesthetic can be awake and in pain but unable to move. Always give an anaesthetic first, and always ventilate.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Neuromuscular Blockers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377440"/>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4" name="TextBox 13"/>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Neostigmine reverses a </a:t>
            </a:r>
            <a:r>
              <a:rPr sz="2600" i="0" b="1">
                <a:solidFill>
                  <a:srgbClr val="1A1F36"/>
                </a:solidFill>
                <a:latin typeface="Calibri"/>
              </a:rPr>
              <a:t>non-depolarising</a:t>
            </a:r>
            <a:r>
              <a:rPr sz="2600" i="0" b="0">
                <a:solidFill>
                  <a:srgbClr val="1A1F36"/>
                </a:solidFill>
                <a:latin typeface="Calibri"/>
              </a:rPr>
              <a:t> block. It makes a phase I depolarising block </a:t>
            </a:r>
            <a:r>
              <a:rPr sz="2600" i="0" b="1">
                <a:solidFill>
                  <a:srgbClr val="1A1F36"/>
                </a:solidFill>
                <a:latin typeface="Calibri"/>
              </a:rPr>
              <a:t>worse</a:t>
            </a:r>
            <a:r>
              <a:rPr sz="2600" i="0" b="0">
                <a:solidFill>
                  <a:srgbClr val="1A1F36"/>
                </a:solidFill>
                <a:latin typeface="Calibr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Malignant Hyperthermia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475612"/>
          </a:xfrm>
          <a:prstGeom prst="rect">
            <a:avLst/>
          </a:prstGeom>
          <a:noFill/>
        </p:spPr>
        <p:txBody>
          <a:bodyPr wrap="square" anchor="t" lIns="0" rIns="0" tIns="0" bIns="0">
            <a:spAutoFit/>
          </a:bodyPr>
          <a:lstStyle/>
          <a:p>
            <a:r>
              <a:rPr sz="2100" i="0" b="0">
                <a:solidFill>
                  <a:srgbClr val="1A1F36"/>
                </a:solidFill>
                <a:latin typeface="Calibri"/>
              </a:rPr>
              <a:t>Malignant hyperthermia is a rare inherited disorder, usually linked to a mutation of </a:t>
            </a:r>
            <a:r>
              <a:rPr sz="2100" i="0" b="1">
                <a:solidFill>
                  <a:srgbClr val="1A1F36"/>
                </a:solidFill>
                <a:latin typeface="Calibri"/>
              </a:rPr>
              <a:t>RyR1</a:t>
            </a:r>
            <a:r>
              <a:rPr sz="2100" i="0" b="0">
                <a:solidFill>
                  <a:srgbClr val="1A1F36"/>
                </a:solidFill>
                <a:latin typeface="Calibri"/>
              </a:rPr>
              <a:t>. Volatile anaesthetics (halothane, sevoflurane, desflurane) or succinylcholine trigger uncontrolled Ca2+ release in muscle.</a:t>
            </a:r>
          </a:p>
        </p:txBody>
      </p:sp>
      <p:sp>
        <p:nvSpPr>
          <p:cNvPr id="13" name="Oval 12"/>
          <p:cNvSpPr/>
          <p:nvPr/>
        </p:nvSpPr>
        <p:spPr>
          <a:xfrm>
            <a:off x="548640"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1A1F36"/>
                </a:solidFill>
                <a:latin typeface="Calibri"/>
              </a:rPr>
              <a:t>Features: a rise in end-tidal CO₂ that does not respond to ventilation, tachycardia, muscle rigidity (often the jaw), then fever, acidosis, hyperkalaemia and myoglobinuria.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6</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000" i="0" b="0">
                <a:solidFill>
                  <a:srgbClr val="1A1F36"/>
                </a:solidFill>
                <a:latin typeface="Calibri"/>
              </a:rPr>
              <a:t>Treat malignant hyperthermia at once:</a:t>
            </a:r>
          </a:p>
          <a:p>
            <a:pPr>
              <a:spcBef>
                <a:spcPts val="600"/>
              </a:spcBef>
            </a:pPr>
            <a:r>
              <a:rPr sz="2000" i="0" b="0">
                <a:solidFill>
                  <a:srgbClr val="1A1F36"/>
                </a:solidFill>
                <a:latin typeface="Calibri"/>
              </a:rPr>
              <a:t>1. Stop the trigger and call for help.</a:t>
            </a:r>
          </a:p>
          <a:p>
            <a:pPr>
              <a:spcBef>
                <a:spcPts val="600"/>
              </a:spcBef>
            </a:pPr>
            <a:r>
              <a:rPr sz="2000" i="0" b="0">
                <a:solidFill>
                  <a:srgbClr val="1A1F36"/>
                </a:solidFill>
                <a:latin typeface="Calibri"/>
              </a:rPr>
              <a:t>2. Give </a:t>
            </a:r>
            <a:r>
              <a:rPr sz="2000" i="0" b="1">
                <a:solidFill>
                  <a:srgbClr val="1A1F36"/>
                </a:solidFill>
                <a:latin typeface="Calibri"/>
              </a:rPr>
              <a:t>IV dantrolene</a:t>
            </a:r>
            <a:r>
              <a:rPr sz="2000" i="0" b="0">
                <a:solidFill>
                  <a:srgbClr val="1A1F36"/>
                </a:solidFill>
                <a:latin typeface="Calibri"/>
              </a:rPr>
              <a:t> 2.5 mg/kg, repeated until the signs settle.</a:t>
            </a:r>
          </a:p>
          <a:p>
            <a:pPr>
              <a:spcBef>
                <a:spcPts val="600"/>
              </a:spcBef>
            </a:pPr>
            <a:r>
              <a:rPr sz="2000" i="0" b="0">
                <a:solidFill>
                  <a:srgbClr val="1A1F36"/>
                </a:solidFill>
                <a:latin typeface="Calibri"/>
              </a:rPr>
              <a:t>3. Ventilate with 100% oxygen at high flow.</a:t>
            </a:r>
          </a:p>
          <a:p>
            <a:pPr>
              <a:spcBef>
                <a:spcPts val="600"/>
              </a:spcBef>
            </a:pPr>
            <a:r>
              <a:rPr sz="2000" i="0" b="0">
                <a:solidFill>
                  <a:srgbClr val="1A1F36"/>
                </a:solidFill>
                <a:latin typeface="Calibri"/>
              </a:rPr>
              <a:t>4. Cool the patient, and treat hyperkalaemia, acidosis and arrhythmia.</a:t>
            </a:r>
          </a:p>
          <a:p>
            <a:pPr>
              <a:spcBef>
                <a:spcPts val="600"/>
              </a:spcBef>
            </a:pPr>
          </a:p>
          <a:p>
            <a:pPr>
              <a:spcBef>
                <a:spcPts val="600"/>
              </a:spcBef>
            </a:pPr>
            <a:r>
              <a:rPr sz="2000" i="0" b="0">
                <a:solidFill>
                  <a:srgbClr val="1A1F36"/>
                </a:solidFill>
                <a:latin typeface="Calibri"/>
              </a:rPr>
              <a:t>Ask about family history before anaesthesia, and use non-trigger drugs such as propofol in susceptible patients.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Skeletal Muscle Relaxants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4853806"/>
                <a:gridCol w="3467004"/>
                <a:gridCol w="2773603"/>
              </a:tblGrid>
              <a:tr h="577215">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577215">
                <a:tc>
                  <a:txBody>
                    <a:bodyPr/>
                    <a:lstStyle/>
                    <a:p>
                      <a:r>
                        <a:rPr sz="2000" i="0" b="1">
                          <a:solidFill>
                            <a:srgbClr val="1A1F36"/>
                          </a:solidFill>
                          <a:latin typeface="Calibri"/>
                        </a:rPr>
                        <a:t>Baclofen</a:t>
                      </a:r>
                    </a:p>
                  </a:txBody>
                  <a:tcPr marL="109728" marR="109728" marT="45720" marB="45720" anchor="ctr">
                    <a:solidFill>
                      <a:srgbClr val="FFFFFF"/>
                    </a:solidFill>
                  </a:tcPr>
                </a:tc>
                <a:tc>
                  <a:txBody>
                    <a:bodyPr/>
                    <a:lstStyle/>
                    <a:p>
                      <a:r>
                        <a:rPr sz="2000" i="0" b="0">
                          <a:solidFill>
                            <a:srgbClr val="1A1F36"/>
                          </a:solidFill>
                          <a:latin typeface="Calibri"/>
                        </a:rPr>
                        <a:t>Baclofen, Mylobac</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Tizanidine</a:t>
                      </a:r>
                    </a:p>
                  </a:txBody>
                  <a:tcPr marL="109728" marR="109728" marT="45720" marB="45720" anchor="ctr">
                    <a:solidFill>
                      <a:srgbClr val="F1F2F8"/>
                    </a:solidFill>
                  </a:tcPr>
                </a:tc>
                <a:tc>
                  <a:txBody>
                    <a:bodyPr/>
                    <a:lstStyle/>
                    <a:p>
                      <a:r>
                        <a:rPr sz="2000" i="0" b="0">
                          <a:solidFill>
                            <a:srgbClr val="1A1F36"/>
                          </a:solidFill>
                          <a:latin typeface="Calibri"/>
                        </a:rPr>
                        <a:t>Sirdalud</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Cyclobenzaprine</a:t>
                      </a:r>
                    </a:p>
                  </a:txBody>
                  <a:tcPr marL="109728" marR="109728" marT="45720" marB="45720" anchor="ctr">
                    <a:solidFill>
                      <a:srgbClr val="FFFFFF"/>
                    </a:solidFill>
                  </a:tcPr>
                </a:tc>
                <a:tc>
                  <a:txBody>
                    <a:bodyPr/>
                    <a:lstStyle/>
                    <a:p>
                      <a:r>
                        <a:rPr sz="2000" i="0" b="0">
                          <a:solidFill>
                            <a:srgbClr val="1A1F36"/>
                          </a:solidFill>
                          <a:latin typeface="Calibri"/>
                        </a:rPr>
                        <a:t>Multi-Relax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Orphenadrine + paracetamol</a:t>
                      </a:r>
                    </a:p>
                  </a:txBody>
                  <a:tcPr marL="109728" marR="109728" marT="45720" marB="45720" anchor="ctr">
                    <a:solidFill>
                      <a:srgbClr val="F1F2F8"/>
                    </a:solidFill>
                  </a:tcPr>
                </a:tc>
                <a:tc>
                  <a:txBody>
                    <a:bodyPr/>
                    <a:lstStyle/>
                    <a:p>
                      <a:r>
                        <a:rPr sz="2000" i="0" b="0">
                          <a:solidFill>
                            <a:srgbClr val="1A1F36"/>
                          </a:solidFill>
                          <a:latin typeface="Calibri"/>
                        </a:rPr>
                        <a:t>Norgesic</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Orphenadrine</a:t>
                      </a:r>
                    </a:p>
                  </a:txBody>
                  <a:tcPr marL="109728" marR="109728" marT="45720" marB="45720" anchor="ctr">
                    <a:solidFill>
                      <a:srgbClr val="FFFFFF"/>
                    </a:solidFill>
                  </a:tcPr>
                </a:tc>
                <a:tc>
                  <a:txBody>
                    <a:bodyPr/>
                    <a:lstStyle/>
                    <a:p>
                      <a:r>
                        <a:rPr sz="2000" i="0" b="0">
                          <a:solidFill>
                            <a:srgbClr val="1A1F36"/>
                          </a:solidFill>
                          <a:latin typeface="Calibri"/>
                        </a:rPr>
                        <a:t>Norflex</a:t>
                      </a:r>
                    </a:p>
                  </a:txBody>
                  <a:tcPr marL="109728" marR="109728" marT="45720" marB="45720" anchor="ctr">
                    <a:solidFill>
                      <a:srgbClr val="FFFFFF"/>
                    </a:solidFill>
                  </a:tcPr>
                </a:tc>
                <a:tc>
                  <a:txBody>
                    <a:bodyPr/>
                    <a:lstStyle/>
                    <a:p>
                      <a:r>
                        <a:rPr sz="2000" i="0" b="0">
                          <a:solidFill>
                            <a:srgbClr val="1A1F36"/>
                          </a:solidFill>
                          <a:latin typeface="Calibri"/>
                        </a:rPr>
                        <a:t>Injection</a:t>
                      </a:r>
                    </a:p>
                  </a:txBody>
                  <a:tcPr marL="109728" marR="109728" marT="45720" marB="45720" anchor="ctr">
                    <a:solidFill>
                      <a:srgbClr val="FFFFFF"/>
                    </a:solidFill>
                  </a:tcPr>
                </a:tc>
              </a:tr>
              <a:tr h="577215">
                <a:tc>
                  <a:txBody>
                    <a:bodyPr/>
                    <a:lstStyle/>
                    <a:p>
                      <a:r>
                        <a:rPr sz="2000" i="0" b="1">
                          <a:solidFill>
                            <a:srgbClr val="1A1F36"/>
                          </a:solidFill>
                          <a:latin typeface="Calibri"/>
                        </a:rPr>
                        <a:t>Chlorzoxazone + paracetamol</a:t>
                      </a:r>
                    </a:p>
                  </a:txBody>
                  <a:tcPr marL="109728" marR="109728" marT="45720" marB="45720" anchor="ctr">
                    <a:solidFill>
                      <a:srgbClr val="F1F2F8"/>
                    </a:solidFill>
                  </a:tcPr>
                </a:tc>
                <a:tc>
                  <a:txBody>
                    <a:bodyPr/>
                    <a:lstStyle/>
                    <a:p>
                      <a:r>
                        <a:rPr sz="2000" i="0" b="0">
                          <a:solidFill>
                            <a:srgbClr val="1A1F36"/>
                          </a:solidFill>
                          <a:latin typeface="Calibri"/>
                        </a:rPr>
                        <a:t>Relaxon</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577215">
                <a:tc>
                  <a:txBody>
                    <a:bodyPr/>
                    <a:lstStyle/>
                    <a:p>
                      <a:r>
                        <a:rPr sz="2000" i="0" b="1">
                          <a:solidFill>
                            <a:srgbClr val="1A1F36"/>
                          </a:solidFill>
                          <a:latin typeface="Calibri"/>
                        </a:rPr>
                        <a:t>Chlorzoxazone + ibuprofen</a:t>
                      </a:r>
                    </a:p>
                  </a:txBody>
                  <a:tcPr marL="109728" marR="109728" marT="45720" marB="45720" anchor="ctr">
                    <a:solidFill>
                      <a:srgbClr val="FFFFFF"/>
                    </a:solidFill>
                  </a:tcPr>
                </a:tc>
                <a:tc>
                  <a:txBody>
                    <a:bodyPr/>
                    <a:lstStyle/>
                    <a:p>
                      <a:r>
                        <a:rPr sz="2000" i="0" b="0">
                          <a:solidFill>
                            <a:srgbClr val="1A1F36"/>
                          </a:solidFill>
                          <a:latin typeface="Calibri"/>
                        </a:rPr>
                        <a:t>Myofen</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A patient with multiple sclerosis and a patient with acute back strain both ask for "a muscle relaxant". Which drug group suits each, and why?</a:t>
            </a:r>
          </a:p>
        </p:txBody>
      </p:sp>
      <p:sp>
        <p:nvSpPr>
          <p:cNvPr id="13" name="Oval 12"/>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779014"/>
            <a:ext cx="10500055" cy="808863"/>
          </a:xfrm>
          <a:prstGeom prst="rect">
            <a:avLst/>
          </a:prstGeom>
          <a:noFill/>
        </p:spPr>
        <p:txBody>
          <a:bodyPr wrap="square" anchor="t" lIns="0" rIns="0" tIns="0" bIns="0">
            <a:spAutoFit/>
          </a:bodyPr>
          <a:lstStyle/>
          <a:p>
            <a:r>
              <a:rPr sz="2100" i="0" b="0">
                <a:solidFill>
                  <a:srgbClr val="1A1F36"/>
                </a:solidFill>
                <a:latin typeface="Calibri"/>
              </a:rPr>
              <a:t>Why must a patient on tizanidine avoid ciprofloxacin?</a:t>
            </a:r>
          </a:p>
        </p:txBody>
      </p:sp>
      <p:sp>
        <p:nvSpPr>
          <p:cNvPr id="15" name="Oval 14"/>
          <p:cNvSpPr/>
          <p:nvPr/>
        </p:nvSpPr>
        <p:spPr>
          <a:xfrm>
            <a:off x="548640" y="361530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633597"/>
            <a:ext cx="10500055" cy="1142237"/>
          </a:xfrm>
          <a:prstGeom prst="rect">
            <a:avLst/>
          </a:prstGeom>
          <a:noFill/>
        </p:spPr>
        <p:txBody>
          <a:bodyPr wrap="square" anchor="t" lIns="0" rIns="0" tIns="0" bIns="0">
            <a:spAutoFit/>
          </a:bodyPr>
          <a:lstStyle/>
          <a:p>
            <a:r>
              <a:rPr sz="2100" i="0" b="0">
                <a:solidFill>
                  <a:srgbClr val="1A1F36"/>
                </a:solidFill>
                <a:latin typeface="Calibri"/>
              </a:rPr>
              <a:t>Why does neostigmine reverse rocuronium but prolong phase I block by succinylcholine?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40-year-old woman with multiple sclerosis has stiff legs with increased tone. Which drug group is most suitable?</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An antispastic drug such as baclofen</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 non-depolarising neuromuscular blocker</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An antispasmodic such as methocarbamol</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An anticholinesterase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40-year-old woman with multiple sclerosis has stiff legs with increased tone. Which drug group is most suitable?</a:t>
            </a:r>
          </a:p>
        </p:txBody>
      </p:sp>
      <p:sp>
        <p:nvSpPr>
          <p:cNvPr id="12" name="Rounded Rectangle 11"/>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An antispastic drug such as baclofen</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 non-depolarising neuromuscular blocker</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An antispasmodic such as methocarbamol</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An anticholinesterase</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Spasticity from brain or cord damage needs an antispastic drug. B is for surgery. C is for local muscle spasm. D would increase tone.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baclofen reduce spasticity?</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opens GABA-A chloride channels.</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blocks nicotinic receptors at the junction.</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activates GABA-B receptors, increasing K+ conductance and reducing Ca2+ entry.</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blocks Ca2+ release from the sarcoplasmic reticulum.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baclofen reduce spasticity?</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opens GABA-A chloride channels.</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blocks nicotinic receptors at the junction.</a:t>
            </a:r>
          </a:p>
        </p:txBody>
      </p:sp>
      <p:sp>
        <p:nvSpPr>
          <p:cNvPr id="18" name="Rounded Rectangle 17"/>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activates GABA-B receptors, increasing K+ conductance and reducing Ca2+ entry.</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blocks Ca2+ release from the sarcoplasmic reticulum.</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Baclofen is a GABA-B agonist. A is benzodiazepines. B is NMBs. D is dantrolene.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tizanidine is prescribed ciprofloxacin. What is the likely result?</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Loss of tizanidine effect</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Severe hypotension and sedation</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Hyperkalaemia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6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tizanidine is prescribed ciprofloxacin. What is the likely result?</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Loss of tizanidine effect</a:t>
            </a:r>
          </a:p>
        </p:txBody>
      </p:sp>
      <p:sp>
        <p:nvSpPr>
          <p:cNvPr id="15" name="Rounded Rectangle 14"/>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Severe hypotension and sedation</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Hyperkalaemia</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Ciprofloxacin inhibits CYP1A2, so tizanidine levels rise sharply. A is the opposite. C and D are not caused.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6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745278"/>
          </a:xfrm>
          <a:prstGeom prst="rect">
            <a:avLst/>
          </a:prstGeom>
          <a:noFill/>
        </p:spPr>
        <p:txBody>
          <a:bodyPr wrap="square" anchor="t" lIns="0" rIns="0" tIns="0" bIns="0">
            <a:spAutoFit/>
          </a:bodyPr>
          <a:lstStyle/>
          <a:p>
            <a:r>
              <a:rPr sz="1700" i="0" b="0">
                <a:solidFill>
                  <a:srgbClr val="FFFFFF"/>
                </a:solidFill>
                <a:latin typeface="Calibri"/>
              </a:rPr>
              <a:t>Spasticity (brain or cord damage) is treated with baclofen, tizanidine, dantrolene or diazepam; spasm (local injury) with short courses of antispasmodics after NSAIDs and physiotherapy.</a:t>
            </a:r>
          </a:p>
        </p:txBody>
      </p:sp>
      <p:sp>
        <p:nvSpPr>
          <p:cNvPr id="7" name="Oval 6"/>
          <p:cNvSpPr/>
          <p:nvPr/>
        </p:nvSpPr>
        <p:spPr>
          <a:xfrm>
            <a:off x="548640" y="263808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656374"/>
            <a:ext cx="10500055" cy="745278"/>
          </a:xfrm>
          <a:prstGeom prst="rect">
            <a:avLst/>
          </a:prstGeom>
          <a:noFill/>
        </p:spPr>
        <p:txBody>
          <a:bodyPr wrap="square" anchor="t" lIns="0" rIns="0" tIns="0" bIns="0">
            <a:spAutoFit/>
          </a:bodyPr>
          <a:lstStyle/>
          <a:p>
            <a:r>
              <a:rPr sz="1700" i="0" b="0">
                <a:solidFill>
                  <a:srgbClr val="FFFFFF"/>
                </a:solidFill>
                <a:latin typeface="Calibri"/>
              </a:rPr>
              <a:t>Baclofen is a GABA-B agonist: more K+ conductance and less presynaptic Ca2+ entry; never stop it suddenly.</a:t>
            </a:r>
          </a:p>
        </p:txBody>
      </p:sp>
      <p:sp>
        <p:nvSpPr>
          <p:cNvPr id="9" name="Oval 8"/>
          <p:cNvSpPr/>
          <p:nvPr/>
        </p:nvSpPr>
        <p:spPr>
          <a:xfrm>
            <a:off x="548640" y="342908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447372"/>
            <a:ext cx="10500055" cy="475403"/>
          </a:xfrm>
          <a:prstGeom prst="rect">
            <a:avLst/>
          </a:prstGeom>
          <a:noFill/>
        </p:spPr>
        <p:txBody>
          <a:bodyPr wrap="square" anchor="t" lIns="0" rIns="0" tIns="0" bIns="0">
            <a:spAutoFit/>
          </a:bodyPr>
          <a:lstStyle/>
          <a:p>
            <a:r>
              <a:rPr sz="1700" i="0" b="0">
                <a:solidFill>
                  <a:srgbClr val="FFFFFF"/>
                </a:solidFill>
                <a:latin typeface="Calibri"/>
              </a:rPr>
              <a:t>Dantrolene blocks Ca2+ release through RyR1 and is the treatment of malignant hyperthermia.</a:t>
            </a:r>
          </a:p>
        </p:txBody>
      </p:sp>
      <p:sp>
        <p:nvSpPr>
          <p:cNvPr id="11" name="Oval 10"/>
          <p:cNvSpPr/>
          <p:nvPr/>
        </p:nvSpPr>
        <p:spPr>
          <a:xfrm>
            <a:off x="548640" y="395020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3968496"/>
            <a:ext cx="10500055" cy="475403"/>
          </a:xfrm>
          <a:prstGeom prst="rect">
            <a:avLst/>
          </a:prstGeom>
          <a:noFill/>
        </p:spPr>
        <p:txBody>
          <a:bodyPr wrap="square" anchor="t" lIns="0" rIns="0" tIns="0" bIns="0">
            <a:spAutoFit/>
          </a:bodyPr>
          <a:lstStyle/>
          <a:p>
            <a:r>
              <a:rPr sz="1700" i="0" b="0">
                <a:solidFill>
                  <a:srgbClr val="FFFFFF"/>
                </a:solidFill>
                <a:latin typeface="Calibri"/>
              </a:rPr>
              <a:t>NMBs paralyse without sedation or analgesia.</a:t>
            </a:r>
          </a:p>
        </p:txBody>
      </p:sp>
      <p:sp>
        <p:nvSpPr>
          <p:cNvPr id="13" name="Oval 12"/>
          <p:cNvSpPr/>
          <p:nvPr/>
        </p:nvSpPr>
        <p:spPr>
          <a:xfrm>
            <a:off x="548640" y="447133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489619"/>
            <a:ext cx="10500055" cy="745278"/>
          </a:xfrm>
          <a:prstGeom prst="rect">
            <a:avLst/>
          </a:prstGeom>
          <a:noFill/>
        </p:spPr>
        <p:txBody>
          <a:bodyPr wrap="square" anchor="t" lIns="0" rIns="0" tIns="0" bIns="0">
            <a:spAutoFit/>
          </a:bodyPr>
          <a:lstStyle/>
          <a:p>
            <a:r>
              <a:rPr sz="1700" i="0" b="0">
                <a:solidFill>
                  <a:srgbClr val="FFFFFF"/>
                </a:solidFill>
                <a:latin typeface="Calibri"/>
              </a:rPr>
              <a:t>Non-depolarising blockers are competitive antagonists, reversed by neostigmine with glycopyrrolate, or rocuronium by sugammadex.</a:t>
            </a:r>
          </a:p>
        </p:txBody>
      </p:sp>
      <p:sp>
        <p:nvSpPr>
          <p:cNvPr id="15" name="Oval 14"/>
          <p:cNvSpPr/>
          <p:nvPr/>
        </p:nvSpPr>
        <p:spPr>
          <a:xfrm>
            <a:off x="548640" y="526232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280617"/>
            <a:ext cx="10500055" cy="745278"/>
          </a:xfrm>
          <a:prstGeom prst="rect">
            <a:avLst/>
          </a:prstGeom>
          <a:noFill/>
        </p:spPr>
        <p:txBody>
          <a:bodyPr wrap="square" anchor="t" lIns="0" rIns="0" tIns="0" bIns="0">
            <a:spAutoFit/>
          </a:bodyPr>
          <a:lstStyle/>
          <a:p>
            <a:r>
              <a:rPr sz="1700" i="0" b="0">
                <a:solidFill>
                  <a:srgbClr val="FFFFFF"/>
                </a:solidFill>
                <a:latin typeface="Calibri"/>
              </a:rPr>
              <a:t>Succinylcholine causes persistent depolarisation; watch for hyperkalaemia, bradycardia, prolonged apnoea and malignant hyperthermia.</a:t>
            </a:r>
          </a:p>
        </p:txBody>
      </p:sp>
      <p:pic>
        <p:nvPicPr>
          <p:cNvPr id="17" name="Picture 16"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8" name="Picture 17"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