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acts on D1-like (D1, D5) and D2-like (D2, D3, D4) receptors. D2 receptors are Gi-coupled and reduce cAMP. Dopamine is made from tyrosine through L-dopa. It is removed by reuptake and broken down by MAO and COMT. Serotonin 5-HT2A receptors on dopamine neurons reduce dopamine release. Blocking them therefore increases dopamine release in some pathways.</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Dopamine Pathways in the Brain.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dopamine pathways explain both the benefits and the adverse effects of antipsychotics. Dopamine also acts on the chemoreceptor trigger zone (CTZ), where it causes vomiting. D2 block there explains the antiemetic effect.</a:t>
            </a:r>
          </a:p>
          <a:p/>
          <a:p>
            <a:r>
              <a:t>Time: 2:30  (at 5:00 of 40:00).  Next: Schizophrenia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Schizophrenia affects about 1% of people. It usually starts in late adolescence or early adulthood. Genes play a large part. Symptoms fall into three groups: Antipsychotics do not cure schizophrenia. They reduce hallucinations and delusions and allow the person to live in the community. Treatment is a balance between benefit and a wide range of adverse effects.</a:t>
            </a:r>
          </a:p>
          <a:p/>
          <a:p>
            <a:r>
              <a:t>Time: 2:00  (at 7:00 of 40:00).  Next: First-Generation (Typical)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Mechanism. They are competitive antagonists at D2 receptors. The block is not selective for the mesolimbic pathway, so all four pathways are affected. They also block other receptors, which explains many adverse effects. Potency matters. High-potency drugs such as haloperidol bind D2 strongly. They cause more extrapyramidal effects. Low-potency drugs such as chlorpromazine block more muscarinic, histamine H1 and α1 receptors. They cause more sedation, hypotension and anticholinergic effects. Therapeutic uses.</a:t>
            </a:r>
          </a:p>
          <a:p/>
          <a:p>
            <a:r>
              <a:t>Time: 2:00  (at 9:00 of 40:00).  Next: Extrapyramidal Effects.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Extrapyramidal effects (EPS) come from D2 block in the nigrostriatal pathway. Acetylcholine then becomes relatively dominant. Learn them by time of onset.</a:t>
            </a:r>
          </a:p>
          <a:p/>
          <a:p>
            <a:r>
              <a:t>Time: 2:30  (at 11:30 of 40:00).  Next: Neuroleptic Malignant Syndrome.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Neuroleptic malignant syndrome (NMS) is rare but can be fatal. It can occur with any antipsychotic, usually early in treatment or after a dose increase. Features: Management: stop the antipsychotic at once. Give cooling, IV fluids and supportive care in hospital. Dantrolene or bromocriptine may be used in severe cases.</a:t>
            </a:r>
          </a:p>
          <a:p/>
          <a:p>
            <a:r>
              <a:t>Time: 2:00  (at 13:30 of 40:00).  Next: Second-Generation (Atypical)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Time: 2:00  (at 15:30 of 40:00).  Next: Clozapine.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Clozapine is the most effective drug for treatment-resistant schizophrenia. This is defined as poor response to at least two antipsychotics, including one SGA, each given at an adequate dose for 6 weeks or more. Clozapine also lowers suicide risk. Main risks: Blood monitoring: check the absolute neutrophil count (ANC) before starting. Then check weekly for 18 weeks, every 2 weeks to 1 year, and monthly after that. Stop clozapine if neutrophils fall below the threshold.</a:t>
            </a:r>
          </a:p>
          <a:p/>
          <a:p>
            <a:r>
              <a:t>Time: 2:00  (at 17:30 of 40:00).  Next: Maintenance and Adherence.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patients need long-term treatment. After two or more episodes, maintenance therapy is given for at least 5 years, and often indefinitely. Low doses are less effective than standard doses at preventing relapse. Adherence is often poor, because of: Long-acting injections help when adherence is poor. Examples are haloperidol decanoate, fluphenazine decanoate, paliperidone palmitate, risperidone and aripiprazole depot. They do not solve every cause of non-adherence. They do show clearly when a dose is missed.</a:t>
            </a:r>
          </a:p>
          <a:p/>
          <a:p>
            <a:r>
              <a:t>Time: 2:00  (at 19:30 of 40:00).  Next: Pharmacokinetics and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Antipsychotics are lipophilic. They are well absorbed, cross the blood-brain barrier and are highly protein bound. Most are metabolised in the liver by CYP enzymes. Half-lives are usually 20 to 40 hours, so once-daily dosing is often possible.</a:t>
            </a:r>
          </a:p>
          <a:p/>
          <a:p>
            <a:r>
              <a:t>Time: 2:30  (at 22:00 of 40:00).  Next: Special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Older people and dementia. Older people are sensitive to sedation, postural hypotension, anticholinergic effects and EPS. Start low and go slow. In dementia, all antipsychotics raise the risk of stroke and death. Use them only for severe distress or risk of harm, for the shortest time, and review every few weeks. Pregnancy.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 Children and adolescents. Young people gain weight and develop metabolic changes faster than adults. Monitor closely. Epilepsy. Clozapine, chlorpromazine and high doses of most antipsychotics lower the seizure threshold. Haloperidol and aripiprazole are lower-risk choices.</a:t>
            </a:r>
          </a:p>
          <a:p/>
          <a:p>
            <a:r>
              <a:t>Time: 2:00  (at 24:00 of 40:00).  Next: Counselling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Speak simply and involve the family when the patient agrees.</a:t>
            </a:r>
          </a:p>
          <a:p/>
          <a:p>
            <a:r>
              <a:t>Time: 2:00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Positive symptoms reflect mesolimbic excess. B and C are motor and hormonal pathways. D is underactive in schizophrenia.</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Tuberoinfundibular dopamine inhibits prolactin; block raises it. A, B and D do not control prolactin.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Risperidone, an SGA, has some benefit for negative symptoms. A, C and D are first-generation drugs.</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02</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2</a:t>
            </a:r>
          </a:p>
          <a:p>
            <a:pPr>
              <a:spcBef>
                <a:spcPts val="1400"/>
              </a:spcBef>
            </a:pPr>
            <a:r>
              <a:rPr sz="3600" i="0" b="1">
                <a:solidFill>
                  <a:srgbClr val="FFFFFF"/>
                </a:solidFill>
                <a:latin typeface="Cambria"/>
              </a:rPr>
              <a:t>Psychosis and Antipsychotic Drugs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Relate the four dopamine pathways to the symptoms of schizophrenia and to antipsychotic adverse effects.</a:t>
            </a:r>
          </a:p>
        </p:txBody>
      </p:sp>
      <p:sp>
        <p:nvSpPr>
          <p:cNvPr id="13" name="Oval 12"/>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Compare first-generation, second-generation and partial-agonist antipsychotics by mechanism and adverse-effect profile.</a:t>
            </a:r>
          </a:p>
        </p:txBody>
      </p:sp>
      <p:sp>
        <p:nvSpPr>
          <p:cNvPr id="15" name="Oval 14"/>
          <p:cNvSpPr/>
          <p:nvPr/>
        </p:nvSpPr>
        <p:spPr>
          <a:xfrm>
            <a:off x="548640" y="3610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628644"/>
            <a:ext cx="6629400" cy="1131824"/>
          </a:xfrm>
          <a:prstGeom prst="rect">
            <a:avLst/>
          </a:prstGeom>
          <a:noFill/>
        </p:spPr>
        <p:txBody>
          <a:bodyPr wrap="square" anchor="t" lIns="0" rIns="0" tIns="0" bIns="0">
            <a:spAutoFit/>
          </a:bodyPr>
          <a:lstStyle/>
          <a:p>
            <a:r>
              <a:rPr sz="2000" i="0" b="0">
                <a:solidFill>
                  <a:srgbClr val="1A1F36"/>
                </a:solidFill>
                <a:latin typeface="Calibri"/>
              </a:rPr>
              <a:t>Recognise extrapyramidal effects, neuroleptic malignant syndrome and metabolic effects, and outline their management.</a:t>
            </a:r>
          </a:p>
        </p:txBody>
      </p:sp>
      <p:sp>
        <p:nvSpPr>
          <p:cNvPr id="17" name="Oval 16"/>
          <p:cNvSpPr/>
          <p:nvPr/>
        </p:nvSpPr>
        <p:spPr>
          <a:xfrm>
            <a:off x="548640" y="47879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806188"/>
            <a:ext cx="6629400" cy="496823"/>
          </a:xfrm>
          <a:prstGeom prst="rect">
            <a:avLst/>
          </a:prstGeom>
          <a:noFill/>
        </p:spPr>
        <p:txBody>
          <a:bodyPr wrap="square" anchor="t" lIns="0" rIns="0" tIns="0" bIns="0">
            <a:spAutoFit/>
          </a:bodyPr>
          <a:lstStyle/>
          <a:p>
            <a:r>
              <a:rPr sz="2000" i="0" b="0">
                <a:solidFill>
                  <a:srgbClr val="1A1F36"/>
                </a:solidFill>
                <a:latin typeface="Calibri"/>
              </a:rPr>
              <a:t>Describe clozapine's role and its monitoring.</a:t>
            </a:r>
          </a:p>
        </p:txBody>
      </p:sp>
      <p:sp>
        <p:nvSpPr>
          <p:cNvPr id="19" name="Oval 18"/>
          <p:cNvSpPr/>
          <p:nvPr/>
        </p:nvSpPr>
        <p:spPr>
          <a:xfrm>
            <a:off x="548640" y="53304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Select an antipsychotic and a maintenance plan for a patient.</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514168"/>
          </a:xfrm>
          <a:prstGeom prst="rect">
            <a:avLst/>
          </a:prstGeom>
          <a:noFill/>
        </p:spPr>
        <p:txBody>
          <a:bodyPr wrap="square" anchor="t" lIns="0" rIns="0" tIns="0" bIns="0">
            <a:spAutoFit/>
          </a:bodyPr>
          <a:lstStyle/>
          <a:p>
            <a:r>
              <a:rPr sz="2200" i="0" b="0">
                <a:solidFill>
                  <a:srgbClr val="1A1F36"/>
                </a:solidFill>
                <a:latin typeface="Calibri"/>
              </a:rPr>
              <a:t>Dopamine Pathways in the Brain</a:t>
            </a:r>
          </a:p>
        </p:txBody>
      </p:sp>
      <p:sp>
        <p:nvSpPr>
          <p:cNvPr id="13" name="Oval 12"/>
          <p:cNvSpPr/>
          <p:nvPr/>
        </p:nvSpPr>
        <p:spPr>
          <a:xfrm>
            <a:off x="548640" y="21326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150944"/>
            <a:ext cx="4678527" cy="514168"/>
          </a:xfrm>
          <a:prstGeom prst="rect">
            <a:avLst/>
          </a:prstGeom>
          <a:noFill/>
        </p:spPr>
        <p:txBody>
          <a:bodyPr wrap="square" anchor="t" lIns="0" rIns="0" tIns="0" bIns="0">
            <a:spAutoFit/>
          </a:bodyPr>
          <a:lstStyle/>
          <a:p>
            <a:r>
              <a:rPr sz="2200" i="0" b="0">
                <a:solidFill>
                  <a:srgbClr val="1A1F36"/>
                </a:solidFill>
                <a:latin typeface="Calibri"/>
              </a:rPr>
              <a:t>Schizophrenia in Brief</a:t>
            </a:r>
          </a:p>
        </p:txBody>
      </p:sp>
      <p:sp>
        <p:nvSpPr>
          <p:cNvPr id="15" name="Oval 14"/>
          <p:cNvSpPr/>
          <p:nvPr/>
        </p:nvSpPr>
        <p:spPr>
          <a:xfrm>
            <a:off x="548640" y="26925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2710833"/>
            <a:ext cx="4678527" cy="863418"/>
          </a:xfrm>
          <a:prstGeom prst="rect">
            <a:avLst/>
          </a:prstGeom>
          <a:noFill/>
        </p:spPr>
        <p:txBody>
          <a:bodyPr wrap="square" anchor="t" lIns="0" rIns="0" tIns="0" bIns="0">
            <a:spAutoFit/>
          </a:bodyPr>
          <a:lstStyle/>
          <a:p>
            <a:r>
              <a:rPr sz="2200" i="0" b="0">
                <a:solidFill>
                  <a:srgbClr val="1A1F36"/>
                </a:solidFill>
                <a:latin typeface="Calibri"/>
              </a:rPr>
              <a:t>First-Generation (Typical) Antipsychotics</a:t>
            </a:r>
          </a:p>
        </p:txBody>
      </p:sp>
      <p:sp>
        <p:nvSpPr>
          <p:cNvPr id="17" name="Oval 16"/>
          <p:cNvSpPr/>
          <p:nvPr/>
        </p:nvSpPr>
        <p:spPr>
          <a:xfrm>
            <a:off x="548640" y="3601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3619971"/>
            <a:ext cx="4678527" cy="514168"/>
          </a:xfrm>
          <a:prstGeom prst="rect">
            <a:avLst/>
          </a:prstGeom>
          <a:noFill/>
        </p:spPr>
        <p:txBody>
          <a:bodyPr wrap="square" anchor="t" lIns="0" rIns="0" tIns="0" bIns="0">
            <a:spAutoFit/>
          </a:bodyPr>
          <a:lstStyle/>
          <a:p>
            <a:r>
              <a:rPr sz="2200" i="0" b="0">
                <a:solidFill>
                  <a:srgbClr val="1A1F36"/>
                </a:solidFill>
                <a:latin typeface="Calibri"/>
              </a:rPr>
              <a:t>Extrapyramidal Effects</a:t>
            </a:r>
          </a:p>
        </p:txBody>
      </p:sp>
      <p:sp>
        <p:nvSpPr>
          <p:cNvPr id="19" name="Oval 18"/>
          <p:cNvSpPr/>
          <p:nvPr/>
        </p:nvSpPr>
        <p:spPr>
          <a:xfrm>
            <a:off x="548640" y="416157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4179860"/>
            <a:ext cx="4678527" cy="514168"/>
          </a:xfrm>
          <a:prstGeom prst="rect">
            <a:avLst/>
          </a:prstGeom>
          <a:noFill/>
        </p:spPr>
        <p:txBody>
          <a:bodyPr wrap="square" anchor="t" lIns="0" rIns="0" tIns="0" bIns="0">
            <a:spAutoFit/>
          </a:bodyPr>
          <a:lstStyle/>
          <a:p>
            <a:r>
              <a:rPr sz="2200" i="0" b="0">
                <a:solidFill>
                  <a:srgbClr val="1A1F36"/>
                </a:solidFill>
                <a:latin typeface="Calibri"/>
              </a:rPr>
              <a:t>Neuroleptic Malignant Syndrome</a:t>
            </a:r>
          </a:p>
        </p:txBody>
      </p:sp>
      <p:sp>
        <p:nvSpPr>
          <p:cNvPr id="21" name="Oval 20"/>
          <p:cNvSpPr/>
          <p:nvPr/>
        </p:nvSpPr>
        <p:spPr>
          <a:xfrm>
            <a:off x="548640" y="472146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1143000" y="4739748"/>
            <a:ext cx="4678527" cy="863418"/>
          </a:xfrm>
          <a:prstGeom prst="rect">
            <a:avLst/>
          </a:prstGeom>
          <a:noFill/>
        </p:spPr>
        <p:txBody>
          <a:bodyPr wrap="square" anchor="t" lIns="0" rIns="0" tIns="0" bIns="0">
            <a:spAutoFit/>
          </a:bodyPr>
          <a:lstStyle/>
          <a:p>
            <a:r>
              <a:rPr sz="2200" i="0" b="0">
                <a:solidFill>
                  <a:srgbClr val="1A1F36"/>
                </a:solidFill>
                <a:latin typeface="Calibri"/>
              </a:rPr>
              <a:t>Second-Generation (Atypical) Antipsychotics</a:t>
            </a:r>
          </a:p>
        </p:txBody>
      </p:sp>
      <p:sp>
        <p:nvSpPr>
          <p:cNvPr id="23" name="Oval 22"/>
          <p:cNvSpPr/>
          <p:nvPr/>
        </p:nvSpPr>
        <p:spPr>
          <a:xfrm>
            <a:off x="548640" y="56305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1143000" y="5648887"/>
            <a:ext cx="4678527" cy="514168"/>
          </a:xfrm>
          <a:prstGeom prst="rect">
            <a:avLst/>
          </a:prstGeom>
          <a:noFill/>
        </p:spPr>
        <p:txBody>
          <a:bodyPr wrap="square" anchor="t" lIns="0" rIns="0" tIns="0" bIns="0">
            <a:spAutoFit/>
          </a:bodyPr>
          <a:lstStyle/>
          <a:p>
            <a:r>
              <a:rPr sz="2200" i="0" b="0">
                <a:solidFill>
                  <a:srgbClr val="1A1F36"/>
                </a:solidFill>
                <a:latin typeface="Calibri"/>
              </a:rPr>
              <a:t>Clozapine</a:t>
            </a:r>
          </a:p>
        </p:txBody>
      </p:sp>
      <p:sp>
        <p:nvSpPr>
          <p:cNvPr id="25" name="Oval 24"/>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1591056"/>
            <a:ext cx="4678527" cy="564061"/>
          </a:xfrm>
          <a:prstGeom prst="rect">
            <a:avLst/>
          </a:prstGeom>
          <a:noFill/>
        </p:spPr>
        <p:txBody>
          <a:bodyPr wrap="square" anchor="t" lIns="0" rIns="0" tIns="0" bIns="0">
            <a:spAutoFit/>
          </a:bodyPr>
          <a:lstStyle/>
          <a:p>
            <a:r>
              <a:rPr sz="2200" i="0" b="0">
                <a:solidFill>
                  <a:srgbClr val="1A1F36"/>
                </a:solidFill>
                <a:latin typeface="Calibri"/>
              </a:rPr>
              <a:t>Maintenance and Adherence</a:t>
            </a:r>
          </a:p>
        </p:txBody>
      </p:sp>
      <p:sp>
        <p:nvSpPr>
          <p:cNvPr id="27" name="Oval 26"/>
          <p:cNvSpPr/>
          <p:nvPr/>
        </p:nvSpPr>
        <p:spPr>
          <a:xfrm>
            <a:off x="6370167" y="218254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8" name="TextBox 27"/>
          <p:cNvSpPr txBox="1"/>
          <p:nvPr/>
        </p:nvSpPr>
        <p:spPr>
          <a:xfrm>
            <a:off x="6964527" y="2200837"/>
            <a:ext cx="4678527" cy="913311"/>
          </a:xfrm>
          <a:prstGeom prst="rect">
            <a:avLst/>
          </a:prstGeom>
          <a:noFill/>
        </p:spPr>
        <p:txBody>
          <a:bodyPr wrap="square" anchor="t" lIns="0" rIns="0" tIns="0" bIns="0">
            <a:spAutoFit/>
          </a:bodyPr>
          <a:lstStyle/>
          <a:p>
            <a:r>
              <a:rPr sz="2200" i="0" b="0">
                <a:solidFill>
                  <a:srgbClr val="1A1F36"/>
                </a:solidFill>
                <a:latin typeface="Calibri"/>
              </a:rPr>
              <a:t>Pharmacokinetics and Drug Interactions</a:t>
            </a:r>
          </a:p>
        </p:txBody>
      </p:sp>
      <p:sp>
        <p:nvSpPr>
          <p:cNvPr id="29" name="Oval 28"/>
          <p:cNvSpPr/>
          <p:nvPr/>
        </p:nvSpPr>
        <p:spPr>
          <a:xfrm>
            <a:off x="6370167" y="31415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10</a:t>
            </a:r>
          </a:p>
        </p:txBody>
      </p:sp>
      <p:sp>
        <p:nvSpPr>
          <p:cNvPr id="30" name="TextBox 29"/>
          <p:cNvSpPr txBox="1"/>
          <p:nvPr/>
        </p:nvSpPr>
        <p:spPr>
          <a:xfrm>
            <a:off x="6964527" y="3159868"/>
            <a:ext cx="4678527" cy="564061"/>
          </a:xfrm>
          <a:prstGeom prst="rect">
            <a:avLst/>
          </a:prstGeom>
          <a:noFill/>
        </p:spPr>
        <p:txBody>
          <a:bodyPr wrap="square" anchor="t" lIns="0" rIns="0" tIns="0" bIns="0">
            <a:spAutoFit/>
          </a:bodyPr>
          <a:lstStyle/>
          <a:p>
            <a:r>
              <a:rPr sz="2200" i="0" b="0">
                <a:solidFill>
                  <a:srgbClr val="1A1F36"/>
                </a:solidFill>
                <a:latin typeface="Calibri"/>
              </a:rPr>
              <a:t>Special Populations</a:t>
            </a:r>
          </a:p>
        </p:txBody>
      </p:sp>
      <p:sp>
        <p:nvSpPr>
          <p:cNvPr id="31" name="Oval 30"/>
          <p:cNvSpPr/>
          <p:nvPr/>
        </p:nvSpPr>
        <p:spPr>
          <a:xfrm>
            <a:off x="6370167" y="375136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11</a:t>
            </a:r>
          </a:p>
        </p:txBody>
      </p:sp>
      <p:sp>
        <p:nvSpPr>
          <p:cNvPr id="32" name="TextBox 31"/>
          <p:cNvSpPr txBox="1"/>
          <p:nvPr/>
        </p:nvSpPr>
        <p:spPr>
          <a:xfrm>
            <a:off x="6964527" y="3769650"/>
            <a:ext cx="4678527" cy="564061"/>
          </a:xfrm>
          <a:prstGeom prst="rect">
            <a:avLst/>
          </a:prstGeom>
          <a:noFill/>
        </p:spPr>
        <p:txBody>
          <a:bodyPr wrap="square" anchor="t" lIns="0" rIns="0" tIns="0" bIns="0">
            <a:spAutoFit/>
          </a:bodyPr>
          <a:lstStyle/>
          <a:p>
            <a:r>
              <a:rPr sz="2200" i="0" b="0">
                <a:solidFill>
                  <a:srgbClr val="1A1F36"/>
                </a:solidFill>
                <a:latin typeface="Calibri"/>
              </a:rPr>
              <a:t>Counselling the Patient</a:t>
            </a:r>
          </a:p>
        </p:txBody>
      </p:sp>
      <p:sp>
        <p:nvSpPr>
          <p:cNvPr id="33" name="Oval 32"/>
          <p:cNvSpPr/>
          <p:nvPr/>
        </p:nvSpPr>
        <p:spPr>
          <a:xfrm>
            <a:off x="6370167" y="43611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12</a:t>
            </a:r>
          </a:p>
        </p:txBody>
      </p:sp>
      <p:sp>
        <p:nvSpPr>
          <p:cNvPr id="34" name="TextBox 33"/>
          <p:cNvSpPr txBox="1"/>
          <p:nvPr/>
        </p:nvSpPr>
        <p:spPr>
          <a:xfrm>
            <a:off x="6964527" y="4379431"/>
            <a:ext cx="4678527" cy="564061"/>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35" name="Oval 34"/>
          <p:cNvSpPr/>
          <p:nvPr/>
        </p:nvSpPr>
        <p:spPr>
          <a:xfrm>
            <a:off x="6370167" y="49709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13</a:t>
            </a:r>
          </a:p>
        </p:txBody>
      </p:sp>
      <p:sp>
        <p:nvSpPr>
          <p:cNvPr id="36" name="TextBox 35"/>
          <p:cNvSpPr txBox="1"/>
          <p:nvPr/>
        </p:nvSpPr>
        <p:spPr>
          <a:xfrm>
            <a:off x="6964527" y="4989213"/>
            <a:ext cx="4678527" cy="564061"/>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37" name="Oval 36"/>
          <p:cNvSpPr/>
          <p:nvPr/>
        </p:nvSpPr>
        <p:spPr>
          <a:xfrm>
            <a:off x="6370167" y="55807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14</a:t>
            </a:r>
          </a:p>
        </p:txBody>
      </p:sp>
      <p:sp>
        <p:nvSpPr>
          <p:cNvPr id="38" name="TextBox 37"/>
          <p:cNvSpPr txBox="1"/>
          <p:nvPr/>
        </p:nvSpPr>
        <p:spPr>
          <a:xfrm>
            <a:off x="6964527" y="5598994"/>
            <a:ext cx="4678527" cy="564061"/>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Dopamine Pathways in the Brain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Four dopamine pathways explain both the benefits and the adverse effects of antipsychotics.</a:t>
            </a:r>
          </a:p>
        </p:txBody>
      </p:sp>
      <p:graphicFrame>
        <p:nvGraphicFramePr>
          <p:cNvPr id="12" name="Table 11"/>
          <p:cNvGraphicFramePr>
            <a:graphicFrameLocks noGrp="1"/>
          </p:cNvGraphicFramePr>
          <p:nvPr/>
        </p:nvGraphicFramePr>
        <p:xfrm>
          <a:off x="548640" y="2235708"/>
          <a:ext cx="11094413" cy="3200400"/>
        </p:xfrm>
        <a:graphic>
          <a:graphicData uri="http://schemas.openxmlformats.org/drawingml/2006/table">
            <a:tbl>
              <a:tblPr firstRow="0" bandRow="0">
                <a:tableStyleId>{5C22544A-7EE6-4342-B048-85BDC9FD1C3A}</a:tableStyleId>
              </a:tblPr>
              <a:tblGrid>
                <a:gridCol w="2663189"/>
                <a:gridCol w="2634923"/>
                <a:gridCol w="2814677"/>
                <a:gridCol w="2981624"/>
              </a:tblGrid>
              <a:tr h="640080">
                <a:tc>
                  <a:txBody>
                    <a:bodyPr/>
                    <a:lstStyle/>
                    <a:p>
                      <a:r>
                        <a:rPr sz="1700" i="0" b="1">
                          <a:solidFill>
                            <a:srgbClr val="FFFFFF"/>
                          </a:solidFill>
                          <a:latin typeface="Calibri"/>
                        </a:rPr>
                        <a:t>Pathway</a:t>
                      </a:r>
                    </a:p>
                  </a:txBody>
                  <a:tcPr marL="109728" marR="109728" marT="45720" marB="45720" anchor="ctr">
                    <a:solidFill>
                      <a:srgbClr val="1B2A8C"/>
                    </a:solidFill>
                  </a:tcPr>
                </a:tc>
                <a:tc>
                  <a:txBody>
                    <a:bodyPr/>
                    <a:lstStyle/>
                    <a:p>
                      <a:r>
                        <a:rPr sz="1700" i="0" b="1">
                          <a:solidFill>
                            <a:srgbClr val="FFFFFF"/>
                          </a:solidFill>
                          <a:latin typeface="Calibri"/>
                        </a:rPr>
                        <a:t>Normal role</a:t>
                      </a:r>
                    </a:p>
                  </a:txBody>
                  <a:tcPr marL="109728" marR="109728" marT="45720" marB="45720" anchor="ctr">
                    <a:solidFill>
                      <a:srgbClr val="1B2A8C"/>
                    </a:solidFill>
                  </a:tcPr>
                </a:tc>
                <a:tc>
                  <a:txBody>
                    <a:bodyPr/>
                    <a:lstStyle/>
                    <a:p>
                      <a:r>
                        <a:rPr sz="1700" i="0" b="1">
                          <a:solidFill>
                            <a:srgbClr val="FFFFFF"/>
                          </a:solidFill>
                          <a:latin typeface="Calibri"/>
                        </a:rPr>
                        <a:t>In schizophrenia</a:t>
                      </a:r>
                    </a:p>
                  </a:txBody>
                  <a:tcPr marL="109728" marR="109728" marT="45720" marB="45720" anchor="ctr">
                    <a:solidFill>
                      <a:srgbClr val="1B2A8C"/>
                    </a:solidFill>
                  </a:tcPr>
                </a:tc>
                <a:tc>
                  <a:txBody>
                    <a:bodyPr/>
                    <a:lstStyle/>
                    <a:p>
                      <a:r>
                        <a:rPr sz="1700" i="0" b="1">
                          <a:solidFill>
                            <a:srgbClr val="FFFFFF"/>
                          </a:solidFill>
                          <a:latin typeface="Calibri"/>
                        </a:rPr>
                        <a:t>Effect of D2 block</a:t>
                      </a:r>
                    </a:p>
                  </a:txBody>
                  <a:tcPr marL="109728" marR="109728" marT="45720" marB="45720" anchor="ctr">
                    <a:solidFill>
                      <a:srgbClr val="1B2A8C"/>
                    </a:solidFill>
                  </a:tcPr>
                </a:tc>
              </a:tr>
              <a:tr h="640080">
                <a:tc>
                  <a:txBody>
                    <a:bodyPr/>
                    <a:lstStyle/>
                    <a:p>
                      <a:r>
                        <a:rPr sz="1800" i="0" b="1">
                          <a:solidFill>
                            <a:srgbClr val="1A1F36"/>
                          </a:solidFill>
                          <a:latin typeface="Calibri"/>
                        </a:rPr>
                        <a:t>Mesolimbic</a:t>
                      </a:r>
                    </a:p>
                  </a:txBody>
                  <a:tcPr marL="109728" marR="109728" marT="45720" marB="45720" anchor="ctr">
                    <a:solidFill>
                      <a:srgbClr val="FFFFFF"/>
                    </a:solidFill>
                  </a:tcPr>
                </a:tc>
                <a:tc>
                  <a:txBody>
                    <a:bodyPr/>
                    <a:lstStyle/>
                    <a:p>
                      <a:r>
                        <a:rPr sz="1800" i="0" b="0">
                          <a:solidFill>
                            <a:srgbClr val="1A1F36"/>
                          </a:solidFill>
                          <a:latin typeface="Calibri"/>
                        </a:rPr>
                        <a:t>Reward, emotion, motivation</a:t>
                      </a:r>
                    </a:p>
                  </a:txBody>
                  <a:tcPr marL="109728" marR="109728" marT="45720" marB="45720" anchor="ctr">
                    <a:solidFill>
                      <a:srgbClr val="FFFFFF"/>
                    </a:solidFill>
                  </a:tcPr>
                </a:tc>
                <a:tc>
                  <a:txBody>
                    <a:bodyPr/>
                    <a:lstStyle/>
                    <a:p>
                      <a:r>
                        <a:rPr sz="1800" i="0" b="0">
                          <a:solidFill>
                            <a:srgbClr val="1A1F36"/>
                          </a:solidFill>
                          <a:latin typeface="Calibri"/>
                        </a:rPr>
                        <a:t>Overactive → positive symptoms</a:t>
                      </a:r>
                    </a:p>
                  </a:txBody>
                  <a:tcPr marL="109728" marR="109728" marT="45720" marB="45720" anchor="ctr">
                    <a:solidFill>
                      <a:srgbClr val="FFFFFF"/>
                    </a:solidFill>
                  </a:tcPr>
                </a:tc>
                <a:tc>
                  <a:txBody>
                    <a:bodyPr/>
                    <a:lstStyle/>
                    <a:p>
                      <a:r>
                        <a:rPr sz="1800" i="0" b="0">
                          <a:solidFill>
                            <a:srgbClr val="1A1F36"/>
                          </a:solidFill>
                          <a:latin typeface="Calibri"/>
                        </a:rPr>
                        <a:t>Reduces positive symptoms (the aim)</a:t>
                      </a:r>
                    </a:p>
                  </a:txBody>
                  <a:tcPr marL="109728" marR="109728" marT="45720" marB="45720" anchor="ctr">
                    <a:solidFill>
                      <a:srgbClr val="FFFFFF"/>
                    </a:solidFill>
                  </a:tcPr>
                </a:tc>
              </a:tr>
              <a:tr h="640080">
                <a:tc>
                  <a:txBody>
                    <a:bodyPr/>
                    <a:lstStyle/>
                    <a:p>
                      <a:r>
                        <a:rPr sz="1800" i="0" b="1">
                          <a:solidFill>
                            <a:srgbClr val="1A1F36"/>
                          </a:solidFill>
                          <a:latin typeface="Calibri"/>
                        </a:rPr>
                        <a:t>Mesocortical</a:t>
                      </a:r>
                    </a:p>
                  </a:txBody>
                  <a:tcPr marL="109728" marR="109728" marT="45720" marB="45720" anchor="ctr">
                    <a:solidFill>
                      <a:srgbClr val="F1F2F8"/>
                    </a:solidFill>
                  </a:tcPr>
                </a:tc>
                <a:tc>
                  <a:txBody>
                    <a:bodyPr/>
                    <a:lstStyle/>
                    <a:p>
                      <a:r>
                        <a:rPr sz="1800" i="0" b="0">
                          <a:solidFill>
                            <a:srgbClr val="1A1F36"/>
                          </a:solidFill>
                          <a:latin typeface="Calibri"/>
                        </a:rPr>
                        <a:t>Cognition, attention, planning</a:t>
                      </a:r>
                    </a:p>
                  </a:txBody>
                  <a:tcPr marL="109728" marR="109728" marT="45720" marB="45720" anchor="ctr">
                    <a:solidFill>
                      <a:srgbClr val="F1F2F8"/>
                    </a:solidFill>
                  </a:tcPr>
                </a:tc>
                <a:tc>
                  <a:txBody>
                    <a:bodyPr/>
                    <a:lstStyle/>
                    <a:p>
                      <a:r>
                        <a:rPr sz="1800" i="0" b="0">
                          <a:solidFill>
                            <a:srgbClr val="1A1F36"/>
                          </a:solidFill>
                          <a:latin typeface="Calibri"/>
                        </a:rPr>
                        <a:t>Underactive → negative and cognitive symptoms</a:t>
                      </a:r>
                    </a:p>
                  </a:txBody>
                  <a:tcPr marL="109728" marR="109728" marT="45720" marB="45720" anchor="ctr">
                    <a:solidFill>
                      <a:srgbClr val="F1F2F8"/>
                    </a:solidFill>
                  </a:tcPr>
                </a:tc>
                <a:tc>
                  <a:txBody>
                    <a:bodyPr/>
                    <a:lstStyle/>
                    <a:p>
                      <a:r>
                        <a:rPr sz="1800" i="0" b="0">
                          <a:solidFill>
                            <a:srgbClr val="1A1F36"/>
                          </a:solidFill>
                          <a:latin typeface="Calibri"/>
                        </a:rPr>
                        <a:t>May worsen negative symptoms</a:t>
                      </a:r>
                    </a:p>
                  </a:txBody>
                  <a:tcPr marL="109728" marR="109728" marT="45720" marB="45720" anchor="ctr">
                    <a:solidFill>
                      <a:srgbClr val="F1F2F8"/>
                    </a:solidFill>
                  </a:tcPr>
                </a:tc>
              </a:tr>
              <a:tr h="640080">
                <a:tc>
                  <a:txBody>
                    <a:bodyPr/>
                    <a:lstStyle/>
                    <a:p>
                      <a:r>
                        <a:rPr sz="1800" i="0" b="1">
                          <a:solidFill>
                            <a:srgbClr val="1A1F36"/>
                          </a:solidFill>
                          <a:latin typeface="Calibri"/>
                        </a:rPr>
                        <a:t>Nigrostriatal</a:t>
                      </a:r>
                    </a:p>
                  </a:txBody>
                  <a:tcPr marL="109728" marR="109728" marT="45720" marB="45720" anchor="ctr">
                    <a:solidFill>
                      <a:srgbClr val="FFFFFF"/>
                    </a:solidFill>
                  </a:tcPr>
                </a:tc>
                <a:tc>
                  <a:txBody>
                    <a:bodyPr/>
                    <a:lstStyle/>
                    <a:p>
                      <a:r>
                        <a:rPr sz="1800" i="0" b="0">
                          <a:solidFill>
                            <a:srgbClr val="1A1F36"/>
                          </a:solidFill>
                          <a:latin typeface="Calibri"/>
                        </a:rPr>
                        <a:t>Control of movement (with ACh)</a:t>
                      </a:r>
                    </a:p>
                  </a:txBody>
                  <a:tcPr marL="109728" marR="109728" marT="45720" marB="45720" anchor="ctr">
                    <a:solidFill>
                      <a:srgbClr val="FFFFFF"/>
                    </a:solidFill>
                  </a:tcPr>
                </a:tc>
                <a:tc>
                  <a:txBody>
                    <a:bodyPr/>
                    <a:lstStyle/>
                    <a:p>
                      <a:r>
                        <a:rPr sz="1800" i="0" b="0">
                          <a:solidFill>
                            <a:srgbClr val="1A1F36"/>
                          </a:solidFill>
                          <a:latin typeface="Calibri"/>
                        </a:rPr>
                        <a:t>Normal</a:t>
                      </a:r>
                    </a:p>
                  </a:txBody>
                  <a:tcPr marL="109728" marR="109728" marT="45720" marB="45720" anchor="ctr">
                    <a:solidFill>
                      <a:srgbClr val="FFFFFF"/>
                    </a:solidFill>
                  </a:tcPr>
                </a:tc>
                <a:tc>
                  <a:txBody>
                    <a:bodyPr/>
                    <a:lstStyle/>
                    <a:p>
                      <a:r>
                        <a:rPr sz="1800" i="0" b="0">
                          <a:solidFill>
                            <a:srgbClr val="1A1F36"/>
                          </a:solidFill>
                          <a:latin typeface="Calibri"/>
                        </a:rPr>
                        <a:t>Extrapyramidal effects</a:t>
                      </a:r>
                    </a:p>
                  </a:txBody>
                  <a:tcPr marL="109728" marR="109728" marT="45720" marB="45720" anchor="ctr">
                    <a:solidFill>
                      <a:srgbClr val="FFFFFF"/>
                    </a:solidFill>
                  </a:tcPr>
                </a:tc>
              </a:tr>
              <a:tr h="640080">
                <a:tc>
                  <a:txBody>
                    <a:bodyPr/>
                    <a:lstStyle/>
                    <a:p>
                      <a:r>
                        <a:rPr sz="1800" i="0" b="1">
                          <a:solidFill>
                            <a:srgbClr val="1A1F36"/>
                          </a:solidFill>
                          <a:latin typeface="Calibri"/>
                        </a:rPr>
                        <a:t>Tuberoinfundibular</a:t>
                      </a:r>
                    </a:p>
                  </a:txBody>
                  <a:tcPr marL="109728" marR="109728" marT="45720" marB="45720" anchor="ctr">
                    <a:solidFill>
                      <a:srgbClr val="F1F2F8"/>
                    </a:solidFill>
                  </a:tcPr>
                </a:tc>
                <a:tc>
                  <a:txBody>
                    <a:bodyPr/>
                    <a:lstStyle/>
                    <a:p>
                      <a:r>
                        <a:rPr sz="1800" i="0" b="0">
                          <a:solidFill>
                            <a:srgbClr val="1A1F36"/>
                          </a:solidFill>
                          <a:latin typeface="Calibri"/>
                        </a:rPr>
                        <a:t>Inhibits prolactin release</a:t>
                      </a:r>
                    </a:p>
                  </a:txBody>
                  <a:tcPr marL="109728" marR="109728" marT="45720" marB="45720" anchor="ctr">
                    <a:solidFill>
                      <a:srgbClr val="F1F2F8"/>
                    </a:solidFill>
                  </a:tcPr>
                </a:tc>
                <a:tc>
                  <a:txBody>
                    <a:bodyPr/>
                    <a:lstStyle/>
                    <a:p>
                      <a:r>
                        <a:rPr sz="1800" i="0" b="0">
                          <a:solidFill>
                            <a:srgbClr val="1A1F36"/>
                          </a:solidFill>
                          <a:latin typeface="Calibri"/>
                        </a:rPr>
                        <a:t>Normal</a:t>
                      </a:r>
                    </a:p>
                  </a:txBody>
                  <a:tcPr marL="109728" marR="109728" marT="45720" marB="45720" anchor="ctr">
                    <a:solidFill>
                      <a:srgbClr val="F1F2F8"/>
                    </a:solidFill>
                  </a:tcPr>
                </a:tc>
                <a:tc>
                  <a:txBody>
                    <a:bodyPr/>
                    <a:lstStyle/>
                    <a:p>
                      <a:r>
                        <a:rPr sz="1800" i="0" b="0">
                          <a:solidFill>
                            <a:srgbClr val="1A1F36"/>
                          </a:solidFill>
                          <a:latin typeface="Calibri"/>
                        </a:rPr>
                        <a:t>Hyperprolactinaemia</a:t>
                      </a:r>
                    </a:p>
                  </a:txBody>
                  <a:tcPr marL="109728" marR="109728" marT="45720" marB="45720" anchor="ctr">
                    <a:solidFill>
                      <a:srgbClr val="F1F2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Schizophrenia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Schizophrenia affects about 1% of people. It usually starts in late adolescence or early adulthood. Genes play a large part. Symptoms fall into three groups:</a:t>
            </a:r>
          </a:p>
          <a:p>
            <a:pPr>
              <a:spcAft>
                <a:spcPts val="800"/>
              </a:spcAft>
            </a:pPr>
            <a:r>
              <a:rPr sz="1700" i="0" b="0">
                <a:solidFill>
                  <a:srgbClr val="1A1F36"/>
                </a:solidFill>
                <a:latin typeface="Calibri"/>
              </a:rPr>
              <a:t>Antipsychotics do not cure schizophrenia. They reduce hallucinations and delusions and allow the person to live in the community. Treatment is a balance between benefit and a wide range of adverse effects.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826895"/>
          </a:xfrm>
          <a:prstGeom prst="rect">
            <a:avLst/>
          </a:prstGeom>
          <a:noFill/>
        </p:spPr>
        <p:txBody>
          <a:bodyPr wrap="square" anchor="t" lIns="0" rIns="0" tIns="0" bIns="0">
            <a:spAutoFit/>
          </a:bodyPr>
          <a:lstStyle/>
          <a:p>
            <a:r>
              <a:rPr sz="2100" i="0" b="1">
                <a:solidFill>
                  <a:srgbClr val="1A1F36"/>
                </a:solidFill>
                <a:latin typeface="Calibri"/>
              </a:rPr>
              <a:t>Positive symptoms</a:t>
            </a:r>
            <a:r>
              <a:rPr sz="2100" i="0" b="0">
                <a:solidFill>
                  <a:srgbClr val="1A1F36"/>
                </a:solidFill>
                <a:latin typeface="Calibri"/>
              </a:rPr>
              <a:t> — things added to normal experience: delusions (fixed false beliefs), hallucinations (usually voices) and disorganised speech. They are linked to excess dopamine in the mesolimbic pathway.</a:t>
            </a:r>
          </a:p>
        </p:txBody>
      </p:sp>
      <p:sp>
        <p:nvSpPr>
          <p:cNvPr id="14" name="Oval 13"/>
          <p:cNvSpPr/>
          <p:nvPr/>
        </p:nvSpPr>
        <p:spPr>
          <a:xfrm>
            <a:off x="5394959" y="34453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3463671"/>
            <a:ext cx="5653735" cy="1826895"/>
          </a:xfrm>
          <a:prstGeom prst="rect">
            <a:avLst/>
          </a:prstGeom>
          <a:noFill/>
        </p:spPr>
        <p:txBody>
          <a:bodyPr wrap="square" anchor="t" lIns="0" rIns="0" tIns="0" bIns="0">
            <a:spAutoFit/>
          </a:bodyPr>
          <a:lstStyle/>
          <a:p>
            <a:r>
              <a:rPr sz="2100" i="0" b="1">
                <a:solidFill>
                  <a:srgbClr val="1A1F36"/>
                </a:solidFill>
                <a:latin typeface="Calibri"/>
              </a:rPr>
              <a:t>Negative symptoms</a:t>
            </a:r>
            <a:r>
              <a:rPr sz="2100" i="0" b="0">
                <a:solidFill>
                  <a:srgbClr val="1A1F36"/>
                </a:solidFill>
                <a:latin typeface="Calibri"/>
              </a:rPr>
              <a:t> — things lost: blunted emotion, apathy, poverty of speech and social withdrawal. Self-care and hygiene often suffer. They are linked to low dopamine in the mesocortical pathway.</a:t>
            </a:r>
          </a:p>
        </p:txBody>
      </p:sp>
      <p:sp>
        <p:nvSpPr>
          <p:cNvPr id="16" name="Oval 15"/>
          <p:cNvSpPr/>
          <p:nvPr/>
        </p:nvSpPr>
        <p:spPr>
          <a:xfrm>
            <a:off x="5394959" y="531799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5336286"/>
            <a:ext cx="5653735" cy="826769"/>
          </a:xfrm>
          <a:prstGeom prst="rect">
            <a:avLst/>
          </a:prstGeom>
          <a:noFill/>
        </p:spPr>
        <p:txBody>
          <a:bodyPr wrap="square" anchor="t" lIns="0" rIns="0" tIns="0" bIns="0">
            <a:spAutoFit/>
          </a:bodyPr>
          <a:lstStyle/>
          <a:p>
            <a:r>
              <a:rPr sz="2100" i="0" b="1">
                <a:solidFill>
                  <a:srgbClr val="1A1F36"/>
                </a:solidFill>
                <a:latin typeface="Calibri"/>
              </a:rPr>
              <a:t>Cognitive symptoms</a:t>
            </a:r>
            <a:r>
              <a:rPr sz="2100" i="0" b="0">
                <a:solidFill>
                  <a:srgbClr val="1A1F36"/>
                </a:solidFill>
                <a:latin typeface="Calibri"/>
              </a:rPr>
              <a:t> — poor attention, memory and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First-Generation (Typical) Antipsychotics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Members.</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808863"/>
          </a:xfrm>
          <a:prstGeom prst="rect">
            <a:avLst/>
          </a:prstGeom>
          <a:noFill/>
        </p:spPr>
        <p:txBody>
          <a:bodyPr wrap="square" anchor="t" lIns="0" rIns="0" tIns="0" bIns="0">
            <a:spAutoFit/>
          </a:bodyPr>
          <a:lstStyle/>
          <a:p>
            <a:r>
              <a:rPr sz="2100" i="0" b="0">
                <a:solidFill>
                  <a:srgbClr val="1A1F36"/>
                </a:solidFill>
                <a:latin typeface="Calibri"/>
              </a:rPr>
              <a:t>Phenothiazines: chlorpromazine (low potency), fluphenazine (high potency).</a:t>
            </a:r>
          </a:p>
        </p:txBody>
      </p:sp>
      <p:sp>
        <p:nvSpPr>
          <p:cNvPr id="14" name="Oval 13"/>
          <p:cNvSpPr/>
          <p:nvPr/>
        </p:nvSpPr>
        <p:spPr>
          <a:xfrm>
            <a:off x="548640" y="31085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126867"/>
            <a:ext cx="10500055" cy="808863"/>
          </a:xfrm>
          <a:prstGeom prst="rect">
            <a:avLst/>
          </a:prstGeom>
          <a:noFill/>
        </p:spPr>
        <p:txBody>
          <a:bodyPr wrap="square" anchor="t" lIns="0" rIns="0" tIns="0" bIns="0">
            <a:spAutoFit/>
          </a:bodyPr>
          <a:lstStyle/>
          <a:p>
            <a:r>
              <a:rPr sz="2100" i="0" b="0">
                <a:solidFill>
                  <a:srgbClr val="1A1F36"/>
                </a:solidFill>
                <a:latin typeface="Calibri"/>
              </a:rPr>
              <a:t>Butyrophenones: haloperidol (high potency), droperidol.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Extrapyramidal Effects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Extrapyramidal effects (EPS) come from D2 block in the nigrostriatal pathway. Acetylcholine then becomes relatively dominant. Learn them by time of onset.</a:t>
            </a:r>
          </a:p>
        </p:txBody>
      </p:sp>
      <p:graphicFrame>
        <p:nvGraphicFramePr>
          <p:cNvPr id="12" name="Table 11"/>
          <p:cNvGraphicFramePr>
            <a:graphicFrameLocks noGrp="1"/>
          </p:cNvGraphicFramePr>
          <p:nvPr/>
        </p:nvGraphicFramePr>
        <p:xfrm>
          <a:off x="548640" y="2532887"/>
          <a:ext cx="11094413" cy="3200400"/>
        </p:xfrm>
        <a:graphic>
          <a:graphicData uri="http://schemas.openxmlformats.org/drawingml/2006/table">
            <a:tbl>
              <a:tblPr firstRow="0" bandRow="0">
                <a:tableStyleId>{5C22544A-7EE6-4342-B048-85BDC9FD1C3A}</a:tableStyleId>
              </a:tblPr>
              <a:tblGrid>
                <a:gridCol w="1866899"/>
                <a:gridCol w="1379305"/>
                <a:gridCol w="3770262"/>
                <a:gridCol w="4077947"/>
              </a:tblGrid>
              <a:tr h="640080">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Onset</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c>
                  <a:txBody>
                    <a:bodyPr/>
                    <a:lstStyle/>
                    <a:p>
                      <a:r>
                        <a:rPr sz="1700" i="0" b="1">
                          <a:solidFill>
                            <a:srgbClr val="FFFFFF"/>
                          </a:solidFill>
                          <a:latin typeface="Calibri"/>
                        </a:rPr>
                        <a:t>Management</a:t>
                      </a:r>
                    </a:p>
                  </a:txBody>
                  <a:tcPr marL="109728" marR="109728" marT="45720" marB="45720" anchor="ctr">
                    <a:solidFill>
                      <a:srgbClr val="1B2A8C"/>
                    </a:solidFill>
                  </a:tcPr>
                </a:tc>
              </a:tr>
              <a:tr h="640080">
                <a:tc>
                  <a:txBody>
                    <a:bodyPr/>
                    <a:lstStyle/>
                    <a:p>
                      <a:r>
                        <a:rPr sz="1800" i="0" b="1">
                          <a:solidFill>
                            <a:srgbClr val="1A1F36"/>
                          </a:solidFill>
                          <a:latin typeface="Calibri"/>
                        </a:rPr>
                        <a:t>Acute dystonia</a:t>
                      </a:r>
                    </a:p>
                  </a:txBody>
                  <a:tcPr marL="109728" marR="109728" marT="45720" marB="45720" anchor="ctr">
                    <a:solidFill>
                      <a:srgbClr val="FFFFFF"/>
                    </a:solidFill>
                  </a:tcPr>
                </a:tc>
                <a:tc>
                  <a:txBody>
                    <a:bodyPr/>
                    <a:lstStyle/>
                    <a:p>
                      <a:r>
                        <a:rPr sz="1800" i="0" b="0">
                          <a:solidFill>
                            <a:srgbClr val="1A1F36"/>
                          </a:solidFill>
                          <a:latin typeface="Calibri"/>
                        </a:rPr>
                        <a:t>Hours to days</a:t>
                      </a:r>
                    </a:p>
                  </a:txBody>
                  <a:tcPr marL="109728" marR="109728" marT="45720" marB="45720" anchor="ctr">
                    <a:solidFill>
                      <a:srgbClr val="FFFFFF"/>
                    </a:solidFill>
                  </a:tcPr>
                </a:tc>
                <a:tc>
                  <a:txBody>
                    <a:bodyPr/>
                    <a:lstStyle/>
                    <a:p>
                      <a:r>
                        <a:rPr sz="1800" i="0" b="0">
                          <a:solidFill>
                            <a:srgbClr val="1A1F36"/>
                          </a:solidFill>
                          <a:latin typeface="Calibri"/>
                        </a:rPr>
                        <a:t>Painful spasm of neck, jaw, tongue or eyes (oculogyric crisis)</a:t>
                      </a:r>
                    </a:p>
                  </a:txBody>
                  <a:tcPr marL="109728" marR="109728" marT="45720" marB="45720" anchor="ctr">
                    <a:solidFill>
                      <a:srgbClr val="FFFFFF"/>
                    </a:solidFill>
                  </a:tcPr>
                </a:tc>
                <a:tc>
                  <a:txBody>
                    <a:bodyPr/>
                    <a:lstStyle/>
                    <a:p>
                      <a:r>
                        <a:rPr sz="1800" i="0" b="0">
                          <a:solidFill>
                            <a:srgbClr val="1A1F36"/>
                          </a:solidFill>
                          <a:latin typeface="Calibri"/>
                        </a:rPr>
                        <a:t>IM or IV anticholinergic (procyclidine, biperiden); reversible</a:t>
                      </a:r>
                    </a:p>
                  </a:txBody>
                  <a:tcPr marL="109728" marR="109728" marT="45720" marB="45720" anchor="ctr">
                    <a:solidFill>
                      <a:srgbClr val="FFFFFF"/>
                    </a:solidFill>
                  </a:tcPr>
                </a:tc>
              </a:tr>
              <a:tr h="640080">
                <a:tc>
                  <a:txBody>
                    <a:bodyPr/>
                    <a:lstStyle/>
                    <a:p>
                      <a:r>
                        <a:rPr sz="1800" i="0" b="1">
                          <a:solidFill>
                            <a:srgbClr val="1A1F36"/>
                          </a:solidFill>
                          <a:latin typeface="Calibri"/>
                        </a:rPr>
                        <a:t>Akathisia</a:t>
                      </a:r>
                    </a:p>
                  </a:txBody>
                  <a:tcPr marL="109728" marR="109728" marT="45720" marB="45720" anchor="ctr">
                    <a:solidFill>
                      <a:srgbClr val="F1F2F8"/>
                    </a:solidFill>
                  </a:tcPr>
                </a:tc>
                <a:tc>
                  <a:txBody>
                    <a:bodyPr/>
                    <a:lstStyle/>
                    <a:p>
                      <a:r>
                        <a:rPr sz="1800" i="0" b="0">
                          <a:solidFill>
                            <a:srgbClr val="1A1F36"/>
                          </a:solidFill>
                          <a:latin typeface="Calibri"/>
                        </a:rPr>
                        <a:t>Days to weeks</a:t>
                      </a:r>
                    </a:p>
                  </a:txBody>
                  <a:tcPr marL="109728" marR="109728" marT="45720" marB="45720" anchor="ctr">
                    <a:solidFill>
                      <a:srgbClr val="F1F2F8"/>
                    </a:solidFill>
                  </a:tcPr>
                </a:tc>
                <a:tc>
                  <a:txBody>
                    <a:bodyPr/>
                    <a:lstStyle/>
                    <a:p>
                      <a:r>
                        <a:rPr sz="1800" i="0" b="0">
                          <a:solidFill>
                            <a:srgbClr val="1A1F36"/>
                          </a:solidFill>
                          <a:latin typeface="Calibri"/>
                        </a:rPr>
                        <a:t>Inner restlessness, cannot sit still</a:t>
                      </a:r>
                    </a:p>
                  </a:txBody>
                  <a:tcPr marL="109728" marR="109728" marT="45720" marB="45720" anchor="ctr">
                    <a:solidFill>
                      <a:srgbClr val="F1F2F8"/>
                    </a:solidFill>
                  </a:tcPr>
                </a:tc>
                <a:tc>
                  <a:txBody>
                    <a:bodyPr/>
                    <a:lstStyle/>
                    <a:p>
                      <a:r>
                        <a:rPr sz="1800" i="0" b="0">
                          <a:solidFill>
                            <a:srgbClr val="1A1F36"/>
                          </a:solidFill>
                          <a:latin typeface="Calibri"/>
                        </a:rPr>
                        <a:t>Reduce dose; propranolol; switch drug</a:t>
                      </a:r>
                    </a:p>
                  </a:txBody>
                  <a:tcPr marL="109728" marR="109728" marT="45720" marB="45720" anchor="ctr">
                    <a:solidFill>
                      <a:srgbClr val="F1F2F8"/>
                    </a:solidFill>
                  </a:tcPr>
                </a:tc>
              </a:tr>
              <a:tr h="640080">
                <a:tc>
                  <a:txBody>
                    <a:bodyPr/>
                    <a:lstStyle/>
                    <a:p>
                      <a:r>
                        <a:rPr sz="1800" i="0" b="1">
                          <a:solidFill>
                            <a:srgbClr val="1A1F36"/>
                          </a:solidFill>
                          <a:latin typeface="Calibri"/>
                        </a:rPr>
                        <a:t>Parkinsonism</a:t>
                      </a:r>
                    </a:p>
                  </a:txBody>
                  <a:tcPr marL="109728" marR="109728" marT="45720" marB="45720" anchor="ctr">
                    <a:solidFill>
                      <a:srgbClr val="FFFFFF"/>
                    </a:solidFill>
                  </a:tcPr>
                </a:tc>
                <a:tc>
                  <a:txBody>
                    <a:bodyPr/>
                    <a:lstStyle/>
                    <a:p>
                      <a:r>
                        <a:rPr sz="1800" i="0" b="0">
                          <a:solidFill>
                            <a:srgbClr val="1A1F36"/>
                          </a:solidFill>
                          <a:latin typeface="Calibri"/>
                        </a:rPr>
                        <a:t>Weeks</a:t>
                      </a:r>
                    </a:p>
                  </a:txBody>
                  <a:tcPr marL="109728" marR="109728" marT="45720" marB="45720" anchor="ctr">
                    <a:solidFill>
                      <a:srgbClr val="FFFFFF"/>
                    </a:solidFill>
                  </a:tcPr>
                </a:tc>
                <a:tc>
                  <a:txBody>
                    <a:bodyPr/>
                    <a:lstStyle/>
                    <a:p>
                      <a:r>
                        <a:rPr sz="1800" i="0" b="0">
                          <a:solidFill>
                            <a:srgbClr val="1A1F36"/>
                          </a:solidFill>
                          <a:latin typeface="Calibri"/>
                        </a:rPr>
                        <a:t>Tremor, rigidity, slow movement</a:t>
                      </a:r>
                    </a:p>
                  </a:txBody>
                  <a:tcPr marL="109728" marR="109728" marT="45720" marB="45720" anchor="ctr">
                    <a:solidFill>
                      <a:srgbClr val="FFFFFF"/>
                    </a:solidFill>
                  </a:tcPr>
                </a:tc>
                <a:tc>
                  <a:txBody>
                    <a:bodyPr/>
                    <a:lstStyle/>
                    <a:p>
                      <a:r>
                        <a:rPr sz="1800" i="0" b="0">
                          <a:solidFill>
                            <a:srgbClr val="1A1F36"/>
                          </a:solidFill>
                          <a:latin typeface="Calibri"/>
                        </a:rPr>
                        <a:t>Reduce dose or switch; oral anticholinergic short term</a:t>
                      </a:r>
                    </a:p>
                  </a:txBody>
                  <a:tcPr marL="109728" marR="109728" marT="45720" marB="45720" anchor="ctr">
                    <a:solidFill>
                      <a:srgbClr val="FFFFFF"/>
                    </a:solidFill>
                  </a:tcPr>
                </a:tc>
              </a:tr>
              <a:tr h="640080">
                <a:tc>
                  <a:txBody>
                    <a:bodyPr/>
                    <a:lstStyle/>
                    <a:p>
                      <a:r>
                        <a:rPr sz="1800" i="0" b="1">
                          <a:solidFill>
                            <a:srgbClr val="1A1F36"/>
                          </a:solidFill>
                          <a:latin typeface="Calibri"/>
                        </a:rPr>
                        <a:t>Tardive dyskinesia</a:t>
                      </a:r>
                    </a:p>
                  </a:txBody>
                  <a:tcPr marL="109728" marR="109728" marT="45720" marB="45720" anchor="ctr">
                    <a:solidFill>
                      <a:srgbClr val="F1F2F8"/>
                    </a:solidFill>
                  </a:tcPr>
                </a:tc>
                <a:tc>
                  <a:txBody>
                    <a:bodyPr/>
                    <a:lstStyle/>
                    <a:p>
                      <a:r>
                        <a:rPr sz="1800" i="0" b="0">
                          <a:solidFill>
                            <a:srgbClr val="1A1F36"/>
                          </a:solidFill>
                          <a:latin typeface="Calibri"/>
                        </a:rPr>
                        <a:t>Months to years</a:t>
                      </a:r>
                    </a:p>
                  </a:txBody>
                  <a:tcPr marL="109728" marR="109728" marT="45720" marB="45720" anchor="ctr">
                    <a:solidFill>
                      <a:srgbClr val="F1F2F8"/>
                    </a:solidFill>
                  </a:tcPr>
                </a:tc>
                <a:tc>
                  <a:txBody>
                    <a:bodyPr/>
                    <a:lstStyle/>
                    <a:p>
                      <a:r>
                        <a:rPr sz="1800" i="0" b="0">
                          <a:solidFill>
                            <a:srgbClr val="1A1F36"/>
                          </a:solidFill>
                          <a:latin typeface="Calibri"/>
                        </a:rPr>
                        <a:t>Involuntary movements of lips, tongue and face</a:t>
                      </a:r>
                    </a:p>
                  </a:txBody>
                  <a:tcPr marL="109728" marR="109728" marT="45720" marB="45720" anchor="ctr">
                    <a:solidFill>
                      <a:srgbClr val="F1F2F8"/>
                    </a:solidFill>
                  </a:tcPr>
                </a:tc>
                <a:tc>
                  <a:txBody>
                    <a:bodyPr/>
                    <a:lstStyle/>
                    <a:p>
                      <a:r>
                        <a:rPr sz="1800" i="0" b="0">
                          <a:solidFill>
                            <a:srgbClr val="1A1F36"/>
                          </a:solidFill>
                          <a:latin typeface="Calibri"/>
                        </a:rPr>
                        <a:t>Stop anticholinergics; reduce or switch (clozapine); VMAT2 inhibitor; may be irreversible</a:t>
                      </a:r>
                    </a:p>
                  </a:txBody>
                  <a:tcPr marL="109728" marR="109728" marT="45720" marB="45720" anchor="ctr">
                    <a:solidFill>
                      <a:srgbClr val="F1F2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Neuroleptic Malignant Syndrome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Neuroleptic malignant syndrome (NMS) is rare but can be fatal. It can occur with any antipsychotic, usually early in treatment or after a dose increase.</a:t>
            </a:r>
          </a:p>
          <a:p>
            <a:pPr>
              <a:spcAft>
                <a:spcPts val="800"/>
              </a:spcAft>
            </a:pPr>
            <a:r>
              <a:rPr sz="1700" i="0" b="1">
                <a:solidFill>
                  <a:srgbClr val="1A1F36"/>
                </a:solidFill>
                <a:latin typeface="Calibri"/>
              </a:rPr>
              <a:t>Features:</a:t>
            </a:r>
          </a:p>
          <a:p>
            <a:pPr>
              <a:spcAft>
                <a:spcPts val="800"/>
              </a:spcAft>
            </a:pPr>
            <a:r>
              <a:rPr sz="1700" i="0" b="1">
                <a:solidFill>
                  <a:srgbClr val="1A1F36"/>
                </a:solidFill>
                <a:latin typeface="Calibri"/>
              </a:rPr>
              <a:t>Management:</a:t>
            </a:r>
            <a:r>
              <a:rPr sz="1700" i="0" b="0">
                <a:solidFill>
                  <a:srgbClr val="1A1F36"/>
                </a:solidFill>
                <a:latin typeface="Calibri"/>
              </a:rPr>
              <a:t> stop the antipsychotic at once. Give cooling, IV fluids and supportive care in hospital. Dantrolene or bromocriptine may be used in severe cases.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677799"/>
          </a:xfrm>
          <a:prstGeom prst="rect">
            <a:avLst/>
          </a:prstGeom>
          <a:noFill/>
        </p:spPr>
        <p:txBody>
          <a:bodyPr wrap="square" anchor="t" lIns="0" rIns="0" tIns="0" bIns="0">
            <a:spAutoFit/>
          </a:bodyPr>
          <a:lstStyle/>
          <a:p>
            <a:r>
              <a:rPr sz="2100" i="0" b="0">
                <a:solidFill>
                  <a:srgbClr val="1A1F36"/>
                </a:solidFill>
                <a:latin typeface="Calibri"/>
              </a:rPr>
              <a:t>High fever.</a:t>
            </a:r>
          </a:p>
        </p:txBody>
      </p:sp>
      <p:sp>
        <p:nvSpPr>
          <p:cNvPr id="14" name="Oval 13"/>
          <p:cNvSpPr/>
          <p:nvPr/>
        </p:nvSpPr>
        <p:spPr>
          <a:xfrm>
            <a:off x="5394959" y="22962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314575"/>
            <a:ext cx="5653735" cy="677799"/>
          </a:xfrm>
          <a:prstGeom prst="rect">
            <a:avLst/>
          </a:prstGeom>
          <a:noFill/>
        </p:spPr>
        <p:txBody>
          <a:bodyPr wrap="square" anchor="t" lIns="0" rIns="0" tIns="0" bIns="0">
            <a:spAutoFit/>
          </a:bodyPr>
          <a:lstStyle/>
          <a:p>
            <a:r>
              <a:rPr sz="2100" i="0" b="0">
                <a:solidFill>
                  <a:srgbClr val="1A1F36"/>
                </a:solidFill>
                <a:latin typeface="Calibri"/>
              </a:rPr>
              <a:t>"Lead-pipe" muscle rigidity.</a:t>
            </a:r>
          </a:p>
        </p:txBody>
      </p:sp>
      <p:sp>
        <p:nvSpPr>
          <p:cNvPr id="16" name="Oval 15"/>
          <p:cNvSpPr/>
          <p:nvPr/>
        </p:nvSpPr>
        <p:spPr>
          <a:xfrm>
            <a:off x="5394959" y="30198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3038094"/>
            <a:ext cx="5653735" cy="1011173"/>
          </a:xfrm>
          <a:prstGeom prst="rect">
            <a:avLst/>
          </a:prstGeom>
          <a:noFill/>
        </p:spPr>
        <p:txBody>
          <a:bodyPr wrap="square" anchor="t" lIns="0" rIns="0" tIns="0" bIns="0">
            <a:spAutoFit/>
          </a:bodyPr>
          <a:lstStyle/>
          <a:p>
            <a:r>
              <a:rPr sz="2100" i="0" b="0">
                <a:solidFill>
                  <a:srgbClr val="1A1F36"/>
                </a:solidFill>
                <a:latin typeface="Calibri"/>
              </a:rPr>
              <a:t>Altered mental state: confusion, reduced consciousness.</a:t>
            </a:r>
          </a:p>
        </p:txBody>
      </p:sp>
      <p:sp>
        <p:nvSpPr>
          <p:cNvPr id="18" name="Oval 17"/>
          <p:cNvSpPr/>
          <p:nvPr/>
        </p:nvSpPr>
        <p:spPr>
          <a:xfrm>
            <a:off x="5394959" y="40766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5989320" y="4094987"/>
            <a:ext cx="5653735" cy="1011173"/>
          </a:xfrm>
          <a:prstGeom prst="rect">
            <a:avLst/>
          </a:prstGeom>
          <a:noFill/>
        </p:spPr>
        <p:txBody>
          <a:bodyPr wrap="square" anchor="t" lIns="0" rIns="0" tIns="0" bIns="0">
            <a:spAutoFit/>
          </a:bodyPr>
          <a:lstStyle/>
          <a:p>
            <a:r>
              <a:rPr sz="2100" i="0" b="0">
                <a:solidFill>
                  <a:srgbClr val="1A1F36"/>
                </a:solidFill>
                <a:latin typeface="Calibri"/>
              </a:rPr>
              <a:t>Autonomic instability: labile or raised blood pressure, tachycardia, sweating.</a:t>
            </a:r>
          </a:p>
        </p:txBody>
      </p:sp>
      <p:sp>
        <p:nvSpPr>
          <p:cNvPr id="20" name="Oval 19"/>
          <p:cNvSpPr/>
          <p:nvPr/>
        </p:nvSpPr>
        <p:spPr>
          <a:xfrm>
            <a:off x="5394959" y="513359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5989320" y="5151882"/>
            <a:ext cx="5653735" cy="1011173"/>
          </a:xfrm>
          <a:prstGeom prst="rect">
            <a:avLst/>
          </a:prstGeom>
          <a:noFill/>
        </p:spPr>
        <p:txBody>
          <a:bodyPr wrap="square" anchor="t" lIns="0" rIns="0" tIns="0" bIns="0">
            <a:spAutoFit/>
          </a:bodyPr>
          <a:lstStyle/>
          <a:p>
            <a:r>
              <a:rPr sz="2100" i="0" b="0">
                <a:solidFill>
                  <a:srgbClr val="1A1F36"/>
                </a:solidFill>
                <a:latin typeface="Calibri"/>
              </a:rPr>
              <a:t>Raised creatine kinase (CK) from muscle breakdown; risk of kidney injury.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Second-Generation (Atypical) Antipsychotics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Members:</a:t>
            </a:r>
            <a:r>
              <a:rPr sz="1700" i="0" b="0">
                <a:solidFill>
                  <a:srgbClr val="1A1F36"/>
                </a:solidFill>
                <a:latin typeface="Calibri"/>
              </a:rPr>
              <a:t> risperidone, olanzapine, quetiapine, clozapine, and the partial agonists aripiprazole, brexpiprazole and cariprazine.</a:t>
            </a:r>
          </a:p>
          <a:p>
            <a:pPr>
              <a:spcAft>
                <a:spcPts val="800"/>
              </a:spcAft>
            </a:pPr>
            <a:r>
              <a:rPr sz="1700" i="0" b="1">
                <a:solidFill>
                  <a:srgbClr val="1A1F36"/>
                </a:solidFill>
                <a:latin typeface="Calibri"/>
              </a:rPr>
              <a:t>Mechanism.</a:t>
            </a:r>
            <a:r>
              <a:rPr sz="1700" i="0" b="0">
                <a:solidFill>
                  <a:srgbClr val="1A1F36"/>
                </a:solidFill>
                <a:latin typeface="Calibri"/>
              </a:rPr>
              <a:t> Most second-generation antipsychotics (SGAs) block both D2 and 5-HT2A receptors. 5-HT2A block increases dopamine release in the nigrostriatal and mesocortical pathways. This has two results: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1A1F36"/>
                </a:solidFill>
                <a:latin typeface="Calibri"/>
              </a:rPr>
              <a:t>Fewer EPS</a:t>
            </a:r>
            <a:r>
              <a:rPr sz="2100" i="0" b="0">
                <a:solidFill>
                  <a:srgbClr val="1A1F36"/>
                </a:solidFill>
                <a:latin typeface="Calibri"/>
              </a:rPr>
              <a:t>, because dopamine is partly restored in the nigrostriatal pathway.</a:t>
            </a:r>
          </a:p>
        </p:txBody>
      </p:sp>
      <p:sp>
        <p:nvSpPr>
          <p:cNvPr id="14" name="Oval 13"/>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779014"/>
            <a:ext cx="5653735" cy="1475612"/>
          </a:xfrm>
          <a:prstGeom prst="rect">
            <a:avLst/>
          </a:prstGeom>
          <a:noFill/>
        </p:spPr>
        <p:txBody>
          <a:bodyPr wrap="square" anchor="t" lIns="0" rIns="0" tIns="0" bIns="0">
            <a:spAutoFit/>
          </a:bodyPr>
          <a:lstStyle/>
          <a:p>
            <a:r>
              <a:rPr sz="2100" i="0" b="1">
                <a:solidFill>
                  <a:srgbClr val="1A1F36"/>
                </a:solidFill>
                <a:latin typeface="Calibri"/>
              </a:rPr>
              <a:t>Some benefit for negative symptoms</a:t>
            </a:r>
            <a:r>
              <a:rPr sz="2100" i="0" b="0">
                <a:solidFill>
                  <a:srgbClr val="1A1F36"/>
                </a:solidFill>
                <a:latin typeface="Calibri"/>
              </a:rPr>
              <a:t>, because dopamine rises in the mesocortical pathway.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Clozapine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Clozapine is the most effective drug for </a:t>
            </a:r>
            <a:r>
              <a:rPr sz="1700" i="0" b="1">
                <a:solidFill>
                  <a:srgbClr val="1A1F36"/>
                </a:solidFill>
                <a:latin typeface="Calibri"/>
              </a:rPr>
              <a:t>treatment-resistant schizophrenia</a:t>
            </a:r>
            <a:r>
              <a:rPr sz="1700" i="0" b="0">
                <a:solidFill>
                  <a:srgbClr val="1A1F36"/>
                </a:solidFill>
                <a:latin typeface="Calibri"/>
              </a:rPr>
              <a:t>. This is defined as poor response to at least two antipsychotics, including one SGA, each given at an adequate dose for 6 weeks or more. Clozapine also lowers suicide risk.</a:t>
            </a:r>
          </a:p>
          <a:p>
            <a:pPr>
              <a:spcAft>
                <a:spcPts val="800"/>
              </a:spcAft>
            </a:pPr>
            <a:r>
              <a:rPr sz="1700" i="0" b="1">
                <a:solidFill>
                  <a:srgbClr val="1A1F36"/>
                </a:solidFill>
                <a:latin typeface="Calibri"/>
              </a:rPr>
              <a:t>Main risks:</a:t>
            </a:r>
          </a:p>
          <a:p>
            <a:pPr>
              <a:spcAft>
                <a:spcPts val="800"/>
              </a:spcAft>
            </a:pPr>
            <a:r>
              <a:rPr sz="1700" i="0" b="1">
                <a:solidFill>
                  <a:srgbClr val="1A1F36"/>
                </a:solidFill>
                <a:latin typeface="Calibri"/>
              </a:rPr>
              <a:t>Blood monitoring:</a:t>
            </a:r>
            <a:r>
              <a:rPr sz="1700" i="0" b="0">
                <a:solidFill>
                  <a:srgbClr val="1A1F36"/>
                </a:solidFill>
                <a:latin typeface="Calibri"/>
              </a:rPr>
              <a:t> check the absolute neutrophil count (ANC) before starting. Then check weekly for 18 weeks, every 2 weeks to 1 year, and monthly after that. Stop clozapine if neutrophils fall below the threshold.</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944499"/>
          </a:xfrm>
          <a:prstGeom prst="rect">
            <a:avLst/>
          </a:prstGeom>
          <a:noFill/>
        </p:spPr>
        <p:txBody>
          <a:bodyPr wrap="square" anchor="t" lIns="0" rIns="0" tIns="0" bIns="0">
            <a:spAutoFit/>
          </a:bodyPr>
          <a:lstStyle/>
          <a:p>
            <a:r>
              <a:rPr sz="2100" i="0" b="1">
                <a:solidFill>
                  <a:srgbClr val="1A1F36"/>
                </a:solidFill>
                <a:latin typeface="Calibri"/>
              </a:rPr>
              <a:t>Agranulocytosis</a:t>
            </a:r>
            <a:r>
              <a:rPr sz="2100" i="0" b="0">
                <a:solidFill>
                  <a:srgbClr val="1A1F36"/>
                </a:solidFill>
                <a:latin typeface="Calibri"/>
              </a:rPr>
              <a:t> in about 1% of patients, mostly in the first 18 weeks.</a:t>
            </a:r>
          </a:p>
        </p:txBody>
      </p:sp>
      <p:sp>
        <p:nvSpPr>
          <p:cNvPr id="14" name="Oval 13"/>
          <p:cNvSpPr/>
          <p:nvPr/>
        </p:nvSpPr>
        <p:spPr>
          <a:xfrm>
            <a:off x="5394959"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581275"/>
            <a:ext cx="5653735" cy="944499"/>
          </a:xfrm>
          <a:prstGeom prst="rect">
            <a:avLst/>
          </a:prstGeom>
          <a:noFill/>
        </p:spPr>
        <p:txBody>
          <a:bodyPr wrap="square" anchor="t" lIns="0" rIns="0" tIns="0" bIns="0">
            <a:spAutoFit/>
          </a:bodyPr>
          <a:lstStyle/>
          <a:p>
            <a:r>
              <a:rPr sz="2100" i="0" b="0">
                <a:solidFill>
                  <a:srgbClr val="1A1F36"/>
                </a:solidFill>
                <a:latin typeface="Calibri"/>
              </a:rPr>
              <a:t>Myocarditis and cardiomyopathy, mostly in the first 2 months.</a:t>
            </a:r>
          </a:p>
        </p:txBody>
      </p:sp>
      <p:sp>
        <p:nvSpPr>
          <p:cNvPr id="16" name="Oval 15"/>
          <p:cNvSpPr/>
          <p:nvPr/>
        </p:nvSpPr>
        <p:spPr>
          <a:xfrm>
            <a:off x="5394959"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3571494"/>
            <a:ext cx="5653735" cy="611124"/>
          </a:xfrm>
          <a:prstGeom prst="rect">
            <a:avLst/>
          </a:prstGeom>
          <a:noFill/>
        </p:spPr>
        <p:txBody>
          <a:bodyPr wrap="square" anchor="t" lIns="0" rIns="0" tIns="0" bIns="0">
            <a:spAutoFit/>
          </a:bodyPr>
          <a:lstStyle/>
          <a:p>
            <a:r>
              <a:rPr sz="2100" i="0" b="0">
                <a:solidFill>
                  <a:srgbClr val="1A1F36"/>
                </a:solidFill>
                <a:latin typeface="Calibri"/>
              </a:rPr>
              <a:t>Seizures at high doses.</a:t>
            </a:r>
          </a:p>
        </p:txBody>
      </p:sp>
      <p:sp>
        <p:nvSpPr>
          <p:cNvPr id="18" name="Oval 17"/>
          <p:cNvSpPr/>
          <p:nvPr/>
        </p:nvSpPr>
        <p:spPr>
          <a:xfrm>
            <a:off x="5394959" y="421005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5989320" y="4228338"/>
            <a:ext cx="5653735" cy="944499"/>
          </a:xfrm>
          <a:prstGeom prst="rect">
            <a:avLst/>
          </a:prstGeom>
          <a:noFill/>
        </p:spPr>
        <p:txBody>
          <a:bodyPr wrap="square" anchor="t" lIns="0" rIns="0" tIns="0" bIns="0">
            <a:spAutoFit/>
          </a:bodyPr>
          <a:lstStyle/>
          <a:p>
            <a:r>
              <a:rPr sz="2100" i="0" b="0">
                <a:solidFill>
                  <a:srgbClr val="1A1F36"/>
                </a:solidFill>
                <a:latin typeface="Calibri"/>
              </a:rPr>
              <a:t>Severe constipation, which can cause bowel obstruction.</a:t>
            </a:r>
          </a:p>
        </p:txBody>
      </p:sp>
      <p:sp>
        <p:nvSpPr>
          <p:cNvPr id="20" name="Oval 19"/>
          <p:cNvSpPr/>
          <p:nvPr/>
        </p:nvSpPr>
        <p:spPr>
          <a:xfrm>
            <a:off x="5394959" y="52002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Hypersalivation, sedation, weight gain and metabolic syndrome.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Maintenance and Adherence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Most patients need long-term treatment. After two or more episodes, maintenance therapy is given for at least 5 years, and often indefinitely. Low doses are less effective than standard doses at preventing relapse.</a:t>
            </a:r>
          </a:p>
          <a:p>
            <a:pPr>
              <a:spcAft>
                <a:spcPts val="800"/>
              </a:spcAft>
            </a:pPr>
            <a:r>
              <a:rPr sz="1700" i="0" b="0">
                <a:solidFill>
                  <a:srgbClr val="1A1F36"/>
                </a:solidFill>
                <a:latin typeface="Calibri"/>
              </a:rPr>
              <a:t>Adherence is often poor, because of:</a:t>
            </a:r>
          </a:p>
          <a:p>
            <a:pPr>
              <a:spcAft>
                <a:spcPts val="800"/>
              </a:spcAft>
            </a:pPr>
            <a:r>
              <a:rPr sz="1700" i="0" b="1">
                <a:solidFill>
                  <a:srgbClr val="1A1F36"/>
                </a:solidFill>
                <a:latin typeface="Calibri"/>
              </a:rPr>
              <a:t>Long-acting injections</a:t>
            </a:r>
            <a:r>
              <a:rPr sz="1700" i="0" b="0">
                <a:solidFill>
                  <a:srgbClr val="1A1F36"/>
                </a:solidFill>
                <a:latin typeface="Calibri"/>
              </a:rPr>
              <a:t> help when adherence is poor. Examples are haloperidol decanoate, fluphenazine decanoate, paliperidone palmitate, risperidone and aripiprazole depot. They do not solve every cause of non-adherence. They do show clearly when a dose is missed.</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Poor insight into the illness or denial of it.</a:t>
            </a:r>
          </a:p>
        </p:txBody>
      </p:sp>
      <p:sp>
        <p:nvSpPr>
          <p:cNvPr id="14" name="Oval 13"/>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2779014"/>
            <a:ext cx="5653735" cy="808863"/>
          </a:xfrm>
          <a:prstGeom prst="rect">
            <a:avLst/>
          </a:prstGeom>
          <a:noFill/>
        </p:spPr>
        <p:txBody>
          <a:bodyPr wrap="square" anchor="t" lIns="0" rIns="0" tIns="0" bIns="0">
            <a:spAutoFit/>
          </a:bodyPr>
          <a:lstStyle/>
          <a:p>
            <a:r>
              <a:rPr sz="2100" i="0" b="0">
                <a:solidFill>
                  <a:srgbClr val="1A1F36"/>
                </a:solidFill>
                <a:latin typeface="Calibri"/>
              </a:rPr>
              <a:t>Cognitive problems.</a:t>
            </a:r>
          </a:p>
        </p:txBody>
      </p:sp>
      <p:sp>
        <p:nvSpPr>
          <p:cNvPr id="16" name="Oval 15"/>
          <p:cNvSpPr/>
          <p:nvPr/>
        </p:nvSpPr>
        <p:spPr>
          <a:xfrm>
            <a:off x="5394959"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3633597"/>
            <a:ext cx="5653735" cy="1142237"/>
          </a:xfrm>
          <a:prstGeom prst="rect">
            <a:avLst/>
          </a:prstGeom>
          <a:noFill/>
        </p:spPr>
        <p:txBody>
          <a:bodyPr wrap="square" anchor="t" lIns="0" rIns="0" tIns="0" bIns="0">
            <a:spAutoFit/>
          </a:bodyPr>
          <a:lstStyle/>
          <a:p>
            <a:r>
              <a:rPr sz="2100" i="0" b="0">
                <a:solidFill>
                  <a:srgbClr val="1A1F36"/>
                </a:solidFill>
                <a:latin typeface="Calibri"/>
              </a:rPr>
              <a:t>Adverse effects, which are clinically significant in most patients.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Pharmacokinetics and Drug Interactions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Antipsychotics are lipophilic. They are well absorbed, cross the blood-brain barrier and are highly protein bound. Most are metabolised in the liver by CYP enzymes. Half-lives are usually 20 to 40 hours, so once-daily dosing is often possible.</a:t>
            </a:r>
          </a:p>
        </p:txBody>
      </p:sp>
      <p:graphicFrame>
        <p:nvGraphicFramePr>
          <p:cNvPr id="12" name="Table 11"/>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3619454"/>
                <a:gridCol w="2124462"/>
                <a:gridCol w="5350498"/>
              </a:tblGrid>
              <a:tr h="640080">
                <a:tc>
                  <a:txBody>
                    <a:bodyPr/>
                    <a:lstStyle/>
                    <a:p>
                      <a:r>
                        <a:rPr sz="1700" i="0" b="1">
                          <a:solidFill>
                            <a:srgbClr val="FFFFFF"/>
                          </a:solidFill>
                          <a:latin typeface="Calibri"/>
                        </a:rPr>
                        <a:t>Drug</a:t>
                      </a:r>
                    </a:p>
                  </a:txBody>
                  <a:tcPr marL="109728" marR="109728" marT="45720" marB="45720" anchor="ctr">
                    <a:solidFill>
                      <a:srgbClr val="1B2A8C"/>
                    </a:solidFill>
                  </a:tcPr>
                </a:tc>
                <a:tc>
                  <a:txBody>
                    <a:bodyPr/>
                    <a:lstStyle/>
                    <a:p>
                      <a:r>
                        <a:rPr sz="1700" i="0" b="1">
                          <a:solidFill>
                            <a:srgbClr val="FFFFFF"/>
                          </a:solidFill>
                          <a:latin typeface="Calibri"/>
                        </a:rPr>
                        <a:t>Main enzyme</a:t>
                      </a:r>
                    </a:p>
                  </a:txBody>
                  <a:tcPr marL="109728" marR="109728" marT="45720" marB="45720" anchor="ctr">
                    <a:solidFill>
                      <a:srgbClr val="1B2A8C"/>
                    </a:solidFill>
                  </a:tcPr>
                </a:tc>
                <a:tc>
                  <a:txBody>
                    <a:bodyPr/>
                    <a:lstStyle/>
                    <a:p>
                      <a:r>
                        <a:rPr sz="1700" i="0" b="1">
                          <a:solidFill>
                            <a:srgbClr val="FFFFFF"/>
                          </a:solidFill>
                          <a:latin typeface="Calibri"/>
                        </a:rPr>
                        <a:t>Practical point</a:t>
                      </a:r>
                    </a:p>
                  </a:txBody>
                  <a:tcPr marL="109728" marR="109728" marT="45720" marB="45720" anchor="ctr">
                    <a:solidFill>
                      <a:srgbClr val="1B2A8C"/>
                    </a:solidFill>
                  </a:tcPr>
                </a:tc>
              </a:tr>
              <a:tr h="640080">
                <a:tc>
                  <a:txBody>
                    <a:bodyPr/>
                    <a:lstStyle/>
                    <a:p>
                      <a:r>
                        <a:rPr sz="1800" i="0" b="1">
                          <a:solidFill>
                            <a:srgbClr val="1A1F36"/>
                          </a:solidFill>
                          <a:latin typeface="Calibri"/>
                        </a:rPr>
                        <a:t>Clozapine, olanzapine</a:t>
                      </a:r>
                    </a:p>
                  </a:txBody>
                  <a:tcPr marL="109728" marR="109728" marT="45720" marB="45720" anchor="ctr">
                    <a:solidFill>
                      <a:srgbClr val="FFFFFF"/>
                    </a:solidFill>
                  </a:tcPr>
                </a:tc>
                <a:tc>
                  <a:txBody>
                    <a:bodyPr/>
                    <a:lstStyle/>
                    <a:p>
                      <a:r>
                        <a:rPr sz="1800" i="0" b="0">
                          <a:solidFill>
                            <a:srgbClr val="1A1F36"/>
                          </a:solidFill>
                          <a:latin typeface="Calibri"/>
                        </a:rPr>
                        <a:t>CYP1A2</a:t>
                      </a:r>
                    </a:p>
                  </a:txBody>
                  <a:tcPr marL="109728" marR="109728" marT="45720" marB="45720" anchor="ctr">
                    <a:solidFill>
                      <a:srgbClr val="FFFFFF"/>
                    </a:solidFill>
                  </a:tcPr>
                </a:tc>
                <a:tc>
                  <a:txBody>
                    <a:bodyPr/>
                    <a:lstStyle/>
                    <a:p>
                      <a:r>
                        <a:rPr sz="1800" i="0" b="0">
                          <a:solidFill>
                            <a:srgbClr val="1A1F36"/>
                          </a:solidFill>
                          <a:latin typeface="Calibri"/>
                        </a:rPr>
                        <a:t>Smoking induces CYP1A2 and lowers levels; stopping smoking raises levels; fluvoxamine and ciprofloxacin raise levels</a:t>
                      </a:r>
                    </a:p>
                  </a:txBody>
                  <a:tcPr marL="109728" marR="109728" marT="45720" marB="45720" anchor="ctr">
                    <a:solidFill>
                      <a:srgbClr val="FFFFFF"/>
                    </a:solidFill>
                  </a:tcPr>
                </a:tc>
              </a:tr>
              <a:tr h="640080">
                <a:tc>
                  <a:txBody>
                    <a:bodyPr/>
                    <a:lstStyle/>
                    <a:p>
                      <a:r>
                        <a:rPr sz="1800" i="0" b="1">
                          <a:solidFill>
                            <a:srgbClr val="1A1F36"/>
                          </a:solidFill>
                          <a:latin typeface="Calibri"/>
                        </a:rPr>
                        <a:t>Risperidone, aripiprazole, haloperidol</a:t>
                      </a:r>
                    </a:p>
                  </a:txBody>
                  <a:tcPr marL="109728" marR="109728" marT="45720" marB="45720" anchor="ctr">
                    <a:solidFill>
                      <a:srgbClr val="F1F2F8"/>
                    </a:solidFill>
                  </a:tcPr>
                </a:tc>
                <a:tc>
                  <a:txBody>
                    <a:bodyPr/>
                    <a:lstStyle/>
                    <a:p>
                      <a:r>
                        <a:rPr sz="1800" i="0" b="0">
                          <a:solidFill>
                            <a:srgbClr val="1A1F36"/>
                          </a:solidFill>
                          <a:latin typeface="Calibri"/>
                        </a:rPr>
                        <a:t>CYP2D6 (and CYP3A4)</a:t>
                      </a:r>
                    </a:p>
                  </a:txBody>
                  <a:tcPr marL="109728" marR="109728" marT="45720" marB="45720" anchor="ctr">
                    <a:solidFill>
                      <a:srgbClr val="F1F2F8"/>
                    </a:solidFill>
                  </a:tcPr>
                </a:tc>
                <a:tc>
                  <a:txBody>
                    <a:bodyPr/>
                    <a:lstStyle/>
                    <a:p>
                      <a:r>
                        <a:rPr sz="1800" i="0" b="0">
                          <a:solidFill>
                            <a:srgbClr val="1A1F36"/>
                          </a:solidFill>
                          <a:latin typeface="Calibri"/>
                        </a:rPr>
                        <a:t>Fluoxetine and paroxetine raise levels; halve aripiprazole with strong CYP2D6 inhibitors</a:t>
                      </a:r>
                    </a:p>
                  </a:txBody>
                  <a:tcPr marL="109728" marR="109728" marT="45720" marB="45720" anchor="ctr">
                    <a:solidFill>
                      <a:srgbClr val="F1F2F8"/>
                    </a:solidFill>
                  </a:tcPr>
                </a:tc>
              </a:tr>
              <a:tr h="640080">
                <a:tc>
                  <a:txBody>
                    <a:bodyPr/>
                    <a:lstStyle/>
                    <a:p>
                      <a:r>
                        <a:rPr sz="1800" i="0" b="1">
                          <a:solidFill>
                            <a:srgbClr val="1A1F36"/>
                          </a:solidFill>
                          <a:latin typeface="Calibri"/>
                        </a:rPr>
                        <a:t>Quetiapine, cariprazine</a:t>
                      </a:r>
                    </a:p>
                  </a:txBody>
                  <a:tcPr marL="109728" marR="109728" marT="45720" marB="45720" anchor="ctr">
                    <a:solidFill>
                      <a:srgbClr val="FFFFFF"/>
                    </a:solidFill>
                  </a:tcPr>
                </a:tc>
                <a:tc>
                  <a:txBody>
                    <a:bodyPr/>
                    <a:lstStyle/>
                    <a:p>
                      <a:r>
                        <a:rPr sz="1800" i="0" b="0">
                          <a:solidFill>
                            <a:srgbClr val="1A1F36"/>
                          </a:solidFill>
                          <a:latin typeface="Calibri"/>
                        </a:rPr>
                        <a:t>CYP3A4</a:t>
                      </a:r>
                    </a:p>
                  </a:txBody>
                  <a:tcPr marL="109728" marR="109728" marT="45720" marB="45720" anchor="ctr">
                    <a:solidFill>
                      <a:srgbClr val="FFFFFF"/>
                    </a:solidFill>
                  </a:tcPr>
                </a:tc>
                <a:tc>
                  <a:txBody>
                    <a:bodyPr/>
                    <a:lstStyle/>
                    <a:p>
                      <a:r>
                        <a:rPr sz="1800" i="0" b="0">
                          <a:solidFill>
                            <a:srgbClr val="1A1F36"/>
                          </a:solidFill>
                          <a:latin typeface="Calibri"/>
                        </a:rPr>
                        <a:t>Ketoconazole and clarithromycin raise levels; carbamazepine and rifampicin lower them</a:t>
                      </a:r>
                    </a:p>
                  </a:txBody>
                  <a:tcPr marL="109728" marR="109728" marT="45720" marB="45720" anchor="ctr">
                    <a:solidFill>
                      <a:srgbClr val="FFFFFF"/>
                    </a:solidFill>
                  </a:tcPr>
                </a:tc>
              </a:tr>
              <a:tr h="640080">
                <a:tc>
                  <a:txBody>
                    <a:bodyPr/>
                    <a:lstStyle/>
                    <a:p>
                      <a:r>
                        <a:rPr sz="1800" i="0" b="1">
                          <a:solidFill>
                            <a:srgbClr val="1A1F36"/>
                          </a:solidFill>
                          <a:latin typeface="Calibri"/>
                        </a:rPr>
                        <a:t>Paliperidone</a:t>
                      </a:r>
                    </a:p>
                  </a:txBody>
                  <a:tcPr marL="109728" marR="109728" marT="45720" marB="45720" anchor="ctr">
                    <a:solidFill>
                      <a:srgbClr val="F1F2F8"/>
                    </a:solidFill>
                  </a:tcPr>
                </a:tc>
                <a:tc>
                  <a:txBody>
                    <a:bodyPr/>
                    <a:lstStyle/>
                    <a:p>
                      <a:r>
                        <a:rPr sz="1800" i="0" b="0">
                          <a:solidFill>
                            <a:srgbClr val="1A1F36"/>
                          </a:solidFill>
                          <a:latin typeface="Calibri"/>
                        </a:rPr>
                        <a:t>Mainly renal</a:t>
                      </a:r>
                    </a:p>
                  </a:txBody>
                  <a:tcPr marL="109728" marR="109728" marT="45720" marB="45720" anchor="ctr">
                    <a:solidFill>
                      <a:srgbClr val="F1F2F8"/>
                    </a:solidFill>
                  </a:tcPr>
                </a:tc>
                <a:tc>
                  <a:txBody>
                    <a:bodyPr/>
                    <a:lstStyle/>
                    <a:p>
                      <a:r>
                        <a:rPr sz="1800" i="0" b="0">
                          <a:solidFill>
                            <a:srgbClr val="1A1F36"/>
                          </a:solidFill>
                          <a:latin typeface="Calibri"/>
                        </a:rPr>
                        <a:t>Reduce dose in renal impairment</a:t>
                      </a:r>
                    </a:p>
                  </a:txBody>
                  <a:tcPr marL="109728" marR="109728" marT="45720" marB="45720" anchor="ctr">
                    <a:solidFill>
                      <a:srgbClr val="F1F2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Special Populations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323022"/>
          </a:xfrm>
          <a:prstGeom prst="rect">
            <a:avLst/>
          </a:prstGeom>
          <a:noFill/>
        </p:spPr>
        <p:txBody>
          <a:bodyPr wrap="square" anchor="t" lIns="0" rIns="0" tIns="0" bIns="0">
            <a:spAutoFit/>
          </a:bodyPr>
          <a:lstStyle/>
          <a:p>
            <a:r>
              <a:rPr sz="1800" i="0" b="1">
                <a:solidFill>
                  <a:srgbClr val="1A1F36"/>
                </a:solidFill>
                <a:latin typeface="Calibri"/>
              </a:rPr>
              <a:t>Older people and dementia.</a:t>
            </a:r>
            <a:r>
              <a:rPr sz="1800" i="0" b="0">
                <a:solidFill>
                  <a:srgbClr val="1A1F36"/>
                </a:solidFill>
                <a:latin typeface="Calibri"/>
              </a:rPr>
              <a:t> Older people are sensitive to sedation, postural hypotension, anticholinergic effects and EPS. Start low and go slow. In dementia, all antipsychotics raise the risk of stroke and death. Use them only for severe distress or risk of harm, for the shortest time, and review every few weeks.</a:t>
            </a:r>
          </a:p>
        </p:txBody>
      </p:sp>
      <p:sp>
        <p:nvSpPr>
          <p:cNvPr id="13" name="Oval 12"/>
          <p:cNvSpPr/>
          <p:nvPr/>
        </p:nvSpPr>
        <p:spPr>
          <a:xfrm>
            <a:off x="548640" y="294151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959798"/>
            <a:ext cx="10500055" cy="1608772"/>
          </a:xfrm>
          <a:prstGeom prst="rect">
            <a:avLst/>
          </a:prstGeom>
          <a:noFill/>
        </p:spPr>
        <p:txBody>
          <a:bodyPr wrap="square" anchor="t" lIns="0" rIns="0" tIns="0" bIns="0">
            <a:spAutoFit/>
          </a:bodyPr>
          <a:lstStyle/>
          <a:p>
            <a:r>
              <a:rPr sz="1800" i="0" b="1">
                <a:solidFill>
                  <a:srgbClr val="1A1F36"/>
                </a:solidFill>
                <a:latin typeface="Calibri"/>
              </a:rPr>
              <a:t>Pregnancy.</a:t>
            </a:r>
            <a:r>
              <a:rPr sz="1800" i="0" b="0">
                <a:solidFill>
                  <a:srgbClr val="1A1F36"/>
                </a:solidFill>
                <a:latin typeface="Calibri"/>
              </a:rPr>
              <a:t>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a:t>
            </a:r>
          </a:p>
        </p:txBody>
      </p:sp>
      <p:sp>
        <p:nvSpPr>
          <p:cNvPr id="15" name="Oval 14"/>
          <p:cNvSpPr/>
          <p:nvPr/>
        </p:nvSpPr>
        <p:spPr>
          <a:xfrm>
            <a:off x="548640" y="459600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4614291"/>
            <a:ext cx="10500055" cy="751522"/>
          </a:xfrm>
          <a:prstGeom prst="rect">
            <a:avLst/>
          </a:prstGeom>
          <a:noFill/>
        </p:spPr>
        <p:txBody>
          <a:bodyPr wrap="square" anchor="t" lIns="0" rIns="0" tIns="0" bIns="0">
            <a:spAutoFit/>
          </a:bodyPr>
          <a:lstStyle/>
          <a:p>
            <a:r>
              <a:rPr sz="1800" i="0" b="1">
                <a:solidFill>
                  <a:srgbClr val="1A1F36"/>
                </a:solidFill>
                <a:latin typeface="Calibri"/>
              </a:rPr>
              <a:t>Children and adolescents.</a:t>
            </a:r>
            <a:r>
              <a:rPr sz="1800" i="0" b="0">
                <a:solidFill>
                  <a:srgbClr val="1A1F36"/>
                </a:solidFill>
                <a:latin typeface="Calibri"/>
              </a:rPr>
              <a:t> Young people gain weight and develop metabolic changes faster than adults. Monitor closely.</a:t>
            </a:r>
          </a:p>
        </p:txBody>
      </p:sp>
      <p:sp>
        <p:nvSpPr>
          <p:cNvPr id="17" name="Oval 16"/>
          <p:cNvSpPr/>
          <p:nvPr/>
        </p:nvSpPr>
        <p:spPr>
          <a:xfrm>
            <a:off x="548640" y="53932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5411533"/>
            <a:ext cx="10500055" cy="751522"/>
          </a:xfrm>
          <a:prstGeom prst="rect">
            <a:avLst/>
          </a:prstGeom>
          <a:noFill/>
        </p:spPr>
        <p:txBody>
          <a:bodyPr wrap="square" anchor="t" lIns="0" rIns="0" tIns="0" bIns="0">
            <a:spAutoFit/>
          </a:bodyPr>
          <a:lstStyle/>
          <a:p>
            <a:r>
              <a:rPr sz="1800" i="0" b="1">
                <a:solidFill>
                  <a:srgbClr val="1A1F36"/>
                </a:solidFill>
                <a:latin typeface="Calibri"/>
              </a:rPr>
              <a:t>Epilepsy.</a:t>
            </a:r>
            <a:r>
              <a:rPr sz="1800" i="0" b="0">
                <a:solidFill>
                  <a:srgbClr val="1A1F36"/>
                </a:solidFill>
                <a:latin typeface="Calibri"/>
              </a:rPr>
              <a:t> Clozapine, chlorpromazine and high doses of most antipsychotics lower the seizure threshold. Haloperidol and aripiprazole are lower-risk choices.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Counselling the Patient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Speak simply and involve the family when the patient agrees.</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682142"/>
          </a:xfrm>
          <a:prstGeom prst="rect">
            <a:avLst/>
          </a:prstGeom>
          <a:noFill/>
        </p:spPr>
        <p:txBody>
          <a:bodyPr wrap="square" anchor="t" lIns="0" rIns="0" tIns="0" bIns="0">
            <a:spAutoFit/>
          </a:bodyPr>
          <a:lstStyle/>
          <a:p>
            <a:r>
              <a:rPr sz="1600" i="0" b="1">
                <a:solidFill>
                  <a:srgbClr val="1A1F36"/>
                </a:solidFill>
                <a:latin typeface="Calibri"/>
              </a:rPr>
              <a:t>Why the drug is needed.</a:t>
            </a:r>
            <a:r>
              <a:rPr sz="1600" i="0" b="0">
                <a:solidFill>
                  <a:srgbClr val="1A1F36"/>
                </a:solidFill>
                <a:latin typeface="Calibri"/>
              </a:rPr>
              <a:t> It reduces voices and troubling thoughts. It works over days to weeks. Keep taking it even when well, because stopping often leads to relapse.</a:t>
            </a:r>
          </a:p>
        </p:txBody>
      </p:sp>
      <p:sp>
        <p:nvSpPr>
          <p:cNvPr id="14" name="Oval 13"/>
          <p:cNvSpPr/>
          <p:nvPr/>
        </p:nvSpPr>
        <p:spPr>
          <a:xfrm>
            <a:off x="548640" y="327903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297326"/>
            <a:ext cx="10500055" cy="682142"/>
          </a:xfrm>
          <a:prstGeom prst="rect">
            <a:avLst/>
          </a:prstGeom>
          <a:noFill/>
        </p:spPr>
        <p:txBody>
          <a:bodyPr wrap="square" anchor="t" lIns="0" rIns="0" tIns="0" bIns="0">
            <a:spAutoFit/>
          </a:bodyPr>
          <a:lstStyle/>
          <a:p>
            <a:r>
              <a:rPr sz="1600" i="0" b="1">
                <a:solidFill>
                  <a:srgbClr val="1A1F36"/>
                </a:solidFill>
                <a:latin typeface="Calibri"/>
              </a:rPr>
              <a:t>Common early effects.</a:t>
            </a:r>
            <a:r>
              <a:rPr sz="1600" i="0" b="0">
                <a:solidFill>
                  <a:srgbClr val="1A1F36"/>
                </a:solidFill>
                <a:latin typeface="Calibri"/>
              </a:rPr>
              <a:t> Sleepiness and dizziness often settle. Stand up slowly. Do not drive until you know how the drug affects you.</a:t>
            </a:r>
          </a:p>
        </p:txBody>
      </p:sp>
      <p:sp>
        <p:nvSpPr>
          <p:cNvPr id="16" name="Oval 15"/>
          <p:cNvSpPr/>
          <p:nvPr/>
        </p:nvSpPr>
        <p:spPr>
          <a:xfrm>
            <a:off x="548640" y="40069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025188"/>
            <a:ext cx="10500055" cy="682142"/>
          </a:xfrm>
          <a:prstGeom prst="rect">
            <a:avLst/>
          </a:prstGeom>
          <a:noFill/>
        </p:spPr>
        <p:txBody>
          <a:bodyPr wrap="square" anchor="t" lIns="0" rIns="0" tIns="0" bIns="0">
            <a:spAutoFit/>
          </a:bodyPr>
          <a:lstStyle/>
          <a:p>
            <a:r>
              <a:rPr sz="1600" i="0" b="1">
                <a:solidFill>
                  <a:srgbClr val="1A1F36"/>
                </a:solidFill>
                <a:latin typeface="Calibri"/>
              </a:rPr>
              <a:t>Effects to report.</a:t>
            </a:r>
            <a:r>
              <a:rPr sz="1600" i="0" b="0">
                <a:solidFill>
                  <a:srgbClr val="1A1F36"/>
                </a:solidFill>
                <a:latin typeface="Calibri"/>
              </a:rPr>
              <a:t> Stiffness, restlessness or shaking; fever with stiff muscles; breast changes or missed periods; rapid weight gain or constant thirst.</a:t>
            </a:r>
          </a:p>
        </p:txBody>
      </p:sp>
      <p:sp>
        <p:nvSpPr>
          <p:cNvPr id="18" name="Oval 17"/>
          <p:cNvSpPr/>
          <p:nvPr/>
        </p:nvSpPr>
        <p:spPr>
          <a:xfrm>
            <a:off x="548640" y="473476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4753051"/>
            <a:ext cx="10500055" cy="682142"/>
          </a:xfrm>
          <a:prstGeom prst="rect">
            <a:avLst/>
          </a:prstGeom>
          <a:noFill/>
        </p:spPr>
        <p:txBody>
          <a:bodyPr wrap="square" anchor="t" lIns="0" rIns="0" tIns="0" bIns="0">
            <a:spAutoFit/>
          </a:bodyPr>
          <a:lstStyle/>
          <a:p>
            <a:r>
              <a:rPr sz="1600" i="0" b="1">
                <a:solidFill>
                  <a:srgbClr val="1A1F36"/>
                </a:solidFill>
                <a:latin typeface="Calibri"/>
              </a:rPr>
              <a:t>Lifestyle.</a:t>
            </a:r>
            <a:r>
              <a:rPr sz="1600" i="0" b="0">
                <a:solidFill>
                  <a:srgbClr val="1A1F36"/>
                </a:solidFill>
                <a:latin typeface="Calibri"/>
              </a:rPr>
              <a:t> Eat regular, balanced meals and stay active to limit weight gain. Avoid alcohol and cannabis, which worsen psychosis.</a:t>
            </a:r>
          </a:p>
        </p:txBody>
      </p:sp>
      <p:sp>
        <p:nvSpPr>
          <p:cNvPr id="20" name="Oval 19"/>
          <p:cNvSpPr/>
          <p:nvPr/>
        </p:nvSpPr>
        <p:spPr>
          <a:xfrm>
            <a:off x="548640" y="54626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1143000" y="5480913"/>
            <a:ext cx="10500055" cy="682142"/>
          </a:xfrm>
          <a:prstGeom prst="rect">
            <a:avLst/>
          </a:prstGeom>
          <a:noFill/>
        </p:spPr>
        <p:txBody>
          <a:bodyPr wrap="square" anchor="t" lIns="0" rIns="0" tIns="0" bIns="0">
            <a:spAutoFit/>
          </a:bodyPr>
          <a:lstStyle/>
          <a:p>
            <a:r>
              <a:rPr sz="1600" i="0" b="1">
                <a:solidFill>
                  <a:srgbClr val="1A1F36"/>
                </a:solidFill>
                <a:latin typeface="Calibri"/>
              </a:rPr>
              <a:t>Clozapine.</a:t>
            </a:r>
            <a:r>
              <a:rPr sz="1600" i="0" b="0">
                <a:solidFill>
                  <a:srgbClr val="1A1F36"/>
                </a:solidFill>
                <a:latin typeface="Calibri"/>
              </a:rPr>
              <a:t> Never miss a blood test. Report fever, sore throat or chest pain at once. Tell the team if smoking habits change. Report constipation early.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68379"/>
                <a:gridCol w="4411814"/>
                <a:gridCol w="3114221"/>
              </a:tblGrid>
              <a:tr h="577215">
                <a:tc>
                  <a:txBody>
                    <a:bodyPr/>
                    <a:lstStyle/>
                    <a:p>
                      <a:r>
                        <a:rPr sz="1500" i="0" b="1">
                          <a:solidFill>
                            <a:srgbClr val="FFFFFF"/>
                          </a:solidFill>
                          <a:latin typeface="Calibri"/>
                        </a:rPr>
                        <a:t>Situation</a:t>
                      </a:r>
                    </a:p>
                  </a:txBody>
                  <a:tcPr marL="109728" marR="109728" marT="45720" marB="45720" anchor="ctr">
                    <a:solidFill>
                      <a:srgbClr val="1B2A8C"/>
                    </a:solidFill>
                  </a:tcPr>
                </a:tc>
                <a:tc>
                  <a:txBody>
                    <a:bodyPr/>
                    <a:lstStyle/>
                    <a:p>
                      <a:r>
                        <a:rPr sz="1500" i="0" b="1">
                          <a:solidFill>
                            <a:srgbClr val="FFFFFF"/>
                          </a:solidFill>
                          <a:latin typeface="Calibri"/>
                        </a:rPr>
                        <a:t>Suggested choice</a:t>
                      </a:r>
                    </a:p>
                  </a:txBody>
                  <a:tcPr marL="109728" marR="109728" marT="45720" marB="45720" anchor="ctr">
                    <a:solidFill>
                      <a:srgbClr val="1B2A8C"/>
                    </a:solidFill>
                  </a:tcPr>
                </a:tc>
                <a:tc>
                  <a:txBody>
                    <a:bodyPr/>
                    <a:lstStyle/>
                    <a:p>
                      <a:r>
                        <a:rPr sz="1500" i="0" b="1">
                          <a:solidFill>
                            <a:srgbClr val="FFFFFF"/>
                          </a:solidFill>
                          <a:latin typeface="Calibri"/>
                        </a:rPr>
                        <a:t>Reason</a:t>
                      </a:r>
                    </a:p>
                  </a:txBody>
                  <a:tcPr marL="109728" marR="109728" marT="45720" marB="45720" anchor="ctr">
                    <a:solidFill>
                      <a:srgbClr val="1B2A8C"/>
                    </a:solidFill>
                  </a:tcPr>
                </a:tc>
              </a:tr>
              <a:tr h="577215">
                <a:tc>
                  <a:txBody>
                    <a:bodyPr/>
                    <a:lstStyle/>
                    <a:p>
                      <a:r>
                        <a:rPr sz="1600" i="0" b="1">
                          <a:solidFill>
                            <a:srgbClr val="1A1F36"/>
                          </a:solidFill>
                          <a:latin typeface="Calibri"/>
                        </a:rPr>
                        <a:t>First episode</a:t>
                      </a:r>
                    </a:p>
                  </a:txBody>
                  <a:tcPr marL="109728" marR="109728" marT="45720" marB="45720" anchor="ctr">
                    <a:solidFill>
                      <a:srgbClr val="FFFFFF"/>
                    </a:solidFill>
                  </a:tcPr>
                </a:tc>
                <a:tc>
                  <a:txBody>
                    <a:bodyPr/>
                    <a:lstStyle/>
                    <a:p>
                      <a:r>
                        <a:rPr sz="1600" i="0" b="0">
                          <a:solidFill>
                            <a:srgbClr val="1A1F36"/>
                          </a:solidFill>
                          <a:latin typeface="Calibri"/>
                        </a:rPr>
                        <a:t>An SGA chosen with the patient (e.g. aripiprazole, risperidone, olanzapine)</a:t>
                      </a:r>
                    </a:p>
                  </a:txBody>
                  <a:tcPr marL="109728" marR="109728" marT="45720" marB="45720" anchor="ctr">
                    <a:solidFill>
                      <a:srgbClr val="FFFFFF"/>
                    </a:solidFill>
                  </a:tcPr>
                </a:tc>
                <a:tc>
                  <a:txBody>
                    <a:bodyPr/>
                    <a:lstStyle/>
                    <a:p>
                      <a:r>
                        <a:rPr sz="1600" i="0" b="0">
                          <a:solidFill>
                            <a:srgbClr val="1A1F36"/>
                          </a:solidFill>
                          <a:latin typeface="Calibri"/>
                        </a:rPr>
                        <a:t>Choose by adverse-effect profile</a:t>
                      </a:r>
                    </a:p>
                  </a:txBody>
                  <a:tcPr marL="109728" marR="109728" marT="45720" marB="45720" anchor="ctr">
                    <a:solidFill>
                      <a:srgbClr val="FFFFFF"/>
                    </a:solidFill>
                  </a:tcPr>
                </a:tc>
              </a:tr>
              <a:tr h="577215">
                <a:tc>
                  <a:txBody>
                    <a:bodyPr/>
                    <a:lstStyle/>
                    <a:p>
                      <a:r>
                        <a:rPr sz="1600" i="0" b="1">
                          <a:solidFill>
                            <a:srgbClr val="1A1F36"/>
                          </a:solidFill>
                          <a:latin typeface="Calibri"/>
                        </a:rPr>
                        <a:t>Obesity, diabetes or family history of diabetes</a:t>
                      </a:r>
                    </a:p>
                  </a:txBody>
                  <a:tcPr marL="109728" marR="109728" marT="45720" marB="45720" anchor="ctr">
                    <a:solidFill>
                      <a:srgbClr val="F1F2F8"/>
                    </a:solidFill>
                  </a:tcPr>
                </a:tc>
                <a:tc>
                  <a:txBody>
                    <a:bodyPr/>
                    <a:lstStyle/>
                    <a:p>
                      <a:r>
                        <a:rPr sz="1600" i="0" b="0">
                          <a:solidFill>
                            <a:srgbClr val="1A1F36"/>
                          </a:solidFill>
                          <a:latin typeface="Calibri"/>
                        </a:rPr>
                        <a:t>Aripiprazole, cariprazine</a:t>
                      </a:r>
                    </a:p>
                  </a:txBody>
                  <a:tcPr marL="109728" marR="109728" marT="45720" marB="45720" anchor="ctr">
                    <a:solidFill>
                      <a:srgbClr val="F1F2F8"/>
                    </a:solidFill>
                  </a:tcPr>
                </a:tc>
                <a:tc>
                  <a:txBody>
                    <a:bodyPr/>
                    <a:lstStyle/>
                    <a:p>
                      <a:r>
                        <a:rPr sz="1600" i="0" b="0">
                          <a:solidFill>
                            <a:srgbClr val="1A1F36"/>
                          </a:solidFill>
                          <a:latin typeface="Calibri"/>
                        </a:rPr>
                        <a:t>Low metabolic risk</a:t>
                      </a:r>
                    </a:p>
                  </a:txBody>
                  <a:tcPr marL="109728" marR="109728" marT="45720" marB="45720" anchor="ctr">
                    <a:solidFill>
                      <a:srgbClr val="F1F2F8"/>
                    </a:solidFill>
                  </a:tcPr>
                </a:tc>
              </a:tr>
              <a:tr h="577215">
                <a:tc>
                  <a:txBody>
                    <a:bodyPr/>
                    <a:lstStyle/>
                    <a:p>
                      <a:r>
                        <a:rPr sz="1600" i="0" b="1">
                          <a:solidFill>
                            <a:srgbClr val="1A1F36"/>
                          </a:solidFill>
                          <a:latin typeface="Calibri"/>
                        </a:rPr>
                        <a:t>History of EPS</a:t>
                      </a:r>
                    </a:p>
                  </a:txBody>
                  <a:tcPr marL="109728" marR="109728" marT="45720" marB="45720" anchor="ctr">
                    <a:solidFill>
                      <a:srgbClr val="FFFFFF"/>
                    </a:solidFill>
                  </a:tcPr>
                </a:tc>
                <a:tc>
                  <a:txBody>
                    <a:bodyPr/>
                    <a:lstStyle/>
                    <a:p>
                      <a:r>
                        <a:rPr sz="1600" i="0" b="0">
                          <a:solidFill>
                            <a:srgbClr val="1A1F36"/>
                          </a:solidFill>
                          <a:latin typeface="Calibri"/>
                        </a:rPr>
                        <a:t>Quetiapine, aripiprazole, clozapine</a:t>
                      </a:r>
                    </a:p>
                  </a:txBody>
                  <a:tcPr marL="109728" marR="109728" marT="45720" marB="45720" anchor="ctr">
                    <a:solidFill>
                      <a:srgbClr val="FFFFFF"/>
                    </a:solidFill>
                  </a:tcPr>
                </a:tc>
                <a:tc>
                  <a:txBody>
                    <a:bodyPr/>
                    <a:lstStyle/>
                    <a:p>
                      <a:r>
                        <a:rPr sz="1600" i="0" b="0">
                          <a:solidFill>
                            <a:srgbClr val="1A1F36"/>
                          </a:solidFill>
                          <a:latin typeface="Calibri"/>
                        </a:rPr>
                        <a:t>Low EPS risk</a:t>
                      </a:r>
                    </a:p>
                  </a:txBody>
                  <a:tcPr marL="109728" marR="109728" marT="45720" marB="45720" anchor="ctr">
                    <a:solidFill>
                      <a:srgbClr val="FFFFFF"/>
                    </a:solidFill>
                  </a:tcPr>
                </a:tc>
              </a:tr>
              <a:tr h="577215">
                <a:tc>
                  <a:txBody>
                    <a:bodyPr/>
                    <a:lstStyle/>
                    <a:p>
                      <a:r>
                        <a:rPr sz="1600" i="0" b="1">
                          <a:solidFill>
                            <a:srgbClr val="1A1F36"/>
                          </a:solidFill>
                          <a:latin typeface="Calibri"/>
                        </a:rPr>
                        <a:t>Raised prolactin or sexual dysfunction</a:t>
                      </a:r>
                    </a:p>
                  </a:txBody>
                  <a:tcPr marL="109728" marR="109728" marT="45720" marB="45720" anchor="ctr">
                    <a:solidFill>
                      <a:srgbClr val="F1F2F8"/>
                    </a:solidFill>
                  </a:tcPr>
                </a:tc>
                <a:tc>
                  <a:txBody>
                    <a:bodyPr/>
                    <a:lstStyle/>
                    <a:p>
                      <a:r>
                        <a:rPr sz="1600" i="0" b="0">
                          <a:solidFill>
                            <a:srgbClr val="1A1F36"/>
                          </a:solidFill>
                          <a:latin typeface="Calibri"/>
                        </a:rPr>
                        <a:t>Aripiprazole</a:t>
                      </a:r>
                    </a:p>
                  </a:txBody>
                  <a:tcPr marL="109728" marR="109728" marT="45720" marB="45720" anchor="ctr">
                    <a:solidFill>
                      <a:srgbClr val="F1F2F8"/>
                    </a:solidFill>
                  </a:tcPr>
                </a:tc>
                <a:tc>
                  <a:txBody>
                    <a:bodyPr/>
                    <a:lstStyle/>
                    <a:p>
                      <a:r>
                        <a:rPr sz="1600" i="0" b="0">
                          <a:solidFill>
                            <a:srgbClr val="1A1F36"/>
                          </a:solidFill>
                          <a:latin typeface="Calibri"/>
                        </a:rPr>
                        <a:t>Partial agonist lowers prolactin</a:t>
                      </a:r>
                    </a:p>
                  </a:txBody>
                  <a:tcPr marL="109728" marR="109728" marT="45720" marB="45720" anchor="ctr">
                    <a:solidFill>
                      <a:srgbClr val="F1F2F8"/>
                    </a:solidFill>
                  </a:tcPr>
                </a:tc>
              </a:tr>
              <a:tr h="577215">
                <a:tc>
                  <a:txBody>
                    <a:bodyPr/>
                    <a:lstStyle/>
                    <a:p>
                      <a:r>
                        <a:rPr sz="1600" i="0" b="1">
                          <a:solidFill>
                            <a:srgbClr val="1A1F36"/>
                          </a:solidFill>
                          <a:latin typeface="Calibri"/>
                        </a:rPr>
                        <a:t>Two adequate trials failed</a:t>
                      </a:r>
                    </a:p>
                  </a:txBody>
                  <a:tcPr marL="109728" marR="109728" marT="45720" marB="45720" anchor="ctr">
                    <a:solidFill>
                      <a:srgbClr val="FFFFFF"/>
                    </a:solidFill>
                  </a:tcPr>
                </a:tc>
                <a:tc>
                  <a:txBody>
                    <a:bodyPr/>
                    <a:lstStyle/>
                    <a:p>
                      <a:r>
                        <a:rPr sz="1600" i="0" b="0">
                          <a:solidFill>
                            <a:srgbClr val="1A1F36"/>
                          </a:solidFill>
                          <a:latin typeface="Calibri"/>
                        </a:rPr>
                        <a:t>Clozapine</a:t>
                      </a:r>
                    </a:p>
                  </a:txBody>
                  <a:tcPr marL="109728" marR="109728" marT="45720" marB="45720" anchor="ctr">
                    <a:solidFill>
                      <a:srgbClr val="FFFFFF"/>
                    </a:solidFill>
                  </a:tcPr>
                </a:tc>
                <a:tc>
                  <a:txBody>
                    <a:bodyPr/>
                    <a:lstStyle/>
                    <a:p>
                      <a:r>
                        <a:rPr sz="1600" i="0" b="0">
                          <a:solidFill>
                            <a:srgbClr val="1A1F36"/>
                          </a:solidFill>
                          <a:latin typeface="Calibri"/>
                        </a:rPr>
                        <a:t>Only drug proven in resistant illness</a:t>
                      </a:r>
                    </a:p>
                  </a:txBody>
                  <a:tcPr marL="109728" marR="109728" marT="45720" marB="45720" anchor="ctr">
                    <a:solidFill>
                      <a:srgbClr val="FFFFFF"/>
                    </a:solidFill>
                  </a:tcPr>
                </a:tc>
              </a:tr>
              <a:tr h="577215">
                <a:tc>
                  <a:txBody>
                    <a:bodyPr/>
                    <a:lstStyle/>
                    <a:p>
                      <a:r>
                        <a:rPr sz="1600" i="0" b="1">
                          <a:solidFill>
                            <a:srgbClr val="1A1F36"/>
                          </a:solidFill>
                          <a:latin typeface="Calibri"/>
                        </a:rPr>
                        <a:t>Poor adherence</a:t>
                      </a:r>
                    </a:p>
                  </a:txBody>
                  <a:tcPr marL="109728" marR="109728" marT="45720" marB="45720" anchor="ctr">
                    <a:solidFill>
                      <a:srgbClr val="F1F2F8"/>
                    </a:solidFill>
                  </a:tcPr>
                </a:tc>
                <a:tc>
                  <a:txBody>
                    <a:bodyPr/>
                    <a:lstStyle/>
                    <a:p>
                      <a:r>
                        <a:rPr sz="1600" i="0" b="0">
                          <a:solidFill>
                            <a:srgbClr val="1A1F36"/>
                          </a:solidFill>
                          <a:latin typeface="Calibri"/>
                        </a:rPr>
                        <a:t>Long-acting injection</a:t>
                      </a:r>
                    </a:p>
                  </a:txBody>
                  <a:tcPr marL="109728" marR="109728" marT="45720" marB="45720" anchor="ctr">
                    <a:solidFill>
                      <a:srgbClr val="F1F2F8"/>
                    </a:solidFill>
                  </a:tcPr>
                </a:tc>
                <a:tc>
                  <a:txBody>
                    <a:bodyPr/>
                    <a:lstStyle/>
                    <a:p>
                      <a:r>
                        <a:rPr sz="1600" i="0" b="0">
                          <a:solidFill>
                            <a:srgbClr val="1A1F36"/>
                          </a:solidFill>
                          <a:latin typeface="Calibri"/>
                        </a:rPr>
                        <a:t>Ensures delivery</a:t>
                      </a:r>
                    </a:p>
                  </a:txBody>
                  <a:tcPr marL="109728" marR="109728" marT="45720" marB="45720" anchor="ctr">
                    <a:solidFill>
                      <a:srgbClr val="F1F2F8"/>
                    </a:solidFill>
                  </a:tcPr>
                </a:tc>
              </a:tr>
              <a:tr h="577215">
                <a:tc>
                  <a:txBody>
                    <a:bodyPr/>
                    <a:lstStyle/>
                    <a:p>
                      <a:r>
                        <a:rPr sz="1600" i="0" b="1">
                          <a:solidFill>
                            <a:srgbClr val="1A1F36"/>
                          </a:solidFill>
                          <a:latin typeface="Calibri"/>
                        </a:rPr>
                        <a:t>Aggression in Alzheimer's disease</a:t>
                      </a:r>
                    </a:p>
                  </a:txBody>
                  <a:tcPr marL="109728" marR="109728" marT="45720" marB="45720" anchor="ctr">
                    <a:solidFill>
                      <a:srgbClr val="FFFFFF"/>
                    </a:solidFill>
                  </a:tcPr>
                </a:tc>
                <a:tc>
                  <a:txBody>
                    <a:bodyPr/>
                    <a:lstStyle/>
                    <a:p>
                      <a:r>
                        <a:rPr sz="1600" i="0" b="0">
                          <a:solidFill>
                            <a:srgbClr val="1A1F36"/>
                          </a:solidFill>
                          <a:latin typeface="Calibri"/>
                        </a:rPr>
                        <a:t>Risperidone, short term only</a:t>
                      </a:r>
                    </a:p>
                  </a:txBody>
                  <a:tcPr marL="109728" marR="109728" marT="45720" marB="45720" anchor="ctr">
                    <a:solidFill>
                      <a:srgbClr val="FFFFFF"/>
                    </a:solidFill>
                  </a:tcPr>
                </a:tc>
                <a:tc>
                  <a:txBody>
                    <a:bodyPr/>
                    <a:lstStyle/>
                    <a:p>
                      <a:r>
                        <a:rPr sz="1600" i="0" b="0">
                          <a:solidFill>
                            <a:srgbClr val="1A1F36"/>
                          </a:solidFill>
                          <a:latin typeface="Calibri"/>
                        </a:rPr>
                        <a:t>Licensed; raised stroke risk in dementia</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289840"/>
                <a:gridCol w="3402287"/>
                <a:gridCol w="3402287"/>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Chlorpromazine</a:t>
                      </a:r>
                    </a:p>
                  </a:txBody>
                  <a:tcPr marL="109728" marR="109728" marT="45720" marB="45720" anchor="ctr">
                    <a:solidFill>
                      <a:srgbClr val="FFFFFF"/>
                    </a:solidFill>
                  </a:tcPr>
                </a:tc>
                <a:tc>
                  <a:txBody>
                    <a:bodyPr/>
                    <a:lstStyle/>
                    <a:p>
                      <a:r>
                        <a:rPr sz="2000" i="0" b="0">
                          <a:solidFill>
                            <a:srgbClr val="1A1F36"/>
                          </a:solidFill>
                          <a:latin typeface="Calibri"/>
                        </a:rPr>
                        <a:t>Neurazine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Haloperidol</a:t>
                      </a:r>
                    </a:p>
                  </a:txBody>
                  <a:tcPr marL="109728" marR="109728" marT="45720" marB="45720" anchor="ctr">
                    <a:solidFill>
                      <a:srgbClr val="F1F2F8"/>
                    </a:solidFill>
                  </a:tcPr>
                </a:tc>
                <a:tc>
                  <a:txBody>
                    <a:bodyPr/>
                    <a:lstStyle/>
                    <a:p>
                      <a:r>
                        <a:rPr sz="2000" i="0" b="0">
                          <a:solidFill>
                            <a:srgbClr val="1A1F36"/>
                          </a:solidFill>
                          <a:latin typeface="Calibri"/>
                        </a:rPr>
                        <a:t>Halonace</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Haloperidol decanoate</a:t>
                      </a:r>
                    </a:p>
                  </a:txBody>
                  <a:tcPr marL="109728" marR="109728" marT="45720" marB="45720" anchor="ctr">
                    <a:solidFill>
                      <a:srgbClr val="FFFFFF"/>
                    </a:solidFill>
                  </a:tcPr>
                </a:tc>
                <a:tc>
                  <a:txBody>
                    <a:bodyPr/>
                    <a:lstStyle/>
                    <a:p>
                      <a:r>
                        <a:rPr sz="2000" i="0" b="0">
                          <a:solidFill>
                            <a:srgbClr val="1A1F36"/>
                          </a:solidFill>
                          <a:latin typeface="Calibri"/>
                        </a:rPr>
                        <a:t>Haldol Decanoas</a:t>
                      </a:r>
                    </a:p>
                  </a:txBody>
                  <a:tcPr marL="109728" marR="109728" marT="45720" marB="45720" anchor="ctr">
                    <a:solidFill>
                      <a:srgbClr val="FFFFFF"/>
                    </a:solidFill>
                  </a:tcPr>
                </a:tc>
                <a:tc>
                  <a:txBody>
                    <a:bodyPr/>
                    <a:lstStyle/>
                    <a:p>
                      <a:r>
                        <a:rPr sz="2000" i="0" b="0">
                          <a:solidFill>
                            <a:srgbClr val="1A1F36"/>
                          </a:solidFill>
                          <a:latin typeface="Calibri"/>
                        </a:rPr>
                        <a:t>Depot injection</a:t>
                      </a:r>
                    </a:p>
                  </a:txBody>
                  <a:tcPr marL="109728" marR="109728" marT="45720" marB="45720" anchor="ctr">
                    <a:solidFill>
                      <a:srgbClr val="FFFFFF"/>
                    </a:solidFill>
                  </a:tcPr>
                </a:tc>
              </a:tr>
              <a:tr h="640080">
                <a:tc>
                  <a:txBody>
                    <a:bodyPr/>
                    <a:lstStyle/>
                    <a:p>
                      <a:r>
                        <a:rPr sz="2000" i="0" b="1">
                          <a:solidFill>
                            <a:srgbClr val="1A1F36"/>
                          </a:solidFill>
                          <a:latin typeface="Calibri"/>
                        </a:rPr>
                        <a:t>Olanzapine</a:t>
                      </a:r>
                    </a:p>
                  </a:txBody>
                  <a:tcPr marL="109728" marR="109728" marT="45720" marB="45720" anchor="ctr">
                    <a:solidFill>
                      <a:srgbClr val="F1F2F8"/>
                    </a:solidFill>
                  </a:tcPr>
                </a:tc>
                <a:tc>
                  <a:txBody>
                    <a:bodyPr/>
                    <a:lstStyle/>
                    <a:p>
                      <a:r>
                        <a:rPr sz="2000" i="0" b="0">
                          <a:solidFill>
                            <a:srgbClr val="1A1F36"/>
                          </a:solidFill>
                          <a:latin typeface="Calibri"/>
                        </a:rPr>
                        <a:t>Olapex</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Clozapine</a:t>
                      </a:r>
                    </a:p>
                  </a:txBody>
                  <a:tcPr marL="109728" marR="109728" marT="45720" marB="45720" anchor="ctr">
                    <a:solidFill>
                      <a:srgbClr val="FFFFFF"/>
                    </a:solidFill>
                  </a:tcPr>
                </a:tc>
                <a:tc>
                  <a:txBody>
                    <a:bodyPr/>
                    <a:lstStyle/>
                    <a:p>
                      <a:r>
                        <a:rPr sz="2000" i="0" b="0">
                          <a:solidFill>
                            <a:srgbClr val="1A1F36"/>
                          </a:solidFill>
                          <a:latin typeface="Calibri"/>
                        </a:rPr>
                        <a:t>Clozapex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Cariprazine</a:t>
                      </a:r>
                    </a:p>
                  </a:txBody>
                  <a:tcPr marL="109728" marR="109728" marT="45720" marB="45720" anchor="ctr">
                    <a:solidFill>
                      <a:srgbClr val="F1F2F8"/>
                    </a:solidFill>
                  </a:tcPr>
                </a:tc>
                <a:tc>
                  <a:txBody>
                    <a:bodyPr/>
                    <a:lstStyle/>
                    <a:p>
                      <a:r>
                        <a:rPr sz="2000" i="0" b="0">
                          <a:solidFill>
                            <a:srgbClr val="1A1F36"/>
                          </a:solidFill>
                          <a:latin typeface="Calibri"/>
                        </a:rPr>
                        <a:t>Reagila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275397"/>
          </a:xfrm>
          <a:prstGeom prst="rect">
            <a:avLst/>
          </a:prstGeom>
          <a:noFill/>
        </p:spPr>
        <p:txBody>
          <a:bodyPr wrap="square" anchor="t" lIns="0" rIns="0" tIns="0" bIns="0">
            <a:spAutoFit/>
          </a:bodyPr>
          <a:lstStyle/>
          <a:p>
            <a:r>
              <a:rPr sz="2100" i="0" b="0">
                <a:solidFill>
                  <a:srgbClr val="1A1F36"/>
                </a:solidFill>
                <a:latin typeface="Calibri"/>
              </a:rPr>
              <a:t>Blocking D2 receptors in the mesolimbic pathway treats positive symptoms. Why does the same action in the nigrostriatal pathway cause EPS? How would you explain muscle stiffness to a patient in simple words?</a:t>
            </a:r>
          </a:p>
        </p:txBody>
      </p:sp>
      <p:sp>
        <p:nvSpPr>
          <p:cNvPr id="13" name="Oval 12"/>
          <p:cNvSpPr/>
          <p:nvPr/>
        </p:nvSpPr>
        <p:spPr>
          <a:xfrm>
            <a:off x="548640" y="289388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912173"/>
            <a:ext cx="10500055" cy="1275397"/>
          </a:xfrm>
          <a:prstGeom prst="rect">
            <a:avLst/>
          </a:prstGeom>
          <a:noFill/>
        </p:spPr>
        <p:txBody>
          <a:bodyPr wrap="square" anchor="t" lIns="0" rIns="0" tIns="0" bIns="0">
            <a:spAutoFit/>
          </a:bodyPr>
          <a:lstStyle/>
          <a:p>
            <a:r>
              <a:rPr sz="2100" i="0" b="0">
                <a:solidFill>
                  <a:srgbClr val="1A1F36"/>
                </a:solidFill>
                <a:latin typeface="Calibri"/>
              </a:rPr>
              <a:t>A patient's mother worries about switching from chlorpromazine to risperidone because of "metabolic side effects". How would you counsel her on the balance between EPS and weight gain?</a:t>
            </a:r>
          </a:p>
        </p:txBody>
      </p:sp>
      <p:sp>
        <p:nvSpPr>
          <p:cNvPr id="15" name="Oval 14"/>
          <p:cNvSpPr/>
          <p:nvPr/>
        </p:nvSpPr>
        <p:spPr>
          <a:xfrm>
            <a:off x="548640" y="421500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4233291"/>
            <a:ext cx="10500055" cy="942022"/>
          </a:xfrm>
          <a:prstGeom prst="rect">
            <a:avLst/>
          </a:prstGeom>
          <a:noFill/>
        </p:spPr>
        <p:txBody>
          <a:bodyPr wrap="square" anchor="t" lIns="0" rIns="0" tIns="0" bIns="0">
            <a:spAutoFit/>
          </a:bodyPr>
          <a:lstStyle/>
          <a:p>
            <a:r>
              <a:rPr sz="2100" i="0" b="0">
                <a:solidFill>
                  <a:srgbClr val="1A1F36"/>
                </a:solidFill>
                <a:latin typeface="Calibri"/>
              </a:rPr>
              <a:t>A stable patient on risperidone has marked emotional blunting. Why might a partial agonist be considered? What early adverse effect would you warn about?</a:t>
            </a:r>
          </a:p>
        </p:txBody>
      </p:sp>
      <p:sp>
        <p:nvSpPr>
          <p:cNvPr id="17" name="Oval 16"/>
          <p:cNvSpPr/>
          <p:nvPr/>
        </p:nvSpPr>
        <p:spPr>
          <a:xfrm>
            <a:off x="548640" y="52027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5221033"/>
            <a:ext cx="10500055" cy="942022"/>
          </a:xfrm>
          <a:prstGeom prst="rect">
            <a:avLst/>
          </a:prstGeom>
          <a:noFill/>
        </p:spPr>
        <p:txBody>
          <a:bodyPr wrap="square" anchor="t" lIns="0" rIns="0" tIns="0" bIns="0">
            <a:spAutoFit/>
          </a:bodyPr>
          <a:lstStyle/>
          <a:p>
            <a:r>
              <a:rPr sz="2100" i="0" b="0">
                <a:solidFill>
                  <a:srgbClr val="1A1F36"/>
                </a:solidFill>
                <a:latin typeface="Calibri"/>
              </a:rPr>
              <a:t>Why is clozapine the drug of choice in treatment-resistant schizophrenia, and what is the pharmacist's role in its monitoring?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Mesolimbic</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Tuberoinfundibular</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Positive symptoms reflect mesolimbic excess. B and C are motor and hormonal pathways. D is underactive in schizophrenia.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Mesolimbic</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18" name="Rounded Rectangle 17"/>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Tuberoinfundibular</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Tuberoinfundibular dopamine inhibits prolactin; block raises it. A, B and D do not control prolactin.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Chlorpromazine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Risperidone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Fluphenazine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Chlorpromazine</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Risperidone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Fluphenazine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Risperidone, an SGA, has some benefit for negative symptoms. A, C and D are first-generation drugs.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2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70617"/>
          </a:xfrm>
          <a:prstGeom prst="rect">
            <a:avLst/>
          </a:prstGeom>
          <a:noFill/>
        </p:spPr>
        <p:txBody>
          <a:bodyPr wrap="square" anchor="t" lIns="0" rIns="0" tIns="0" bIns="0">
            <a:spAutoFit/>
          </a:bodyPr>
          <a:lstStyle/>
          <a:p>
            <a:r>
              <a:rPr sz="1900" i="0" b="0">
                <a:solidFill>
                  <a:srgbClr val="FFFFFF"/>
                </a:solidFill>
                <a:latin typeface="Calibri"/>
              </a:rPr>
              <a:t>Positive symptoms reflect mesolimbic dopamine excess; negative and cognitive symptoms reflect mesocortical dopamine deficit.</a:t>
            </a:r>
          </a:p>
        </p:txBody>
      </p:sp>
      <p:sp>
        <p:nvSpPr>
          <p:cNvPr id="7" name="Oval 6"/>
          <p:cNvSpPr/>
          <p:nvPr/>
        </p:nvSpPr>
        <p:spPr>
          <a:xfrm>
            <a:off x="548640" y="266342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681713"/>
            <a:ext cx="10500055" cy="468992"/>
          </a:xfrm>
          <a:prstGeom prst="rect">
            <a:avLst/>
          </a:prstGeom>
          <a:noFill/>
        </p:spPr>
        <p:txBody>
          <a:bodyPr wrap="square" anchor="t" lIns="0" rIns="0" tIns="0" bIns="0">
            <a:spAutoFit/>
          </a:bodyPr>
          <a:lstStyle/>
          <a:p>
            <a:r>
              <a:rPr sz="1900" i="0" b="0">
                <a:solidFill>
                  <a:srgbClr val="FFFFFF"/>
                </a:solidFill>
                <a:latin typeface="Calibri"/>
              </a:rPr>
              <a:t>First-generation drugs block D2 in all pathways and cause EPS and raised prolactin.</a:t>
            </a:r>
          </a:p>
        </p:txBody>
      </p:sp>
      <p:sp>
        <p:nvSpPr>
          <p:cNvPr id="9" name="Oval 8"/>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SGAs add 5-HT2A block: fewer EPS, but more metabolic effects (H1 and 5-HT2C block).</a:t>
            </a:r>
          </a:p>
        </p:txBody>
      </p:sp>
      <p:sp>
        <p:nvSpPr>
          <p:cNvPr id="11" name="Oval 10"/>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Partial agonists stabilise dopamine signalling and have low metabolic and prolactin risk.</a:t>
            </a:r>
          </a:p>
        </p:txBody>
      </p:sp>
      <p:sp>
        <p:nvSpPr>
          <p:cNvPr id="13" name="Oval 12"/>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NMS is an emergency: stop the drug and give supportive care.</a:t>
            </a:r>
          </a:p>
        </p:txBody>
      </p:sp>
      <p:sp>
        <p:nvSpPr>
          <p:cNvPr id="15" name="Oval 14"/>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Clozapine is for resistant illness and needs strict neutrophil monitoring.</a:t>
            </a:r>
          </a:p>
        </p:txBody>
      </p:sp>
      <p:sp>
        <p:nvSpPr>
          <p:cNvPr id="17" name="Oval 16"/>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Long-acting injections help when adherence is poor.</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