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 Quick Recap: Dopamine acts on D1-like (D1, D5) and D2-like (D2, D3, D4) receptors. D2 receptors are Gi-coupled and reduce cAMP. Dopamine is made from tyrosine through L-dopa. It is removed by reuptake and broken down by MAO and COMT. Serotonin 5-HT2A receptors on dopamine neurons reduce dopamine release. Blocking them therefore increases dopamine release in some pathways.</a:t>
            </a:r>
          </a:p>
          <a:p/>
          <a:p>
            <a:r>
              <a:t>About 60 s.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About 30 s.  Next: Dopamine Pathways in the Brain.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dopamine pathways explain both the benefits and the adverse effects of antipsychotics. Dopamine also acts on the chemoreceptor trigger zone (CTZ), where it causes vomiting. D2 block there explains the antiemetic effect.</a:t>
            </a:r>
          </a:p>
          <a:p/>
          <a:p>
            <a:r>
              <a:t>About 30 s.  Next: Dopamine Pathways in the Brain.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dopamine pathways explain both the benefits and the adverse effects of antipsychotics. Dopamine also acts on the chemoreceptor trigger zone (CTZ), where it causes vomiting. D2 block there explains the antiemetic effect.</a:t>
            </a:r>
          </a:p>
          <a:p/>
          <a:p>
            <a:r>
              <a:t>About 30 s.  Next: Schizophrenia in Brief.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Schizophrenia affects about 1% of people. It usually starts in late adolescence or early adulthood. Genes play a large part. Symptoms fall into three groups: Antipsychotics do not cure schizophrenia. They reduce hallucinations and delusions and allow the person to live in the community. Treatment is a balance between benefit and a wide range of adverse effects.</a:t>
            </a:r>
          </a:p>
          <a:p/>
          <a:p>
            <a:r>
              <a:t>About 90 s.  Next: First-Generation (Typical) Antipsychotics.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Mechanism. They are competitive antagonists at D2 receptors. The block is not selective for the mesolimbic pathway, so all four pathways are affected. They also block other receptors, which explains many adverse effects. Potency matters. High-potency drugs such as haloperidol bind D2 strongly. They cause more extrapyramidal effects. Low-potency drugs such as chlorpromazine block more muscarinic, histamine H1 and α1 receptors. They cause more sedation, hypotension and anticholinergic effects. Therapeutic uses.</a:t>
            </a:r>
          </a:p>
          <a:p/>
          <a:p>
            <a:r>
              <a:t>About 60 s.  Next: First-Generation (Typical) Antipsychotics.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Mechanism. They are competitive antagonists at D2 receptors. The block is not selective for the mesolimbic pathway, so all four pathways are affected. They also block other receptors, which explains many adverse effects. Potency matters. High-potency drugs such as haloperidol bind D2 strongly. They cause more extrapyramidal effects. Low-potency drugs such as chlorpromazine block more muscarinic, histamine H1 and α1 receptors. They cause more sedation, hypotension and anticholinergic effects. Therapeutic uses.</a:t>
            </a:r>
          </a:p>
          <a:p/>
          <a:p>
            <a:r>
              <a:t>About 60 s.  Next: First-Generation (Typical) Antipsychotics.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Mechanism. They are competitive antagonists at D2 receptors. The block is not selective for the mesolimbic pathway, so all four pathways are affected. They also block other receptors, which explains many adverse effects. Potency matters. High-potency drugs such as haloperidol bind D2 strongly. They cause more extrapyramidal effects. Low-potency drugs such as chlorpromazine block more muscarinic, histamine H1 and α1 receptors. They cause more sedation, hypotension and anticholinergic effects. Therapeutic uses.</a:t>
            </a:r>
          </a:p>
          <a:p/>
          <a:p>
            <a:r>
              <a:t>About 60 s.  Next: Extrapyramidal Effects.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Extrapyramidal effects (EPS) come from D2 block in the nigrostriatal pathway. Acetylcholine then becomes relatively dominant. Learn them by time of onset.</a:t>
            </a:r>
          </a:p>
          <a:p/>
          <a:p>
            <a:r>
              <a:t>About 30 s.  Next: Extrapyramidal Effects.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Extrapyramidal effects (EPS) come from D2 block in the nigrostriatal pathway. Acetylcholine then becomes relatively dominant. Learn them by time of onset.</a:t>
            </a:r>
          </a:p>
          <a:p/>
          <a:p>
            <a:r>
              <a:t>About 30 s.  Next: Extrapyramidal Effects.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Extrapyramidal effects (EPS) come from D2 block in the nigrostriatal pathway. Acetylcholine then becomes relatively dominant. Learn them by time of onset.</a:t>
            </a:r>
          </a:p>
          <a:p/>
          <a:p>
            <a:r>
              <a:t>About 30 s.  Next: Neuroleptic Malignant Syndrome.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Neuroleptic malignant syndrome (NMS) is rare but can be fatal. It can occur with any antipsychotic, usually early in treatment or after a dose increase. Features: Management: stop the antipsychotic at once. Give cooling, IV fluids and supportive care in hospital. Dantrolene or bromocriptine may be used in severe cases.</a:t>
            </a:r>
          </a:p>
          <a:p/>
          <a:p>
            <a:r>
              <a:t>About 60 s.  Next: Neuroleptic Malignant Syndrome.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Neuroleptic malignant syndrome (NMS) is rare but can be fatal. It can occur with any antipsychotic, usually early in treatment or after a dose increase. Features: Management: stop the antipsychotic at once. Give cooling, IV fluids and supportive care in hospital. Dantrolene or bromocriptine may be used in severe cases.</a:t>
            </a:r>
          </a:p>
          <a:p/>
          <a:p>
            <a:r>
              <a:t>About 30 s.  Next: Second-Generation (Atypical) Antipsychotics.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risperidone, olanzapine, quetiapine, clozapine, and the partial agonists aripiprazole, brexpiprazole and cariprazine. Mechanism. Most second-generation antipsychotics (SGAs) block both D2 and 5-HT2A receptors. 5-HT2A block increases dopamine release in the nigrostriatal and mesocortical pathways. This has two results: Affinities differ between drugs. Risperidone at high doses acts much like a first-generation drug and causes EPS and raised prolactin. Full antagonists (haloperidol, risperidone) occupy the D2 receptor without activating it. They block dopamine completely. Partial agonists (aripiprazole, brexpiprazole, cariprazine) act like a "dimmer switch". They activate the receptor less than dopamine does: This gives a lower risk of parkinsonism, raised prolactin and weight gain. Akathisia and restlessness are common, especially early. Partial agonists may be less effective in severe or resistant illness. Cariprazine is a D3-preferring D2/D3 partial agonist. Its D3 activity may help negative symptoms. It has a low risk of weight gain, metabolic change, raised prolactin and QT prolongation. It is licensed for schizophrenia and bipolar disorder.</a:t>
            </a:r>
          </a:p>
          <a:p/>
          <a:p>
            <a:r>
              <a:t>About 120 s.  Next: Full antagonists and partial agonists.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risperidone, olanzapine, quetiapine, clozapine, and the partial agonists aripiprazole, brexpiprazole and cariprazine. Mechanism. Most second-generation antipsychotics (SGAs) block both D2 and 5-HT2A receptors. 5-HT2A block increases dopamine release in the nigrostriatal and mesocortical pathways. This has two results: Affinities differ between drugs. Risperidone at high doses acts much like a first-generation drug and causes EPS and raised prolactin. Full antagonists (haloperidol, risperidone) occupy the D2 receptor without activating it. They block dopamine completely. Partial agonists (aripiprazole, brexpiprazole, cariprazine) act like a "dimmer switch". They activate the receptor less than dopamine does: This gives a lower risk of parkinsonism, raised prolactin and weight gain. Akathisia and restlessness are common, especially early. Partial agonists may be less effective in severe or resistant illness. Cariprazine is a D3-preferring D2/D3 partial agonist. Its D3 activity may help negative symptoms. It has a low risk of weight gain, metabolic change, raised prolactin and QT prolongation. It is licensed for schizophrenia and bipolar disorder.</a:t>
            </a:r>
          </a:p>
          <a:p/>
          <a:p>
            <a:r>
              <a:t>About 120 s.  Next: Adverse effects of SGAs.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risperidone, olanzapine, quetiapine, clozapine, and the partial agonists aripiprazole, brexpiprazole and cariprazine. Mechanism. Most second-generation antipsychotics (SGAs) block both D2 and 5-HT2A receptors. 5-HT2A block increases dopamine release in the nigrostriatal and mesocortical pathways. This has two results: Affinities differ between drugs. Risperidone at high doses acts much like a first-generation drug and causes EPS and raised prolactin. Full antagonists (haloperidol, risperidone) occupy the D2 receptor without activating it. They block dopamine completely. Partial agonists (aripiprazole, brexpiprazole, cariprazine) act like a "dimmer switch". They activate the receptor less than dopamine does: This gives a lower risk of parkinsonism, raised prolactin and weight gain. Akathisia and restlessness are common, especially early. Partial agonists may be less effective in severe or resistant illness. Cariprazine is a D3-preferring D2/D3 partial agonist. Its D3 activity may help negative symptoms. It has a low risk of weight gain, metabolic change, raised prolactin and QT prolongation. It is licensed for schizophrenia and bipolar disorder.</a:t>
            </a:r>
          </a:p>
          <a:p/>
          <a:p>
            <a:r>
              <a:t>About 120 s.  Next: Adverse effects of SGAs.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risperidone, olanzapine, quetiapine, clozapine, and the partial agonists aripiprazole, brexpiprazole and cariprazine. Mechanism. Most second-generation antipsychotics (SGAs) block both D2 and 5-HT2A receptors. 5-HT2A block increases dopamine release in the nigrostriatal and mesocortical pathways. This has two results: Affinities differ between drugs. Risperidone at high doses acts much like a first-generation drug and causes EPS and raised prolactin. Full antagonists (haloperidol, risperidone) occupy the D2 receptor without activating it. They block dopamine completely. Partial agonists (aripiprazole, brexpiprazole, cariprazine) act like a "dimmer switch". They activate the receptor less than dopamine does: This gives a lower risk of parkinsonism, raised prolactin and weight gain. Akathisia and restlessness are common, especially early. Partial agonists may be less effective in severe or resistant illness. Cariprazine is a D3-preferring D2/D3 partial agonist. Its D3 activity may help negative symptoms. It has a low risk of weight gain, metabolic change, raised prolactin and QT prolongation. It is licensed for schizophrenia and bipolar disorder.</a:t>
            </a:r>
          </a:p>
          <a:p/>
          <a:p>
            <a:r>
              <a:t>About 120 s.  Next: Adverse effects of SGAs (1/2).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risperidone, olanzapine, quetiapine, clozapine, and the partial agonists aripiprazole, brexpiprazole and cariprazine. Mechanism. Most second-generation antipsychotics (SGAs) block both D2 and 5-HT2A receptors. 5-HT2A block increases dopamine release in the nigrostriatal and mesocortical pathways. This has two results: Affinities differ between drugs. Risperidone at high doses acts much like a first-generation drug and causes EPS and raised prolactin. Full antagonists (haloperidol, risperidone) occupy the D2 receptor without activating it. They block dopamine completely. Partial agonists (aripiprazole, brexpiprazole, cariprazine) act like a "dimmer switch". They activate the receptor less than dopamine does: This gives a lower risk of parkinsonism, raised prolactin and weight gain. Akathisia and restlessness are common, especially early. Partial agonists may be less effective in severe or resistant illness. Cariprazine is a D3-preferring D2/D3 partial agonist. Its D3 activity may help negative symptoms. It has a low risk of weight gain, metabolic change, raised prolactin and QT prolongation. It is licensed for schizophrenia and bipolar disorder.</a:t>
            </a:r>
          </a:p>
          <a:p/>
          <a:p>
            <a:r>
              <a:t>About 90 s.  Next: Adverse effects of SGAs (2/2).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risperidone, olanzapine, quetiapine, clozapine, and the partial agonists aripiprazole, brexpiprazole and cariprazine. Mechanism. Most second-generation antipsychotics (SGAs) block both D2 and 5-HT2A receptors. 5-HT2A block increases dopamine release in the nigrostriatal and mesocortical pathways. This has two results: Affinities differ between drugs. Risperidone at high doses acts much like a first-generation drug and causes EPS and raised prolactin. Full antagonists (haloperidol, risperidone) occupy the D2 receptor without activating it. They block dopamine completely. Partial agonists (aripiprazole, brexpiprazole, cariprazine) act like a "dimmer switch". They activate the receptor less than dopamine does: This gives a lower risk of parkinsonism, raised prolactin and weight gain. Akathisia and restlessness are common, especially early. Partial agonists may be less effective in severe or resistant illness. Cariprazine is a D3-preferring D2/D3 partial agonist. Its D3 activity may help negative symptoms. It has a low risk of weight gain, metabolic change, raised prolactin and QT prolongation. It is licensed for schizophrenia and bipolar disorder.</a:t>
            </a:r>
          </a:p>
          <a:p/>
          <a:p>
            <a:r>
              <a:t>About 90 s.  Next: Clozapine.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About 30 s.  Next: Clozapine.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Clozapine is the most effective drug for treatment-resistant schizophrenia. This is defined as poor response to at least two antipsychotics, including one SGA, each given at an adequate dose for 6 weeks or more. Clozapine also lowers suicide risk. Main risks: Blood monitoring: check the absolute neutrophil count (ANC) before starting. Then check weekly for 18 weeks, every 2 weeks to 1 year, and monthly after that. Stop clozapine if neutrophils fall below the threshold.</a:t>
            </a:r>
          </a:p>
          <a:p/>
          <a:p>
            <a:r>
              <a:t>About 90 s.  Next: Clozapine.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Clozapine is the most effective drug for treatment-resistant schizophrenia. This is defined as poor response to at least two antipsychotics, including one SGA, each given at an adequate dose for 6 weeks or more. Clozapine also lowers suicide risk. Main risks: Blood monitoring: check the absolute neutrophil count (ANC) before starting. Then check weekly for 18 weeks, every 2 weeks to 1 year, and monthly after that. Stop clozapine if neutrophils fall below the threshold.</a:t>
            </a:r>
          </a:p>
          <a:p/>
          <a:p>
            <a:r>
              <a:t>About 60 s.  Next: Maintenance and Adherence.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patients need long-term treatment. After two or more episodes, maintenance therapy is given for at least 5 years, and often indefinitely. Low doses are less effective than standard doses at preventing relapse. Adherence is often poor, because of: Long-acting injections help when adherence is poor. Examples are haloperidol decanoate, fluphenazine decanoate, paliperidone palmitate, risperidone and aripiprazole depot. They do not solve every cause of non-adherence. They do show clearly when a dose is missed.</a:t>
            </a:r>
          </a:p>
          <a:p/>
          <a:p>
            <a:r>
              <a:t>About 90 s.  Next: Pharmacokinetics and Drug Interactions.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Antipsychotics are lipophilic. They are well absorbed, cross the blood-brain barrier and are highly protein bound. Most are metabolised in the liver by CYP enzymes. Half-lives are usually 20 to 40 hours, so once-daily dosing is often possible.</a:t>
            </a:r>
          </a:p>
          <a:p/>
          <a:p>
            <a:r>
              <a:t>About 30 s.  Next: Pharmacodynamic interactions.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Antipsychotics are lipophilic. They are well absorbed, cross the blood-brain barrier and are highly protein bound. Most are metabolised in the liver by CYP enzymes. Half-lives are usually 20 to 40 hours, so once-daily dosing is often possible.</a:t>
            </a:r>
          </a:p>
          <a:p/>
          <a:p>
            <a:r>
              <a:t>About 60 s.  Next: Pharmacokinetics and Drug Interactions.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Antipsychotics are lipophilic. They are well absorbed, cross the blood-brain barrier and are highly protein bound. Most are metabolised in the liver by CYP enzymes. Half-lives are usually 20 to 40 hours, so once-daily dosing is often possible.</a:t>
            </a:r>
          </a:p>
          <a:p/>
          <a:p>
            <a:r>
              <a:t>About 30 s.  Next: Special Populations.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Older people and dementia. Older people are sensitive to sedation, postural hypotension, anticholinergic effects and EPS. Start low and go slow. In dementia, all antipsychotics raise the risk of stroke and death. Use them only for severe distress or risk of harm, for the shortest time, and review every few weeks. Pregnancy. Untreated psychosis carries serious risks for mother and baby. Do not stop an effective antipsychotic suddenly when a woman becomes pregnant. Discuss options with a specialist. Watch for gestational diabetes with olanzapine and clozapine. Newborns may show transient EPS or withdrawal after exposure late in pregnancy. Avoid valproate if a mood stabiliser is needed. Children and adolescents. Young people gain weight and develop metabolic changes faster than adults. Monitor closely. Epilepsy. Clozapine, chlorpromazine and high doses of most antipsychotics lower the seizure threshold. Haloperidol and aripiprazole are lower-risk choices.</a:t>
            </a:r>
          </a:p>
          <a:p/>
          <a:p>
            <a:r>
              <a:t>About 120 s.  Next: Counselling the Patient.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counselling improves adherence. Speak simply and involve the family when the patient agrees.</a:t>
            </a:r>
          </a:p>
          <a:p/>
          <a:p>
            <a:r>
              <a:t>About 60 s.  Next: Choosing a Drug.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About 30 s.  Next: Choosing a Drug.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Positive symptoms reflect mesolimbic excess. B and C are motor and hormonal pathways. D is underactive in schizophrenia.</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Tuberoinfundibular dopamine inhibits prolactin; block raises it. A, B and D do not control prolactin.</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Risperidone, an SGA, has some benefit for negative symptoms. A, C and D are first-generation drugs.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Aripiprazole is a D2 partial agonist. A, B and C are antagonists.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Acute dystonia responds quickly to a parenteral anticholinergic. A treats akathisia. C is for NMS. D is for tardive dyskinesia.</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This is NMS; stop the antipsychotic and give supportive care. A, B and D continue the cause.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H1 and 5-HT2C block drive appetite and weight gain. A, B and D do not explain weight gain.</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Clozapine can cause agranulocytosis. B, C and D are not required for clozapine.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Aripiprazole has the lowest metabolic risk. A and C have the highest; D also causes weight gain.</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A long-acting injection ensures delivery. A, B and C increase relapse risk.</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Learning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Brands in Egypt.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172477"/>
                </a:solidFill>
                <a:latin typeface="Cambria"/>
              </a:rPr>
              <a:t>02</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DFE1EF"/>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DFE1EF"/>
                </a:solidFill>
                <a:latin typeface="Calibri"/>
              </a:rPr>
              <a:t>PRACTICAL PHARMACOLOGY OF THE CENTRAL NERVOUS SYSTEM  ·  SECTION 2</a:t>
            </a:r>
          </a:p>
          <a:p>
            <a:pPr>
              <a:spcBef>
                <a:spcPts val="1400"/>
              </a:spcBef>
            </a:pPr>
            <a:r>
              <a:rPr sz="3600" i="0" b="1">
                <a:solidFill>
                  <a:srgbClr val="FFFFFF"/>
                </a:solidFill>
                <a:latin typeface="Cambria"/>
              </a:rPr>
              <a:t>Psychosis and Antipsychotic Drugs</a:t>
            </a:r>
          </a:p>
          <a:p>
            <a:pPr>
              <a:spcBef>
                <a:spcPts val="1600"/>
              </a:spcBef>
            </a:pPr>
            <a:r>
              <a:rPr sz="2000" i="1" b="0">
                <a:solidFill>
                  <a:srgbClr val="DFE1EF"/>
                </a:solidFill>
                <a:latin typeface="Cambria"/>
              </a:rPr>
              <a:t>A Laboratory and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DFE1EF"/>
                </a:solidFill>
                <a:latin typeface="Calibri"/>
              </a:rPr>
              <a:t>45 minutes  ·  10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Learning Objectives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02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6629400" cy="814323"/>
          </a:xfrm>
          <a:prstGeom prst="rect">
            <a:avLst/>
          </a:prstGeom>
          <a:noFill/>
        </p:spPr>
        <p:txBody>
          <a:bodyPr wrap="square" anchor="t" lIns="0" rIns="0" tIns="0" bIns="0">
            <a:spAutoFit/>
          </a:bodyPr>
          <a:lstStyle/>
          <a:p>
            <a:r>
              <a:rPr sz="2000" i="0" b="0">
                <a:solidFill>
                  <a:srgbClr val="1A1F36"/>
                </a:solidFill>
                <a:latin typeface="Calibri"/>
              </a:rPr>
              <a:t>Relate the four dopamine pathways to the symptoms of schizophrenia and to antipsychotic adverse effects.</a:t>
            </a:r>
          </a:p>
        </p:txBody>
      </p:sp>
      <p:sp>
        <p:nvSpPr>
          <p:cNvPr id="10" name="Oval 9"/>
          <p:cNvSpPr/>
          <p:nvPr/>
        </p:nvSpPr>
        <p:spPr>
          <a:xfrm>
            <a:off x="548640" y="243281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451100"/>
            <a:ext cx="6629400" cy="1131824"/>
          </a:xfrm>
          <a:prstGeom prst="rect">
            <a:avLst/>
          </a:prstGeom>
          <a:noFill/>
        </p:spPr>
        <p:txBody>
          <a:bodyPr wrap="square" anchor="t" lIns="0" rIns="0" tIns="0" bIns="0">
            <a:spAutoFit/>
          </a:bodyPr>
          <a:lstStyle/>
          <a:p>
            <a:r>
              <a:rPr sz="2000" i="0" b="0">
                <a:solidFill>
                  <a:srgbClr val="1A1F36"/>
                </a:solidFill>
                <a:latin typeface="Calibri"/>
              </a:rPr>
              <a:t>Compare first-generation, second-generation and partial-agonist antipsychotics by mechanism and adverse-effect profile.</a:t>
            </a:r>
          </a:p>
        </p:txBody>
      </p:sp>
      <p:sp>
        <p:nvSpPr>
          <p:cNvPr id="12" name="Oval 11"/>
          <p:cNvSpPr/>
          <p:nvPr/>
        </p:nvSpPr>
        <p:spPr>
          <a:xfrm>
            <a:off x="548640" y="361035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628644"/>
            <a:ext cx="6629400" cy="1131824"/>
          </a:xfrm>
          <a:prstGeom prst="rect">
            <a:avLst/>
          </a:prstGeom>
          <a:noFill/>
        </p:spPr>
        <p:txBody>
          <a:bodyPr wrap="square" anchor="t" lIns="0" rIns="0" tIns="0" bIns="0">
            <a:spAutoFit/>
          </a:bodyPr>
          <a:lstStyle/>
          <a:p>
            <a:r>
              <a:rPr sz="2000" i="0" b="0">
                <a:solidFill>
                  <a:srgbClr val="1A1F36"/>
                </a:solidFill>
                <a:latin typeface="Calibri"/>
              </a:rPr>
              <a:t>Recognise extrapyramidal effects, neuroleptic malignant syndrome and metabolic effects, and outline their management.</a:t>
            </a:r>
          </a:p>
        </p:txBody>
      </p:sp>
      <p:sp>
        <p:nvSpPr>
          <p:cNvPr id="14" name="Oval 13"/>
          <p:cNvSpPr/>
          <p:nvPr/>
        </p:nvSpPr>
        <p:spPr>
          <a:xfrm>
            <a:off x="548640" y="478790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806188"/>
            <a:ext cx="6629400" cy="496823"/>
          </a:xfrm>
          <a:prstGeom prst="rect">
            <a:avLst/>
          </a:prstGeom>
          <a:noFill/>
        </p:spPr>
        <p:txBody>
          <a:bodyPr wrap="square" anchor="t" lIns="0" rIns="0" tIns="0" bIns="0">
            <a:spAutoFit/>
          </a:bodyPr>
          <a:lstStyle/>
          <a:p>
            <a:r>
              <a:rPr sz="2000" i="0" b="0">
                <a:solidFill>
                  <a:srgbClr val="1A1F36"/>
                </a:solidFill>
                <a:latin typeface="Calibri"/>
              </a:rPr>
              <a:t>Describe clozapine's role and its monitoring.</a:t>
            </a:r>
          </a:p>
        </p:txBody>
      </p:sp>
      <p:sp>
        <p:nvSpPr>
          <p:cNvPr id="16" name="Oval 15"/>
          <p:cNvSpPr/>
          <p:nvPr/>
        </p:nvSpPr>
        <p:spPr>
          <a:xfrm>
            <a:off x="548640" y="533044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5348732"/>
            <a:ext cx="6629400" cy="814323"/>
          </a:xfrm>
          <a:prstGeom prst="rect">
            <a:avLst/>
          </a:prstGeom>
          <a:noFill/>
        </p:spPr>
        <p:txBody>
          <a:bodyPr wrap="square" anchor="t" lIns="0" rIns="0" tIns="0" bIns="0">
            <a:spAutoFit/>
          </a:bodyPr>
          <a:lstStyle/>
          <a:p>
            <a:r>
              <a:rPr sz="2000" i="0" b="0">
                <a:solidFill>
                  <a:srgbClr val="1A1F36"/>
                </a:solidFill>
                <a:latin typeface="Calibri"/>
              </a:rPr>
              <a:t>Select an antipsychotic and a maintenance plan for a patient.</a:t>
            </a:r>
          </a:p>
        </p:txBody>
      </p:sp>
      <p:sp>
        <p:nvSpPr>
          <p:cNvPr id="18" name="Rounded Rectangle 17"/>
          <p:cNvSpPr/>
          <p:nvPr/>
        </p:nvSpPr>
        <p:spPr>
          <a:xfrm>
            <a:off x="8366760" y="1600200"/>
            <a:ext cx="3273552" cy="4526280"/>
          </a:xfrm>
          <a:prstGeom prst="roundRect">
            <a:avLst>
              <a:gd name="adj" fmla="val 5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1B2A8C"/>
                </a:solidFill>
                <a:latin typeface="Cambria"/>
              </a:rPr>
              <a:t>45</a:t>
            </a:r>
          </a:p>
          <a:p>
            <a:r>
              <a:rPr sz="1200" i="0" b="1" spc="150">
                <a:solidFill>
                  <a:srgbClr val="5A6072"/>
                </a:solidFill>
                <a:latin typeface="Calibri"/>
              </a:rPr>
              <a:t>MINUTES</a:t>
            </a:r>
          </a:p>
          <a:p>
            <a:pPr>
              <a:spcBef>
                <a:spcPts val="1600"/>
              </a:spcBef>
            </a:pPr>
            <a:r>
              <a:rPr sz="5400" i="0" b="1">
                <a:solidFill>
                  <a:srgbClr val="1B2A8C"/>
                </a:solidFill>
                <a:latin typeface="Cambria"/>
              </a:rPr>
              <a:t>10</a:t>
            </a:r>
          </a:p>
          <a:p>
            <a:r>
              <a:rPr sz="1200" i="0" b="1" spc="150">
                <a:solidFill>
                  <a:srgbClr val="5A6072"/>
                </a:solidFill>
                <a:latin typeface="Calibri"/>
              </a:rPr>
              <a:t>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Roadmap</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03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4678527" cy="514168"/>
          </a:xfrm>
          <a:prstGeom prst="rect">
            <a:avLst/>
          </a:prstGeom>
          <a:noFill/>
        </p:spPr>
        <p:txBody>
          <a:bodyPr wrap="square" anchor="t" lIns="0" rIns="0" tIns="0" bIns="0">
            <a:spAutoFit/>
          </a:bodyPr>
          <a:lstStyle/>
          <a:p>
            <a:r>
              <a:rPr sz="2200" i="0" b="0">
                <a:solidFill>
                  <a:srgbClr val="1A1F36"/>
                </a:solidFill>
                <a:latin typeface="Calibri"/>
              </a:rPr>
              <a:t>Dopamine Pathways in the Brain</a:t>
            </a:r>
          </a:p>
        </p:txBody>
      </p:sp>
      <p:sp>
        <p:nvSpPr>
          <p:cNvPr id="10" name="Oval 9"/>
          <p:cNvSpPr/>
          <p:nvPr/>
        </p:nvSpPr>
        <p:spPr>
          <a:xfrm>
            <a:off x="548640" y="213265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150944"/>
            <a:ext cx="4678527" cy="514168"/>
          </a:xfrm>
          <a:prstGeom prst="rect">
            <a:avLst/>
          </a:prstGeom>
          <a:noFill/>
        </p:spPr>
        <p:txBody>
          <a:bodyPr wrap="square" anchor="t" lIns="0" rIns="0" tIns="0" bIns="0">
            <a:spAutoFit/>
          </a:bodyPr>
          <a:lstStyle/>
          <a:p>
            <a:r>
              <a:rPr sz="2200" i="0" b="0">
                <a:solidFill>
                  <a:srgbClr val="1A1F36"/>
                </a:solidFill>
                <a:latin typeface="Calibri"/>
              </a:rPr>
              <a:t>Schizophrenia in Brief</a:t>
            </a:r>
          </a:p>
        </p:txBody>
      </p:sp>
      <p:sp>
        <p:nvSpPr>
          <p:cNvPr id="12" name="Oval 11"/>
          <p:cNvSpPr/>
          <p:nvPr/>
        </p:nvSpPr>
        <p:spPr>
          <a:xfrm>
            <a:off x="548640" y="269254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2710833"/>
            <a:ext cx="4678527" cy="863418"/>
          </a:xfrm>
          <a:prstGeom prst="rect">
            <a:avLst/>
          </a:prstGeom>
          <a:noFill/>
        </p:spPr>
        <p:txBody>
          <a:bodyPr wrap="square" anchor="t" lIns="0" rIns="0" tIns="0" bIns="0">
            <a:spAutoFit/>
          </a:bodyPr>
          <a:lstStyle/>
          <a:p>
            <a:r>
              <a:rPr sz="2200" i="0" b="0">
                <a:solidFill>
                  <a:srgbClr val="1A1F36"/>
                </a:solidFill>
                <a:latin typeface="Calibri"/>
              </a:rPr>
              <a:t>First-Generation (Typical) Antipsychotics</a:t>
            </a:r>
          </a:p>
        </p:txBody>
      </p:sp>
      <p:sp>
        <p:nvSpPr>
          <p:cNvPr id="14" name="Oval 13"/>
          <p:cNvSpPr/>
          <p:nvPr/>
        </p:nvSpPr>
        <p:spPr>
          <a:xfrm>
            <a:off x="548640" y="360168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3619971"/>
            <a:ext cx="4678527" cy="514168"/>
          </a:xfrm>
          <a:prstGeom prst="rect">
            <a:avLst/>
          </a:prstGeom>
          <a:noFill/>
        </p:spPr>
        <p:txBody>
          <a:bodyPr wrap="square" anchor="t" lIns="0" rIns="0" tIns="0" bIns="0">
            <a:spAutoFit/>
          </a:bodyPr>
          <a:lstStyle/>
          <a:p>
            <a:r>
              <a:rPr sz="2200" i="0" b="0">
                <a:solidFill>
                  <a:srgbClr val="1A1F36"/>
                </a:solidFill>
                <a:latin typeface="Calibri"/>
              </a:rPr>
              <a:t>Extrapyramidal Effects</a:t>
            </a:r>
          </a:p>
        </p:txBody>
      </p:sp>
      <p:sp>
        <p:nvSpPr>
          <p:cNvPr id="16" name="Oval 15"/>
          <p:cNvSpPr/>
          <p:nvPr/>
        </p:nvSpPr>
        <p:spPr>
          <a:xfrm>
            <a:off x="548640" y="416157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4179860"/>
            <a:ext cx="4678527" cy="514168"/>
          </a:xfrm>
          <a:prstGeom prst="rect">
            <a:avLst/>
          </a:prstGeom>
          <a:noFill/>
        </p:spPr>
        <p:txBody>
          <a:bodyPr wrap="square" anchor="t" lIns="0" rIns="0" tIns="0" bIns="0">
            <a:spAutoFit/>
          </a:bodyPr>
          <a:lstStyle/>
          <a:p>
            <a:r>
              <a:rPr sz="2200" i="0" b="0">
                <a:solidFill>
                  <a:srgbClr val="1A1F36"/>
                </a:solidFill>
                <a:latin typeface="Calibri"/>
              </a:rPr>
              <a:t>Neuroleptic Malignant Syndrome</a:t>
            </a:r>
          </a:p>
        </p:txBody>
      </p:sp>
      <p:sp>
        <p:nvSpPr>
          <p:cNvPr id="18" name="Oval 17"/>
          <p:cNvSpPr/>
          <p:nvPr/>
        </p:nvSpPr>
        <p:spPr>
          <a:xfrm>
            <a:off x="548640" y="472146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6</a:t>
            </a:r>
          </a:p>
        </p:txBody>
      </p:sp>
      <p:sp>
        <p:nvSpPr>
          <p:cNvPr id="19" name="TextBox 18"/>
          <p:cNvSpPr txBox="1"/>
          <p:nvPr/>
        </p:nvSpPr>
        <p:spPr>
          <a:xfrm>
            <a:off x="1143000" y="4739748"/>
            <a:ext cx="4678527" cy="863418"/>
          </a:xfrm>
          <a:prstGeom prst="rect">
            <a:avLst/>
          </a:prstGeom>
          <a:noFill/>
        </p:spPr>
        <p:txBody>
          <a:bodyPr wrap="square" anchor="t" lIns="0" rIns="0" tIns="0" bIns="0">
            <a:spAutoFit/>
          </a:bodyPr>
          <a:lstStyle/>
          <a:p>
            <a:r>
              <a:rPr sz="2200" i="0" b="0">
                <a:solidFill>
                  <a:srgbClr val="1A1F36"/>
                </a:solidFill>
                <a:latin typeface="Calibri"/>
              </a:rPr>
              <a:t>Second-Generation (Atypical) Antipsychotics</a:t>
            </a:r>
          </a:p>
        </p:txBody>
      </p:sp>
      <p:sp>
        <p:nvSpPr>
          <p:cNvPr id="20" name="Oval 19"/>
          <p:cNvSpPr/>
          <p:nvPr/>
        </p:nvSpPr>
        <p:spPr>
          <a:xfrm>
            <a:off x="548640" y="563059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7</a:t>
            </a:r>
          </a:p>
        </p:txBody>
      </p:sp>
      <p:sp>
        <p:nvSpPr>
          <p:cNvPr id="21" name="TextBox 20"/>
          <p:cNvSpPr txBox="1"/>
          <p:nvPr/>
        </p:nvSpPr>
        <p:spPr>
          <a:xfrm>
            <a:off x="1143000" y="5648887"/>
            <a:ext cx="4678527" cy="514168"/>
          </a:xfrm>
          <a:prstGeom prst="rect">
            <a:avLst/>
          </a:prstGeom>
          <a:noFill/>
        </p:spPr>
        <p:txBody>
          <a:bodyPr wrap="square" anchor="t" lIns="0" rIns="0" tIns="0" bIns="0">
            <a:spAutoFit/>
          </a:bodyPr>
          <a:lstStyle/>
          <a:p>
            <a:r>
              <a:rPr sz="2200" i="0" b="0">
                <a:solidFill>
                  <a:srgbClr val="1A1F36"/>
                </a:solidFill>
                <a:latin typeface="Calibri"/>
              </a:rPr>
              <a:t>Clozapine</a:t>
            </a:r>
          </a:p>
        </p:txBody>
      </p:sp>
      <p:sp>
        <p:nvSpPr>
          <p:cNvPr id="22" name="Oval 21"/>
          <p:cNvSpPr/>
          <p:nvPr/>
        </p:nvSpPr>
        <p:spPr>
          <a:xfrm>
            <a:off x="6370167"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8</a:t>
            </a:r>
          </a:p>
        </p:txBody>
      </p:sp>
      <p:sp>
        <p:nvSpPr>
          <p:cNvPr id="23" name="TextBox 22"/>
          <p:cNvSpPr txBox="1"/>
          <p:nvPr/>
        </p:nvSpPr>
        <p:spPr>
          <a:xfrm>
            <a:off x="6964527" y="1591056"/>
            <a:ext cx="4678527" cy="564061"/>
          </a:xfrm>
          <a:prstGeom prst="rect">
            <a:avLst/>
          </a:prstGeom>
          <a:noFill/>
        </p:spPr>
        <p:txBody>
          <a:bodyPr wrap="square" anchor="t" lIns="0" rIns="0" tIns="0" bIns="0">
            <a:spAutoFit/>
          </a:bodyPr>
          <a:lstStyle/>
          <a:p>
            <a:r>
              <a:rPr sz="2200" i="0" b="0">
                <a:solidFill>
                  <a:srgbClr val="1A1F36"/>
                </a:solidFill>
                <a:latin typeface="Calibri"/>
              </a:rPr>
              <a:t>Maintenance and Adherence</a:t>
            </a:r>
          </a:p>
        </p:txBody>
      </p:sp>
      <p:sp>
        <p:nvSpPr>
          <p:cNvPr id="24" name="Oval 23"/>
          <p:cNvSpPr/>
          <p:nvPr/>
        </p:nvSpPr>
        <p:spPr>
          <a:xfrm>
            <a:off x="6370167" y="218254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9</a:t>
            </a:r>
          </a:p>
        </p:txBody>
      </p:sp>
      <p:sp>
        <p:nvSpPr>
          <p:cNvPr id="25" name="TextBox 24"/>
          <p:cNvSpPr txBox="1"/>
          <p:nvPr/>
        </p:nvSpPr>
        <p:spPr>
          <a:xfrm>
            <a:off x="6964527" y="2200837"/>
            <a:ext cx="4678527" cy="913311"/>
          </a:xfrm>
          <a:prstGeom prst="rect">
            <a:avLst/>
          </a:prstGeom>
          <a:noFill/>
        </p:spPr>
        <p:txBody>
          <a:bodyPr wrap="square" anchor="t" lIns="0" rIns="0" tIns="0" bIns="0">
            <a:spAutoFit/>
          </a:bodyPr>
          <a:lstStyle/>
          <a:p>
            <a:r>
              <a:rPr sz="2200" i="0" b="0">
                <a:solidFill>
                  <a:srgbClr val="1A1F36"/>
                </a:solidFill>
                <a:latin typeface="Calibri"/>
              </a:rPr>
              <a:t>Pharmacokinetics and Drug Interactions</a:t>
            </a:r>
          </a:p>
        </p:txBody>
      </p:sp>
      <p:sp>
        <p:nvSpPr>
          <p:cNvPr id="26" name="Oval 25"/>
          <p:cNvSpPr/>
          <p:nvPr/>
        </p:nvSpPr>
        <p:spPr>
          <a:xfrm>
            <a:off x="6370167" y="314158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10</a:t>
            </a:r>
          </a:p>
        </p:txBody>
      </p:sp>
      <p:sp>
        <p:nvSpPr>
          <p:cNvPr id="27" name="TextBox 26"/>
          <p:cNvSpPr txBox="1"/>
          <p:nvPr/>
        </p:nvSpPr>
        <p:spPr>
          <a:xfrm>
            <a:off x="6964527" y="3159868"/>
            <a:ext cx="4678527" cy="564061"/>
          </a:xfrm>
          <a:prstGeom prst="rect">
            <a:avLst/>
          </a:prstGeom>
          <a:noFill/>
        </p:spPr>
        <p:txBody>
          <a:bodyPr wrap="square" anchor="t" lIns="0" rIns="0" tIns="0" bIns="0">
            <a:spAutoFit/>
          </a:bodyPr>
          <a:lstStyle/>
          <a:p>
            <a:r>
              <a:rPr sz="2200" i="0" b="0">
                <a:solidFill>
                  <a:srgbClr val="1A1F36"/>
                </a:solidFill>
                <a:latin typeface="Calibri"/>
              </a:rPr>
              <a:t>Special Populations</a:t>
            </a:r>
          </a:p>
        </p:txBody>
      </p:sp>
      <p:sp>
        <p:nvSpPr>
          <p:cNvPr id="28" name="Oval 27"/>
          <p:cNvSpPr/>
          <p:nvPr/>
        </p:nvSpPr>
        <p:spPr>
          <a:xfrm>
            <a:off x="6370167" y="375136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11</a:t>
            </a:r>
          </a:p>
        </p:txBody>
      </p:sp>
      <p:sp>
        <p:nvSpPr>
          <p:cNvPr id="29" name="TextBox 28"/>
          <p:cNvSpPr txBox="1"/>
          <p:nvPr/>
        </p:nvSpPr>
        <p:spPr>
          <a:xfrm>
            <a:off x="6964527" y="3769650"/>
            <a:ext cx="4678527" cy="564061"/>
          </a:xfrm>
          <a:prstGeom prst="rect">
            <a:avLst/>
          </a:prstGeom>
          <a:noFill/>
        </p:spPr>
        <p:txBody>
          <a:bodyPr wrap="square" anchor="t" lIns="0" rIns="0" tIns="0" bIns="0">
            <a:spAutoFit/>
          </a:bodyPr>
          <a:lstStyle/>
          <a:p>
            <a:r>
              <a:rPr sz="2200" i="0" b="0">
                <a:solidFill>
                  <a:srgbClr val="1A1F36"/>
                </a:solidFill>
                <a:latin typeface="Calibri"/>
              </a:rPr>
              <a:t>Counselling the Patient</a:t>
            </a:r>
          </a:p>
        </p:txBody>
      </p:sp>
      <p:sp>
        <p:nvSpPr>
          <p:cNvPr id="30" name="Oval 29"/>
          <p:cNvSpPr/>
          <p:nvPr/>
        </p:nvSpPr>
        <p:spPr>
          <a:xfrm>
            <a:off x="6370167" y="436114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12</a:t>
            </a:r>
          </a:p>
        </p:txBody>
      </p:sp>
      <p:sp>
        <p:nvSpPr>
          <p:cNvPr id="31" name="TextBox 30"/>
          <p:cNvSpPr txBox="1"/>
          <p:nvPr/>
        </p:nvSpPr>
        <p:spPr>
          <a:xfrm>
            <a:off x="6964527" y="4379431"/>
            <a:ext cx="4678527" cy="564061"/>
          </a:xfrm>
          <a:prstGeom prst="rect">
            <a:avLst/>
          </a:prstGeom>
          <a:noFill/>
        </p:spPr>
        <p:txBody>
          <a:bodyPr wrap="square" anchor="t" lIns="0" rIns="0" tIns="0" bIns="0">
            <a:spAutoFit/>
          </a:bodyPr>
          <a:lstStyle/>
          <a:p>
            <a:r>
              <a:rPr sz="2200" i="0" b="0">
                <a:solidFill>
                  <a:srgbClr val="1A1F36"/>
                </a:solidFill>
                <a:latin typeface="Calibri"/>
              </a:rPr>
              <a:t>Choosing a Drug</a:t>
            </a:r>
          </a:p>
        </p:txBody>
      </p:sp>
      <p:sp>
        <p:nvSpPr>
          <p:cNvPr id="32" name="Oval 31"/>
          <p:cNvSpPr/>
          <p:nvPr/>
        </p:nvSpPr>
        <p:spPr>
          <a:xfrm>
            <a:off x="6370167" y="497092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13</a:t>
            </a:r>
          </a:p>
        </p:txBody>
      </p:sp>
      <p:sp>
        <p:nvSpPr>
          <p:cNvPr id="33" name="TextBox 32"/>
          <p:cNvSpPr txBox="1"/>
          <p:nvPr/>
        </p:nvSpPr>
        <p:spPr>
          <a:xfrm>
            <a:off x="6964527" y="4989213"/>
            <a:ext cx="4678527" cy="564061"/>
          </a:xfrm>
          <a:prstGeom prst="rect">
            <a:avLst/>
          </a:prstGeom>
          <a:noFill/>
        </p:spPr>
        <p:txBody>
          <a:bodyPr wrap="square" anchor="t" lIns="0" rIns="0" tIns="0" bIns="0">
            <a:spAutoFit/>
          </a:bodyPr>
          <a:lstStyle/>
          <a:p>
            <a:r>
              <a:rPr sz="2200" i="0" b="0">
                <a:solidFill>
                  <a:srgbClr val="1A1F36"/>
                </a:solidFill>
                <a:latin typeface="Calibri"/>
              </a:rPr>
              <a:t>Brands in Egypt</a:t>
            </a:r>
          </a:p>
        </p:txBody>
      </p:sp>
      <p:sp>
        <p:nvSpPr>
          <p:cNvPr id="34" name="Oval 33"/>
          <p:cNvSpPr/>
          <p:nvPr/>
        </p:nvSpPr>
        <p:spPr>
          <a:xfrm>
            <a:off x="6370167" y="558070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14</a:t>
            </a:r>
          </a:p>
        </p:txBody>
      </p:sp>
      <p:sp>
        <p:nvSpPr>
          <p:cNvPr id="35" name="TextBox 34"/>
          <p:cNvSpPr txBox="1"/>
          <p:nvPr/>
        </p:nvSpPr>
        <p:spPr>
          <a:xfrm>
            <a:off x="6964527" y="5598994"/>
            <a:ext cx="4678527" cy="564061"/>
          </a:xfrm>
          <a:prstGeom prst="rect">
            <a:avLst/>
          </a:prstGeom>
          <a:noFill/>
        </p:spPr>
        <p:txBody>
          <a:bodyPr wrap="square" anchor="t" lIns="0" rIns="0" tIns="0" bIns="0">
            <a:spAutoFit/>
          </a:bodyPr>
          <a:lstStyle/>
          <a:p>
            <a:r>
              <a:rPr sz="2200" i="0" b="0">
                <a:solidFill>
                  <a:srgbClr val="1A1F36"/>
                </a:solidFill>
                <a:latin typeface="Calibri"/>
              </a:rPr>
              <a:t>For Discussion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Dopamine Pathways in the Brain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04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Four dopamine pathways explain both the benefits and the adverse effects of antipsychotics.</a:t>
            </a:r>
          </a:p>
        </p:txBody>
      </p:sp>
      <p:graphicFrame>
        <p:nvGraphicFramePr>
          <p:cNvPr id="9" name="Table 8"/>
          <p:cNvGraphicFramePr>
            <a:graphicFrameLocks noGrp="1"/>
          </p:cNvGraphicFramePr>
          <p:nvPr/>
        </p:nvGraphicFramePr>
        <p:xfrm>
          <a:off x="548640" y="2235708"/>
          <a:ext cx="11094413" cy="3200400"/>
        </p:xfrm>
        <a:graphic>
          <a:graphicData uri="http://schemas.openxmlformats.org/drawingml/2006/table">
            <a:tbl>
              <a:tblPr firstRow="0" bandRow="0">
                <a:tableStyleId>{5C22544A-7EE6-4342-B048-85BDC9FD1C3A}</a:tableStyleId>
              </a:tblPr>
              <a:tblGrid>
                <a:gridCol w="1802842"/>
                <a:gridCol w="2634923"/>
                <a:gridCol w="3675024"/>
                <a:gridCol w="2981624"/>
              </a:tblGrid>
              <a:tr h="640080">
                <a:tc>
                  <a:txBody>
                    <a:bodyPr/>
                    <a:lstStyle/>
                    <a:p>
                      <a:r>
                        <a:rPr sz="1700" i="0" b="1">
                          <a:solidFill>
                            <a:srgbClr val="FFFFFF"/>
                          </a:solidFill>
                          <a:latin typeface="Calibri"/>
                        </a:rPr>
                        <a:t>Pathway</a:t>
                      </a:r>
                    </a:p>
                  </a:txBody>
                  <a:tcPr marL="109728" marR="109728" marT="45720" marB="45720" anchor="ctr">
                    <a:solidFill>
                      <a:srgbClr val="1B2A8C"/>
                    </a:solidFill>
                  </a:tcPr>
                </a:tc>
                <a:tc>
                  <a:txBody>
                    <a:bodyPr/>
                    <a:lstStyle/>
                    <a:p>
                      <a:r>
                        <a:rPr sz="1700" i="0" b="1">
                          <a:solidFill>
                            <a:srgbClr val="FFFFFF"/>
                          </a:solidFill>
                          <a:latin typeface="Calibri"/>
                        </a:rPr>
                        <a:t>Normal role</a:t>
                      </a:r>
                    </a:p>
                  </a:txBody>
                  <a:tcPr marL="109728" marR="109728" marT="45720" marB="45720" anchor="ctr">
                    <a:solidFill>
                      <a:srgbClr val="1B2A8C"/>
                    </a:solidFill>
                  </a:tcPr>
                </a:tc>
                <a:tc>
                  <a:txBody>
                    <a:bodyPr/>
                    <a:lstStyle/>
                    <a:p>
                      <a:r>
                        <a:rPr sz="1700" i="0" b="1">
                          <a:solidFill>
                            <a:srgbClr val="FFFFFF"/>
                          </a:solidFill>
                          <a:latin typeface="Calibri"/>
                        </a:rPr>
                        <a:t>In schizophrenia</a:t>
                      </a:r>
                    </a:p>
                  </a:txBody>
                  <a:tcPr marL="109728" marR="109728" marT="45720" marB="45720" anchor="ctr">
                    <a:solidFill>
                      <a:srgbClr val="1B2A8C"/>
                    </a:solidFill>
                  </a:tcPr>
                </a:tc>
                <a:tc>
                  <a:txBody>
                    <a:bodyPr/>
                    <a:lstStyle/>
                    <a:p>
                      <a:r>
                        <a:rPr sz="1700" i="0" b="1">
                          <a:solidFill>
                            <a:srgbClr val="FFFFFF"/>
                          </a:solidFill>
                          <a:latin typeface="Calibri"/>
                        </a:rPr>
                        <a:t>Effect of D2 block</a:t>
                      </a:r>
                    </a:p>
                  </a:txBody>
                  <a:tcPr marL="109728" marR="109728" marT="45720" marB="45720" anchor="ctr">
                    <a:solidFill>
                      <a:srgbClr val="1B2A8C"/>
                    </a:solidFill>
                  </a:tcPr>
                </a:tc>
              </a:tr>
              <a:tr h="640080">
                <a:tc>
                  <a:txBody>
                    <a:bodyPr/>
                    <a:lstStyle/>
                    <a:p>
                      <a:r>
                        <a:rPr sz="1800" i="0" b="1">
                          <a:solidFill>
                            <a:srgbClr val="1A1F36"/>
                          </a:solidFill>
                          <a:latin typeface="Calibri"/>
                        </a:rPr>
                        <a:t>Mesolimbic</a:t>
                      </a:r>
                    </a:p>
                  </a:txBody>
                  <a:tcPr marL="109728" marR="109728" marT="45720" marB="45720" anchor="ctr">
                    <a:solidFill>
                      <a:srgbClr val="FFFFFF"/>
                    </a:solidFill>
                  </a:tcPr>
                </a:tc>
                <a:tc>
                  <a:txBody>
                    <a:bodyPr/>
                    <a:lstStyle/>
                    <a:p>
                      <a:r>
                        <a:rPr sz="1800" i="0" b="0">
                          <a:solidFill>
                            <a:srgbClr val="1A1F36"/>
                          </a:solidFill>
                          <a:latin typeface="Calibri"/>
                        </a:rPr>
                        <a:t>Reward, emotion, motivation</a:t>
                      </a:r>
                    </a:p>
                  </a:txBody>
                  <a:tcPr marL="109728" marR="109728" marT="45720" marB="45720" anchor="ctr">
                    <a:solidFill>
                      <a:srgbClr val="FFFFFF"/>
                    </a:solidFill>
                  </a:tcPr>
                </a:tc>
                <a:tc>
                  <a:txBody>
                    <a:bodyPr/>
                    <a:lstStyle/>
                    <a:p>
                      <a:r>
                        <a:rPr sz="1800" i="0" b="0">
                          <a:solidFill>
                            <a:srgbClr val="1A1F36"/>
                          </a:solidFill>
                          <a:latin typeface="Calibri"/>
                        </a:rPr>
                        <a:t>Overactive → positive symptoms</a:t>
                      </a:r>
                    </a:p>
                  </a:txBody>
                  <a:tcPr marL="109728" marR="109728" marT="45720" marB="45720" anchor="ctr">
                    <a:solidFill>
                      <a:srgbClr val="FFFFFF"/>
                    </a:solidFill>
                  </a:tcPr>
                </a:tc>
                <a:tc>
                  <a:txBody>
                    <a:bodyPr/>
                    <a:lstStyle/>
                    <a:p>
                      <a:r>
                        <a:rPr sz="1800" i="0" b="0">
                          <a:solidFill>
                            <a:srgbClr val="1A1F36"/>
                          </a:solidFill>
                          <a:latin typeface="Calibri"/>
                        </a:rPr>
                        <a:t>Reduces positive symptoms (the aim)</a:t>
                      </a:r>
                    </a:p>
                  </a:txBody>
                  <a:tcPr marL="109728" marR="109728" marT="45720" marB="45720" anchor="ctr">
                    <a:solidFill>
                      <a:srgbClr val="FFFFFF"/>
                    </a:solidFill>
                  </a:tcPr>
                </a:tc>
              </a:tr>
              <a:tr h="640080">
                <a:tc>
                  <a:txBody>
                    <a:bodyPr/>
                    <a:lstStyle/>
                    <a:p>
                      <a:r>
                        <a:rPr sz="1800" i="0" b="1">
                          <a:solidFill>
                            <a:srgbClr val="1A1F36"/>
                          </a:solidFill>
                          <a:latin typeface="Calibri"/>
                        </a:rPr>
                        <a:t>Mesocortical</a:t>
                      </a:r>
                    </a:p>
                  </a:txBody>
                  <a:tcPr marL="109728" marR="109728" marT="45720" marB="45720" anchor="ctr">
                    <a:solidFill>
                      <a:srgbClr val="F1F2F8"/>
                    </a:solidFill>
                  </a:tcPr>
                </a:tc>
                <a:tc>
                  <a:txBody>
                    <a:bodyPr/>
                    <a:lstStyle/>
                    <a:p>
                      <a:r>
                        <a:rPr sz="1800" i="0" b="0">
                          <a:solidFill>
                            <a:srgbClr val="1A1F36"/>
                          </a:solidFill>
                          <a:latin typeface="Calibri"/>
                        </a:rPr>
                        <a:t>Cognition, attention, planning</a:t>
                      </a:r>
                    </a:p>
                  </a:txBody>
                  <a:tcPr marL="109728" marR="109728" marT="45720" marB="45720" anchor="ctr">
                    <a:solidFill>
                      <a:srgbClr val="F1F2F8"/>
                    </a:solidFill>
                  </a:tcPr>
                </a:tc>
                <a:tc>
                  <a:txBody>
                    <a:bodyPr/>
                    <a:lstStyle/>
                    <a:p>
                      <a:r>
                        <a:rPr sz="1800" i="0" b="0">
                          <a:solidFill>
                            <a:srgbClr val="1A1F36"/>
                          </a:solidFill>
                          <a:latin typeface="Calibri"/>
                        </a:rPr>
                        <a:t>Underactive → negative and cognitive symptoms</a:t>
                      </a:r>
                    </a:p>
                  </a:txBody>
                  <a:tcPr marL="109728" marR="109728" marT="45720" marB="45720" anchor="ctr">
                    <a:solidFill>
                      <a:srgbClr val="F1F2F8"/>
                    </a:solidFill>
                  </a:tcPr>
                </a:tc>
                <a:tc>
                  <a:txBody>
                    <a:bodyPr/>
                    <a:lstStyle/>
                    <a:p>
                      <a:r>
                        <a:rPr sz="1800" i="0" b="0">
                          <a:solidFill>
                            <a:srgbClr val="1A1F36"/>
                          </a:solidFill>
                          <a:latin typeface="Calibri"/>
                        </a:rPr>
                        <a:t>May worsen negative symptoms</a:t>
                      </a:r>
                    </a:p>
                  </a:txBody>
                  <a:tcPr marL="109728" marR="109728" marT="45720" marB="45720" anchor="ctr">
                    <a:solidFill>
                      <a:srgbClr val="F1F2F8"/>
                    </a:solidFill>
                  </a:tcPr>
                </a:tc>
              </a:tr>
              <a:tr h="640080">
                <a:tc>
                  <a:txBody>
                    <a:bodyPr/>
                    <a:lstStyle/>
                    <a:p>
                      <a:r>
                        <a:rPr sz="1800" i="0" b="1">
                          <a:solidFill>
                            <a:srgbClr val="1A1F36"/>
                          </a:solidFill>
                          <a:latin typeface="Calibri"/>
                        </a:rPr>
                        <a:t>Nigrostriatal</a:t>
                      </a:r>
                    </a:p>
                  </a:txBody>
                  <a:tcPr marL="109728" marR="109728" marT="45720" marB="45720" anchor="ctr">
                    <a:solidFill>
                      <a:srgbClr val="FFFFFF"/>
                    </a:solidFill>
                  </a:tcPr>
                </a:tc>
                <a:tc>
                  <a:txBody>
                    <a:bodyPr/>
                    <a:lstStyle/>
                    <a:p>
                      <a:r>
                        <a:rPr sz="1800" i="0" b="0">
                          <a:solidFill>
                            <a:srgbClr val="1A1F36"/>
                          </a:solidFill>
                          <a:latin typeface="Calibri"/>
                        </a:rPr>
                        <a:t>Control of movement (with ACh)</a:t>
                      </a:r>
                    </a:p>
                  </a:txBody>
                  <a:tcPr marL="109728" marR="109728" marT="45720" marB="45720" anchor="ctr">
                    <a:solidFill>
                      <a:srgbClr val="FFFFFF"/>
                    </a:solidFill>
                  </a:tcPr>
                </a:tc>
                <a:tc>
                  <a:txBody>
                    <a:bodyPr/>
                    <a:lstStyle/>
                    <a:p>
                      <a:r>
                        <a:rPr sz="1800" i="0" b="0">
                          <a:solidFill>
                            <a:srgbClr val="1A1F36"/>
                          </a:solidFill>
                          <a:latin typeface="Calibri"/>
                        </a:rPr>
                        <a:t>Normal</a:t>
                      </a:r>
                    </a:p>
                  </a:txBody>
                  <a:tcPr marL="109728" marR="109728" marT="45720" marB="45720" anchor="ctr">
                    <a:solidFill>
                      <a:srgbClr val="FFFFFF"/>
                    </a:solidFill>
                  </a:tcPr>
                </a:tc>
                <a:tc>
                  <a:txBody>
                    <a:bodyPr/>
                    <a:lstStyle/>
                    <a:p>
                      <a:r>
                        <a:rPr sz="1800" i="0" b="0">
                          <a:solidFill>
                            <a:srgbClr val="1A1F36"/>
                          </a:solidFill>
                          <a:latin typeface="Calibri"/>
                        </a:rPr>
                        <a:t>Extrapyramidal effects</a:t>
                      </a:r>
                    </a:p>
                  </a:txBody>
                  <a:tcPr marL="109728" marR="109728" marT="45720" marB="45720" anchor="ctr">
                    <a:solidFill>
                      <a:srgbClr val="FFFFFF"/>
                    </a:solidFill>
                  </a:tcPr>
                </a:tc>
              </a:tr>
              <a:tr h="640080">
                <a:tc>
                  <a:txBody>
                    <a:bodyPr/>
                    <a:lstStyle/>
                    <a:p>
                      <a:r>
                        <a:rPr sz="1800" i="0" b="1">
                          <a:solidFill>
                            <a:srgbClr val="1A1F36"/>
                          </a:solidFill>
                          <a:latin typeface="Calibri"/>
                        </a:rPr>
                        <a:t>Tuberoinfundibular</a:t>
                      </a:r>
                    </a:p>
                  </a:txBody>
                  <a:tcPr marL="109728" marR="109728" marT="45720" marB="45720" anchor="ctr">
                    <a:solidFill>
                      <a:srgbClr val="F1F2F8"/>
                    </a:solidFill>
                  </a:tcPr>
                </a:tc>
                <a:tc>
                  <a:txBody>
                    <a:bodyPr/>
                    <a:lstStyle/>
                    <a:p>
                      <a:r>
                        <a:rPr sz="1800" i="0" b="0">
                          <a:solidFill>
                            <a:srgbClr val="1A1F36"/>
                          </a:solidFill>
                          <a:latin typeface="Calibri"/>
                        </a:rPr>
                        <a:t>Inhibits prolactin release</a:t>
                      </a:r>
                    </a:p>
                  </a:txBody>
                  <a:tcPr marL="109728" marR="109728" marT="45720" marB="45720" anchor="ctr">
                    <a:solidFill>
                      <a:srgbClr val="F1F2F8"/>
                    </a:solidFill>
                  </a:tcPr>
                </a:tc>
                <a:tc>
                  <a:txBody>
                    <a:bodyPr/>
                    <a:lstStyle/>
                    <a:p>
                      <a:r>
                        <a:rPr sz="1800" i="0" b="0">
                          <a:solidFill>
                            <a:srgbClr val="1A1F36"/>
                          </a:solidFill>
                          <a:latin typeface="Calibri"/>
                        </a:rPr>
                        <a:t>Normal</a:t>
                      </a:r>
                    </a:p>
                  </a:txBody>
                  <a:tcPr marL="109728" marR="109728" marT="45720" marB="45720" anchor="ctr">
                    <a:solidFill>
                      <a:srgbClr val="F1F2F8"/>
                    </a:solidFill>
                  </a:tcPr>
                </a:tc>
                <a:tc>
                  <a:txBody>
                    <a:bodyPr/>
                    <a:lstStyle/>
                    <a:p>
                      <a:r>
                        <a:rPr sz="1800" i="0" b="0">
                          <a:solidFill>
                            <a:srgbClr val="1A1F36"/>
                          </a:solidFill>
                          <a:latin typeface="Calibri"/>
                        </a:rPr>
                        <a:t>Hyperprolactinaemia</a:t>
                      </a:r>
                    </a:p>
                  </a:txBody>
                  <a:tcPr marL="109728" marR="109728" marT="45720" marB="45720" anchor="ctr">
                    <a:solidFill>
                      <a:srgbClr val="F1F2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Dopamine Pathways in the Brain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05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Dopamine also acts on the chemoreceptor trigger zone (CTZ), where it causes vomiting. D2 block there explains the antiemetic effect.</a:t>
            </a:r>
          </a:p>
        </p:txBody>
      </p:sp>
      <p:pic>
        <p:nvPicPr>
          <p:cNvPr id="9" name="Picture 8" descr="Table-like diagram with four rows: mesolimbic, mesocortical, nigrostriatal and tuberoinfundibular pathways, their normal roles, and the result of D2 block: fewer positive symptoms, worse negative symptoms, extrapyramidal effects and raised prolactin."/>
          <p:cNvPicPr>
            <a:picLocks noChangeAspect="1"/>
          </p:cNvPicPr>
          <p:nvPr/>
        </p:nvPicPr>
        <p:blipFill>
          <a:blip r:embed="rId4"/>
          <a:stretch>
            <a:fillRect/>
          </a:stretch>
        </p:blipFill>
        <p:spPr>
          <a:xfrm>
            <a:off x="2796198" y="2532887"/>
            <a:ext cx="6599298" cy="3227831"/>
          </a:xfrm>
          <a:prstGeom prst="rect">
            <a:avLst/>
          </a:prstGeom>
        </p:spPr>
      </p:pic>
      <p:sp>
        <p:nvSpPr>
          <p:cNvPr id="10" name="TextBox 9"/>
          <p:cNvSpPr txBox="1"/>
          <p:nvPr/>
        </p:nvSpPr>
        <p:spPr>
          <a:xfrm>
            <a:off x="548640" y="5852158"/>
            <a:ext cx="11094415" cy="365760"/>
          </a:xfrm>
          <a:prstGeom prst="rect">
            <a:avLst/>
          </a:prstGeom>
          <a:noFill/>
        </p:spPr>
        <p:txBody>
          <a:bodyPr wrap="square" anchor="t" lIns="0" rIns="0" tIns="0" bIns="0">
            <a:spAutoFit/>
          </a:bodyPr>
          <a:lstStyle/>
          <a:p>
            <a:pPr algn="ctr"/>
            <a:r>
              <a:rPr sz="1300" i="1" b="0">
                <a:solidFill>
                  <a:srgbClr val="5A6072"/>
                </a:solidFill>
                <a:latin typeface="Calibri"/>
              </a:rPr>
              <a:t>The four dopamine pathways and the effect of D2-receptor block in each.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Schizophrenia in Brief</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06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0">
                <a:solidFill>
                  <a:srgbClr val="1A1F36"/>
                </a:solidFill>
                <a:latin typeface="Calibri"/>
              </a:rPr>
              <a:t>Schizophrenia affects about 1% of people. It usually starts in late adolescence or early adulthood. Genes play a large part. Symptoms fall into three groups:</a:t>
            </a:r>
          </a:p>
          <a:p>
            <a:pPr>
              <a:spcAft>
                <a:spcPts val="800"/>
              </a:spcAft>
            </a:pPr>
            <a:r>
              <a:rPr sz="1700" i="0" b="0">
                <a:solidFill>
                  <a:srgbClr val="1A1F36"/>
                </a:solidFill>
                <a:latin typeface="Calibri"/>
              </a:rPr>
              <a:t>Antipsychotics do not cure schizophrenia. They reduce hallucinations and delusions and allow the person to live in the community. Treatment is a balance between benefit and a wide range of adverse effects.</a:t>
            </a:r>
          </a:p>
        </p:txBody>
      </p:sp>
      <p:sp>
        <p:nvSpPr>
          <p:cNvPr id="9" name="Oval 8"/>
          <p:cNvSpPr/>
          <p:nvPr/>
        </p:nvSpPr>
        <p:spPr>
          <a:xfrm>
            <a:off x="5394959"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5989320" y="1591056"/>
            <a:ext cx="5653735" cy="1826895"/>
          </a:xfrm>
          <a:prstGeom prst="rect">
            <a:avLst/>
          </a:prstGeom>
          <a:noFill/>
        </p:spPr>
        <p:txBody>
          <a:bodyPr wrap="square" anchor="t" lIns="0" rIns="0" tIns="0" bIns="0">
            <a:spAutoFit/>
          </a:bodyPr>
          <a:lstStyle/>
          <a:p>
            <a:r>
              <a:rPr sz="2100" i="0" b="1">
                <a:solidFill>
                  <a:srgbClr val="1A1F36"/>
                </a:solidFill>
                <a:latin typeface="Calibri"/>
              </a:rPr>
              <a:t>Positive symptoms</a:t>
            </a:r>
            <a:r>
              <a:rPr sz="2100" i="0" b="0">
                <a:solidFill>
                  <a:srgbClr val="1A1F36"/>
                </a:solidFill>
                <a:latin typeface="Calibri"/>
              </a:rPr>
              <a:t> — things added to normal experience: delusions (fixed false beliefs), hallucinations (usually voices) and disorganised speech. They are linked to excess dopamine in the mesolimbic pathway.</a:t>
            </a:r>
          </a:p>
        </p:txBody>
      </p:sp>
      <p:sp>
        <p:nvSpPr>
          <p:cNvPr id="11" name="Oval 10"/>
          <p:cNvSpPr/>
          <p:nvPr/>
        </p:nvSpPr>
        <p:spPr>
          <a:xfrm>
            <a:off x="5394959" y="344538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5989320" y="3463671"/>
            <a:ext cx="5653735" cy="1826895"/>
          </a:xfrm>
          <a:prstGeom prst="rect">
            <a:avLst/>
          </a:prstGeom>
          <a:noFill/>
        </p:spPr>
        <p:txBody>
          <a:bodyPr wrap="square" anchor="t" lIns="0" rIns="0" tIns="0" bIns="0">
            <a:spAutoFit/>
          </a:bodyPr>
          <a:lstStyle/>
          <a:p>
            <a:r>
              <a:rPr sz="2100" i="0" b="1">
                <a:solidFill>
                  <a:srgbClr val="1A1F36"/>
                </a:solidFill>
                <a:latin typeface="Calibri"/>
              </a:rPr>
              <a:t>Negative symptoms</a:t>
            </a:r>
            <a:r>
              <a:rPr sz="2100" i="0" b="0">
                <a:solidFill>
                  <a:srgbClr val="1A1F36"/>
                </a:solidFill>
                <a:latin typeface="Calibri"/>
              </a:rPr>
              <a:t> — things lost: blunted emotion, apathy, poverty of speech and social withdrawal. Self-care and hygiene often suffer. They are linked to low dopamine in the mesocortical pathway.</a:t>
            </a:r>
          </a:p>
        </p:txBody>
      </p:sp>
      <p:sp>
        <p:nvSpPr>
          <p:cNvPr id="13" name="Oval 12"/>
          <p:cNvSpPr/>
          <p:nvPr/>
        </p:nvSpPr>
        <p:spPr>
          <a:xfrm>
            <a:off x="5394959" y="531799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5989320" y="5336286"/>
            <a:ext cx="5653735" cy="826769"/>
          </a:xfrm>
          <a:prstGeom prst="rect">
            <a:avLst/>
          </a:prstGeom>
          <a:noFill/>
        </p:spPr>
        <p:txBody>
          <a:bodyPr wrap="square" anchor="t" lIns="0" rIns="0" tIns="0" bIns="0">
            <a:spAutoFit/>
          </a:bodyPr>
          <a:lstStyle/>
          <a:p>
            <a:r>
              <a:rPr sz="2100" i="0" b="1">
                <a:solidFill>
                  <a:srgbClr val="1A1F36"/>
                </a:solidFill>
                <a:latin typeface="Calibri"/>
              </a:rPr>
              <a:t>Cognitive symptoms</a:t>
            </a:r>
            <a:r>
              <a:rPr sz="2100" i="0" b="0">
                <a:solidFill>
                  <a:srgbClr val="1A1F36"/>
                </a:solidFill>
                <a:latin typeface="Calibri"/>
              </a:rPr>
              <a:t> — poor attention, memory and planning.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First-Generation (Typical) Antipsychotics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07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1">
                <a:solidFill>
                  <a:srgbClr val="1A1F36"/>
                </a:solidFill>
                <a:latin typeface="Calibri"/>
              </a:rPr>
              <a:t>Members.</a:t>
            </a:r>
          </a:p>
        </p:txBody>
      </p:sp>
      <p:sp>
        <p:nvSpPr>
          <p:cNvPr id="9" name="Oval 8"/>
          <p:cNvSpPr/>
          <p:nvPr/>
        </p:nvSpPr>
        <p:spPr>
          <a:xfrm>
            <a:off x="548640" y="225399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272284"/>
            <a:ext cx="10500055" cy="808863"/>
          </a:xfrm>
          <a:prstGeom prst="rect">
            <a:avLst/>
          </a:prstGeom>
          <a:noFill/>
        </p:spPr>
        <p:txBody>
          <a:bodyPr wrap="square" anchor="t" lIns="0" rIns="0" tIns="0" bIns="0">
            <a:spAutoFit/>
          </a:bodyPr>
          <a:lstStyle/>
          <a:p>
            <a:r>
              <a:rPr sz="2100" i="0" b="0">
                <a:solidFill>
                  <a:srgbClr val="1A1F36"/>
                </a:solidFill>
                <a:latin typeface="Calibri"/>
              </a:rPr>
              <a:t>Phenothiazines: chlorpromazine (low potency), fluphenazine (high potency).</a:t>
            </a:r>
          </a:p>
        </p:txBody>
      </p:sp>
      <p:sp>
        <p:nvSpPr>
          <p:cNvPr id="11" name="Oval 10"/>
          <p:cNvSpPr/>
          <p:nvPr/>
        </p:nvSpPr>
        <p:spPr>
          <a:xfrm>
            <a:off x="548640" y="310857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126867"/>
            <a:ext cx="10500055" cy="808863"/>
          </a:xfrm>
          <a:prstGeom prst="rect">
            <a:avLst/>
          </a:prstGeom>
          <a:noFill/>
        </p:spPr>
        <p:txBody>
          <a:bodyPr wrap="square" anchor="t" lIns="0" rIns="0" tIns="0" bIns="0">
            <a:spAutoFit/>
          </a:bodyPr>
          <a:lstStyle/>
          <a:p>
            <a:r>
              <a:rPr sz="2100" i="0" b="0">
                <a:solidFill>
                  <a:srgbClr val="1A1F36"/>
                </a:solidFill>
                <a:latin typeface="Calibri"/>
              </a:rPr>
              <a:t>Butyrophenones: haloperidol (high potency), droperidol.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First-Generation (Typical) Antipsychotics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08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1">
                <a:solidFill>
                  <a:srgbClr val="1A1F36"/>
                </a:solidFill>
                <a:latin typeface="Calibri"/>
              </a:rPr>
              <a:t>Mechanism.</a:t>
            </a:r>
            <a:r>
              <a:rPr sz="1700" i="0" b="0">
                <a:solidFill>
                  <a:srgbClr val="1A1F36"/>
                </a:solidFill>
                <a:latin typeface="Calibri"/>
              </a:rPr>
              <a:t> They are competitive antagonists at D2 receptors. The block is not selective for the mesolimbic pathway, so all four pathways are affected. They also block other receptors, which explains many adverse effects.</a:t>
            </a:r>
          </a:p>
          <a:p>
            <a:pPr>
              <a:spcAft>
                <a:spcPts val="800"/>
              </a:spcAft>
            </a:pPr>
            <a:r>
              <a:rPr sz="1700" i="0" b="1">
                <a:solidFill>
                  <a:srgbClr val="1A1F36"/>
                </a:solidFill>
                <a:latin typeface="Calibri"/>
              </a:rPr>
              <a:t>Potency matters.</a:t>
            </a:r>
            <a:r>
              <a:rPr sz="1700" i="0" b="0">
                <a:solidFill>
                  <a:srgbClr val="1A1F36"/>
                </a:solidFill>
                <a:latin typeface="Calibri"/>
              </a:rPr>
              <a:t> High-potency drugs such as haloperidol bind D2 strongly. They cause more extrapyramidal effects. Low-potency drugs such as chlorpromazine block more muscarinic, histamine H1 and α1 receptors. They cause more sedation, hypotension and anticholinergic effects.</a:t>
            </a:r>
          </a:p>
        </p:txBody>
      </p:sp>
      <p:graphicFrame>
        <p:nvGraphicFramePr>
          <p:cNvPr id="9" name="Table 8"/>
          <p:cNvGraphicFramePr>
            <a:graphicFrameLocks noGrp="1"/>
          </p:cNvGraphicFramePr>
          <p:nvPr/>
        </p:nvGraphicFramePr>
        <p:xfrm>
          <a:off x="5394959" y="1554480"/>
          <a:ext cx="6248094" cy="3840480"/>
        </p:xfrm>
        <a:graphic>
          <a:graphicData uri="http://schemas.openxmlformats.org/drawingml/2006/table">
            <a:tbl>
              <a:tblPr firstRow="0" bandRow="0">
                <a:tableStyleId>{5C22544A-7EE6-4342-B048-85BDC9FD1C3A}</a:tableStyleId>
              </a:tblPr>
              <a:tblGrid>
                <a:gridCol w="1728196"/>
                <a:gridCol w="4519898"/>
              </a:tblGrid>
              <a:tr h="640080">
                <a:tc>
                  <a:txBody>
                    <a:bodyPr/>
                    <a:lstStyle/>
                    <a:p>
                      <a:r>
                        <a:rPr sz="1700" i="0" b="1">
                          <a:solidFill>
                            <a:srgbClr val="FFFFFF"/>
                          </a:solidFill>
                          <a:latin typeface="Calibri"/>
                        </a:rPr>
                        <a:t>Receptor blocked</a:t>
                      </a:r>
                    </a:p>
                  </a:txBody>
                  <a:tcPr marL="109728" marR="109728" marT="45720" marB="45720" anchor="ctr">
                    <a:solidFill>
                      <a:srgbClr val="1B2A8C"/>
                    </a:solidFill>
                  </a:tcPr>
                </a:tc>
                <a:tc>
                  <a:txBody>
                    <a:bodyPr/>
                    <a:lstStyle/>
                    <a:p>
                      <a:r>
                        <a:rPr sz="1700" i="0" b="1">
                          <a:solidFill>
                            <a:srgbClr val="FFFFFF"/>
                          </a:solidFill>
                          <a:latin typeface="Calibri"/>
                        </a:rPr>
                        <a:t>Adverse effect</a:t>
                      </a:r>
                    </a:p>
                  </a:txBody>
                  <a:tcPr marL="109728" marR="109728" marT="45720" marB="45720" anchor="ctr">
                    <a:solidFill>
                      <a:srgbClr val="1B2A8C"/>
                    </a:solidFill>
                  </a:tcPr>
                </a:tc>
              </a:tr>
              <a:tr h="640080">
                <a:tc>
                  <a:txBody>
                    <a:bodyPr/>
                    <a:lstStyle/>
                    <a:p>
                      <a:r>
                        <a:rPr sz="1800" i="0" b="1">
                          <a:solidFill>
                            <a:srgbClr val="1A1F36"/>
                          </a:solidFill>
                          <a:latin typeface="Calibri"/>
                        </a:rPr>
                        <a:t>D2 (nigrostriatal)</a:t>
                      </a:r>
                    </a:p>
                  </a:txBody>
                  <a:tcPr marL="109728" marR="109728" marT="45720" marB="45720" anchor="ctr">
                    <a:solidFill>
                      <a:srgbClr val="FFFFFF"/>
                    </a:solidFill>
                  </a:tcPr>
                </a:tc>
                <a:tc>
                  <a:txBody>
                    <a:bodyPr/>
                    <a:lstStyle/>
                    <a:p>
                      <a:r>
                        <a:rPr sz="1800" i="0" b="0">
                          <a:solidFill>
                            <a:srgbClr val="1A1F36"/>
                          </a:solidFill>
                          <a:latin typeface="Calibri"/>
                        </a:rPr>
                        <a:t>Extrapyramidal effects</a:t>
                      </a:r>
                    </a:p>
                  </a:txBody>
                  <a:tcPr marL="109728" marR="109728" marT="45720" marB="45720" anchor="ctr">
                    <a:solidFill>
                      <a:srgbClr val="FFFFFF"/>
                    </a:solidFill>
                  </a:tcPr>
                </a:tc>
              </a:tr>
              <a:tr h="640080">
                <a:tc>
                  <a:txBody>
                    <a:bodyPr/>
                    <a:lstStyle/>
                    <a:p>
                      <a:r>
                        <a:rPr sz="1800" i="0" b="1">
                          <a:solidFill>
                            <a:srgbClr val="1A1F36"/>
                          </a:solidFill>
                          <a:latin typeface="Calibri"/>
                        </a:rPr>
                        <a:t>D2 (pituitary)</a:t>
                      </a:r>
                    </a:p>
                  </a:txBody>
                  <a:tcPr marL="109728" marR="109728" marT="45720" marB="45720" anchor="ctr">
                    <a:solidFill>
                      <a:srgbClr val="F1F2F8"/>
                    </a:solidFill>
                  </a:tcPr>
                </a:tc>
                <a:tc>
                  <a:txBody>
                    <a:bodyPr/>
                    <a:lstStyle/>
                    <a:p>
                      <a:r>
                        <a:rPr sz="1800" i="0" b="0">
                          <a:solidFill>
                            <a:srgbClr val="1A1F36"/>
                          </a:solidFill>
                          <a:latin typeface="Calibri"/>
                        </a:rPr>
                        <a:t>Raised prolactin: galactorrhoea, amenorrhoea, gynaecomastia, sexual dysfunction</a:t>
                      </a:r>
                    </a:p>
                  </a:txBody>
                  <a:tcPr marL="109728" marR="109728" marT="45720" marB="45720" anchor="ctr">
                    <a:solidFill>
                      <a:srgbClr val="F1F2F8"/>
                    </a:solidFill>
                  </a:tcPr>
                </a:tc>
              </a:tr>
              <a:tr h="640080">
                <a:tc>
                  <a:txBody>
                    <a:bodyPr/>
                    <a:lstStyle/>
                    <a:p>
                      <a:r>
                        <a:rPr sz="1800" i="0" b="1">
                          <a:solidFill>
                            <a:srgbClr val="1A1F36"/>
                          </a:solidFill>
                          <a:latin typeface="Calibri"/>
                        </a:rPr>
                        <a:t>Muscarinic M1</a:t>
                      </a:r>
                    </a:p>
                  </a:txBody>
                  <a:tcPr marL="109728" marR="109728" marT="45720" marB="45720" anchor="ctr">
                    <a:solidFill>
                      <a:srgbClr val="FFFFFF"/>
                    </a:solidFill>
                  </a:tcPr>
                </a:tc>
                <a:tc>
                  <a:txBody>
                    <a:bodyPr/>
                    <a:lstStyle/>
                    <a:p>
                      <a:r>
                        <a:rPr sz="1800" i="0" b="0">
                          <a:solidFill>
                            <a:srgbClr val="1A1F36"/>
                          </a:solidFill>
                          <a:latin typeface="Calibri"/>
                        </a:rPr>
                        <a:t>Dry mouth, constipation, urinary retention, blurred vision, confusion</a:t>
                      </a:r>
                    </a:p>
                  </a:txBody>
                  <a:tcPr marL="109728" marR="109728" marT="45720" marB="45720" anchor="ctr">
                    <a:solidFill>
                      <a:srgbClr val="FFFFFF"/>
                    </a:solidFill>
                  </a:tcPr>
                </a:tc>
              </a:tr>
              <a:tr h="640080">
                <a:tc>
                  <a:txBody>
                    <a:bodyPr/>
                    <a:lstStyle/>
                    <a:p>
                      <a:r>
                        <a:rPr sz="1800" i="0" b="1">
                          <a:solidFill>
                            <a:srgbClr val="1A1F36"/>
                          </a:solidFill>
                          <a:latin typeface="Calibri"/>
                        </a:rPr>
                        <a:t>Histamine H1</a:t>
                      </a:r>
                    </a:p>
                  </a:txBody>
                  <a:tcPr marL="109728" marR="109728" marT="45720" marB="45720" anchor="ctr">
                    <a:solidFill>
                      <a:srgbClr val="F1F2F8"/>
                    </a:solidFill>
                  </a:tcPr>
                </a:tc>
                <a:tc>
                  <a:txBody>
                    <a:bodyPr/>
                    <a:lstStyle/>
                    <a:p>
                      <a:r>
                        <a:rPr sz="1800" i="0" b="0">
                          <a:solidFill>
                            <a:srgbClr val="1A1F36"/>
                          </a:solidFill>
                          <a:latin typeface="Calibri"/>
                        </a:rPr>
                        <a:t>Sedation, weight gain</a:t>
                      </a:r>
                    </a:p>
                  </a:txBody>
                  <a:tcPr marL="109728" marR="109728" marT="45720" marB="45720" anchor="ctr">
                    <a:solidFill>
                      <a:srgbClr val="F1F2F8"/>
                    </a:solidFill>
                  </a:tcPr>
                </a:tc>
              </a:tr>
              <a:tr h="640080">
                <a:tc>
                  <a:txBody>
                    <a:bodyPr/>
                    <a:lstStyle/>
                    <a:p>
                      <a:r>
                        <a:rPr sz="1800" i="0" b="1">
                          <a:solidFill>
                            <a:srgbClr val="1A1F36"/>
                          </a:solidFill>
                          <a:latin typeface="Calibri"/>
                        </a:rPr>
                        <a:t>α1-adrenoceptor</a:t>
                      </a:r>
                    </a:p>
                  </a:txBody>
                  <a:tcPr marL="109728" marR="109728" marT="45720" marB="45720" anchor="ctr">
                    <a:solidFill>
                      <a:srgbClr val="FFFFFF"/>
                    </a:solidFill>
                  </a:tcPr>
                </a:tc>
                <a:tc>
                  <a:txBody>
                    <a:bodyPr/>
                    <a:lstStyle/>
                    <a:p>
                      <a:r>
                        <a:rPr sz="1800" i="0" b="0">
                          <a:solidFill>
                            <a:srgbClr val="1A1F36"/>
                          </a:solidFill>
                          <a:latin typeface="Calibri"/>
                        </a:rPr>
                        <a:t>Orthostatic hypotension, dizziness, sexual dysfunction</a:t>
                      </a:r>
                    </a:p>
                  </a:txBody>
                  <a:tcPr marL="109728" marR="109728" marT="45720" marB="4572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First-Generation (Typical) Antipsychotics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09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1">
                <a:solidFill>
                  <a:srgbClr val="1A1F36"/>
                </a:solidFill>
                <a:latin typeface="Calibri"/>
              </a:rPr>
              <a:t>Therapeutic uses.</a:t>
            </a:r>
          </a:p>
        </p:txBody>
      </p:sp>
      <p:sp>
        <p:nvSpPr>
          <p:cNvPr id="9" name="Oval 8"/>
          <p:cNvSpPr/>
          <p:nvPr/>
        </p:nvSpPr>
        <p:spPr>
          <a:xfrm>
            <a:off x="548640" y="225399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272284"/>
            <a:ext cx="10500055" cy="808863"/>
          </a:xfrm>
          <a:prstGeom prst="rect">
            <a:avLst/>
          </a:prstGeom>
          <a:noFill/>
        </p:spPr>
        <p:txBody>
          <a:bodyPr wrap="square" anchor="t" lIns="0" rIns="0" tIns="0" bIns="0">
            <a:spAutoFit/>
          </a:bodyPr>
          <a:lstStyle/>
          <a:p>
            <a:r>
              <a:rPr sz="2100" i="0" b="0">
                <a:solidFill>
                  <a:srgbClr val="1A1F36"/>
                </a:solidFill>
                <a:latin typeface="Calibri"/>
              </a:rPr>
              <a:t>Schizophrenia and other psychoses (mainly positive symptoms).</a:t>
            </a:r>
          </a:p>
        </p:txBody>
      </p:sp>
      <p:sp>
        <p:nvSpPr>
          <p:cNvPr id="11" name="Oval 10"/>
          <p:cNvSpPr/>
          <p:nvPr/>
        </p:nvSpPr>
        <p:spPr>
          <a:xfrm>
            <a:off x="548640" y="310857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126867"/>
            <a:ext cx="10500055" cy="808863"/>
          </a:xfrm>
          <a:prstGeom prst="rect">
            <a:avLst/>
          </a:prstGeom>
          <a:noFill/>
        </p:spPr>
        <p:txBody>
          <a:bodyPr wrap="square" anchor="t" lIns="0" rIns="0" tIns="0" bIns="0">
            <a:spAutoFit/>
          </a:bodyPr>
          <a:lstStyle/>
          <a:p>
            <a:r>
              <a:rPr sz="2100" i="0" b="0">
                <a:solidFill>
                  <a:srgbClr val="1A1F36"/>
                </a:solidFill>
                <a:latin typeface="Calibri"/>
              </a:rPr>
              <a:t>Acute mania and severe agitation.</a:t>
            </a:r>
          </a:p>
        </p:txBody>
      </p:sp>
      <p:sp>
        <p:nvSpPr>
          <p:cNvPr id="13" name="Oval 12"/>
          <p:cNvSpPr/>
          <p:nvPr/>
        </p:nvSpPr>
        <p:spPr>
          <a:xfrm>
            <a:off x="548640" y="396316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3981450"/>
            <a:ext cx="10500055" cy="808863"/>
          </a:xfrm>
          <a:prstGeom prst="rect">
            <a:avLst/>
          </a:prstGeom>
          <a:noFill/>
        </p:spPr>
        <p:txBody>
          <a:bodyPr wrap="square" anchor="t" lIns="0" rIns="0" tIns="0" bIns="0">
            <a:spAutoFit/>
          </a:bodyPr>
          <a:lstStyle/>
          <a:p>
            <a:r>
              <a:rPr sz="2100" i="0" b="0">
                <a:solidFill>
                  <a:srgbClr val="1A1F36"/>
                </a:solidFill>
                <a:latin typeface="Calibri"/>
              </a:rPr>
              <a:t>Severe nausea and vomiting (for example droperidol, prochlorperazine).</a:t>
            </a:r>
          </a:p>
        </p:txBody>
      </p:sp>
      <p:sp>
        <p:nvSpPr>
          <p:cNvPr id="15" name="Oval 14"/>
          <p:cNvSpPr/>
          <p:nvPr/>
        </p:nvSpPr>
        <p:spPr>
          <a:xfrm>
            <a:off x="548640" y="481774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6" name="TextBox 15"/>
          <p:cNvSpPr txBox="1"/>
          <p:nvPr/>
        </p:nvSpPr>
        <p:spPr>
          <a:xfrm>
            <a:off x="1143000" y="4836033"/>
            <a:ext cx="10500055" cy="808863"/>
          </a:xfrm>
          <a:prstGeom prst="rect">
            <a:avLst/>
          </a:prstGeom>
          <a:noFill/>
        </p:spPr>
        <p:txBody>
          <a:bodyPr wrap="square" anchor="t" lIns="0" rIns="0" tIns="0" bIns="0">
            <a:spAutoFit/>
          </a:bodyPr>
          <a:lstStyle/>
          <a:p>
            <a:r>
              <a:rPr sz="2100" i="0" b="0">
                <a:solidFill>
                  <a:srgbClr val="1A1F36"/>
                </a:solidFill>
                <a:latin typeface="Calibri"/>
              </a:rPr>
              <a:t>Intractable hiccup (chlorpromazine).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Extrapyramidal Effects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10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Extrapyramidal effects (EPS) come from D2 block in the nigrostriatal pathway. Acetylcholine then becomes relatively dominant. Learn them by time of onset.</a:t>
            </a:r>
          </a:p>
        </p:txBody>
      </p:sp>
      <p:graphicFrame>
        <p:nvGraphicFramePr>
          <p:cNvPr id="9" name="Table 8"/>
          <p:cNvGraphicFramePr>
            <a:graphicFrameLocks noGrp="1"/>
          </p:cNvGraphicFramePr>
          <p:nvPr/>
        </p:nvGraphicFramePr>
        <p:xfrm>
          <a:off x="548640" y="2532887"/>
          <a:ext cx="11094414" cy="3200400"/>
        </p:xfrm>
        <a:graphic>
          <a:graphicData uri="http://schemas.openxmlformats.org/drawingml/2006/table">
            <a:tbl>
              <a:tblPr firstRow="0" bandRow="0">
                <a:tableStyleId>{5C22544A-7EE6-4342-B048-85BDC9FD1C3A}</a:tableStyleId>
              </a:tblPr>
              <a:tblGrid>
                <a:gridCol w="1559215"/>
                <a:gridCol w="1379305"/>
                <a:gridCol w="4077947"/>
                <a:gridCol w="4077947"/>
              </a:tblGrid>
              <a:tr h="640080">
                <a:tc>
                  <a:txBody>
                    <a:bodyPr/>
                    <a:lstStyle/>
                    <a:p>
                      <a:r>
                        <a:rPr sz="1700" i="0" b="1">
                          <a:solidFill>
                            <a:srgbClr val="FFFFFF"/>
                          </a:solidFill>
                          <a:latin typeface="Calibri"/>
                        </a:rPr>
                        <a:t>Effect</a:t>
                      </a:r>
                    </a:p>
                  </a:txBody>
                  <a:tcPr marL="109728" marR="109728" marT="45720" marB="45720" anchor="ctr">
                    <a:solidFill>
                      <a:srgbClr val="1B2A8C"/>
                    </a:solidFill>
                  </a:tcPr>
                </a:tc>
                <a:tc>
                  <a:txBody>
                    <a:bodyPr/>
                    <a:lstStyle/>
                    <a:p>
                      <a:r>
                        <a:rPr sz="1700" i="0" b="1">
                          <a:solidFill>
                            <a:srgbClr val="FFFFFF"/>
                          </a:solidFill>
                          <a:latin typeface="Calibri"/>
                        </a:rPr>
                        <a:t>Onset</a:t>
                      </a:r>
                    </a:p>
                  </a:txBody>
                  <a:tcPr marL="109728" marR="109728" marT="45720" marB="45720" anchor="ctr">
                    <a:solidFill>
                      <a:srgbClr val="1B2A8C"/>
                    </a:solidFill>
                  </a:tcPr>
                </a:tc>
                <a:tc>
                  <a:txBody>
                    <a:bodyPr/>
                    <a:lstStyle/>
                    <a:p>
                      <a:r>
                        <a:rPr sz="1700" i="0" b="1">
                          <a:solidFill>
                            <a:srgbClr val="FFFFFF"/>
                          </a:solidFill>
                          <a:latin typeface="Calibri"/>
                        </a:rPr>
                        <a:t>Features</a:t>
                      </a:r>
                    </a:p>
                  </a:txBody>
                  <a:tcPr marL="109728" marR="109728" marT="45720" marB="45720" anchor="ctr">
                    <a:solidFill>
                      <a:srgbClr val="1B2A8C"/>
                    </a:solidFill>
                  </a:tcPr>
                </a:tc>
                <a:tc>
                  <a:txBody>
                    <a:bodyPr/>
                    <a:lstStyle/>
                    <a:p>
                      <a:r>
                        <a:rPr sz="1700" i="0" b="1">
                          <a:solidFill>
                            <a:srgbClr val="FFFFFF"/>
                          </a:solidFill>
                          <a:latin typeface="Calibri"/>
                        </a:rPr>
                        <a:t>Management</a:t>
                      </a:r>
                    </a:p>
                  </a:txBody>
                  <a:tcPr marL="109728" marR="109728" marT="45720" marB="45720" anchor="ctr">
                    <a:solidFill>
                      <a:srgbClr val="1B2A8C"/>
                    </a:solidFill>
                  </a:tcPr>
                </a:tc>
              </a:tr>
              <a:tr h="640080">
                <a:tc>
                  <a:txBody>
                    <a:bodyPr/>
                    <a:lstStyle/>
                    <a:p>
                      <a:r>
                        <a:rPr sz="1800" i="0" b="1">
                          <a:solidFill>
                            <a:srgbClr val="1A1F36"/>
                          </a:solidFill>
                          <a:latin typeface="Calibri"/>
                        </a:rPr>
                        <a:t>Acute dystonia</a:t>
                      </a:r>
                    </a:p>
                  </a:txBody>
                  <a:tcPr marL="109728" marR="109728" marT="45720" marB="45720" anchor="ctr">
                    <a:solidFill>
                      <a:srgbClr val="FFFFFF"/>
                    </a:solidFill>
                  </a:tcPr>
                </a:tc>
                <a:tc>
                  <a:txBody>
                    <a:bodyPr/>
                    <a:lstStyle/>
                    <a:p>
                      <a:r>
                        <a:rPr sz="1800" i="0" b="0">
                          <a:solidFill>
                            <a:srgbClr val="1A1F36"/>
                          </a:solidFill>
                          <a:latin typeface="Calibri"/>
                        </a:rPr>
                        <a:t>Hours to days</a:t>
                      </a:r>
                    </a:p>
                  </a:txBody>
                  <a:tcPr marL="109728" marR="109728" marT="45720" marB="45720" anchor="ctr">
                    <a:solidFill>
                      <a:srgbClr val="FFFFFF"/>
                    </a:solidFill>
                  </a:tcPr>
                </a:tc>
                <a:tc>
                  <a:txBody>
                    <a:bodyPr/>
                    <a:lstStyle/>
                    <a:p>
                      <a:r>
                        <a:rPr sz="1800" i="0" b="0">
                          <a:solidFill>
                            <a:srgbClr val="1A1F36"/>
                          </a:solidFill>
                          <a:latin typeface="Calibri"/>
                        </a:rPr>
                        <a:t>Painful spasm of neck, jaw, tongue or eyes (oculogyric crisis)</a:t>
                      </a:r>
                    </a:p>
                  </a:txBody>
                  <a:tcPr marL="109728" marR="109728" marT="45720" marB="45720" anchor="ctr">
                    <a:solidFill>
                      <a:srgbClr val="FFFFFF"/>
                    </a:solidFill>
                  </a:tcPr>
                </a:tc>
                <a:tc>
                  <a:txBody>
                    <a:bodyPr/>
                    <a:lstStyle/>
                    <a:p>
                      <a:r>
                        <a:rPr sz="1800" i="0" b="0">
                          <a:solidFill>
                            <a:srgbClr val="1A1F36"/>
                          </a:solidFill>
                          <a:latin typeface="Calibri"/>
                        </a:rPr>
                        <a:t>IM or IV anticholinergic (procyclidine, biperiden); reversible</a:t>
                      </a:r>
                    </a:p>
                  </a:txBody>
                  <a:tcPr marL="109728" marR="109728" marT="45720" marB="45720" anchor="ctr">
                    <a:solidFill>
                      <a:srgbClr val="FFFFFF"/>
                    </a:solidFill>
                  </a:tcPr>
                </a:tc>
              </a:tr>
              <a:tr h="640080">
                <a:tc>
                  <a:txBody>
                    <a:bodyPr/>
                    <a:lstStyle/>
                    <a:p>
                      <a:r>
                        <a:rPr sz="1800" i="0" b="1">
                          <a:solidFill>
                            <a:srgbClr val="1A1F36"/>
                          </a:solidFill>
                          <a:latin typeface="Calibri"/>
                        </a:rPr>
                        <a:t>Akathisia</a:t>
                      </a:r>
                    </a:p>
                  </a:txBody>
                  <a:tcPr marL="109728" marR="109728" marT="45720" marB="45720" anchor="ctr">
                    <a:solidFill>
                      <a:srgbClr val="F1F2F8"/>
                    </a:solidFill>
                  </a:tcPr>
                </a:tc>
                <a:tc>
                  <a:txBody>
                    <a:bodyPr/>
                    <a:lstStyle/>
                    <a:p>
                      <a:r>
                        <a:rPr sz="1800" i="0" b="0">
                          <a:solidFill>
                            <a:srgbClr val="1A1F36"/>
                          </a:solidFill>
                          <a:latin typeface="Calibri"/>
                        </a:rPr>
                        <a:t>Days to weeks</a:t>
                      </a:r>
                    </a:p>
                  </a:txBody>
                  <a:tcPr marL="109728" marR="109728" marT="45720" marB="45720" anchor="ctr">
                    <a:solidFill>
                      <a:srgbClr val="F1F2F8"/>
                    </a:solidFill>
                  </a:tcPr>
                </a:tc>
                <a:tc>
                  <a:txBody>
                    <a:bodyPr/>
                    <a:lstStyle/>
                    <a:p>
                      <a:r>
                        <a:rPr sz="1800" i="0" b="0">
                          <a:solidFill>
                            <a:srgbClr val="1A1F36"/>
                          </a:solidFill>
                          <a:latin typeface="Calibri"/>
                        </a:rPr>
                        <a:t>Inner restlessness, cannot sit still</a:t>
                      </a:r>
                    </a:p>
                  </a:txBody>
                  <a:tcPr marL="109728" marR="109728" marT="45720" marB="45720" anchor="ctr">
                    <a:solidFill>
                      <a:srgbClr val="F1F2F8"/>
                    </a:solidFill>
                  </a:tcPr>
                </a:tc>
                <a:tc>
                  <a:txBody>
                    <a:bodyPr/>
                    <a:lstStyle/>
                    <a:p>
                      <a:r>
                        <a:rPr sz="1800" i="0" b="0">
                          <a:solidFill>
                            <a:srgbClr val="1A1F36"/>
                          </a:solidFill>
                          <a:latin typeface="Calibri"/>
                        </a:rPr>
                        <a:t>Reduce dose; propranolol; switch drug</a:t>
                      </a:r>
                    </a:p>
                  </a:txBody>
                  <a:tcPr marL="109728" marR="109728" marT="45720" marB="45720" anchor="ctr">
                    <a:solidFill>
                      <a:srgbClr val="F1F2F8"/>
                    </a:solidFill>
                  </a:tcPr>
                </a:tc>
              </a:tr>
              <a:tr h="640080">
                <a:tc>
                  <a:txBody>
                    <a:bodyPr/>
                    <a:lstStyle/>
                    <a:p>
                      <a:r>
                        <a:rPr sz="1800" i="0" b="1">
                          <a:solidFill>
                            <a:srgbClr val="1A1F36"/>
                          </a:solidFill>
                          <a:latin typeface="Calibri"/>
                        </a:rPr>
                        <a:t>Parkinsonism</a:t>
                      </a:r>
                    </a:p>
                  </a:txBody>
                  <a:tcPr marL="109728" marR="109728" marT="45720" marB="45720" anchor="ctr">
                    <a:solidFill>
                      <a:srgbClr val="FFFFFF"/>
                    </a:solidFill>
                  </a:tcPr>
                </a:tc>
                <a:tc>
                  <a:txBody>
                    <a:bodyPr/>
                    <a:lstStyle/>
                    <a:p>
                      <a:r>
                        <a:rPr sz="1800" i="0" b="0">
                          <a:solidFill>
                            <a:srgbClr val="1A1F36"/>
                          </a:solidFill>
                          <a:latin typeface="Calibri"/>
                        </a:rPr>
                        <a:t>Weeks</a:t>
                      </a:r>
                    </a:p>
                  </a:txBody>
                  <a:tcPr marL="109728" marR="109728" marT="45720" marB="45720" anchor="ctr">
                    <a:solidFill>
                      <a:srgbClr val="FFFFFF"/>
                    </a:solidFill>
                  </a:tcPr>
                </a:tc>
                <a:tc>
                  <a:txBody>
                    <a:bodyPr/>
                    <a:lstStyle/>
                    <a:p>
                      <a:r>
                        <a:rPr sz="1800" i="0" b="0">
                          <a:solidFill>
                            <a:srgbClr val="1A1F36"/>
                          </a:solidFill>
                          <a:latin typeface="Calibri"/>
                        </a:rPr>
                        <a:t>Tremor, rigidity, slow movement</a:t>
                      </a:r>
                    </a:p>
                  </a:txBody>
                  <a:tcPr marL="109728" marR="109728" marT="45720" marB="45720" anchor="ctr">
                    <a:solidFill>
                      <a:srgbClr val="FFFFFF"/>
                    </a:solidFill>
                  </a:tcPr>
                </a:tc>
                <a:tc>
                  <a:txBody>
                    <a:bodyPr/>
                    <a:lstStyle/>
                    <a:p>
                      <a:r>
                        <a:rPr sz="1800" i="0" b="0">
                          <a:solidFill>
                            <a:srgbClr val="1A1F36"/>
                          </a:solidFill>
                          <a:latin typeface="Calibri"/>
                        </a:rPr>
                        <a:t>Reduce dose or switch; oral anticholinergic short term</a:t>
                      </a:r>
                    </a:p>
                  </a:txBody>
                  <a:tcPr marL="109728" marR="109728" marT="45720" marB="45720" anchor="ctr">
                    <a:solidFill>
                      <a:srgbClr val="FFFFFF"/>
                    </a:solidFill>
                  </a:tcPr>
                </a:tc>
              </a:tr>
              <a:tr h="640080">
                <a:tc>
                  <a:txBody>
                    <a:bodyPr/>
                    <a:lstStyle/>
                    <a:p>
                      <a:r>
                        <a:rPr sz="1800" i="0" b="1">
                          <a:solidFill>
                            <a:srgbClr val="1A1F36"/>
                          </a:solidFill>
                          <a:latin typeface="Calibri"/>
                        </a:rPr>
                        <a:t>Tardive dyskinesia</a:t>
                      </a:r>
                    </a:p>
                  </a:txBody>
                  <a:tcPr marL="109728" marR="109728" marT="45720" marB="45720" anchor="ctr">
                    <a:solidFill>
                      <a:srgbClr val="F1F2F8"/>
                    </a:solidFill>
                  </a:tcPr>
                </a:tc>
                <a:tc>
                  <a:txBody>
                    <a:bodyPr/>
                    <a:lstStyle/>
                    <a:p>
                      <a:r>
                        <a:rPr sz="1800" i="0" b="0">
                          <a:solidFill>
                            <a:srgbClr val="1A1F36"/>
                          </a:solidFill>
                          <a:latin typeface="Calibri"/>
                        </a:rPr>
                        <a:t>Months to years</a:t>
                      </a:r>
                    </a:p>
                  </a:txBody>
                  <a:tcPr marL="109728" marR="109728" marT="45720" marB="45720" anchor="ctr">
                    <a:solidFill>
                      <a:srgbClr val="F1F2F8"/>
                    </a:solidFill>
                  </a:tcPr>
                </a:tc>
                <a:tc>
                  <a:txBody>
                    <a:bodyPr/>
                    <a:lstStyle/>
                    <a:p>
                      <a:r>
                        <a:rPr sz="1800" i="0" b="0">
                          <a:solidFill>
                            <a:srgbClr val="1A1F36"/>
                          </a:solidFill>
                          <a:latin typeface="Calibri"/>
                        </a:rPr>
                        <a:t>Involuntary movements of lips, tongue and face</a:t>
                      </a:r>
                    </a:p>
                  </a:txBody>
                  <a:tcPr marL="109728" marR="109728" marT="45720" marB="45720" anchor="ctr">
                    <a:solidFill>
                      <a:srgbClr val="F1F2F8"/>
                    </a:solidFill>
                  </a:tcPr>
                </a:tc>
                <a:tc>
                  <a:txBody>
                    <a:bodyPr/>
                    <a:lstStyle/>
                    <a:p>
                      <a:r>
                        <a:rPr sz="1800" i="0" b="0">
                          <a:solidFill>
                            <a:srgbClr val="1A1F36"/>
                          </a:solidFill>
                          <a:latin typeface="Calibri"/>
                        </a:rPr>
                        <a:t>Stop anticholinergics; reduce or switch (clozapine); VMAT2 inhibitor; may be irreversible</a:t>
                      </a:r>
                    </a:p>
                  </a:txBody>
                  <a:tcPr marL="109728" marR="109728" marT="45720" marB="45720" anchor="ctr">
                    <a:solidFill>
                      <a:srgbClr val="F1F2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Extrapyramidal Effects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11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400" i="0" b="0">
                <a:solidFill>
                  <a:srgbClr val="1A1F36"/>
                </a:solidFill>
                <a:latin typeface="Calibri"/>
              </a:rPr>
              <a:t>Anticholinergic drugs treat dystonia and parkinsonism but can worsen tardive dyskinesia. Do not add them routinely. Review the need for them regularly.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Extrapyramidal Effects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12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D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188720" cy="347472"/>
          </a:xfrm>
          <a:prstGeom prst="roundRect">
            <a:avLst>
              <a:gd name="adj" fmla="val 50000"/>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1A1F36"/>
                </a:solidFill>
                <a:latin typeface="Calibri"/>
              </a:rPr>
              <a:t>Acute dystonia is the earliest EPS and is reversible. Tardive dyskinesia is the latest and may be permanent.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Neuroleptic Malignant Syndrome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13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0">
                <a:solidFill>
                  <a:srgbClr val="1A1F36"/>
                </a:solidFill>
                <a:latin typeface="Calibri"/>
              </a:rPr>
              <a:t>Neuroleptic malignant syndrome (NMS) is rare but can be fatal. It can occur with any antipsychotic, usually early in treatment or after a dose increase.</a:t>
            </a:r>
          </a:p>
          <a:p>
            <a:pPr>
              <a:spcAft>
                <a:spcPts val="800"/>
              </a:spcAft>
            </a:pPr>
            <a:r>
              <a:rPr sz="1700" i="0" b="1">
                <a:solidFill>
                  <a:srgbClr val="1A1F36"/>
                </a:solidFill>
                <a:latin typeface="Calibri"/>
              </a:rPr>
              <a:t>Features:</a:t>
            </a:r>
          </a:p>
          <a:p>
            <a:pPr>
              <a:spcAft>
                <a:spcPts val="800"/>
              </a:spcAft>
            </a:pPr>
            <a:r>
              <a:rPr sz="1700" i="0" b="1">
                <a:solidFill>
                  <a:srgbClr val="1A1F36"/>
                </a:solidFill>
                <a:latin typeface="Calibri"/>
              </a:rPr>
              <a:t>Management:</a:t>
            </a:r>
            <a:r>
              <a:rPr sz="1700" i="0" b="0">
                <a:solidFill>
                  <a:srgbClr val="1A1F36"/>
                </a:solidFill>
                <a:latin typeface="Calibri"/>
              </a:rPr>
              <a:t> stop the antipsychotic at once. Give cooling, IV fluids and supportive care in hospital. Dantrolene or bromocriptine may be used in severe cases.</a:t>
            </a:r>
          </a:p>
        </p:txBody>
      </p:sp>
      <p:sp>
        <p:nvSpPr>
          <p:cNvPr id="9" name="Oval 8"/>
          <p:cNvSpPr/>
          <p:nvPr/>
        </p:nvSpPr>
        <p:spPr>
          <a:xfrm>
            <a:off x="5394959"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5989320" y="1591056"/>
            <a:ext cx="5653735" cy="677799"/>
          </a:xfrm>
          <a:prstGeom prst="rect">
            <a:avLst/>
          </a:prstGeom>
          <a:noFill/>
        </p:spPr>
        <p:txBody>
          <a:bodyPr wrap="square" anchor="t" lIns="0" rIns="0" tIns="0" bIns="0">
            <a:spAutoFit/>
          </a:bodyPr>
          <a:lstStyle/>
          <a:p>
            <a:r>
              <a:rPr sz="2100" i="0" b="0">
                <a:solidFill>
                  <a:srgbClr val="1A1F36"/>
                </a:solidFill>
                <a:latin typeface="Calibri"/>
              </a:rPr>
              <a:t>High fever.</a:t>
            </a:r>
          </a:p>
        </p:txBody>
      </p:sp>
      <p:sp>
        <p:nvSpPr>
          <p:cNvPr id="11" name="Oval 10"/>
          <p:cNvSpPr/>
          <p:nvPr/>
        </p:nvSpPr>
        <p:spPr>
          <a:xfrm>
            <a:off x="5394959" y="2296287"/>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5989320" y="2314575"/>
            <a:ext cx="5653735" cy="677799"/>
          </a:xfrm>
          <a:prstGeom prst="rect">
            <a:avLst/>
          </a:prstGeom>
          <a:noFill/>
        </p:spPr>
        <p:txBody>
          <a:bodyPr wrap="square" anchor="t" lIns="0" rIns="0" tIns="0" bIns="0">
            <a:spAutoFit/>
          </a:bodyPr>
          <a:lstStyle/>
          <a:p>
            <a:r>
              <a:rPr sz="2100" i="0" b="0">
                <a:solidFill>
                  <a:srgbClr val="1A1F36"/>
                </a:solidFill>
                <a:latin typeface="Calibri"/>
              </a:rPr>
              <a:t>"Lead-pipe" muscle rigidity.</a:t>
            </a:r>
          </a:p>
        </p:txBody>
      </p:sp>
      <p:sp>
        <p:nvSpPr>
          <p:cNvPr id="13" name="Oval 12"/>
          <p:cNvSpPr/>
          <p:nvPr/>
        </p:nvSpPr>
        <p:spPr>
          <a:xfrm>
            <a:off x="5394959" y="301980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5989320" y="3038094"/>
            <a:ext cx="5653735" cy="1011173"/>
          </a:xfrm>
          <a:prstGeom prst="rect">
            <a:avLst/>
          </a:prstGeom>
          <a:noFill/>
        </p:spPr>
        <p:txBody>
          <a:bodyPr wrap="square" anchor="t" lIns="0" rIns="0" tIns="0" bIns="0">
            <a:spAutoFit/>
          </a:bodyPr>
          <a:lstStyle/>
          <a:p>
            <a:r>
              <a:rPr sz="2100" i="0" b="0">
                <a:solidFill>
                  <a:srgbClr val="1A1F36"/>
                </a:solidFill>
                <a:latin typeface="Calibri"/>
              </a:rPr>
              <a:t>Altered mental state: confusion, reduced consciousness.</a:t>
            </a:r>
          </a:p>
        </p:txBody>
      </p:sp>
      <p:sp>
        <p:nvSpPr>
          <p:cNvPr id="15" name="Oval 14"/>
          <p:cNvSpPr/>
          <p:nvPr/>
        </p:nvSpPr>
        <p:spPr>
          <a:xfrm>
            <a:off x="5394959" y="407669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6" name="TextBox 15"/>
          <p:cNvSpPr txBox="1"/>
          <p:nvPr/>
        </p:nvSpPr>
        <p:spPr>
          <a:xfrm>
            <a:off x="5989320" y="4094987"/>
            <a:ext cx="5653735" cy="1011173"/>
          </a:xfrm>
          <a:prstGeom prst="rect">
            <a:avLst/>
          </a:prstGeom>
          <a:noFill/>
        </p:spPr>
        <p:txBody>
          <a:bodyPr wrap="square" anchor="t" lIns="0" rIns="0" tIns="0" bIns="0">
            <a:spAutoFit/>
          </a:bodyPr>
          <a:lstStyle/>
          <a:p>
            <a:r>
              <a:rPr sz="2100" i="0" b="0">
                <a:solidFill>
                  <a:srgbClr val="1A1F36"/>
                </a:solidFill>
                <a:latin typeface="Calibri"/>
              </a:rPr>
              <a:t>Autonomic instability: labile or raised blood pressure, tachycardia, sweating.</a:t>
            </a:r>
          </a:p>
        </p:txBody>
      </p:sp>
      <p:sp>
        <p:nvSpPr>
          <p:cNvPr id="17" name="Oval 16"/>
          <p:cNvSpPr/>
          <p:nvPr/>
        </p:nvSpPr>
        <p:spPr>
          <a:xfrm>
            <a:off x="5394959" y="513359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8" name="TextBox 17"/>
          <p:cNvSpPr txBox="1"/>
          <p:nvPr/>
        </p:nvSpPr>
        <p:spPr>
          <a:xfrm>
            <a:off x="5989320" y="5151882"/>
            <a:ext cx="5653735" cy="1011173"/>
          </a:xfrm>
          <a:prstGeom prst="rect">
            <a:avLst/>
          </a:prstGeom>
          <a:noFill/>
        </p:spPr>
        <p:txBody>
          <a:bodyPr wrap="square" anchor="t" lIns="0" rIns="0" tIns="0" bIns="0">
            <a:spAutoFit/>
          </a:bodyPr>
          <a:lstStyle/>
          <a:p>
            <a:r>
              <a:rPr sz="2100" i="0" b="0">
                <a:solidFill>
                  <a:srgbClr val="1A1F36"/>
                </a:solidFill>
                <a:latin typeface="Calibri"/>
              </a:rPr>
              <a:t>Raised creatine kinase (CK) from muscle breakdown; risk of kidney injury.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Neuroleptic Malignant Syndrome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14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300" i="0" b="0">
                <a:solidFill>
                  <a:srgbClr val="1A1F36"/>
                </a:solidFill>
                <a:latin typeface="Calibri"/>
              </a:rPr>
              <a:t>A patient on an antipsychotic with fever and rigidity needs urgent medical review. Do not restart the drug until NMS has resolved and a specialist has advised.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2700" i="0" b="1">
                <a:solidFill>
                  <a:srgbClr val="1A1F36"/>
                </a:solidFill>
                <a:latin typeface="Cambria"/>
              </a:rPr>
              <a:t>Second-Generation (Atypical) Antipsychotics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15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1">
                <a:solidFill>
                  <a:srgbClr val="1A1F36"/>
                </a:solidFill>
                <a:latin typeface="Calibri"/>
              </a:rPr>
              <a:t>Members:</a:t>
            </a:r>
            <a:r>
              <a:rPr sz="1700" i="0" b="0">
                <a:solidFill>
                  <a:srgbClr val="1A1F36"/>
                </a:solidFill>
                <a:latin typeface="Calibri"/>
              </a:rPr>
              <a:t> risperidone, olanzapine, quetiapine, clozapine, and the partial agonists aripiprazole, brexpiprazole and cariprazine.</a:t>
            </a:r>
          </a:p>
          <a:p>
            <a:pPr>
              <a:spcAft>
                <a:spcPts val="800"/>
              </a:spcAft>
            </a:pPr>
            <a:r>
              <a:rPr sz="1700" i="0" b="1">
                <a:solidFill>
                  <a:srgbClr val="1A1F36"/>
                </a:solidFill>
                <a:latin typeface="Calibri"/>
              </a:rPr>
              <a:t>Mechanism.</a:t>
            </a:r>
            <a:r>
              <a:rPr sz="1700" i="0" b="0">
                <a:solidFill>
                  <a:srgbClr val="1A1F36"/>
                </a:solidFill>
                <a:latin typeface="Calibri"/>
              </a:rPr>
              <a:t> Most second-generation antipsychotics (SGAs) block both D2 and 5-HT2A receptors. 5-HT2A block increases dopamine release in the nigrostriatal and mesocortical pathways. This has two results:</a:t>
            </a:r>
          </a:p>
        </p:txBody>
      </p:sp>
      <p:sp>
        <p:nvSpPr>
          <p:cNvPr id="9" name="Oval 8"/>
          <p:cNvSpPr/>
          <p:nvPr/>
        </p:nvSpPr>
        <p:spPr>
          <a:xfrm>
            <a:off x="5394959"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5989320" y="1591056"/>
            <a:ext cx="5653735" cy="1142237"/>
          </a:xfrm>
          <a:prstGeom prst="rect">
            <a:avLst/>
          </a:prstGeom>
          <a:noFill/>
        </p:spPr>
        <p:txBody>
          <a:bodyPr wrap="square" anchor="t" lIns="0" rIns="0" tIns="0" bIns="0">
            <a:spAutoFit/>
          </a:bodyPr>
          <a:lstStyle/>
          <a:p>
            <a:r>
              <a:rPr sz="2100" i="0" b="1">
                <a:solidFill>
                  <a:srgbClr val="1A1F36"/>
                </a:solidFill>
                <a:latin typeface="Calibri"/>
              </a:rPr>
              <a:t>Fewer EPS</a:t>
            </a:r>
            <a:r>
              <a:rPr sz="2100" i="0" b="0">
                <a:solidFill>
                  <a:srgbClr val="1A1F36"/>
                </a:solidFill>
                <a:latin typeface="Calibri"/>
              </a:rPr>
              <a:t>, because dopamine is partly restored in the nigrostriatal pathway.</a:t>
            </a:r>
          </a:p>
        </p:txBody>
      </p:sp>
      <p:sp>
        <p:nvSpPr>
          <p:cNvPr id="11" name="Oval 10"/>
          <p:cNvSpPr/>
          <p:nvPr/>
        </p:nvSpPr>
        <p:spPr>
          <a:xfrm>
            <a:off x="5394959" y="27607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5989320" y="2779014"/>
            <a:ext cx="5653735" cy="1475612"/>
          </a:xfrm>
          <a:prstGeom prst="rect">
            <a:avLst/>
          </a:prstGeom>
          <a:noFill/>
        </p:spPr>
        <p:txBody>
          <a:bodyPr wrap="square" anchor="t" lIns="0" rIns="0" tIns="0" bIns="0">
            <a:spAutoFit/>
          </a:bodyPr>
          <a:lstStyle/>
          <a:p>
            <a:r>
              <a:rPr sz="2100" i="0" b="1">
                <a:solidFill>
                  <a:srgbClr val="1A1F36"/>
                </a:solidFill>
                <a:latin typeface="Calibri"/>
              </a:rPr>
              <a:t>Some benefit for negative symptoms</a:t>
            </a:r>
            <a:r>
              <a:rPr sz="2100" i="0" b="0">
                <a:solidFill>
                  <a:srgbClr val="1A1F36"/>
                </a:solidFill>
                <a:latin typeface="Calibri"/>
              </a:rPr>
              <a:t>, because dopamine rises in the mesocortical pathway.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Full antagonists and partial agonists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16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0">
                <a:solidFill>
                  <a:srgbClr val="1A1F36"/>
                </a:solidFill>
                <a:latin typeface="Calibri"/>
              </a:rPr>
              <a:t>Affinities differ between drugs. Risperidone at high doses acts much like a first-generation drug and causes EPS and raised prolactin.</a:t>
            </a:r>
          </a:p>
          <a:p>
            <a:pPr>
              <a:spcAft>
                <a:spcPts val="800"/>
              </a:spcAft>
            </a:pPr>
            <a:r>
              <a:rPr sz="1700" i="0" b="1">
                <a:solidFill>
                  <a:srgbClr val="1A1F36"/>
                </a:solidFill>
                <a:latin typeface="Calibri"/>
              </a:rPr>
              <a:t>Full antagonists</a:t>
            </a:r>
            <a:r>
              <a:rPr sz="1700" i="0" b="0">
                <a:solidFill>
                  <a:srgbClr val="1A1F36"/>
                </a:solidFill>
                <a:latin typeface="Calibri"/>
              </a:rPr>
              <a:t> (haloperidol, risperidone) occupy the D2 receptor without activating it. They block dopamine completely.</a:t>
            </a:r>
          </a:p>
          <a:p>
            <a:pPr>
              <a:spcAft>
                <a:spcPts val="800"/>
              </a:spcAft>
            </a:pPr>
            <a:r>
              <a:rPr sz="1700" i="0" b="1">
                <a:solidFill>
                  <a:srgbClr val="1A1F36"/>
                </a:solidFill>
                <a:latin typeface="Calibri"/>
              </a:rPr>
              <a:t>Partial agonists</a:t>
            </a:r>
            <a:r>
              <a:rPr sz="1700" i="0" b="0">
                <a:solidFill>
                  <a:srgbClr val="1A1F36"/>
                </a:solidFill>
                <a:latin typeface="Calibri"/>
              </a:rPr>
              <a:t> (aripiprazole, brexpiprazole, cariprazine) act like a "dimmer switch". They activate the receptor less than dopamine does:</a:t>
            </a:r>
          </a:p>
        </p:txBody>
      </p:sp>
      <p:sp>
        <p:nvSpPr>
          <p:cNvPr id="9" name="Oval 8"/>
          <p:cNvSpPr/>
          <p:nvPr/>
        </p:nvSpPr>
        <p:spPr>
          <a:xfrm>
            <a:off x="5394959"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5989320" y="1591056"/>
            <a:ext cx="5653735" cy="1475612"/>
          </a:xfrm>
          <a:prstGeom prst="rect">
            <a:avLst/>
          </a:prstGeom>
          <a:noFill/>
        </p:spPr>
        <p:txBody>
          <a:bodyPr wrap="square" anchor="t" lIns="0" rIns="0" tIns="0" bIns="0">
            <a:spAutoFit/>
          </a:bodyPr>
          <a:lstStyle/>
          <a:p>
            <a:r>
              <a:rPr sz="2100" i="0" b="0">
                <a:solidFill>
                  <a:srgbClr val="1A1F36"/>
                </a:solidFill>
                <a:latin typeface="Calibri"/>
              </a:rPr>
              <a:t>Where dopamine is high (mesolimbic), they compete with dopamine and act as antagonists.</a:t>
            </a:r>
          </a:p>
        </p:txBody>
      </p:sp>
      <p:sp>
        <p:nvSpPr>
          <p:cNvPr id="11" name="Oval 10"/>
          <p:cNvSpPr/>
          <p:nvPr/>
        </p:nvSpPr>
        <p:spPr>
          <a:xfrm>
            <a:off x="5394959" y="309410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5989320" y="3112388"/>
            <a:ext cx="5653735" cy="1142237"/>
          </a:xfrm>
          <a:prstGeom prst="rect">
            <a:avLst/>
          </a:prstGeom>
          <a:noFill/>
        </p:spPr>
        <p:txBody>
          <a:bodyPr wrap="square" anchor="t" lIns="0" rIns="0" tIns="0" bIns="0">
            <a:spAutoFit/>
          </a:bodyPr>
          <a:lstStyle/>
          <a:p>
            <a:r>
              <a:rPr sz="2100" i="0" b="0">
                <a:solidFill>
                  <a:srgbClr val="1A1F36"/>
                </a:solidFill>
                <a:latin typeface="Calibri"/>
              </a:rPr>
              <a:t>Where dopamine is low (mesocortical), they give some stimulation.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Adverse effects of SGAs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17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0">
                <a:solidFill>
                  <a:srgbClr val="1A1F36"/>
                </a:solidFill>
                <a:latin typeface="Calibri"/>
              </a:rPr>
              <a:t>This gives a lower risk of parkinsonism, raised prolactin and weight gain. Akathisia and restlessness are common, especially early. Partial agonists may be less effective in severe or resistant illness.</a:t>
            </a:r>
          </a:p>
          <a:p>
            <a:pPr>
              <a:spcAft>
                <a:spcPts val="800"/>
              </a:spcAft>
            </a:pPr>
            <a:r>
              <a:rPr sz="2100" i="0" b="1">
                <a:solidFill>
                  <a:srgbClr val="1A1F36"/>
                </a:solidFill>
                <a:latin typeface="Calibri"/>
              </a:rPr>
              <a:t>Cariprazine</a:t>
            </a:r>
            <a:r>
              <a:rPr sz="2100" i="0" b="0">
                <a:solidFill>
                  <a:srgbClr val="1A1F36"/>
                </a:solidFill>
                <a:latin typeface="Calibri"/>
              </a:rPr>
              <a:t> is a D3-preferring D2/D3 partial agonist. Its D3 activity may help negative symptoms. It has a low risk of weight gain, metabolic change, raised prolactin and QT prolongation. It is licensed for schizophrenia and bipolar disorder.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Adverse effects of SGAs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18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344548"/>
          </a:xfrm>
          <a:prstGeom prst="rect">
            <a:avLst/>
          </a:prstGeom>
          <a:noFill/>
        </p:spPr>
        <p:txBody>
          <a:bodyPr wrap="square" anchor="t" lIns="0" rIns="0" tIns="0" bIns="0">
            <a:spAutoFit/>
          </a:bodyPr>
          <a:lstStyle/>
          <a:p>
            <a:r>
              <a:rPr sz="2100" i="0" b="1">
                <a:solidFill>
                  <a:srgbClr val="1A1F36"/>
                </a:solidFill>
                <a:latin typeface="Calibri"/>
              </a:rPr>
              <a:t>Metabolic syndrome</a:t>
            </a:r>
            <a:r>
              <a:rPr sz="2100" i="0" b="0">
                <a:solidFill>
                  <a:srgbClr val="1A1F36"/>
                </a:solidFill>
                <a:latin typeface="Calibri"/>
              </a:rPr>
              <a:t>: weight gain, diabetes and raised lipids. These are due mainly to H1 and 5-HT2C block. The risk is highest with clozapine and olanzapine and lowest with aripiprazole and cariprazine.</a:t>
            </a:r>
          </a:p>
        </p:txBody>
      </p:sp>
      <p:sp>
        <p:nvSpPr>
          <p:cNvPr id="10" name="Oval 9"/>
          <p:cNvSpPr/>
          <p:nvPr/>
        </p:nvSpPr>
        <p:spPr>
          <a:xfrm>
            <a:off x="548640" y="2963037"/>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981325"/>
            <a:ext cx="10500055" cy="677799"/>
          </a:xfrm>
          <a:prstGeom prst="rect">
            <a:avLst/>
          </a:prstGeom>
          <a:noFill/>
        </p:spPr>
        <p:txBody>
          <a:bodyPr wrap="square" anchor="t" lIns="0" rIns="0" tIns="0" bIns="0">
            <a:spAutoFit/>
          </a:bodyPr>
          <a:lstStyle/>
          <a:p>
            <a:r>
              <a:rPr sz="2100" i="0" b="1">
                <a:solidFill>
                  <a:srgbClr val="1A1F36"/>
                </a:solidFill>
                <a:latin typeface="Calibri"/>
              </a:rPr>
              <a:t>EPS and NMS</a:t>
            </a:r>
            <a:r>
              <a:rPr sz="2100" i="0" b="0">
                <a:solidFill>
                  <a:srgbClr val="1A1F36"/>
                </a:solidFill>
                <a:latin typeface="Calibri"/>
              </a:rPr>
              <a:t>: less common than with first-generation drugs, but they can occur.</a:t>
            </a:r>
          </a:p>
        </p:txBody>
      </p:sp>
      <p:sp>
        <p:nvSpPr>
          <p:cNvPr id="12" name="Oval 11"/>
          <p:cNvSpPr/>
          <p:nvPr/>
        </p:nvSpPr>
        <p:spPr>
          <a:xfrm>
            <a:off x="548640" y="368655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704844"/>
            <a:ext cx="10500055" cy="677799"/>
          </a:xfrm>
          <a:prstGeom prst="rect">
            <a:avLst/>
          </a:prstGeom>
          <a:noFill/>
        </p:spPr>
        <p:txBody>
          <a:bodyPr wrap="square" anchor="t" lIns="0" rIns="0" tIns="0" bIns="0">
            <a:spAutoFit/>
          </a:bodyPr>
          <a:lstStyle/>
          <a:p>
            <a:r>
              <a:rPr sz="2100" i="0" b="1">
                <a:solidFill>
                  <a:srgbClr val="1A1F36"/>
                </a:solidFill>
                <a:latin typeface="Calibri"/>
              </a:rPr>
              <a:t>Raised prolactin</a:t>
            </a:r>
            <a:r>
              <a:rPr sz="2100" i="0" b="0">
                <a:solidFill>
                  <a:srgbClr val="1A1F36"/>
                </a:solidFill>
                <a:latin typeface="Calibri"/>
              </a:rPr>
              <a:t>: marked with risperidone and paliperidone.</a:t>
            </a:r>
          </a:p>
        </p:txBody>
      </p:sp>
      <p:sp>
        <p:nvSpPr>
          <p:cNvPr id="14" name="Oval 13"/>
          <p:cNvSpPr/>
          <p:nvPr/>
        </p:nvSpPr>
        <p:spPr>
          <a:xfrm>
            <a:off x="548640" y="441007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428363"/>
            <a:ext cx="10500055" cy="677799"/>
          </a:xfrm>
          <a:prstGeom prst="rect">
            <a:avLst/>
          </a:prstGeom>
          <a:noFill/>
        </p:spPr>
        <p:txBody>
          <a:bodyPr wrap="square" anchor="t" lIns="0" rIns="0" tIns="0" bIns="0">
            <a:spAutoFit/>
          </a:bodyPr>
          <a:lstStyle/>
          <a:p>
            <a:r>
              <a:rPr sz="2100" i="0" b="1">
                <a:solidFill>
                  <a:srgbClr val="1A1F36"/>
                </a:solidFill>
                <a:latin typeface="Calibri"/>
              </a:rPr>
              <a:t>Sedation and hypotension</a:t>
            </a:r>
            <a:r>
              <a:rPr sz="2100" i="0" b="0">
                <a:solidFill>
                  <a:srgbClr val="1A1F36"/>
                </a:solidFill>
                <a:latin typeface="Calibri"/>
              </a:rPr>
              <a:t>: marked with quetiapine and clozapine.</a:t>
            </a:r>
          </a:p>
        </p:txBody>
      </p:sp>
      <p:sp>
        <p:nvSpPr>
          <p:cNvPr id="16" name="Oval 15"/>
          <p:cNvSpPr/>
          <p:nvPr/>
        </p:nvSpPr>
        <p:spPr>
          <a:xfrm>
            <a:off x="548640" y="513359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5151882"/>
            <a:ext cx="10500055" cy="1011173"/>
          </a:xfrm>
          <a:prstGeom prst="rect">
            <a:avLst/>
          </a:prstGeom>
          <a:noFill/>
        </p:spPr>
        <p:txBody>
          <a:bodyPr wrap="square" anchor="t" lIns="0" rIns="0" tIns="0" bIns="0">
            <a:spAutoFit/>
          </a:bodyPr>
          <a:lstStyle/>
          <a:p>
            <a:r>
              <a:rPr sz="2100" i="0" b="1">
                <a:solidFill>
                  <a:srgbClr val="1A1F36"/>
                </a:solidFill>
                <a:latin typeface="Calibri"/>
              </a:rPr>
              <a:t>QT prolongation</a:t>
            </a:r>
            <a:r>
              <a:rPr sz="2100" i="0" b="0">
                <a:solidFill>
                  <a:srgbClr val="1A1F36"/>
                </a:solidFill>
                <a:latin typeface="Calibri"/>
              </a:rPr>
              <a:t>: with both generations, especially at high doses or with other QT-prolonging drugs.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Adverse effects of SGAs (1/2)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19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2" cy="4617720"/>
        </p:xfrm>
        <a:graphic>
          <a:graphicData uri="http://schemas.openxmlformats.org/drawingml/2006/table">
            <a:tbl>
              <a:tblPr firstRow="0" bandRow="0">
                <a:tableStyleId>{5C22544A-7EE6-4342-B048-85BDC9FD1C3A}</a:tableStyleId>
              </a:tblPr>
              <a:tblGrid>
                <a:gridCol w="2302614"/>
                <a:gridCol w="2616607"/>
                <a:gridCol w="1779292"/>
                <a:gridCol w="2721271"/>
                <a:gridCol w="1674628"/>
              </a:tblGrid>
              <a:tr h="577215">
                <a:tc>
                  <a:txBody>
                    <a:bodyPr/>
                    <a:lstStyle/>
                    <a:p>
                      <a:r>
                        <a:rPr sz="1900" i="0" b="1">
                          <a:solidFill>
                            <a:srgbClr val="FFFFFF"/>
                          </a:solidFill>
                          <a:latin typeface="Calibri"/>
                        </a:rPr>
                        <a:t>Drug</a:t>
                      </a:r>
                    </a:p>
                  </a:txBody>
                  <a:tcPr marL="109728" marR="109728" marT="45720" marB="45720" anchor="ctr">
                    <a:solidFill>
                      <a:srgbClr val="1B2A8C"/>
                    </a:solidFill>
                  </a:tcPr>
                </a:tc>
                <a:tc>
                  <a:txBody>
                    <a:bodyPr/>
                    <a:lstStyle/>
                    <a:p>
                      <a:r>
                        <a:rPr sz="1900" i="0" b="1">
                          <a:solidFill>
                            <a:srgbClr val="FFFFFF"/>
                          </a:solidFill>
                          <a:latin typeface="Calibri"/>
                        </a:rPr>
                        <a:t>EPS</a:t>
                      </a:r>
                    </a:p>
                  </a:txBody>
                  <a:tcPr marL="109728" marR="109728" marT="45720" marB="45720" anchor="ctr">
                    <a:solidFill>
                      <a:srgbClr val="1B2A8C"/>
                    </a:solidFill>
                  </a:tcPr>
                </a:tc>
                <a:tc>
                  <a:txBody>
                    <a:bodyPr/>
                    <a:lstStyle/>
                    <a:p>
                      <a:r>
                        <a:rPr sz="1900" i="0" b="1">
                          <a:solidFill>
                            <a:srgbClr val="FFFFFF"/>
                          </a:solidFill>
                          <a:latin typeface="Calibri"/>
                        </a:rPr>
                        <a:t>Prolactin</a:t>
                      </a:r>
                    </a:p>
                  </a:txBody>
                  <a:tcPr marL="109728" marR="109728" marT="45720" marB="45720" anchor="ctr">
                    <a:solidFill>
                      <a:srgbClr val="1B2A8C"/>
                    </a:solidFill>
                  </a:tcPr>
                </a:tc>
                <a:tc>
                  <a:txBody>
                    <a:bodyPr/>
                    <a:lstStyle/>
                    <a:p>
                      <a:r>
                        <a:rPr sz="1900" i="0" b="1">
                          <a:solidFill>
                            <a:srgbClr val="FFFFFF"/>
                          </a:solidFill>
                          <a:latin typeface="Calibri"/>
                        </a:rPr>
                        <a:t>Weight / metabolic</a:t>
                      </a:r>
                    </a:p>
                  </a:txBody>
                  <a:tcPr marL="109728" marR="109728" marT="45720" marB="45720" anchor="ctr">
                    <a:solidFill>
                      <a:srgbClr val="1B2A8C"/>
                    </a:solidFill>
                  </a:tcPr>
                </a:tc>
                <a:tc>
                  <a:txBody>
                    <a:bodyPr/>
                    <a:lstStyle/>
                    <a:p>
                      <a:r>
                        <a:rPr sz="1900" i="0" b="1">
                          <a:solidFill>
                            <a:srgbClr val="FFFFFF"/>
                          </a:solidFill>
                          <a:latin typeface="Calibri"/>
                        </a:rPr>
                        <a:t>Sedation</a:t>
                      </a:r>
                    </a:p>
                  </a:txBody>
                  <a:tcPr marL="109728" marR="109728" marT="45720" marB="45720" anchor="ctr">
                    <a:solidFill>
                      <a:srgbClr val="1B2A8C"/>
                    </a:solidFill>
                  </a:tcPr>
                </a:tc>
              </a:tr>
              <a:tr h="577215">
                <a:tc>
                  <a:txBody>
                    <a:bodyPr/>
                    <a:lstStyle/>
                    <a:p>
                      <a:r>
                        <a:rPr sz="2000" i="0" b="1">
                          <a:solidFill>
                            <a:srgbClr val="1A1F36"/>
                          </a:solidFill>
                          <a:latin typeface="Calibri"/>
                        </a:rPr>
                        <a:t>Haloperidol</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r>
              <a:tr h="577215">
                <a:tc>
                  <a:txBody>
                    <a:bodyPr/>
                    <a:lstStyle/>
                    <a:p>
                      <a:r>
                        <a:rPr sz="2000" i="0" b="1">
                          <a:solidFill>
                            <a:srgbClr val="1A1F36"/>
                          </a:solidFill>
                          <a:latin typeface="Calibri"/>
                        </a:rPr>
                        <a:t>Chlorpromazine</a:t>
                      </a:r>
                    </a:p>
                  </a:txBody>
                  <a:tcPr marL="109728" marR="109728" marT="45720" marB="45720" anchor="ctr">
                    <a:solidFill>
                      <a:srgbClr val="F1F2F8"/>
                    </a:solidFill>
                  </a:tcPr>
                </a:tc>
                <a:tc>
                  <a:txBody>
                    <a:bodyPr/>
                    <a:lstStyle/>
                    <a:p>
                      <a:r>
                        <a:rPr sz="2000" i="0" b="0">
                          <a:solidFill>
                            <a:srgbClr val="1A1F36"/>
                          </a:solidFill>
                          <a:latin typeface="Calibri"/>
                        </a:rPr>
                        <a:t>++</a:t>
                      </a:r>
                    </a:p>
                  </a:txBody>
                  <a:tcPr marL="109728" marR="109728" marT="45720" marB="45720" anchor="ctr">
                    <a:solidFill>
                      <a:srgbClr val="F1F2F8"/>
                    </a:solidFill>
                  </a:tcPr>
                </a:tc>
                <a:tc>
                  <a:txBody>
                    <a:bodyPr/>
                    <a:lstStyle/>
                    <a:p>
                      <a:r>
                        <a:rPr sz="2000" i="0" b="0">
                          <a:solidFill>
                            <a:srgbClr val="1A1F36"/>
                          </a:solidFill>
                          <a:latin typeface="Calibri"/>
                        </a:rPr>
                        <a:t>++</a:t>
                      </a:r>
                    </a:p>
                  </a:txBody>
                  <a:tcPr marL="109728" marR="109728" marT="45720" marB="45720" anchor="ctr">
                    <a:solidFill>
                      <a:srgbClr val="F1F2F8"/>
                    </a:solidFill>
                  </a:tcPr>
                </a:tc>
                <a:tc>
                  <a:txBody>
                    <a:bodyPr/>
                    <a:lstStyle/>
                    <a:p>
                      <a:r>
                        <a:rPr sz="2000" i="0" b="0">
                          <a:solidFill>
                            <a:srgbClr val="1A1F36"/>
                          </a:solidFill>
                          <a:latin typeface="Calibri"/>
                        </a:rPr>
                        <a:t>++</a:t>
                      </a:r>
                    </a:p>
                  </a:txBody>
                  <a:tcPr marL="109728" marR="109728" marT="45720" marB="45720" anchor="ctr">
                    <a:solidFill>
                      <a:srgbClr val="F1F2F8"/>
                    </a:solidFill>
                  </a:tcPr>
                </a:tc>
                <a:tc>
                  <a:txBody>
                    <a:bodyPr/>
                    <a:lstStyle/>
                    <a:p>
                      <a:r>
                        <a:rPr sz="2000" i="0" b="0">
                          <a:solidFill>
                            <a:srgbClr val="1A1F36"/>
                          </a:solidFill>
                          <a:latin typeface="Calibri"/>
                        </a:rPr>
                        <a:t>+++</a:t>
                      </a:r>
                    </a:p>
                  </a:txBody>
                  <a:tcPr marL="109728" marR="109728" marT="45720" marB="45720" anchor="ctr">
                    <a:solidFill>
                      <a:srgbClr val="F1F2F8"/>
                    </a:solidFill>
                  </a:tcPr>
                </a:tc>
              </a:tr>
              <a:tr h="577215">
                <a:tc>
                  <a:txBody>
                    <a:bodyPr/>
                    <a:lstStyle/>
                    <a:p>
                      <a:r>
                        <a:rPr sz="2000" i="0" b="1">
                          <a:solidFill>
                            <a:srgbClr val="1A1F36"/>
                          </a:solidFill>
                          <a:latin typeface="Calibri"/>
                        </a:rPr>
                        <a:t>Risperidone</a:t>
                      </a:r>
                    </a:p>
                  </a:txBody>
                  <a:tcPr marL="109728" marR="109728" marT="45720" marB="45720" anchor="ctr">
                    <a:solidFill>
                      <a:srgbClr val="FFFFFF"/>
                    </a:solidFill>
                  </a:tcPr>
                </a:tc>
                <a:tc>
                  <a:txBody>
                    <a:bodyPr/>
                    <a:lstStyle/>
                    <a:p>
                      <a:r>
                        <a:rPr sz="2000" i="0" b="0">
                          <a:solidFill>
                            <a:srgbClr val="1A1F36"/>
                          </a:solidFill>
                          <a:latin typeface="Calibri"/>
                        </a:rPr>
                        <a:t>++ (dose-related)</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r>
              <a:tr h="577215">
                <a:tc>
                  <a:txBody>
                    <a:bodyPr/>
                    <a:lstStyle/>
                    <a:p>
                      <a:r>
                        <a:rPr sz="2000" i="0" b="1">
                          <a:solidFill>
                            <a:srgbClr val="1A1F36"/>
                          </a:solidFill>
                          <a:latin typeface="Calibri"/>
                        </a:rPr>
                        <a:t>Olanzapine</a:t>
                      </a:r>
                    </a:p>
                  </a:txBody>
                  <a:tcPr marL="109728" marR="109728" marT="45720" marB="45720" anchor="ctr">
                    <a:solidFill>
                      <a:srgbClr val="F1F2F8"/>
                    </a:solidFill>
                  </a:tcPr>
                </a:tc>
                <a:tc>
                  <a:txBody>
                    <a:bodyPr/>
                    <a:lstStyle/>
                    <a:p>
                      <a:r>
                        <a:rPr sz="2000" i="0" b="0">
                          <a:solidFill>
                            <a:srgbClr val="1A1F36"/>
                          </a:solidFill>
                          <a:latin typeface="Calibri"/>
                        </a:rPr>
                        <a:t>+</a:t>
                      </a:r>
                    </a:p>
                  </a:txBody>
                  <a:tcPr marL="109728" marR="109728" marT="45720" marB="45720" anchor="ctr">
                    <a:solidFill>
                      <a:srgbClr val="F1F2F8"/>
                    </a:solidFill>
                  </a:tcPr>
                </a:tc>
                <a:tc>
                  <a:txBody>
                    <a:bodyPr/>
                    <a:lstStyle/>
                    <a:p>
                      <a:r>
                        <a:rPr sz="2000" i="0" b="0">
                          <a:solidFill>
                            <a:srgbClr val="1A1F36"/>
                          </a:solidFill>
                          <a:latin typeface="Calibri"/>
                        </a:rPr>
                        <a:t>+</a:t>
                      </a:r>
                    </a:p>
                  </a:txBody>
                  <a:tcPr marL="109728" marR="109728" marT="45720" marB="45720" anchor="ctr">
                    <a:solidFill>
                      <a:srgbClr val="F1F2F8"/>
                    </a:solidFill>
                  </a:tcPr>
                </a:tc>
                <a:tc>
                  <a:txBody>
                    <a:bodyPr/>
                    <a:lstStyle/>
                    <a:p>
                      <a:r>
                        <a:rPr sz="2000" i="0" b="0">
                          <a:solidFill>
                            <a:srgbClr val="1A1F36"/>
                          </a:solidFill>
                          <a:latin typeface="Calibri"/>
                        </a:rPr>
                        <a:t>+++</a:t>
                      </a:r>
                    </a:p>
                  </a:txBody>
                  <a:tcPr marL="109728" marR="109728" marT="45720" marB="45720" anchor="ctr">
                    <a:solidFill>
                      <a:srgbClr val="F1F2F8"/>
                    </a:solidFill>
                  </a:tcPr>
                </a:tc>
                <a:tc>
                  <a:txBody>
                    <a:bodyPr/>
                    <a:lstStyle/>
                    <a:p>
                      <a:r>
                        <a:rPr sz="2000" i="0" b="0">
                          <a:solidFill>
                            <a:srgbClr val="1A1F36"/>
                          </a:solidFill>
                          <a:latin typeface="Calibri"/>
                        </a:rPr>
                        <a:t>++</a:t>
                      </a:r>
                    </a:p>
                  </a:txBody>
                  <a:tcPr marL="109728" marR="109728" marT="45720" marB="45720" anchor="ctr">
                    <a:solidFill>
                      <a:srgbClr val="F1F2F8"/>
                    </a:solidFill>
                  </a:tcPr>
                </a:tc>
              </a:tr>
              <a:tr h="577215">
                <a:tc>
                  <a:txBody>
                    <a:bodyPr/>
                    <a:lstStyle/>
                    <a:p>
                      <a:r>
                        <a:rPr sz="2000" i="0" b="1">
                          <a:solidFill>
                            <a:srgbClr val="1A1F36"/>
                          </a:solidFill>
                          <a:latin typeface="Calibri"/>
                        </a:rPr>
                        <a:t>Quetiapine</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r>
              <a:tr h="577215">
                <a:tc>
                  <a:txBody>
                    <a:bodyPr/>
                    <a:lstStyle/>
                    <a:p>
                      <a:r>
                        <a:rPr sz="2000" i="0" b="1">
                          <a:solidFill>
                            <a:srgbClr val="1A1F36"/>
                          </a:solidFill>
                          <a:latin typeface="Calibri"/>
                        </a:rPr>
                        <a:t>Clozapine</a:t>
                      </a:r>
                    </a:p>
                  </a:txBody>
                  <a:tcPr marL="109728" marR="109728" marT="45720" marB="45720" anchor="ctr">
                    <a:solidFill>
                      <a:srgbClr val="F1F2F8"/>
                    </a:solidFill>
                  </a:tcPr>
                </a:tc>
                <a:tc>
                  <a:txBody>
                    <a:bodyPr/>
                    <a:lstStyle/>
                    <a:p>
                      <a:r>
                        <a:rPr sz="2000" i="0" b="0">
                          <a:solidFill>
                            <a:srgbClr val="1A1F36"/>
                          </a:solidFill>
                          <a:latin typeface="Calibri"/>
                        </a:rPr>
                        <a:t>±</a:t>
                      </a:r>
                    </a:p>
                  </a:txBody>
                  <a:tcPr marL="109728" marR="109728" marT="45720" marB="45720" anchor="ctr">
                    <a:solidFill>
                      <a:srgbClr val="F1F2F8"/>
                    </a:solidFill>
                  </a:tcPr>
                </a:tc>
                <a:tc>
                  <a:txBody>
                    <a:bodyPr/>
                    <a:lstStyle/>
                    <a:p>
                      <a:r>
                        <a:rPr sz="2000" i="0" b="0">
                          <a:solidFill>
                            <a:srgbClr val="1A1F36"/>
                          </a:solidFill>
                          <a:latin typeface="Calibri"/>
                        </a:rPr>
                        <a:t>±</a:t>
                      </a:r>
                    </a:p>
                  </a:txBody>
                  <a:tcPr marL="109728" marR="109728" marT="45720" marB="45720" anchor="ctr">
                    <a:solidFill>
                      <a:srgbClr val="F1F2F8"/>
                    </a:solidFill>
                  </a:tcPr>
                </a:tc>
                <a:tc>
                  <a:txBody>
                    <a:bodyPr/>
                    <a:lstStyle/>
                    <a:p>
                      <a:r>
                        <a:rPr sz="2000" i="0" b="0">
                          <a:solidFill>
                            <a:srgbClr val="1A1F36"/>
                          </a:solidFill>
                          <a:latin typeface="Calibri"/>
                        </a:rPr>
                        <a:t>+++</a:t>
                      </a:r>
                    </a:p>
                  </a:txBody>
                  <a:tcPr marL="109728" marR="109728" marT="45720" marB="45720" anchor="ctr">
                    <a:solidFill>
                      <a:srgbClr val="F1F2F8"/>
                    </a:solidFill>
                  </a:tcPr>
                </a:tc>
                <a:tc>
                  <a:txBody>
                    <a:bodyPr/>
                    <a:lstStyle/>
                    <a:p>
                      <a:r>
                        <a:rPr sz="2000" i="0" b="0">
                          <a:solidFill>
                            <a:srgbClr val="1A1F36"/>
                          </a:solidFill>
                          <a:latin typeface="Calibri"/>
                        </a:rPr>
                        <a:t>+++</a:t>
                      </a:r>
                    </a:p>
                  </a:txBody>
                  <a:tcPr marL="109728" marR="109728" marT="45720" marB="45720" anchor="ctr">
                    <a:solidFill>
                      <a:srgbClr val="F1F2F8"/>
                    </a:solidFill>
                  </a:tcPr>
                </a:tc>
              </a:tr>
              <a:tr h="577215">
                <a:tc>
                  <a:txBody>
                    <a:bodyPr/>
                    <a:lstStyle/>
                    <a:p>
                      <a:r>
                        <a:rPr sz="2000" i="0" b="1">
                          <a:solidFill>
                            <a:srgbClr val="1A1F36"/>
                          </a:solidFill>
                          <a:latin typeface="Calibri"/>
                        </a:rPr>
                        <a:t>Aripiprazole</a:t>
                      </a:r>
                    </a:p>
                  </a:txBody>
                  <a:tcPr marL="109728" marR="109728" marT="45720" marB="45720" anchor="ctr">
                    <a:solidFill>
                      <a:srgbClr val="FFFFFF"/>
                    </a:solidFill>
                  </a:tcPr>
                </a:tc>
                <a:tc>
                  <a:txBody>
                    <a:bodyPr/>
                    <a:lstStyle/>
                    <a:p>
                      <a:r>
                        <a:rPr sz="2000" i="0" b="0">
                          <a:solidFill>
                            <a:srgbClr val="1A1F36"/>
                          </a:solidFill>
                          <a:latin typeface="Calibri"/>
                        </a:rPr>
                        <a:t>+ (akathisia)</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Adverse effects of SGAs (2/2)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20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2" cy="1280160"/>
        </p:xfrm>
        <a:graphic>
          <a:graphicData uri="http://schemas.openxmlformats.org/drawingml/2006/table">
            <a:tbl>
              <a:tblPr firstRow="0" bandRow="0">
                <a:tableStyleId>{5C22544A-7EE6-4342-B048-85BDC9FD1C3A}</a:tableStyleId>
              </a:tblPr>
              <a:tblGrid>
                <a:gridCol w="2129231"/>
                <a:gridCol w="2353360"/>
                <a:gridCol w="1905101"/>
                <a:gridCol w="2913684"/>
                <a:gridCol w="1793036"/>
              </a:tblGrid>
              <a:tr h="640080">
                <a:tc>
                  <a:txBody>
                    <a:bodyPr/>
                    <a:lstStyle/>
                    <a:p>
                      <a:r>
                        <a:rPr sz="1900" i="0" b="1">
                          <a:solidFill>
                            <a:srgbClr val="FFFFFF"/>
                          </a:solidFill>
                          <a:latin typeface="Calibri"/>
                        </a:rPr>
                        <a:t>Drug</a:t>
                      </a:r>
                    </a:p>
                  </a:txBody>
                  <a:tcPr marL="109728" marR="109728" marT="45720" marB="45720" anchor="ctr">
                    <a:solidFill>
                      <a:srgbClr val="1B2A8C"/>
                    </a:solidFill>
                  </a:tcPr>
                </a:tc>
                <a:tc>
                  <a:txBody>
                    <a:bodyPr/>
                    <a:lstStyle/>
                    <a:p>
                      <a:r>
                        <a:rPr sz="1900" i="0" b="1">
                          <a:solidFill>
                            <a:srgbClr val="FFFFFF"/>
                          </a:solidFill>
                          <a:latin typeface="Calibri"/>
                        </a:rPr>
                        <a:t>EPS</a:t>
                      </a:r>
                    </a:p>
                  </a:txBody>
                  <a:tcPr marL="109728" marR="109728" marT="45720" marB="45720" anchor="ctr">
                    <a:solidFill>
                      <a:srgbClr val="1B2A8C"/>
                    </a:solidFill>
                  </a:tcPr>
                </a:tc>
                <a:tc>
                  <a:txBody>
                    <a:bodyPr/>
                    <a:lstStyle/>
                    <a:p>
                      <a:r>
                        <a:rPr sz="1900" i="0" b="1">
                          <a:solidFill>
                            <a:srgbClr val="FFFFFF"/>
                          </a:solidFill>
                          <a:latin typeface="Calibri"/>
                        </a:rPr>
                        <a:t>Prolactin</a:t>
                      </a:r>
                    </a:p>
                  </a:txBody>
                  <a:tcPr marL="109728" marR="109728" marT="45720" marB="45720" anchor="ctr">
                    <a:solidFill>
                      <a:srgbClr val="1B2A8C"/>
                    </a:solidFill>
                  </a:tcPr>
                </a:tc>
                <a:tc>
                  <a:txBody>
                    <a:bodyPr/>
                    <a:lstStyle/>
                    <a:p>
                      <a:r>
                        <a:rPr sz="1900" i="0" b="1">
                          <a:solidFill>
                            <a:srgbClr val="FFFFFF"/>
                          </a:solidFill>
                          <a:latin typeface="Calibri"/>
                        </a:rPr>
                        <a:t>Weight / metabolic</a:t>
                      </a:r>
                    </a:p>
                  </a:txBody>
                  <a:tcPr marL="109728" marR="109728" marT="45720" marB="45720" anchor="ctr">
                    <a:solidFill>
                      <a:srgbClr val="1B2A8C"/>
                    </a:solidFill>
                  </a:tcPr>
                </a:tc>
                <a:tc>
                  <a:txBody>
                    <a:bodyPr/>
                    <a:lstStyle/>
                    <a:p>
                      <a:r>
                        <a:rPr sz="1900" i="0" b="1">
                          <a:solidFill>
                            <a:srgbClr val="FFFFFF"/>
                          </a:solidFill>
                          <a:latin typeface="Calibri"/>
                        </a:rPr>
                        <a:t>Sedation</a:t>
                      </a:r>
                    </a:p>
                  </a:txBody>
                  <a:tcPr marL="109728" marR="109728" marT="45720" marB="45720" anchor="ctr">
                    <a:solidFill>
                      <a:srgbClr val="1B2A8C"/>
                    </a:solidFill>
                  </a:tcPr>
                </a:tc>
              </a:tr>
              <a:tr h="640080">
                <a:tc>
                  <a:txBody>
                    <a:bodyPr/>
                    <a:lstStyle/>
                    <a:p>
                      <a:r>
                        <a:rPr sz="2000" i="0" b="1">
                          <a:solidFill>
                            <a:srgbClr val="1A1F36"/>
                          </a:solidFill>
                          <a:latin typeface="Calibri"/>
                        </a:rPr>
                        <a:t>Cariprazine</a:t>
                      </a:r>
                    </a:p>
                  </a:txBody>
                  <a:tcPr marL="109728" marR="109728" marT="45720" marB="45720" anchor="ctr">
                    <a:solidFill>
                      <a:srgbClr val="FFFFFF"/>
                    </a:solidFill>
                  </a:tcPr>
                </a:tc>
                <a:tc>
                  <a:txBody>
                    <a:bodyPr/>
                    <a:lstStyle/>
                    <a:p>
                      <a:r>
                        <a:rPr sz="2000" i="0" b="0">
                          <a:solidFill>
                            <a:srgbClr val="1A1F36"/>
                          </a:solidFill>
                          <a:latin typeface="Calibri"/>
                        </a:rPr>
                        <a:t>+ (akathisia)</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DE5"/>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Clinical Pearl</a:t>
            </a:r>
          </a:p>
          <a:p>
            <a:r>
              <a:rPr sz="1400" i="0" b="1" spc="150">
                <a:solidFill>
                  <a:srgbClr val="F1EDE5"/>
                </a:solidFill>
                <a:latin typeface="Calibri"/>
              </a:rPr>
              <a:t>Section 2</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1A1F36"/>
                </a:solidFill>
                <a:latin typeface="Calibri"/>
              </a:rPr>
              <a:t>Measure weight, waist, blood pressure, fasting glucose or HbA1c and lipids before starting an SGA. Repeat at 12 weeks and then at least yearly.</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Psychosis and Antipsychotic Drugs</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21 / 54</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Clozapine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22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0">
                <a:solidFill>
                  <a:srgbClr val="1A1F36"/>
                </a:solidFill>
                <a:latin typeface="Calibri"/>
              </a:rPr>
              <a:t>Clozapine is the most effective drug for </a:t>
            </a:r>
            <a:r>
              <a:rPr sz="1700" i="0" b="1">
                <a:solidFill>
                  <a:srgbClr val="1A1F36"/>
                </a:solidFill>
                <a:latin typeface="Calibri"/>
              </a:rPr>
              <a:t>treatment-resistant schizophrenia</a:t>
            </a:r>
            <a:r>
              <a:rPr sz="1700" i="0" b="0">
                <a:solidFill>
                  <a:srgbClr val="1A1F36"/>
                </a:solidFill>
                <a:latin typeface="Calibri"/>
              </a:rPr>
              <a:t>. This is defined as poor response to at least two antipsychotics, including one SGA, each given at an adequate dose for 6 weeks or more. Clozapine also lowers suicide risk.</a:t>
            </a:r>
          </a:p>
          <a:p>
            <a:pPr>
              <a:spcAft>
                <a:spcPts val="800"/>
              </a:spcAft>
            </a:pPr>
            <a:r>
              <a:rPr sz="1700" i="0" b="1">
                <a:solidFill>
                  <a:srgbClr val="1A1F36"/>
                </a:solidFill>
                <a:latin typeface="Calibri"/>
              </a:rPr>
              <a:t>Main risks:</a:t>
            </a:r>
          </a:p>
          <a:p>
            <a:pPr>
              <a:spcAft>
                <a:spcPts val="800"/>
              </a:spcAft>
            </a:pPr>
            <a:r>
              <a:rPr sz="1700" i="0" b="1">
                <a:solidFill>
                  <a:srgbClr val="1A1F36"/>
                </a:solidFill>
                <a:latin typeface="Calibri"/>
              </a:rPr>
              <a:t>Blood monitoring:</a:t>
            </a:r>
            <a:r>
              <a:rPr sz="1700" i="0" b="0">
                <a:solidFill>
                  <a:srgbClr val="1A1F36"/>
                </a:solidFill>
                <a:latin typeface="Calibri"/>
              </a:rPr>
              <a:t> check the absolute neutrophil count (ANC) before starting. Then check weekly for 18 weeks, every 2 weeks to 1 year, and monthly after that. Stop clozapine if neutrophils fall below the threshold.</a:t>
            </a:r>
          </a:p>
        </p:txBody>
      </p:sp>
      <p:sp>
        <p:nvSpPr>
          <p:cNvPr id="9" name="Oval 8"/>
          <p:cNvSpPr/>
          <p:nvPr/>
        </p:nvSpPr>
        <p:spPr>
          <a:xfrm>
            <a:off x="5394959"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5989320" y="1591056"/>
            <a:ext cx="5653735" cy="944499"/>
          </a:xfrm>
          <a:prstGeom prst="rect">
            <a:avLst/>
          </a:prstGeom>
          <a:noFill/>
        </p:spPr>
        <p:txBody>
          <a:bodyPr wrap="square" anchor="t" lIns="0" rIns="0" tIns="0" bIns="0">
            <a:spAutoFit/>
          </a:bodyPr>
          <a:lstStyle/>
          <a:p>
            <a:r>
              <a:rPr sz="2100" i="0" b="1">
                <a:solidFill>
                  <a:srgbClr val="1A1F36"/>
                </a:solidFill>
                <a:latin typeface="Calibri"/>
              </a:rPr>
              <a:t>Agranulocytosis</a:t>
            </a:r>
            <a:r>
              <a:rPr sz="2100" i="0" b="0">
                <a:solidFill>
                  <a:srgbClr val="1A1F36"/>
                </a:solidFill>
                <a:latin typeface="Calibri"/>
              </a:rPr>
              <a:t> in about 1% of patients, mostly in the first 18 weeks.</a:t>
            </a:r>
          </a:p>
        </p:txBody>
      </p:sp>
      <p:sp>
        <p:nvSpPr>
          <p:cNvPr id="11" name="Oval 10"/>
          <p:cNvSpPr/>
          <p:nvPr/>
        </p:nvSpPr>
        <p:spPr>
          <a:xfrm>
            <a:off x="5394959" y="2562987"/>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5989320" y="2581275"/>
            <a:ext cx="5653735" cy="944499"/>
          </a:xfrm>
          <a:prstGeom prst="rect">
            <a:avLst/>
          </a:prstGeom>
          <a:noFill/>
        </p:spPr>
        <p:txBody>
          <a:bodyPr wrap="square" anchor="t" lIns="0" rIns="0" tIns="0" bIns="0">
            <a:spAutoFit/>
          </a:bodyPr>
          <a:lstStyle/>
          <a:p>
            <a:r>
              <a:rPr sz="2100" i="0" b="0">
                <a:solidFill>
                  <a:srgbClr val="1A1F36"/>
                </a:solidFill>
                <a:latin typeface="Calibri"/>
              </a:rPr>
              <a:t>Myocarditis and cardiomyopathy, mostly in the first 2 months.</a:t>
            </a:r>
          </a:p>
        </p:txBody>
      </p:sp>
      <p:sp>
        <p:nvSpPr>
          <p:cNvPr id="13" name="Oval 12"/>
          <p:cNvSpPr/>
          <p:nvPr/>
        </p:nvSpPr>
        <p:spPr>
          <a:xfrm>
            <a:off x="5394959" y="355320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5989320" y="3571494"/>
            <a:ext cx="5653735" cy="611124"/>
          </a:xfrm>
          <a:prstGeom prst="rect">
            <a:avLst/>
          </a:prstGeom>
          <a:noFill/>
        </p:spPr>
        <p:txBody>
          <a:bodyPr wrap="square" anchor="t" lIns="0" rIns="0" tIns="0" bIns="0">
            <a:spAutoFit/>
          </a:bodyPr>
          <a:lstStyle/>
          <a:p>
            <a:r>
              <a:rPr sz="2100" i="0" b="0">
                <a:solidFill>
                  <a:srgbClr val="1A1F36"/>
                </a:solidFill>
                <a:latin typeface="Calibri"/>
              </a:rPr>
              <a:t>Seizures at high doses.</a:t>
            </a:r>
          </a:p>
        </p:txBody>
      </p:sp>
      <p:sp>
        <p:nvSpPr>
          <p:cNvPr id="15" name="Oval 14"/>
          <p:cNvSpPr/>
          <p:nvPr/>
        </p:nvSpPr>
        <p:spPr>
          <a:xfrm>
            <a:off x="5394959" y="421005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6" name="TextBox 15"/>
          <p:cNvSpPr txBox="1"/>
          <p:nvPr/>
        </p:nvSpPr>
        <p:spPr>
          <a:xfrm>
            <a:off x="5989320" y="4228338"/>
            <a:ext cx="5653735" cy="944499"/>
          </a:xfrm>
          <a:prstGeom prst="rect">
            <a:avLst/>
          </a:prstGeom>
          <a:noFill/>
        </p:spPr>
        <p:txBody>
          <a:bodyPr wrap="square" anchor="t" lIns="0" rIns="0" tIns="0" bIns="0">
            <a:spAutoFit/>
          </a:bodyPr>
          <a:lstStyle/>
          <a:p>
            <a:r>
              <a:rPr sz="2100" i="0" b="0">
                <a:solidFill>
                  <a:srgbClr val="1A1F36"/>
                </a:solidFill>
                <a:latin typeface="Calibri"/>
              </a:rPr>
              <a:t>Severe constipation, which can cause bowel obstruction.</a:t>
            </a:r>
          </a:p>
        </p:txBody>
      </p:sp>
      <p:sp>
        <p:nvSpPr>
          <p:cNvPr id="17" name="Oval 16"/>
          <p:cNvSpPr/>
          <p:nvPr/>
        </p:nvSpPr>
        <p:spPr>
          <a:xfrm>
            <a:off x="5394959" y="520026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8" name="TextBox 17"/>
          <p:cNvSpPr txBox="1"/>
          <p:nvPr/>
        </p:nvSpPr>
        <p:spPr>
          <a:xfrm>
            <a:off x="5989320" y="5218557"/>
            <a:ext cx="5653735" cy="944499"/>
          </a:xfrm>
          <a:prstGeom prst="rect">
            <a:avLst/>
          </a:prstGeom>
          <a:noFill/>
        </p:spPr>
        <p:txBody>
          <a:bodyPr wrap="square" anchor="t" lIns="0" rIns="0" tIns="0" bIns="0">
            <a:spAutoFit/>
          </a:bodyPr>
          <a:lstStyle/>
          <a:p>
            <a:r>
              <a:rPr sz="2100" i="0" b="0">
                <a:solidFill>
                  <a:srgbClr val="1A1F36"/>
                </a:solidFill>
                <a:latin typeface="Calibri"/>
              </a:rPr>
              <a:t>Hypersalivation, sedation, weight gain and metabolic syndrome.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Clozapine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23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100" i="0" b="0">
                <a:solidFill>
                  <a:srgbClr val="1A1F36"/>
                </a:solidFill>
                <a:latin typeface="Calibri"/>
              </a:rPr>
              <a:t>A patient on clozapine with fever, sore throat or flu-like symptoms needs an urgent blood count. Smoking changes clozapine levels: stopping smoking can raise levels quickly and cause toxicity.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Maintenance and Adherence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24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0">
                <a:solidFill>
                  <a:srgbClr val="1A1F36"/>
                </a:solidFill>
                <a:latin typeface="Calibri"/>
              </a:rPr>
              <a:t>Most patients need long-term treatment. After two or more episodes, maintenance therapy is given for at least 5 years, and often indefinitely. Low doses are less effective than standard doses at preventing relapse.</a:t>
            </a:r>
          </a:p>
          <a:p>
            <a:pPr>
              <a:spcAft>
                <a:spcPts val="800"/>
              </a:spcAft>
            </a:pPr>
            <a:r>
              <a:rPr sz="1700" i="0" b="0">
                <a:solidFill>
                  <a:srgbClr val="1A1F36"/>
                </a:solidFill>
                <a:latin typeface="Calibri"/>
              </a:rPr>
              <a:t>Adherence is often poor, because of:</a:t>
            </a:r>
          </a:p>
          <a:p>
            <a:pPr>
              <a:spcAft>
                <a:spcPts val="800"/>
              </a:spcAft>
            </a:pPr>
            <a:r>
              <a:rPr sz="1700" i="0" b="1">
                <a:solidFill>
                  <a:srgbClr val="1A1F36"/>
                </a:solidFill>
                <a:latin typeface="Calibri"/>
              </a:rPr>
              <a:t>Long-acting injections</a:t>
            </a:r>
            <a:r>
              <a:rPr sz="1700" i="0" b="0">
                <a:solidFill>
                  <a:srgbClr val="1A1F36"/>
                </a:solidFill>
                <a:latin typeface="Calibri"/>
              </a:rPr>
              <a:t> help when adherence is poor. Examples are haloperidol decanoate, fluphenazine decanoate, paliperidone palmitate, risperidone and aripiprazole depot. They do not solve every cause of non-adherence. They do show clearly when a dose is missed.</a:t>
            </a:r>
          </a:p>
        </p:txBody>
      </p:sp>
      <p:sp>
        <p:nvSpPr>
          <p:cNvPr id="9" name="Oval 8"/>
          <p:cNvSpPr/>
          <p:nvPr/>
        </p:nvSpPr>
        <p:spPr>
          <a:xfrm>
            <a:off x="5394959"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5989320" y="1591056"/>
            <a:ext cx="5653735" cy="1142237"/>
          </a:xfrm>
          <a:prstGeom prst="rect">
            <a:avLst/>
          </a:prstGeom>
          <a:noFill/>
        </p:spPr>
        <p:txBody>
          <a:bodyPr wrap="square" anchor="t" lIns="0" rIns="0" tIns="0" bIns="0">
            <a:spAutoFit/>
          </a:bodyPr>
          <a:lstStyle/>
          <a:p>
            <a:r>
              <a:rPr sz="2100" i="0" b="0">
                <a:solidFill>
                  <a:srgbClr val="1A1F36"/>
                </a:solidFill>
                <a:latin typeface="Calibri"/>
              </a:rPr>
              <a:t>Poor insight into the illness or denial of it.</a:t>
            </a:r>
          </a:p>
        </p:txBody>
      </p:sp>
      <p:sp>
        <p:nvSpPr>
          <p:cNvPr id="11" name="Oval 10"/>
          <p:cNvSpPr/>
          <p:nvPr/>
        </p:nvSpPr>
        <p:spPr>
          <a:xfrm>
            <a:off x="5394959" y="27607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5989320" y="2779014"/>
            <a:ext cx="5653735" cy="808863"/>
          </a:xfrm>
          <a:prstGeom prst="rect">
            <a:avLst/>
          </a:prstGeom>
          <a:noFill/>
        </p:spPr>
        <p:txBody>
          <a:bodyPr wrap="square" anchor="t" lIns="0" rIns="0" tIns="0" bIns="0">
            <a:spAutoFit/>
          </a:bodyPr>
          <a:lstStyle/>
          <a:p>
            <a:r>
              <a:rPr sz="2100" i="0" b="0">
                <a:solidFill>
                  <a:srgbClr val="1A1F36"/>
                </a:solidFill>
                <a:latin typeface="Calibri"/>
              </a:rPr>
              <a:t>Cognitive problems.</a:t>
            </a:r>
          </a:p>
        </p:txBody>
      </p:sp>
      <p:sp>
        <p:nvSpPr>
          <p:cNvPr id="13" name="Oval 12"/>
          <p:cNvSpPr/>
          <p:nvPr/>
        </p:nvSpPr>
        <p:spPr>
          <a:xfrm>
            <a:off x="5394959" y="361530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5989320" y="3633597"/>
            <a:ext cx="5653735" cy="1142237"/>
          </a:xfrm>
          <a:prstGeom prst="rect">
            <a:avLst/>
          </a:prstGeom>
          <a:noFill/>
        </p:spPr>
        <p:txBody>
          <a:bodyPr wrap="square" anchor="t" lIns="0" rIns="0" tIns="0" bIns="0">
            <a:spAutoFit/>
          </a:bodyPr>
          <a:lstStyle/>
          <a:p>
            <a:r>
              <a:rPr sz="2100" i="0" b="0">
                <a:solidFill>
                  <a:srgbClr val="1A1F36"/>
                </a:solidFill>
                <a:latin typeface="Calibri"/>
              </a:rPr>
              <a:t>Adverse effects, which are clinically significant in most patients.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Pharmacokinetics and Drug Interactions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25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9270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Antipsychotics are lipophilic. They are well absorbed, cross the blood-brain barrier and are highly protein bound. Most are metabolised in the liver by CYP enzymes. Half-lives are usually 20 to 40 hours, so once-daily dosing is often possible.</a:t>
            </a:r>
          </a:p>
        </p:txBody>
      </p:sp>
      <p:graphicFrame>
        <p:nvGraphicFramePr>
          <p:cNvPr id="9" name="Table 8"/>
          <p:cNvGraphicFramePr>
            <a:graphicFrameLocks noGrp="1"/>
          </p:cNvGraphicFramePr>
          <p:nvPr/>
        </p:nvGraphicFramePr>
        <p:xfrm>
          <a:off x="548640" y="2830068"/>
          <a:ext cx="11094414" cy="3200400"/>
        </p:xfrm>
        <a:graphic>
          <a:graphicData uri="http://schemas.openxmlformats.org/drawingml/2006/table">
            <a:tbl>
              <a:tblPr firstRow="0" bandRow="0">
                <a:tableStyleId>{5C22544A-7EE6-4342-B048-85BDC9FD1C3A}</a:tableStyleId>
              </a:tblPr>
              <a:tblGrid>
                <a:gridCol w="3619454"/>
                <a:gridCol w="2124462"/>
                <a:gridCol w="5350498"/>
              </a:tblGrid>
              <a:tr h="640080">
                <a:tc>
                  <a:txBody>
                    <a:bodyPr/>
                    <a:lstStyle/>
                    <a:p>
                      <a:r>
                        <a:rPr sz="1700" i="0" b="1">
                          <a:solidFill>
                            <a:srgbClr val="FFFFFF"/>
                          </a:solidFill>
                          <a:latin typeface="Calibri"/>
                        </a:rPr>
                        <a:t>Drug</a:t>
                      </a:r>
                    </a:p>
                  </a:txBody>
                  <a:tcPr marL="109728" marR="109728" marT="45720" marB="45720" anchor="ctr">
                    <a:solidFill>
                      <a:srgbClr val="1B2A8C"/>
                    </a:solidFill>
                  </a:tcPr>
                </a:tc>
                <a:tc>
                  <a:txBody>
                    <a:bodyPr/>
                    <a:lstStyle/>
                    <a:p>
                      <a:r>
                        <a:rPr sz="1700" i="0" b="1">
                          <a:solidFill>
                            <a:srgbClr val="FFFFFF"/>
                          </a:solidFill>
                          <a:latin typeface="Calibri"/>
                        </a:rPr>
                        <a:t>Main enzyme</a:t>
                      </a:r>
                    </a:p>
                  </a:txBody>
                  <a:tcPr marL="109728" marR="109728" marT="45720" marB="45720" anchor="ctr">
                    <a:solidFill>
                      <a:srgbClr val="1B2A8C"/>
                    </a:solidFill>
                  </a:tcPr>
                </a:tc>
                <a:tc>
                  <a:txBody>
                    <a:bodyPr/>
                    <a:lstStyle/>
                    <a:p>
                      <a:r>
                        <a:rPr sz="1700" i="0" b="1">
                          <a:solidFill>
                            <a:srgbClr val="FFFFFF"/>
                          </a:solidFill>
                          <a:latin typeface="Calibri"/>
                        </a:rPr>
                        <a:t>Practical point</a:t>
                      </a:r>
                    </a:p>
                  </a:txBody>
                  <a:tcPr marL="109728" marR="109728" marT="45720" marB="45720" anchor="ctr">
                    <a:solidFill>
                      <a:srgbClr val="1B2A8C"/>
                    </a:solidFill>
                  </a:tcPr>
                </a:tc>
              </a:tr>
              <a:tr h="640080">
                <a:tc>
                  <a:txBody>
                    <a:bodyPr/>
                    <a:lstStyle/>
                    <a:p>
                      <a:r>
                        <a:rPr sz="1800" i="0" b="1">
                          <a:solidFill>
                            <a:srgbClr val="1A1F36"/>
                          </a:solidFill>
                          <a:latin typeface="Calibri"/>
                        </a:rPr>
                        <a:t>Clozapine, olanzapine</a:t>
                      </a:r>
                    </a:p>
                  </a:txBody>
                  <a:tcPr marL="109728" marR="109728" marT="45720" marB="45720" anchor="ctr">
                    <a:solidFill>
                      <a:srgbClr val="FFFFFF"/>
                    </a:solidFill>
                  </a:tcPr>
                </a:tc>
                <a:tc>
                  <a:txBody>
                    <a:bodyPr/>
                    <a:lstStyle/>
                    <a:p>
                      <a:r>
                        <a:rPr sz="1800" i="0" b="0">
                          <a:solidFill>
                            <a:srgbClr val="1A1F36"/>
                          </a:solidFill>
                          <a:latin typeface="Calibri"/>
                        </a:rPr>
                        <a:t>CYP1A2</a:t>
                      </a:r>
                    </a:p>
                  </a:txBody>
                  <a:tcPr marL="109728" marR="109728" marT="45720" marB="45720" anchor="ctr">
                    <a:solidFill>
                      <a:srgbClr val="FFFFFF"/>
                    </a:solidFill>
                  </a:tcPr>
                </a:tc>
                <a:tc>
                  <a:txBody>
                    <a:bodyPr/>
                    <a:lstStyle/>
                    <a:p>
                      <a:r>
                        <a:rPr sz="1800" i="0" b="0">
                          <a:solidFill>
                            <a:srgbClr val="1A1F36"/>
                          </a:solidFill>
                          <a:latin typeface="Calibri"/>
                        </a:rPr>
                        <a:t>Smoking induces CYP1A2 and lowers levels; stopping smoking raises levels; fluvoxamine and ciprofloxacin raise levels</a:t>
                      </a:r>
                    </a:p>
                  </a:txBody>
                  <a:tcPr marL="109728" marR="109728" marT="45720" marB="45720" anchor="ctr">
                    <a:solidFill>
                      <a:srgbClr val="FFFFFF"/>
                    </a:solidFill>
                  </a:tcPr>
                </a:tc>
              </a:tr>
              <a:tr h="640080">
                <a:tc>
                  <a:txBody>
                    <a:bodyPr/>
                    <a:lstStyle/>
                    <a:p>
                      <a:r>
                        <a:rPr sz="1800" i="0" b="1">
                          <a:solidFill>
                            <a:srgbClr val="1A1F36"/>
                          </a:solidFill>
                          <a:latin typeface="Calibri"/>
                        </a:rPr>
                        <a:t>Risperidone, aripiprazole, haloperidol</a:t>
                      </a:r>
                    </a:p>
                  </a:txBody>
                  <a:tcPr marL="109728" marR="109728" marT="45720" marB="45720" anchor="ctr">
                    <a:solidFill>
                      <a:srgbClr val="F1F2F8"/>
                    </a:solidFill>
                  </a:tcPr>
                </a:tc>
                <a:tc>
                  <a:txBody>
                    <a:bodyPr/>
                    <a:lstStyle/>
                    <a:p>
                      <a:r>
                        <a:rPr sz="1800" i="0" b="0">
                          <a:solidFill>
                            <a:srgbClr val="1A1F36"/>
                          </a:solidFill>
                          <a:latin typeface="Calibri"/>
                        </a:rPr>
                        <a:t>CYP2D6 (and CYP3A4)</a:t>
                      </a:r>
                    </a:p>
                  </a:txBody>
                  <a:tcPr marL="109728" marR="109728" marT="45720" marB="45720" anchor="ctr">
                    <a:solidFill>
                      <a:srgbClr val="F1F2F8"/>
                    </a:solidFill>
                  </a:tcPr>
                </a:tc>
                <a:tc>
                  <a:txBody>
                    <a:bodyPr/>
                    <a:lstStyle/>
                    <a:p>
                      <a:r>
                        <a:rPr sz="1800" i="0" b="0">
                          <a:solidFill>
                            <a:srgbClr val="1A1F36"/>
                          </a:solidFill>
                          <a:latin typeface="Calibri"/>
                        </a:rPr>
                        <a:t>Fluoxetine and paroxetine raise levels; halve aripiprazole with strong CYP2D6 inhibitors</a:t>
                      </a:r>
                    </a:p>
                  </a:txBody>
                  <a:tcPr marL="109728" marR="109728" marT="45720" marB="45720" anchor="ctr">
                    <a:solidFill>
                      <a:srgbClr val="F1F2F8"/>
                    </a:solidFill>
                  </a:tcPr>
                </a:tc>
              </a:tr>
              <a:tr h="640080">
                <a:tc>
                  <a:txBody>
                    <a:bodyPr/>
                    <a:lstStyle/>
                    <a:p>
                      <a:r>
                        <a:rPr sz="1800" i="0" b="1">
                          <a:solidFill>
                            <a:srgbClr val="1A1F36"/>
                          </a:solidFill>
                          <a:latin typeface="Calibri"/>
                        </a:rPr>
                        <a:t>Quetiapine, cariprazine</a:t>
                      </a:r>
                    </a:p>
                  </a:txBody>
                  <a:tcPr marL="109728" marR="109728" marT="45720" marB="45720" anchor="ctr">
                    <a:solidFill>
                      <a:srgbClr val="FFFFFF"/>
                    </a:solidFill>
                  </a:tcPr>
                </a:tc>
                <a:tc>
                  <a:txBody>
                    <a:bodyPr/>
                    <a:lstStyle/>
                    <a:p>
                      <a:r>
                        <a:rPr sz="1800" i="0" b="0">
                          <a:solidFill>
                            <a:srgbClr val="1A1F36"/>
                          </a:solidFill>
                          <a:latin typeface="Calibri"/>
                        </a:rPr>
                        <a:t>CYP3A4</a:t>
                      </a:r>
                    </a:p>
                  </a:txBody>
                  <a:tcPr marL="109728" marR="109728" marT="45720" marB="45720" anchor="ctr">
                    <a:solidFill>
                      <a:srgbClr val="FFFFFF"/>
                    </a:solidFill>
                  </a:tcPr>
                </a:tc>
                <a:tc>
                  <a:txBody>
                    <a:bodyPr/>
                    <a:lstStyle/>
                    <a:p>
                      <a:r>
                        <a:rPr sz="1800" i="0" b="0">
                          <a:solidFill>
                            <a:srgbClr val="1A1F36"/>
                          </a:solidFill>
                          <a:latin typeface="Calibri"/>
                        </a:rPr>
                        <a:t>Ketoconazole and clarithromycin raise levels; carbamazepine and rifampicin lower them</a:t>
                      </a:r>
                    </a:p>
                  </a:txBody>
                  <a:tcPr marL="109728" marR="109728" marT="45720" marB="45720" anchor="ctr">
                    <a:solidFill>
                      <a:srgbClr val="FFFFFF"/>
                    </a:solidFill>
                  </a:tcPr>
                </a:tc>
              </a:tr>
              <a:tr h="640080">
                <a:tc>
                  <a:txBody>
                    <a:bodyPr/>
                    <a:lstStyle/>
                    <a:p>
                      <a:r>
                        <a:rPr sz="1800" i="0" b="1">
                          <a:solidFill>
                            <a:srgbClr val="1A1F36"/>
                          </a:solidFill>
                          <a:latin typeface="Calibri"/>
                        </a:rPr>
                        <a:t>Paliperidone</a:t>
                      </a:r>
                    </a:p>
                  </a:txBody>
                  <a:tcPr marL="109728" marR="109728" marT="45720" marB="45720" anchor="ctr">
                    <a:solidFill>
                      <a:srgbClr val="F1F2F8"/>
                    </a:solidFill>
                  </a:tcPr>
                </a:tc>
                <a:tc>
                  <a:txBody>
                    <a:bodyPr/>
                    <a:lstStyle/>
                    <a:p>
                      <a:r>
                        <a:rPr sz="1800" i="0" b="0">
                          <a:solidFill>
                            <a:srgbClr val="1A1F36"/>
                          </a:solidFill>
                          <a:latin typeface="Calibri"/>
                        </a:rPr>
                        <a:t>Mainly renal</a:t>
                      </a:r>
                    </a:p>
                  </a:txBody>
                  <a:tcPr marL="109728" marR="109728" marT="45720" marB="45720" anchor="ctr">
                    <a:solidFill>
                      <a:srgbClr val="F1F2F8"/>
                    </a:solidFill>
                  </a:tcPr>
                </a:tc>
                <a:tc>
                  <a:txBody>
                    <a:bodyPr/>
                    <a:lstStyle/>
                    <a:p>
                      <a:r>
                        <a:rPr sz="1800" i="0" b="0">
                          <a:solidFill>
                            <a:srgbClr val="1A1F36"/>
                          </a:solidFill>
                          <a:latin typeface="Calibri"/>
                        </a:rPr>
                        <a:t>Reduce dose in renal impairment</a:t>
                      </a:r>
                    </a:p>
                  </a:txBody>
                  <a:tcPr marL="109728" marR="109728" marT="45720" marB="45720" anchor="ctr">
                    <a:solidFill>
                      <a:srgbClr val="F1F2F8"/>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Pharmacodynamic interactions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26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106424"/>
          </a:xfrm>
          <a:prstGeom prst="rect">
            <a:avLst/>
          </a:prstGeom>
          <a:noFill/>
        </p:spPr>
        <p:txBody>
          <a:bodyPr wrap="square" anchor="t" lIns="0" rIns="0" tIns="0" bIns="0">
            <a:spAutoFit/>
          </a:bodyPr>
          <a:lstStyle/>
          <a:p>
            <a:r>
              <a:rPr sz="1800" i="0" b="1">
                <a:solidFill>
                  <a:srgbClr val="1A1F36"/>
                </a:solidFill>
                <a:latin typeface="Calibri"/>
              </a:rPr>
              <a:t>QT prolongation.</a:t>
            </a:r>
            <a:r>
              <a:rPr sz="1800" i="0" b="0">
                <a:solidFill>
                  <a:srgbClr val="1A1F36"/>
                </a:solidFill>
                <a:latin typeface="Calibri"/>
              </a:rPr>
              <a:t> Avoid combining antipsychotics with other QT-prolonging drugs: macrolides, fluoroquinolones, methadone, citalopram, some antiarrhythmics. Low potassium or magnesium adds to the risk. Haloperidol IV, thioridazine and pimozide carry the highest risk.</a:t>
            </a:r>
          </a:p>
        </p:txBody>
      </p:sp>
      <p:sp>
        <p:nvSpPr>
          <p:cNvPr id="10" name="Oval 9"/>
          <p:cNvSpPr/>
          <p:nvPr/>
        </p:nvSpPr>
        <p:spPr>
          <a:xfrm>
            <a:off x="548640" y="272491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743200"/>
            <a:ext cx="10500055" cy="820674"/>
          </a:xfrm>
          <a:prstGeom prst="rect">
            <a:avLst/>
          </a:prstGeom>
          <a:noFill/>
        </p:spPr>
        <p:txBody>
          <a:bodyPr wrap="square" anchor="t" lIns="0" rIns="0" tIns="0" bIns="0">
            <a:spAutoFit/>
          </a:bodyPr>
          <a:lstStyle/>
          <a:p>
            <a:r>
              <a:rPr sz="1800" i="0" b="1">
                <a:solidFill>
                  <a:srgbClr val="1A1F36"/>
                </a:solidFill>
                <a:latin typeface="Calibri"/>
              </a:rPr>
              <a:t>CNS depression.</a:t>
            </a:r>
            <a:r>
              <a:rPr sz="1800" i="0" b="0">
                <a:solidFill>
                  <a:srgbClr val="1A1F36"/>
                </a:solidFill>
                <a:latin typeface="Calibri"/>
              </a:rPr>
              <a:t> Alcohol, benzodiazepines, opioids and sedating antihistamines add to sedation and respiratory depression.</a:t>
            </a:r>
          </a:p>
        </p:txBody>
      </p:sp>
      <p:sp>
        <p:nvSpPr>
          <p:cNvPr id="12" name="Oval 11"/>
          <p:cNvSpPr/>
          <p:nvPr/>
        </p:nvSpPr>
        <p:spPr>
          <a:xfrm>
            <a:off x="548640" y="359130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609594"/>
            <a:ext cx="10500055" cy="1106424"/>
          </a:xfrm>
          <a:prstGeom prst="rect">
            <a:avLst/>
          </a:prstGeom>
          <a:noFill/>
        </p:spPr>
        <p:txBody>
          <a:bodyPr wrap="square" anchor="t" lIns="0" rIns="0" tIns="0" bIns="0">
            <a:spAutoFit/>
          </a:bodyPr>
          <a:lstStyle/>
          <a:p>
            <a:r>
              <a:rPr sz="1800" i="0" b="1">
                <a:solidFill>
                  <a:srgbClr val="1A1F36"/>
                </a:solidFill>
                <a:latin typeface="Calibri"/>
              </a:rPr>
              <a:t>Anticholinergic load.</a:t>
            </a:r>
            <a:r>
              <a:rPr sz="1800" i="0" b="0">
                <a:solidFill>
                  <a:srgbClr val="1A1F36"/>
                </a:solidFill>
                <a:latin typeface="Calibri"/>
              </a:rPr>
              <a:t> Tricyclics, antihistamines and bladder antimuscarinics add to constipation, urinary retention and confusion. Clozapine-induced constipation can become life-threatening.</a:t>
            </a:r>
          </a:p>
        </p:txBody>
      </p:sp>
      <p:sp>
        <p:nvSpPr>
          <p:cNvPr id="14" name="Oval 13"/>
          <p:cNvSpPr/>
          <p:nvPr/>
        </p:nvSpPr>
        <p:spPr>
          <a:xfrm>
            <a:off x="548640" y="474344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761738"/>
            <a:ext cx="10500055" cy="820674"/>
          </a:xfrm>
          <a:prstGeom prst="rect">
            <a:avLst/>
          </a:prstGeom>
          <a:noFill/>
        </p:spPr>
        <p:txBody>
          <a:bodyPr wrap="square" anchor="t" lIns="0" rIns="0" tIns="0" bIns="0">
            <a:spAutoFit/>
          </a:bodyPr>
          <a:lstStyle/>
          <a:p>
            <a:r>
              <a:rPr sz="1800" i="0" b="1">
                <a:solidFill>
                  <a:srgbClr val="1A1F36"/>
                </a:solidFill>
                <a:latin typeface="Calibri"/>
              </a:rPr>
              <a:t>Levodopa and dopamine agonists.</a:t>
            </a:r>
            <a:r>
              <a:rPr sz="1800" i="0" b="0">
                <a:solidFill>
                  <a:srgbClr val="1A1F36"/>
                </a:solidFill>
                <a:latin typeface="Calibri"/>
              </a:rPr>
              <a:t> Antipsychotics block their effect, and they can worsen psychosis. In Parkinson's disease psychosis, use low-dose quetiapine or clozapine.</a:t>
            </a:r>
          </a:p>
        </p:txBody>
      </p:sp>
      <p:sp>
        <p:nvSpPr>
          <p:cNvPr id="16" name="Oval 15"/>
          <p:cNvSpPr/>
          <p:nvPr/>
        </p:nvSpPr>
        <p:spPr>
          <a:xfrm>
            <a:off x="548640" y="560984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5628131"/>
            <a:ext cx="10500055" cy="534924"/>
          </a:xfrm>
          <a:prstGeom prst="rect">
            <a:avLst/>
          </a:prstGeom>
          <a:noFill/>
        </p:spPr>
        <p:txBody>
          <a:bodyPr wrap="square" anchor="t" lIns="0" rIns="0" tIns="0" bIns="0">
            <a:spAutoFit/>
          </a:bodyPr>
          <a:lstStyle/>
          <a:p>
            <a:r>
              <a:rPr sz="1800" i="0" b="1">
                <a:solidFill>
                  <a:srgbClr val="1A1F36"/>
                </a:solidFill>
                <a:latin typeface="Calibri"/>
              </a:rPr>
              <a:t>Antihypertensives.</a:t>
            </a:r>
            <a:r>
              <a:rPr sz="1800" i="0" b="0">
                <a:solidFill>
                  <a:srgbClr val="1A1F36"/>
                </a:solidFill>
                <a:latin typeface="Calibri"/>
              </a:rPr>
              <a:t> α1 block adds to their effect and causes postural hypotension.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Pharmacokinetics and Drug Interactions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27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D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188720" cy="347472"/>
          </a:xfrm>
          <a:prstGeom prst="roundRect">
            <a:avLst>
              <a:gd name="adj" fmla="val 50000"/>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1A1F36"/>
                </a:solidFill>
                <a:latin typeface="Calibri"/>
              </a:rPr>
              <a:t>Clozapine and olanzapine are CYP1A2 substrates. Smoking lowers their levels; a patient who stops smoking in hospital may become toxic.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Special Populations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28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323022"/>
          </a:xfrm>
          <a:prstGeom prst="rect">
            <a:avLst/>
          </a:prstGeom>
          <a:noFill/>
        </p:spPr>
        <p:txBody>
          <a:bodyPr wrap="square" anchor="t" lIns="0" rIns="0" tIns="0" bIns="0">
            <a:spAutoFit/>
          </a:bodyPr>
          <a:lstStyle/>
          <a:p>
            <a:r>
              <a:rPr sz="1800" i="0" b="1">
                <a:solidFill>
                  <a:srgbClr val="1A1F36"/>
                </a:solidFill>
                <a:latin typeface="Calibri"/>
              </a:rPr>
              <a:t>Older people and dementia.</a:t>
            </a:r>
            <a:r>
              <a:rPr sz="1800" i="0" b="0">
                <a:solidFill>
                  <a:srgbClr val="1A1F36"/>
                </a:solidFill>
                <a:latin typeface="Calibri"/>
              </a:rPr>
              <a:t> Older people are sensitive to sedation, postural hypotension, anticholinergic effects and EPS. Start low and go slow. In dementia, all antipsychotics raise the risk of stroke and death. Use them only for severe distress or risk of harm, for the shortest time, and review every few weeks.</a:t>
            </a:r>
          </a:p>
        </p:txBody>
      </p:sp>
      <p:sp>
        <p:nvSpPr>
          <p:cNvPr id="10" name="Oval 9"/>
          <p:cNvSpPr/>
          <p:nvPr/>
        </p:nvSpPr>
        <p:spPr>
          <a:xfrm>
            <a:off x="548640" y="294151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959798"/>
            <a:ext cx="10500055" cy="1608772"/>
          </a:xfrm>
          <a:prstGeom prst="rect">
            <a:avLst/>
          </a:prstGeom>
          <a:noFill/>
        </p:spPr>
        <p:txBody>
          <a:bodyPr wrap="square" anchor="t" lIns="0" rIns="0" tIns="0" bIns="0">
            <a:spAutoFit/>
          </a:bodyPr>
          <a:lstStyle/>
          <a:p>
            <a:r>
              <a:rPr sz="1800" i="0" b="1">
                <a:solidFill>
                  <a:srgbClr val="1A1F36"/>
                </a:solidFill>
                <a:latin typeface="Calibri"/>
              </a:rPr>
              <a:t>Pregnancy.</a:t>
            </a:r>
            <a:r>
              <a:rPr sz="1800" i="0" b="0">
                <a:solidFill>
                  <a:srgbClr val="1A1F36"/>
                </a:solidFill>
                <a:latin typeface="Calibri"/>
              </a:rPr>
              <a:t> Untreated psychosis carries serious risks for mother and baby. Do not stop an effective antipsychotic suddenly when a woman becomes pregnant. Discuss options with a specialist. Watch for gestational diabetes with olanzapine and clozapine. Newborns may show transient EPS or withdrawal after exposure late in pregnancy. Avoid valproate if a mood stabiliser is needed.</a:t>
            </a:r>
          </a:p>
        </p:txBody>
      </p:sp>
      <p:sp>
        <p:nvSpPr>
          <p:cNvPr id="12" name="Oval 11"/>
          <p:cNvSpPr/>
          <p:nvPr/>
        </p:nvSpPr>
        <p:spPr>
          <a:xfrm>
            <a:off x="548640" y="459600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4614291"/>
            <a:ext cx="10500055" cy="751522"/>
          </a:xfrm>
          <a:prstGeom prst="rect">
            <a:avLst/>
          </a:prstGeom>
          <a:noFill/>
        </p:spPr>
        <p:txBody>
          <a:bodyPr wrap="square" anchor="t" lIns="0" rIns="0" tIns="0" bIns="0">
            <a:spAutoFit/>
          </a:bodyPr>
          <a:lstStyle/>
          <a:p>
            <a:r>
              <a:rPr sz="1800" i="0" b="1">
                <a:solidFill>
                  <a:srgbClr val="1A1F36"/>
                </a:solidFill>
                <a:latin typeface="Calibri"/>
              </a:rPr>
              <a:t>Children and adolescents.</a:t>
            </a:r>
            <a:r>
              <a:rPr sz="1800" i="0" b="0">
                <a:solidFill>
                  <a:srgbClr val="1A1F36"/>
                </a:solidFill>
                <a:latin typeface="Calibri"/>
              </a:rPr>
              <a:t> Young people gain weight and develop metabolic changes faster than adults. Monitor closely.</a:t>
            </a:r>
          </a:p>
        </p:txBody>
      </p:sp>
      <p:sp>
        <p:nvSpPr>
          <p:cNvPr id="14" name="Oval 13"/>
          <p:cNvSpPr/>
          <p:nvPr/>
        </p:nvSpPr>
        <p:spPr>
          <a:xfrm>
            <a:off x="548640" y="539324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5411533"/>
            <a:ext cx="10500055" cy="751522"/>
          </a:xfrm>
          <a:prstGeom prst="rect">
            <a:avLst/>
          </a:prstGeom>
          <a:noFill/>
        </p:spPr>
        <p:txBody>
          <a:bodyPr wrap="square" anchor="t" lIns="0" rIns="0" tIns="0" bIns="0">
            <a:spAutoFit/>
          </a:bodyPr>
          <a:lstStyle/>
          <a:p>
            <a:r>
              <a:rPr sz="1800" i="0" b="1">
                <a:solidFill>
                  <a:srgbClr val="1A1F36"/>
                </a:solidFill>
                <a:latin typeface="Calibri"/>
              </a:rPr>
              <a:t>Epilepsy.</a:t>
            </a:r>
            <a:r>
              <a:rPr sz="1800" i="0" b="0">
                <a:solidFill>
                  <a:srgbClr val="1A1F36"/>
                </a:solidFill>
                <a:latin typeface="Calibri"/>
              </a:rPr>
              <a:t> Clozapine, chlorpromazine and high doses of most antipsychotics lower the seizure threshold. Haloperidol and aripiprazole are lower-risk choices.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Counselling the Patient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29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Good counselling improves adherence. Speak simply and involve the family when the patient agrees.</a:t>
            </a:r>
          </a:p>
        </p:txBody>
      </p:sp>
      <p:sp>
        <p:nvSpPr>
          <p:cNvPr id="9" name="Oval 8"/>
          <p:cNvSpPr/>
          <p:nvPr/>
        </p:nvSpPr>
        <p:spPr>
          <a:xfrm>
            <a:off x="548640" y="255117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569463"/>
            <a:ext cx="10500055" cy="682142"/>
          </a:xfrm>
          <a:prstGeom prst="rect">
            <a:avLst/>
          </a:prstGeom>
          <a:noFill/>
        </p:spPr>
        <p:txBody>
          <a:bodyPr wrap="square" anchor="t" lIns="0" rIns="0" tIns="0" bIns="0">
            <a:spAutoFit/>
          </a:bodyPr>
          <a:lstStyle/>
          <a:p>
            <a:r>
              <a:rPr sz="1600" i="0" b="1">
                <a:solidFill>
                  <a:srgbClr val="1A1F36"/>
                </a:solidFill>
                <a:latin typeface="Calibri"/>
              </a:rPr>
              <a:t>Why the drug is needed.</a:t>
            </a:r>
            <a:r>
              <a:rPr sz="1600" i="0" b="0">
                <a:solidFill>
                  <a:srgbClr val="1A1F36"/>
                </a:solidFill>
                <a:latin typeface="Calibri"/>
              </a:rPr>
              <a:t> It reduces voices and troubling thoughts. It works over days to weeks. Keep taking it even when well, because stopping often leads to relapse.</a:t>
            </a:r>
          </a:p>
        </p:txBody>
      </p:sp>
      <p:sp>
        <p:nvSpPr>
          <p:cNvPr id="11" name="Oval 10"/>
          <p:cNvSpPr/>
          <p:nvPr/>
        </p:nvSpPr>
        <p:spPr>
          <a:xfrm>
            <a:off x="548640" y="327903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297326"/>
            <a:ext cx="10500055" cy="682142"/>
          </a:xfrm>
          <a:prstGeom prst="rect">
            <a:avLst/>
          </a:prstGeom>
          <a:noFill/>
        </p:spPr>
        <p:txBody>
          <a:bodyPr wrap="square" anchor="t" lIns="0" rIns="0" tIns="0" bIns="0">
            <a:spAutoFit/>
          </a:bodyPr>
          <a:lstStyle/>
          <a:p>
            <a:r>
              <a:rPr sz="1600" i="0" b="1">
                <a:solidFill>
                  <a:srgbClr val="1A1F36"/>
                </a:solidFill>
                <a:latin typeface="Calibri"/>
              </a:rPr>
              <a:t>Common early effects.</a:t>
            </a:r>
            <a:r>
              <a:rPr sz="1600" i="0" b="0">
                <a:solidFill>
                  <a:srgbClr val="1A1F36"/>
                </a:solidFill>
                <a:latin typeface="Calibri"/>
              </a:rPr>
              <a:t> Sleepiness and dizziness often settle. Stand up slowly. Do not drive until you know how the drug affects you.</a:t>
            </a:r>
          </a:p>
        </p:txBody>
      </p:sp>
      <p:sp>
        <p:nvSpPr>
          <p:cNvPr id="13" name="Oval 12"/>
          <p:cNvSpPr/>
          <p:nvPr/>
        </p:nvSpPr>
        <p:spPr>
          <a:xfrm>
            <a:off x="548640" y="400690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4025188"/>
            <a:ext cx="10500055" cy="682142"/>
          </a:xfrm>
          <a:prstGeom prst="rect">
            <a:avLst/>
          </a:prstGeom>
          <a:noFill/>
        </p:spPr>
        <p:txBody>
          <a:bodyPr wrap="square" anchor="t" lIns="0" rIns="0" tIns="0" bIns="0">
            <a:spAutoFit/>
          </a:bodyPr>
          <a:lstStyle/>
          <a:p>
            <a:r>
              <a:rPr sz="1600" i="0" b="1">
                <a:solidFill>
                  <a:srgbClr val="1A1F36"/>
                </a:solidFill>
                <a:latin typeface="Calibri"/>
              </a:rPr>
              <a:t>Effects to report.</a:t>
            </a:r>
            <a:r>
              <a:rPr sz="1600" i="0" b="0">
                <a:solidFill>
                  <a:srgbClr val="1A1F36"/>
                </a:solidFill>
                <a:latin typeface="Calibri"/>
              </a:rPr>
              <a:t> Stiffness, restlessness or shaking; fever with stiff muscles; breast changes or missed periods; rapid weight gain or constant thirst.</a:t>
            </a:r>
          </a:p>
        </p:txBody>
      </p:sp>
      <p:sp>
        <p:nvSpPr>
          <p:cNvPr id="15" name="Oval 14"/>
          <p:cNvSpPr/>
          <p:nvPr/>
        </p:nvSpPr>
        <p:spPr>
          <a:xfrm>
            <a:off x="548640" y="473476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6" name="TextBox 15"/>
          <p:cNvSpPr txBox="1"/>
          <p:nvPr/>
        </p:nvSpPr>
        <p:spPr>
          <a:xfrm>
            <a:off x="1143000" y="4753051"/>
            <a:ext cx="10500055" cy="682142"/>
          </a:xfrm>
          <a:prstGeom prst="rect">
            <a:avLst/>
          </a:prstGeom>
          <a:noFill/>
        </p:spPr>
        <p:txBody>
          <a:bodyPr wrap="square" anchor="t" lIns="0" rIns="0" tIns="0" bIns="0">
            <a:spAutoFit/>
          </a:bodyPr>
          <a:lstStyle/>
          <a:p>
            <a:r>
              <a:rPr sz="1600" i="0" b="1">
                <a:solidFill>
                  <a:srgbClr val="1A1F36"/>
                </a:solidFill>
                <a:latin typeface="Calibri"/>
              </a:rPr>
              <a:t>Lifestyle.</a:t>
            </a:r>
            <a:r>
              <a:rPr sz="1600" i="0" b="0">
                <a:solidFill>
                  <a:srgbClr val="1A1F36"/>
                </a:solidFill>
                <a:latin typeface="Calibri"/>
              </a:rPr>
              <a:t> Eat regular, balanced meals and stay active to limit weight gain. Avoid alcohol and cannabis, which worsen psychosis.</a:t>
            </a:r>
          </a:p>
        </p:txBody>
      </p:sp>
      <p:sp>
        <p:nvSpPr>
          <p:cNvPr id="17" name="Oval 16"/>
          <p:cNvSpPr/>
          <p:nvPr/>
        </p:nvSpPr>
        <p:spPr>
          <a:xfrm>
            <a:off x="548640" y="546262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8" name="TextBox 17"/>
          <p:cNvSpPr txBox="1"/>
          <p:nvPr/>
        </p:nvSpPr>
        <p:spPr>
          <a:xfrm>
            <a:off x="1143000" y="5480913"/>
            <a:ext cx="10500055" cy="682142"/>
          </a:xfrm>
          <a:prstGeom prst="rect">
            <a:avLst/>
          </a:prstGeom>
          <a:noFill/>
        </p:spPr>
        <p:txBody>
          <a:bodyPr wrap="square" anchor="t" lIns="0" rIns="0" tIns="0" bIns="0">
            <a:spAutoFit/>
          </a:bodyPr>
          <a:lstStyle/>
          <a:p>
            <a:r>
              <a:rPr sz="1600" i="0" b="1">
                <a:solidFill>
                  <a:srgbClr val="1A1F36"/>
                </a:solidFill>
                <a:latin typeface="Calibri"/>
              </a:rPr>
              <a:t>Clozapine.</a:t>
            </a:r>
            <a:r>
              <a:rPr sz="1600" i="0" b="0">
                <a:solidFill>
                  <a:srgbClr val="1A1F36"/>
                </a:solidFill>
                <a:latin typeface="Calibri"/>
              </a:rPr>
              <a:t> Never miss a blood test. Report fever, sore throat or chest pain at once. Tell the team if smoking habits change. Report constipation early.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DE5"/>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Clinical Pearl</a:t>
            </a:r>
          </a:p>
          <a:p>
            <a:r>
              <a:rPr sz="1400" i="0" b="1" spc="150">
                <a:solidFill>
                  <a:srgbClr val="F1EDE5"/>
                </a:solidFill>
                <a:latin typeface="Calibri"/>
              </a:rPr>
              <a:t>Section 2</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1A1F36"/>
                </a:solidFill>
                <a:latin typeface="Calibri"/>
              </a:rPr>
              <a:t>If a patient misses clozapine for more than 48 hours, it must be restarted at a low dose and titrated again. A full dose after a break can cause severe hypotension and collapse.</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Psychosis and Antipsychotic Drugs</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30 / 54</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Choosing a Drug</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31 / 54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4617720"/>
        </p:xfrm>
        <a:graphic>
          <a:graphicData uri="http://schemas.openxmlformats.org/drawingml/2006/table">
            <a:tbl>
              <a:tblPr firstRow="0" bandRow="0">
                <a:tableStyleId>{5C22544A-7EE6-4342-B048-85BDC9FD1C3A}</a:tableStyleId>
              </a:tblPr>
              <a:tblGrid>
                <a:gridCol w="3568379"/>
                <a:gridCol w="4411814"/>
                <a:gridCol w="3114221"/>
              </a:tblGrid>
              <a:tr h="577215">
                <a:tc>
                  <a:txBody>
                    <a:bodyPr/>
                    <a:lstStyle/>
                    <a:p>
                      <a:r>
                        <a:rPr sz="1500" i="0" b="1">
                          <a:solidFill>
                            <a:srgbClr val="FFFFFF"/>
                          </a:solidFill>
                          <a:latin typeface="Calibri"/>
                        </a:rPr>
                        <a:t>Situation</a:t>
                      </a:r>
                    </a:p>
                  </a:txBody>
                  <a:tcPr marL="109728" marR="109728" marT="45720" marB="45720" anchor="ctr">
                    <a:solidFill>
                      <a:srgbClr val="1B2A8C"/>
                    </a:solidFill>
                  </a:tcPr>
                </a:tc>
                <a:tc>
                  <a:txBody>
                    <a:bodyPr/>
                    <a:lstStyle/>
                    <a:p>
                      <a:r>
                        <a:rPr sz="1500" i="0" b="1">
                          <a:solidFill>
                            <a:srgbClr val="FFFFFF"/>
                          </a:solidFill>
                          <a:latin typeface="Calibri"/>
                        </a:rPr>
                        <a:t>Suggested choice</a:t>
                      </a:r>
                    </a:p>
                  </a:txBody>
                  <a:tcPr marL="109728" marR="109728" marT="45720" marB="45720" anchor="ctr">
                    <a:solidFill>
                      <a:srgbClr val="1B2A8C"/>
                    </a:solidFill>
                  </a:tcPr>
                </a:tc>
                <a:tc>
                  <a:txBody>
                    <a:bodyPr/>
                    <a:lstStyle/>
                    <a:p>
                      <a:r>
                        <a:rPr sz="1500" i="0" b="1">
                          <a:solidFill>
                            <a:srgbClr val="FFFFFF"/>
                          </a:solidFill>
                          <a:latin typeface="Calibri"/>
                        </a:rPr>
                        <a:t>Reason</a:t>
                      </a:r>
                    </a:p>
                  </a:txBody>
                  <a:tcPr marL="109728" marR="109728" marT="45720" marB="45720" anchor="ctr">
                    <a:solidFill>
                      <a:srgbClr val="1B2A8C"/>
                    </a:solidFill>
                  </a:tcPr>
                </a:tc>
              </a:tr>
              <a:tr h="577215">
                <a:tc>
                  <a:txBody>
                    <a:bodyPr/>
                    <a:lstStyle/>
                    <a:p>
                      <a:r>
                        <a:rPr sz="1600" i="0" b="1">
                          <a:solidFill>
                            <a:srgbClr val="1A1F36"/>
                          </a:solidFill>
                          <a:latin typeface="Calibri"/>
                        </a:rPr>
                        <a:t>First episode</a:t>
                      </a:r>
                    </a:p>
                  </a:txBody>
                  <a:tcPr marL="109728" marR="109728" marT="45720" marB="45720" anchor="ctr">
                    <a:solidFill>
                      <a:srgbClr val="FFFFFF"/>
                    </a:solidFill>
                  </a:tcPr>
                </a:tc>
                <a:tc>
                  <a:txBody>
                    <a:bodyPr/>
                    <a:lstStyle/>
                    <a:p>
                      <a:r>
                        <a:rPr sz="1600" i="0" b="0">
                          <a:solidFill>
                            <a:srgbClr val="1A1F36"/>
                          </a:solidFill>
                          <a:latin typeface="Calibri"/>
                        </a:rPr>
                        <a:t>An SGA chosen with the patient (e.g. aripiprazole, risperidone, olanzapine)</a:t>
                      </a:r>
                    </a:p>
                  </a:txBody>
                  <a:tcPr marL="109728" marR="109728" marT="45720" marB="45720" anchor="ctr">
                    <a:solidFill>
                      <a:srgbClr val="FFFFFF"/>
                    </a:solidFill>
                  </a:tcPr>
                </a:tc>
                <a:tc>
                  <a:txBody>
                    <a:bodyPr/>
                    <a:lstStyle/>
                    <a:p>
                      <a:r>
                        <a:rPr sz="1600" i="0" b="0">
                          <a:solidFill>
                            <a:srgbClr val="1A1F36"/>
                          </a:solidFill>
                          <a:latin typeface="Calibri"/>
                        </a:rPr>
                        <a:t>Choose by adverse-effect profile</a:t>
                      </a:r>
                    </a:p>
                  </a:txBody>
                  <a:tcPr marL="109728" marR="109728" marT="45720" marB="45720" anchor="ctr">
                    <a:solidFill>
                      <a:srgbClr val="FFFFFF"/>
                    </a:solidFill>
                  </a:tcPr>
                </a:tc>
              </a:tr>
              <a:tr h="577215">
                <a:tc>
                  <a:txBody>
                    <a:bodyPr/>
                    <a:lstStyle/>
                    <a:p>
                      <a:r>
                        <a:rPr sz="1600" i="0" b="1">
                          <a:solidFill>
                            <a:srgbClr val="1A1F36"/>
                          </a:solidFill>
                          <a:latin typeface="Calibri"/>
                        </a:rPr>
                        <a:t>Obesity, diabetes or family history of diabetes</a:t>
                      </a:r>
                    </a:p>
                  </a:txBody>
                  <a:tcPr marL="109728" marR="109728" marT="45720" marB="45720" anchor="ctr">
                    <a:solidFill>
                      <a:srgbClr val="F1F2F8"/>
                    </a:solidFill>
                  </a:tcPr>
                </a:tc>
                <a:tc>
                  <a:txBody>
                    <a:bodyPr/>
                    <a:lstStyle/>
                    <a:p>
                      <a:r>
                        <a:rPr sz="1600" i="0" b="0">
                          <a:solidFill>
                            <a:srgbClr val="1A1F36"/>
                          </a:solidFill>
                          <a:latin typeface="Calibri"/>
                        </a:rPr>
                        <a:t>Aripiprazole, cariprazine</a:t>
                      </a:r>
                    </a:p>
                  </a:txBody>
                  <a:tcPr marL="109728" marR="109728" marT="45720" marB="45720" anchor="ctr">
                    <a:solidFill>
                      <a:srgbClr val="F1F2F8"/>
                    </a:solidFill>
                  </a:tcPr>
                </a:tc>
                <a:tc>
                  <a:txBody>
                    <a:bodyPr/>
                    <a:lstStyle/>
                    <a:p>
                      <a:r>
                        <a:rPr sz="1600" i="0" b="0">
                          <a:solidFill>
                            <a:srgbClr val="1A1F36"/>
                          </a:solidFill>
                          <a:latin typeface="Calibri"/>
                        </a:rPr>
                        <a:t>Low metabolic risk</a:t>
                      </a:r>
                    </a:p>
                  </a:txBody>
                  <a:tcPr marL="109728" marR="109728" marT="45720" marB="45720" anchor="ctr">
                    <a:solidFill>
                      <a:srgbClr val="F1F2F8"/>
                    </a:solidFill>
                  </a:tcPr>
                </a:tc>
              </a:tr>
              <a:tr h="577215">
                <a:tc>
                  <a:txBody>
                    <a:bodyPr/>
                    <a:lstStyle/>
                    <a:p>
                      <a:r>
                        <a:rPr sz="1600" i="0" b="1">
                          <a:solidFill>
                            <a:srgbClr val="1A1F36"/>
                          </a:solidFill>
                          <a:latin typeface="Calibri"/>
                        </a:rPr>
                        <a:t>History of EPS</a:t>
                      </a:r>
                    </a:p>
                  </a:txBody>
                  <a:tcPr marL="109728" marR="109728" marT="45720" marB="45720" anchor="ctr">
                    <a:solidFill>
                      <a:srgbClr val="FFFFFF"/>
                    </a:solidFill>
                  </a:tcPr>
                </a:tc>
                <a:tc>
                  <a:txBody>
                    <a:bodyPr/>
                    <a:lstStyle/>
                    <a:p>
                      <a:r>
                        <a:rPr sz="1600" i="0" b="0">
                          <a:solidFill>
                            <a:srgbClr val="1A1F36"/>
                          </a:solidFill>
                          <a:latin typeface="Calibri"/>
                        </a:rPr>
                        <a:t>Quetiapine, aripiprazole, clozapine</a:t>
                      </a:r>
                    </a:p>
                  </a:txBody>
                  <a:tcPr marL="109728" marR="109728" marT="45720" marB="45720" anchor="ctr">
                    <a:solidFill>
                      <a:srgbClr val="FFFFFF"/>
                    </a:solidFill>
                  </a:tcPr>
                </a:tc>
                <a:tc>
                  <a:txBody>
                    <a:bodyPr/>
                    <a:lstStyle/>
                    <a:p>
                      <a:r>
                        <a:rPr sz="1600" i="0" b="0">
                          <a:solidFill>
                            <a:srgbClr val="1A1F36"/>
                          </a:solidFill>
                          <a:latin typeface="Calibri"/>
                        </a:rPr>
                        <a:t>Low EPS risk</a:t>
                      </a:r>
                    </a:p>
                  </a:txBody>
                  <a:tcPr marL="109728" marR="109728" marT="45720" marB="45720" anchor="ctr">
                    <a:solidFill>
                      <a:srgbClr val="FFFFFF"/>
                    </a:solidFill>
                  </a:tcPr>
                </a:tc>
              </a:tr>
              <a:tr h="577215">
                <a:tc>
                  <a:txBody>
                    <a:bodyPr/>
                    <a:lstStyle/>
                    <a:p>
                      <a:r>
                        <a:rPr sz="1600" i="0" b="1">
                          <a:solidFill>
                            <a:srgbClr val="1A1F36"/>
                          </a:solidFill>
                          <a:latin typeface="Calibri"/>
                        </a:rPr>
                        <a:t>Raised prolactin or sexual dysfunction</a:t>
                      </a:r>
                    </a:p>
                  </a:txBody>
                  <a:tcPr marL="109728" marR="109728" marT="45720" marB="45720" anchor="ctr">
                    <a:solidFill>
                      <a:srgbClr val="F1F2F8"/>
                    </a:solidFill>
                  </a:tcPr>
                </a:tc>
                <a:tc>
                  <a:txBody>
                    <a:bodyPr/>
                    <a:lstStyle/>
                    <a:p>
                      <a:r>
                        <a:rPr sz="1600" i="0" b="0">
                          <a:solidFill>
                            <a:srgbClr val="1A1F36"/>
                          </a:solidFill>
                          <a:latin typeface="Calibri"/>
                        </a:rPr>
                        <a:t>Aripiprazole</a:t>
                      </a:r>
                    </a:p>
                  </a:txBody>
                  <a:tcPr marL="109728" marR="109728" marT="45720" marB="45720" anchor="ctr">
                    <a:solidFill>
                      <a:srgbClr val="F1F2F8"/>
                    </a:solidFill>
                  </a:tcPr>
                </a:tc>
                <a:tc>
                  <a:txBody>
                    <a:bodyPr/>
                    <a:lstStyle/>
                    <a:p>
                      <a:r>
                        <a:rPr sz="1600" i="0" b="0">
                          <a:solidFill>
                            <a:srgbClr val="1A1F36"/>
                          </a:solidFill>
                          <a:latin typeface="Calibri"/>
                        </a:rPr>
                        <a:t>Partial agonist lowers prolactin</a:t>
                      </a:r>
                    </a:p>
                  </a:txBody>
                  <a:tcPr marL="109728" marR="109728" marT="45720" marB="45720" anchor="ctr">
                    <a:solidFill>
                      <a:srgbClr val="F1F2F8"/>
                    </a:solidFill>
                  </a:tcPr>
                </a:tc>
              </a:tr>
              <a:tr h="577215">
                <a:tc>
                  <a:txBody>
                    <a:bodyPr/>
                    <a:lstStyle/>
                    <a:p>
                      <a:r>
                        <a:rPr sz="1600" i="0" b="1">
                          <a:solidFill>
                            <a:srgbClr val="1A1F36"/>
                          </a:solidFill>
                          <a:latin typeface="Calibri"/>
                        </a:rPr>
                        <a:t>Two adequate trials failed</a:t>
                      </a:r>
                    </a:p>
                  </a:txBody>
                  <a:tcPr marL="109728" marR="109728" marT="45720" marB="45720" anchor="ctr">
                    <a:solidFill>
                      <a:srgbClr val="FFFFFF"/>
                    </a:solidFill>
                  </a:tcPr>
                </a:tc>
                <a:tc>
                  <a:txBody>
                    <a:bodyPr/>
                    <a:lstStyle/>
                    <a:p>
                      <a:r>
                        <a:rPr sz="1600" i="0" b="0">
                          <a:solidFill>
                            <a:srgbClr val="1A1F36"/>
                          </a:solidFill>
                          <a:latin typeface="Calibri"/>
                        </a:rPr>
                        <a:t>Clozapine</a:t>
                      </a:r>
                    </a:p>
                  </a:txBody>
                  <a:tcPr marL="109728" marR="109728" marT="45720" marB="45720" anchor="ctr">
                    <a:solidFill>
                      <a:srgbClr val="FFFFFF"/>
                    </a:solidFill>
                  </a:tcPr>
                </a:tc>
                <a:tc>
                  <a:txBody>
                    <a:bodyPr/>
                    <a:lstStyle/>
                    <a:p>
                      <a:r>
                        <a:rPr sz="1600" i="0" b="0">
                          <a:solidFill>
                            <a:srgbClr val="1A1F36"/>
                          </a:solidFill>
                          <a:latin typeface="Calibri"/>
                        </a:rPr>
                        <a:t>Only drug proven in resistant illness</a:t>
                      </a:r>
                    </a:p>
                  </a:txBody>
                  <a:tcPr marL="109728" marR="109728" marT="45720" marB="45720" anchor="ctr">
                    <a:solidFill>
                      <a:srgbClr val="FFFFFF"/>
                    </a:solidFill>
                  </a:tcPr>
                </a:tc>
              </a:tr>
              <a:tr h="577215">
                <a:tc>
                  <a:txBody>
                    <a:bodyPr/>
                    <a:lstStyle/>
                    <a:p>
                      <a:r>
                        <a:rPr sz="1600" i="0" b="1">
                          <a:solidFill>
                            <a:srgbClr val="1A1F36"/>
                          </a:solidFill>
                          <a:latin typeface="Calibri"/>
                        </a:rPr>
                        <a:t>Poor adherence</a:t>
                      </a:r>
                    </a:p>
                  </a:txBody>
                  <a:tcPr marL="109728" marR="109728" marT="45720" marB="45720" anchor="ctr">
                    <a:solidFill>
                      <a:srgbClr val="F1F2F8"/>
                    </a:solidFill>
                  </a:tcPr>
                </a:tc>
                <a:tc>
                  <a:txBody>
                    <a:bodyPr/>
                    <a:lstStyle/>
                    <a:p>
                      <a:r>
                        <a:rPr sz="1600" i="0" b="0">
                          <a:solidFill>
                            <a:srgbClr val="1A1F36"/>
                          </a:solidFill>
                          <a:latin typeface="Calibri"/>
                        </a:rPr>
                        <a:t>Long-acting injection</a:t>
                      </a:r>
                    </a:p>
                  </a:txBody>
                  <a:tcPr marL="109728" marR="109728" marT="45720" marB="45720" anchor="ctr">
                    <a:solidFill>
                      <a:srgbClr val="F1F2F8"/>
                    </a:solidFill>
                  </a:tcPr>
                </a:tc>
                <a:tc>
                  <a:txBody>
                    <a:bodyPr/>
                    <a:lstStyle/>
                    <a:p>
                      <a:r>
                        <a:rPr sz="1600" i="0" b="0">
                          <a:solidFill>
                            <a:srgbClr val="1A1F36"/>
                          </a:solidFill>
                          <a:latin typeface="Calibri"/>
                        </a:rPr>
                        <a:t>Ensures delivery</a:t>
                      </a:r>
                    </a:p>
                  </a:txBody>
                  <a:tcPr marL="109728" marR="109728" marT="45720" marB="45720" anchor="ctr">
                    <a:solidFill>
                      <a:srgbClr val="F1F2F8"/>
                    </a:solidFill>
                  </a:tcPr>
                </a:tc>
              </a:tr>
              <a:tr h="577215">
                <a:tc>
                  <a:txBody>
                    <a:bodyPr/>
                    <a:lstStyle/>
                    <a:p>
                      <a:r>
                        <a:rPr sz="1600" i="0" b="1">
                          <a:solidFill>
                            <a:srgbClr val="1A1F36"/>
                          </a:solidFill>
                          <a:latin typeface="Calibri"/>
                        </a:rPr>
                        <a:t>Aggression in Alzheimer's disease</a:t>
                      </a:r>
                    </a:p>
                  </a:txBody>
                  <a:tcPr marL="109728" marR="109728" marT="45720" marB="45720" anchor="ctr">
                    <a:solidFill>
                      <a:srgbClr val="FFFFFF"/>
                    </a:solidFill>
                  </a:tcPr>
                </a:tc>
                <a:tc>
                  <a:txBody>
                    <a:bodyPr/>
                    <a:lstStyle/>
                    <a:p>
                      <a:r>
                        <a:rPr sz="1600" i="0" b="0">
                          <a:solidFill>
                            <a:srgbClr val="1A1F36"/>
                          </a:solidFill>
                          <a:latin typeface="Calibri"/>
                        </a:rPr>
                        <a:t>Risperidone, short term only</a:t>
                      </a:r>
                    </a:p>
                  </a:txBody>
                  <a:tcPr marL="109728" marR="109728" marT="45720" marB="45720" anchor="ctr">
                    <a:solidFill>
                      <a:srgbClr val="FFFFFF"/>
                    </a:solidFill>
                  </a:tcPr>
                </a:tc>
                <a:tc>
                  <a:txBody>
                    <a:bodyPr/>
                    <a:lstStyle/>
                    <a:p>
                      <a:r>
                        <a:rPr sz="1600" i="0" b="0">
                          <a:solidFill>
                            <a:srgbClr val="1A1F36"/>
                          </a:solidFill>
                          <a:latin typeface="Calibri"/>
                        </a:rPr>
                        <a:t>Licensed; raised stroke risk in dementia</a:t>
                      </a:r>
                    </a:p>
                  </a:txBody>
                  <a:tcPr marL="109728" marR="109728" marT="45720" marB="45720"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Brands in Egypt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32 / 54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4480560"/>
        </p:xfrm>
        <a:graphic>
          <a:graphicData uri="http://schemas.openxmlformats.org/drawingml/2006/table">
            <a:tbl>
              <a:tblPr firstRow="0" bandRow="0">
                <a:tableStyleId>{5C22544A-7EE6-4342-B048-85BDC9FD1C3A}</a:tableStyleId>
              </a:tblPr>
              <a:tblGrid>
                <a:gridCol w="4289840"/>
                <a:gridCol w="3402287"/>
                <a:gridCol w="3402287"/>
              </a:tblGrid>
              <a:tr h="640080">
                <a:tc>
                  <a:txBody>
                    <a:bodyPr/>
                    <a:lstStyle/>
                    <a:p>
                      <a:r>
                        <a:rPr sz="1900" i="0" b="1">
                          <a:solidFill>
                            <a:srgbClr val="FFFFFF"/>
                          </a:solidFill>
                          <a:latin typeface="Calibri"/>
                        </a:rPr>
                        <a:t>Generic name</a:t>
                      </a:r>
                    </a:p>
                  </a:txBody>
                  <a:tcPr marL="109728" marR="109728" marT="45720" marB="45720" anchor="ctr">
                    <a:solidFill>
                      <a:srgbClr val="1B2A8C"/>
                    </a:solidFill>
                  </a:tcPr>
                </a:tc>
                <a:tc>
                  <a:txBody>
                    <a:bodyPr/>
                    <a:lstStyle/>
                    <a:p>
                      <a:r>
                        <a:rPr sz="1900" i="0" b="1">
                          <a:solidFill>
                            <a:srgbClr val="FFFFFF"/>
                          </a:solidFill>
                          <a:latin typeface="Calibri"/>
                        </a:rPr>
                        <a:t>Brand examples</a:t>
                      </a:r>
                    </a:p>
                  </a:txBody>
                  <a:tcPr marL="109728" marR="109728" marT="45720" marB="45720" anchor="ctr">
                    <a:solidFill>
                      <a:srgbClr val="1B2A8C"/>
                    </a:solidFill>
                  </a:tcPr>
                </a:tc>
                <a:tc>
                  <a:txBody>
                    <a:bodyPr/>
                    <a:lstStyle/>
                    <a:p>
                      <a:r>
                        <a:rPr sz="1900" i="0" b="1">
                          <a:solidFill>
                            <a:srgbClr val="FFFFFF"/>
                          </a:solidFill>
                          <a:latin typeface="Calibri"/>
                        </a:rPr>
                        <a:t>Dosage forms</a:t>
                      </a:r>
                    </a:p>
                  </a:txBody>
                  <a:tcPr marL="109728" marR="109728" marT="45720" marB="45720" anchor="ctr">
                    <a:solidFill>
                      <a:srgbClr val="1B2A8C"/>
                    </a:solidFill>
                  </a:tcPr>
                </a:tc>
              </a:tr>
              <a:tr h="640080">
                <a:tc>
                  <a:txBody>
                    <a:bodyPr/>
                    <a:lstStyle/>
                    <a:p>
                      <a:r>
                        <a:rPr sz="2000" i="0" b="1">
                          <a:solidFill>
                            <a:srgbClr val="1A1F36"/>
                          </a:solidFill>
                          <a:latin typeface="Calibri"/>
                        </a:rPr>
                        <a:t>Chlorpromazine</a:t>
                      </a:r>
                    </a:p>
                  </a:txBody>
                  <a:tcPr marL="109728" marR="109728" marT="45720" marB="45720" anchor="ctr">
                    <a:solidFill>
                      <a:srgbClr val="FFFFFF"/>
                    </a:solidFill>
                  </a:tcPr>
                </a:tc>
                <a:tc>
                  <a:txBody>
                    <a:bodyPr/>
                    <a:lstStyle/>
                    <a:p>
                      <a:r>
                        <a:rPr sz="2000" i="0" b="0">
                          <a:solidFill>
                            <a:srgbClr val="1A1F36"/>
                          </a:solidFill>
                          <a:latin typeface="Calibri"/>
                        </a:rPr>
                        <a:t>Neurazine</a:t>
                      </a:r>
                    </a:p>
                  </a:txBody>
                  <a:tcPr marL="109728" marR="109728" marT="45720" marB="45720" anchor="ctr">
                    <a:solidFill>
                      <a:srgbClr val="FFFFFF"/>
                    </a:solidFill>
                  </a:tcPr>
                </a:tc>
                <a:tc>
                  <a:txBody>
                    <a:bodyPr/>
                    <a:lstStyle/>
                    <a:p>
                      <a:r>
                        <a:rPr sz="2000" i="0" b="0">
                          <a:solidFill>
                            <a:srgbClr val="1A1F36"/>
                          </a:solidFill>
                          <a:latin typeface="Calibri"/>
                        </a:rPr>
                        <a:t>Tablets</a:t>
                      </a:r>
                    </a:p>
                  </a:txBody>
                  <a:tcPr marL="109728" marR="109728" marT="45720" marB="45720" anchor="ctr">
                    <a:solidFill>
                      <a:srgbClr val="FFFFFF"/>
                    </a:solidFill>
                  </a:tcPr>
                </a:tc>
              </a:tr>
              <a:tr h="640080">
                <a:tc>
                  <a:txBody>
                    <a:bodyPr/>
                    <a:lstStyle/>
                    <a:p>
                      <a:r>
                        <a:rPr sz="2000" i="0" b="1">
                          <a:solidFill>
                            <a:srgbClr val="1A1F36"/>
                          </a:solidFill>
                          <a:latin typeface="Calibri"/>
                        </a:rPr>
                        <a:t>Haloperidol</a:t>
                      </a:r>
                    </a:p>
                  </a:txBody>
                  <a:tcPr marL="109728" marR="109728" marT="45720" marB="45720" anchor="ctr">
                    <a:solidFill>
                      <a:srgbClr val="F1F2F8"/>
                    </a:solidFill>
                  </a:tcPr>
                </a:tc>
                <a:tc>
                  <a:txBody>
                    <a:bodyPr/>
                    <a:lstStyle/>
                    <a:p>
                      <a:r>
                        <a:rPr sz="2000" i="0" b="0">
                          <a:solidFill>
                            <a:srgbClr val="1A1F36"/>
                          </a:solidFill>
                          <a:latin typeface="Calibri"/>
                        </a:rPr>
                        <a:t>Halonace</a:t>
                      </a:r>
                    </a:p>
                  </a:txBody>
                  <a:tcPr marL="109728" marR="109728" marT="45720" marB="45720" anchor="ctr">
                    <a:solidFill>
                      <a:srgbClr val="F1F2F8"/>
                    </a:solidFill>
                  </a:tcPr>
                </a:tc>
                <a:tc>
                  <a:txBody>
                    <a:bodyPr/>
                    <a:lstStyle/>
                    <a:p>
                      <a:r>
                        <a:rPr sz="2000" i="0" b="0">
                          <a:solidFill>
                            <a:srgbClr val="1A1F36"/>
                          </a:solidFill>
                          <a:latin typeface="Calibri"/>
                        </a:rPr>
                        <a:t>Tablets</a:t>
                      </a:r>
                    </a:p>
                  </a:txBody>
                  <a:tcPr marL="109728" marR="109728" marT="45720" marB="45720" anchor="ctr">
                    <a:solidFill>
                      <a:srgbClr val="F1F2F8"/>
                    </a:solidFill>
                  </a:tcPr>
                </a:tc>
              </a:tr>
              <a:tr h="640080">
                <a:tc>
                  <a:txBody>
                    <a:bodyPr/>
                    <a:lstStyle/>
                    <a:p>
                      <a:r>
                        <a:rPr sz="2000" i="0" b="1">
                          <a:solidFill>
                            <a:srgbClr val="1A1F36"/>
                          </a:solidFill>
                          <a:latin typeface="Calibri"/>
                        </a:rPr>
                        <a:t>Haloperidol decanoate</a:t>
                      </a:r>
                    </a:p>
                  </a:txBody>
                  <a:tcPr marL="109728" marR="109728" marT="45720" marB="45720" anchor="ctr">
                    <a:solidFill>
                      <a:srgbClr val="FFFFFF"/>
                    </a:solidFill>
                  </a:tcPr>
                </a:tc>
                <a:tc>
                  <a:txBody>
                    <a:bodyPr/>
                    <a:lstStyle/>
                    <a:p>
                      <a:r>
                        <a:rPr sz="2000" i="0" b="0">
                          <a:solidFill>
                            <a:srgbClr val="1A1F36"/>
                          </a:solidFill>
                          <a:latin typeface="Calibri"/>
                        </a:rPr>
                        <a:t>Haldol Decanoas</a:t>
                      </a:r>
                    </a:p>
                  </a:txBody>
                  <a:tcPr marL="109728" marR="109728" marT="45720" marB="45720" anchor="ctr">
                    <a:solidFill>
                      <a:srgbClr val="FFFFFF"/>
                    </a:solidFill>
                  </a:tcPr>
                </a:tc>
                <a:tc>
                  <a:txBody>
                    <a:bodyPr/>
                    <a:lstStyle/>
                    <a:p>
                      <a:r>
                        <a:rPr sz="2000" i="0" b="0">
                          <a:solidFill>
                            <a:srgbClr val="1A1F36"/>
                          </a:solidFill>
                          <a:latin typeface="Calibri"/>
                        </a:rPr>
                        <a:t>Depot injection</a:t>
                      </a:r>
                    </a:p>
                  </a:txBody>
                  <a:tcPr marL="109728" marR="109728" marT="45720" marB="45720" anchor="ctr">
                    <a:solidFill>
                      <a:srgbClr val="FFFFFF"/>
                    </a:solidFill>
                  </a:tcPr>
                </a:tc>
              </a:tr>
              <a:tr h="640080">
                <a:tc>
                  <a:txBody>
                    <a:bodyPr/>
                    <a:lstStyle/>
                    <a:p>
                      <a:r>
                        <a:rPr sz="2000" i="0" b="1">
                          <a:solidFill>
                            <a:srgbClr val="1A1F36"/>
                          </a:solidFill>
                          <a:latin typeface="Calibri"/>
                        </a:rPr>
                        <a:t>Olanzapine</a:t>
                      </a:r>
                    </a:p>
                  </a:txBody>
                  <a:tcPr marL="109728" marR="109728" marT="45720" marB="45720" anchor="ctr">
                    <a:solidFill>
                      <a:srgbClr val="F1F2F8"/>
                    </a:solidFill>
                  </a:tcPr>
                </a:tc>
                <a:tc>
                  <a:txBody>
                    <a:bodyPr/>
                    <a:lstStyle/>
                    <a:p>
                      <a:r>
                        <a:rPr sz="2000" i="0" b="0">
                          <a:solidFill>
                            <a:srgbClr val="1A1F36"/>
                          </a:solidFill>
                          <a:latin typeface="Calibri"/>
                        </a:rPr>
                        <a:t>Olapex</a:t>
                      </a:r>
                    </a:p>
                  </a:txBody>
                  <a:tcPr marL="109728" marR="109728" marT="45720" marB="45720" anchor="ctr">
                    <a:solidFill>
                      <a:srgbClr val="F1F2F8"/>
                    </a:solidFill>
                  </a:tcPr>
                </a:tc>
                <a:tc>
                  <a:txBody>
                    <a:bodyPr/>
                    <a:lstStyle/>
                    <a:p>
                      <a:r>
                        <a:rPr sz="2000" i="0" b="0">
                          <a:solidFill>
                            <a:srgbClr val="1A1F36"/>
                          </a:solidFill>
                          <a:latin typeface="Calibri"/>
                        </a:rPr>
                        <a:t>Tablets</a:t>
                      </a:r>
                    </a:p>
                  </a:txBody>
                  <a:tcPr marL="109728" marR="109728" marT="45720" marB="45720" anchor="ctr">
                    <a:solidFill>
                      <a:srgbClr val="F1F2F8"/>
                    </a:solidFill>
                  </a:tcPr>
                </a:tc>
              </a:tr>
              <a:tr h="640080">
                <a:tc>
                  <a:txBody>
                    <a:bodyPr/>
                    <a:lstStyle/>
                    <a:p>
                      <a:r>
                        <a:rPr sz="2000" i="0" b="1">
                          <a:solidFill>
                            <a:srgbClr val="1A1F36"/>
                          </a:solidFill>
                          <a:latin typeface="Calibri"/>
                        </a:rPr>
                        <a:t>Clozapine</a:t>
                      </a:r>
                    </a:p>
                  </a:txBody>
                  <a:tcPr marL="109728" marR="109728" marT="45720" marB="45720" anchor="ctr">
                    <a:solidFill>
                      <a:srgbClr val="FFFFFF"/>
                    </a:solidFill>
                  </a:tcPr>
                </a:tc>
                <a:tc>
                  <a:txBody>
                    <a:bodyPr/>
                    <a:lstStyle/>
                    <a:p>
                      <a:r>
                        <a:rPr sz="2000" i="0" b="0">
                          <a:solidFill>
                            <a:srgbClr val="1A1F36"/>
                          </a:solidFill>
                          <a:latin typeface="Calibri"/>
                        </a:rPr>
                        <a:t>Clozapex</a:t>
                      </a:r>
                    </a:p>
                  </a:txBody>
                  <a:tcPr marL="109728" marR="109728" marT="45720" marB="45720" anchor="ctr">
                    <a:solidFill>
                      <a:srgbClr val="FFFFFF"/>
                    </a:solidFill>
                  </a:tcPr>
                </a:tc>
                <a:tc>
                  <a:txBody>
                    <a:bodyPr/>
                    <a:lstStyle/>
                    <a:p>
                      <a:r>
                        <a:rPr sz="2000" i="0" b="0">
                          <a:solidFill>
                            <a:srgbClr val="1A1F36"/>
                          </a:solidFill>
                          <a:latin typeface="Calibri"/>
                        </a:rPr>
                        <a:t>Tablets</a:t>
                      </a:r>
                    </a:p>
                  </a:txBody>
                  <a:tcPr marL="109728" marR="109728" marT="45720" marB="45720" anchor="ctr">
                    <a:solidFill>
                      <a:srgbClr val="FFFFFF"/>
                    </a:solidFill>
                  </a:tcPr>
                </a:tc>
              </a:tr>
              <a:tr h="640080">
                <a:tc>
                  <a:txBody>
                    <a:bodyPr/>
                    <a:lstStyle/>
                    <a:p>
                      <a:r>
                        <a:rPr sz="2000" i="0" b="1">
                          <a:solidFill>
                            <a:srgbClr val="1A1F36"/>
                          </a:solidFill>
                          <a:latin typeface="Calibri"/>
                        </a:rPr>
                        <a:t>Cariprazine</a:t>
                      </a:r>
                    </a:p>
                  </a:txBody>
                  <a:tcPr marL="109728" marR="109728" marT="45720" marB="45720" anchor="ctr">
                    <a:solidFill>
                      <a:srgbClr val="F1F2F8"/>
                    </a:solidFill>
                  </a:tcPr>
                </a:tc>
                <a:tc>
                  <a:txBody>
                    <a:bodyPr/>
                    <a:lstStyle/>
                    <a:p>
                      <a:r>
                        <a:rPr sz="2000" i="0" b="0">
                          <a:solidFill>
                            <a:srgbClr val="1A1F36"/>
                          </a:solidFill>
                          <a:latin typeface="Calibri"/>
                        </a:rPr>
                        <a:t>Reagila</a:t>
                      </a:r>
                    </a:p>
                  </a:txBody>
                  <a:tcPr marL="109728" marR="109728" marT="45720" marB="45720" anchor="ctr">
                    <a:solidFill>
                      <a:srgbClr val="F1F2F8"/>
                    </a:solidFill>
                  </a:tcPr>
                </a:tc>
                <a:tc>
                  <a:txBody>
                    <a:bodyPr/>
                    <a:lstStyle/>
                    <a:p>
                      <a:r>
                        <a:rPr sz="2000" i="0" b="0">
                          <a:solidFill>
                            <a:srgbClr val="1A1F36"/>
                          </a:solidFill>
                          <a:latin typeface="Calibri"/>
                        </a:rPr>
                        <a:t>Capsules</a:t>
                      </a:r>
                    </a:p>
                  </a:txBody>
                  <a:tcPr marL="109728" marR="109728" marT="45720" marB="45720" anchor="ctr">
                    <a:solidFill>
                      <a:srgbClr val="F1F2F8"/>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For Discussion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33 / 54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275397"/>
          </a:xfrm>
          <a:prstGeom prst="rect">
            <a:avLst/>
          </a:prstGeom>
          <a:noFill/>
        </p:spPr>
        <p:txBody>
          <a:bodyPr wrap="square" anchor="t" lIns="0" rIns="0" tIns="0" bIns="0">
            <a:spAutoFit/>
          </a:bodyPr>
          <a:lstStyle/>
          <a:p>
            <a:r>
              <a:rPr sz="2100" i="0" b="0">
                <a:solidFill>
                  <a:srgbClr val="1A1F36"/>
                </a:solidFill>
                <a:latin typeface="Calibri"/>
              </a:rPr>
              <a:t>Blocking D2 receptors in the mesolimbic pathway treats positive symptoms. Why does the same action in the nigrostriatal pathway cause EPS? How would you explain muscle stiffness to a patient in simple words?</a:t>
            </a:r>
          </a:p>
        </p:txBody>
      </p:sp>
      <p:sp>
        <p:nvSpPr>
          <p:cNvPr id="10" name="Oval 9"/>
          <p:cNvSpPr/>
          <p:nvPr/>
        </p:nvSpPr>
        <p:spPr>
          <a:xfrm>
            <a:off x="548640" y="289388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912173"/>
            <a:ext cx="10500055" cy="1275397"/>
          </a:xfrm>
          <a:prstGeom prst="rect">
            <a:avLst/>
          </a:prstGeom>
          <a:noFill/>
        </p:spPr>
        <p:txBody>
          <a:bodyPr wrap="square" anchor="t" lIns="0" rIns="0" tIns="0" bIns="0">
            <a:spAutoFit/>
          </a:bodyPr>
          <a:lstStyle/>
          <a:p>
            <a:r>
              <a:rPr sz="2100" i="0" b="0">
                <a:solidFill>
                  <a:srgbClr val="1A1F36"/>
                </a:solidFill>
                <a:latin typeface="Calibri"/>
              </a:rPr>
              <a:t>A patient's mother worries about switching from chlorpromazine to risperidone because of "metabolic side effects". How would you counsel her on the balance between EPS and weight gain?</a:t>
            </a:r>
          </a:p>
        </p:txBody>
      </p:sp>
      <p:sp>
        <p:nvSpPr>
          <p:cNvPr id="12" name="Oval 11"/>
          <p:cNvSpPr/>
          <p:nvPr/>
        </p:nvSpPr>
        <p:spPr>
          <a:xfrm>
            <a:off x="548640" y="421500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4233291"/>
            <a:ext cx="10500055" cy="942022"/>
          </a:xfrm>
          <a:prstGeom prst="rect">
            <a:avLst/>
          </a:prstGeom>
          <a:noFill/>
        </p:spPr>
        <p:txBody>
          <a:bodyPr wrap="square" anchor="t" lIns="0" rIns="0" tIns="0" bIns="0">
            <a:spAutoFit/>
          </a:bodyPr>
          <a:lstStyle/>
          <a:p>
            <a:r>
              <a:rPr sz="2100" i="0" b="0">
                <a:solidFill>
                  <a:srgbClr val="1A1F36"/>
                </a:solidFill>
                <a:latin typeface="Calibri"/>
              </a:rPr>
              <a:t>A stable patient on risperidone has marked emotional blunting. Why might a partial agonist be considered? What early adverse effect would you warn about?</a:t>
            </a:r>
          </a:p>
        </p:txBody>
      </p:sp>
      <p:sp>
        <p:nvSpPr>
          <p:cNvPr id="14" name="Oval 13"/>
          <p:cNvSpPr/>
          <p:nvPr/>
        </p:nvSpPr>
        <p:spPr>
          <a:xfrm>
            <a:off x="548640" y="520274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5221033"/>
            <a:ext cx="10500055" cy="942022"/>
          </a:xfrm>
          <a:prstGeom prst="rect">
            <a:avLst/>
          </a:prstGeom>
          <a:noFill/>
        </p:spPr>
        <p:txBody>
          <a:bodyPr wrap="square" anchor="t" lIns="0" rIns="0" tIns="0" bIns="0">
            <a:spAutoFit/>
          </a:bodyPr>
          <a:lstStyle/>
          <a:p>
            <a:r>
              <a:rPr sz="2100" i="0" b="0">
                <a:solidFill>
                  <a:srgbClr val="1A1F36"/>
                </a:solidFill>
                <a:latin typeface="Calibri"/>
              </a:rPr>
              <a:t>Why is clozapine the drug of choice in treatment-resistant schizophrenia, and what is the pharmacist's role in its monitoring?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1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34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Hallucinations in schizophrenia are mainly linked to excess dopamine in which pathway?</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Mesolimbic</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Nigrostriatal</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Tuberoinfundibular</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Mesocortical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1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35 / 54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Hallucinations in schizophrenia are mainly linked to excess dopamine in which pathway?</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Mesolimbic</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Nigrostriatal</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Tuberoinfundibular</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Mesocortical</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Positive symptoms reflect mesolimbic excess. B and C are motor and hormonal pathways. D is underactive in schizophrenia.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2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36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Galactorrhoea in a woman taking haloperidol is due to D2 block in which pathway?</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Mesolimbic</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Mesocortical</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Tuberoinfundibular</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Nigrostriatal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2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37 / 54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Galactorrhoea in a woman taking haloperidol is due to D2 block in which pathway?</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Mesolimbic</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Mesocortical</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Tuberoinfundibular</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Nigrostriatal</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Tuberoinfundibular dopamine inhibits prolactin; block raises it. A, B and D do not control prolactin.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3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38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An adolescent is newly diagnosed with schizophrenia. Which drug is most likely to help his apathy and blunted affect?</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Chlorpromazine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Risperidone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Fluphenazine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Haloperidol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3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39 / 54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An adolescent is newly diagnosed with schizophrenia. Which drug is most likely to help his apathy and blunted affect?</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Chlorpromazine</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Risperidone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Fluphenazine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Haloperidol</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Risperidone, an SGA, has some benefit for negative symptoms. A, C and D are first-generation drugs.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4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40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antipsychotic is a partial agonist at D2 receptors?</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Clozapine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Haloperidol</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Risperidone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Aripiprazole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4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41 / 54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antipsychotic is a partial agonist at D2 receptors?</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Clozapine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Haloperidol</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Risperidone</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Aripiprazole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Aripiprazole is a D2 partial agonist. A, B and C are antagonists.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5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42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100" i="0" b="1">
                <a:solidFill>
                  <a:srgbClr val="1A1F36"/>
                </a:solidFill>
                <a:latin typeface="Calibri"/>
              </a:rPr>
              <a:t>Two days after starting haloperidol, a young man has painful twisting of his neck and his eyes roll upward. What is the best treatment?</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Propranolol</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IM procyclidine or biperiden</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Dantrolene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Valbenazine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5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43 / 54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100" i="0" b="1">
                <a:solidFill>
                  <a:srgbClr val="1A1F36"/>
                </a:solidFill>
                <a:latin typeface="Calibri"/>
              </a:rPr>
              <a:t>Two days after starting haloperidol, a young man has painful twisting of his neck and his eyes roll upward. What is the best treatment?</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Propranolol</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IM procyclidine or biperiden</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Dantrolene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Valbenazine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Acute dystonia responds quickly to a parenteral anticholinergic. A treats akathisia. C is for NMS. D is for tardive dyskinesia.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6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44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100" i="0" b="1">
                <a:solidFill>
                  <a:srgbClr val="1A1F36"/>
                </a:solidFill>
                <a:latin typeface="Calibri"/>
              </a:rPr>
              <a:t>A patient on haloperidol has a temperature of 40 °C, rigid muscles, confusion and a very high CK. What is the first step?</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Add an anticholinergic</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Increase the dose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Stop the antipsychotic and give supportive care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Switch to a depot injection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6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45 / 54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100" i="0" b="1">
                <a:solidFill>
                  <a:srgbClr val="1A1F36"/>
                </a:solidFill>
                <a:latin typeface="Calibri"/>
              </a:rPr>
              <a:t>A patient on haloperidol has a temperature of 40 °C, rigid muscles, confusion and a very high CK. What is the first step?</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Add an anticholinergic</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Increase the dose</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Stop the antipsychotic and give supportive care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Switch to a depot injection</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This is NMS; stop the antipsychotic and give supportive care. A, B and D continue the cause.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7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46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Weight gain with olanzapine is mainly due to block of which receptors?</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D2 and M1</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α1 and D2</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H1 and 5-HT2C</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5-HT1A only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7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47 / 54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Weight gain with olanzapine is mainly due to block of which receptors?</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D2 and M1</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α1 and D2</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H1 and 5-HT2C</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5-HT1A only</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H1 and 5-HT2C block drive appetite and weight gain. A, B and D do not explain weight gain.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8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48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test must be done regularly in a patient taking clozapine?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Neutrophil count</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Serum lithium</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Thyroid function</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Serum potassium only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8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49 / 54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test must be done regularly in a patient taking clozapine?</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Neutrophil count</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Serum lithium</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Thyroid function</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Serum potassium only</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Clozapine can cause agranulocytosis. B, C and D are not required for clozapine.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9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50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man with schizophrenia has type 2 diabetes and obesity. Which antipsychotic is the most suitable?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Olanzapine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Aripiprazole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Clozapine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Quetiapine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9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51 / 54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man with schizophrenia has type 2 diabetes and obesity. Which antipsychotic is the most suitable?</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Olanzapine</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Aripiprazole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Clozapine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Quetiapine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Aripiprazole has the lowest metabolic risk. A and C have the highest; D also causes weight gain.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10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52 / 54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patient often stops his tablets and relapses. What is the best option?</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Stop all treatment</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Add a benzodiazepine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Reduce the dose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A long-acting antipsychotic injection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02</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2  ·  QUESTION 10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2  ·  Psychosis and Antipsychotic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53 / 54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patient often stops his tablets and relapses. What is the best option?</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Stop all treatment</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Add a benzodiazepine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Reduce the dose</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A long-acting antipsychotic injection</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A long-acting injection ensures delivery. A, B and C increase relapse risk.</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DFE1EF"/>
                </a:solidFill>
                <a:latin typeface="Calibri"/>
              </a:rPr>
              <a:t>SECTION 2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1</a:t>
            </a:r>
          </a:p>
        </p:txBody>
      </p:sp>
      <p:sp>
        <p:nvSpPr>
          <p:cNvPr id="5" name="TextBox 4"/>
          <p:cNvSpPr txBox="1"/>
          <p:nvPr/>
        </p:nvSpPr>
        <p:spPr>
          <a:xfrm>
            <a:off x="1143000" y="1865376"/>
            <a:ext cx="10500055" cy="770617"/>
          </a:xfrm>
          <a:prstGeom prst="rect">
            <a:avLst/>
          </a:prstGeom>
          <a:noFill/>
        </p:spPr>
        <p:txBody>
          <a:bodyPr wrap="square" anchor="t" lIns="0" rIns="0" tIns="0" bIns="0">
            <a:spAutoFit/>
          </a:bodyPr>
          <a:lstStyle/>
          <a:p>
            <a:r>
              <a:rPr sz="1900" i="0" b="0">
                <a:solidFill>
                  <a:srgbClr val="FFFFFF"/>
                </a:solidFill>
                <a:latin typeface="Calibri"/>
              </a:rPr>
              <a:t>Positive symptoms reflect mesolimbic dopamine excess; negative and cognitive symptoms reflect mesocortical dopamine deficit.</a:t>
            </a:r>
          </a:p>
        </p:txBody>
      </p:sp>
      <p:sp>
        <p:nvSpPr>
          <p:cNvPr id="6" name="Oval 5"/>
          <p:cNvSpPr/>
          <p:nvPr/>
        </p:nvSpPr>
        <p:spPr>
          <a:xfrm>
            <a:off x="548640" y="2663425"/>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2</a:t>
            </a:r>
          </a:p>
        </p:txBody>
      </p:sp>
      <p:sp>
        <p:nvSpPr>
          <p:cNvPr id="7" name="TextBox 6"/>
          <p:cNvSpPr txBox="1"/>
          <p:nvPr/>
        </p:nvSpPr>
        <p:spPr>
          <a:xfrm>
            <a:off x="1143000" y="2681713"/>
            <a:ext cx="10500055" cy="468992"/>
          </a:xfrm>
          <a:prstGeom prst="rect">
            <a:avLst/>
          </a:prstGeom>
          <a:noFill/>
        </p:spPr>
        <p:txBody>
          <a:bodyPr wrap="square" anchor="t" lIns="0" rIns="0" tIns="0" bIns="0">
            <a:spAutoFit/>
          </a:bodyPr>
          <a:lstStyle/>
          <a:p>
            <a:r>
              <a:rPr sz="1900" i="0" b="0">
                <a:solidFill>
                  <a:srgbClr val="FFFFFF"/>
                </a:solidFill>
                <a:latin typeface="Calibri"/>
              </a:rPr>
              <a:t>First-generation drugs block D2 in all pathways and cause EPS and raised prolactin.</a:t>
            </a:r>
          </a:p>
        </p:txBody>
      </p:sp>
      <p:sp>
        <p:nvSpPr>
          <p:cNvPr id="8" name="Oval 7"/>
          <p:cNvSpPr/>
          <p:nvPr/>
        </p:nvSpPr>
        <p:spPr>
          <a:xfrm>
            <a:off x="548640" y="3178138"/>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3</a:t>
            </a:r>
          </a:p>
        </p:txBody>
      </p:sp>
      <p:sp>
        <p:nvSpPr>
          <p:cNvPr id="9" name="TextBox 8"/>
          <p:cNvSpPr txBox="1"/>
          <p:nvPr/>
        </p:nvSpPr>
        <p:spPr>
          <a:xfrm>
            <a:off x="1143000" y="3196426"/>
            <a:ext cx="10500055" cy="468992"/>
          </a:xfrm>
          <a:prstGeom prst="rect">
            <a:avLst/>
          </a:prstGeom>
          <a:noFill/>
        </p:spPr>
        <p:txBody>
          <a:bodyPr wrap="square" anchor="t" lIns="0" rIns="0" tIns="0" bIns="0">
            <a:spAutoFit/>
          </a:bodyPr>
          <a:lstStyle/>
          <a:p>
            <a:r>
              <a:rPr sz="1900" i="0" b="0">
                <a:solidFill>
                  <a:srgbClr val="FFFFFF"/>
                </a:solidFill>
                <a:latin typeface="Calibri"/>
              </a:rPr>
              <a:t>SGAs add 5-HT2A block: fewer EPS, but more metabolic effects (H1 and 5-HT2C block).</a:t>
            </a:r>
          </a:p>
        </p:txBody>
      </p:sp>
      <p:sp>
        <p:nvSpPr>
          <p:cNvPr id="10" name="Oval 9"/>
          <p:cNvSpPr/>
          <p:nvPr/>
        </p:nvSpPr>
        <p:spPr>
          <a:xfrm>
            <a:off x="548640" y="3692851"/>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4</a:t>
            </a:r>
          </a:p>
        </p:txBody>
      </p:sp>
      <p:sp>
        <p:nvSpPr>
          <p:cNvPr id="11" name="TextBox 10"/>
          <p:cNvSpPr txBox="1"/>
          <p:nvPr/>
        </p:nvSpPr>
        <p:spPr>
          <a:xfrm>
            <a:off x="1143000" y="3711139"/>
            <a:ext cx="10500055" cy="770617"/>
          </a:xfrm>
          <a:prstGeom prst="rect">
            <a:avLst/>
          </a:prstGeom>
          <a:noFill/>
        </p:spPr>
        <p:txBody>
          <a:bodyPr wrap="square" anchor="t" lIns="0" rIns="0" tIns="0" bIns="0">
            <a:spAutoFit/>
          </a:bodyPr>
          <a:lstStyle/>
          <a:p>
            <a:r>
              <a:rPr sz="1900" i="0" b="0">
                <a:solidFill>
                  <a:srgbClr val="FFFFFF"/>
                </a:solidFill>
                <a:latin typeface="Calibri"/>
              </a:rPr>
              <a:t>Partial agonists stabilise dopamine signalling and have low metabolic and prolactin risk.</a:t>
            </a:r>
          </a:p>
        </p:txBody>
      </p:sp>
      <p:sp>
        <p:nvSpPr>
          <p:cNvPr id="12" name="Oval 11"/>
          <p:cNvSpPr/>
          <p:nvPr/>
        </p:nvSpPr>
        <p:spPr>
          <a:xfrm>
            <a:off x="548640" y="4509189"/>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5</a:t>
            </a:r>
          </a:p>
        </p:txBody>
      </p:sp>
      <p:sp>
        <p:nvSpPr>
          <p:cNvPr id="13" name="TextBox 12"/>
          <p:cNvSpPr txBox="1"/>
          <p:nvPr/>
        </p:nvSpPr>
        <p:spPr>
          <a:xfrm>
            <a:off x="1143000" y="4527477"/>
            <a:ext cx="10500055" cy="468992"/>
          </a:xfrm>
          <a:prstGeom prst="rect">
            <a:avLst/>
          </a:prstGeom>
          <a:noFill/>
        </p:spPr>
        <p:txBody>
          <a:bodyPr wrap="square" anchor="t" lIns="0" rIns="0" tIns="0" bIns="0">
            <a:spAutoFit/>
          </a:bodyPr>
          <a:lstStyle/>
          <a:p>
            <a:r>
              <a:rPr sz="1900" i="0" b="0">
                <a:solidFill>
                  <a:srgbClr val="FFFFFF"/>
                </a:solidFill>
                <a:latin typeface="Calibri"/>
              </a:rPr>
              <a:t>NMS is an emergency: stop the drug and give supportive care.</a:t>
            </a:r>
          </a:p>
        </p:txBody>
      </p:sp>
      <p:sp>
        <p:nvSpPr>
          <p:cNvPr id="14" name="Oval 13"/>
          <p:cNvSpPr/>
          <p:nvPr/>
        </p:nvSpPr>
        <p:spPr>
          <a:xfrm>
            <a:off x="548640" y="5023902"/>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6</a:t>
            </a:r>
          </a:p>
        </p:txBody>
      </p:sp>
      <p:sp>
        <p:nvSpPr>
          <p:cNvPr id="15" name="TextBox 14"/>
          <p:cNvSpPr txBox="1"/>
          <p:nvPr/>
        </p:nvSpPr>
        <p:spPr>
          <a:xfrm>
            <a:off x="1143000" y="5042190"/>
            <a:ext cx="10500055" cy="468992"/>
          </a:xfrm>
          <a:prstGeom prst="rect">
            <a:avLst/>
          </a:prstGeom>
          <a:noFill/>
        </p:spPr>
        <p:txBody>
          <a:bodyPr wrap="square" anchor="t" lIns="0" rIns="0" tIns="0" bIns="0">
            <a:spAutoFit/>
          </a:bodyPr>
          <a:lstStyle/>
          <a:p>
            <a:r>
              <a:rPr sz="1900" i="0" b="0">
                <a:solidFill>
                  <a:srgbClr val="FFFFFF"/>
                </a:solidFill>
                <a:latin typeface="Calibri"/>
              </a:rPr>
              <a:t>Clozapine is for resistant illness and needs strict neutrophil monitoring.</a:t>
            </a:r>
          </a:p>
        </p:txBody>
      </p:sp>
      <p:sp>
        <p:nvSpPr>
          <p:cNvPr id="16" name="Oval 15"/>
          <p:cNvSpPr/>
          <p:nvPr/>
        </p:nvSpPr>
        <p:spPr>
          <a:xfrm>
            <a:off x="548640" y="5538615"/>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7</a:t>
            </a:r>
          </a:p>
        </p:txBody>
      </p:sp>
      <p:sp>
        <p:nvSpPr>
          <p:cNvPr id="17" name="TextBox 16"/>
          <p:cNvSpPr txBox="1"/>
          <p:nvPr/>
        </p:nvSpPr>
        <p:spPr>
          <a:xfrm>
            <a:off x="1143000" y="5556903"/>
            <a:ext cx="10500055" cy="468992"/>
          </a:xfrm>
          <a:prstGeom prst="rect">
            <a:avLst/>
          </a:prstGeom>
          <a:noFill/>
        </p:spPr>
        <p:txBody>
          <a:bodyPr wrap="square" anchor="t" lIns="0" rIns="0" tIns="0" bIns="0">
            <a:spAutoFit/>
          </a:bodyPr>
          <a:lstStyle/>
          <a:p>
            <a:r>
              <a:rPr sz="1900" i="0" b="0">
                <a:solidFill>
                  <a:srgbClr val="FFFFFF"/>
                </a:solidFill>
                <a:latin typeface="Calibri"/>
              </a:rPr>
              <a:t>Long-acting injections help when adherence is poor.</a:t>
            </a:r>
          </a:p>
        </p:txBody>
      </p:sp>
      <p:pic>
        <p:nvPicPr>
          <p:cNvPr id="18" name="Picture 17"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9" name="Picture 18"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